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319.xml" ContentType="application/vnd.openxmlformats-officedocument.presentationml.notesSlide+xml"/>
  <Override PartName="/ppt/notesSlides/notesSlide320.xml" ContentType="application/vnd.openxmlformats-officedocument.presentationml.notesSlide+xml"/>
  <Override PartName="/ppt/notesSlides/notesSlide321.xml" ContentType="application/vnd.openxmlformats-officedocument.presentationml.notesSlide+xml"/>
  <Override PartName="/ppt/notesSlides/notesSlide322.xml" ContentType="application/vnd.openxmlformats-officedocument.presentationml.notesSlide+xml"/>
  <Override PartName="/ppt/notesSlides/notesSlide323.xml" ContentType="application/vnd.openxmlformats-officedocument.presentationml.notesSlide+xml"/>
  <Override PartName="/ppt/notesSlides/notesSlide324.xml" ContentType="application/vnd.openxmlformats-officedocument.presentationml.notesSlide+xml"/>
  <Override PartName="/ppt/notesSlides/notesSlide325.xml" ContentType="application/vnd.openxmlformats-officedocument.presentationml.notesSlide+xml"/>
  <Override PartName="/ppt/notesSlides/notesSlide326.xml" ContentType="application/vnd.openxmlformats-officedocument.presentationml.notesSlide+xml"/>
  <Override PartName="/ppt/notesSlides/notesSlide327.xml" ContentType="application/vnd.openxmlformats-officedocument.presentationml.notesSlide+xml"/>
  <Override PartName="/ppt/notesSlides/notesSlide328.xml" ContentType="application/vnd.openxmlformats-officedocument.presentationml.notesSlide+xml"/>
  <Override PartName="/ppt/notesSlides/notesSlide329.xml" ContentType="application/vnd.openxmlformats-officedocument.presentationml.notesSlide+xml"/>
  <Override PartName="/ppt/notesSlides/notesSlide330.xml" ContentType="application/vnd.openxmlformats-officedocument.presentationml.notesSlide+xml"/>
  <Override PartName="/ppt/notesSlides/notesSlide331.xml" ContentType="application/vnd.openxmlformats-officedocument.presentationml.notesSlide+xml"/>
  <Override PartName="/ppt/notesSlides/notesSlide332.xml" ContentType="application/vnd.openxmlformats-officedocument.presentationml.notesSlide+xml"/>
  <Override PartName="/ppt/notesSlides/notesSlide333.xml" ContentType="application/vnd.openxmlformats-officedocument.presentationml.notesSlide+xml"/>
  <Override PartName="/ppt/notesSlides/notesSlide334.xml" ContentType="application/vnd.openxmlformats-officedocument.presentationml.notesSlide+xml"/>
  <Override PartName="/ppt/notesSlides/notesSlide335.xml" ContentType="application/vnd.openxmlformats-officedocument.presentationml.notesSlide+xml"/>
  <Override PartName="/ppt/notesSlides/notesSlide336.xml" ContentType="application/vnd.openxmlformats-officedocument.presentationml.notesSlide+xml"/>
  <Override PartName="/ppt/notesSlides/notesSlide337.xml" ContentType="application/vnd.openxmlformats-officedocument.presentationml.notesSlide+xml"/>
  <Override PartName="/ppt/notesSlides/notesSlide338.xml" ContentType="application/vnd.openxmlformats-officedocument.presentationml.notesSlide+xml"/>
  <Override PartName="/ppt/notesSlides/notesSlide339.xml" ContentType="application/vnd.openxmlformats-officedocument.presentationml.notesSlide+xml"/>
  <Override PartName="/ppt/notesSlides/notesSlide340.xml" ContentType="application/vnd.openxmlformats-officedocument.presentationml.notesSlide+xml"/>
  <Override PartName="/ppt/notesSlides/notesSlide341.xml" ContentType="application/vnd.openxmlformats-officedocument.presentationml.notesSlide+xml"/>
  <Override PartName="/ppt/notesSlides/notesSlide342.xml" ContentType="application/vnd.openxmlformats-officedocument.presentationml.notesSlide+xml"/>
  <Override PartName="/ppt/notesSlides/notesSlide343.xml" ContentType="application/vnd.openxmlformats-officedocument.presentationml.notesSlide+xml"/>
  <Override PartName="/ppt/notesSlides/notesSlide344.xml" ContentType="application/vnd.openxmlformats-officedocument.presentationml.notesSlide+xml"/>
  <Override PartName="/ppt/notesSlides/notesSlide345.xml" ContentType="application/vnd.openxmlformats-officedocument.presentationml.notesSlide+xml"/>
  <Override PartName="/ppt/notesSlides/notesSlide346.xml" ContentType="application/vnd.openxmlformats-officedocument.presentationml.notesSlide+xml"/>
  <Override PartName="/ppt/notesSlides/notesSlide347.xml" ContentType="application/vnd.openxmlformats-officedocument.presentationml.notesSlide+xml"/>
  <Override PartName="/ppt/notesSlides/notesSlide348.xml" ContentType="application/vnd.openxmlformats-officedocument.presentationml.notesSlide+xml"/>
  <Override PartName="/ppt/notesSlides/notesSlide349.xml" ContentType="application/vnd.openxmlformats-officedocument.presentationml.notesSlide+xml"/>
  <Override PartName="/ppt/notesSlides/notesSlide350.xml" ContentType="application/vnd.openxmlformats-officedocument.presentationml.notesSlide+xml"/>
  <Override PartName="/ppt/notesSlides/notesSlide351.xml" ContentType="application/vnd.openxmlformats-officedocument.presentationml.notesSlide+xml"/>
  <Override PartName="/ppt/notesSlides/notesSlide352.xml" ContentType="application/vnd.openxmlformats-officedocument.presentationml.notesSlide+xml"/>
  <Override PartName="/ppt/notesSlides/notesSlide353.xml" ContentType="application/vnd.openxmlformats-officedocument.presentationml.notesSlide+xml"/>
  <Override PartName="/ppt/notesSlides/notesSlide354.xml" ContentType="application/vnd.openxmlformats-officedocument.presentationml.notesSlide+xml"/>
  <Override PartName="/ppt/notesSlides/notesSlide355.xml" ContentType="application/vnd.openxmlformats-officedocument.presentationml.notesSlide+xml"/>
  <Override PartName="/ppt/notesSlides/notesSlide356.xml" ContentType="application/vnd.openxmlformats-officedocument.presentationml.notesSlide+xml"/>
  <Override PartName="/ppt/notesSlides/notesSlide357.xml" ContentType="application/vnd.openxmlformats-officedocument.presentationml.notesSlide+xml"/>
  <Override PartName="/ppt/notesSlides/notesSlide358.xml" ContentType="application/vnd.openxmlformats-officedocument.presentationml.notesSlide+xml"/>
  <Override PartName="/ppt/notesSlides/notesSlide359.xml" ContentType="application/vnd.openxmlformats-officedocument.presentationml.notesSlide+xml"/>
  <Override PartName="/ppt/notesSlides/notesSlide360.xml" ContentType="application/vnd.openxmlformats-officedocument.presentationml.notesSlide+xml"/>
  <Override PartName="/ppt/notesSlides/notesSlide361.xml" ContentType="application/vnd.openxmlformats-officedocument.presentationml.notesSlide+xml"/>
  <Override PartName="/ppt/notesSlides/notesSlide362.xml" ContentType="application/vnd.openxmlformats-officedocument.presentationml.notesSlide+xml"/>
  <Override PartName="/ppt/notesSlides/notesSlide363.xml" ContentType="application/vnd.openxmlformats-officedocument.presentationml.notesSlide+xml"/>
  <Override PartName="/ppt/notesSlides/notesSlide364.xml" ContentType="application/vnd.openxmlformats-officedocument.presentationml.notesSlide+xml"/>
  <Override PartName="/ppt/notesSlides/notesSlide365.xml" ContentType="application/vnd.openxmlformats-officedocument.presentationml.notesSlide+xml"/>
  <Override PartName="/ppt/notesSlides/notesSlide366.xml" ContentType="application/vnd.openxmlformats-officedocument.presentationml.notesSlide+xml"/>
  <Override PartName="/ppt/notesSlides/notesSlide367.xml" ContentType="application/vnd.openxmlformats-officedocument.presentationml.notesSlide+xml"/>
  <Override PartName="/ppt/notesSlides/notesSlide368.xml" ContentType="application/vnd.openxmlformats-officedocument.presentationml.notesSlide+xml"/>
  <Override PartName="/ppt/notesSlides/notesSlide369.xml" ContentType="application/vnd.openxmlformats-officedocument.presentationml.notesSlide+xml"/>
  <Override PartName="/ppt/notesSlides/notesSlide370.xml" ContentType="application/vnd.openxmlformats-officedocument.presentationml.notesSlide+xml"/>
  <Override PartName="/ppt/notesSlides/notesSlide371.xml" ContentType="application/vnd.openxmlformats-officedocument.presentationml.notesSlide+xml"/>
  <Override PartName="/ppt/notesSlides/notesSlide372.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7" r:id="rId5"/>
  </p:sldMasterIdLst>
  <p:notesMasterIdLst>
    <p:notesMasterId r:id="rId6"/>
  </p:notesMasterIdLst>
  <p:sldIdLst>
    <p:sldId id="628" r:id="rId67"/>
    <p:sldId id="629" r:id="rId68"/>
    <p:sldId id="574" r:id="rId325"/>
    <p:sldId id="575" r:id="rId326"/>
    <p:sldId id="576" r:id="rId327"/>
    <p:sldId id="577" r:id="rId328"/>
    <p:sldId id="578" r:id="rId329"/>
    <p:sldId id="579" r:id="rId330"/>
    <p:sldId id="580" r:id="rId331"/>
    <p:sldId id="581" r:id="rId332"/>
    <p:sldId id="582" r:id="rId333"/>
    <p:sldId id="583" r:id="rId334"/>
    <p:sldId id="584" r:id="rId335"/>
    <p:sldId id="585" r:id="rId336"/>
    <p:sldId id="586" r:id="rId337"/>
    <p:sldId id="587" r:id="rId338"/>
    <p:sldId id="588" r:id="rId339"/>
    <p:sldId id="589" r:id="rId340"/>
    <p:sldId id="590" r:id="rId341"/>
    <p:sldId id="591" r:id="rId342"/>
    <p:sldId id="592" r:id="rId343"/>
    <p:sldId id="593" r:id="rId344"/>
    <p:sldId id="594" r:id="rId345"/>
    <p:sldId id="595" r:id="rId346"/>
    <p:sldId id="596" r:id="rId347"/>
    <p:sldId id="597" r:id="rId348"/>
    <p:sldId id="598" r:id="rId349"/>
    <p:sldId id="599" r:id="rId350"/>
    <p:sldId id="600" r:id="rId351"/>
    <p:sldId id="601" r:id="rId352"/>
    <p:sldId id="602" r:id="rId353"/>
    <p:sldId id="603" r:id="rId354"/>
    <p:sldId id="604" r:id="rId355"/>
    <p:sldId id="605" r:id="rId356"/>
    <p:sldId id="606" r:id="rId357"/>
    <p:sldId id="607" r:id="rId358"/>
    <p:sldId id="608" r:id="rId359"/>
    <p:sldId id="609" r:id="rId360"/>
    <p:sldId id="610" r:id="rId361"/>
    <p:sldId id="611" r:id="rId362"/>
    <p:sldId id="612" r:id="rId363"/>
    <p:sldId id="613" r:id="rId364"/>
    <p:sldId id="614" r:id="rId365"/>
    <p:sldId id="615" r:id="rId366"/>
    <p:sldId id="616" r:id="rId367"/>
    <p:sldId id="617" r:id="rId368"/>
    <p:sldId id="618" r:id="rId369"/>
    <p:sldId id="619" r:id="rId370"/>
    <p:sldId id="620" r:id="rId371"/>
    <p:sldId id="621" r:id="rId372"/>
    <p:sldId id="622" r:id="rId373"/>
    <p:sldId id="623" r:id="rId374"/>
    <p:sldId id="624" r:id="rId375"/>
    <p:sldId id="625" r:id="rId376"/>
    <p:sldId id="626" r:id="rId377"/>
    <p:sldId id="627" r:id="rId378"/>
    <p:sldId id="630" r:id="rId69"/>
  </p:sldIdLst>
  <p:sldSz cy="5143500" cx="9144000"/>
  <p:notesSz cx="6858000" cy="9945675"/>
  <p:embeddedFontLst>
    <p:embeddedFont>
      <p:font typeface="Noto Sans Symbols"/>
      <p:regular r:id="rId626"/>
      <p:bold r:id="rId627"/>
    </p:embeddedFont>
    <p:embeddedFont>
      <p:font typeface="Century Gothic"/>
      <p:regular r:id="rId628"/>
      <p:bold r:id="rId629"/>
      <p:italic r:id="rId630"/>
      <p:boldItalic r:id="rId6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guide id="3" pos="776">
          <p15:clr>
            <a:srgbClr val="A4A3A4"/>
          </p15:clr>
        </p15:guide>
        <p15:guide id="4" pos="1764">
          <p15:clr>
            <a:srgbClr val="A4A3A4"/>
          </p15:clr>
        </p15:guide>
        <p15:guide id="5" orient="horz" pos="2229">
          <p15:clr>
            <a:srgbClr val="A4A3A4"/>
          </p15:clr>
        </p15:guide>
        <p15:guide id="6" orient="horz" pos="3140">
          <p15:clr>
            <a:srgbClr val="A4A3A4"/>
          </p15:clr>
        </p15:guide>
        <p15:guide id="7" orient="horz" pos="311">
          <p15:clr>
            <a:srgbClr val="A4A3A4"/>
          </p15:clr>
        </p15:guide>
        <p15:guide id="8" orient="horz" pos="1593">
          <p15:clr>
            <a:srgbClr val="A4A3A4"/>
          </p15:clr>
        </p15:guide>
        <p15:guide id="9" pos="5696">
          <p15:clr>
            <a:srgbClr val="A4A3A4"/>
          </p15:clr>
        </p15:guide>
        <p15:guide id="10" pos="706">
          <p15:clr>
            <a:srgbClr val="A4A3A4"/>
          </p15:clr>
        </p15:guide>
        <p15:guide id="11" pos="2941">
          <p15:clr>
            <a:srgbClr val="A4A3A4"/>
          </p15:clr>
        </p15:guide>
        <p15:guide id="12" pos="91">
          <p15:clr>
            <a:srgbClr val="A4A3A4"/>
          </p15:clr>
        </p15:guide>
        <p15:guide id="13" orient="horz" pos="105">
          <p15:clr>
            <a:srgbClr val="000000"/>
          </p15:clr>
        </p15:guide>
        <p15:guide id="14" orient="horz" pos="1616">
          <p15:clr>
            <a:srgbClr val="000000"/>
          </p15:clr>
        </p15:guide>
        <p15:guide id="15" orient="horz" pos="567">
          <p15:clr>
            <a:srgbClr val="000000"/>
          </p15:clr>
        </p15:guide>
        <p15:guide id="16" orient="horz" pos="3034">
          <p15:clr>
            <a:srgbClr val="000000"/>
          </p15:clr>
        </p15:guide>
        <p15:guide id="17" orient="horz" pos="332">
          <p15:clr>
            <a:srgbClr val="000000"/>
          </p15:clr>
        </p15:guide>
        <p15:guide id="18" pos="239">
          <p15:clr>
            <a:srgbClr val="000000"/>
          </p15:clr>
        </p15:guide>
        <p15:guide id="19" pos="5557">
          <p15:clr>
            <a:srgbClr val="000000"/>
          </p15:clr>
        </p15:guide>
        <p15:guide id="20" pos="2914">
          <p15:clr>
            <a:srgbClr val="000000"/>
          </p15:clr>
        </p15:guide>
      </p15:sldGuideLst>
    </p:ext>
    <p:ext uri="{2D200454-40CA-4A62-9FC3-DE9A4176ACB9}">
      <p15:notesGuideLst>
        <p15:guide id="1" orient="horz" pos="2880">
          <p15:clr>
            <a:srgbClr val="A4A3A4"/>
          </p15:clr>
        </p15:guide>
        <p15:guide id="2" pos="2160">
          <p15:clr>
            <a:srgbClr val="A4A3A4"/>
          </p15:clr>
        </p15:guide>
        <p15:guide id="3" orient="horz" pos="3133">
          <p15:clr>
            <a:srgbClr val="000000"/>
          </p15:clr>
        </p15:guide>
      </p15:notes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098BFCB-6916-41F2-A2A5-0DF0D5139B6F}">
  <a:tblStyle styleId="{D098BFCB-6916-41F2-A2A5-0DF0D5139B6F}" styleName="Table_0">
    <a:wholeTbl>
      <a:tcTxStyle b="off" i="off">
        <a:font>
          <a:latin typeface="Century Gothic"/>
          <a:ea typeface="Century Gothic"/>
          <a:cs typeface="Century Gothic"/>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BEDE7"/>
          </a:solidFill>
        </a:fill>
      </a:tcStyle>
    </a:wholeTbl>
    <a:band1H>
      <a:tcTxStyle/>
      <a:tcStyle>
        <a:fill>
          <a:solidFill>
            <a:srgbClr val="F8D9CB"/>
          </a:solidFill>
        </a:fill>
      </a:tcStyle>
    </a:band1H>
    <a:band2H>
      <a:tcTxStyle/>
    </a:band2H>
    <a:band1V>
      <a:tcTxStyle/>
      <a:tcStyle>
        <a:fill>
          <a:solidFill>
            <a:srgbClr val="F8D9CB"/>
          </a:solidFill>
        </a:fill>
      </a:tcStyle>
    </a:band1V>
    <a:band2V>
      <a:tcTxStyle/>
    </a:band2V>
    <a:lastCol>
      <a:tcTxStyle b="on" i="off">
        <a:font>
          <a:latin typeface="Century Gothic"/>
          <a:ea typeface="Century Gothic"/>
          <a:cs typeface="Century Gothic"/>
        </a:font>
        <a:schemeClr val="lt1"/>
      </a:tcTxStyle>
      <a:tcStyle>
        <a:fill>
          <a:solidFill>
            <a:schemeClr val="accent1"/>
          </a:solidFill>
        </a:fill>
      </a:tcStyle>
    </a:lastCol>
    <a:firstCol>
      <a:tcTxStyle b="on" i="off">
        <a:font>
          <a:latin typeface="Century Gothic"/>
          <a:ea typeface="Century Gothic"/>
          <a:cs typeface="Century Gothic"/>
        </a:font>
        <a:schemeClr val="lt1"/>
      </a:tcTxStyle>
      <a:tcStyle>
        <a:fill>
          <a:solidFill>
            <a:schemeClr val="accent1"/>
          </a:solidFill>
        </a:fill>
      </a:tcStyle>
    </a:firstCol>
    <a:lastRow>
      <a:tcTxStyle b="on" i="off">
        <a:font>
          <a:latin typeface="Century Gothic"/>
          <a:ea typeface="Century Gothic"/>
          <a:cs typeface="Century Gothic"/>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entury Gothic"/>
          <a:ea typeface="Century Gothic"/>
          <a:cs typeface="Century Gothic"/>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 pos="776"/>
        <p:guide pos="1764"/>
        <p:guide pos="2229" orient="horz"/>
        <p:guide pos="3140" orient="horz"/>
        <p:guide pos="311" orient="horz"/>
        <p:guide pos="1593" orient="horz"/>
        <p:guide pos="5696"/>
        <p:guide pos="706"/>
        <p:guide pos="2941"/>
        <p:guide pos="91"/>
        <p:guide pos="105" orient="horz"/>
        <p:guide pos="1616" orient="horz"/>
        <p:guide pos="567" orient="horz"/>
        <p:guide pos="3034" orient="horz"/>
        <p:guide pos="332" orient="horz"/>
        <p:guide pos="239"/>
        <p:guide pos="5557"/>
        <p:guide pos="2914"/>
      </p:guideLst>
    </p:cSldViewPr>
  </p:slideViewPr>
  <p:notesViewPr>
    <p:cSldViewPr snapToGrid="0">
      <p:cViewPr varScale="1">
        <p:scale>
          <a:sx n="100" d="100"/>
          <a:sy n="100" d="100"/>
        </p:scale>
        <p:origin x="0" y="0"/>
      </p:cViewPr>
      <p:guideLst>
        <p:guide pos="2880" orient="horz"/>
        <p:guide pos="2160"/>
        <p:guide pos="3133" orient="horz"/>
      </p:guideLst>
    </p:cSldViewPr>
  </p:notes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67" Type="http://schemas.openxmlformats.org/officeDocument/2006/relationships/slide" Target="slides/slide55.xml"/><Relationship Id="rId68" Type="http://schemas.openxmlformats.org/officeDocument/2006/relationships/slide" Target="slides/slide56.xml"/><Relationship Id="rId69" Type="http://schemas.openxmlformats.org/officeDocument/2006/relationships/slide" Target="slides/slide57.xml"/><Relationship Id="rId325" Type="http://schemas.openxmlformats.org/officeDocument/2006/relationships/slide" Target="slides/slide1.xml"/><Relationship Id="rId326" Type="http://schemas.openxmlformats.org/officeDocument/2006/relationships/slide" Target="slides/slide2.xml"/><Relationship Id="rId327" Type="http://schemas.openxmlformats.org/officeDocument/2006/relationships/slide" Target="slides/slide3.xml"/><Relationship Id="rId328" Type="http://schemas.openxmlformats.org/officeDocument/2006/relationships/slide" Target="slides/slide4.xml"/><Relationship Id="rId329" Type="http://schemas.openxmlformats.org/officeDocument/2006/relationships/slide" Target="slides/slide5.xml"/><Relationship Id="rId330" Type="http://schemas.openxmlformats.org/officeDocument/2006/relationships/slide" Target="slides/slide6.xml"/><Relationship Id="rId331" Type="http://schemas.openxmlformats.org/officeDocument/2006/relationships/slide" Target="slides/slide7.xml"/><Relationship Id="rId332" Type="http://schemas.openxmlformats.org/officeDocument/2006/relationships/slide" Target="slides/slide8.xml"/><Relationship Id="rId333" Type="http://schemas.openxmlformats.org/officeDocument/2006/relationships/slide" Target="slides/slide9.xml"/><Relationship Id="rId334" Type="http://schemas.openxmlformats.org/officeDocument/2006/relationships/slide" Target="slides/slide10.xml"/><Relationship Id="rId335" Type="http://schemas.openxmlformats.org/officeDocument/2006/relationships/slide" Target="slides/slide11.xml"/><Relationship Id="rId336" Type="http://schemas.openxmlformats.org/officeDocument/2006/relationships/slide" Target="slides/slide12.xml"/><Relationship Id="rId337" Type="http://schemas.openxmlformats.org/officeDocument/2006/relationships/slide" Target="slides/slide13.xml"/><Relationship Id="rId338" Type="http://schemas.openxmlformats.org/officeDocument/2006/relationships/slide" Target="slides/slide14.xml"/><Relationship Id="rId339" Type="http://schemas.openxmlformats.org/officeDocument/2006/relationships/slide" Target="slides/slide15.xml"/><Relationship Id="rId340" Type="http://schemas.openxmlformats.org/officeDocument/2006/relationships/slide" Target="slides/slide16.xml"/><Relationship Id="rId341" Type="http://schemas.openxmlformats.org/officeDocument/2006/relationships/slide" Target="slides/slide17.xml"/><Relationship Id="rId342" Type="http://schemas.openxmlformats.org/officeDocument/2006/relationships/slide" Target="slides/slide18.xml"/><Relationship Id="rId343" Type="http://schemas.openxmlformats.org/officeDocument/2006/relationships/slide" Target="slides/slide19.xml"/><Relationship Id="rId344" Type="http://schemas.openxmlformats.org/officeDocument/2006/relationships/slide" Target="slides/slide20.xml"/><Relationship Id="rId345" Type="http://schemas.openxmlformats.org/officeDocument/2006/relationships/slide" Target="slides/slide21.xml"/><Relationship Id="rId346" Type="http://schemas.openxmlformats.org/officeDocument/2006/relationships/slide" Target="slides/slide22.xml"/><Relationship Id="rId347" Type="http://schemas.openxmlformats.org/officeDocument/2006/relationships/slide" Target="slides/slide23.xml"/><Relationship Id="rId348" Type="http://schemas.openxmlformats.org/officeDocument/2006/relationships/slide" Target="slides/slide24.xml"/><Relationship Id="rId349" Type="http://schemas.openxmlformats.org/officeDocument/2006/relationships/slide" Target="slides/slide25.xml"/><Relationship Id="rId350" Type="http://schemas.openxmlformats.org/officeDocument/2006/relationships/slide" Target="slides/slide26.xml"/><Relationship Id="rId351" Type="http://schemas.openxmlformats.org/officeDocument/2006/relationships/slide" Target="slides/slide27.xml"/><Relationship Id="rId352" Type="http://schemas.openxmlformats.org/officeDocument/2006/relationships/slide" Target="slides/slide28.xml"/><Relationship Id="rId353" Type="http://schemas.openxmlformats.org/officeDocument/2006/relationships/slide" Target="slides/slide29.xml"/><Relationship Id="rId354" Type="http://schemas.openxmlformats.org/officeDocument/2006/relationships/slide" Target="slides/slide30.xml"/><Relationship Id="rId355" Type="http://schemas.openxmlformats.org/officeDocument/2006/relationships/slide" Target="slides/slide31.xml"/><Relationship Id="rId356" Type="http://schemas.openxmlformats.org/officeDocument/2006/relationships/slide" Target="slides/slide32.xml"/><Relationship Id="rId357" Type="http://schemas.openxmlformats.org/officeDocument/2006/relationships/slide" Target="slides/slide33.xml"/><Relationship Id="rId358" Type="http://schemas.openxmlformats.org/officeDocument/2006/relationships/slide" Target="slides/slide34.xml"/><Relationship Id="rId359" Type="http://schemas.openxmlformats.org/officeDocument/2006/relationships/slide" Target="slides/slide35.xml"/><Relationship Id="rId360" Type="http://schemas.openxmlformats.org/officeDocument/2006/relationships/slide" Target="slides/slide36.xml"/><Relationship Id="rId361" Type="http://schemas.openxmlformats.org/officeDocument/2006/relationships/slide" Target="slides/slide37.xml"/><Relationship Id="rId362" Type="http://schemas.openxmlformats.org/officeDocument/2006/relationships/slide" Target="slides/slide38.xml"/><Relationship Id="rId363" Type="http://schemas.openxmlformats.org/officeDocument/2006/relationships/slide" Target="slides/slide39.xml"/><Relationship Id="rId364" Type="http://schemas.openxmlformats.org/officeDocument/2006/relationships/slide" Target="slides/slide40.xml"/><Relationship Id="rId365" Type="http://schemas.openxmlformats.org/officeDocument/2006/relationships/slide" Target="slides/slide41.xml"/><Relationship Id="rId366" Type="http://schemas.openxmlformats.org/officeDocument/2006/relationships/slide" Target="slides/slide42.xml"/><Relationship Id="rId367" Type="http://schemas.openxmlformats.org/officeDocument/2006/relationships/slide" Target="slides/slide43.xml"/><Relationship Id="rId368" Type="http://schemas.openxmlformats.org/officeDocument/2006/relationships/slide" Target="slides/slide44.xml"/><Relationship Id="rId369" Type="http://schemas.openxmlformats.org/officeDocument/2006/relationships/slide" Target="slides/slide45.xml"/><Relationship Id="rId370" Type="http://schemas.openxmlformats.org/officeDocument/2006/relationships/slide" Target="slides/slide46.xml"/><Relationship Id="rId371" Type="http://schemas.openxmlformats.org/officeDocument/2006/relationships/slide" Target="slides/slide47.xml"/><Relationship Id="rId372" Type="http://schemas.openxmlformats.org/officeDocument/2006/relationships/slide" Target="slides/slide48.xml"/><Relationship Id="rId373" Type="http://schemas.openxmlformats.org/officeDocument/2006/relationships/slide" Target="slides/slide49.xml"/><Relationship Id="rId374" Type="http://schemas.openxmlformats.org/officeDocument/2006/relationships/slide" Target="slides/slide50.xml"/><Relationship Id="rId375" Type="http://schemas.openxmlformats.org/officeDocument/2006/relationships/slide" Target="slides/slide51.xml"/><Relationship Id="rId376" Type="http://schemas.openxmlformats.org/officeDocument/2006/relationships/slide" Target="slides/slide52.xml"/><Relationship Id="rId377" Type="http://schemas.openxmlformats.org/officeDocument/2006/relationships/slide" Target="slides/slide53.xml"/><Relationship Id="rId378" Type="http://schemas.openxmlformats.org/officeDocument/2006/relationships/slide" Target="slides/slide54.xml"/><Relationship Id="rId626" Type="http://schemas.openxmlformats.org/officeDocument/2006/relationships/font" Target="fonts/NotoSansSymbols-regular.fntdata"/><Relationship Id="rId627" Type="http://schemas.openxmlformats.org/officeDocument/2006/relationships/font" Target="fonts/NotoSansSymbols-bold.fntdata"/><Relationship Id="rId628" Type="http://schemas.openxmlformats.org/officeDocument/2006/relationships/font" Target="fonts/CenturyGothic-regular.fntdata"/><Relationship Id="rId629" Type="http://schemas.openxmlformats.org/officeDocument/2006/relationships/font" Target="fonts/CenturyGothic-bold.fntdata"/><Relationship Id="rId630" Type="http://schemas.openxmlformats.org/officeDocument/2006/relationships/font" Target="fonts/CenturyGothic-italic.fntdata"/><Relationship Id="rId631" Type="http://schemas.openxmlformats.org/officeDocument/2006/relationships/font" Target="fonts/CenturyGothic-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9728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4" name="Google Shape;4;n"/>
          <p:cNvSpPr txBox="1"/>
          <p:nvPr>
            <p:ph idx="10" type="dt"/>
          </p:nvPr>
        </p:nvSpPr>
        <p:spPr>
          <a:xfrm>
            <a:off x="3884613" y="0"/>
            <a:ext cx="2971800" cy="497284"/>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5" name="Google Shape;5;n"/>
          <p:cNvSpPr/>
          <p:nvPr>
            <p:ph idx="3"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lvl1pPr indent="-304800" lvl="0" marL="457200" marR="0" rtl="0" algn="l">
              <a:lnSpc>
                <a:spcPct val="95000"/>
              </a:lnSpc>
              <a:spcBef>
                <a:spcPts val="400"/>
              </a:spcBef>
              <a:spcAft>
                <a:spcPts val="0"/>
              </a:spcAft>
              <a:buClr>
                <a:schemeClr val="dk1"/>
              </a:buClr>
              <a:buSzPts val="1200"/>
              <a:buFont typeface="Arial"/>
              <a:buChar char="•"/>
              <a:defRPr b="0" i="0" sz="1200" u="none" cap="none" strike="noStrike">
                <a:solidFill>
                  <a:schemeClr val="dk1"/>
                </a:solidFill>
                <a:latin typeface="Century Gothic"/>
                <a:ea typeface="Century Gothic"/>
                <a:cs typeface="Century Gothic"/>
                <a:sym typeface="Century Gothic"/>
              </a:defRPr>
            </a:lvl1pPr>
            <a:lvl2pPr indent="-304800" lvl="1" marL="914400" marR="0" rtl="0" algn="l">
              <a:lnSpc>
                <a:spcPct val="85000"/>
              </a:lnSpc>
              <a:spcBef>
                <a:spcPts val="100"/>
              </a:spcBef>
              <a:spcAft>
                <a:spcPts val="0"/>
              </a:spcAft>
              <a:buClr>
                <a:schemeClr val="dk1"/>
              </a:buClr>
              <a:buSzPts val="1200"/>
              <a:buFont typeface="Arial"/>
              <a:buChar char="•"/>
              <a:defRPr b="0" i="0" sz="1200" u="none" cap="none" strike="noStrike">
                <a:solidFill>
                  <a:schemeClr val="dk1"/>
                </a:solidFill>
                <a:latin typeface="Century Gothic"/>
                <a:ea typeface="Century Gothic"/>
                <a:cs typeface="Century Gothic"/>
                <a:sym typeface="Century Gothic"/>
              </a:defRPr>
            </a:lvl2pPr>
            <a:lvl3pPr indent="-304800" lvl="2" marL="1371600" marR="0" rtl="0" algn="l">
              <a:lnSpc>
                <a:spcPct val="85000"/>
              </a:lnSpc>
              <a:spcBef>
                <a:spcPts val="100"/>
              </a:spcBef>
              <a:spcAft>
                <a:spcPts val="0"/>
              </a:spcAft>
              <a:buClr>
                <a:schemeClr val="dk1"/>
              </a:buClr>
              <a:buSzPts val="1200"/>
              <a:buFont typeface="Arial"/>
              <a:buChar char="•"/>
              <a:defRPr b="0" i="0" sz="1200" u="none" cap="none" strike="noStrike">
                <a:solidFill>
                  <a:schemeClr val="dk1"/>
                </a:solidFill>
                <a:latin typeface="Century Gothic"/>
                <a:ea typeface="Century Gothic"/>
                <a:cs typeface="Century Gothic"/>
                <a:sym typeface="Century Gothic"/>
              </a:defRPr>
            </a:lvl3pPr>
            <a:lvl4pPr indent="-304800" lvl="3" marL="1828800" marR="0" rtl="0" algn="l">
              <a:lnSpc>
                <a:spcPct val="85000"/>
              </a:lnSpc>
              <a:spcBef>
                <a:spcPts val="100"/>
              </a:spcBef>
              <a:spcAft>
                <a:spcPts val="0"/>
              </a:spcAft>
              <a:buClr>
                <a:schemeClr val="dk1"/>
              </a:buClr>
              <a:buSzPts val="1200"/>
              <a:buFont typeface="Arial"/>
              <a:buChar char="•"/>
              <a:defRPr b="0" i="0" sz="1200" u="none" cap="none" strike="noStrike">
                <a:solidFill>
                  <a:schemeClr val="dk1"/>
                </a:solidFill>
                <a:latin typeface="Century Gothic"/>
                <a:ea typeface="Century Gothic"/>
                <a:cs typeface="Century Gothic"/>
                <a:sym typeface="Century Gothic"/>
              </a:defRPr>
            </a:lvl4pPr>
            <a:lvl5pPr indent="-304800" lvl="4" marL="2286000" marR="0" rtl="0" algn="l">
              <a:lnSpc>
                <a:spcPct val="85000"/>
              </a:lnSpc>
              <a:spcBef>
                <a:spcPts val="100"/>
              </a:spcBef>
              <a:spcAft>
                <a:spcPts val="0"/>
              </a:spcAft>
              <a:buClr>
                <a:schemeClr val="dk1"/>
              </a:buClr>
              <a:buSzPts val="1200"/>
              <a:buFont typeface="Arial"/>
              <a:buChar char="•"/>
              <a:defRPr b="0" i="0" sz="1200" u="none" cap="none" strike="noStrike">
                <a:solidFill>
                  <a:schemeClr val="dk1"/>
                </a:solidFill>
                <a:latin typeface="Century Gothic"/>
                <a:ea typeface="Century Gothic"/>
                <a:cs typeface="Century Gothic"/>
                <a:sym typeface="Century Gothic"/>
              </a:defRPr>
            </a:lvl5pPr>
            <a:lvl6pPr indent="-228600" lvl="5" marL="2743200" marR="0" rtl="0" algn="l">
              <a:spcBef>
                <a:spcPts val="0"/>
              </a:spcBef>
              <a:spcAft>
                <a:spcPts val="0"/>
              </a:spcAft>
              <a:buSzPts val="1400"/>
              <a:buNone/>
              <a:defRPr b="0" i="0" sz="1200" u="none" cap="none" strike="noStrike">
                <a:solidFill>
                  <a:schemeClr val="dk1"/>
                </a:solidFill>
                <a:latin typeface="Century Gothic"/>
                <a:ea typeface="Century Gothic"/>
                <a:cs typeface="Century Gothic"/>
                <a:sym typeface="Century Gothic"/>
              </a:defRPr>
            </a:lvl6pPr>
            <a:lvl7pPr indent="-228600" lvl="6" marL="3200400" marR="0" rtl="0" algn="l">
              <a:spcBef>
                <a:spcPts val="0"/>
              </a:spcBef>
              <a:spcAft>
                <a:spcPts val="0"/>
              </a:spcAft>
              <a:buSzPts val="1400"/>
              <a:buNone/>
              <a:defRPr b="0" i="0" sz="1200" u="none" cap="none" strike="noStrike">
                <a:solidFill>
                  <a:schemeClr val="dk1"/>
                </a:solidFill>
                <a:latin typeface="Century Gothic"/>
                <a:ea typeface="Century Gothic"/>
                <a:cs typeface="Century Gothic"/>
                <a:sym typeface="Century Gothic"/>
              </a:defRPr>
            </a:lvl7pPr>
            <a:lvl8pPr indent="-228600" lvl="7" marL="3657600" marR="0" rtl="0" algn="l">
              <a:spcBef>
                <a:spcPts val="0"/>
              </a:spcBef>
              <a:spcAft>
                <a:spcPts val="0"/>
              </a:spcAft>
              <a:buSzPts val="1400"/>
              <a:buNone/>
              <a:defRPr b="0" i="0" sz="1200" u="none" cap="none" strike="noStrike">
                <a:solidFill>
                  <a:schemeClr val="dk1"/>
                </a:solidFill>
                <a:latin typeface="Century Gothic"/>
                <a:ea typeface="Century Gothic"/>
                <a:cs typeface="Century Gothic"/>
                <a:sym typeface="Century Gothic"/>
              </a:defRPr>
            </a:lvl8pPr>
            <a:lvl9pPr indent="-228600" lvl="8" marL="4114800" marR="0" rtl="0" algn="l">
              <a:spcBef>
                <a:spcPts val="0"/>
              </a:spcBef>
              <a:spcAft>
                <a:spcPts val="0"/>
              </a:spcAft>
              <a:buSzPts val="1400"/>
              <a:buNone/>
              <a:defRPr b="0" i="0" sz="1200" u="none" cap="none" strike="noStrike">
                <a:solidFill>
                  <a:schemeClr val="dk1"/>
                </a:solidFill>
                <a:latin typeface="Century Gothic"/>
                <a:ea typeface="Century Gothic"/>
                <a:cs typeface="Century Gothic"/>
                <a:sym typeface="Century Gothic"/>
              </a:defRPr>
            </a:lvl9pPr>
          </a:lstStyle>
          <a:p/>
        </p:txBody>
      </p:sp>
      <p:sp>
        <p:nvSpPr>
          <p:cNvPr id="7" name="Google Shape;7;n"/>
          <p:cNvSpPr txBox="1"/>
          <p:nvPr/>
        </p:nvSpPr>
        <p:spPr>
          <a:xfrm>
            <a:off x="286468" y="9509858"/>
            <a:ext cx="109004" cy="107722"/>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GB" sz="700" u="none" cap="none" strike="noStrike">
                <a:solidFill>
                  <a:schemeClr val="lt2"/>
                </a:solidFill>
                <a:latin typeface="Century Gothic"/>
                <a:ea typeface="Century Gothic"/>
                <a:cs typeface="Century Gothic"/>
                <a:sym typeface="Century Gothic"/>
              </a:rPr>
              <a:t>‹#›</a:t>
            </a:fld>
            <a:endParaRPr b="0" i="0" sz="700" u="none" cap="none" strike="noStrike">
              <a:solidFill>
                <a:schemeClr val="lt2"/>
              </a:solidFill>
              <a:latin typeface="Century Gothic"/>
              <a:ea typeface="Century Gothic"/>
              <a:cs typeface="Century Gothic"/>
              <a:sym typeface="Century Gothic"/>
            </a:endParaRPr>
          </a:p>
        </p:txBody>
      </p:sp>
      <p:grpSp>
        <p:nvGrpSpPr>
          <p:cNvPr id="8" name="Google Shape;8;n"/>
          <p:cNvGrpSpPr/>
          <p:nvPr/>
        </p:nvGrpSpPr>
        <p:grpSpPr>
          <a:xfrm>
            <a:off x="6010878" y="9504586"/>
            <a:ext cx="531812" cy="129502"/>
            <a:chOff x="5137" y="4139"/>
            <a:chExt cx="335" cy="75"/>
          </a:xfrm>
        </p:grpSpPr>
        <p:sp>
          <p:nvSpPr>
            <p:cNvPr id="9" name="Google Shape;9;n"/>
            <p:cNvSpPr/>
            <p:nvPr/>
          </p:nvSpPr>
          <p:spPr>
            <a:xfrm>
              <a:off x="5137" y="4139"/>
              <a:ext cx="324" cy="75"/>
            </a:xfrm>
            <a:custGeom>
              <a:rect b="b" l="l" r="r" t="t"/>
              <a:pathLst>
                <a:path extrusionOk="0" h="863" w="3745">
                  <a:moveTo>
                    <a:pt x="660" y="0"/>
                  </a:moveTo>
                  <a:lnTo>
                    <a:pt x="660" y="0"/>
                  </a:lnTo>
                  <a:lnTo>
                    <a:pt x="22" y="0"/>
                  </a:lnTo>
                  <a:lnTo>
                    <a:pt x="0" y="73"/>
                  </a:lnTo>
                  <a:lnTo>
                    <a:pt x="292" y="73"/>
                  </a:lnTo>
                  <a:lnTo>
                    <a:pt x="292" y="804"/>
                  </a:lnTo>
                  <a:cubicBezTo>
                    <a:pt x="292" y="843"/>
                    <a:pt x="316" y="863"/>
                    <a:pt x="360" y="863"/>
                  </a:cubicBezTo>
                  <a:lnTo>
                    <a:pt x="399" y="863"/>
                  </a:lnTo>
                  <a:lnTo>
                    <a:pt x="399" y="73"/>
                  </a:lnTo>
                  <a:lnTo>
                    <a:pt x="637" y="73"/>
                  </a:lnTo>
                  <a:lnTo>
                    <a:pt x="660" y="0"/>
                  </a:lnTo>
                  <a:lnTo>
                    <a:pt x="660" y="0"/>
                  </a:lnTo>
                  <a:close/>
                  <a:moveTo>
                    <a:pt x="2673" y="181"/>
                  </a:moveTo>
                  <a:lnTo>
                    <a:pt x="2673" y="181"/>
                  </a:lnTo>
                  <a:cubicBezTo>
                    <a:pt x="2647" y="181"/>
                    <a:pt x="2626" y="190"/>
                    <a:pt x="2621" y="203"/>
                  </a:cubicBezTo>
                  <a:lnTo>
                    <a:pt x="2408" y="768"/>
                  </a:lnTo>
                  <a:lnTo>
                    <a:pt x="2448" y="768"/>
                  </a:lnTo>
                  <a:cubicBezTo>
                    <a:pt x="2491" y="768"/>
                    <a:pt x="2509" y="764"/>
                    <a:pt x="2522" y="729"/>
                  </a:cubicBezTo>
                  <a:lnTo>
                    <a:pt x="2570" y="596"/>
                  </a:lnTo>
                  <a:lnTo>
                    <a:pt x="2698" y="596"/>
                  </a:lnTo>
                  <a:lnTo>
                    <a:pt x="2679" y="533"/>
                  </a:lnTo>
                  <a:lnTo>
                    <a:pt x="2590" y="533"/>
                  </a:lnTo>
                  <a:lnTo>
                    <a:pt x="2669" y="310"/>
                  </a:lnTo>
                  <a:lnTo>
                    <a:pt x="2812" y="729"/>
                  </a:lnTo>
                  <a:cubicBezTo>
                    <a:pt x="2824" y="764"/>
                    <a:pt x="2845" y="768"/>
                    <a:pt x="2891" y="768"/>
                  </a:cubicBezTo>
                  <a:lnTo>
                    <a:pt x="2941" y="768"/>
                  </a:lnTo>
                  <a:lnTo>
                    <a:pt x="2725" y="203"/>
                  </a:lnTo>
                  <a:cubicBezTo>
                    <a:pt x="2720" y="190"/>
                    <a:pt x="2697" y="181"/>
                    <a:pt x="2673" y="181"/>
                  </a:cubicBezTo>
                  <a:close/>
                  <a:moveTo>
                    <a:pt x="3529" y="203"/>
                  </a:moveTo>
                  <a:lnTo>
                    <a:pt x="3529" y="203"/>
                  </a:lnTo>
                  <a:cubicBezTo>
                    <a:pt x="3524" y="190"/>
                    <a:pt x="3501" y="181"/>
                    <a:pt x="3477" y="181"/>
                  </a:cubicBezTo>
                  <a:cubicBezTo>
                    <a:pt x="3451" y="181"/>
                    <a:pt x="3430" y="190"/>
                    <a:pt x="3425" y="203"/>
                  </a:cubicBezTo>
                  <a:lnTo>
                    <a:pt x="3212" y="768"/>
                  </a:lnTo>
                  <a:lnTo>
                    <a:pt x="3252" y="768"/>
                  </a:lnTo>
                  <a:cubicBezTo>
                    <a:pt x="3294" y="768"/>
                    <a:pt x="3313" y="764"/>
                    <a:pt x="3326" y="729"/>
                  </a:cubicBezTo>
                  <a:lnTo>
                    <a:pt x="3374" y="596"/>
                  </a:lnTo>
                  <a:lnTo>
                    <a:pt x="3502" y="596"/>
                  </a:lnTo>
                  <a:lnTo>
                    <a:pt x="3483" y="533"/>
                  </a:lnTo>
                  <a:lnTo>
                    <a:pt x="3394" y="533"/>
                  </a:lnTo>
                  <a:lnTo>
                    <a:pt x="3473" y="310"/>
                  </a:lnTo>
                  <a:lnTo>
                    <a:pt x="3616" y="729"/>
                  </a:lnTo>
                  <a:cubicBezTo>
                    <a:pt x="3628" y="764"/>
                    <a:pt x="3649" y="768"/>
                    <a:pt x="3695" y="768"/>
                  </a:cubicBezTo>
                  <a:lnTo>
                    <a:pt x="3745" y="768"/>
                  </a:lnTo>
                  <a:lnTo>
                    <a:pt x="3529" y="203"/>
                  </a:lnTo>
                  <a:lnTo>
                    <a:pt x="3529" y="203"/>
                  </a:lnTo>
                  <a:close/>
                  <a:moveTo>
                    <a:pt x="1655" y="181"/>
                  </a:moveTo>
                  <a:lnTo>
                    <a:pt x="1655" y="181"/>
                  </a:lnTo>
                  <a:cubicBezTo>
                    <a:pt x="1630" y="181"/>
                    <a:pt x="1608" y="190"/>
                    <a:pt x="1603" y="203"/>
                  </a:cubicBezTo>
                  <a:lnTo>
                    <a:pt x="1399" y="746"/>
                  </a:lnTo>
                  <a:lnTo>
                    <a:pt x="1247" y="515"/>
                  </a:lnTo>
                  <a:cubicBezTo>
                    <a:pt x="1327" y="501"/>
                    <a:pt x="1374" y="459"/>
                    <a:pt x="1374" y="387"/>
                  </a:cubicBezTo>
                  <a:lnTo>
                    <a:pt x="1374" y="336"/>
                  </a:lnTo>
                  <a:cubicBezTo>
                    <a:pt x="1374" y="232"/>
                    <a:pt x="1277" y="189"/>
                    <a:pt x="1149" y="189"/>
                  </a:cubicBezTo>
                  <a:lnTo>
                    <a:pt x="969" y="189"/>
                  </a:lnTo>
                  <a:lnTo>
                    <a:pt x="969" y="704"/>
                  </a:lnTo>
                  <a:lnTo>
                    <a:pt x="737" y="704"/>
                  </a:lnTo>
                  <a:cubicBezTo>
                    <a:pt x="646" y="704"/>
                    <a:pt x="625" y="684"/>
                    <a:pt x="625" y="590"/>
                  </a:cubicBezTo>
                  <a:lnTo>
                    <a:pt x="625" y="488"/>
                  </a:lnTo>
                  <a:lnTo>
                    <a:pt x="797" y="488"/>
                  </a:lnTo>
                  <a:lnTo>
                    <a:pt x="816" y="424"/>
                  </a:lnTo>
                  <a:lnTo>
                    <a:pt x="625" y="424"/>
                  </a:lnTo>
                  <a:lnTo>
                    <a:pt x="625" y="253"/>
                  </a:lnTo>
                  <a:lnTo>
                    <a:pt x="878" y="253"/>
                  </a:lnTo>
                  <a:lnTo>
                    <a:pt x="897" y="189"/>
                  </a:lnTo>
                  <a:lnTo>
                    <a:pt x="520" y="189"/>
                  </a:lnTo>
                  <a:lnTo>
                    <a:pt x="520" y="590"/>
                  </a:lnTo>
                  <a:cubicBezTo>
                    <a:pt x="520" y="724"/>
                    <a:pt x="552" y="768"/>
                    <a:pt x="735" y="768"/>
                  </a:cubicBezTo>
                  <a:lnTo>
                    <a:pt x="1074" y="766"/>
                  </a:lnTo>
                  <a:lnTo>
                    <a:pt x="1074" y="253"/>
                  </a:lnTo>
                  <a:lnTo>
                    <a:pt x="1149" y="253"/>
                  </a:lnTo>
                  <a:cubicBezTo>
                    <a:pt x="1230" y="253"/>
                    <a:pt x="1271" y="282"/>
                    <a:pt x="1271" y="337"/>
                  </a:cubicBezTo>
                  <a:lnTo>
                    <a:pt x="1271" y="387"/>
                  </a:lnTo>
                  <a:cubicBezTo>
                    <a:pt x="1271" y="443"/>
                    <a:pt x="1220" y="461"/>
                    <a:pt x="1157" y="461"/>
                  </a:cubicBezTo>
                  <a:lnTo>
                    <a:pt x="1110" y="461"/>
                  </a:lnTo>
                  <a:lnTo>
                    <a:pt x="1269" y="733"/>
                  </a:lnTo>
                  <a:cubicBezTo>
                    <a:pt x="1287" y="765"/>
                    <a:pt x="1296" y="768"/>
                    <a:pt x="1338" y="768"/>
                  </a:cubicBezTo>
                  <a:lnTo>
                    <a:pt x="1430" y="768"/>
                  </a:lnTo>
                  <a:cubicBezTo>
                    <a:pt x="1473" y="768"/>
                    <a:pt x="1492" y="764"/>
                    <a:pt x="1505" y="729"/>
                  </a:cubicBezTo>
                  <a:lnTo>
                    <a:pt x="1552" y="596"/>
                  </a:lnTo>
                  <a:lnTo>
                    <a:pt x="1680" y="596"/>
                  </a:lnTo>
                  <a:lnTo>
                    <a:pt x="1661" y="533"/>
                  </a:lnTo>
                  <a:lnTo>
                    <a:pt x="1573" y="533"/>
                  </a:lnTo>
                  <a:lnTo>
                    <a:pt x="1652" y="310"/>
                  </a:lnTo>
                  <a:lnTo>
                    <a:pt x="1795" y="729"/>
                  </a:lnTo>
                  <a:cubicBezTo>
                    <a:pt x="1807" y="764"/>
                    <a:pt x="1827" y="768"/>
                    <a:pt x="1873" y="768"/>
                  </a:cubicBezTo>
                  <a:lnTo>
                    <a:pt x="1923" y="768"/>
                  </a:lnTo>
                  <a:lnTo>
                    <a:pt x="1707" y="203"/>
                  </a:lnTo>
                  <a:cubicBezTo>
                    <a:pt x="1702" y="190"/>
                    <a:pt x="1679" y="181"/>
                    <a:pt x="1655" y="181"/>
                  </a:cubicBezTo>
                  <a:close/>
                  <a:moveTo>
                    <a:pt x="2304" y="530"/>
                  </a:moveTo>
                  <a:lnTo>
                    <a:pt x="2304" y="530"/>
                  </a:lnTo>
                  <a:cubicBezTo>
                    <a:pt x="2304" y="647"/>
                    <a:pt x="2266" y="704"/>
                    <a:pt x="2162" y="704"/>
                  </a:cubicBezTo>
                  <a:lnTo>
                    <a:pt x="2068" y="704"/>
                  </a:lnTo>
                  <a:lnTo>
                    <a:pt x="2068" y="253"/>
                  </a:lnTo>
                  <a:lnTo>
                    <a:pt x="2159" y="253"/>
                  </a:lnTo>
                  <a:cubicBezTo>
                    <a:pt x="2266" y="253"/>
                    <a:pt x="2304" y="316"/>
                    <a:pt x="2304" y="433"/>
                  </a:cubicBezTo>
                  <a:lnTo>
                    <a:pt x="2304" y="530"/>
                  </a:lnTo>
                  <a:lnTo>
                    <a:pt x="2304" y="530"/>
                  </a:lnTo>
                  <a:close/>
                  <a:moveTo>
                    <a:pt x="2409" y="432"/>
                  </a:moveTo>
                  <a:lnTo>
                    <a:pt x="2409" y="432"/>
                  </a:lnTo>
                  <a:cubicBezTo>
                    <a:pt x="2409" y="270"/>
                    <a:pt x="2326" y="189"/>
                    <a:pt x="2159" y="189"/>
                  </a:cubicBezTo>
                  <a:lnTo>
                    <a:pt x="1963" y="189"/>
                  </a:lnTo>
                  <a:lnTo>
                    <a:pt x="1963" y="709"/>
                  </a:lnTo>
                  <a:cubicBezTo>
                    <a:pt x="1963" y="748"/>
                    <a:pt x="1984" y="768"/>
                    <a:pt x="2029" y="768"/>
                  </a:cubicBezTo>
                  <a:lnTo>
                    <a:pt x="2159" y="768"/>
                  </a:lnTo>
                  <a:lnTo>
                    <a:pt x="2180" y="767"/>
                  </a:lnTo>
                  <a:cubicBezTo>
                    <a:pt x="2337" y="761"/>
                    <a:pt x="2409" y="693"/>
                    <a:pt x="2409" y="530"/>
                  </a:cubicBezTo>
                  <a:lnTo>
                    <a:pt x="2409" y="432"/>
                  </a:lnTo>
                  <a:lnTo>
                    <a:pt x="2409" y="432"/>
                  </a:lnTo>
                  <a:close/>
                  <a:moveTo>
                    <a:pt x="3332" y="190"/>
                  </a:moveTo>
                  <a:lnTo>
                    <a:pt x="3332" y="190"/>
                  </a:lnTo>
                  <a:lnTo>
                    <a:pt x="2851" y="190"/>
                  </a:lnTo>
                  <a:lnTo>
                    <a:pt x="2831" y="254"/>
                  </a:lnTo>
                  <a:lnTo>
                    <a:pt x="3028" y="254"/>
                  </a:lnTo>
                  <a:lnTo>
                    <a:pt x="3028" y="710"/>
                  </a:lnTo>
                  <a:cubicBezTo>
                    <a:pt x="3028" y="749"/>
                    <a:pt x="3052" y="768"/>
                    <a:pt x="3096" y="768"/>
                  </a:cubicBezTo>
                  <a:lnTo>
                    <a:pt x="3135" y="768"/>
                  </a:lnTo>
                  <a:lnTo>
                    <a:pt x="3135" y="254"/>
                  </a:lnTo>
                  <a:lnTo>
                    <a:pt x="3313" y="254"/>
                  </a:lnTo>
                  <a:lnTo>
                    <a:pt x="3332" y="19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10" name="Google Shape;10;n"/>
            <p:cNvSpPr/>
            <p:nvPr/>
          </p:nvSpPr>
          <p:spPr>
            <a:xfrm>
              <a:off x="5464" y="4197"/>
              <a:ext cx="8" cy="9"/>
            </a:xfrm>
            <a:custGeom>
              <a:rect b="b" l="l" r="r" t="t"/>
              <a:pathLst>
                <a:path extrusionOk="0" h="98" w="99">
                  <a:moveTo>
                    <a:pt x="59" y="30"/>
                  </a:moveTo>
                  <a:lnTo>
                    <a:pt x="59" y="30"/>
                  </a:lnTo>
                  <a:cubicBezTo>
                    <a:pt x="57" y="29"/>
                    <a:pt x="53" y="28"/>
                    <a:pt x="47" y="28"/>
                  </a:cubicBezTo>
                  <a:lnTo>
                    <a:pt x="39" y="28"/>
                  </a:lnTo>
                  <a:lnTo>
                    <a:pt x="39" y="48"/>
                  </a:lnTo>
                  <a:lnTo>
                    <a:pt x="48" y="48"/>
                  </a:lnTo>
                  <a:cubicBezTo>
                    <a:pt x="52" y="48"/>
                    <a:pt x="55" y="47"/>
                    <a:pt x="57" y="46"/>
                  </a:cubicBezTo>
                  <a:cubicBezTo>
                    <a:pt x="61" y="45"/>
                    <a:pt x="63" y="42"/>
                    <a:pt x="63" y="38"/>
                  </a:cubicBezTo>
                  <a:cubicBezTo>
                    <a:pt x="63" y="34"/>
                    <a:pt x="61" y="31"/>
                    <a:pt x="59" y="30"/>
                  </a:cubicBezTo>
                  <a:close/>
                  <a:moveTo>
                    <a:pt x="49" y="22"/>
                  </a:moveTo>
                  <a:lnTo>
                    <a:pt x="49" y="22"/>
                  </a:lnTo>
                  <a:cubicBezTo>
                    <a:pt x="55" y="22"/>
                    <a:pt x="60" y="22"/>
                    <a:pt x="63" y="23"/>
                  </a:cubicBezTo>
                  <a:cubicBezTo>
                    <a:pt x="69" y="26"/>
                    <a:pt x="72" y="30"/>
                    <a:pt x="72" y="37"/>
                  </a:cubicBezTo>
                  <a:cubicBezTo>
                    <a:pt x="72" y="42"/>
                    <a:pt x="70" y="46"/>
                    <a:pt x="66" y="48"/>
                  </a:cubicBezTo>
                  <a:cubicBezTo>
                    <a:pt x="65" y="49"/>
                    <a:pt x="62" y="50"/>
                    <a:pt x="59" y="51"/>
                  </a:cubicBezTo>
                  <a:cubicBezTo>
                    <a:pt x="63" y="51"/>
                    <a:pt x="66" y="53"/>
                    <a:pt x="68" y="56"/>
                  </a:cubicBezTo>
                  <a:cubicBezTo>
                    <a:pt x="70" y="59"/>
                    <a:pt x="71" y="62"/>
                    <a:pt x="71" y="64"/>
                  </a:cubicBezTo>
                  <a:lnTo>
                    <a:pt x="71" y="68"/>
                  </a:lnTo>
                  <a:cubicBezTo>
                    <a:pt x="71" y="69"/>
                    <a:pt x="71" y="71"/>
                    <a:pt x="71" y="72"/>
                  </a:cubicBezTo>
                  <a:cubicBezTo>
                    <a:pt x="71" y="74"/>
                    <a:pt x="71" y="75"/>
                    <a:pt x="72" y="75"/>
                  </a:cubicBezTo>
                  <a:lnTo>
                    <a:pt x="72" y="76"/>
                  </a:lnTo>
                  <a:lnTo>
                    <a:pt x="63" y="76"/>
                  </a:lnTo>
                  <a:cubicBezTo>
                    <a:pt x="63" y="76"/>
                    <a:pt x="63" y="75"/>
                    <a:pt x="63" y="75"/>
                  </a:cubicBezTo>
                  <a:cubicBezTo>
                    <a:pt x="63" y="75"/>
                    <a:pt x="63" y="75"/>
                    <a:pt x="63" y="75"/>
                  </a:cubicBezTo>
                  <a:lnTo>
                    <a:pt x="62" y="73"/>
                  </a:lnTo>
                  <a:lnTo>
                    <a:pt x="62" y="69"/>
                  </a:lnTo>
                  <a:cubicBezTo>
                    <a:pt x="62" y="62"/>
                    <a:pt x="61" y="58"/>
                    <a:pt x="57" y="56"/>
                  </a:cubicBezTo>
                  <a:cubicBezTo>
                    <a:pt x="55" y="55"/>
                    <a:pt x="52" y="54"/>
                    <a:pt x="47" y="54"/>
                  </a:cubicBezTo>
                  <a:lnTo>
                    <a:pt x="39" y="54"/>
                  </a:lnTo>
                  <a:lnTo>
                    <a:pt x="39" y="76"/>
                  </a:lnTo>
                  <a:lnTo>
                    <a:pt x="30" y="76"/>
                  </a:lnTo>
                  <a:lnTo>
                    <a:pt x="30" y="22"/>
                  </a:lnTo>
                  <a:lnTo>
                    <a:pt x="49" y="22"/>
                  </a:lnTo>
                  <a:lnTo>
                    <a:pt x="49" y="22"/>
                  </a:lnTo>
                  <a:close/>
                  <a:moveTo>
                    <a:pt x="20" y="19"/>
                  </a:moveTo>
                  <a:lnTo>
                    <a:pt x="20" y="19"/>
                  </a:lnTo>
                  <a:cubicBezTo>
                    <a:pt x="11" y="27"/>
                    <a:pt x="7" y="37"/>
                    <a:pt x="7" y="49"/>
                  </a:cubicBezTo>
                  <a:cubicBezTo>
                    <a:pt x="7" y="61"/>
                    <a:pt x="11" y="71"/>
                    <a:pt x="20" y="79"/>
                  </a:cubicBezTo>
                  <a:cubicBezTo>
                    <a:pt x="28" y="87"/>
                    <a:pt x="38" y="92"/>
                    <a:pt x="50" y="92"/>
                  </a:cubicBezTo>
                  <a:cubicBezTo>
                    <a:pt x="61" y="92"/>
                    <a:pt x="71" y="87"/>
                    <a:pt x="80" y="79"/>
                  </a:cubicBezTo>
                  <a:cubicBezTo>
                    <a:pt x="88" y="71"/>
                    <a:pt x="92" y="61"/>
                    <a:pt x="92" y="49"/>
                  </a:cubicBezTo>
                  <a:cubicBezTo>
                    <a:pt x="92" y="37"/>
                    <a:pt x="88" y="27"/>
                    <a:pt x="80" y="19"/>
                  </a:cubicBezTo>
                  <a:cubicBezTo>
                    <a:pt x="71" y="10"/>
                    <a:pt x="61" y="6"/>
                    <a:pt x="50" y="6"/>
                  </a:cubicBezTo>
                  <a:cubicBezTo>
                    <a:pt x="38" y="6"/>
                    <a:pt x="28" y="10"/>
                    <a:pt x="20" y="19"/>
                  </a:cubicBezTo>
                  <a:close/>
                  <a:moveTo>
                    <a:pt x="85" y="84"/>
                  </a:moveTo>
                  <a:lnTo>
                    <a:pt x="85" y="84"/>
                  </a:lnTo>
                  <a:cubicBezTo>
                    <a:pt x="75" y="94"/>
                    <a:pt x="63" y="98"/>
                    <a:pt x="50" y="98"/>
                  </a:cubicBezTo>
                  <a:cubicBezTo>
                    <a:pt x="36" y="98"/>
                    <a:pt x="24" y="94"/>
                    <a:pt x="15" y="84"/>
                  </a:cubicBezTo>
                  <a:cubicBezTo>
                    <a:pt x="5" y="74"/>
                    <a:pt x="0" y="63"/>
                    <a:pt x="0" y="49"/>
                  </a:cubicBezTo>
                  <a:cubicBezTo>
                    <a:pt x="0" y="35"/>
                    <a:pt x="5" y="24"/>
                    <a:pt x="15" y="14"/>
                  </a:cubicBezTo>
                  <a:cubicBezTo>
                    <a:pt x="24" y="4"/>
                    <a:pt x="36" y="0"/>
                    <a:pt x="50" y="0"/>
                  </a:cubicBezTo>
                  <a:cubicBezTo>
                    <a:pt x="63" y="0"/>
                    <a:pt x="75" y="4"/>
                    <a:pt x="85" y="14"/>
                  </a:cubicBezTo>
                  <a:cubicBezTo>
                    <a:pt x="94" y="24"/>
                    <a:pt x="99" y="35"/>
                    <a:pt x="99" y="49"/>
                  </a:cubicBezTo>
                  <a:cubicBezTo>
                    <a:pt x="99" y="63"/>
                    <a:pt x="94" y="74"/>
                    <a:pt x="85" y="84"/>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sp>
        <p:nvSpPr>
          <p:cNvPr id="11" name="Google Shape;11;n"/>
          <p:cNvSpPr txBox="1"/>
          <p:nvPr>
            <p:ph idx="11" type="ftr"/>
          </p:nvPr>
        </p:nvSpPr>
        <p:spPr>
          <a:xfrm>
            <a:off x="457200" y="9514580"/>
            <a:ext cx="2971800" cy="107722"/>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sz="700">
                <a:solidFill>
                  <a:schemeClr val="lt2"/>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3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PRODUCT MANAGEMENT — DOMAIN DASHBOARD</a:t>
            </a:r>
            <a:br/>
            <a:br/>
            <a:r>
              <a:t>This slide provides a high-level comparison of Product Management maturity across global, regional (South Asia &amp; Middle East), and Pakistan banking markets.</a:t>
            </a:r>
            <a:br/>
            <a:br/>
            <a:r>
              <a:t>Key Takeaways:</a:t>
            </a:r>
            <a:br/>
            <a:r>
              <a:t>- Pakistan banks average 1.8 products per customer vs. 4-6 globally — massive cross-sell opportunity</a:t>
            </a:r>
            <a:br/>
            <a:r>
              <a:t>- Product profitability analytics available at &lt;15% of Pakistan banks vs. 70%+ of large global banks</a:t>
            </a:r>
            <a:br/>
            <a:r>
              <a:t>- Dynamic pricing capability at &lt;10% of Pakistan banks vs. 50%+ at digital banks globally</a:t>
            </a:r>
            <a:br/>
            <a:r>
              <a:t>- Product A/B testing standard at digital banks globally but &lt;5% of Pakistan banks</a:t>
            </a:r>
            <a:br/>
            <a:r>
              <a:t>- Islamic product suite is a unique Pakistan/ME requirement — 25%+ of deposits</a:t>
            </a:r>
            <a:br/>
            <a:r>
              <a:t>- Digital product launch speed: 8-16 weeks in Pakistan vs. 2-4 weeks at global digital banks</a:t>
            </a:r>
            <a:br/>
            <a:br/>
            <a:r>
              <a:t>BVF Sub-capabilities: 12 across 6 sub-domains</a:t>
            </a:r>
            <a:br/>
            <a:r>
              <a:t>FSDM Entities: Product, Agreement, Party, Transaction, Channel, Pricing</a:t>
            </a:r>
            <a:br/>
            <a:r>
              <a:t>BACR Questions: ~60 | Maturity Focus: Developing → Innovating</a:t>
            </a:r>
            <a:br/>
            <a:br/>
            <a:r>
              <a:t>Investment Justification: Moving from Developing to Innovating can deliver PKR 15-25B annual value through cross-sell improvement, pricing optimization, and product portfolio rationalization.</a:t>
            </a:r>
          </a:p>
        </p:txBody>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PAKISTAN BANKING — PRODUCT MANAGEMENT LANDSCAPE</a:t>
            </a:r>
            <a:br/>
            <a:br/>
            <a:r>
              <a:t>Product Portfolio (typical large Pakistan bank):</a:t>
            </a:r>
            <a:br/>
            <a:r>
              <a:t>DEPOSIT PRODUCTS: Current Account (zero interest, CASA), Savings Account (SBP min rate ~11-13%), Fixed Deposit (3M-5Y), Foreign Currency Account, Roshan Digital Account, Basic Banking Account, Islamic: Mudaraba Savings, Mudaraba Term Deposit, Wakalah Pool</a:t>
            </a:r>
            <a:br/>
            <a:br/>
            <a:r>
              <a:t>LENDING PRODUCTS: Corporate (working capital, term finance, project finance, trade finance LC/LG/SBLC), Consumer (personal loan, home finance, auto finance, credit card revolving), SME (running finance, term finance), Agriculture (crop, livestock, dairy), Islamic (Murabaha, Ijarah, Diminishing Musharaka, Running Musharaka)</a:t>
            </a:r>
            <a:br/>
            <a:br/>
            <a:r>
              <a:t>CARD PRODUCTS: Debit (30M+ cards), Credit (3M+ cards), Prepaid (travel, remittance, payroll)</a:t>
            </a:r>
            <a:br/>
            <a:br/>
            <a:r>
              <a:t>DIGITAL PRODUCTS: Mobile banking, Internet banking, RAAST P2P/P2M, QR payments, Digital wallet (JazzCash/Easypaisa), Agent banking</a:t>
            </a:r>
            <a:br/>
            <a:br/>
            <a:r>
              <a:t>Key Challenges:</a:t>
            </a:r>
            <a:br/>
            <a:r>
              <a:t>- Products per customer: 1.8 (vs. 4-6 global)</a:t>
            </a:r>
            <a:br/>
            <a:r>
              <a:t>- SBP product approval: 4-8 weeks for new products</a:t>
            </a:r>
            <a:br/>
            <a:r>
              <a:t>- Islamic dual approval: Shariah board + SBP</a:t>
            </a:r>
            <a:br/>
            <a:r>
              <a:t>- Pricing rigidity: deposit floor (SBP), lending ceiling (KIBOR)</a:t>
            </a:r>
            <a:br/>
            <a:r>
              <a:t>- Product data fragmented across 4-5 core banking systems</a:t>
            </a:r>
          </a:p>
        </p:txBody>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PRODUCT MANAGEMENT — IMPLEMENTATION ROADMAP</a:t>
            </a:r>
            <a:br/>
            <a:br/>
            <a:r>
              <a:t>Phase 1: Product Intelligence Foundation (0-6 months) — PKR 40-80M</a:t>
            </a:r>
            <a:br/>
            <a:r>
              <a:t>- Product profitability analytics (from FSDM Customer Profitability Engine)</a:t>
            </a:r>
            <a:br/>
            <a:r>
              <a:t>- Product performance dashboard (sales, balances, revenue, cost by product)</a:t>
            </a:r>
            <a:br/>
            <a:r>
              <a:t>- Cross-channel product sales tracking</a:t>
            </a:r>
            <a:br/>
            <a:r>
              <a:t>- Product benchmark analysis (vs. SBP data)</a:t>
            </a:r>
            <a:br/>
            <a:r>
              <a:t>Quick Win: Identify bottom 10% unprofitable products</a:t>
            </a:r>
            <a:br/>
            <a:br/>
            <a:r>
              <a:t>Phase 2: Product Optimization (6-18 months) — PKR 80-150M</a:t>
            </a:r>
            <a:br/>
            <a:r>
              <a:t>- Competitive pricing analytics (deposit rates, lending spreads, card fees)</a:t>
            </a:r>
            <a:br/>
            <a:r>
              <a:t>- Product onboarding journey optimization (reduce dropoff 40-60% to &lt;20%)</a:t>
            </a:r>
            <a:br/>
            <a:r>
              <a:t>- Cross-sell propensity models by product affinity</a:t>
            </a:r>
            <a:br/>
            <a:r>
              <a:t>- Islamic product performance parity analysis</a:t>
            </a:r>
            <a:br/>
            <a:r>
              <a:t>Expected: Increase products/customer from 1.8 to 2.5</a:t>
            </a:r>
            <a:br/>
            <a:br/>
            <a:r>
              <a:t>Phase 3: Advanced Product Management (18-36 months) — PKR 120-250M</a:t>
            </a:r>
            <a:br/>
            <a:r>
              <a:t>- Dynamic pricing engine (risk-adjusted lending, competitive deposit pricing)</a:t>
            </a:r>
            <a:br/>
            <a:r>
              <a:t>- A/B testing framework for product features and pricing</a:t>
            </a:r>
            <a:br/>
            <a:r>
              <a:t>- Product lifecycle management (launch → growth → maturity → sunset)</a:t>
            </a:r>
            <a:br/>
            <a:r>
              <a:t>- Predictive product retention (which customers will close which products?)</a:t>
            </a:r>
            <a:br/>
            <a:r>
              <a:t>Expected: 15-25% improvement in product revenue per customer</a:t>
            </a:r>
            <a:br/>
            <a:br/>
            <a:r>
              <a:t>Total 3-Year Investment: PKR 240-480M (~USD 0.9-1.7M)</a:t>
            </a:r>
            <a:br/>
            <a:r>
              <a:t>Estimated Annual Value: PKR 15-25B from cross-sell, pricing, and portfolio optimization</a:t>
            </a:r>
          </a:p>
        </p:txBody>
      </p:sp>
    </p:spTree>
  </p:cSld>
  <p:clrMapOvr>
    <a:masterClrMapping/>
  </p:clrMapOvr>
</p:notes>
</file>

<file path=ppt/notesSlides/notesSlide3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8" name="Shape 6268"/>
        <p:cNvGrpSpPr/>
        <p:nvPr/>
      </p:nvGrpSpPr>
      <p:grpSpPr>
        <a:xfrm>
          <a:off x="0" y="0"/>
          <a:ext cx="0" cy="0"/>
          <a:chOff x="0" y="0"/>
          <a:chExt cx="0" cy="0"/>
        </a:xfrm>
      </p:grpSpPr>
      <p:sp>
        <p:nvSpPr>
          <p:cNvPr id="6269" name="Google Shape;6269;p319:notes"/>
          <p:cNvSpPr txBox="1"/>
          <p:nvPr>
            <p:ph idx="1" type="body"/>
          </p:nvPr>
        </p:nvSpPr>
        <p:spPr>
          <a:xfrm>
            <a:off x="685800" y="4724202"/>
            <a:ext cx="5486400" cy="4475560"/>
          </a:xfrm>
          <a:prstGeom prst="rect">
            <a:avLst/>
          </a:prstGeom>
        </p:spPr>
        <p:txBody>
          <a:bodyPr anchorCtr="0" anchor="t" bIns="45700" lIns="91425" spcFirstLastPara="1" rIns="91425" wrap="square" tIns="45700">
            <a:noAutofit/>
          </a:bodyPr>
          <a:lstStyle/>
          <a:p>
            <a:pPr indent="0" lvl="0" marL="0" rtl="0" algn="l">
              <a:spcBef>
                <a:spcPts val="400"/>
              </a:spcBef>
              <a:spcAft>
                <a:spcPts val="0"/>
              </a:spcAft>
              <a:buNone/>
            </a:pPr>
            <a:r>
              <a:t>PRODUCT MANAGEMENT — Navigation</a:t>
            </a:r>
            <a:br/>
            <a:r>
              <a:t>This domain covers 6 sub-domains with 12 BVF sub-capabilities:</a:t>
            </a:r>
            <a:br/>
            <a:r>
              <a:t>1. Product Development (3 capabilities)</a:t>
            </a:r>
            <a:br/>
            <a:r>
              <a:t>2. Product Introduction (2 capabilities)</a:t>
            </a:r>
            <a:br/>
            <a:r>
              <a:t>3. Price and Promotion (2 capabilities)</a:t>
            </a:r>
            <a:br/>
            <a:r>
              <a:t>4. Product End-of-Life (1 capability)</a:t>
            </a:r>
            <a:br/>
            <a:r>
              <a:t>5. Product Performance (5 capabilities — largest sub-domain)</a:t>
            </a:r>
            <a:br/>
            <a:br/>
            <a:r>
              <a:t>PAKISTAN CONTEXT: Product management in banking is the revenue engine — every PKR of income comes from a product. Pakistan banks average 1.8 products per customer vs. 4-6 globally — massive cross-sell opportunity.</a:t>
            </a:r>
            <a:br/>
            <a:br/>
            <a:r>
              <a:t>FSDM: PRDCT (Product), PRDCT_TYP (Product Type), AGRMNT (Agreement), PRDCT_FTRE (Product Feature), PRDCT_PRCNG (Product Pricing), PRDCT_PRFMNC (Product Performance)</a:t>
            </a:r>
            <a:endParaRPr/>
          </a:p>
        </p:txBody>
      </p:sp>
      <p:sp>
        <p:nvSpPr>
          <p:cNvPr id="6270" name="Google Shape;6270;p319: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4" name="Shape 6274"/>
        <p:cNvGrpSpPr/>
        <p:nvPr/>
      </p:nvGrpSpPr>
      <p:grpSpPr>
        <a:xfrm>
          <a:off x="0" y="0"/>
          <a:ext cx="0" cy="0"/>
          <a:chOff x="0" y="0"/>
          <a:chExt cx="0" cy="0"/>
        </a:xfrm>
      </p:grpSpPr>
      <p:sp>
        <p:nvSpPr>
          <p:cNvPr id="6275" name="Google Shape;6275;p320: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76" name="Google Shape;6276;p320: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PRODUCT MANAGEMENT — Functional Insights (6 Areas)</a:t>
            </a:r>
            <a:br/>
            <a:r>
              <a:t>The 6 functional insight areas cover the complete product lifecycle from development through end-of-life. In Pakistan banking:</a:t>
            </a:r>
            <a:br/>
            <a:r>
              <a:t>- Product Development: New product design (CASA, lending, cards, Islamic, digital)</a:t>
            </a:r>
            <a:br/>
            <a:r>
              <a:t>- Product Introduction: Go-to-market with SBP approval integration</a:t>
            </a:r>
            <a:br/>
            <a:r>
              <a:t>- Price and Promotion: KIBOR-based pricing, SBP rate constraints</a:t>
            </a:r>
            <a:br/>
            <a:r>
              <a:t>- Product End-of-Life: Legacy product sunset, merger rationalization</a:t>
            </a:r>
            <a:br/>
            <a:r>
              <a:t>- Product Performance: Cross-channel analytics, benchmarking, profitability</a:t>
            </a:r>
            <a:br/>
            <a:br/>
            <a:r>
              <a:t>FSDM: PRDCT (Product), AGRMNT (Agreement), PRCNG (Pricing), PRFMNC (Performance), LFCYCL (Lifecycle)</a:t>
            </a:r>
            <a:endParaRPr/>
          </a:p>
        </p:txBody>
      </p:sp>
      <p:sp>
        <p:nvSpPr>
          <p:cNvPr id="6277" name="Google Shape;6277;p320:notes"/>
          <p:cNvSpPr txBox="1"/>
          <p:nvPr>
            <p:ph idx="11" type="ftr"/>
          </p:nvPr>
        </p:nvSpPr>
        <p:spPr>
          <a:xfrm>
            <a:off x="457200" y="9514580"/>
            <a:ext cx="2971800" cy="10772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a:t>© 2014 Teradata</a:t>
            </a:r>
            <a:endParaRPr/>
          </a:p>
        </p:txBody>
      </p:sp>
    </p:spTree>
  </p:cSld>
  <p:clrMapOvr>
    <a:masterClrMapping/>
  </p:clrMapOvr>
</p:notes>
</file>

<file path=ppt/notesSlides/notesSlide3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8" name="Shape 6298"/>
        <p:cNvGrpSpPr/>
        <p:nvPr/>
      </p:nvGrpSpPr>
      <p:grpSpPr>
        <a:xfrm>
          <a:off x="0" y="0"/>
          <a:ext cx="0" cy="0"/>
          <a:chOff x="0" y="0"/>
          <a:chExt cx="0" cy="0"/>
        </a:xfrm>
      </p:grpSpPr>
      <p:sp>
        <p:nvSpPr>
          <p:cNvPr id="6299" name="Google Shape;6299;p321:notes"/>
          <p:cNvSpPr txBox="1"/>
          <p:nvPr>
            <p:ph idx="1" type="body"/>
          </p:nvPr>
        </p:nvSpPr>
        <p:spPr>
          <a:xfrm>
            <a:off x="685800" y="4724202"/>
            <a:ext cx="5486400" cy="4475560"/>
          </a:xfrm>
          <a:prstGeom prst="rect">
            <a:avLst/>
          </a:prstGeom>
        </p:spPr>
        <p:txBody>
          <a:bodyPr anchorCtr="0" anchor="t" bIns="45700" lIns="91425" spcFirstLastPara="1" rIns="91425" wrap="square" tIns="45700">
            <a:noAutofit/>
          </a:bodyPr>
          <a:lstStyle/>
          <a:p>
            <a:pPr indent="0" lvl="0" marL="0" rtl="0" algn="l">
              <a:spcBef>
                <a:spcPts val="400"/>
              </a:spcBef>
              <a:spcAft>
                <a:spcPts val="0"/>
              </a:spcAft>
              <a:buNone/>
            </a:pPr>
            <a:r>
              <a:t>PRODUCT MANAGEMENT — Capabilities Page 1</a:t>
            </a:r>
            <a:br/>
            <a:r>
              <a:t>These capabilities map directly to Pakistan banking product lifecycle needs. Each capability has a detail slide and maturity assessment slide.</a:t>
            </a:r>
            <a:br/>
            <a:br/>
            <a:r>
              <a:t>Pakistan banks should prioritize: Product Profitability (most banks cannot calculate true product P&amp;L), Cross-Channel Performance (8+ channels with no unified view), and Product Onboarding (40-60% digital dropoff rate).</a:t>
            </a:r>
            <a:br/>
            <a:br/>
            <a:r>
              <a:t>BACR Assessment: ~60 product management questions across all capabilities.</a:t>
            </a:r>
            <a:br/>
            <a:r>
              <a:t>FSDM: 12 sub-capabilities with FSDM entity mappings across Product, Agreement, Party, Transaction, Channel, Pricing domains.</a:t>
            </a:r>
            <a:endParaRPr/>
          </a:p>
        </p:txBody>
      </p:sp>
      <p:sp>
        <p:nvSpPr>
          <p:cNvPr id="6300" name="Google Shape;6300;p321: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8" name="Shape 6328"/>
        <p:cNvGrpSpPr/>
        <p:nvPr/>
      </p:nvGrpSpPr>
      <p:grpSpPr>
        <a:xfrm>
          <a:off x="0" y="0"/>
          <a:ext cx="0" cy="0"/>
          <a:chOff x="0" y="0"/>
          <a:chExt cx="0" cy="0"/>
        </a:xfrm>
      </p:grpSpPr>
      <p:sp>
        <p:nvSpPr>
          <p:cNvPr id="6329" name="Google Shape;6329;p322:notes"/>
          <p:cNvSpPr txBox="1"/>
          <p:nvPr>
            <p:ph idx="1" type="body"/>
          </p:nvPr>
        </p:nvSpPr>
        <p:spPr>
          <a:xfrm>
            <a:off x="685800" y="4724202"/>
            <a:ext cx="5486400" cy="4475560"/>
          </a:xfrm>
          <a:prstGeom prst="rect">
            <a:avLst/>
          </a:prstGeom>
        </p:spPr>
        <p:txBody>
          <a:bodyPr anchorCtr="0" anchor="t" bIns="45700" lIns="91425" spcFirstLastPara="1" rIns="91425" wrap="square" tIns="45700">
            <a:noAutofit/>
          </a:bodyPr>
          <a:lstStyle/>
          <a:p>
            <a:pPr indent="0" lvl="0" marL="0" rtl="0" algn="l">
              <a:spcBef>
                <a:spcPts val="400"/>
              </a:spcBef>
              <a:spcAft>
                <a:spcPts val="0"/>
              </a:spcAft>
              <a:buNone/>
            </a:pPr>
            <a:r>
              <a:t>PRODUCT MANAGEMENT — Capabilities Page 2</a:t>
            </a:r>
            <a:br/>
            <a:r>
              <a:t>Continued capability listing. Note that Product Performance has the most sub-capabilities (5) reflecting the critical importance of measuring how products perform across channels, segments, and profitability dimensions.</a:t>
            </a:r>
            <a:br/>
            <a:br/>
            <a:r>
              <a:t>Pakistan-specific priority: Behavioral Segmentation (Islamic vs. conventional preference) and Product Retention (salary switching is #1 churn risk).</a:t>
            </a:r>
            <a:br/>
            <a:br/>
            <a:r>
              <a:t>FSDM: PRDCT_SGMNT (Product Segment), PRDCT_RTNTN (Product Retention), BHVRL_SGMNT (Behavioral Segmentation)</a:t>
            </a:r>
            <a:endParaRPr/>
          </a:p>
        </p:txBody>
      </p:sp>
      <p:sp>
        <p:nvSpPr>
          <p:cNvPr id="6330" name="Google Shape;6330;p322: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5" name="Shape 6355"/>
        <p:cNvGrpSpPr/>
        <p:nvPr/>
      </p:nvGrpSpPr>
      <p:grpSpPr>
        <a:xfrm>
          <a:off x="0" y="0"/>
          <a:ext cx="0" cy="0"/>
          <a:chOff x="0" y="0"/>
          <a:chExt cx="0" cy="0"/>
        </a:xfrm>
      </p:grpSpPr>
      <p:sp>
        <p:nvSpPr>
          <p:cNvPr id="6356" name="Google Shape;6356;p323: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57" name="Google Shape;6357;p323: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PRODUCT MANAGEMENT BVF (1 of 2) — Use Case Map</a:t>
            </a:r>
            <a:br/>
            <a:r>
              <a:t>Use cases mapped to Product Management capabilities. Pakistan priority use cases:</a:t>
            </a:r>
            <a:br/>
            <a:r>
              <a:t>- Product Profitability Analytics (from FSDM Customer Profitability Engine)</a:t>
            </a:r>
            <a:br/>
            <a:r>
              <a:t>- Cross-Channel Product Performance Dashboard</a:t>
            </a:r>
            <a:br/>
            <a:r>
              <a:t>- Product Onboarding Journey Optimization (NADRA biometric fix)</a:t>
            </a:r>
            <a:br/>
            <a:r>
              <a:t>- Islamic Product Innovation Pipeline</a:t>
            </a:r>
            <a:br/>
            <a:r>
              <a:t>- Dynamic Pricing Engine (risk-adjusted lending, competitive deposit pricing)</a:t>
            </a:r>
            <a:br/>
            <a:br/>
            <a:r>
              <a:t>FSDM: Use cases span Product, Agreement, Transaction, Channel, and Pricing entity domains.</a:t>
            </a:r>
            <a:endParaRPr/>
          </a:p>
        </p:txBody>
      </p:sp>
      <p:sp>
        <p:nvSpPr>
          <p:cNvPr id="6358" name="Google Shape;6358;p323:notes"/>
          <p:cNvSpPr txBox="1"/>
          <p:nvPr>
            <p:ph idx="11" type="ftr"/>
          </p:nvPr>
        </p:nvSpPr>
        <p:spPr>
          <a:xfrm>
            <a:off x="457200" y="9514580"/>
            <a:ext cx="2971800" cy="10772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a:t>© 2014 Teradata</a:t>
            </a:r>
            <a:endParaRPr/>
          </a:p>
        </p:txBody>
      </p:sp>
    </p:spTree>
  </p:cSld>
  <p:clrMapOvr>
    <a:masterClrMapping/>
  </p:clrMapOvr>
</p:notes>
</file>

<file path=ppt/notesSlides/notesSlide3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1" name="Shape 6391"/>
        <p:cNvGrpSpPr/>
        <p:nvPr/>
      </p:nvGrpSpPr>
      <p:grpSpPr>
        <a:xfrm>
          <a:off x="0" y="0"/>
          <a:ext cx="0" cy="0"/>
          <a:chOff x="0" y="0"/>
          <a:chExt cx="0" cy="0"/>
        </a:xfrm>
      </p:grpSpPr>
      <p:sp>
        <p:nvSpPr>
          <p:cNvPr id="6392" name="Google Shape;6392;p324: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93" name="Google Shape;6393;p324: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PRODUCT MANAGEMENT BVF (2 of 2) — Use Case Map</a:t>
            </a:r>
            <a:br/>
            <a:r>
              <a:t>Continued use case mapping. Additional Pakistan priority use cases:</a:t>
            </a:r>
            <a:br/>
            <a:r>
              <a:t>- Product Retention Prediction (salary switching early warning)</a:t>
            </a:r>
            <a:br/>
            <a:r>
              <a:t>- Behavioral Segmentation (Islamic preference, digital-first, branch-loyal)</a:t>
            </a:r>
            <a:br/>
            <a:r>
              <a:t>- Product Benchmark Analytics (vs. SBP industry data, peer banks, Gulf/SE Asian banks)</a:t>
            </a:r>
            <a:br/>
            <a:r>
              <a:t>- New Product Development Research (RAAST patterns, financial inclusion)</a:t>
            </a:r>
            <a:br/>
            <a:br/>
            <a:r>
              <a:t>FSDM: PRDCT_RTNTN, BHVRL_SGMNT, PRDCT_BNCHMARK, MKT_RSRCH</a:t>
            </a:r>
            <a:endParaRPr/>
          </a:p>
        </p:txBody>
      </p:sp>
      <p:sp>
        <p:nvSpPr>
          <p:cNvPr id="6394" name="Google Shape;6394;p324:notes"/>
          <p:cNvSpPr txBox="1"/>
          <p:nvPr>
            <p:ph idx="11" type="ftr"/>
          </p:nvPr>
        </p:nvSpPr>
        <p:spPr>
          <a:xfrm>
            <a:off x="457200" y="9514580"/>
            <a:ext cx="2971800" cy="10772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a:t>© 2014 Teradata</a:t>
            </a:r>
            <a:endParaRPr/>
          </a:p>
        </p:txBody>
      </p:sp>
    </p:spTree>
  </p:cSld>
  <p:clrMapOvr>
    <a:masterClrMapping/>
  </p:clrMapOvr>
</p:notes>
</file>

<file path=ppt/notesSlides/notesSlide3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1" name="Shape 6421"/>
        <p:cNvGrpSpPr/>
        <p:nvPr/>
      </p:nvGrpSpPr>
      <p:grpSpPr>
        <a:xfrm>
          <a:off x="0" y="0"/>
          <a:ext cx="0" cy="0"/>
          <a:chOff x="0" y="0"/>
          <a:chExt cx="0" cy="0"/>
        </a:xfrm>
      </p:grpSpPr>
      <p:sp>
        <p:nvSpPr>
          <p:cNvPr id="6422" name="Google Shape;6422;p325:notes"/>
          <p:cNvSpPr txBox="1"/>
          <p:nvPr>
            <p:ph idx="1" type="body"/>
          </p:nvPr>
        </p:nvSpPr>
        <p:spPr>
          <a:xfrm>
            <a:off x="685800" y="4724202"/>
            <a:ext cx="5486400" cy="4475560"/>
          </a:xfrm>
          <a:prstGeom prst="rect">
            <a:avLst/>
          </a:prstGeom>
        </p:spPr>
        <p:txBody>
          <a:bodyPr anchorCtr="0" anchor="t" bIns="45700" lIns="91425" spcFirstLastPara="1" rIns="91425" wrap="square" tIns="45700">
            <a:noAutofit/>
          </a:bodyPr>
          <a:lstStyle/>
          <a:p>
            <a:pPr indent="0" lvl="0" marL="0" rtl="0" algn="l">
              <a:spcBef>
                <a:spcPts val="400"/>
              </a:spcBef>
              <a:spcAft>
                <a:spcPts val="0"/>
              </a:spcAft>
              <a:buNone/>
            </a:pPr>
            <a:r>
              <a:t>(Spacer slide — retained for navigation structure)</a:t>
            </a:r>
            <a:endParaRPr/>
          </a:p>
        </p:txBody>
      </p:sp>
      <p:sp>
        <p:nvSpPr>
          <p:cNvPr id="6423" name="Google Shape;6423;p325: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7" name="Shape 6427"/>
        <p:cNvGrpSpPr/>
        <p:nvPr/>
      </p:nvGrpSpPr>
      <p:grpSpPr>
        <a:xfrm>
          <a:off x="0" y="0"/>
          <a:ext cx="0" cy="0"/>
          <a:chOff x="0" y="0"/>
          <a:chExt cx="0" cy="0"/>
        </a:xfrm>
      </p:grpSpPr>
      <p:sp>
        <p:nvSpPr>
          <p:cNvPr id="6428" name="Google Shape;6428;p326:notes"/>
          <p:cNvSpPr txBox="1"/>
          <p:nvPr>
            <p:ph idx="1" type="body"/>
          </p:nvPr>
        </p:nvSpPr>
        <p:spPr>
          <a:xfrm>
            <a:off x="685800" y="4724202"/>
            <a:ext cx="5486400" cy="4475560"/>
          </a:xfrm>
          <a:prstGeom prst="rect">
            <a:avLst/>
          </a:prstGeom>
        </p:spPr>
        <p:txBody>
          <a:bodyPr anchorCtr="0" anchor="t" bIns="45700" lIns="91425" spcFirstLastPara="1" rIns="91425" wrap="square" tIns="45700">
            <a:noAutofit/>
          </a:bodyPr>
          <a:lstStyle/>
          <a:p>
            <a:pPr indent="0" lvl="0" marL="0" rtl="0" algn="l">
              <a:spcBef>
                <a:spcPts val="400"/>
              </a:spcBef>
              <a:spcAft>
                <a:spcPts val="0"/>
              </a:spcAft>
              <a:buNone/>
            </a:pPr>
            <a:r>
              <a:t>PRODUCTS/SERVICES VARY BY INDUSTRY — Banking Context</a:t>
            </a:r>
            <a:br/>
            <a:r>
              <a:t>In banking, a 'product' encompasses: deposit accounts (CASA, term deposits), lending facilities (personal loans, home finance, corporate working capital), cards (debit, credit, prepaid), trade finance instruments (LC, LG, SBLC), treasury products (government securities, FX), digital services (mobile banking, QR payments, RAAST), and Islamic equivalents (Murabaha, Ijarah, Diminishing Musharaka).</a:t>
            </a:r>
            <a:br/>
            <a:br/>
            <a:r>
              <a:t>Pakistan banking product portfolio for a typical large bank: 100-200+ product variants across deposit, lending, card, trade, treasury, digital, and Islamic categories.</a:t>
            </a:r>
            <a:br/>
            <a:br/>
            <a:r>
              <a:t>FSDM: PRDCT (Product), PRDCT_TYP (Product Type), PRDCT_CTGRY (Product Category), PRDCT_FTRE (Product Feature)</a:t>
            </a:r>
            <a:endParaRPr/>
          </a:p>
        </p:txBody>
      </p:sp>
      <p:sp>
        <p:nvSpPr>
          <p:cNvPr id="6429" name="Google Shape;6429;p326: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7" name="Shape 6447"/>
        <p:cNvGrpSpPr/>
        <p:nvPr/>
      </p:nvGrpSpPr>
      <p:grpSpPr>
        <a:xfrm>
          <a:off x="0" y="0"/>
          <a:ext cx="0" cy="0"/>
          <a:chOff x="0" y="0"/>
          <a:chExt cx="0" cy="0"/>
        </a:xfrm>
      </p:grpSpPr>
      <p:sp>
        <p:nvSpPr>
          <p:cNvPr id="6448" name="Google Shape;6448;p327: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49" name="Google Shape;6449;p327: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t>EXAMPLES: WHAT IS A PRODUCT OR SERVICE — Banking Products</a:t>
            </a:r>
            <a:br/>
            <a:r>
              <a:t>Pakistan banking product examples:</a:t>
            </a:r>
            <a:br/>
            <a:r>
              <a:t>DEPOSITS: Current Account (zero interest CASA), Savings Account (SBP min rate ~11-13%), Fixed Deposit (3M-5Y), Foreign Currency Account, Roshan Digital Account, Basic Banking Account, Islamic: Mudaraba Savings, Mudaraba Term Deposit, Wakalah Pool</a:t>
            </a:r>
            <a:br/>
            <a:r>
              <a:t>LENDING: Corporate working capital, term finance, project finance, trade finance (LC/LG/SBLC), personal loan, home finance, auto finance, credit card revolving, SME running/term finance, agriculture finance, Islamic: Murabaha, Ijarah, Diminishing Musharaka</a:t>
            </a:r>
            <a:br/>
            <a:r>
              <a:t>CARDS: Debit (30M+), Credit (3M+), Prepaid (travel, remittance, payroll)</a:t>
            </a:r>
            <a:br/>
            <a:r>
              <a:t>DIGITAL: Mobile banking, internet banking, RAAST P2P/P2M, QR payments, digital wallet integration</a:t>
            </a:r>
            <a:br/>
            <a:br/>
            <a:r>
              <a:t>FSDM: PRDCT, PRDCT_TYP, DPST_PRDCT, LNDNG_PRDCT, CARD_PRDCT, DGTL_PRDCT</a:t>
            </a:r>
            <a:endParaRPr/>
          </a:p>
        </p:txBody>
      </p:sp>
      <p:sp>
        <p:nvSpPr>
          <p:cNvPr id="6450" name="Google Shape;6450;p327:notes"/>
          <p:cNvSpPr txBox="1"/>
          <p:nvPr>
            <p:ph idx="11" type="ftr"/>
          </p:nvPr>
        </p:nvSpPr>
        <p:spPr>
          <a:xfrm>
            <a:off x="457200" y="9514580"/>
            <a:ext cx="2971800" cy="10772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a:t>© 2014 Teradata</a:t>
            </a:r>
            <a:endParaRPr/>
          </a:p>
        </p:txBody>
      </p:sp>
    </p:spTree>
  </p:cSld>
  <p:clrMapOvr>
    <a:masterClrMapping/>
  </p:clrMapOvr>
</p:notes>
</file>

<file path=ppt/notesSlides/notesSlide3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6" name="Shape 6456"/>
        <p:cNvGrpSpPr/>
        <p:nvPr/>
      </p:nvGrpSpPr>
      <p:grpSpPr>
        <a:xfrm>
          <a:off x="0" y="0"/>
          <a:ext cx="0" cy="0"/>
          <a:chOff x="0" y="0"/>
          <a:chExt cx="0" cy="0"/>
        </a:xfrm>
      </p:grpSpPr>
      <p:sp>
        <p:nvSpPr>
          <p:cNvPr id="6457" name="Google Shape;6457;p328:notes"/>
          <p:cNvSpPr txBox="1"/>
          <p:nvPr>
            <p:ph idx="1" type="body"/>
          </p:nvPr>
        </p:nvSpPr>
        <p:spPr>
          <a:xfrm>
            <a:off x="685800" y="4724202"/>
            <a:ext cx="5486400" cy="4475560"/>
          </a:xfrm>
          <a:prstGeom prst="rect">
            <a:avLst/>
          </a:prstGeom>
        </p:spPr>
        <p:txBody>
          <a:bodyPr anchorCtr="0" anchor="t" bIns="45700" lIns="91425" spcFirstLastPara="1" rIns="91425" wrap="square" tIns="45700">
            <a:noAutofit/>
          </a:bodyPr>
          <a:lstStyle/>
          <a:p>
            <a:pPr indent="0" lvl="0" marL="0" rtl="0" algn="l">
              <a:spcBef>
                <a:spcPts val="400"/>
              </a:spcBef>
              <a:spcAft>
                <a:spcPts val="0"/>
              </a:spcAft>
              <a:buNone/>
            </a:pPr>
            <a:r>
              <a:t>PRODUCT MANAGEMENT — Why Important</a:t>
            </a:r>
            <a:br/>
            <a:r>
              <a:t>Product management is the engine of banking revenue — every PKR of income comes from a product.</a:t>
            </a:r>
            <a:br/>
            <a:r>
              <a:t>Pakistan banks average 1.8 products per customer vs. 4-6 globally — massive cross-sell opportunity.</a:t>
            </a:r>
            <a:br/>
            <a:r>
              <a:t>Islamic product innovation is critical — 25%+ of deposits are now in Islamic products, growing 20%+ annually.</a:t>
            </a:r>
            <a:br/>
            <a:r>
              <a:t>Digital product adoption determines competitive survival against fintechs (JazzCash 50M+, Easypaisa 40M+ users).</a:t>
            </a:r>
            <a:br/>
            <a:br/>
            <a:r>
              <a:t>PAKISTAN BANKING PRODUCT LANDSCAPE — Revenue by product category (typical large bank):</a:t>
            </a:r>
            <a:br/>
            <a:r>
              <a:t>CASA: 30-40% of NII (low/zero cost deposits deployed at KIBOR)</a:t>
            </a:r>
            <a:br/>
            <a:r>
              <a:t>Term Deposits: 15-20% of NII (spread between FD rate and deployment)</a:t>
            </a:r>
            <a:br/>
            <a:r>
              <a:t>Corporate Lending: 20-25% of total income (NII + trade finance fees)</a:t>
            </a:r>
            <a:br/>
            <a:r>
              <a:t>Consumer Lending: 10-15% (personal loans, cards, home/auto finance)</a:t>
            </a:r>
            <a:br/>
            <a:r>
              <a:t>Cards: 8-12% (interchange, revolving interest, annual fees)</a:t>
            </a:r>
            <a:br/>
            <a:r>
              <a:t>Trade Finance: 8-12% (LC/LG commissions — high-margin)</a:t>
            </a:r>
            <a:br/>
            <a:r>
              <a:t>Treasury: 10-15% (government securities yield)</a:t>
            </a:r>
            <a:br/>
            <a:br/>
            <a:r>
              <a:t>FSDM: PRDCT, PRDCT_TYP, AGRMNT, PRDCT_FTRE, PRDCT_PRCNG, PRDCT_PRFMNC</a:t>
            </a:r>
            <a:endParaRPr/>
          </a:p>
        </p:txBody>
      </p:sp>
      <p:sp>
        <p:nvSpPr>
          <p:cNvPr id="6458" name="Google Shape;6458;p328: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6" name="Shape 6466"/>
        <p:cNvGrpSpPr/>
        <p:nvPr/>
      </p:nvGrpSpPr>
      <p:grpSpPr>
        <a:xfrm>
          <a:off x="0" y="0"/>
          <a:ext cx="0" cy="0"/>
          <a:chOff x="0" y="0"/>
          <a:chExt cx="0" cy="0"/>
        </a:xfrm>
      </p:grpSpPr>
      <p:sp>
        <p:nvSpPr>
          <p:cNvPr id="6467" name="Google Shape;6467;p329: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68" name="Google Shape;6468;p329: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PRODUCT MANAGEMENT — How (Capabilities)</a:t>
            </a:r>
            <a:br/>
            <a:r>
              <a:t>Product management capabilities enable data-driven decisions across the product lifecycle. The approach:</a:t>
            </a:r>
            <a:br/>
            <a:r>
              <a:t>1. PRODUCT INTELLIGENCE: Unified product performance data from all channels and systems</a:t>
            </a:r>
            <a:br/>
            <a:r>
              <a:t>2. PRICING ANALYTICS: Dynamic pricing within SBP constraints (deposit floors, lending caps)</a:t>
            </a:r>
            <a:br/>
            <a:r>
              <a:t>3. LIFECYCLE MANAGEMENT: From concept through sunset with analytics at every stage</a:t>
            </a:r>
            <a:br/>
            <a:r>
              <a:t>4. PROFITABILITY: True product P&amp;L with FTP, ABC, and IFRS 9 provision allocation</a:t>
            </a:r>
            <a:br/>
            <a:r>
              <a:t>5. BEHAVIORAL INSIGHTS: Product usage segmentation driving personalized recommendations</a:t>
            </a:r>
            <a:br/>
            <a:r>
              <a:t>6. ISLAMIC PRODUCTS: Shariah-compliant product analytics with dual measurement</a:t>
            </a:r>
            <a:br/>
            <a:br/>
            <a:r>
              <a:t>FSDM: All Product domain entities plus Agreement, Transaction, Channel, Pricing, and Performance entities.</a:t>
            </a:r>
            <a:endParaRPr/>
          </a:p>
        </p:txBody>
      </p:sp>
      <p:sp>
        <p:nvSpPr>
          <p:cNvPr id="6469" name="Google Shape;6469;p329:notes"/>
          <p:cNvSpPr txBox="1"/>
          <p:nvPr>
            <p:ph idx="11" type="ftr"/>
          </p:nvPr>
        </p:nvSpPr>
        <p:spPr>
          <a:xfrm>
            <a:off x="457200" y="9514580"/>
            <a:ext cx="2971800" cy="10772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a:t>© 2014 Teradata</a:t>
            </a:r>
            <a:endParaRPr/>
          </a:p>
        </p:txBody>
      </p:sp>
    </p:spTree>
  </p:cSld>
  <p:clrMapOvr>
    <a:masterClrMapping/>
  </p:clrMapOvr>
</p:notes>
</file>

<file path=ppt/notesSlides/notesSlide3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7" name="Shape 6477"/>
        <p:cNvGrpSpPr/>
        <p:nvPr/>
      </p:nvGrpSpPr>
      <p:grpSpPr>
        <a:xfrm>
          <a:off x="0" y="0"/>
          <a:ext cx="0" cy="0"/>
          <a:chOff x="0" y="0"/>
          <a:chExt cx="0" cy="0"/>
        </a:xfrm>
      </p:grpSpPr>
      <p:sp>
        <p:nvSpPr>
          <p:cNvPr id="6478" name="Google Shape;6478;p330:notes"/>
          <p:cNvSpPr txBox="1"/>
          <p:nvPr>
            <p:ph idx="1" type="body"/>
          </p:nvPr>
        </p:nvSpPr>
        <p:spPr>
          <a:xfrm>
            <a:off x="685800" y="4724202"/>
            <a:ext cx="5486400" cy="4475560"/>
          </a:xfrm>
          <a:prstGeom prst="rect">
            <a:avLst/>
          </a:prstGeom>
        </p:spPr>
        <p:txBody>
          <a:bodyPr anchorCtr="0" anchor="t" bIns="45700" lIns="91425" spcFirstLastPara="1" rIns="91425" wrap="square" tIns="45700">
            <a:noAutofit/>
          </a:bodyPr>
          <a:lstStyle/>
          <a:p>
            <a:pPr indent="0" lvl="0" marL="0" rtl="0" algn="l">
              <a:spcBef>
                <a:spcPts val="400"/>
              </a:spcBef>
              <a:spcAft>
                <a:spcPts val="0"/>
              </a:spcAft>
              <a:buNone/>
            </a:pPr>
            <a:r>
              <a:t>PRODUCT MANAGEMENT — Solutions</a:t>
            </a:r>
            <a:br/>
            <a:r>
              <a:t>Solution components for Pakistan banking product management:</a:t>
            </a:r>
            <a:br/>
            <a:r>
              <a:t>- Product Performance Dashboard: Real-time sales, balances, revenue, cost by product and channel</a:t>
            </a:r>
            <a:br/>
            <a:r>
              <a:t>- Pricing Analytics Engine: Competitive monitoring + dynamic pricing within SBP constraints</a:t>
            </a:r>
            <a:br/>
            <a:r>
              <a:t>- Onboarding Optimization: Funnel analytics for NADRA-integrated digital onboarding</a:t>
            </a:r>
            <a:br/>
            <a:r>
              <a:t>- Product Profitability: FTP-adjusted NII + fees - costs - provisions at product level</a:t>
            </a:r>
            <a:br/>
            <a:r>
              <a:t>- Cross-Sell Engine: Product affinity models driving NBA recommendations</a:t>
            </a:r>
            <a:br/>
            <a:r>
              <a:t>- Islamic Product Analytics: Shariah-compliant performance measurement</a:t>
            </a:r>
            <a:br/>
            <a:br/>
            <a:r>
              <a:t>FSDM: PRDCT_PRFMNC (Performance), PRDCT_PRCNG (Pricing), ONBRDNG (Onboarding), PRDCT_PRFTBLTY (Profitability)</a:t>
            </a:r>
            <a:endParaRPr/>
          </a:p>
        </p:txBody>
      </p:sp>
      <p:sp>
        <p:nvSpPr>
          <p:cNvPr id="6479" name="Google Shape;6479;p330: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7" name="Shape 6487"/>
        <p:cNvGrpSpPr/>
        <p:nvPr/>
      </p:nvGrpSpPr>
      <p:grpSpPr>
        <a:xfrm>
          <a:off x="0" y="0"/>
          <a:ext cx="0" cy="0"/>
          <a:chOff x="0" y="0"/>
          <a:chExt cx="0" cy="0"/>
        </a:xfrm>
      </p:grpSpPr>
      <p:sp>
        <p:nvSpPr>
          <p:cNvPr id="6488" name="Google Shape;6488;p331:notes"/>
          <p:cNvSpPr txBox="1"/>
          <p:nvPr>
            <p:ph idx="1" type="body"/>
          </p:nvPr>
        </p:nvSpPr>
        <p:spPr>
          <a:xfrm>
            <a:off x="685800" y="4724202"/>
            <a:ext cx="5486400" cy="4475560"/>
          </a:xfrm>
          <a:prstGeom prst="rect">
            <a:avLst/>
          </a:prstGeom>
        </p:spPr>
        <p:txBody>
          <a:bodyPr anchorCtr="0" anchor="t" bIns="45700" lIns="91425" spcFirstLastPara="1" rIns="91425" wrap="square" tIns="45700">
            <a:noAutofit/>
          </a:bodyPr>
          <a:lstStyle/>
          <a:p>
            <a:pPr indent="0" lvl="0" marL="0" rtl="0" algn="l">
              <a:spcBef>
                <a:spcPts val="400"/>
              </a:spcBef>
              <a:spcAft>
                <a:spcPts val="0"/>
              </a:spcAft>
              <a:buNone/>
            </a:pPr>
            <a:r>
              <a:t>PRODUCT MANAGEMENT — Interesting Facts</a:t>
            </a:r>
            <a:br/>
            <a:r>
              <a:t>Pakistan Banking Product Facts:</a:t>
            </a:r>
            <a:br/>
            <a:r>
              <a:t>- Products per customer: 1.8 (vs. 4-6 global benchmark) — PKR 15-25B cross-sell opportunity for top-5 bank</a:t>
            </a:r>
            <a:br/>
            <a:r>
              <a:t>- SBP product approval (NOC) adds 4-8 weeks to launch. Islamic: Shariah board + SBP = dual gate</a:t>
            </a:r>
            <a:br/>
            <a:r>
              <a:t>- 30M+ debit cards, 3M+ credit cards — but card activation rates only 50-60% (vs. 80%+ global)</a:t>
            </a:r>
            <a:br/>
            <a:r>
              <a:t>- Digital product adoption: 30M+ mobile banking users, growing 40% YoY</a:t>
            </a:r>
            <a:br/>
            <a:r>
              <a:t>- Islamic products: 25%+ of deposits, growing 20% annually — every conventional product needs Islamic equivalent</a:t>
            </a:r>
            <a:br/>
            <a:r>
              <a:t>- CASA ratio: ~47% — zero/low cost deposits are the single most profitable product category</a:t>
            </a:r>
            <a:br/>
            <a:r>
              <a:t>- Digital onboarding dropoff: 40-60% at NADRA biometric step — fixing this is highest-ROI product initiative</a:t>
            </a:r>
            <a:br/>
            <a:br/>
            <a:r>
              <a:t>FSDM: All Product domain entities. BVF: 12 sub-capabilities across 6 sub-domains.</a:t>
            </a:r>
            <a:endParaRPr/>
          </a:p>
        </p:txBody>
      </p:sp>
      <p:sp>
        <p:nvSpPr>
          <p:cNvPr id="6489" name="Google Shape;6489;p331: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7" name="Shape 6497"/>
        <p:cNvGrpSpPr/>
        <p:nvPr/>
      </p:nvGrpSpPr>
      <p:grpSpPr>
        <a:xfrm>
          <a:off x="0" y="0"/>
          <a:ext cx="0" cy="0"/>
          <a:chOff x="0" y="0"/>
          <a:chExt cx="0" cy="0"/>
        </a:xfrm>
      </p:grpSpPr>
      <p:sp>
        <p:nvSpPr>
          <p:cNvPr id="6498" name="Google Shape;6498;p332:notes"/>
          <p:cNvSpPr txBox="1"/>
          <p:nvPr>
            <p:ph idx="1" type="body"/>
          </p:nvPr>
        </p:nvSpPr>
        <p:spPr>
          <a:xfrm>
            <a:off x="685800" y="4724202"/>
            <a:ext cx="5486400" cy="4475560"/>
          </a:xfrm>
          <a:prstGeom prst="rect">
            <a:avLst/>
          </a:prstGeom>
        </p:spPr>
        <p:txBody>
          <a:bodyPr anchorCtr="0" anchor="t" bIns="45700" lIns="91425" spcFirstLastPara="1" rIns="91425" wrap="square" tIns="45700">
            <a:noAutofit/>
          </a:bodyPr>
          <a:lstStyle/>
          <a:p>
            <a:pPr indent="0" lvl="0" marL="0" rtl="0" algn="l">
              <a:spcBef>
                <a:spcPts val="400"/>
              </a:spcBef>
              <a:spcAft>
                <a:spcPts val="0"/>
              </a:spcAft>
              <a:buNone/>
            </a:pPr>
            <a:r>
              <a:t>PRODUCT MANAGEMENT FOR BANKING</a:t>
            </a:r>
            <a:br/>
            <a:r>
              <a:t>Pakistan banking product management priorities:</a:t>
            </a:r>
            <a:br/>
            <a:r>
              <a:t>1. DIGITAL-FIRST: Account opening via mobile (NADRA biometric), instant nano-lending, QR payments</a:t>
            </a:r>
            <a:br/>
            <a:r>
              <a:t>2. ISLAMIC PRODUCTS: Islamic credit card (commodity Murabaha-based), Islamic home finance (Diminishing Musharaka), Islamic digital savings</a:t>
            </a:r>
            <a:br/>
            <a:r>
              <a:t>3. FINANCIAL INCLUSION: Asaan Mobile Account (simplified KYC), agent banking products, micro-insurance (Takaful)</a:t>
            </a:r>
            <a:br/>
            <a:r>
              <a:t>4. ROSHAN DIGITAL: Products for overseas Pakistanis — Naya Pakistan Certificate, Roshan Apna Ghar</a:t>
            </a:r>
            <a:br/>
            <a:r>
              <a:t>5. GREEN BANKING: SBP green taxonomy — green lending products, green deposits (linked to ESG)</a:t>
            </a:r>
            <a:br/>
            <a:r>
              <a:t>6. SME PRODUCTS: SBP refinance schemes (concessional rates), supply chain finance, digital SME onboarding</a:t>
            </a:r>
            <a:br/>
            <a:br/>
            <a:r>
              <a:t>Product growth areas: Digital (fastest), Islamic (20%+ annual), Roshan Digital ($7B+ since 2020), SME (SBP priority)</a:t>
            </a:r>
            <a:br/>
            <a:br/>
            <a:r>
              <a:t>FSDM: PRDCT, PRDCT_TYP, DGTL_PRDCT, ISLMC_PRDCT, INCLN_PRDCT</a:t>
            </a:r>
            <a:endParaRPr/>
          </a:p>
        </p:txBody>
      </p:sp>
      <p:sp>
        <p:nvSpPr>
          <p:cNvPr id="6499" name="Google Shape;6499;p332: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7" name="Shape 6507"/>
        <p:cNvGrpSpPr/>
        <p:nvPr/>
      </p:nvGrpSpPr>
      <p:grpSpPr>
        <a:xfrm>
          <a:off x="0" y="0"/>
          <a:ext cx="0" cy="0"/>
          <a:chOff x="0" y="0"/>
          <a:chExt cx="0" cy="0"/>
        </a:xfrm>
      </p:grpSpPr>
      <p:sp>
        <p:nvSpPr>
          <p:cNvPr id="6508" name="Google Shape;6508;p333:notes"/>
          <p:cNvSpPr txBox="1"/>
          <p:nvPr>
            <p:ph idx="1" type="body"/>
          </p:nvPr>
        </p:nvSpPr>
        <p:spPr>
          <a:xfrm>
            <a:off x="685800" y="4724202"/>
            <a:ext cx="5486400" cy="4475560"/>
          </a:xfrm>
          <a:prstGeom prst="rect">
            <a:avLst/>
          </a:prstGeom>
        </p:spPr>
        <p:txBody>
          <a:bodyPr anchorCtr="0" anchor="t" bIns="45700" lIns="91425" spcFirstLastPara="1" rIns="91425" wrap="square" tIns="45700">
            <a:noAutofit/>
          </a:bodyPr>
          <a:lstStyle/>
          <a:p>
            <a:pPr indent="0" lvl="0" marL="0" rtl="0" algn="l">
              <a:spcBef>
                <a:spcPts val="400"/>
              </a:spcBef>
              <a:spcAft>
                <a:spcPts val="0"/>
              </a:spcAft>
              <a:buNone/>
            </a:pPr>
            <a:r>
              <a:t>PRODUCT MANAGEMENT — Are You Able To...</a:t>
            </a:r>
            <a:br/>
            <a:r>
              <a:t>Pakistan banking product management assessment questions:</a:t>
            </a:r>
            <a:br/>
            <a:r>
              <a:t>- Can you calculate true profitability for each product in your portfolio?</a:t>
            </a:r>
            <a:br/>
            <a:r>
              <a:t>- Can you track product performance across all channels (branch, ATM, digital, agent)?</a:t>
            </a:r>
            <a:br/>
            <a:r>
              <a:t>- Can you identify which products drive cross-sell and which cannibalize?</a:t>
            </a:r>
            <a:br/>
            <a:r>
              <a:t>- Can you optimize deposit pricing (rate) vs. volume trade-off analytically?</a:t>
            </a:r>
            <a:br/>
            <a:r>
              <a:t>- Can you measure product onboarding success rate by channel?</a:t>
            </a:r>
            <a:br/>
            <a:r>
              <a:t>- Can you predict which products a customer is likely to close next?</a:t>
            </a:r>
            <a:br/>
            <a:r>
              <a:t>- Can you launch a new product variant in under 4 weeks?</a:t>
            </a:r>
            <a:br/>
            <a:br/>
            <a:r>
              <a:t>Each question maps to BVF sub-capabilities and FSDM entities. Most Pakistan banks will answer 'No' or 'Partially' — this defines the capability gap.</a:t>
            </a:r>
            <a:br/>
            <a:br/>
            <a:r>
              <a:t>FSDM: PRDCT_PRFTBLTY, PRDCT_PRFMNC, ONBRDNG, PRDCT_RTNTN, PRDCT_DVLPMNT</a:t>
            </a:r>
            <a:endParaRPr/>
          </a:p>
        </p:txBody>
      </p:sp>
      <p:sp>
        <p:nvSpPr>
          <p:cNvPr id="6509" name="Google Shape;6509;p333: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6" name="Shape 6516"/>
        <p:cNvGrpSpPr/>
        <p:nvPr/>
      </p:nvGrpSpPr>
      <p:grpSpPr>
        <a:xfrm>
          <a:off x="0" y="0"/>
          <a:ext cx="0" cy="0"/>
          <a:chOff x="0" y="0"/>
          <a:chExt cx="0" cy="0"/>
        </a:xfrm>
      </p:grpSpPr>
      <p:sp>
        <p:nvSpPr>
          <p:cNvPr id="6517" name="Google Shape;6517;p334: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18" name="Google Shape;6518;p334: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PRODUCT MANAGEMENT — Business Challenges</a:t>
            </a:r>
            <a:br/>
            <a:r>
              <a:t>Pakistan-specific product management challenges:</a:t>
            </a:r>
            <a:br/>
            <a:r>
              <a:t>- SBP product approval process adds 4-8 weeks to launch timeline</a:t>
            </a:r>
            <a:br/>
            <a:r>
              <a:t>- Islamic products require dual approval: Shariah board + SBP</a:t>
            </a:r>
            <a:br/>
            <a:r>
              <a:t>- 4-5 core banking systems make product configuration inconsistent</a:t>
            </a:r>
            <a:br/>
            <a:r>
              <a:t>- Pricing constrained: deposit floor rate (SBP), lending ceiling (KIBOR + risk), card rates (SBP caps under discussion)</a:t>
            </a:r>
            <a:br/>
            <a:r>
              <a:t>- Product data fragmented across core banking, cards, trade finance, Islamic sub-systems</a:t>
            </a:r>
            <a:br/>
            <a:r>
              <a:t>- Products per customer: 1.8 (vs 4-6 global) — cross-sell capability severely underdeveloped</a:t>
            </a:r>
            <a:br/>
            <a:r>
              <a:t>- Digital onboarding: 40-60% dropoff at NADRA verification</a:t>
            </a:r>
            <a:br/>
            <a:r>
              <a:t>- Product profitability: &lt;15% of banks can calculate true product-level P&amp;L</a:t>
            </a:r>
            <a:br/>
            <a:br/>
            <a:r>
              <a:t>FSDM: Integration challenges span Product, Agreement, Transaction, Channel, Pricing domains.</a:t>
            </a:r>
            <a:endParaRPr/>
          </a:p>
        </p:txBody>
      </p:sp>
      <p:sp>
        <p:nvSpPr>
          <p:cNvPr id="6519" name="Google Shape;6519;p334:notes"/>
          <p:cNvSpPr txBox="1"/>
          <p:nvPr>
            <p:ph idx="11" type="ftr"/>
          </p:nvPr>
        </p:nvSpPr>
        <p:spPr>
          <a:xfrm>
            <a:off x="457200" y="9514580"/>
            <a:ext cx="2971800" cy="10772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a:t>© 2014 Teradata</a:t>
            </a:r>
            <a:endParaRPr/>
          </a:p>
        </p:txBody>
      </p:sp>
    </p:spTree>
  </p:cSld>
  <p:clrMapOvr>
    <a:masterClrMapping/>
  </p:clrMapOvr>
</p:notes>
</file>

<file path=ppt/notesSlides/notesSlide3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9" name="Shape 6539"/>
        <p:cNvGrpSpPr/>
        <p:nvPr/>
      </p:nvGrpSpPr>
      <p:grpSpPr>
        <a:xfrm>
          <a:off x="0" y="0"/>
          <a:ext cx="0" cy="0"/>
          <a:chOff x="0" y="0"/>
          <a:chExt cx="0" cy="0"/>
        </a:xfrm>
      </p:grpSpPr>
      <p:sp>
        <p:nvSpPr>
          <p:cNvPr id="6540" name="Google Shape;6540;p335:notes"/>
          <p:cNvSpPr txBox="1"/>
          <p:nvPr>
            <p:ph idx="1" type="body"/>
          </p:nvPr>
        </p:nvSpPr>
        <p:spPr>
          <a:xfrm>
            <a:off x="685800" y="4724202"/>
            <a:ext cx="5486400" cy="4475560"/>
          </a:xfrm>
          <a:prstGeom prst="rect">
            <a:avLst/>
          </a:prstGeom>
        </p:spPr>
        <p:txBody>
          <a:bodyPr anchorCtr="0" anchor="t" bIns="45700" lIns="91425" spcFirstLastPara="1" rIns="91425" wrap="square" tIns="45700">
            <a:noAutofit/>
          </a:bodyPr>
          <a:lstStyle/>
          <a:p>
            <a:pPr indent="0" lvl="0" marL="0" rtl="0" algn="l">
              <a:spcBef>
                <a:spcPts val="400"/>
              </a:spcBef>
              <a:spcAft>
                <a:spcPts val="0"/>
              </a:spcAft>
              <a:buNone/>
            </a:pPr>
            <a:r>
              <a:t>VALUE OF PRODUCT MANAGEMENT</a:t>
            </a:r>
            <a:br/>
            <a:r>
              <a:t>Value proposition for Pakistan banks:</a:t>
            </a:r>
            <a:br/>
            <a:r>
              <a:t>- CROSS-SELL: Increase products per customer from 1.8 to 2.5+ (PKR 5-10B revenue opportunity)</a:t>
            </a:r>
            <a:br/>
            <a:r>
              <a:t>- PROFITABILITY: Identify and fix unprofitable products (repricing saves PKR 2-5B)</a:t>
            </a:r>
            <a:br/>
            <a:r>
              <a:t>- PRICING: Dynamic pricing optimizing NII (deposit cost vs. lending margin — PKR 3-5B)</a:t>
            </a:r>
            <a:br/>
            <a:r>
              <a:t>- ONBOARDING: Fix digital dropoff (40% → 20%) — reduces acquisition cost by PKR 1-2B</a:t>
            </a:r>
            <a:br/>
            <a:r>
              <a:t>- ISLAMIC: Islamic product parity analytics — capture 25%+ and growing deposit market</a:t>
            </a:r>
            <a:br/>
            <a:r>
              <a:t>- RETENTION: Product closure prediction — 15-25% reduction in product attrition</a:t>
            </a:r>
            <a:br/>
            <a:br/>
            <a:r>
              <a:t>Estimated annual value: PKR 15-25B for a top-5 Pakistan bank.</a:t>
            </a:r>
            <a:br/>
            <a:r>
              <a:t>ROI on product analytics investment: 5-10x within 3 years.</a:t>
            </a:r>
            <a:br/>
            <a:br/>
            <a:r>
              <a:t>FSDM: Value delivered through integrated Product domain data across all 12 sub-capabilities.</a:t>
            </a:r>
            <a:endParaRPr/>
          </a:p>
        </p:txBody>
      </p:sp>
      <p:sp>
        <p:nvSpPr>
          <p:cNvPr id="6541" name="Google Shape;6541;p335: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6" name="Shape 6556"/>
        <p:cNvGrpSpPr/>
        <p:nvPr/>
      </p:nvGrpSpPr>
      <p:grpSpPr>
        <a:xfrm>
          <a:off x="0" y="0"/>
          <a:ext cx="0" cy="0"/>
          <a:chOff x="0" y="0"/>
          <a:chExt cx="0" cy="0"/>
        </a:xfrm>
      </p:grpSpPr>
      <p:sp>
        <p:nvSpPr>
          <p:cNvPr id="6557" name="Google Shape;6557;p336:notes"/>
          <p:cNvSpPr txBox="1"/>
          <p:nvPr>
            <p:ph idx="1" type="body"/>
          </p:nvPr>
        </p:nvSpPr>
        <p:spPr>
          <a:xfrm>
            <a:off x="685800" y="4724202"/>
            <a:ext cx="5486400" cy="4475560"/>
          </a:xfrm>
          <a:prstGeom prst="rect">
            <a:avLst/>
          </a:prstGeom>
        </p:spPr>
        <p:txBody>
          <a:bodyPr anchorCtr="0" anchor="t" bIns="45700" lIns="91425" spcFirstLastPara="1" rIns="91425" wrap="square" tIns="45700">
            <a:noAutofit/>
          </a:bodyPr>
          <a:lstStyle/>
          <a:p>
            <a:pPr indent="0" lvl="0" marL="0" rtl="0" algn="l">
              <a:spcBef>
                <a:spcPts val="400"/>
              </a:spcBef>
              <a:spcAft>
                <a:spcPts val="0"/>
              </a:spcAft>
              <a:buNone/>
            </a:pPr>
            <a:r>
              <a:t>FUNCTIONAL INSIGHTS AND CAPABILITIES — Section Divider</a:t>
            </a:r>
            <a:br/>
            <a:r>
              <a:t>Transitioning from Product Management domain overview to detailed capability slides.</a:t>
            </a:r>
            <a:br/>
            <a:br/>
            <a:r>
              <a:t>The following slides cover 6 sub-domains:</a:t>
            </a:r>
            <a:br/>
            <a:r>
              <a:t>1. Product Development (Slides 19-26): 3 capability pairs</a:t>
            </a:r>
            <a:br/>
            <a:r>
              <a:t>2. Product Introduction (Slides 27-32): 2 capability pairs</a:t>
            </a:r>
            <a:br/>
            <a:r>
              <a:t>3. Price and Promotion (Slides 33-38): 2 capability pairs</a:t>
            </a:r>
            <a:br/>
            <a:r>
              <a:t>4. Product End-of-Life (Slides 39-42): 1 capability pair</a:t>
            </a:r>
            <a:br/>
            <a:r>
              <a:t>5. Product Performance (Slides 43-54): 5 capability pairs</a:t>
            </a:r>
            <a:br/>
            <a:br/>
            <a:r>
              <a:t>Each pair = Capability Detail + Maturity Assessment.</a:t>
            </a:r>
            <a:br/>
            <a:r>
              <a:t>Pakistan banks should use BACR assessment to evaluate current maturity and define the roadmap.</a:t>
            </a:r>
            <a:br/>
            <a:br/>
            <a:r>
              <a:t>FSDM: All 12 sub-capabilities with FSDM entity mappings.</a:t>
            </a:r>
            <a:endParaRPr/>
          </a:p>
        </p:txBody>
      </p:sp>
      <p:sp>
        <p:nvSpPr>
          <p:cNvPr id="6558" name="Google Shape;6558;p336: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2" name="Shape 6562"/>
        <p:cNvGrpSpPr/>
        <p:nvPr/>
      </p:nvGrpSpPr>
      <p:grpSpPr>
        <a:xfrm>
          <a:off x="0" y="0"/>
          <a:ext cx="0" cy="0"/>
          <a:chOff x="0" y="0"/>
          <a:chExt cx="0" cy="0"/>
        </a:xfrm>
      </p:grpSpPr>
      <p:sp>
        <p:nvSpPr>
          <p:cNvPr id="6563" name="Google Shape;6563;p337:notes"/>
          <p:cNvSpPr txBox="1"/>
          <p:nvPr>
            <p:ph idx="1" type="body"/>
          </p:nvPr>
        </p:nvSpPr>
        <p:spPr>
          <a:xfrm>
            <a:off x="685800" y="4724202"/>
            <a:ext cx="5486400" cy="4475560"/>
          </a:xfrm>
          <a:prstGeom prst="rect">
            <a:avLst/>
          </a:prstGeom>
        </p:spPr>
        <p:txBody>
          <a:bodyPr anchorCtr="0" anchor="t" bIns="45700" lIns="91425" spcFirstLastPara="1" rIns="91425" wrap="square" tIns="45700">
            <a:noAutofit/>
          </a:bodyPr>
          <a:lstStyle/>
          <a:p>
            <a:pPr indent="0" lvl="0" marL="0" rtl="0" algn="l">
              <a:spcBef>
                <a:spcPts val="400"/>
              </a:spcBef>
              <a:spcAft>
                <a:spcPts val="0"/>
              </a:spcAft>
              <a:buNone/>
            </a:pPr>
            <a:r>
              <a:t>PRODUCT DEVELOPMENT — Why Important</a:t>
            </a:r>
            <a:br/>
            <a:r>
              <a:t>Product development in banking means: designing new deposit variants, structuring new lending products, creating card propositions, launching digital services, and innovating Islamic products.</a:t>
            </a:r>
            <a:br/>
            <a:br/>
            <a:r>
              <a:t>Pakistan context: SBP encourages financial inclusion products (Basic Banking Account, Asaan Mobile Account, digital lending), Islamic product innovation, and green banking products.</a:t>
            </a:r>
            <a:br/>
            <a:br/>
            <a:r>
              <a:t>Key product development opportunities in Pakistan:</a:t>
            </a:r>
            <a:br/>
            <a:r>
              <a:t>1. DIGITAL-FIRST: Account opening via mobile, instant nano-lending (PKR 5K-50K)</a:t>
            </a:r>
            <a:br/>
            <a:r>
              <a:t>2. ISLAMIC: Islamic credit card (commodity Murabaha), Islamic home finance (DM), Islamic digital savings</a:t>
            </a:r>
            <a:br/>
            <a:r>
              <a:t>3. FINANCIAL INCLUSION: Asaan Mobile Account, agent banking, micro-insurance (Takaful)</a:t>
            </a:r>
            <a:br/>
            <a:r>
              <a:t>4. ROSHAN DIGITAL: Products for overseas Pakistanis ($7B+ since 2020)</a:t>
            </a:r>
            <a:br/>
            <a:r>
              <a:t>5. GREEN BANKING: SBP green taxonomy — green lending, green deposits</a:t>
            </a:r>
            <a:br/>
            <a:br/>
            <a:r>
              <a:t>SBP product approval process:</a:t>
            </a:r>
            <a:br/>
            <a:r>
              <a:t>1. Internal product committee approval → 2. Shariah board (if Islamic) → 3. SBP NOC submission → 4. SBP review (4-8 weeks) → 5. CBS configuration → 6. Launch</a:t>
            </a:r>
            <a:br/>
            <a:br/>
            <a:r>
              <a:t>FSDM: PRDCT_DVLPMNT, MKT_RSRCH, CSTMR_ND, PRDCT_PPLN</a:t>
            </a:r>
            <a:endParaRPr/>
          </a:p>
        </p:txBody>
      </p:sp>
      <p:sp>
        <p:nvSpPr>
          <p:cNvPr id="6564" name="Google Shape;6564;p337: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2" name="Shape 6572"/>
        <p:cNvGrpSpPr/>
        <p:nvPr/>
      </p:nvGrpSpPr>
      <p:grpSpPr>
        <a:xfrm>
          <a:off x="0" y="0"/>
          <a:ext cx="0" cy="0"/>
          <a:chOff x="0" y="0"/>
          <a:chExt cx="0" cy="0"/>
        </a:xfrm>
      </p:grpSpPr>
      <p:sp>
        <p:nvSpPr>
          <p:cNvPr id="6573" name="Google Shape;6573;p338:notes"/>
          <p:cNvSpPr txBox="1"/>
          <p:nvPr>
            <p:ph idx="1" type="body"/>
          </p:nvPr>
        </p:nvSpPr>
        <p:spPr>
          <a:xfrm>
            <a:off x="685800" y="4724202"/>
            <a:ext cx="5486400" cy="4475560"/>
          </a:xfrm>
          <a:prstGeom prst="rect">
            <a:avLst/>
          </a:prstGeom>
        </p:spPr>
        <p:txBody>
          <a:bodyPr anchorCtr="0" anchor="t" bIns="45700" lIns="91425" spcFirstLastPara="1" rIns="91425" wrap="square" tIns="45700">
            <a:noAutofit/>
          </a:bodyPr>
          <a:lstStyle/>
          <a:p>
            <a:pPr indent="0" lvl="0" marL="0" rtl="0" algn="l">
              <a:spcBef>
                <a:spcPts val="400"/>
              </a:spcBef>
              <a:spcAft>
                <a:spcPts val="0"/>
              </a:spcAft>
              <a:buNone/>
            </a:pPr>
            <a:r>
              <a:t>PRODUCT DEVELOPMENT — How</a:t>
            </a:r>
            <a:br/>
            <a:r>
              <a:t>Solution approach for product development analytics:</a:t>
            </a:r>
            <a:br/>
            <a:r>
              <a:t>1. MARKET RESEARCH: RAAST/transaction pattern analysis, competitor monitoring, customer need identification</a:t>
            </a:r>
            <a:br/>
            <a:r>
              <a:t>2. DEMAND MODELING: Segment-level demand forecasting, financial inclusion gap analysis</a:t>
            </a:r>
            <a:br/>
            <a:r>
              <a:t>3. BUSINESS CASE: Revenue projection, cannibalization assessment, channel capacity planning</a:t>
            </a:r>
            <a:br/>
            <a:r>
              <a:t>4. PROTOTYPING: A/B testing for digital, regional pilot for branch, champion/challenger for pricing</a:t>
            </a:r>
            <a:br/>
            <a:r>
              <a:t>5. REGULATORY: SBP NOC preparation with data-driven product documentation</a:t>
            </a:r>
            <a:br/>
            <a:br/>
            <a:r>
              <a:t>FSDM: PRDCT_DVLPMNT, MKT_RSRCH, CSTMR_ND, DMND_MDLNG</a:t>
            </a:r>
            <a:endParaRPr/>
          </a:p>
        </p:txBody>
      </p:sp>
      <p:sp>
        <p:nvSpPr>
          <p:cNvPr id="6574" name="Google Shape;6574;p338: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1" name="Shape 6581"/>
        <p:cNvGrpSpPr/>
        <p:nvPr/>
      </p:nvGrpSpPr>
      <p:grpSpPr>
        <a:xfrm>
          <a:off x="0" y="0"/>
          <a:ext cx="0" cy="0"/>
          <a:chOff x="0" y="0"/>
          <a:chExt cx="0" cy="0"/>
        </a:xfrm>
      </p:grpSpPr>
      <p:sp>
        <p:nvSpPr>
          <p:cNvPr id="6582" name="Google Shape;6582;p339: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6583" name="Google Shape;6583;p339: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84" name="Google Shape;6584;p339: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t>RESEARCH NEW PRODUCT DEVELOPMENT OPPORTUNITIES — Capability Detail</a:t>
            </a:r>
            <a:br/>
            <a:r>
              <a:t>Research unmet needs in Pakistan's 220M population — only 30% banked, 60% have mobile phones.</a:t>
            </a:r>
            <a:br/>
            <a:r>
              <a:t>Analyze RAAST transaction patterns to identify product opportunities.</a:t>
            </a:r>
            <a:br/>
            <a:r>
              <a:t>Products for financially excluded: basic accounts, micro-savings, nano-lending via mobile.</a:t>
            </a:r>
            <a:br/>
            <a:r>
              <a:t>Islamic product gap analysis — Shariah-compliant alternatives for every conventional product.</a:t>
            </a:r>
            <a:br/>
            <a:br/>
            <a:r>
              <a:t>FSDM: PRDCT_DVLPMNT, MKT_RSRCH, CSTMR_ND, PRDCT_PPLN, RAAST_TXN, DGTL_BHVR</a:t>
            </a:r>
            <a:endParaRPr/>
          </a:p>
        </p:txBody>
      </p:sp>
    </p:spTree>
  </p:cSld>
  <p:clrMapOvr>
    <a:masterClrMapping/>
  </p:clrMapOvr>
</p:notes>
</file>

<file path=ppt/notesSlides/notesSlide3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9" name="Shape 6599"/>
        <p:cNvGrpSpPr/>
        <p:nvPr/>
      </p:nvGrpSpPr>
      <p:grpSpPr>
        <a:xfrm>
          <a:off x="0" y="0"/>
          <a:ext cx="0" cy="0"/>
          <a:chOff x="0" y="0"/>
          <a:chExt cx="0" cy="0"/>
        </a:xfrm>
      </p:grpSpPr>
      <p:sp>
        <p:nvSpPr>
          <p:cNvPr id="6600" name="Google Shape;6600;p340: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6601" name="Google Shape;6601;p340: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02" name="Google Shape;6602;p340: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t>RESEARCH NEW PRODUCT DEVELOPMENT — Maturity Assessment</a:t>
            </a:r>
            <a:br/>
            <a:r>
              <a:t>Current State (Developing): Ad hoc product research. New products based on competitor copying rather than data-driven customer need analysis.</a:t>
            </a:r>
            <a:br/>
            <a:r>
              <a:t>Target State (Innovating): RAAST/transaction pattern mining, social media sentiment, competitor monitoring, financial inclusion gap analytics driving product pipeline.</a:t>
            </a:r>
            <a:br/>
            <a:r>
              <a:t>Pakistan Context: With 70% unbanked, the product development opportunity is enormous but requires analytical understanding of unmet needs.</a:t>
            </a:r>
            <a:br/>
            <a:br/>
            <a:r>
              <a:t>FSDM: PRDCT_DVLPMNT, MKT_RSRCH, CSTMR_ND, PRDCT_PPLN</a:t>
            </a:r>
            <a:endParaRPr/>
          </a:p>
        </p:txBody>
      </p:sp>
    </p:spTree>
  </p:cSld>
  <p:clrMapOvr>
    <a:masterClrMapping/>
  </p:clrMapOvr>
</p:notes>
</file>

<file path=ppt/notesSlides/notesSlide3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3" name="Shape 6613"/>
        <p:cNvGrpSpPr/>
        <p:nvPr/>
      </p:nvGrpSpPr>
      <p:grpSpPr>
        <a:xfrm>
          <a:off x="0" y="0"/>
          <a:ext cx="0" cy="0"/>
          <a:chOff x="0" y="0"/>
          <a:chExt cx="0" cy="0"/>
        </a:xfrm>
      </p:grpSpPr>
      <p:sp>
        <p:nvSpPr>
          <p:cNvPr id="6614" name="Google Shape;6614;p341: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6615" name="Google Shape;6615;p341: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16" name="Google Shape;6616;p341: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marR="0" rtl="0" algn="l">
              <a:lnSpc>
                <a:spcPct val="95000"/>
              </a:lnSpc>
              <a:spcBef>
                <a:spcPts val="0"/>
              </a:spcBef>
              <a:spcAft>
                <a:spcPts val="0"/>
              </a:spcAft>
              <a:buClr>
                <a:schemeClr val="dk1"/>
              </a:buClr>
              <a:buSzPts val="1200"/>
              <a:buFont typeface="Arial"/>
              <a:buChar char="•"/>
            </a:pPr>
            <a:r>
              <a:t>PREDICT BUSINESS IMPACT (DISCOVERY) — Capability Detail</a:t>
            </a:r>
            <a:br/>
            <a:r>
              <a:t>Predict impact of new product launch on: existing product balances (cannibalization), channel capacity (branch/call center load), revenue (NII + fees), operational risk, and customer experience.</a:t>
            </a:r>
            <a:br/>
            <a:r>
              <a:t>Pakistan example: launching a digital-only savings account — will it cannibalize branch savings? What's the expected adoption curve? Impact on call center?</a:t>
            </a:r>
            <a:br/>
            <a:r>
              <a:t>Source Data: Historical product launch data (past 5 years), similar product performance at competitors, customer segment adoption patterns from FSDM.</a:t>
            </a:r>
            <a:br/>
            <a:br/>
            <a:r>
              <a:t>FSDM: PRDCT_IMPCT, CNNBLZTN, CHNL_CPCTY, RVNU_FRCST</a:t>
            </a:r>
            <a:endParaRPr/>
          </a:p>
        </p:txBody>
      </p:sp>
    </p:spTree>
  </p:cSld>
  <p:clrMapOvr>
    <a:masterClrMapping/>
  </p:clrMapOvr>
</p:notes>
</file>

<file path=ppt/notesSlides/notesSlide3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1" name="Shape 6631"/>
        <p:cNvGrpSpPr/>
        <p:nvPr/>
      </p:nvGrpSpPr>
      <p:grpSpPr>
        <a:xfrm>
          <a:off x="0" y="0"/>
          <a:ext cx="0" cy="0"/>
          <a:chOff x="0" y="0"/>
          <a:chExt cx="0" cy="0"/>
        </a:xfrm>
      </p:grpSpPr>
      <p:sp>
        <p:nvSpPr>
          <p:cNvPr id="6632" name="Google Shape;6632;p342: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6633" name="Google Shape;6633;p342: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34" name="Google Shape;6634;p342: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marR="0" rtl="0" algn="l">
              <a:lnSpc>
                <a:spcPct val="95000"/>
              </a:lnSpc>
              <a:spcBef>
                <a:spcPts val="0"/>
              </a:spcBef>
              <a:spcAft>
                <a:spcPts val="0"/>
              </a:spcAft>
              <a:buClr>
                <a:schemeClr val="dk1"/>
              </a:buClr>
              <a:buSzPts val="1200"/>
              <a:buFont typeface="Arial"/>
              <a:buChar char="•"/>
            </a:pPr>
            <a:r>
              <a:t>PREDICT BUSINESS IMPACT — Maturity Assessment</a:t>
            </a:r>
            <a:br/>
            <a:r>
              <a:t>Current State (Developing): Product launches based on qualitative judgment. No systematic cannibalization analysis. Channel capacity not modeled.</a:t>
            </a:r>
            <a:br/>
            <a:r>
              <a:t>Target State (Innovating): Quantitative impact modeling with cannibalization, channel capacity, and revenue forecasting for every new product.</a:t>
            </a:r>
            <a:br/>
            <a:r>
              <a:t>Pakistan Context: With SBP NOC adding 4-8 weeks, accurate business case preparation is essential — cannot afford to launch and fail.</a:t>
            </a:r>
            <a:br/>
            <a:br/>
            <a:r>
              <a:t>FSDM: PRDCT_IMPCT, CNNBLZTN, CHNL_CPCTY, RVNU_FRCST</a:t>
            </a:r>
            <a:endParaRPr/>
          </a:p>
        </p:txBody>
      </p:sp>
    </p:spTree>
  </p:cSld>
  <p:clrMapOvr>
    <a:masterClrMapping/>
  </p:clrMapOvr>
</p:notes>
</file>

<file path=ppt/notesSlides/notesSlide3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5" name="Shape 6645"/>
        <p:cNvGrpSpPr/>
        <p:nvPr/>
      </p:nvGrpSpPr>
      <p:grpSpPr>
        <a:xfrm>
          <a:off x="0" y="0"/>
          <a:ext cx="0" cy="0"/>
          <a:chOff x="0" y="0"/>
          <a:chExt cx="0" cy="0"/>
        </a:xfrm>
      </p:grpSpPr>
      <p:sp>
        <p:nvSpPr>
          <p:cNvPr id="6646" name="Google Shape;6646;p343: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6647" name="Google Shape;6647;p343: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48" name="Google Shape;6648;p343: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t>DEVELOP AND TEST PRODUCT PROTOTYPES — Capability Detail</a:t>
            </a:r>
            <a:br/>
            <a:r>
              <a:t>Test product features, pricing, and packaging through A/B testing and pilot programs before full-scale launch.</a:t>
            </a:r>
            <a:br/>
            <a:r>
              <a:t>Pakistan banking: pilot new products in select branches/regions before national rollout.</a:t>
            </a:r>
            <a:br/>
            <a:r>
              <a:t>Test pricing variants (rate sensitivity), feature variants (minimum balance, fee structure), and channel variants (branch-only vs. digital).</a:t>
            </a:r>
            <a:br/>
            <a:r>
              <a:t>Data: FSDM transaction data for pilot vs. control groups, mobile app engagement, branch sales, customer feedback.</a:t>
            </a:r>
            <a:br/>
            <a:r>
              <a:t>Methodology: A/B testing for digital products, regional pilot for branch products, champion/challenger for pricing.</a:t>
            </a:r>
            <a:br/>
            <a:br/>
            <a:r>
              <a:t>FSDM: PRDCT_TST, AB_TST, PLT_PRGRM, CMPGN_CNTRL</a:t>
            </a:r>
            <a:endParaRPr/>
          </a:p>
        </p:txBody>
      </p:sp>
    </p:spTree>
  </p:cSld>
  <p:clrMapOvr>
    <a:masterClrMapping/>
  </p:clrMapOvr>
</p:notes>
</file>

<file path=ppt/notesSlides/notesSlide3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3" name="Shape 6663"/>
        <p:cNvGrpSpPr/>
        <p:nvPr/>
      </p:nvGrpSpPr>
      <p:grpSpPr>
        <a:xfrm>
          <a:off x="0" y="0"/>
          <a:ext cx="0" cy="0"/>
          <a:chOff x="0" y="0"/>
          <a:chExt cx="0" cy="0"/>
        </a:xfrm>
      </p:grpSpPr>
      <p:sp>
        <p:nvSpPr>
          <p:cNvPr id="6664" name="Google Shape;6664;p344: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6665" name="Google Shape;6665;p344: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66" name="Google Shape;6666;p344: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t>DEVELOP AND TEST PRODUCT PROTOTYPES — Maturity Assessment</a:t>
            </a:r>
            <a:br/>
            <a:r>
              <a:t>Current State (Developing): No systematic product testing. Products launched nationally without pilot. Pricing set by committee without testing.</a:t>
            </a:r>
            <a:br/>
            <a:r>
              <a:t>Target State (Innovating): A/B testing framework for digital, regional pilots for branch, champion/challenger for pricing. Evidence-based launch decisions.</a:t>
            </a:r>
            <a:br/>
            <a:r>
              <a:t>Pakistan Context: With 40-60% digital onboarding dropoff, A/B testing capability is essential to optimize product features before full investment.</a:t>
            </a:r>
            <a:br/>
            <a:br/>
            <a:r>
              <a:t>FSDM: PRDCT_TST, AB_TST, PLT_PRGRM</a:t>
            </a:r>
            <a:endParaRPr/>
          </a:p>
        </p:txBody>
      </p:sp>
    </p:spTree>
  </p:cSld>
  <p:clrMapOvr>
    <a:masterClrMapping/>
  </p:clrMapOvr>
</p:notes>
</file>

<file path=ppt/notesSlides/notesSlide3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7" name="Shape 6677"/>
        <p:cNvGrpSpPr/>
        <p:nvPr/>
      </p:nvGrpSpPr>
      <p:grpSpPr>
        <a:xfrm>
          <a:off x="0" y="0"/>
          <a:ext cx="0" cy="0"/>
          <a:chOff x="0" y="0"/>
          <a:chExt cx="0" cy="0"/>
        </a:xfrm>
      </p:grpSpPr>
      <p:sp>
        <p:nvSpPr>
          <p:cNvPr id="6678" name="Google Shape;6678;p345: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79" name="Google Shape;6679;p345: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t>PRODUCT INTRODUCTION — Why Important</a:t>
            </a:r>
            <a:br/>
            <a:r>
              <a:t>Product introduction in Pakistan banking faces unique challenges: SBP approval (4-8 weeks), dual approval for Islamic products (Shariah board + SBP), multi-system configuration (4-5 core banking systems), multi-channel training (16,000+ branches + digital + ATM).</a:t>
            </a:r>
            <a:br/>
            <a:r>
              <a:t>Speed-to-market determines competitive success against fintechs that can launch products in days vs. banks' 8-16 weeks.</a:t>
            </a:r>
            <a:br/>
            <a:r>
              <a:t>Pakistan digital product launch speed: 8-16 weeks (SBP approval + IT) vs. 2-4 weeks at global digital banks.</a:t>
            </a:r>
            <a:br/>
            <a:br/>
            <a:r>
              <a:t>FSDM: PRDCT_INTRO, GTM, CHNL_RDNSS, ONBRDNG</a:t>
            </a:r>
            <a:endParaRPr/>
          </a:p>
        </p:txBody>
      </p:sp>
      <p:sp>
        <p:nvSpPr>
          <p:cNvPr id="6680" name="Google Shape;6680;p345:notes"/>
          <p:cNvSpPr txBox="1"/>
          <p:nvPr>
            <p:ph idx="11" type="ftr"/>
          </p:nvPr>
        </p:nvSpPr>
        <p:spPr>
          <a:xfrm>
            <a:off x="457200" y="9514580"/>
            <a:ext cx="2971800" cy="10772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a:t>© 2014 Teradata</a:t>
            </a:r>
            <a:endParaRPr/>
          </a:p>
        </p:txBody>
      </p:sp>
    </p:spTree>
  </p:cSld>
  <p:clrMapOvr>
    <a:masterClrMapping/>
  </p:clrMapOvr>
</p:notes>
</file>

<file path=ppt/notesSlides/notesSlide3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8" name="Shape 6688"/>
        <p:cNvGrpSpPr/>
        <p:nvPr/>
      </p:nvGrpSpPr>
      <p:grpSpPr>
        <a:xfrm>
          <a:off x="0" y="0"/>
          <a:ext cx="0" cy="0"/>
          <a:chOff x="0" y="0"/>
          <a:chExt cx="0" cy="0"/>
        </a:xfrm>
      </p:grpSpPr>
      <p:sp>
        <p:nvSpPr>
          <p:cNvPr id="6689" name="Google Shape;6689;p346:notes"/>
          <p:cNvSpPr txBox="1"/>
          <p:nvPr>
            <p:ph idx="1" type="body"/>
          </p:nvPr>
        </p:nvSpPr>
        <p:spPr>
          <a:xfrm>
            <a:off x="685800" y="4724202"/>
            <a:ext cx="5486400" cy="4475560"/>
          </a:xfrm>
          <a:prstGeom prst="rect">
            <a:avLst/>
          </a:prstGeom>
        </p:spPr>
        <p:txBody>
          <a:bodyPr anchorCtr="0" anchor="t" bIns="45700" lIns="91425" spcFirstLastPara="1" rIns="91425" wrap="square" tIns="45700">
            <a:noAutofit/>
          </a:bodyPr>
          <a:lstStyle/>
          <a:p>
            <a:pPr indent="0" lvl="0" marL="0" rtl="0" algn="l">
              <a:spcBef>
                <a:spcPts val="400"/>
              </a:spcBef>
              <a:spcAft>
                <a:spcPts val="0"/>
              </a:spcAft>
              <a:buNone/>
            </a:pPr>
            <a:r>
              <a:t>PRODUCT INTRODUCTION — How</a:t>
            </a:r>
            <a:br/>
            <a:r>
              <a:t>Solution approach:</a:t>
            </a:r>
            <a:br/>
            <a:r>
              <a:t>1. GTM PLANNING: Multi-channel launch plan with branch training, digital UX, and CBS configuration</a:t>
            </a:r>
            <a:br/>
            <a:r>
              <a:t>2. SBP INTEGRATION: NOC timeline embedded in product launch methodology</a:t>
            </a:r>
            <a:br/>
            <a:r>
              <a:t>3. CHANNEL READINESS: Training, collateral (Urdu + English), system configuration across all channels</a:t>
            </a:r>
            <a:br/>
            <a:r>
              <a:t>4. ONBOARDING ANALYTICS: Funnel tracking from application to first transaction</a:t>
            </a:r>
            <a:br/>
            <a:r>
              <a:t>5. LAUNCH MONITORING: Real-time product adoption dashboard tracking sales by channel</a:t>
            </a:r>
            <a:br/>
            <a:br/>
            <a:r>
              <a:t>FSDM: PRDCT_INTRO, GTM, CHNL_RDNSS, ONBRDNG, LNCH_MNTRNG</a:t>
            </a:r>
            <a:endParaRPr/>
          </a:p>
        </p:txBody>
      </p:sp>
      <p:sp>
        <p:nvSpPr>
          <p:cNvPr id="6690" name="Google Shape;6690;p346: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7" name="Shape 6697"/>
        <p:cNvGrpSpPr/>
        <p:nvPr/>
      </p:nvGrpSpPr>
      <p:grpSpPr>
        <a:xfrm>
          <a:off x="0" y="0"/>
          <a:ext cx="0" cy="0"/>
          <a:chOff x="0" y="0"/>
          <a:chExt cx="0" cy="0"/>
        </a:xfrm>
      </p:grpSpPr>
      <p:sp>
        <p:nvSpPr>
          <p:cNvPr id="6698" name="Google Shape;6698;p347: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6699" name="Google Shape;6699;p347: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00" name="Google Shape;6700;p347: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t>PLAN PRODUCT INVESTMENTS / GO-TO-MARKET — Capability Detail</a:t>
            </a:r>
            <a:br/>
            <a:r>
              <a:t>Plan GTM for Pakistan banking: branch staff training (16,000+ branches), core banking system configuration (4-5 systems), SBP reporting setup, marketing collateral (Urdu + English), Islamic Shariah compliance documentation.</a:t>
            </a:r>
            <a:br/>
            <a:r>
              <a:t>Forecast resource requirements: call center staffing for inquiries, branch teller training, digital UX readiness, card production pipeline.</a:t>
            </a:r>
            <a:br/>
            <a:r>
              <a:t>Source Data: Historical product launch data, branch capacity data, call center staffing model, digital channel capacity, card production lead times.</a:t>
            </a:r>
            <a:br/>
            <a:br/>
            <a:r>
              <a:t>FSDM: GTM, CHNL_RDNSS, RSRC_PLN, LNCH_PLN</a:t>
            </a:r>
            <a:endParaRPr/>
          </a:p>
        </p:txBody>
      </p:sp>
    </p:spTree>
  </p:cSld>
  <p:clrMapOvr>
    <a:masterClrMapping/>
  </p:clrMapOvr>
</p:notes>
</file>

<file path=ppt/notesSlides/notesSlide3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8" name="Shape 6718"/>
        <p:cNvGrpSpPr/>
        <p:nvPr/>
      </p:nvGrpSpPr>
      <p:grpSpPr>
        <a:xfrm>
          <a:off x="0" y="0"/>
          <a:ext cx="0" cy="0"/>
          <a:chOff x="0" y="0"/>
          <a:chExt cx="0" cy="0"/>
        </a:xfrm>
      </p:grpSpPr>
      <p:sp>
        <p:nvSpPr>
          <p:cNvPr id="6719" name="Google Shape;6719;p348: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6720" name="Google Shape;6720;p348: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21" name="Google Shape;6721;p348: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t>PLAN PRODUCT INVESTMENTS / GTM — Maturity Assessment</a:t>
            </a:r>
            <a:br/>
            <a:r>
              <a:t>Current State (Developing): Product launches ad hoc. Branch training inconsistent. CBS configuration delayed. No integrated launch methodology.</a:t>
            </a:r>
            <a:br/>
            <a:r>
              <a:t>Target State (Innovating): Integrated multi-channel launch methodology with SBP timeline, parallel workstreams, and real-time readiness dashboard.</a:t>
            </a:r>
            <a:br/>
            <a:r>
              <a:t>Pakistan Context: With 16,000+ branches and 4-5 CBS, product introduction requires systematic project management — most banks do this manually.</a:t>
            </a:r>
            <a:br/>
            <a:br/>
            <a:r>
              <a:t>FSDM: GTM, CHNL_RDNSS, RSRC_PLN, LNCH_PLN</a:t>
            </a:r>
            <a:endParaRPr/>
          </a:p>
        </p:txBody>
      </p:sp>
    </p:spTree>
  </p:cSld>
  <p:clrMapOvr>
    <a:masterClrMapping/>
  </p:clrMapOvr>
</p:notes>
</file>

<file path=ppt/notesSlides/notesSlide3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2" name="Shape 6732"/>
        <p:cNvGrpSpPr/>
        <p:nvPr/>
      </p:nvGrpSpPr>
      <p:grpSpPr>
        <a:xfrm>
          <a:off x="0" y="0"/>
          <a:ext cx="0" cy="0"/>
          <a:chOff x="0" y="0"/>
          <a:chExt cx="0" cy="0"/>
        </a:xfrm>
      </p:grpSpPr>
      <p:sp>
        <p:nvSpPr>
          <p:cNvPr id="6733" name="Google Shape;6733;p349: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6734" name="Google Shape;6734;p349: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35" name="Google Shape;6735;p349: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t>IMPROVE PRODUCT ONBOARDING — Capability Detail</a:t>
            </a:r>
            <a:br/>
            <a:r>
              <a:t>PAKISTAN PRODUCT ONBOARDING:</a:t>
            </a:r>
            <a:br/>
            <a:r>
              <a:t>Current onboarding timelines (average):</a:t>
            </a:r>
            <a:br/>
            <a:r>
              <a:t>- Current account: 3-7 days (branch), 1-3 days (digital — if NADRA works)</a:t>
            </a:r>
            <a:br/>
            <a:r>
              <a:t>- Savings account: Same as current</a:t>
            </a:r>
            <a:br/>
            <a:r>
              <a:t>- Personal loan: 7-21 days (documentation + credit check + approval)</a:t>
            </a:r>
            <a:br/>
            <a:r>
              <a:t>- Home finance: 30-90 days (property valuation + legal + SBP guidelines)</a:t>
            </a:r>
            <a:br/>
            <a:r>
              <a:t>- Credit card: 7-14 days (ECIB check + card production + courier)</a:t>
            </a:r>
            <a:br/>
            <a:r>
              <a:t>- Digital onboarding: 10-30 minutes (if NADRA biometric succeeds on first attempt)</a:t>
            </a:r>
            <a:br/>
            <a:br/>
            <a:r>
              <a:t>Key dropout points:</a:t>
            </a:r>
            <a:br/>
            <a:r>
              <a:t>1. NADRA biometric verification failure (30-40% first-attempt failure rate)</a:t>
            </a:r>
            <a:br/>
            <a:r>
              <a:t>2. Document upload issues (photo quality, format)</a:t>
            </a:r>
            <a:br/>
            <a:r>
              <a:t>3. Minimum balance requirement confusion</a:t>
            </a:r>
            <a:br/>
            <a:r>
              <a:t>4. Waiting for physical card/cheque book delivery</a:t>
            </a:r>
            <a:br/>
            <a:r>
              <a:t>5. First transaction complexity</a:t>
            </a:r>
            <a:br/>
            <a:br/>
            <a:r>
              <a:t>FSDM: ONBRDNG, ONBRDNG_JRNY, DRPOFF, ACTVTN, FRST_TXN</a:t>
            </a:r>
            <a:endParaRPr/>
          </a:p>
        </p:txBody>
      </p:sp>
    </p:spTree>
  </p:cSld>
  <p:clrMapOvr>
    <a:masterClrMapping/>
  </p:clrMapOvr>
</p:notes>
</file>

<file path=ppt/notesSlides/notesSlide3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0" name="Shape 6750"/>
        <p:cNvGrpSpPr/>
        <p:nvPr/>
      </p:nvGrpSpPr>
      <p:grpSpPr>
        <a:xfrm>
          <a:off x="0" y="0"/>
          <a:ext cx="0" cy="0"/>
          <a:chOff x="0" y="0"/>
          <a:chExt cx="0" cy="0"/>
        </a:xfrm>
      </p:grpSpPr>
      <p:sp>
        <p:nvSpPr>
          <p:cNvPr id="6751" name="Google Shape;6751;p350: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6752" name="Google Shape;6752;p350: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53" name="Google Shape;6753;p350: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t>IMPROVE PRODUCT ONBOARDING — Maturity Assessment</a:t>
            </a:r>
            <a:br/>
            <a:r>
              <a:t>Current State (Developing): Digital onboarding exists but with 40-60% dropoff. No funnel analytics. Loan origination still paper-based at many banks.</a:t>
            </a:r>
            <a:br/>
            <a:r>
              <a:t>Target State (Innovating): Optimized digital onboarding with &lt;20% dropoff, real-time funnel analytics, automated loan origination &lt;7 days.</a:t>
            </a:r>
            <a:br/>
            <a:r>
              <a:t>Pakistan Context: SadaPay and NayaPay can onboard in minutes. Banks must match this speed or lose the digital-first segment.</a:t>
            </a:r>
            <a:br/>
            <a:br/>
            <a:r>
              <a:t>FSDM: ONBRDNG, ONBRDNG_JRNY, DRPOFF, ACTVTN</a:t>
            </a:r>
            <a:endParaRPr/>
          </a:p>
        </p:txBody>
      </p:sp>
    </p:spTree>
  </p:cSld>
  <p:clrMapOvr>
    <a:masterClrMapping/>
  </p:clrMapOvr>
</p:notes>
</file>

<file path=ppt/notesSlides/notesSlide3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4" name="Shape 6764"/>
        <p:cNvGrpSpPr/>
        <p:nvPr/>
      </p:nvGrpSpPr>
      <p:grpSpPr>
        <a:xfrm>
          <a:off x="0" y="0"/>
          <a:ext cx="0" cy="0"/>
          <a:chOff x="0" y="0"/>
          <a:chExt cx="0" cy="0"/>
        </a:xfrm>
      </p:grpSpPr>
      <p:sp>
        <p:nvSpPr>
          <p:cNvPr id="6765" name="Google Shape;6765;p351: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66" name="Google Shape;6766;p351: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t>PRICE AND PROMOTION — Why Important</a:t>
            </a:r>
            <a:br/>
            <a:r>
              <a:t>Pricing in Pakistan banking operates within a constrained environment:</a:t>
            </a:r>
            <a:br/>
            <a:r>
              <a:t>- Deposit floor: SBP minimum deposit rate (~11-13% on savings)</a:t>
            </a:r>
            <a:br/>
            <a:r>
              <a:t>- Lending benchmark: KIBOR + risk spread (currently KIBOR ~17-18%)</a:t>
            </a:r>
            <a:br/>
            <a:r>
              <a:t>- Card rates: SBP caps under discussion</a:t>
            </a:r>
            <a:br/>
            <a:r>
              <a:t>- Fee income: Subject to market competition and SBP fair pricing guidelines</a:t>
            </a:r>
            <a:br/>
            <a:br/>
            <a:r>
              <a:t>Competition is on spread, fees, and service quality — not on base rates.</a:t>
            </a:r>
            <a:br/>
            <a:r>
              <a:t>Dynamic pricing opportunity: large depositor relationship pricing, risk-based lending, promotional card pricing.</a:t>
            </a:r>
            <a:br/>
            <a:br/>
            <a:r>
              <a:t>FSDM: PRCNG, PRDCT_PRCNG, CMPTTV_PRCNG, DYNMC_PRCNG</a:t>
            </a:r>
            <a:endParaRPr/>
          </a:p>
        </p:txBody>
      </p:sp>
      <p:sp>
        <p:nvSpPr>
          <p:cNvPr id="6767" name="Google Shape;6767;p351:notes"/>
          <p:cNvSpPr txBox="1"/>
          <p:nvPr>
            <p:ph idx="11" type="ftr"/>
          </p:nvPr>
        </p:nvSpPr>
        <p:spPr>
          <a:xfrm>
            <a:off x="457200" y="9514580"/>
            <a:ext cx="2971800" cy="10772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a:t>© 2014 Teradata</a:t>
            </a:r>
            <a:endParaRPr/>
          </a:p>
        </p:txBody>
      </p:sp>
    </p:spTree>
  </p:cSld>
  <p:clrMapOvr>
    <a:masterClrMapping/>
  </p:clrMapOvr>
</p:notes>
</file>

<file path=ppt/notesSlides/notesSlide3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6" name="Shape 6776"/>
        <p:cNvGrpSpPr/>
        <p:nvPr/>
      </p:nvGrpSpPr>
      <p:grpSpPr>
        <a:xfrm>
          <a:off x="0" y="0"/>
          <a:ext cx="0" cy="0"/>
          <a:chOff x="0" y="0"/>
          <a:chExt cx="0" cy="0"/>
        </a:xfrm>
      </p:grpSpPr>
      <p:sp>
        <p:nvSpPr>
          <p:cNvPr id="6777" name="Google Shape;6777;p352: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78" name="Google Shape;6778;p352: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t>PRICE AND PROMOTION — How</a:t>
            </a:r>
            <a:br/>
            <a:r>
              <a:t>Solution approach:</a:t>
            </a:r>
            <a:br/>
            <a:r>
              <a:t>1. COMPETITIVE MONITORING: Real-time dashboard of deposit rates, lending rates, card fees across peers</a:t>
            </a:r>
            <a:br/>
            <a:r>
              <a:t>2. PRICING OPTIMIZATION: Deposit rate-vs-volume trade-off analytics within SBP constraints</a:t>
            </a:r>
            <a:br/>
            <a:r>
              <a:t>3. RISK-BASED LENDING: KIBOR + variable risk premium using ECIB/internal ratings</a:t>
            </a:r>
            <a:br/>
            <a:r>
              <a:t>4. DYNAMIC PRICING: Relationship pricing for large depositors, promotional card rates</a:t>
            </a:r>
            <a:br/>
            <a:r>
              <a:t>5. FEE ANALYTICS: Fee income optimization across products and channels</a:t>
            </a:r>
            <a:br/>
            <a:br/>
            <a:r>
              <a:t>FSDM: PRCNG, CMPTTV_PRCNG, RSK_PRCNG, DYNMC_PRCNG, FEE_ANLYTCS</a:t>
            </a:r>
            <a:endParaRPr/>
          </a:p>
        </p:txBody>
      </p:sp>
      <p:sp>
        <p:nvSpPr>
          <p:cNvPr id="6779" name="Google Shape;6779;p352:notes"/>
          <p:cNvSpPr txBox="1"/>
          <p:nvPr>
            <p:ph idx="11" type="ftr"/>
          </p:nvPr>
        </p:nvSpPr>
        <p:spPr>
          <a:xfrm>
            <a:off x="457200" y="9514580"/>
            <a:ext cx="2971800" cy="10772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a:t>© 2014 Teradata</a:t>
            </a:r>
            <a:endParaRPr/>
          </a:p>
        </p:txBody>
      </p:sp>
    </p:spTree>
  </p:cSld>
  <p:clrMapOvr>
    <a:masterClrMapping/>
  </p:clrMapOvr>
</p:notes>
</file>

<file path=ppt/notesSlides/notesSlide3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6" name="Shape 6786"/>
        <p:cNvGrpSpPr/>
        <p:nvPr/>
      </p:nvGrpSpPr>
      <p:grpSpPr>
        <a:xfrm>
          <a:off x="0" y="0"/>
          <a:ext cx="0" cy="0"/>
          <a:chOff x="0" y="0"/>
          <a:chExt cx="0" cy="0"/>
        </a:xfrm>
      </p:grpSpPr>
      <p:sp>
        <p:nvSpPr>
          <p:cNvPr id="6787" name="Google Shape;6787;p353: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6788" name="Google Shape;6788;p353: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89" name="Google Shape;6789;p353: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t>ANALYZE COMPETITIVE PRICING — Capability Detail</a:t>
            </a:r>
            <a:br/>
            <a:r>
              <a:t>Monitor competitive pricing across Pakistan banking: deposit rates (SBP publishes), lending rates (KIBOR + spreads), card fees (annual, late payment, FX markup), trade finance pricing (LC commission rates), digital transaction fees (RAAST/IBFT charges).</a:t>
            </a:r>
            <a:br/>
            <a:r>
              <a:t>Pakistan-specific: SBP minimum deposit rate creates floor. KIBOR creates lending benchmark. Competition is on spread, fees, and service quality.</a:t>
            </a:r>
            <a:br/>
            <a:r>
              <a:t>Source Data: SBP published rate data, competitor rate sheets, KIBOR curves, card fee comparison, customer rate sensitivity from FSDM.</a:t>
            </a:r>
            <a:br/>
            <a:br/>
            <a:r>
              <a:t>FSDM: CMPTTV_PRCNG, MKT_RT, KIBOR, DPST_RT, LNDNG_SPRD</a:t>
            </a:r>
            <a:endParaRPr/>
          </a:p>
        </p:txBody>
      </p:sp>
    </p:spTree>
  </p:cSld>
  <p:clrMapOvr>
    <a:masterClrMapping/>
  </p:clrMapOvr>
</p:notes>
</file>

<file path=ppt/notesSlides/notesSlide3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4" name="Shape 6804"/>
        <p:cNvGrpSpPr/>
        <p:nvPr/>
      </p:nvGrpSpPr>
      <p:grpSpPr>
        <a:xfrm>
          <a:off x="0" y="0"/>
          <a:ext cx="0" cy="0"/>
          <a:chOff x="0" y="0"/>
          <a:chExt cx="0" cy="0"/>
        </a:xfrm>
      </p:grpSpPr>
      <p:sp>
        <p:nvSpPr>
          <p:cNvPr id="6805" name="Google Shape;6805;p354: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6806" name="Google Shape;6806;p354: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07" name="Google Shape;6807;p354: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t>ANALYZE COMPETITIVE PRICING — Maturity Assessment</a:t>
            </a:r>
            <a:br/>
            <a:r>
              <a:t>Current State (Developing): Manual competitive monitoring. Rate sheets collected periodically. No systematic fee benchmarking.</a:t>
            </a:r>
            <a:br/>
            <a:r>
              <a:t>Target State (Innovating): Real-time competitive pricing dashboard with automated alerting, rate sensitivity analytics, and fee optimization recommendations.</a:t>
            </a:r>
            <a:br/>
            <a:r>
              <a:t>Pakistan Context: With SBP publishing deposit rates and KIBOR setting lending benchmarks, the competition is on spread optimization and fee income — requiring granular pricing analytics.</a:t>
            </a:r>
            <a:br/>
            <a:br/>
            <a:r>
              <a:t>FSDM: CMPTTV_PRCNG, MKT_RT, KIBOR</a:t>
            </a:r>
            <a:endParaRPr/>
          </a:p>
        </p:txBody>
      </p:sp>
    </p:spTree>
  </p:cSld>
  <p:clrMapOvr>
    <a:masterClrMapping/>
  </p:clrMapOvr>
</p:notes>
</file>

<file path=ppt/notesSlides/notesSlide3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8" name="Shape 6818"/>
        <p:cNvGrpSpPr/>
        <p:nvPr/>
      </p:nvGrpSpPr>
      <p:grpSpPr>
        <a:xfrm>
          <a:off x="0" y="0"/>
          <a:ext cx="0" cy="0"/>
          <a:chOff x="0" y="0"/>
          <a:chExt cx="0" cy="0"/>
        </a:xfrm>
      </p:grpSpPr>
      <p:sp>
        <p:nvSpPr>
          <p:cNvPr id="6819" name="Google Shape;6819;p355: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6820" name="Google Shape;6820;p355: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21" name="Google Shape;6821;p355: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t>MANAGE DYNAMIC PRICING — Capability Detail</a:t>
            </a:r>
            <a:br/>
            <a:r>
              <a:t>Dynamic pricing in Pakistan banking: adjust deposit rates for large depositors (relationship pricing), risk-based lending (KIBOR + variable risk premium based on ECIB/internal rating), promotional card rates (balance transfer offers, spend-based fee waivers).</a:t>
            </a:r>
            <a:br/>
            <a:r>
              <a:t>Constraints: SBP minimum deposit rate, SBP maximum markup on credit cards (under discussion), KIBOR-linked lending floors.</a:t>
            </a:r>
            <a:br/>
            <a:r>
              <a:t>Outcome: Optimize NII by dynamically adjusting deposit gathering cost vs. lending margin, retain large depositors through competitive pricing while protecting margin.</a:t>
            </a:r>
            <a:br/>
            <a:br/>
            <a:r>
              <a:t>FSDM: DYNMC_PRCNG, RLTNSHP_PRCNG, RSK_PRCNG, PROMO_PRCNG</a:t>
            </a:r>
            <a:endParaRPr/>
          </a:p>
        </p:txBody>
      </p:sp>
    </p:spTree>
  </p:cSld>
  <p:clrMapOvr>
    <a:masterClrMapping/>
  </p:clrMapOvr>
</p:notes>
</file>

<file path=ppt/notesSlides/notesSlide3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6" name="Shape 6836"/>
        <p:cNvGrpSpPr/>
        <p:nvPr/>
      </p:nvGrpSpPr>
      <p:grpSpPr>
        <a:xfrm>
          <a:off x="0" y="0"/>
          <a:ext cx="0" cy="0"/>
          <a:chOff x="0" y="0"/>
          <a:chExt cx="0" cy="0"/>
        </a:xfrm>
      </p:grpSpPr>
      <p:sp>
        <p:nvSpPr>
          <p:cNvPr id="6837" name="Google Shape;6837;p356: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6838" name="Google Shape;6838;p356: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39" name="Google Shape;6839;p356: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t>MANAGE DYNAMIC PRICING — Maturity Assessment</a:t>
            </a:r>
            <a:br/>
            <a:r>
              <a:t>Current State (Developing): Pricing set by committee. Large depositor rates negotiated manually. No systematic risk-based lending pricing.</a:t>
            </a:r>
            <a:br/>
            <a:r>
              <a:t>Target State (Innovating): Automated relationship pricing, real-time risk-adjusted lending rates, promotional pricing engine with eligibility automation.</a:t>
            </a:r>
            <a:br/>
            <a:r>
              <a:t>Pakistan Context: Banks losing large depositors to competitors offering +25-50bps. Dynamic pricing can retain while optimizing NII.</a:t>
            </a:r>
            <a:br/>
            <a:br/>
            <a:r>
              <a:t>FSDM: DYNMC_PRCNG, RLTNSHP_PRCNG, RSK_PRCNG</a:t>
            </a:r>
            <a:endParaRPr/>
          </a:p>
        </p:txBody>
      </p:sp>
    </p:spTree>
  </p:cSld>
  <p:clrMapOvr>
    <a:masterClrMapping/>
  </p:clrMapOvr>
</p:notes>
</file>

<file path=ppt/notesSlides/notesSlide3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0" name="Shape 6850"/>
        <p:cNvGrpSpPr/>
        <p:nvPr/>
      </p:nvGrpSpPr>
      <p:grpSpPr>
        <a:xfrm>
          <a:off x="0" y="0"/>
          <a:ext cx="0" cy="0"/>
          <a:chOff x="0" y="0"/>
          <a:chExt cx="0" cy="0"/>
        </a:xfrm>
      </p:grpSpPr>
      <p:sp>
        <p:nvSpPr>
          <p:cNvPr id="6851" name="Google Shape;6851;p357: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52" name="Google Shape;6852;p357: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t>PRODUCT END-OF-LIFE — Why Important</a:t>
            </a:r>
            <a:br/>
            <a:r>
              <a:t>PAKISTAN PRODUCT LIFECYCLE:</a:t>
            </a:r>
            <a:br/>
            <a:r>
              <a:t>Product sunset scenarios in Pakistan banking:</a:t>
            </a:r>
            <a:br/>
            <a:r>
              <a:t>1. LEGACY PRODUCTS: Old savings schemes with rates no longer competitive — migrate to current</a:t>
            </a:r>
            <a:br/>
            <a:r>
              <a:t>2. POST-MERGER RATIONALIZATION: Two banks merge, combined 300+ product variants → rationalize to 80-100</a:t>
            </a:r>
            <a:br/>
            <a:r>
              <a:t>3. REGULATORY CHANGE: SBP changes product rules (e.g., PLS savings rate) — migrate affected customers</a:t>
            </a:r>
            <a:br/>
            <a:r>
              <a:t>4. CONVENTIONAL → ISLAMIC: Growing demand for Islamic — proactive migration of willing customers</a:t>
            </a:r>
            <a:br/>
            <a:r>
              <a:t>5. BRANCH → DIGITAL: Sunset branch-only products, launch digital equivalents</a:t>
            </a:r>
            <a:br/>
            <a:r>
              <a:t>6. CARD PRODUCT UPGRADE: Migrate classic cardholders to gold/platinum based on usage patterns</a:t>
            </a:r>
            <a:br/>
            <a:br/>
            <a:r>
              <a:t>Key risk: Product sunset can trigger customer attrition if poorly managed. Must offer equivalent/better alternative and communicate proactively.</a:t>
            </a:r>
            <a:br/>
            <a:br/>
            <a:r>
              <a:t>FSDM: PRDCT_LFCYCL, PRDCT_SNST, PRDCT_MGRTN, CSTMR_MGRTN</a:t>
            </a:r>
            <a:endParaRPr/>
          </a:p>
        </p:txBody>
      </p:sp>
      <p:sp>
        <p:nvSpPr>
          <p:cNvPr id="6853" name="Google Shape;6853;p357:notes"/>
          <p:cNvSpPr txBox="1"/>
          <p:nvPr>
            <p:ph idx="11" type="ftr"/>
          </p:nvPr>
        </p:nvSpPr>
        <p:spPr>
          <a:xfrm>
            <a:off x="457200" y="9514580"/>
            <a:ext cx="2971800" cy="10772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a:t>© 2014 Teradata</a:t>
            </a:r>
            <a:endParaRPr/>
          </a:p>
        </p:txBody>
      </p:sp>
    </p:spTree>
  </p:cSld>
  <p:clrMapOvr>
    <a:masterClrMapping/>
  </p:clrMapOvr>
</p:notes>
</file>

<file path=ppt/notesSlides/notesSlide3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1" name="Shape 6861"/>
        <p:cNvGrpSpPr/>
        <p:nvPr/>
      </p:nvGrpSpPr>
      <p:grpSpPr>
        <a:xfrm>
          <a:off x="0" y="0"/>
          <a:ext cx="0" cy="0"/>
          <a:chOff x="0" y="0"/>
          <a:chExt cx="0" cy="0"/>
        </a:xfrm>
      </p:grpSpPr>
      <p:sp>
        <p:nvSpPr>
          <p:cNvPr id="6862" name="Google Shape;6862;p358: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63" name="Google Shape;6863;p358: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t>PRODUCT END-OF-LIFE — How</a:t>
            </a:r>
            <a:br/>
            <a:r>
              <a:t>Solution approach:</a:t>
            </a:r>
            <a:br/>
            <a:r>
              <a:t>1. PRODUCT LIFECYCLE ANALYTICS: Track product from launch through growth, maturity, decline to sunset</a:t>
            </a:r>
            <a:br/>
            <a:r>
              <a:t>2. MIGRATION PLANNING: Data-driven migration plan with customer communication strategy</a:t>
            </a:r>
            <a:br/>
            <a:r>
              <a:t>3. IMPACT ASSESSMENT: Estimate attrition risk, channel impact, and revenue impact from sunset</a:t>
            </a:r>
            <a:br/>
            <a:r>
              <a:t>4. REGULATORY COMPLIANCE: SBP-mandated product change management</a:t>
            </a:r>
            <a:br/>
            <a:r>
              <a:t>5. POST-MIGRATION: Monitor migrated customers for satisfaction and attrition signals</a:t>
            </a:r>
            <a:br/>
            <a:br/>
            <a:r>
              <a:t>FSDM: PRDCT_LFCYCL, PRDCT_SNST, PRDCT_MGRTN, CSTMR_MGRTN, ATTRTN</a:t>
            </a:r>
            <a:endParaRPr/>
          </a:p>
        </p:txBody>
      </p:sp>
      <p:sp>
        <p:nvSpPr>
          <p:cNvPr id="6864" name="Google Shape;6864;p358:notes"/>
          <p:cNvSpPr txBox="1"/>
          <p:nvPr>
            <p:ph idx="11" type="ftr"/>
          </p:nvPr>
        </p:nvSpPr>
        <p:spPr>
          <a:xfrm>
            <a:off x="457200" y="9514580"/>
            <a:ext cx="2971800" cy="10772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a:t>© 2014 Teradata</a:t>
            </a:r>
            <a:endParaRPr/>
          </a:p>
        </p:txBody>
      </p:sp>
    </p:spTree>
  </p:cSld>
  <p:clrMapOvr>
    <a:masterClrMapping/>
  </p:clrMapOvr>
</p:notes>
</file>

<file path=ppt/notesSlides/notesSlide3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1" name="Shape 6871"/>
        <p:cNvGrpSpPr/>
        <p:nvPr/>
      </p:nvGrpSpPr>
      <p:grpSpPr>
        <a:xfrm>
          <a:off x="0" y="0"/>
          <a:ext cx="0" cy="0"/>
          <a:chOff x="0" y="0"/>
          <a:chExt cx="0" cy="0"/>
        </a:xfrm>
      </p:grpSpPr>
      <p:sp>
        <p:nvSpPr>
          <p:cNvPr id="6872" name="Google Shape;6872;p359: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6873" name="Google Shape;6873;p359: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74" name="Google Shape;6874;p359: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t>DETERMINE PRODUCT MIGRATION — Capability Detail</a:t>
            </a:r>
            <a:br/>
            <a:r>
              <a:t>Product migration in Pakistan banking: sunset legacy products (old savings schemes, discontinued FD tenors), migrate customers from conventional to Islamic products (growing demand), consolidate product variants across merged entities.</a:t>
            </a:r>
            <a:br/>
            <a:r>
              <a:t>Pakistan context: Bank mergers create product rationalization need — merged bank may have 200+ product variants that need consolidation to 50-80.</a:t>
            </a:r>
            <a:br/>
            <a:r>
              <a:t>Regulatory sunset: SBP discontinued products (e.g., old foreign currency schemes) require customer migration.</a:t>
            </a:r>
            <a:br/>
            <a:r>
              <a:t>Source Data: Product-level balance and customer data from FSDM, customer communication preference, channel usage, product switching history.</a:t>
            </a:r>
            <a:br/>
            <a:r>
              <a:t>Outcome: Smooth migration preserving customer relationships, minimal attrition during sunset, optimized product portfolio.</a:t>
            </a:r>
            <a:br/>
            <a:br/>
            <a:r>
              <a:t>FSDM: PRDCT_MGRTN, CSTMR_MGRTN, PRDCT_SNST, PRDCT_RTNLZTN</a:t>
            </a:r>
            <a:endParaRPr/>
          </a:p>
        </p:txBody>
      </p:sp>
    </p:spTree>
  </p:cSld>
  <p:clrMapOvr>
    <a:masterClrMapping/>
  </p:clrMapOvr>
</p:notes>
</file>

<file path=ppt/notesSlides/notesSlide3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9" name="Shape 6889"/>
        <p:cNvGrpSpPr/>
        <p:nvPr/>
      </p:nvGrpSpPr>
      <p:grpSpPr>
        <a:xfrm>
          <a:off x="0" y="0"/>
          <a:ext cx="0" cy="0"/>
          <a:chOff x="0" y="0"/>
          <a:chExt cx="0" cy="0"/>
        </a:xfrm>
      </p:grpSpPr>
      <p:sp>
        <p:nvSpPr>
          <p:cNvPr id="6890" name="Google Shape;6890;p360: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6891" name="Google Shape;6891;p360: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92" name="Google Shape;6892;p360: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marR="0" rtl="0" algn="l">
              <a:lnSpc>
                <a:spcPct val="95000"/>
              </a:lnSpc>
              <a:spcBef>
                <a:spcPts val="0"/>
              </a:spcBef>
              <a:spcAft>
                <a:spcPts val="0"/>
              </a:spcAft>
              <a:buClr>
                <a:schemeClr val="dk1"/>
              </a:buClr>
              <a:buSzPts val="1200"/>
              <a:buFont typeface="Arial"/>
              <a:buChar char="•"/>
            </a:pPr>
            <a:r>
              <a:t>DETERMINE PRODUCT MIGRATION — Maturity Assessment</a:t>
            </a:r>
            <a:br/>
            <a:r>
              <a:t>Current State (Developing): Product rationalization done manually post-merger. No systematic migration methodology. Customer communication reactive.</a:t>
            </a:r>
            <a:br/>
            <a:r>
              <a:t>Target State (Innovating): Analytics-driven migration with attrition prediction, proactive communication, and automated account migration.</a:t>
            </a:r>
            <a:br/>
            <a:r>
              <a:t>Pakistan Context: With ongoing bank consolidation (SBP encouraging mergers), product rationalization capability is increasingly critical.</a:t>
            </a:r>
            <a:br/>
            <a:br/>
            <a:r>
              <a:t>FSDM: PRDCT_MGRTN, CSTMR_MGRTN, PRDCT_SNST</a:t>
            </a:r>
            <a:endParaRPr/>
          </a:p>
        </p:txBody>
      </p:sp>
    </p:spTree>
  </p:cSld>
  <p:clrMapOvr>
    <a:masterClrMapping/>
  </p:clrMapOvr>
</p:notes>
</file>

<file path=ppt/notesSlides/notesSlide3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3" name="Shape 6903"/>
        <p:cNvGrpSpPr/>
        <p:nvPr/>
      </p:nvGrpSpPr>
      <p:grpSpPr>
        <a:xfrm>
          <a:off x="0" y="0"/>
          <a:ext cx="0" cy="0"/>
          <a:chOff x="0" y="0"/>
          <a:chExt cx="0" cy="0"/>
        </a:xfrm>
      </p:grpSpPr>
      <p:sp>
        <p:nvSpPr>
          <p:cNvPr id="6904" name="Google Shape;6904;p361: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05" name="Google Shape;6905;p361: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t>PRODUCT PERFORMANCE — Why Important</a:t>
            </a:r>
            <a:br/>
            <a:r>
              <a:t>Product performance analytics is the most data-intensive sub-domain with 5 capability pairs.</a:t>
            </a:r>
            <a:br/>
            <a:r>
              <a:t>Pakistan priority: Most banks cannot answer basic questions about product performance:</a:t>
            </a:r>
            <a:br/>
            <a:r>
              <a:t>- Which products are profitable and which are cross-subsidized?</a:t>
            </a:r>
            <a:br/>
            <a:r>
              <a:t>- Which channels drive the best product sales at lowest cost?</a:t>
            </a:r>
            <a:br/>
            <a:r>
              <a:t>- How do we compare to peer banks on key product metrics?</a:t>
            </a:r>
            <a:br/>
            <a:r>
              <a:t>- Which customer segments are most receptive to which products?</a:t>
            </a:r>
            <a:br/>
            <a:r>
              <a:t>- Which products are at risk of customer closure?</a:t>
            </a:r>
            <a:br/>
            <a:br/>
            <a:r>
              <a:t>Without product performance analytics, PKR 15-25B annual value opportunity remains untapped.</a:t>
            </a:r>
            <a:br/>
            <a:br/>
            <a:r>
              <a:t>FSDM: PRDCT_PRFMNC, PRDCT_PRFTBLTY, CHNL_PRFMNC, BNCHMARK, SGMNTTN, RTNTN</a:t>
            </a:r>
            <a:endParaRPr/>
          </a:p>
        </p:txBody>
      </p:sp>
      <p:sp>
        <p:nvSpPr>
          <p:cNvPr id="6906" name="Google Shape;6906;p361:notes"/>
          <p:cNvSpPr txBox="1"/>
          <p:nvPr>
            <p:ph idx="11" type="ftr"/>
          </p:nvPr>
        </p:nvSpPr>
        <p:spPr>
          <a:xfrm>
            <a:off x="457200" y="9514580"/>
            <a:ext cx="2971800" cy="10772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a:t>© 2014 Teradata</a:t>
            </a:r>
            <a:endParaRPr/>
          </a:p>
        </p:txBody>
      </p:sp>
    </p:spTree>
  </p:cSld>
  <p:clrMapOvr>
    <a:masterClrMapping/>
  </p:clrMapOvr>
</p:notes>
</file>

<file path=ppt/notesSlides/notesSlide3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4" name="Shape 6914"/>
        <p:cNvGrpSpPr/>
        <p:nvPr/>
      </p:nvGrpSpPr>
      <p:grpSpPr>
        <a:xfrm>
          <a:off x="0" y="0"/>
          <a:ext cx="0" cy="0"/>
          <a:chOff x="0" y="0"/>
          <a:chExt cx="0" cy="0"/>
        </a:xfrm>
      </p:grpSpPr>
      <p:sp>
        <p:nvSpPr>
          <p:cNvPr id="6915" name="Google Shape;6915;p362: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16" name="Google Shape;6916;p362: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t>PRODUCT PERFORMANCE — How</a:t>
            </a:r>
            <a:br/>
            <a:r>
              <a:t>Solution approach:</a:t>
            </a:r>
            <a:br/>
            <a:r>
              <a:t>1. PERFORMANCE DASHBOARD: Product sales, balances, revenue, cost by product and channel — real-time</a:t>
            </a:r>
            <a:br/>
            <a:r>
              <a:t>2. PROFITABILITY ENGINE: FTP-adjusted NII + fees - costs - provisions at product level</a:t>
            </a:r>
            <a:br/>
            <a:r>
              <a:t>3. CROSS-CHANNEL: Which products perform best on which channels? Cost-to-serve by channel</a:t>
            </a:r>
            <a:br/>
            <a:r>
              <a:t>4. BENCHMARKING: vs. SBP industry data, peer banks, international benchmarks</a:t>
            </a:r>
            <a:br/>
            <a:r>
              <a:t>5. SEGMENTATION: Product usage behavioral segments driving targeted recommendations</a:t>
            </a:r>
            <a:br/>
            <a:r>
              <a:t>6. RETENTION: Product closure prediction with targeted retention offers</a:t>
            </a:r>
            <a:br/>
            <a:br/>
            <a:r>
              <a:t>FSDM: PRDCT_PRFMNC, PRDCT_PRFTBLTY, CHNL_PRFMNC, BNCHMARK, SGMNTTN, RTNTN</a:t>
            </a:r>
            <a:endParaRPr/>
          </a:p>
        </p:txBody>
      </p:sp>
      <p:sp>
        <p:nvSpPr>
          <p:cNvPr id="6917" name="Google Shape;6917;p362:notes"/>
          <p:cNvSpPr txBox="1"/>
          <p:nvPr>
            <p:ph idx="11" type="ftr"/>
          </p:nvPr>
        </p:nvSpPr>
        <p:spPr>
          <a:xfrm>
            <a:off x="457200" y="9514580"/>
            <a:ext cx="2971800" cy="10772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a:t>© 2014 Teradata</a:t>
            </a:r>
            <a:endParaRPr/>
          </a:p>
        </p:txBody>
      </p:sp>
    </p:spTree>
  </p:cSld>
  <p:clrMapOvr>
    <a:masterClrMapping/>
  </p:clrMapOvr>
</p:notes>
</file>

<file path=ppt/notesSlides/notesSlide3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4" name="Shape 6924"/>
        <p:cNvGrpSpPr/>
        <p:nvPr/>
      </p:nvGrpSpPr>
      <p:grpSpPr>
        <a:xfrm>
          <a:off x="0" y="0"/>
          <a:ext cx="0" cy="0"/>
          <a:chOff x="0" y="0"/>
          <a:chExt cx="0" cy="0"/>
        </a:xfrm>
      </p:grpSpPr>
      <p:sp>
        <p:nvSpPr>
          <p:cNvPr id="6925" name="Google Shape;6925;p363: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6926" name="Google Shape;6926;p363: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27" name="Google Shape;6927;p363: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t>ANALYZE CROSS CHANNEL PERFORMANCE — Capability Detail</a:t>
            </a:r>
            <a:br/>
            <a:r>
              <a:t>Track product sales and usage across all Pakistan banking channels: branch (16,000+), ATM (16,000+), mobile app, internet banking, USSD, call center, agent network (branchless banking), RAAST.</a:t>
            </a:r>
            <a:br/>
            <a:r>
              <a:t>Key insight: Which products sell best on which channels? Personal loans sell 80% via branch but digital origination growing. CASA opens increasingly digital. Cards are branch-initiated but digitally activated.</a:t>
            </a:r>
            <a:br/>
            <a:r>
              <a:t>Source Data: FSDM transaction data by channel, product sales by channel, mobile app product funnel, branch sales register, agent banking data.</a:t>
            </a:r>
            <a:br/>
            <a:br/>
            <a:r>
              <a:t>FSDM: CHNL_PRFMNC, PRDCT_SLS, CHNL_CST, DGTL_MGRTN</a:t>
            </a:r>
            <a:endParaRPr/>
          </a:p>
        </p:txBody>
      </p:sp>
    </p:spTree>
  </p:cSld>
  <p:clrMapOvr>
    <a:masterClrMapping/>
  </p:clrMapOvr>
</p:notes>
</file>

<file path=ppt/notesSlides/notesSlide3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2" name="Shape 6942"/>
        <p:cNvGrpSpPr/>
        <p:nvPr/>
      </p:nvGrpSpPr>
      <p:grpSpPr>
        <a:xfrm>
          <a:off x="0" y="0"/>
          <a:ext cx="0" cy="0"/>
          <a:chOff x="0" y="0"/>
          <a:chExt cx="0" cy="0"/>
        </a:xfrm>
      </p:grpSpPr>
      <p:sp>
        <p:nvSpPr>
          <p:cNvPr id="6943" name="Google Shape;6943;p364: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6944" name="Google Shape;6944;p364: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45" name="Google Shape;6945;p364: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t>ANALYZE CROSS CHANNEL PERFORMANCE — Maturity Assessment</a:t>
            </a:r>
            <a:br/>
            <a:r>
              <a:t>Current State (Developing): Product sales tracked by channel but not integrated. No unified cross-channel view. Digital vs. branch attribution unclear.</a:t>
            </a:r>
            <a:br/>
            <a:r>
              <a:t>Target State (Innovating): Unified cross-channel product performance dashboard with cost-to-serve, digital migration tracking, and channel optimization recommendations.</a:t>
            </a:r>
            <a:br/>
            <a:r>
              <a:t>Pakistan Context: 8+ channels with no unified view — branches, ATMs, mobile, internet, USSD, call center, agent, RAAST. Unified analytics is foundational.</a:t>
            </a:r>
            <a:br/>
            <a:br/>
            <a:r>
              <a:t>FSDM: CHNL_PRFMNC, PRDCT_SLS, CHNL_CST</a:t>
            </a:r>
            <a:endParaRPr/>
          </a:p>
        </p:txBody>
      </p:sp>
    </p:spTree>
  </p:cSld>
  <p:clrMapOvr>
    <a:masterClrMapping/>
  </p:clrMapOvr>
</p:notes>
</file>

<file path=ppt/notesSlides/notesSlide3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6" name="Shape 6956"/>
        <p:cNvGrpSpPr/>
        <p:nvPr/>
      </p:nvGrpSpPr>
      <p:grpSpPr>
        <a:xfrm>
          <a:off x="0" y="0"/>
          <a:ext cx="0" cy="0"/>
          <a:chOff x="0" y="0"/>
          <a:chExt cx="0" cy="0"/>
        </a:xfrm>
      </p:grpSpPr>
      <p:sp>
        <p:nvSpPr>
          <p:cNvPr id="6957" name="Google Shape;6957;p365: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6958" name="Google Shape;6958;p365: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59" name="Google Shape;6959;p365: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t>COMPARE TO PRODUCT BENCHMARKS — Capability Detail</a:t>
            </a:r>
            <a:br/>
            <a:r>
              <a:t>Benchmark Pakistan banking products against: SBP published industry data (deposit rates, advance rates, NIM), peer group performance (top 5/10 banks), international benchmarks (Gulf banks, SE Asian banks).</a:t>
            </a:r>
            <a:br/>
            <a:r>
              <a:t>Key product benchmarks: CASA ratio (industry ~47%), card activation rate, loan-to-deposit ratio, fee income per product, digital adoption rate.</a:t>
            </a:r>
            <a:br/>
            <a:r>
              <a:t>Source Data: SBP statistical bulletins, annual reports of peer banks, industry surveys (PBA), FSDM internal product performance data.</a:t>
            </a:r>
            <a:br/>
            <a:br/>
            <a:r>
              <a:t>FSDM: BNCHMARK, PRDCT_KPI, INDSTY_DATA, PEER_CMP</a:t>
            </a:r>
            <a:endParaRPr/>
          </a:p>
        </p:txBody>
      </p:sp>
    </p:spTree>
  </p:cSld>
  <p:clrMapOvr>
    <a:masterClrMapping/>
  </p:clrMapOvr>
</p:notes>
</file>

<file path=ppt/notesSlides/notesSlide3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4" name="Shape 6974"/>
        <p:cNvGrpSpPr/>
        <p:nvPr/>
      </p:nvGrpSpPr>
      <p:grpSpPr>
        <a:xfrm>
          <a:off x="0" y="0"/>
          <a:ext cx="0" cy="0"/>
          <a:chOff x="0" y="0"/>
          <a:chExt cx="0" cy="0"/>
        </a:xfrm>
      </p:grpSpPr>
      <p:sp>
        <p:nvSpPr>
          <p:cNvPr id="6975" name="Google Shape;6975;p366: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6976" name="Google Shape;6976;p366: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77" name="Google Shape;6977;p366: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t>COMPARE TO PRODUCT BENCHMARKS — Maturity Assessment</a:t>
            </a:r>
            <a:br/>
            <a:r>
              <a:t>Current State (Developing): Annual report comparison only. No systematic benchmarking. International comparison absent.</a:t>
            </a:r>
            <a:br/>
            <a:r>
              <a:t>Target State (Innovating): Automated benchmark dashboard with SBP data feed, peer analysis, and international comparison. Underperformance alerts.</a:t>
            </a:r>
            <a:br/>
            <a:r>
              <a:t>Pakistan Context: SBP publishes comprehensive industry data making automated benchmarking feasible — but few banks have implemented it.</a:t>
            </a:r>
            <a:br/>
            <a:br/>
            <a:r>
              <a:t>FSDM: BNCHMARK, PRDCT_KPI, INDSTY_DATA</a:t>
            </a:r>
            <a:endParaRPr/>
          </a:p>
        </p:txBody>
      </p:sp>
    </p:spTree>
  </p:cSld>
  <p:clrMapOvr>
    <a:masterClrMapping/>
  </p:clrMapOvr>
</p:notes>
</file>

<file path=ppt/notesSlides/notesSlide3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8" name="Shape 6988"/>
        <p:cNvGrpSpPr/>
        <p:nvPr/>
      </p:nvGrpSpPr>
      <p:grpSpPr>
        <a:xfrm>
          <a:off x="0" y="0"/>
          <a:ext cx="0" cy="0"/>
          <a:chOff x="0" y="0"/>
          <a:chExt cx="0" cy="0"/>
        </a:xfrm>
      </p:grpSpPr>
      <p:sp>
        <p:nvSpPr>
          <p:cNvPr id="6989" name="Google Shape;6989;p367: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6990" name="Google Shape;6990;p367: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91" name="Google Shape;6991;p367: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t>MANAGE PRODUCT PROFITABILITY — Capability Detail — CRITICAL</a:t>
            </a:r>
            <a:br/>
            <a:r>
              <a:t>PAKISTAN PRODUCT PROFITABILITY:</a:t>
            </a:r>
            <a:br/>
            <a:r>
              <a:t>Typical profitability profile:</a:t>
            </a:r>
            <a:br/>
            <a:r>
              <a:t>| Product | Revenue | Cost | Profit | Notes |</a:t>
            </a:r>
            <a:br/>
            <a:r>
              <a:t>| Corporate working capital | High NII + fees | Low per-unit | Very profitable | Relationship-based |</a:t>
            </a:r>
            <a:br/>
            <a:r>
              <a:t>| Trade finance (LC/LG) | High fee income | Moderate | Highly profitable | Pakistan's #1 fee source |</a:t>
            </a:r>
            <a:br/>
            <a:r>
              <a:t>| Term deposits (large) | Negative NII (high rate) | Low | Negative | Cost of funds |</a:t>
            </a:r>
            <a:br/>
            <a:r>
              <a:t>| CASA | High NII (low cost) | Moderate | Very profitable | Foundation of banking profit |</a:t>
            </a:r>
            <a:br/>
            <a:r>
              <a:t>| Personal loans | High NII | Moderate | Profitable (if NPL controlled) | ECIB scoring critical |</a:t>
            </a:r>
            <a:br/>
            <a:r>
              <a:t>| Credit cards | Interchange + interest | High (fraud, rewards) | Mixed | Top 20% customers profitable |</a:t>
            </a:r>
            <a:br/>
            <a:r>
              <a:t>| Basic savings | Minimal NII | High (branch service) | Unprofitable | Financial inclusion mandate |</a:t>
            </a:r>
            <a:br/>
            <a:r>
              <a:t>| Home finance | Moderate NII | High (origination) | Break-even → profitable | Long tenure needed |</a:t>
            </a:r>
            <a:br/>
            <a:r>
              <a:t>| Digital products | Fee income | Very low | Highly profitable per txn | Scale is key |</a:t>
            </a:r>
            <a:br/>
            <a:br/>
            <a:r>
              <a:t>Key insight: Product profitability varies enormously. Without analytics, banks cross-subsidize unknowingly.</a:t>
            </a:r>
            <a:br/>
            <a:br/>
            <a:r>
              <a:t>FSDM: PRDCT_PRFTBLTY, PRDCT_RVNU, PRDCT_CST, FTP</a:t>
            </a:r>
            <a:br/>
            <a:r>
              <a:t>BVF Reference: File 08 EPM &gt; Profitability Modelling, File 09 &gt; Profitability Analytics</a:t>
            </a:r>
            <a:endParaRPr/>
          </a:p>
        </p:txBody>
      </p:sp>
    </p:spTree>
  </p:cSld>
  <p:clrMapOvr>
    <a:masterClrMapping/>
  </p:clrMapOvr>
</p:notes>
</file>

<file path=ppt/notesSlides/notesSlide3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6" name="Shape 7006"/>
        <p:cNvGrpSpPr/>
        <p:nvPr/>
      </p:nvGrpSpPr>
      <p:grpSpPr>
        <a:xfrm>
          <a:off x="0" y="0"/>
          <a:ext cx="0" cy="0"/>
          <a:chOff x="0" y="0"/>
          <a:chExt cx="0" cy="0"/>
        </a:xfrm>
      </p:grpSpPr>
      <p:sp>
        <p:nvSpPr>
          <p:cNvPr id="7007" name="Google Shape;7007;p368: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7008" name="Google Shape;7008;p368: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09" name="Google Shape;7009;p368: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t>MANAGE PRODUCT PROFITABILITY — Maturity Assessment</a:t>
            </a:r>
            <a:br/>
            <a:r>
              <a:t>Current State (Developing): No product-level P&amp;L. Revenue tracked at product level but costs not allocated. FTP not product-specific.</a:t>
            </a:r>
            <a:br/>
            <a:r>
              <a:t>Target State (Innovating): True product profitability with FTP-adjusted NII, ABC cost allocation, IFRS 9 provision allocation, revealing cross-subsidy flows.</a:t>
            </a:r>
            <a:br/>
            <a:r>
              <a:t>Pakistan Context: &lt;15% of banks can calculate true product profitability. This is the single highest-value product analytics capability.</a:t>
            </a:r>
            <a:br/>
            <a:br/>
            <a:r>
              <a:t>FSDM: PRDCT_PRFTBLTY, FTP, ABC, PRVSN</a:t>
            </a:r>
            <a:endParaRPr/>
          </a:p>
        </p:txBody>
      </p:sp>
    </p:spTree>
  </p:cSld>
  <p:clrMapOvr>
    <a:masterClrMapping/>
  </p:clrMapOvr>
</p:notes>
</file>

<file path=ppt/notesSlides/notesSlide3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0" name="Shape 7020"/>
        <p:cNvGrpSpPr/>
        <p:nvPr/>
      </p:nvGrpSpPr>
      <p:grpSpPr>
        <a:xfrm>
          <a:off x="0" y="0"/>
          <a:ext cx="0" cy="0"/>
          <a:chOff x="0" y="0"/>
          <a:chExt cx="0" cy="0"/>
        </a:xfrm>
      </p:grpSpPr>
      <p:sp>
        <p:nvSpPr>
          <p:cNvPr id="7021" name="Google Shape;7021;p369: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7022" name="Google Shape;7022;p369: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23" name="Google Shape;7023;p369: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t>PRODUCE BEHAVIORAL SEGMENTATIONS — Capability Detail</a:t>
            </a:r>
            <a:br/>
            <a:r>
              <a:t>Segment banking customers by product usage behavior:</a:t>
            </a:r>
            <a:br/>
            <a:r>
              <a:t>- Heavy transactors: High RAAST/ATM usage, multiple daily transactions</a:t>
            </a:r>
            <a:br/>
            <a:r>
              <a:t>- Savers: FD-focused, low transaction frequency, high balance</a:t>
            </a:r>
            <a:br/>
            <a:r>
              <a:t>- Borrowers: Multiple lending products, active credit utilization</a:t>
            </a:r>
            <a:br/>
            <a:r>
              <a:t>- Digital-first: Mobile app primary channel, rarely visits branch</a:t>
            </a:r>
            <a:br/>
            <a:r>
              <a:t>- Branch-loyal: Branch-only, no digital adoption</a:t>
            </a:r>
            <a:br/>
            <a:r>
              <a:t>- Dormant: No activity 90+ days — reactivation opportunity</a:t>
            </a:r>
            <a:br/>
            <a:r>
              <a:t>- Islamic-only: Only uses Shariah-compliant products</a:t>
            </a:r>
            <a:br/>
            <a:br/>
            <a:r>
              <a:t>Islamic preference segmentation: customers who only use Islamic products vs. mixed vs. conventional-only.</a:t>
            </a:r>
            <a:br/>
            <a:r>
              <a:t>Source Data: FSDM transaction data, product holding data, channel usage, Islamic/conventional preference, mobile app engagement.</a:t>
            </a:r>
            <a:br/>
            <a:br/>
            <a:r>
              <a:t>FSDM: BHVRL_SGMNT, PRDCT_USGN, CHNL_PRFRNC, ISLMC_PRFRNC</a:t>
            </a:r>
            <a:endParaRPr/>
          </a:p>
        </p:txBody>
      </p:sp>
    </p:spTree>
  </p:cSld>
  <p:clrMapOvr>
    <a:masterClrMapping/>
  </p:clrMapOvr>
</p:notes>
</file>

<file path=ppt/notesSlides/notesSlide3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8" name="Shape 7038"/>
        <p:cNvGrpSpPr/>
        <p:nvPr/>
      </p:nvGrpSpPr>
      <p:grpSpPr>
        <a:xfrm>
          <a:off x="0" y="0"/>
          <a:ext cx="0" cy="0"/>
          <a:chOff x="0" y="0"/>
          <a:chExt cx="0" cy="0"/>
        </a:xfrm>
      </p:grpSpPr>
      <p:sp>
        <p:nvSpPr>
          <p:cNvPr id="7039" name="Google Shape;7039;p370: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7040" name="Google Shape;7040;p370: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41" name="Google Shape;7041;p370: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t>PRODUCE BEHAVIORAL SEGMENTATIONS — Maturity Assessment</a:t>
            </a:r>
            <a:br/>
            <a:r>
              <a:t>Current State (Developing): Basic demographic segmentation only. No behavioral product usage segmentation. Islamic/conventional preference not tracked.</a:t>
            </a:r>
            <a:br/>
            <a:r>
              <a:t>Target State (Innovating): Multi-dimensional behavioral segmentation driving targeted product recommendations, Islamic product opportunity sizing, and product bundle optimization.</a:t>
            </a:r>
            <a:br/>
            <a:r>
              <a:t>Pakistan Context: Islamic preference segmentation is unique to Pakistan/ME markets and critical — 25%+ of deposits are Islamic.</a:t>
            </a:r>
            <a:br/>
            <a:br/>
            <a:r>
              <a:t>FSDM: BHVRL_SGMNT, PRDCT_USGN, ISLMC_PRFRNC</a:t>
            </a:r>
            <a:endParaRPr/>
          </a:p>
        </p:txBody>
      </p:sp>
    </p:spTree>
  </p:cSld>
  <p:clrMapOvr>
    <a:masterClrMapping/>
  </p:clrMapOvr>
</p:notes>
</file>

<file path=ppt/notesSlides/notesSlide3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2" name="Shape 7052"/>
        <p:cNvGrpSpPr/>
        <p:nvPr/>
      </p:nvGrpSpPr>
      <p:grpSpPr>
        <a:xfrm>
          <a:off x="0" y="0"/>
          <a:ext cx="0" cy="0"/>
          <a:chOff x="0" y="0"/>
          <a:chExt cx="0" cy="0"/>
        </a:xfrm>
      </p:grpSpPr>
      <p:sp>
        <p:nvSpPr>
          <p:cNvPr id="7053" name="Google Shape;7053;p371: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7054" name="Google Shape;7054;p371: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55" name="Google Shape;7055;p371: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t>PREDICT PRODUCT/SERVICE RETENTION — Capability Detail</a:t>
            </a:r>
            <a:br/>
            <a:r>
              <a:t>Predict which products each customer is likely to close: FD non-renewal (rate shopping), CASA closure (salary switch), card cancellation (dormancy), loan prepayment (refinancing).</a:t>
            </a:r>
            <a:br/>
            <a:r>
              <a:t>Pakistan-specific: salary account switching is highest product-level churn risk. When employer switches bank, entire product bundle is at risk.</a:t>
            </a:r>
            <a:br/>
            <a:r>
              <a:t>Source Data: FSDM — product tenure, balance trend, transaction frequency change, salary credit continuity, competitor rate data, customer life event indicators.</a:t>
            </a:r>
            <a:br/>
            <a:r>
              <a:t>Outcome: Product retention alerts 30 days before closure, targeted retention offers by product type.</a:t>
            </a:r>
            <a:br/>
            <a:br/>
            <a:r>
              <a:t>FSDM: PRDCT_RTNTN, CHURN_PRDCTN, SLRY_MNTRNG, RT_SHPPNG</a:t>
            </a:r>
            <a:endParaRPr/>
          </a:p>
        </p:txBody>
      </p:sp>
    </p:spTree>
  </p:cSld>
  <p:clrMapOvr>
    <a:masterClrMapping/>
  </p:clrMapOvr>
</p:notes>
</file>

<file path=ppt/notesSlides/notesSlide3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0" name="Shape 7070"/>
        <p:cNvGrpSpPr/>
        <p:nvPr/>
      </p:nvGrpSpPr>
      <p:grpSpPr>
        <a:xfrm>
          <a:off x="0" y="0"/>
          <a:ext cx="0" cy="0"/>
          <a:chOff x="0" y="0"/>
          <a:chExt cx="0" cy="0"/>
        </a:xfrm>
      </p:grpSpPr>
      <p:sp>
        <p:nvSpPr>
          <p:cNvPr id="7071" name="Google Shape;7071;p372:notes"/>
          <p:cNvSpPr txBox="1"/>
          <p:nvPr>
            <p:ph idx="12" type="sldNum"/>
          </p:nvPr>
        </p:nvSpPr>
        <p:spPr>
          <a:xfrm>
            <a:off x="3885010"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7072" name="Google Shape;7072;p372: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73" name="Google Shape;7073;p372: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PREDICT PRODUCT/SERVICE RETENTION — Maturity Assessment</a:t>
            </a:r>
            <a:br/>
            <a:r>
              <a:t>Current State (Developing): Reactive — customer closes product, then bank reacts. No early warning. No product-level churn prediction.</a:t>
            </a:r>
            <a:br/>
            <a:r>
              <a:t>Target State (Innovating): Predictive retention with 30-day early warning, automated retention offers, salary switching detection, rate shopping alerts.</a:t>
            </a:r>
            <a:br/>
            <a:r>
              <a:t>Pakistan Context: Salary account switching can trigger loss of 3-5 products per customer. Early detection saves entire product bundles.</a:t>
            </a:r>
            <a:br/>
            <a:br/>
            <a:r>
              <a:t>FSDM: PRDCT_RTNTN, CHURN_PRDCTN, SLRY_MNTRNG</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Alternate Title Slide" showMasterSp="0">
  <p:cSld name="1_Alternate Title Slide">
    <p:spTree>
      <p:nvGrpSpPr>
        <p:cNvPr id="20" name="Shape 20"/>
        <p:cNvGrpSpPr/>
        <p:nvPr/>
      </p:nvGrpSpPr>
      <p:grpSpPr>
        <a:xfrm>
          <a:off x="0" y="0"/>
          <a:ext cx="0" cy="0"/>
          <a:chOff x="0" y="0"/>
          <a:chExt cx="0" cy="0"/>
        </a:xfrm>
      </p:grpSpPr>
      <p:pic>
        <p:nvPicPr>
          <p:cNvPr id="21" name="Google Shape;21;p2"/>
          <p:cNvPicPr preferRelativeResize="0"/>
          <p:nvPr/>
        </p:nvPicPr>
        <p:blipFill rotWithShape="1">
          <a:blip r:embed="rId2">
            <a:alphaModFix/>
          </a:blip>
          <a:srcRect b="-80" l="5141" r="6732" t="25561"/>
          <a:stretch/>
        </p:blipFill>
        <p:spPr>
          <a:xfrm>
            <a:off x="0" y="-5583"/>
            <a:ext cx="9144000" cy="5154666"/>
          </a:xfrm>
          <a:prstGeom prst="rect">
            <a:avLst/>
          </a:prstGeom>
          <a:noFill/>
          <a:ln>
            <a:noFill/>
          </a:ln>
        </p:spPr>
      </p:pic>
      <p:sp>
        <p:nvSpPr>
          <p:cNvPr id="22" name="Google Shape;22;p2"/>
          <p:cNvSpPr/>
          <p:nvPr/>
        </p:nvSpPr>
        <p:spPr>
          <a:xfrm>
            <a:off x="457200" y="-9525"/>
            <a:ext cx="2438400" cy="9144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grpSp>
        <p:nvGrpSpPr>
          <p:cNvPr id="23" name="Google Shape;23;p2"/>
          <p:cNvGrpSpPr/>
          <p:nvPr/>
        </p:nvGrpSpPr>
        <p:grpSpPr>
          <a:xfrm>
            <a:off x="994118" y="305466"/>
            <a:ext cx="1362335" cy="305001"/>
            <a:chOff x="5137" y="4139"/>
            <a:chExt cx="335" cy="75"/>
          </a:xfrm>
        </p:grpSpPr>
        <p:sp>
          <p:nvSpPr>
            <p:cNvPr id="24" name="Google Shape;24;p2"/>
            <p:cNvSpPr/>
            <p:nvPr/>
          </p:nvSpPr>
          <p:spPr>
            <a:xfrm>
              <a:off x="5137" y="4139"/>
              <a:ext cx="324" cy="75"/>
            </a:xfrm>
            <a:custGeom>
              <a:rect b="b" l="l" r="r" t="t"/>
              <a:pathLst>
                <a:path extrusionOk="0" h="863" w="3745">
                  <a:moveTo>
                    <a:pt x="660" y="0"/>
                  </a:moveTo>
                  <a:lnTo>
                    <a:pt x="660" y="0"/>
                  </a:lnTo>
                  <a:lnTo>
                    <a:pt x="22" y="0"/>
                  </a:lnTo>
                  <a:lnTo>
                    <a:pt x="0" y="73"/>
                  </a:lnTo>
                  <a:lnTo>
                    <a:pt x="292" y="73"/>
                  </a:lnTo>
                  <a:lnTo>
                    <a:pt x="292" y="804"/>
                  </a:lnTo>
                  <a:cubicBezTo>
                    <a:pt x="292" y="843"/>
                    <a:pt x="316" y="863"/>
                    <a:pt x="360" y="863"/>
                  </a:cubicBezTo>
                  <a:lnTo>
                    <a:pt x="399" y="863"/>
                  </a:lnTo>
                  <a:lnTo>
                    <a:pt x="399" y="73"/>
                  </a:lnTo>
                  <a:lnTo>
                    <a:pt x="637" y="73"/>
                  </a:lnTo>
                  <a:lnTo>
                    <a:pt x="660" y="0"/>
                  </a:lnTo>
                  <a:lnTo>
                    <a:pt x="660" y="0"/>
                  </a:lnTo>
                  <a:close/>
                  <a:moveTo>
                    <a:pt x="2673" y="181"/>
                  </a:moveTo>
                  <a:lnTo>
                    <a:pt x="2673" y="181"/>
                  </a:lnTo>
                  <a:cubicBezTo>
                    <a:pt x="2647" y="181"/>
                    <a:pt x="2626" y="190"/>
                    <a:pt x="2621" y="203"/>
                  </a:cubicBezTo>
                  <a:lnTo>
                    <a:pt x="2408" y="768"/>
                  </a:lnTo>
                  <a:lnTo>
                    <a:pt x="2448" y="768"/>
                  </a:lnTo>
                  <a:cubicBezTo>
                    <a:pt x="2491" y="768"/>
                    <a:pt x="2509" y="764"/>
                    <a:pt x="2522" y="729"/>
                  </a:cubicBezTo>
                  <a:lnTo>
                    <a:pt x="2570" y="596"/>
                  </a:lnTo>
                  <a:lnTo>
                    <a:pt x="2698" y="596"/>
                  </a:lnTo>
                  <a:lnTo>
                    <a:pt x="2679" y="533"/>
                  </a:lnTo>
                  <a:lnTo>
                    <a:pt x="2590" y="533"/>
                  </a:lnTo>
                  <a:lnTo>
                    <a:pt x="2669" y="310"/>
                  </a:lnTo>
                  <a:lnTo>
                    <a:pt x="2812" y="729"/>
                  </a:lnTo>
                  <a:cubicBezTo>
                    <a:pt x="2824" y="764"/>
                    <a:pt x="2845" y="768"/>
                    <a:pt x="2891" y="768"/>
                  </a:cubicBezTo>
                  <a:lnTo>
                    <a:pt x="2941" y="768"/>
                  </a:lnTo>
                  <a:lnTo>
                    <a:pt x="2725" y="203"/>
                  </a:lnTo>
                  <a:cubicBezTo>
                    <a:pt x="2720" y="190"/>
                    <a:pt x="2697" y="181"/>
                    <a:pt x="2673" y="181"/>
                  </a:cubicBezTo>
                  <a:close/>
                  <a:moveTo>
                    <a:pt x="3529" y="203"/>
                  </a:moveTo>
                  <a:lnTo>
                    <a:pt x="3529" y="203"/>
                  </a:lnTo>
                  <a:cubicBezTo>
                    <a:pt x="3524" y="190"/>
                    <a:pt x="3501" y="181"/>
                    <a:pt x="3477" y="181"/>
                  </a:cubicBezTo>
                  <a:cubicBezTo>
                    <a:pt x="3451" y="181"/>
                    <a:pt x="3430" y="190"/>
                    <a:pt x="3425" y="203"/>
                  </a:cubicBezTo>
                  <a:lnTo>
                    <a:pt x="3212" y="768"/>
                  </a:lnTo>
                  <a:lnTo>
                    <a:pt x="3252" y="768"/>
                  </a:lnTo>
                  <a:cubicBezTo>
                    <a:pt x="3294" y="768"/>
                    <a:pt x="3313" y="764"/>
                    <a:pt x="3326" y="729"/>
                  </a:cubicBezTo>
                  <a:lnTo>
                    <a:pt x="3374" y="596"/>
                  </a:lnTo>
                  <a:lnTo>
                    <a:pt x="3502" y="596"/>
                  </a:lnTo>
                  <a:lnTo>
                    <a:pt x="3483" y="533"/>
                  </a:lnTo>
                  <a:lnTo>
                    <a:pt x="3394" y="533"/>
                  </a:lnTo>
                  <a:lnTo>
                    <a:pt x="3473" y="310"/>
                  </a:lnTo>
                  <a:lnTo>
                    <a:pt x="3616" y="729"/>
                  </a:lnTo>
                  <a:cubicBezTo>
                    <a:pt x="3628" y="764"/>
                    <a:pt x="3649" y="768"/>
                    <a:pt x="3695" y="768"/>
                  </a:cubicBezTo>
                  <a:lnTo>
                    <a:pt x="3745" y="768"/>
                  </a:lnTo>
                  <a:lnTo>
                    <a:pt x="3529" y="203"/>
                  </a:lnTo>
                  <a:lnTo>
                    <a:pt x="3529" y="203"/>
                  </a:lnTo>
                  <a:close/>
                  <a:moveTo>
                    <a:pt x="1655" y="181"/>
                  </a:moveTo>
                  <a:lnTo>
                    <a:pt x="1655" y="181"/>
                  </a:lnTo>
                  <a:cubicBezTo>
                    <a:pt x="1630" y="181"/>
                    <a:pt x="1608" y="190"/>
                    <a:pt x="1603" y="203"/>
                  </a:cubicBezTo>
                  <a:lnTo>
                    <a:pt x="1399" y="746"/>
                  </a:lnTo>
                  <a:lnTo>
                    <a:pt x="1247" y="515"/>
                  </a:lnTo>
                  <a:cubicBezTo>
                    <a:pt x="1327" y="501"/>
                    <a:pt x="1374" y="459"/>
                    <a:pt x="1374" y="387"/>
                  </a:cubicBezTo>
                  <a:lnTo>
                    <a:pt x="1374" y="336"/>
                  </a:lnTo>
                  <a:cubicBezTo>
                    <a:pt x="1374" y="232"/>
                    <a:pt x="1277" y="189"/>
                    <a:pt x="1149" y="189"/>
                  </a:cubicBezTo>
                  <a:lnTo>
                    <a:pt x="969" y="189"/>
                  </a:lnTo>
                  <a:lnTo>
                    <a:pt x="969" y="704"/>
                  </a:lnTo>
                  <a:lnTo>
                    <a:pt x="737" y="704"/>
                  </a:lnTo>
                  <a:cubicBezTo>
                    <a:pt x="646" y="704"/>
                    <a:pt x="625" y="684"/>
                    <a:pt x="625" y="590"/>
                  </a:cubicBezTo>
                  <a:lnTo>
                    <a:pt x="625" y="488"/>
                  </a:lnTo>
                  <a:lnTo>
                    <a:pt x="797" y="488"/>
                  </a:lnTo>
                  <a:lnTo>
                    <a:pt x="816" y="424"/>
                  </a:lnTo>
                  <a:lnTo>
                    <a:pt x="625" y="424"/>
                  </a:lnTo>
                  <a:lnTo>
                    <a:pt x="625" y="253"/>
                  </a:lnTo>
                  <a:lnTo>
                    <a:pt x="878" y="253"/>
                  </a:lnTo>
                  <a:lnTo>
                    <a:pt x="897" y="189"/>
                  </a:lnTo>
                  <a:lnTo>
                    <a:pt x="520" y="189"/>
                  </a:lnTo>
                  <a:lnTo>
                    <a:pt x="520" y="590"/>
                  </a:lnTo>
                  <a:cubicBezTo>
                    <a:pt x="520" y="724"/>
                    <a:pt x="552" y="768"/>
                    <a:pt x="735" y="768"/>
                  </a:cubicBezTo>
                  <a:lnTo>
                    <a:pt x="1074" y="766"/>
                  </a:lnTo>
                  <a:lnTo>
                    <a:pt x="1074" y="253"/>
                  </a:lnTo>
                  <a:lnTo>
                    <a:pt x="1149" y="253"/>
                  </a:lnTo>
                  <a:cubicBezTo>
                    <a:pt x="1230" y="253"/>
                    <a:pt x="1271" y="282"/>
                    <a:pt x="1271" y="337"/>
                  </a:cubicBezTo>
                  <a:lnTo>
                    <a:pt x="1271" y="387"/>
                  </a:lnTo>
                  <a:cubicBezTo>
                    <a:pt x="1271" y="443"/>
                    <a:pt x="1220" y="461"/>
                    <a:pt x="1157" y="461"/>
                  </a:cubicBezTo>
                  <a:lnTo>
                    <a:pt x="1110" y="461"/>
                  </a:lnTo>
                  <a:lnTo>
                    <a:pt x="1269" y="733"/>
                  </a:lnTo>
                  <a:cubicBezTo>
                    <a:pt x="1287" y="765"/>
                    <a:pt x="1296" y="768"/>
                    <a:pt x="1338" y="768"/>
                  </a:cubicBezTo>
                  <a:lnTo>
                    <a:pt x="1430" y="768"/>
                  </a:lnTo>
                  <a:cubicBezTo>
                    <a:pt x="1473" y="768"/>
                    <a:pt x="1492" y="764"/>
                    <a:pt x="1505" y="729"/>
                  </a:cubicBezTo>
                  <a:lnTo>
                    <a:pt x="1552" y="596"/>
                  </a:lnTo>
                  <a:lnTo>
                    <a:pt x="1680" y="596"/>
                  </a:lnTo>
                  <a:lnTo>
                    <a:pt x="1661" y="533"/>
                  </a:lnTo>
                  <a:lnTo>
                    <a:pt x="1573" y="533"/>
                  </a:lnTo>
                  <a:lnTo>
                    <a:pt x="1652" y="310"/>
                  </a:lnTo>
                  <a:lnTo>
                    <a:pt x="1795" y="729"/>
                  </a:lnTo>
                  <a:cubicBezTo>
                    <a:pt x="1807" y="764"/>
                    <a:pt x="1827" y="768"/>
                    <a:pt x="1873" y="768"/>
                  </a:cubicBezTo>
                  <a:lnTo>
                    <a:pt x="1923" y="768"/>
                  </a:lnTo>
                  <a:lnTo>
                    <a:pt x="1707" y="203"/>
                  </a:lnTo>
                  <a:cubicBezTo>
                    <a:pt x="1702" y="190"/>
                    <a:pt x="1679" y="181"/>
                    <a:pt x="1655" y="181"/>
                  </a:cubicBezTo>
                  <a:close/>
                  <a:moveTo>
                    <a:pt x="2304" y="530"/>
                  </a:moveTo>
                  <a:lnTo>
                    <a:pt x="2304" y="530"/>
                  </a:lnTo>
                  <a:cubicBezTo>
                    <a:pt x="2304" y="647"/>
                    <a:pt x="2266" y="704"/>
                    <a:pt x="2162" y="704"/>
                  </a:cubicBezTo>
                  <a:lnTo>
                    <a:pt x="2068" y="704"/>
                  </a:lnTo>
                  <a:lnTo>
                    <a:pt x="2068" y="253"/>
                  </a:lnTo>
                  <a:lnTo>
                    <a:pt x="2159" y="253"/>
                  </a:lnTo>
                  <a:cubicBezTo>
                    <a:pt x="2266" y="253"/>
                    <a:pt x="2304" y="316"/>
                    <a:pt x="2304" y="433"/>
                  </a:cubicBezTo>
                  <a:lnTo>
                    <a:pt x="2304" y="530"/>
                  </a:lnTo>
                  <a:lnTo>
                    <a:pt x="2304" y="530"/>
                  </a:lnTo>
                  <a:close/>
                  <a:moveTo>
                    <a:pt x="2409" y="432"/>
                  </a:moveTo>
                  <a:lnTo>
                    <a:pt x="2409" y="432"/>
                  </a:lnTo>
                  <a:cubicBezTo>
                    <a:pt x="2409" y="270"/>
                    <a:pt x="2326" y="189"/>
                    <a:pt x="2159" y="189"/>
                  </a:cubicBezTo>
                  <a:lnTo>
                    <a:pt x="1963" y="189"/>
                  </a:lnTo>
                  <a:lnTo>
                    <a:pt x="1963" y="709"/>
                  </a:lnTo>
                  <a:cubicBezTo>
                    <a:pt x="1963" y="748"/>
                    <a:pt x="1984" y="768"/>
                    <a:pt x="2029" y="768"/>
                  </a:cubicBezTo>
                  <a:lnTo>
                    <a:pt x="2159" y="768"/>
                  </a:lnTo>
                  <a:lnTo>
                    <a:pt x="2180" y="767"/>
                  </a:lnTo>
                  <a:cubicBezTo>
                    <a:pt x="2337" y="761"/>
                    <a:pt x="2409" y="693"/>
                    <a:pt x="2409" y="530"/>
                  </a:cubicBezTo>
                  <a:lnTo>
                    <a:pt x="2409" y="432"/>
                  </a:lnTo>
                  <a:lnTo>
                    <a:pt x="2409" y="432"/>
                  </a:lnTo>
                  <a:close/>
                  <a:moveTo>
                    <a:pt x="3332" y="190"/>
                  </a:moveTo>
                  <a:lnTo>
                    <a:pt x="3332" y="190"/>
                  </a:lnTo>
                  <a:lnTo>
                    <a:pt x="2851" y="190"/>
                  </a:lnTo>
                  <a:lnTo>
                    <a:pt x="2831" y="254"/>
                  </a:lnTo>
                  <a:lnTo>
                    <a:pt x="3028" y="254"/>
                  </a:lnTo>
                  <a:lnTo>
                    <a:pt x="3028" y="710"/>
                  </a:lnTo>
                  <a:cubicBezTo>
                    <a:pt x="3028" y="749"/>
                    <a:pt x="3052" y="768"/>
                    <a:pt x="3096" y="768"/>
                  </a:cubicBezTo>
                  <a:lnTo>
                    <a:pt x="3135" y="768"/>
                  </a:lnTo>
                  <a:lnTo>
                    <a:pt x="3135" y="254"/>
                  </a:lnTo>
                  <a:lnTo>
                    <a:pt x="3313" y="254"/>
                  </a:lnTo>
                  <a:lnTo>
                    <a:pt x="3332" y="19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5" name="Google Shape;25;p2"/>
            <p:cNvSpPr/>
            <p:nvPr/>
          </p:nvSpPr>
          <p:spPr>
            <a:xfrm>
              <a:off x="5464" y="4197"/>
              <a:ext cx="8" cy="9"/>
            </a:xfrm>
            <a:custGeom>
              <a:rect b="b" l="l" r="r" t="t"/>
              <a:pathLst>
                <a:path extrusionOk="0" h="98" w="99">
                  <a:moveTo>
                    <a:pt x="59" y="30"/>
                  </a:moveTo>
                  <a:lnTo>
                    <a:pt x="59" y="30"/>
                  </a:lnTo>
                  <a:cubicBezTo>
                    <a:pt x="57" y="29"/>
                    <a:pt x="53" y="28"/>
                    <a:pt x="47" y="28"/>
                  </a:cubicBezTo>
                  <a:lnTo>
                    <a:pt x="39" y="28"/>
                  </a:lnTo>
                  <a:lnTo>
                    <a:pt x="39" y="48"/>
                  </a:lnTo>
                  <a:lnTo>
                    <a:pt x="48" y="48"/>
                  </a:lnTo>
                  <a:cubicBezTo>
                    <a:pt x="52" y="48"/>
                    <a:pt x="55" y="47"/>
                    <a:pt x="57" y="46"/>
                  </a:cubicBezTo>
                  <a:cubicBezTo>
                    <a:pt x="61" y="45"/>
                    <a:pt x="63" y="42"/>
                    <a:pt x="63" y="38"/>
                  </a:cubicBezTo>
                  <a:cubicBezTo>
                    <a:pt x="63" y="34"/>
                    <a:pt x="61" y="31"/>
                    <a:pt x="59" y="30"/>
                  </a:cubicBezTo>
                  <a:close/>
                  <a:moveTo>
                    <a:pt x="49" y="22"/>
                  </a:moveTo>
                  <a:lnTo>
                    <a:pt x="49" y="22"/>
                  </a:lnTo>
                  <a:cubicBezTo>
                    <a:pt x="55" y="22"/>
                    <a:pt x="60" y="22"/>
                    <a:pt x="63" y="23"/>
                  </a:cubicBezTo>
                  <a:cubicBezTo>
                    <a:pt x="69" y="26"/>
                    <a:pt x="72" y="30"/>
                    <a:pt x="72" y="37"/>
                  </a:cubicBezTo>
                  <a:cubicBezTo>
                    <a:pt x="72" y="42"/>
                    <a:pt x="70" y="46"/>
                    <a:pt x="66" y="48"/>
                  </a:cubicBezTo>
                  <a:cubicBezTo>
                    <a:pt x="65" y="49"/>
                    <a:pt x="62" y="50"/>
                    <a:pt x="59" y="51"/>
                  </a:cubicBezTo>
                  <a:cubicBezTo>
                    <a:pt x="63" y="51"/>
                    <a:pt x="66" y="53"/>
                    <a:pt x="68" y="56"/>
                  </a:cubicBezTo>
                  <a:cubicBezTo>
                    <a:pt x="70" y="59"/>
                    <a:pt x="71" y="62"/>
                    <a:pt x="71" y="64"/>
                  </a:cubicBezTo>
                  <a:lnTo>
                    <a:pt x="71" y="68"/>
                  </a:lnTo>
                  <a:cubicBezTo>
                    <a:pt x="71" y="69"/>
                    <a:pt x="71" y="71"/>
                    <a:pt x="71" y="72"/>
                  </a:cubicBezTo>
                  <a:cubicBezTo>
                    <a:pt x="71" y="74"/>
                    <a:pt x="71" y="75"/>
                    <a:pt x="72" y="75"/>
                  </a:cubicBezTo>
                  <a:lnTo>
                    <a:pt x="72" y="76"/>
                  </a:lnTo>
                  <a:lnTo>
                    <a:pt x="63" y="76"/>
                  </a:lnTo>
                  <a:cubicBezTo>
                    <a:pt x="63" y="76"/>
                    <a:pt x="63" y="75"/>
                    <a:pt x="63" y="75"/>
                  </a:cubicBezTo>
                  <a:cubicBezTo>
                    <a:pt x="63" y="75"/>
                    <a:pt x="63" y="75"/>
                    <a:pt x="63" y="75"/>
                  </a:cubicBezTo>
                  <a:lnTo>
                    <a:pt x="62" y="73"/>
                  </a:lnTo>
                  <a:lnTo>
                    <a:pt x="62" y="69"/>
                  </a:lnTo>
                  <a:cubicBezTo>
                    <a:pt x="62" y="62"/>
                    <a:pt x="61" y="58"/>
                    <a:pt x="57" y="56"/>
                  </a:cubicBezTo>
                  <a:cubicBezTo>
                    <a:pt x="55" y="55"/>
                    <a:pt x="52" y="54"/>
                    <a:pt x="47" y="54"/>
                  </a:cubicBezTo>
                  <a:lnTo>
                    <a:pt x="39" y="54"/>
                  </a:lnTo>
                  <a:lnTo>
                    <a:pt x="39" y="76"/>
                  </a:lnTo>
                  <a:lnTo>
                    <a:pt x="30" y="76"/>
                  </a:lnTo>
                  <a:lnTo>
                    <a:pt x="30" y="22"/>
                  </a:lnTo>
                  <a:lnTo>
                    <a:pt x="49" y="22"/>
                  </a:lnTo>
                  <a:lnTo>
                    <a:pt x="49" y="22"/>
                  </a:lnTo>
                  <a:close/>
                  <a:moveTo>
                    <a:pt x="20" y="19"/>
                  </a:moveTo>
                  <a:lnTo>
                    <a:pt x="20" y="19"/>
                  </a:lnTo>
                  <a:cubicBezTo>
                    <a:pt x="11" y="27"/>
                    <a:pt x="7" y="37"/>
                    <a:pt x="7" y="49"/>
                  </a:cubicBezTo>
                  <a:cubicBezTo>
                    <a:pt x="7" y="61"/>
                    <a:pt x="11" y="71"/>
                    <a:pt x="20" y="79"/>
                  </a:cubicBezTo>
                  <a:cubicBezTo>
                    <a:pt x="28" y="87"/>
                    <a:pt x="38" y="92"/>
                    <a:pt x="50" y="92"/>
                  </a:cubicBezTo>
                  <a:cubicBezTo>
                    <a:pt x="61" y="92"/>
                    <a:pt x="71" y="87"/>
                    <a:pt x="80" y="79"/>
                  </a:cubicBezTo>
                  <a:cubicBezTo>
                    <a:pt x="88" y="71"/>
                    <a:pt x="92" y="61"/>
                    <a:pt x="92" y="49"/>
                  </a:cubicBezTo>
                  <a:cubicBezTo>
                    <a:pt x="92" y="37"/>
                    <a:pt x="88" y="27"/>
                    <a:pt x="80" y="19"/>
                  </a:cubicBezTo>
                  <a:cubicBezTo>
                    <a:pt x="71" y="10"/>
                    <a:pt x="61" y="6"/>
                    <a:pt x="50" y="6"/>
                  </a:cubicBezTo>
                  <a:cubicBezTo>
                    <a:pt x="38" y="6"/>
                    <a:pt x="28" y="10"/>
                    <a:pt x="20" y="19"/>
                  </a:cubicBezTo>
                  <a:close/>
                  <a:moveTo>
                    <a:pt x="85" y="84"/>
                  </a:moveTo>
                  <a:lnTo>
                    <a:pt x="85" y="84"/>
                  </a:lnTo>
                  <a:cubicBezTo>
                    <a:pt x="75" y="94"/>
                    <a:pt x="63" y="98"/>
                    <a:pt x="50" y="98"/>
                  </a:cubicBezTo>
                  <a:cubicBezTo>
                    <a:pt x="36" y="98"/>
                    <a:pt x="24" y="94"/>
                    <a:pt x="15" y="84"/>
                  </a:cubicBezTo>
                  <a:cubicBezTo>
                    <a:pt x="5" y="74"/>
                    <a:pt x="0" y="63"/>
                    <a:pt x="0" y="49"/>
                  </a:cubicBezTo>
                  <a:cubicBezTo>
                    <a:pt x="0" y="35"/>
                    <a:pt x="5" y="24"/>
                    <a:pt x="15" y="14"/>
                  </a:cubicBezTo>
                  <a:cubicBezTo>
                    <a:pt x="24" y="4"/>
                    <a:pt x="36" y="0"/>
                    <a:pt x="50" y="0"/>
                  </a:cubicBezTo>
                  <a:cubicBezTo>
                    <a:pt x="63" y="0"/>
                    <a:pt x="75" y="4"/>
                    <a:pt x="85" y="14"/>
                  </a:cubicBezTo>
                  <a:cubicBezTo>
                    <a:pt x="94" y="24"/>
                    <a:pt x="99" y="35"/>
                    <a:pt x="99" y="49"/>
                  </a:cubicBezTo>
                  <a:cubicBezTo>
                    <a:pt x="99" y="63"/>
                    <a:pt x="94" y="74"/>
                    <a:pt x="85" y="84"/>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sp>
        <p:nvSpPr>
          <p:cNvPr id="26" name="Google Shape;26;p2"/>
          <p:cNvSpPr txBox="1"/>
          <p:nvPr>
            <p:ph idx="1" type="body"/>
          </p:nvPr>
        </p:nvSpPr>
        <p:spPr>
          <a:xfrm>
            <a:off x="0" y="2915344"/>
            <a:ext cx="9144000" cy="1065420"/>
          </a:xfrm>
          <a:prstGeom prst="rect">
            <a:avLst/>
          </a:prstGeom>
          <a:solidFill>
            <a:schemeClr val="accent1">
              <a:alpha val="89803"/>
            </a:schemeClr>
          </a:solidFill>
          <a:ln>
            <a:noFill/>
          </a:ln>
        </p:spPr>
        <p:txBody>
          <a:bodyPr anchorCtr="1" anchor="ctr" bIns="137150" lIns="457200" spcFirstLastPara="1" rIns="457200" wrap="square" tIns="137150">
            <a:noAutofit/>
          </a:bodyPr>
          <a:lstStyle>
            <a:lvl1pPr indent="-355600" lvl="0" marL="457200" algn="ctr">
              <a:lnSpc>
                <a:spcPct val="85000"/>
              </a:lnSpc>
              <a:spcBef>
                <a:spcPts val="200"/>
              </a:spcBef>
              <a:spcAft>
                <a:spcPts val="0"/>
              </a:spcAft>
              <a:buClr>
                <a:schemeClr val="lt1"/>
              </a:buClr>
              <a:buSzPts val="2000"/>
              <a:buFont typeface="Arial"/>
              <a:buChar char="​"/>
              <a:defRPr b="0" sz="2000">
                <a:solidFill>
                  <a:schemeClr val="lt1"/>
                </a:solidFill>
              </a:defRPr>
            </a:lvl1pPr>
            <a:lvl2pPr indent="-317500" lvl="1" marL="914400" algn="ctr">
              <a:lnSpc>
                <a:spcPct val="85000"/>
              </a:lnSpc>
              <a:spcBef>
                <a:spcPts val="200"/>
              </a:spcBef>
              <a:spcAft>
                <a:spcPts val="0"/>
              </a:spcAft>
              <a:buClr>
                <a:schemeClr val="lt1"/>
              </a:buClr>
              <a:buSzPts val="1400"/>
              <a:buFont typeface="Arial"/>
              <a:buChar char="​"/>
              <a:defRPr b="0" sz="1400">
                <a:solidFill>
                  <a:schemeClr val="lt1"/>
                </a:solidFill>
              </a:defRPr>
            </a:lvl2pPr>
            <a:lvl3pPr indent="-330200" lvl="2" marL="1371600" algn="ctr">
              <a:lnSpc>
                <a:spcPct val="85000"/>
              </a:lnSpc>
              <a:spcBef>
                <a:spcPts val="600"/>
              </a:spcBef>
              <a:spcAft>
                <a:spcPts val="0"/>
              </a:spcAft>
              <a:buClr>
                <a:schemeClr val="lt1"/>
              </a:buClr>
              <a:buSzPts val="1600"/>
              <a:buFont typeface="Arial"/>
              <a:buChar char="​"/>
              <a:defRPr b="1" sz="1600">
                <a:solidFill>
                  <a:schemeClr val="lt1"/>
                </a:solidFill>
              </a:defRPr>
            </a:lvl3pPr>
            <a:lvl4pPr indent="-317500" lvl="3" marL="1828800" algn="ctr">
              <a:lnSpc>
                <a:spcPct val="85000"/>
              </a:lnSpc>
              <a:spcBef>
                <a:spcPts val="200"/>
              </a:spcBef>
              <a:spcAft>
                <a:spcPts val="0"/>
              </a:spcAft>
              <a:buClr>
                <a:schemeClr val="lt1"/>
              </a:buClr>
              <a:buSzPts val="1400"/>
              <a:buFont typeface="Arial"/>
              <a:buChar char="​"/>
              <a:defRPr b="0" sz="1400">
                <a:solidFill>
                  <a:schemeClr val="lt1"/>
                </a:solidFill>
              </a:defRPr>
            </a:lvl4pPr>
            <a:lvl5pPr indent="-317500" lvl="4" marL="2286000" algn="ctr">
              <a:lnSpc>
                <a:spcPct val="85000"/>
              </a:lnSpc>
              <a:spcBef>
                <a:spcPts val="200"/>
              </a:spcBef>
              <a:spcAft>
                <a:spcPts val="0"/>
              </a:spcAft>
              <a:buClr>
                <a:schemeClr val="lt1"/>
              </a:buClr>
              <a:buSzPts val="1400"/>
              <a:buFont typeface="Arial"/>
              <a:buChar char="​"/>
              <a:defRPr b="0" sz="1400">
                <a:solidFill>
                  <a:schemeClr val="lt1"/>
                </a:solidFill>
              </a:defRPr>
            </a:lvl5pPr>
            <a:lvl6pPr indent="-317500" lvl="5" marL="2743200" algn="ctr">
              <a:lnSpc>
                <a:spcPct val="85000"/>
              </a:lnSpc>
              <a:spcBef>
                <a:spcPts val="200"/>
              </a:spcBef>
              <a:spcAft>
                <a:spcPts val="0"/>
              </a:spcAft>
              <a:buClr>
                <a:schemeClr val="lt1"/>
              </a:buClr>
              <a:buSzPts val="1400"/>
              <a:buFont typeface="Arial"/>
              <a:buChar char="​"/>
              <a:defRPr b="0" sz="1400">
                <a:solidFill>
                  <a:schemeClr val="lt1"/>
                </a:solidFill>
              </a:defRPr>
            </a:lvl6pPr>
            <a:lvl7pPr indent="-317500" lvl="6" marL="3200400" algn="ctr">
              <a:lnSpc>
                <a:spcPct val="85000"/>
              </a:lnSpc>
              <a:spcBef>
                <a:spcPts val="200"/>
              </a:spcBef>
              <a:spcAft>
                <a:spcPts val="0"/>
              </a:spcAft>
              <a:buClr>
                <a:schemeClr val="lt1"/>
              </a:buClr>
              <a:buSzPts val="1400"/>
              <a:buFont typeface="Arial"/>
              <a:buChar char="​"/>
              <a:defRPr b="0" sz="1400">
                <a:solidFill>
                  <a:schemeClr val="lt1"/>
                </a:solidFill>
              </a:defRPr>
            </a:lvl7pPr>
            <a:lvl8pPr indent="-317500" lvl="7" marL="3657600" algn="ctr">
              <a:lnSpc>
                <a:spcPct val="85000"/>
              </a:lnSpc>
              <a:spcBef>
                <a:spcPts val="200"/>
              </a:spcBef>
              <a:spcAft>
                <a:spcPts val="0"/>
              </a:spcAft>
              <a:buClr>
                <a:schemeClr val="lt1"/>
              </a:buClr>
              <a:buSzPts val="1400"/>
              <a:buFont typeface="Arial"/>
              <a:buChar char="​"/>
              <a:defRPr b="0" sz="1400">
                <a:solidFill>
                  <a:schemeClr val="lt1"/>
                </a:solidFill>
              </a:defRPr>
            </a:lvl8pPr>
            <a:lvl9pPr indent="-317500" lvl="8" marL="4114800" algn="ctr">
              <a:lnSpc>
                <a:spcPct val="85000"/>
              </a:lnSpc>
              <a:spcBef>
                <a:spcPts val="200"/>
              </a:spcBef>
              <a:spcAft>
                <a:spcPts val="200"/>
              </a:spcAft>
              <a:buClr>
                <a:schemeClr val="lt1"/>
              </a:buClr>
              <a:buSzPts val="1400"/>
              <a:buFont typeface="Arial"/>
              <a:buChar char="​"/>
              <a:defRPr b="0" sz="1400">
                <a:solidFill>
                  <a:schemeClr val="lt1"/>
                </a:solidFill>
              </a:defRPr>
            </a:lvl9pPr>
          </a:lstStyle>
          <a:p/>
        </p:txBody>
      </p:sp>
    </p:spTree>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27" name="Shape 27"/>
        <p:cNvGrpSpPr/>
        <p:nvPr/>
      </p:nvGrpSpPr>
      <p:grpSpPr>
        <a:xfrm>
          <a:off x="0" y="0"/>
          <a:ext cx="0" cy="0"/>
          <a:chOff x="0" y="0"/>
          <a:chExt cx="0" cy="0"/>
        </a:xfrm>
      </p:grpSpPr>
      <p:sp>
        <p:nvSpPr>
          <p:cNvPr id="28" name="Google Shape;28;p3"/>
          <p:cNvSpPr txBox="1"/>
          <p:nvPr>
            <p:ph idx="1" type="body"/>
          </p:nvPr>
        </p:nvSpPr>
        <p:spPr>
          <a:xfrm>
            <a:off x="457200" y="1115806"/>
            <a:ext cx="8229600" cy="3507581"/>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solidFill>
                  <a:schemeClr val="dk1"/>
                </a:solidFill>
              </a:defRPr>
            </a:lvl1pPr>
            <a:lvl2pPr indent="-330200" lvl="1" marL="914400" algn="l">
              <a:lnSpc>
                <a:spcPct val="85000"/>
              </a:lnSpc>
              <a:spcBef>
                <a:spcPts val="200"/>
              </a:spcBef>
              <a:spcAft>
                <a:spcPts val="0"/>
              </a:spcAft>
              <a:buClr>
                <a:schemeClr val="dk1"/>
              </a:buClr>
              <a:buSzPts val="1600"/>
              <a:buChar char="–"/>
              <a:defRPr sz="1600">
                <a:solidFill>
                  <a:schemeClr val="dk1"/>
                </a:solidFill>
              </a:defRPr>
            </a:lvl2pPr>
            <a:lvl3pPr indent="-317500" lvl="2" marL="1371600" algn="l">
              <a:lnSpc>
                <a:spcPct val="85000"/>
              </a:lnSpc>
              <a:spcBef>
                <a:spcPts val="200"/>
              </a:spcBef>
              <a:spcAft>
                <a:spcPts val="0"/>
              </a:spcAft>
              <a:buClr>
                <a:schemeClr val="dk1"/>
              </a:buClr>
              <a:buSzPts val="1400"/>
              <a:buChar char="-"/>
              <a:defRPr sz="1400">
                <a:solidFill>
                  <a:schemeClr val="dk1"/>
                </a:solidFill>
              </a:defRPr>
            </a:lvl3pPr>
            <a:lvl4pPr indent="-342900" lvl="3" marL="1828800" algn="l">
              <a:lnSpc>
                <a:spcPct val="95000"/>
              </a:lnSpc>
              <a:spcBef>
                <a:spcPts val="600"/>
              </a:spcBef>
              <a:spcAft>
                <a:spcPts val="0"/>
              </a:spcAft>
              <a:buClr>
                <a:schemeClr val="dk1"/>
              </a:buClr>
              <a:buSzPts val="1800"/>
              <a:buChar char="​"/>
              <a:defRPr sz="1800">
                <a:solidFill>
                  <a:schemeClr val="dk1"/>
                </a:solidFill>
              </a:defRPr>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29" name="Google Shape;29;p3"/>
          <p:cNvSpPr txBox="1"/>
          <p:nvPr>
            <p:ph idx="2" type="body"/>
          </p:nvPr>
        </p:nvSpPr>
        <p:spPr>
          <a:xfrm>
            <a:off x="457200" y="703405"/>
            <a:ext cx="8229600" cy="353174"/>
          </a:xfrm>
          <a:prstGeom prst="rect">
            <a:avLst/>
          </a:prstGeom>
          <a:noFill/>
          <a:ln>
            <a:noFill/>
          </a:ln>
        </p:spPr>
        <p:txBody>
          <a:bodyPr anchorCtr="0" anchor="t" bIns="0" lIns="0" spcFirstLastPara="1" rIns="0" wrap="square" tIns="0">
            <a:noAutofit/>
          </a:bodyPr>
          <a:lstStyle>
            <a:lvl1pPr indent="-228600" lvl="0" marL="457200" algn="l">
              <a:lnSpc>
                <a:spcPct val="85000"/>
              </a:lnSpc>
              <a:spcBef>
                <a:spcPts val="0"/>
              </a:spcBef>
              <a:spcAft>
                <a:spcPts val="0"/>
              </a:spcAft>
              <a:buClr>
                <a:schemeClr val="dk1"/>
              </a:buClr>
              <a:buSzPts val="1800"/>
              <a:buFont typeface="Century Gothic"/>
              <a:buNone/>
              <a:defRPr sz="1800">
                <a:solidFill>
                  <a:schemeClr val="dk1"/>
                </a:solidFill>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30" name="Google Shape;30;p3"/>
          <p:cNvSpPr txBox="1"/>
          <p:nvPr>
            <p:ph type="title"/>
          </p:nvPr>
        </p:nvSpPr>
        <p:spPr>
          <a:xfrm>
            <a:off x="457200" y="128588"/>
            <a:ext cx="8229600" cy="526298"/>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3"/>
          <p:cNvSpPr txBox="1"/>
          <p:nvPr>
            <p:ph idx="3" type="body"/>
          </p:nvPr>
        </p:nvSpPr>
        <p:spPr>
          <a:xfrm>
            <a:off x="3297994" y="4943703"/>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Tree>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Title and Content">
  <p:cSld name="17_Title and Content">
    <p:spTree>
      <p:nvGrpSpPr>
        <p:cNvPr id="32" name="Shape 32"/>
        <p:cNvGrpSpPr/>
        <p:nvPr/>
      </p:nvGrpSpPr>
      <p:grpSpPr>
        <a:xfrm>
          <a:off x="0" y="0"/>
          <a:ext cx="0" cy="0"/>
          <a:chOff x="0" y="0"/>
          <a:chExt cx="0" cy="0"/>
        </a:xfrm>
      </p:grpSpPr>
      <p:sp>
        <p:nvSpPr>
          <p:cNvPr id="33" name="Google Shape;33;p4"/>
          <p:cNvSpPr txBox="1"/>
          <p:nvPr>
            <p:ph idx="1" type="body"/>
          </p:nvPr>
        </p:nvSpPr>
        <p:spPr>
          <a:xfrm>
            <a:off x="457200" y="1216372"/>
            <a:ext cx="8229600" cy="3340559"/>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a:lvl1pPr>
            <a:lvl2pPr indent="-342900" lvl="1" marL="914400" algn="l">
              <a:lnSpc>
                <a:spcPct val="85000"/>
              </a:lnSpc>
              <a:spcBef>
                <a:spcPts val="200"/>
              </a:spcBef>
              <a:spcAft>
                <a:spcPts val="0"/>
              </a:spcAft>
              <a:buClr>
                <a:schemeClr val="dk1"/>
              </a:buClr>
              <a:buSzPts val="1800"/>
              <a:buChar char="–"/>
              <a:defRPr/>
            </a:lvl2pPr>
            <a:lvl3pPr indent="-342900" lvl="2" marL="1371600" algn="l">
              <a:lnSpc>
                <a:spcPct val="85000"/>
              </a:lnSpc>
              <a:spcBef>
                <a:spcPts val="200"/>
              </a:spcBef>
              <a:spcAft>
                <a:spcPts val="0"/>
              </a:spcAft>
              <a:buClr>
                <a:schemeClr val="dk1"/>
              </a:buClr>
              <a:buSzPts val="1800"/>
              <a:buChar char="-"/>
              <a:defRPr/>
            </a:lvl3pPr>
            <a:lvl4pPr indent="-342900" lvl="3" marL="1828800" algn="l">
              <a:lnSpc>
                <a:spcPct val="95000"/>
              </a:lnSpc>
              <a:spcBef>
                <a:spcPts val="600"/>
              </a:spcBef>
              <a:spcAft>
                <a:spcPts val="0"/>
              </a:spcAft>
              <a:buClr>
                <a:schemeClr val="dk1"/>
              </a:buClr>
              <a:buSzPts val="1800"/>
              <a:buChar char="​"/>
              <a:defRPr/>
            </a:lvl4pPr>
            <a:lvl5pPr indent="-342900" lvl="4" marL="2286000" algn="l">
              <a:lnSpc>
                <a:spcPct val="95000"/>
              </a:lnSpc>
              <a:spcBef>
                <a:spcPts val="600"/>
              </a:spcBef>
              <a:spcAft>
                <a:spcPts val="0"/>
              </a:spcAft>
              <a:buClr>
                <a:schemeClr val="accent1"/>
              </a:buClr>
              <a:buSzPts val="1800"/>
              <a:buChar char="​"/>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34" name="Google Shape;34;p4"/>
          <p:cNvSpPr txBox="1"/>
          <p:nvPr>
            <p:ph type="title"/>
          </p:nvPr>
        </p:nvSpPr>
        <p:spPr>
          <a:xfrm>
            <a:off x="457200" y="164592"/>
            <a:ext cx="8229600" cy="704088"/>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Subtitle Only">
  <p:cSld name="1_Title and Subtitle Only">
    <p:spTree>
      <p:nvGrpSpPr>
        <p:cNvPr id="35" name="Shape 35"/>
        <p:cNvGrpSpPr/>
        <p:nvPr/>
      </p:nvGrpSpPr>
      <p:grpSpPr>
        <a:xfrm>
          <a:off x="0" y="0"/>
          <a:ext cx="0" cy="0"/>
          <a:chOff x="0" y="0"/>
          <a:chExt cx="0" cy="0"/>
        </a:xfrm>
      </p:grpSpPr>
      <p:sp>
        <p:nvSpPr>
          <p:cNvPr id="36" name="Google Shape;36;p5"/>
          <p:cNvSpPr txBox="1"/>
          <p:nvPr>
            <p:ph idx="1" type="body"/>
          </p:nvPr>
        </p:nvSpPr>
        <p:spPr>
          <a:xfrm>
            <a:off x="3297994" y="4943703"/>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37" name="Google Shape;37;p5"/>
          <p:cNvSpPr txBox="1"/>
          <p:nvPr>
            <p:ph idx="2" type="body"/>
          </p:nvPr>
        </p:nvSpPr>
        <p:spPr>
          <a:xfrm>
            <a:off x="457200" y="703405"/>
            <a:ext cx="8229600" cy="353174"/>
          </a:xfrm>
          <a:prstGeom prst="rect">
            <a:avLst/>
          </a:prstGeom>
          <a:noFill/>
          <a:ln>
            <a:noFill/>
          </a:ln>
        </p:spPr>
        <p:txBody>
          <a:bodyPr anchorCtr="0" anchor="t" bIns="0" lIns="0" spcFirstLastPara="1" rIns="0" wrap="square" tIns="0">
            <a:noAutofit/>
          </a:bodyPr>
          <a:lstStyle>
            <a:lvl1pPr indent="-228600" lvl="0" marL="457200" algn="l">
              <a:lnSpc>
                <a:spcPct val="85000"/>
              </a:lnSpc>
              <a:spcBef>
                <a:spcPts val="0"/>
              </a:spcBef>
              <a:spcAft>
                <a:spcPts val="0"/>
              </a:spcAft>
              <a:buClr>
                <a:schemeClr val="dk1"/>
              </a:buClr>
              <a:buSzPts val="1800"/>
              <a:buFont typeface="Century Gothic"/>
              <a:buNone/>
              <a:defRPr sz="1800">
                <a:solidFill>
                  <a:schemeClr val="dk1"/>
                </a:solidFill>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38" name="Google Shape;38;p5"/>
          <p:cNvSpPr txBox="1"/>
          <p:nvPr>
            <p:ph type="title"/>
          </p:nvPr>
        </p:nvSpPr>
        <p:spPr>
          <a:xfrm>
            <a:off x="457200" y="128590"/>
            <a:ext cx="8229600" cy="526298"/>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Title and Content">
  <p:cSld name="15_Title and Content">
    <p:spTree>
      <p:nvGrpSpPr>
        <p:cNvPr id="39" name="Shape 39"/>
        <p:cNvGrpSpPr/>
        <p:nvPr/>
      </p:nvGrpSpPr>
      <p:grpSpPr>
        <a:xfrm>
          <a:off x="0" y="0"/>
          <a:ext cx="0" cy="0"/>
          <a:chOff x="0" y="0"/>
          <a:chExt cx="0" cy="0"/>
        </a:xfrm>
      </p:grpSpPr>
      <p:sp>
        <p:nvSpPr>
          <p:cNvPr id="40" name="Google Shape;40;p6"/>
          <p:cNvSpPr txBox="1"/>
          <p:nvPr>
            <p:ph type="title"/>
          </p:nvPr>
        </p:nvSpPr>
        <p:spPr>
          <a:xfrm>
            <a:off x="457200" y="173736"/>
            <a:ext cx="8229600" cy="698572"/>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6"/>
          <p:cNvSpPr txBox="1"/>
          <p:nvPr>
            <p:ph idx="1" type="body"/>
          </p:nvPr>
        </p:nvSpPr>
        <p:spPr>
          <a:xfrm>
            <a:off x="457200" y="1216152"/>
            <a:ext cx="8229600" cy="3344033"/>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solidFill>
                  <a:schemeClr val="dk1"/>
                </a:solidFill>
              </a:defRPr>
            </a:lvl1pPr>
            <a:lvl2pPr indent="-330200" lvl="1" marL="914400" algn="l">
              <a:lnSpc>
                <a:spcPct val="85000"/>
              </a:lnSpc>
              <a:spcBef>
                <a:spcPts val="200"/>
              </a:spcBef>
              <a:spcAft>
                <a:spcPts val="0"/>
              </a:spcAft>
              <a:buClr>
                <a:schemeClr val="dk1"/>
              </a:buClr>
              <a:buSzPts val="1600"/>
              <a:buChar char="–"/>
              <a:defRPr sz="1600">
                <a:solidFill>
                  <a:schemeClr val="dk1"/>
                </a:solidFill>
              </a:defRPr>
            </a:lvl2pPr>
            <a:lvl3pPr indent="-317500" lvl="2" marL="1371600" algn="l">
              <a:lnSpc>
                <a:spcPct val="85000"/>
              </a:lnSpc>
              <a:spcBef>
                <a:spcPts val="200"/>
              </a:spcBef>
              <a:spcAft>
                <a:spcPts val="0"/>
              </a:spcAft>
              <a:buClr>
                <a:schemeClr val="dk1"/>
              </a:buClr>
              <a:buSzPts val="1400"/>
              <a:buChar char="-"/>
              <a:defRPr sz="1400">
                <a:solidFill>
                  <a:schemeClr val="dk1"/>
                </a:solidFill>
              </a:defRPr>
            </a:lvl3pPr>
            <a:lvl4pPr indent="-342900" lvl="3" marL="1828800" algn="l">
              <a:lnSpc>
                <a:spcPct val="95000"/>
              </a:lnSpc>
              <a:spcBef>
                <a:spcPts val="600"/>
              </a:spcBef>
              <a:spcAft>
                <a:spcPts val="0"/>
              </a:spcAft>
              <a:buClr>
                <a:schemeClr val="dk1"/>
              </a:buClr>
              <a:buSzPts val="1800"/>
              <a:buChar char="​"/>
              <a:defRPr sz="1800">
                <a:solidFill>
                  <a:schemeClr val="dk1"/>
                </a:solidFill>
              </a:defRPr>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42" name="Google Shape;42;p6"/>
          <p:cNvSpPr txBox="1"/>
          <p:nvPr>
            <p:ph idx="2" type="body"/>
          </p:nvPr>
        </p:nvSpPr>
        <p:spPr>
          <a:xfrm>
            <a:off x="3297994" y="4855464"/>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Tree>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Title and Content">
  <p:cSld name="16_Title and Content">
    <p:spTree>
      <p:nvGrpSpPr>
        <p:cNvPr id="43" name="Shape 43"/>
        <p:cNvGrpSpPr/>
        <p:nvPr/>
      </p:nvGrpSpPr>
      <p:grpSpPr>
        <a:xfrm>
          <a:off x="0" y="0"/>
          <a:ext cx="0" cy="0"/>
          <a:chOff x="0" y="0"/>
          <a:chExt cx="0" cy="0"/>
        </a:xfrm>
      </p:grpSpPr>
      <p:sp>
        <p:nvSpPr>
          <p:cNvPr id="44" name="Google Shape;44;p7"/>
          <p:cNvSpPr txBox="1"/>
          <p:nvPr>
            <p:ph type="title"/>
          </p:nvPr>
        </p:nvSpPr>
        <p:spPr>
          <a:xfrm>
            <a:off x="457200" y="173736"/>
            <a:ext cx="8229600" cy="698572"/>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7"/>
          <p:cNvSpPr txBox="1"/>
          <p:nvPr>
            <p:ph idx="1" type="body"/>
          </p:nvPr>
        </p:nvSpPr>
        <p:spPr>
          <a:xfrm>
            <a:off x="457200" y="1216152"/>
            <a:ext cx="8229600" cy="3344033"/>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solidFill>
                  <a:schemeClr val="dk1"/>
                </a:solidFill>
              </a:defRPr>
            </a:lvl1pPr>
            <a:lvl2pPr indent="-330200" lvl="1" marL="914400" algn="l">
              <a:lnSpc>
                <a:spcPct val="85000"/>
              </a:lnSpc>
              <a:spcBef>
                <a:spcPts val="200"/>
              </a:spcBef>
              <a:spcAft>
                <a:spcPts val="0"/>
              </a:spcAft>
              <a:buClr>
                <a:schemeClr val="dk1"/>
              </a:buClr>
              <a:buSzPts val="1600"/>
              <a:buChar char="–"/>
              <a:defRPr sz="1600">
                <a:solidFill>
                  <a:schemeClr val="dk1"/>
                </a:solidFill>
              </a:defRPr>
            </a:lvl2pPr>
            <a:lvl3pPr indent="-317500" lvl="2" marL="1371600" algn="l">
              <a:lnSpc>
                <a:spcPct val="85000"/>
              </a:lnSpc>
              <a:spcBef>
                <a:spcPts val="200"/>
              </a:spcBef>
              <a:spcAft>
                <a:spcPts val="0"/>
              </a:spcAft>
              <a:buClr>
                <a:schemeClr val="dk1"/>
              </a:buClr>
              <a:buSzPts val="1400"/>
              <a:buChar char="-"/>
              <a:defRPr sz="1400">
                <a:solidFill>
                  <a:schemeClr val="dk1"/>
                </a:solidFill>
              </a:defRPr>
            </a:lvl3pPr>
            <a:lvl4pPr indent="-342900" lvl="3" marL="1828800" algn="l">
              <a:lnSpc>
                <a:spcPct val="95000"/>
              </a:lnSpc>
              <a:spcBef>
                <a:spcPts val="600"/>
              </a:spcBef>
              <a:spcAft>
                <a:spcPts val="0"/>
              </a:spcAft>
              <a:buClr>
                <a:schemeClr val="dk1"/>
              </a:buClr>
              <a:buSzPts val="1800"/>
              <a:buChar char="​"/>
              <a:defRPr sz="1800">
                <a:solidFill>
                  <a:schemeClr val="dk1"/>
                </a:solidFill>
              </a:defRPr>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46" name="Google Shape;46;p7"/>
          <p:cNvSpPr txBox="1"/>
          <p:nvPr>
            <p:ph idx="2" type="body"/>
          </p:nvPr>
        </p:nvSpPr>
        <p:spPr>
          <a:xfrm>
            <a:off x="3297994" y="4855464"/>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Tree>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47" name="Shape 47"/>
        <p:cNvGrpSpPr/>
        <p:nvPr/>
      </p:nvGrpSpPr>
      <p:grpSpPr>
        <a:xfrm>
          <a:off x="0" y="0"/>
          <a:ext cx="0" cy="0"/>
          <a:chOff x="0" y="0"/>
          <a:chExt cx="0" cy="0"/>
        </a:xfrm>
      </p:grpSpPr>
      <p:sp>
        <p:nvSpPr>
          <p:cNvPr id="48" name="Google Shape;48;p8"/>
          <p:cNvSpPr txBox="1"/>
          <p:nvPr>
            <p:ph type="title"/>
          </p:nvPr>
        </p:nvSpPr>
        <p:spPr>
          <a:xfrm>
            <a:off x="457200" y="173736"/>
            <a:ext cx="8229600" cy="413639"/>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8"/>
          <p:cNvSpPr txBox="1"/>
          <p:nvPr>
            <p:ph idx="1" type="body"/>
          </p:nvPr>
        </p:nvSpPr>
        <p:spPr>
          <a:xfrm>
            <a:off x="457200" y="865188"/>
            <a:ext cx="8229600" cy="3694997"/>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solidFill>
                  <a:schemeClr val="dk1"/>
                </a:solidFill>
              </a:defRPr>
            </a:lvl1pPr>
            <a:lvl2pPr indent="-330200" lvl="1" marL="914400" algn="l">
              <a:lnSpc>
                <a:spcPct val="85000"/>
              </a:lnSpc>
              <a:spcBef>
                <a:spcPts val="200"/>
              </a:spcBef>
              <a:spcAft>
                <a:spcPts val="0"/>
              </a:spcAft>
              <a:buClr>
                <a:schemeClr val="dk1"/>
              </a:buClr>
              <a:buSzPts val="1600"/>
              <a:buChar char="–"/>
              <a:defRPr sz="1600">
                <a:solidFill>
                  <a:schemeClr val="dk1"/>
                </a:solidFill>
              </a:defRPr>
            </a:lvl2pPr>
            <a:lvl3pPr indent="-317500" lvl="2" marL="1371600" algn="l">
              <a:lnSpc>
                <a:spcPct val="85000"/>
              </a:lnSpc>
              <a:spcBef>
                <a:spcPts val="200"/>
              </a:spcBef>
              <a:spcAft>
                <a:spcPts val="0"/>
              </a:spcAft>
              <a:buClr>
                <a:schemeClr val="dk1"/>
              </a:buClr>
              <a:buSzPts val="1400"/>
              <a:buChar char="-"/>
              <a:defRPr sz="1400">
                <a:solidFill>
                  <a:schemeClr val="dk1"/>
                </a:solidFill>
              </a:defRPr>
            </a:lvl3pPr>
            <a:lvl4pPr indent="-342900" lvl="3" marL="1828800" algn="l">
              <a:lnSpc>
                <a:spcPct val="95000"/>
              </a:lnSpc>
              <a:spcBef>
                <a:spcPts val="600"/>
              </a:spcBef>
              <a:spcAft>
                <a:spcPts val="0"/>
              </a:spcAft>
              <a:buClr>
                <a:schemeClr val="dk1"/>
              </a:buClr>
              <a:buSzPts val="1800"/>
              <a:buChar char="​"/>
              <a:defRPr sz="1800">
                <a:solidFill>
                  <a:schemeClr val="dk1"/>
                </a:solidFill>
              </a:defRPr>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50" name="Google Shape;50;p8"/>
          <p:cNvSpPr txBox="1"/>
          <p:nvPr>
            <p:ph idx="2" type="body"/>
          </p:nvPr>
        </p:nvSpPr>
        <p:spPr>
          <a:xfrm>
            <a:off x="3297994" y="4923703"/>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Tree>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_Title and Content">
  <p:cSld name="21_Title and Content">
    <p:spTree>
      <p:nvGrpSpPr>
        <p:cNvPr id="51" name="Shape 51"/>
        <p:cNvGrpSpPr/>
        <p:nvPr/>
      </p:nvGrpSpPr>
      <p:grpSpPr>
        <a:xfrm>
          <a:off x="0" y="0"/>
          <a:ext cx="0" cy="0"/>
          <a:chOff x="0" y="0"/>
          <a:chExt cx="0" cy="0"/>
        </a:xfrm>
      </p:grpSpPr>
      <p:sp>
        <p:nvSpPr>
          <p:cNvPr id="52" name="Google Shape;52;p9"/>
          <p:cNvSpPr txBox="1"/>
          <p:nvPr>
            <p:ph type="title"/>
          </p:nvPr>
        </p:nvSpPr>
        <p:spPr>
          <a:xfrm>
            <a:off x="457200" y="173736"/>
            <a:ext cx="8229600" cy="698572"/>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9"/>
          <p:cNvSpPr txBox="1"/>
          <p:nvPr>
            <p:ph idx="1" type="body"/>
          </p:nvPr>
        </p:nvSpPr>
        <p:spPr>
          <a:xfrm>
            <a:off x="457200" y="1216152"/>
            <a:ext cx="8229600" cy="3344033"/>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solidFill>
                  <a:schemeClr val="dk1"/>
                </a:solidFill>
              </a:defRPr>
            </a:lvl1pPr>
            <a:lvl2pPr indent="-330200" lvl="1" marL="914400" algn="l">
              <a:lnSpc>
                <a:spcPct val="85000"/>
              </a:lnSpc>
              <a:spcBef>
                <a:spcPts val="200"/>
              </a:spcBef>
              <a:spcAft>
                <a:spcPts val="0"/>
              </a:spcAft>
              <a:buClr>
                <a:schemeClr val="dk1"/>
              </a:buClr>
              <a:buSzPts val="1600"/>
              <a:buChar char="–"/>
              <a:defRPr sz="1600">
                <a:solidFill>
                  <a:schemeClr val="dk1"/>
                </a:solidFill>
              </a:defRPr>
            </a:lvl2pPr>
            <a:lvl3pPr indent="-317500" lvl="2" marL="1371600" algn="l">
              <a:lnSpc>
                <a:spcPct val="85000"/>
              </a:lnSpc>
              <a:spcBef>
                <a:spcPts val="200"/>
              </a:spcBef>
              <a:spcAft>
                <a:spcPts val="0"/>
              </a:spcAft>
              <a:buClr>
                <a:schemeClr val="dk1"/>
              </a:buClr>
              <a:buSzPts val="1400"/>
              <a:buChar char="-"/>
              <a:defRPr sz="1400">
                <a:solidFill>
                  <a:schemeClr val="dk1"/>
                </a:solidFill>
              </a:defRPr>
            </a:lvl3pPr>
            <a:lvl4pPr indent="-342900" lvl="3" marL="1828800" algn="l">
              <a:lnSpc>
                <a:spcPct val="95000"/>
              </a:lnSpc>
              <a:spcBef>
                <a:spcPts val="600"/>
              </a:spcBef>
              <a:spcAft>
                <a:spcPts val="0"/>
              </a:spcAft>
              <a:buClr>
                <a:schemeClr val="dk1"/>
              </a:buClr>
              <a:buSzPts val="1800"/>
              <a:buChar char="​"/>
              <a:defRPr sz="1800">
                <a:solidFill>
                  <a:schemeClr val="dk1"/>
                </a:solidFill>
              </a:defRPr>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54" name="Google Shape;54;p9"/>
          <p:cNvSpPr txBox="1"/>
          <p:nvPr>
            <p:ph idx="2" type="body"/>
          </p:nvPr>
        </p:nvSpPr>
        <p:spPr>
          <a:xfrm>
            <a:off x="3297994" y="4855464"/>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Tree>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gue" showMasterSp="0">
  <p:cSld name="Segue">
    <p:bg>
      <p:bgPr>
        <a:solidFill>
          <a:schemeClr val="accent1"/>
        </a:solidFill>
      </p:bgPr>
    </p:bg>
    <p:spTree>
      <p:nvGrpSpPr>
        <p:cNvPr id="55" name="Shape 55"/>
        <p:cNvGrpSpPr/>
        <p:nvPr/>
      </p:nvGrpSpPr>
      <p:grpSpPr>
        <a:xfrm>
          <a:off x="0" y="0"/>
          <a:ext cx="0" cy="0"/>
          <a:chOff x="0" y="0"/>
          <a:chExt cx="0" cy="0"/>
        </a:xfrm>
      </p:grpSpPr>
      <p:sp>
        <p:nvSpPr>
          <p:cNvPr id="56" name="Google Shape;56;p10"/>
          <p:cNvSpPr txBox="1"/>
          <p:nvPr>
            <p:ph idx="1" type="body"/>
          </p:nvPr>
        </p:nvSpPr>
        <p:spPr>
          <a:xfrm>
            <a:off x="0" y="2342217"/>
            <a:ext cx="9144000" cy="459100"/>
          </a:xfrm>
          <a:prstGeom prst="rect">
            <a:avLst/>
          </a:prstGeom>
          <a:solidFill>
            <a:schemeClr val="lt1"/>
          </a:solidFill>
          <a:ln>
            <a:noFill/>
          </a:ln>
        </p:spPr>
        <p:txBody>
          <a:bodyPr anchorCtr="1" anchor="ctr" bIns="45700" lIns="457200" spcFirstLastPara="1" rIns="457200" wrap="square" tIns="45700">
            <a:noAutofit/>
          </a:bodyPr>
          <a:lstStyle>
            <a:lvl1pPr indent="-228600" lvl="0" marL="457200" algn="ctr">
              <a:lnSpc>
                <a:spcPct val="110000"/>
              </a:lnSpc>
              <a:spcBef>
                <a:spcPts val="200"/>
              </a:spcBef>
              <a:spcAft>
                <a:spcPts val="0"/>
              </a:spcAft>
              <a:buClr>
                <a:schemeClr val="accent1"/>
              </a:buClr>
              <a:buSzPts val="2200"/>
              <a:buFont typeface="Century Gothic"/>
              <a:buNone/>
              <a:defRPr sz="2200">
                <a:solidFill>
                  <a:schemeClr val="accent1"/>
                </a:solidFill>
              </a:defRPr>
            </a:lvl1pPr>
            <a:lvl2pPr indent="-342900" lvl="1" marL="914400" algn="ctr">
              <a:lnSpc>
                <a:spcPct val="100000"/>
              </a:lnSpc>
              <a:spcBef>
                <a:spcPts val="200"/>
              </a:spcBef>
              <a:spcAft>
                <a:spcPts val="0"/>
              </a:spcAft>
              <a:buClr>
                <a:schemeClr val="accent1"/>
              </a:buClr>
              <a:buSzPts val="1800"/>
              <a:buFont typeface="Arial"/>
              <a:buChar char="​"/>
              <a:defRPr sz="1800">
                <a:solidFill>
                  <a:schemeClr val="accent1"/>
                </a:solidFill>
              </a:defRPr>
            </a:lvl2pPr>
            <a:lvl3pPr indent="-317500" lvl="2" marL="1371600" algn="ctr">
              <a:lnSpc>
                <a:spcPct val="85000"/>
              </a:lnSpc>
              <a:spcBef>
                <a:spcPts val="600"/>
              </a:spcBef>
              <a:spcAft>
                <a:spcPts val="0"/>
              </a:spcAft>
              <a:buClr>
                <a:schemeClr val="accent1"/>
              </a:buClr>
              <a:buSzPts val="1400"/>
              <a:buFont typeface="Arial"/>
              <a:buChar char="​"/>
              <a:defRPr b="1" sz="1400">
                <a:solidFill>
                  <a:schemeClr val="accent1"/>
                </a:solidFill>
              </a:defRPr>
            </a:lvl3pPr>
            <a:lvl4pPr indent="-317500" lvl="3" marL="1828800" algn="ctr">
              <a:lnSpc>
                <a:spcPct val="85000"/>
              </a:lnSpc>
              <a:spcBef>
                <a:spcPts val="200"/>
              </a:spcBef>
              <a:spcAft>
                <a:spcPts val="0"/>
              </a:spcAft>
              <a:buClr>
                <a:schemeClr val="accent1"/>
              </a:buClr>
              <a:buSzPts val="1400"/>
              <a:buFont typeface="Arial"/>
              <a:buChar char="​"/>
              <a:defRPr b="0" sz="1400">
                <a:solidFill>
                  <a:schemeClr val="accent1"/>
                </a:solidFill>
              </a:defRPr>
            </a:lvl4pPr>
            <a:lvl5pPr indent="-317500" lvl="4" marL="2286000" algn="ctr">
              <a:lnSpc>
                <a:spcPct val="85000"/>
              </a:lnSpc>
              <a:spcBef>
                <a:spcPts val="200"/>
              </a:spcBef>
              <a:spcAft>
                <a:spcPts val="0"/>
              </a:spcAft>
              <a:buClr>
                <a:schemeClr val="accent1"/>
              </a:buClr>
              <a:buSzPts val="1400"/>
              <a:buFont typeface="Arial"/>
              <a:buChar char="​"/>
              <a:defRPr b="0" sz="1400">
                <a:solidFill>
                  <a:schemeClr val="accent1"/>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57" name="Google Shape;57;p10"/>
          <p:cNvSpPr txBox="1"/>
          <p:nvPr/>
        </p:nvSpPr>
        <p:spPr>
          <a:xfrm>
            <a:off x="153254" y="4837176"/>
            <a:ext cx="133221" cy="130805"/>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lang="en-GB" sz="850">
                <a:solidFill>
                  <a:srgbClr val="D8D8D8"/>
                </a:solidFill>
                <a:latin typeface="Century Gothic"/>
                <a:ea typeface="Century Gothic"/>
                <a:cs typeface="Century Gothic"/>
                <a:sym typeface="Century Gothic"/>
              </a:rPr>
              <a:t>‹#›</a:t>
            </a:fld>
            <a:endParaRPr sz="850">
              <a:solidFill>
                <a:srgbClr val="D8D8D8"/>
              </a:solidFill>
              <a:latin typeface="Century Gothic"/>
              <a:ea typeface="Century Gothic"/>
              <a:cs typeface="Century Gothic"/>
              <a:sym typeface="Century Gothic"/>
            </a:endParaRPr>
          </a:p>
        </p:txBody>
      </p:sp>
      <p:sp>
        <p:nvSpPr>
          <p:cNvPr id="58" name="Google Shape;58;p10"/>
          <p:cNvSpPr txBox="1"/>
          <p:nvPr>
            <p:ph idx="2" type="body"/>
          </p:nvPr>
        </p:nvSpPr>
        <p:spPr>
          <a:xfrm>
            <a:off x="3242535" y="4855464"/>
            <a:ext cx="2658930"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chemeClr val="lt1"/>
              </a:buClr>
              <a:buSzPts val="700"/>
              <a:buFont typeface="Century Gothic"/>
              <a:buNone/>
              <a:defRPr b="1" sz="700">
                <a:solidFill>
                  <a:schemeClr val="lt1"/>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Tree>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Subtitle Only">
  <p:cSld name="2_Title and Subtitle Only">
    <p:spTree>
      <p:nvGrpSpPr>
        <p:cNvPr id="59" name="Shape 59"/>
        <p:cNvGrpSpPr/>
        <p:nvPr/>
      </p:nvGrpSpPr>
      <p:grpSpPr>
        <a:xfrm>
          <a:off x="0" y="0"/>
          <a:ext cx="0" cy="0"/>
          <a:chOff x="0" y="0"/>
          <a:chExt cx="0" cy="0"/>
        </a:xfrm>
      </p:grpSpPr>
      <p:sp>
        <p:nvSpPr>
          <p:cNvPr id="60" name="Google Shape;60;p11"/>
          <p:cNvSpPr txBox="1"/>
          <p:nvPr>
            <p:ph type="title"/>
          </p:nvPr>
        </p:nvSpPr>
        <p:spPr>
          <a:xfrm>
            <a:off x="457200" y="173736"/>
            <a:ext cx="8229600" cy="704088"/>
          </a:xfrm>
          <a:prstGeom prst="rect">
            <a:avLst/>
          </a:prstGeom>
          <a:noFill/>
          <a:ln>
            <a:noFill/>
          </a:ln>
        </p:spPr>
        <p:txBody>
          <a:bodyPr anchorCtr="0" anchor="t"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le and Subtitle Only">
  <p:cSld name="4_Title and Subtitle Only">
    <p:spTree>
      <p:nvGrpSpPr>
        <p:cNvPr id="61" name="Shape 61"/>
        <p:cNvGrpSpPr/>
        <p:nvPr/>
      </p:nvGrpSpPr>
      <p:grpSpPr>
        <a:xfrm>
          <a:off x="0" y="0"/>
          <a:ext cx="0" cy="0"/>
          <a:chOff x="0" y="0"/>
          <a:chExt cx="0" cy="0"/>
        </a:xfrm>
      </p:grpSpPr>
      <p:sp>
        <p:nvSpPr>
          <p:cNvPr id="62" name="Google Shape;62;p12"/>
          <p:cNvSpPr txBox="1"/>
          <p:nvPr>
            <p:ph type="title"/>
          </p:nvPr>
        </p:nvSpPr>
        <p:spPr>
          <a:xfrm>
            <a:off x="457200" y="173736"/>
            <a:ext cx="8229600" cy="704088"/>
          </a:xfrm>
          <a:prstGeom prst="rect">
            <a:avLst/>
          </a:prstGeom>
          <a:noFill/>
          <a:ln>
            <a:noFill/>
          </a:ln>
        </p:spPr>
        <p:txBody>
          <a:bodyPr anchorCtr="0" anchor="t"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spd="med">
    <p:fade/>
  </p:transition>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Image">
  <p:cSld name="Content Image">
    <p:spTree>
      <p:nvGrpSpPr>
        <p:cNvPr id="63" name="Shape 63"/>
        <p:cNvGrpSpPr/>
        <p:nvPr/>
      </p:nvGrpSpPr>
      <p:grpSpPr>
        <a:xfrm>
          <a:off x="0" y="0"/>
          <a:ext cx="0" cy="0"/>
          <a:chOff x="0" y="0"/>
          <a:chExt cx="0" cy="0"/>
        </a:xfrm>
      </p:grpSpPr>
      <p:sp>
        <p:nvSpPr>
          <p:cNvPr id="64" name="Google Shape;64;p13"/>
          <p:cNvSpPr/>
          <p:nvPr>
            <p:ph idx="2" type="pic"/>
          </p:nvPr>
        </p:nvSpPr>
        <p:spPr>
          <a:xfrm>
            <a:off x="4800600" y="1216152"/>
            <a:ext cx="3886200" cy="3069714"/>
          </a:xfrm>
          <a:prstGeom prst="rect">
            <a:avLst/>
          </a:prstGeom>
          <a:noFill/>
          <a:ln>
            <a:noFill/>
          </a:ln>
        </p:spPr>
        <p:txBody>
          <a:bodyPr anchorCtr="0" anchor="t" bIns="0" lIns="0" spcFirstLastPara="1" rIns="0" wrap="square" tIns="0">
            <a:noAutofit/>
          </a:bodyPr>
          <a:lstStyle>
            <a:lvl1pPr lvl="0"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1pPr>
            <a:lvl2pPr lvl="1" marR="0" rtl="0" algn="l">
              <a:lnSpc>
                <a:spcPct val="85000"/>
              </a:lnSpc>
              <a:spcBef>
                <a:spcPts val="200"/>
              </a:spcBef>
              <a:spcAft>
                <a:spcPts val="0"/>
              </a:spcAft>
              <a:buClr>
                <a:schemeClr val="dk1"/>
              </a:buClr>
              <a:buSzPts val="1600"/>
              <a:buFont typeface="Arial"/>
              <a:buChar char="–"/>
              <a:defRPr b="0" i="0" sz="1600" u="none" cap="none" strike="noStrike">
                <a:solidFill>
                  <a:schemeClr val="dk1"/>
                </a:solidFill>
                <a:latin typeface="Century Gothic"/>
                <a:ea typeface="Century Gothic"/>
                <a:cs typeface="Century Gothic"/>
                <a:sym typeface="Century Gothic"/>
              </a:defRPr>
            </a:lvl2pPr>
            <a:lvl3pPr lvl="2" marR="0" rtl="0" algn="l">
              <a:lnSpc>
                <a:spcPct val="85000"/>
              </a:lnSpc>
              <a:spcBef>
                <a:spcPts val="200"/>
              </a:spcBef>
              <a:spcAft>
                <a:spcPts val="0"/>
              </a:spcAft>
              <a:buClr>
                <a:schemeClr val="dk1"/>
              </a:buClr>
              <a:buSzPts val="1400"/>
              <a:buFont typeface="Arial"/>
              <a:buChar char="-"/>
              <a:defRPr b="0" i="0" sz="1400" u="none" cap="none" strike="noStrike">
                <a:solidFill>
                  <a:schemeClr val="dk1"/>
                </a:solidFill>
                <a:latin typeface="Century Gothic"/>
                <a:ea typeface="Century Gothic"/>
                <a:cs typeface="Century Gothic"/>
                <a:sym typeface="Century Gothic"/>
              </a:defRPr>
            </a:lvl3pPr>
            <a:lvl4pPr lvl="3"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4pPr>
            <a:lvl5pPr lvl="4" marR="0" rtl="0" algn="l">
              <a:lnSpc>
                <a:spcPct val="95000"/>
              </a:lnSpc>
              <a:spcBef>
                <a:spcPts val="600"/>
              </a:spcBef>
              <a:spcAft>
                <a:spcPts val="0"/>
              </a:spcAft>
              <a:buClr>
                <a:schemeClr val="accent1"/>
              </a:buClr>
              <a:buSzPts val="1800"/>
              <a:buFont typeface="Arial"/>
              <a:buChar char="​"/>
              <a:defRPr b="0" i="0" sz="1800" u="none" cap="none" strike="noStrike">
                <a:solidFill>
                  <a:schemeClr val="accent1"/>
                </a:solidFill>
                <a:latin typeface="Century Gothic"/>
                <a:ea typeface="Century Gothic"/>
                <a:cs typeface="Century Gothic"/>
                <a:sym typeface="Century Gothic"/>
              </a:defRPr>
            </a:lvl5pPr>
            <a:lvl6pPr lvl="5" marR="0" rtl="0" algn="l">
              <a:lnSpc>
                <a:spcPct val="95000"/>
              </a:lnSpc>
              <a:spcBef>
                <a:spcPts val="600"/>
              </a:spcBef>
              <a:spcAft>
                <a:spcPts val="0"/>
              </a:spcAft>
              <a:buClr>
                <a:schemeClr val="accent2"/>
              </a:buClr>
              <a:buSzPts val="1800"/>
              <a:buFont typeface="Arial"/>
              <a:buChar char="​"/>
              <a:defRPr b="0" i="0" sz="1800" u="none" cap="none" strike="noStrike">
                <a:solidFill>
                  <a:schemeClr val="accent2"/>
                </a:solidFill>
                <a:latin typeface="Century Gothic"/>
                <a:ea typeface="Century Gothic"/>
                <a:cs typeface="Century Gothic"/>
                <a:sym typeface="Century Gothic"/>
              </a:defRPr>
            </a:lvl6pPr>
            <a:lvl7pPr lvl="6" marR="0" rtl="0" algn="l">
              <a:lnSpc>
                <a:spcPct val="95000"/>
              </a:lnSpc>
              <a:spcBef>
                <a:spcPts val="1000"/>
              </a:spcBef>
              <a:spcAft>
                <a:spcPts val="0"/>
              </a:spcAft>
              <a:buClr>
                <a:schemeClr val="dk1"/>
              </a:buClr>
              <a:buSzPts val="1800"/>
              <a:buFont typeface="Arial"/>
              <a:buChar char="​"/>
              <a:defRPr b="1" i="0" sz="1800" u="none" cap="none" strike="noStrike">
                <a:solidFill>
                  <a:schemeClr val="dk1"/>
                </a:solidFill>
                <a:latin typeface="Century Gothic"/>
                <a:ea typeface="Century Gothic"/>
                <a:cs typeface="Century Gothic"/>
                <a:sym typeface="Century Gothic"/>
              </a:defRPr>
            </a:lvl7pPr>
            <a:lvl8pPr lvl="7" marR="0" rtl="0" algn="l">
              <a:lnSpc>
                <a:spcPct val="95000"/>
              </a:lnSpc>
              <a:spcBef>
                <a:spcPts val="200"/>
              </a:spcBef>
              <a:spcAft>
                <a:spcPts val="0"/>
              </a:spcAft>
              <a:buClr>
                <a:schemeClr val="dk1"/>
              </a:buClr>
              <a:buSzPts val="1800"/>
              <a:buFont typeface="Century Gothic"/>
              <a:buAutoNum type="arabicPeriod"/>
              <a:defRPr b="0" i="0" sz="1800" u="none" cap="none" strike="noStrike">
                <a:solidFill>
                  <a:schemeClr val="dk1"/>
                </a:solidFill>
                <a:latin typeface="Century Gothic"/>
                <a:ea typeface="Century Gothic"/>
                <a:cs typeface="Century Gothic"/>
                <a:sym typeface="Century Gothic"/>
              </a:defRPr>
            </a:lvl8pPr>
            <a:lvl9pPr lvl="8" marR="0" rtl="0" algn="l">
              <a:lnSpc>
                <a:spcPct val="95000"/>
              </a:lnSpc>
              <a:spcBef>
                <a:spcPts val="400"/>
              </a:spcBef>
              <a:spcAft>
                <a:spcPts val="400"/>
              </a:spcAft>
              <a:buClr>
                <a:schemeClr val="accent6"/>
              </a:buClr>
              <a:buSzPts val="900"/>
              <a:buFont typeface="Arial"/>
              <a:buChar char="​"/>
              <a:defRPr b="0" i="0" sz="900" u="none" cap="none" strike="noStrike">
                <a:solidFill>
                  <a:schemeClr val="accent6"/>
                </a:solidFill>
                <a:latin typeface="Century Gothic"/>
                <a:ea typeface="Century Gothic"/>
                <a:cs typeface="Century Gothic"/>
                <a:sym typeface="Century Gothic"/>
              </a:defRPr>
            </a:lvl9pPr>
          </a:lstStyle>
          <a:p/>
        </p:txBody>
      </p:sp>
      <p:sp>
        <p:nvSpPr>
          <p:cNvPr id="65" name="Google Shape;65;p13"/>
          <p:cNvSpPr txBox="1"/>
          <p:nvPr>
            <p:ph idx="1" type="body"/>
          </p:nvPr>
        </p:nvSpPr>
        <p:spPr>
          <a:xfrm>
            <a:off x="457200" y="1216152"/>
            <a:ext cx="3886200" cy="3350596"/>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lvl1pPr>
            <a:lvl2pPr indent="-330200" lvl="1" marL="914400" algn="l">
              <a:lnSpc>
                <a:spcPct val="85000"/>
              </a:lnSpc>
              <a:spcBef>
                <a:spcPts val="200"/>
              </a:spcBef>
              <a:spcAft>
                <a:spcPts val="0"/>
              </a:spcAft>
              <a:buClr>
                <a:schemeClr val="dk1"/>
              </a:buClr>
              <a:buSzPts val="1600"/>
              <a:buChar char="–"/>
              <a:defRPr sz="1600"/>
            </a:lvl2pPr>
            <a:lvl3pPr indent="-317500" lvl="2" marL="1371600" algn="l">
              <a:lnSpc>
                <a:spcPct val="85000"/>
              </a:lnSpc>
              <a:spcBef>
                <a:spcPts val="200"/>
              </a:spcBef>
              <a:spcAft>
                <a:spcPts val="0"/>
              </a:spcAft>
              <a:buClr>
                <a:schemeClr val="dk1"/>
              </a:buClr>
              <a:buSzPts val="1400"/>
              <a:buChar char="-"/>
              <a:defRPr sz="14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66" name="Google Shape;66;p13"/>
          <p:cNvSpPr txBox="1"/>
          <p:nvPr>
            <p:ph idx="3" type="body"/>
          </p:nvPr>
        </p:nvSpPr>
        <p:spPr>
          <a:xfrm>
            <a:off x="3297994" y="4855464"/>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67" name="Google Shape;67;p13"/>
          <p:cNvSpPr txBox="1"/>
          <p:nvPr>
            <p:ph type="title"/>
          </p:nvPr>
        </p:nvSpPr>
        <p:spPr>
          <a:xfrm>
            <a:off x="457200" y="173736"/>
            <a:ext cx="8229600" cy="704088"/>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spd="med">
    <p:fade/>
  </p:transition>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Title and Content">
  <p:cSld name="6_Title and Content">
    <p:spTree>
      <p:nvGrpSpPr>
        <p:cNvPr id="68" name="Shape 68"/>
        <p:cNvGrpSpPr/>
        <p:nvPr/>
      </p:nvGrpSpPr>
      <p:grpSpPr>
        <a:xfrm>
          <a:off x="0" y="0"/>
          <a:ext cx="0" cy="0"/>
          <a:chOff x="0" y="0"/>
          <a:chExt cx="0" cy="0"/>
        </a:xfrm>
      </p:grpSpPr>
      <p:sp>
        <p:nvSpPr>
          <p:cNvPr id="69" name="Google Shape;69;p14"/>
          <p:cNvSpPr txBox="1"/>
          <p:nvPr>
            <p:ph idx="1" type="body"/>
          </p:nvPr>
        </p:nvSpPr>
        <p:spPr>
          <a:xfrm>
            <a:off x="457200" y="1216372"/>
            <a:ext cx="8229600" cy="3340559"/>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a:lvl1pPr>
            <a:lvl2pPr indent="-342900" lvl="1" marL="914400" algn="l">
              <a:lnSpc>
                <a:spcPct val="85000"/>
              </a:lnSpc>
              <a:spcBef>
                <a:spcPts val="200"/>
              </a:spcBef>
              <a:spcAft>
                <a:spcPts val="0"/>
              </a:spcAft>
              <a:buClr>
                <a:schemeClr val="dk1"/>
              </a:buClr>
              <a:buSzPts val="1800"/>
              <a:buChar char="–"/>
              <a:defRPr/>
            </a:lvl2pPr>
            <a:lvl3pPr indent="-342900" lvl="2" marL="1371600" algn="l">
              <a:lnSpc>
                <a:spcPct val="85000"/>
              </a:lnSpc>
              <a:spcBef>
                <a:spcPts val="200"/>
              </a:spcBef>
              <a:spcAft>
                <a:spcPts val="0"/>
              </a:spcAft>
              <a:buClr>
                <a:schemeClr val="dk1"/>
              </a:buClr>
              <a:buSzPts val="1800"/>
              <a:buChar char="-"/>
              <a:defRPr/>
            </a:lvl3pPr>
            <a:lvl4pPr indent="-342900" lvl="3" marL="1828800" algn="l">
              <a:lnSpc>
                <a:spcPct val="95000"/>
              </a:lnSpc>
              <a:spcBef>
                <a:spcPts val="600"/>
              </a:spcBef>
              <a:spcAft>
                <a:spcPts val="0"/>
              </a:spcAft>
              <a:buClr>
                <a:schemeClr val="dk1"/>
              </a:buClr>
              <a:buSzPts val="1800"/>
              <a:buChar char="​"/>
              <a:defRPr/>
            </a:lvl4pPr>
            <a:lvl5pPr indent="-342900" lvl="4" marL="2286000" algn="l">
              <a:lnSpc>
                <a:spcPct val="95000"/>
              </a:lnSpc>
              <a:spcBef>
                <a:spcPts val="600"/>
              </a:spcBef>
              <a:spcAft>
                <a:spcPts val="0"/>
              </a:spcAft>
              <a:buClr>
                <a:schemeClr val="accent1"/>
              </a:buClr>
              <a:buSzPts val="1800"/>
              <a:buChar char="​"/>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70" name="Google Shape;70;p14"/>
          <p:cNvSpPr txBox="1"/>
          <p:nvPr>
            <p:ph type="title"/>
          </p:nvPr>
        </p:nvSpPr>
        <p:spPr>
          <a:xfrm>
            <a:off x="457200" y="164592"/>
            <a:ext cx="8229600" cy="704088"/>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Segue" showMasterSp="0">
  <p:cSld name="3_Segue">
    <p:bg>
      <p:bgPr>
        <a:solidFill>
          <a:schemeClr val="accent1"/>
        </a:solidFill>
      </p:bgPr>
    </p:bg>
    <p:spTree>
      <p:nvGrpSpPr>
        <p:cNvPr id="71" name="Shape 71"/>
        <p:cNvGrpSpPr/>
        <p:nvPr/>
      </p:nvGrpSpPr>
      <p:grpSpPr>
        <a:xfrm>
          <a:off x="0" y="0"/>
          <a:ext cx="0" cy="0"/>
          <a:chOff x="0" y="0"/>
          <a:chExt cx="0" cy="0"/>
        </a:xfrm>
      </p:grpSpPr>
      <p:sp>
        <p:nvSpPr>
          <p:cNvPr id="72" name="Google Shape;72;p15"/>
          <p:cNvSpPr txBox="1"/>
          <p:nvPr>
            <p:ph idx="1" type="body"/>
          </p:nvPr>
        </p:nvSpPr>
        <p:spPr>
          <a:xfrm>
            <a:off x="0" y="2342217"/>
            <a:ext cx="9144000" cy="459100"/>
          </a:xfrm>
          <a:prstGeom prst="rect">
            <a:avLst/>
          </a:prstGeom>
          <a:solidFill>
            <a:schemeClr val="lt1"/>
          </a:solidFill>
          <a:ln>
            <a:noFill/>
          </a:ln>
        </p:spPr>
        <p:txBody>
          <a:bodyPr anchorCtr="1" anchor="ctr" bIns="45700" lIns="457200" spcFirstLastPara="1" rIns="457200" wrap="square" tIns="45700">
            <a:noAutofit/>
          </a:bodyPr>
          <a:lstStyle>
            <a:lvl1pPr indent="-228600" lvl="0" marL="457200" algn="ctr">
              <a:lnSpc>
                <a:spcPct val="110000"/>
              </a:lnSpc>
              <a:spcBef>
                <a:spcPts val="200"/>
              </a:spcBef>
              <a:spcAft>
                <a:spcPts val="0"/>
              </a:spcAft>
              <a:buClr>
                <a:schemeClr val="accent1"/>
              </a:buClr>
              <a:buSzPts val="2200"/>
              <a:buFont typeface="Century Gothic"/>
              <a:buNone/>
              <a:defRPr sz="2200">
                <a:solidFill>
                  <a:schemeClr val="accent1"/>
                </a:solidFill>
              </a:defRPr>
            </a:lvl1pPr>
            <a:lvl2pPr indent="-342900" lvl="1" marL="914400" algn="ctr">
              <a:lnSpc>
                <a:spcPct val="100000"/>
              </a:lnSpc>
              <a:spcBef>
                <a:spcPts val="200"/>
              </a:spcBef>
              <a:spcAft>
                <a:spcPts val="0"/>
              </a:spcAft>
              <a:buClr>
                <a:schemeClr val="accent1"/>
              </a:buClr>
              <a:buSzPts val="1800"/>
              <a:buFont typeface="Arial"/>
              <a:buChar char="​"/>
              <a:defRPr sz="1800">
                <a:solidFill>
                  <a:schemeClr val="accent1"/>
                </a:solidFill>
              </a:defRPr>
            </a:lvl2pPr>
            <a:lvl3pPr indent="-317500" lvl="2" marL="1371600" algn="ctr">
              <a:lnSpc>
                <a:spcPct val="85000"/>
              </a:lnSpc>
              <a:spcBef>
                <a:spcPts val="600"/>
              </a:spcBef>
              <a:spcAft>
                <a:spcPts val="0"/>
              </a:spcAft>
              <a:buClr>
                <a:schemeClr val="accent1"/>
              </a:buClr>
              <a:buSzPts val="1400"/>
              <a:buFont typeface="Arial"/>
              <a:buChar char="​"/>
              <a:defRPr b="1" sz="1400">
                <a:solidFill>
                  <a:schemeClr val="accent1"/>
                </a:solidFill>
              </a:defRPr>
            </a:lvl3pPr>
            <a:lvl4pPr indent="-317500" lvl="3" marL="1828800" algn="ctr">
              <a:lnSpc>
                <a:spcPct val="85000"/>
              </a:lnSpc>
              <a:spcBef>
                <a:spcPts val="200"/>
              </a:spcBef>
              <a:spcAft>
                <a:spcPts val="0"/>
              </a:spcAft>
              <a:buClr>
                <a:schemeClr val="accent1"/>
              </a:buClr>
              <a:buSzPts val="1400"/>
              <a:buFont typeface="Arial"/>
              <a:buChar char="​"/>
              <a:defRPr b="0" sz="1400">
                <a:solidFill>
                  <a:schemeClr val="accent1"/>
                </a:solidFill>
              </a:defRPr>
            </a:lvl4pPr>
            <a:lvl5pPr indent="-317500" lvl="4" marL="2286000" algn="ctr">
              <a:lnSpc>
                <a:spcPct val="85000"/>
              </a:lnSpc>
              <a:spcBef>
                <a:spcPts val="200"/>
              </a:spcBef>
              <a:spcAft>
                <a:spcPts val="0"/>
              </a:spcAft>
              <a:buClr>
                <a:schemeClr val="accent1"/>
              </a:buClr>
              <a:buSzPts val="1400"/>
              <a:buFont typeface="Arial"/>
              <a:buChar char="​"/>
              <a:defRPr b="0" sz="1400">
                <a:solidFill>
                  <a:schemeClr val="accent1"/>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73" name="Google Shape;73;p15"/>
          <p:cNvSpPr txBox="1"/>
          <p:nvPr/>
        </p:nvSpPr>
        <p:spPr>
          <a:xfrm>
            <a:off x="153254" y="4837176"/>
            <a:ext cx="133221" cy="130805"/>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lang="en-GB" sz="850">
                <a:solidFill>
                  <a:schemeClr val="lt2"/>
                </a:solidFill>
                <a:latin typeface="Century Gothic"/>
                <a:ea typeface="Century Gothic"/>
                <a:cs typeface="Century Gothic"/>
                <a:sym typeface="Century Gothic"/>
              </a:rPr>
              <a:t>‹#›</a:t>
            </a:fld>
            <a:endParaRPr sz="850">
              <a:solidFill>
                <a:schemeClr val="lt2"/>
              </a:solidFill>
              <a:latin typeface="Century Gothic"/>
              <a:ea typeface="Century Gothic"/>
              <a:cs typeface="Century Gothic"/>
              <a:sym typeface="Century Gothic"/>
            </a:endParaRPr>
          </a:p>
        </p:txBody>
      </p:sp>
    </p:spTree>
  </p:cSld>
  <p:clrMapOvr>
    <a:masterClrMapping/>
  </p:clrMapOvr>
  <p:transition spd="med">
    <p:fade/>
  </p:transition>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Segue" showMasterSp="0">
  <p:cSld name="2_Segue">
    <p:bg>
      <p:bgPr>
        <a:solidFill>
          <a:schemeClr val="accent1"/>
        </a:solidFill>
      </p:bgPr>
    </p:bg>
    <p:spTree>
      <p:nvGrpSpPr>
        <p:cNvPr id="74" name="Shape 74"/>
        <p:cNvGrpSpPr/>
        <p:nvPr/>
      </p:nvGrpSpPr>
      <p:grpSpPr>
        <a:xfrm>
          <a:off x="0" y="0"/>
          <a:ext cx="0" cy="0"/>
          <a:chOff x="0" y="0"/>
          <a:chExt cx="0" cy="0"/>
        </a:xfrm>
      </p:grpSpPr>
      <p:sp>
        <p:nvSpPr>
          <p:cNvPr id="75" name="Google Shape;75;p16"/>
          <p:cNvSpPr txBox="1"/>
          <p:nvPr>
            <p:ph idx="1" type="body"/>
          </p:nvPr>
        </p:nvSpPr>
        <p:spPr>
          <a:xfrm>
            <a:off x="0" y="2342217"/>
            <a:ext cx="9144000" cy="459100"/>
          </a:xfrm>
          <a:prstGeom prst="rect">
            <a:avLst/>
          </a:prstGeom>
          <a:solidFill>
            <a:schemeClr val="lt1"/>
          </a:solidFill>
          <a:ln>
            <a:noFill/>
          </a:ln>
        </p:spPr>
        <p:txBody>
          <a:bodyPr anchorCtr="1" anchor="ctr" bIns="45700" lIns="457200" spcFirstLastPara="1" rIns="457200" wrap="square" tIns="45700">
            <a:noAutofit/>
          </a:bodyPr>
          <a:lstStyle>
            <a:lvl1pPr indent="-228600" lvl="0" marL="457200" algn="ctr">
              <a:lnSpc>
                <a:spcPct val="110000"/>
              </a:lnSpc>
              <a:spcBef>
                <a:spcPts val="200"/>
              </a:spcBef>
              <a:spcAft>
                <a:spcPts val="0"/>
              </a:spcAft>
              <a:buClr>
                <a:schemeClr val="accent1"/>
              </a:buClr>
              <a:buSzPts val="2200"/>
              <a:buFont typeface="Century Gothic"/>
              <a:buNone/>
              <a:defRPr sz="2200">
                <a:solidFill>
                  <a:schemeClr val="accent1"/>
                </a:solidFill>
              </a:defRPr>
            </a:lvl1pPr>
            <a:lvl2pPr indent="-342900" lvl="1" marL="914400" algn="ctr">
              <a:lnSpc>
                <a:spcPct val="100000"/>
              </a:lnSpc>
              <a:spcBef>
                <a:spcPts val="200"/>
              </a:spcBef>
              <a:spcAft>
                <a:spcPts val="0"/>
              </a:spcAft>
              <a:buClr>
                <a:schemeClr val="accent1"/>
              </a:buClr>
              <a:buSzPts val="1800"/>
              <a:buFont typeface="Arial"/>
              <a:buChar char="​"/>
              <a:defRPr sz="1800">
                <a:solidFill>
                  <a:schemeClr val="accent1"/>
                </a:solidFill>
              </a:defRPr>
            </a:lvl2pPr>
            <a:lvl3pPr indent="-317500" lvl="2" marL="1371600" algn="ctr">
              <a:lnSpc>
                <a:spcPct val="85000"/>
              </a:lnSpc>
              <a:spcBef>
                <a:spcPts val="600"/>
              </a:spcBef>
              <a:spcAft>
                <a:spcPts val="0"/>
              </a:spcAft>
              <a:buClr>
                <a:schemeClr val="accent1"/>
              </a:buClr>
              <a:buSzPts val="1400"/>
              <a:buFont typeface="Arial"/>
              <a:buChar char="​"/>
              <a:defRPr b="1" sz="1400">
                <a:solidFill>
                  <a:schemeClr val="accent1"/>
                </a:solidFill>
              </a:defRPr>
            </a:lvl3pPr>
            <a:lvl4pPr indent="-317500" lvl="3" marL="1828800" algn="ctr">
              <a:lnSpc>
                <a:spcPct val="85000"/>
              </a:lnSpc>
              <a:spcBef>
                <a:spcPts val="200"/>
              </a:spcBef>
              <a:spcAft>
                <a:spcPts val="0"/>
              </a:spcAft>
              <a:buClr>
                <a:schemeClr val="accent1"/>
              </a:buClr>
              <a:buSzPts val="1400"/>
              <a:buFont typeface="Arial"/>
              <a:buChar char="​"/>
              <a:defRPr b="0" sz="1400">
                <a:solidFill>
                  <a:schemeClr val="accent1"/>
                </a:solidFill>
              </a:defRPr>
            </a:lvl4pPr>
            <a:lvl5pPr indent="-317500" lvl="4" marL="2286000" algn="ctr">
              <a:lnSpc>
                <a:spcPct val="85000"/>
              </a:lnSpc>
              <a:spcBef>
                <a:spcPts val="200"/>
              </a:spcBef>
              <a:spcAft>
                <a:spcPts val="0"/>
              </a:spcAft>
              <a:buClr>
                <a:schemeClr val="accent1"/>
              </a:buClr>
              <a:buSzPts val="1400"/>
              <a:buFont typeface="Arial"/>
              <a:buChar char="​"/>
              <a:defRPr b="0" sz="1400">
                <a:solidFill>
                  <a:schemeClr val="accent1"/>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76" name="Google Shape;76;p16"/>
          <p:cNvSpPr txBox="1"/>
          <p:nvPr/>
        </p:nvSpPr>
        <p:spPr>
          <a:xfrm>
            <a:off x="153254" y="4837176"/>
            <a:ext cx="133221" cy="130805"/>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lang="en-GB" sz="850">
                <a:solidFill>
                  <a:schemeClr val="lt2"/>
                </a:solidFill>
                <a:latin typeface="Century Gothic"/>
                <a:ea typeface="Century Gothic"/>
                <a:cs typeface="Century Gothic"/>
                <a:sym typeface="Century Gothic"/>
              </a:rPr>
              <a:t>‹#›</a:t>
            </a:fld>
            <a:endParaRPr sz="850">
              <a:solidFill>
                <a:schemeClr val="lt2"/>
              </a:solidFill>
              <a:latin typeface="Century Gothic"/>
              <a:ea typeface="Century Gothic"/>
              <a:cs typeface="Century Gothic"/>
              <a:sym typeface="Century Gothic"/>
            </a:endParaRPr>
          </a:p>
        </p:txBody>
      </p:sp>
    </p:spTree>
  </p:cSld>
  <p:clrMapOvr>
    <a:masterClrMapping/>
  </p:clrMapOvr>
  <p:transition spd="med">
    <p:fade/>
  </p:transition>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Text, and 2 Content">
  <p:cSld name="1_Title, Text, and 2 Content">
    <p:spTree>
      <p:nvGrpSpPr>
        <p:cNvPr id="77" name="Shape 77"/>
        <p:cNvGrpSpPr/>
        <p:nvPr/>
      </p:nvGrpSpPr>
      <p:grpSpPr>
        <a:xfrm>
          <a:off x="0" y="0"/>
          <a:ext cx="0" cy="0"/>
          <a:chOff x="0" y="0"/>
          <a:chExt cx="0" cy="0"/>
        </a:xfrm>
      </p:grpSpPr>
      <p:sp>
        <p:nvSpPr>
          <p:cNvPr id="78" name="Google Shape;78;p17"/>
          <p:cNvSpPr txBox="1"/>
          <p:nvPr>
            <p:ph type="title"/>
          </p:nvPr>
        </p:nvSpPr>
        <p:spPr>
          <a:xfrm>
            <a:off x="466725" y="3747"/>
            <a:ext cx="5087938" cy="617601"/>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17"/>
          <p:cNvSpPr/>
          <p:nvPr/>
        </p:nvSpPr>
        <p:spPr>
          <a:xfrm>
            <a:off x="0" y="777875"/>
            <a:ext cx="7205662" cy="1160709"/>
          </a:xfrm>
          <a:prstGeom prst="rect">
            <a:avLst/>
          </a:prstGeom>
          <a:solidFill>
            <a:srgbClr val="005AA4"/>
          </a:solidFill>
          <a:ln>
            <a:noFill/>
          </a:ln>
          <a:effectLst>
            <a:outerShdw blurRad="50800" rotWithShape="0" algn="tl" dir="2700000" dist="38100">
              <a:srgbClr val="000000">
                <a:alpha val="40000"/>
              </a:srgbClr>
            </a:outerShdw>
          </a:effectLst>
        </p:spPr>
        <p:txBody>
          <a:bodyPr anchorCtr="0" anchor="ctr" bIns="91425" lIns="91425" spcFirstLastPara="1" rIns="91425" wrap="square" tIns="91425">
            <a:noAutofit/>
          </a:bodyPr>
          <a:lstStyle/>
          <a:p>
            <a:pPr indent="0" lvl="1" marL="406400" marR="0" rtl="0" algn="l">
              <a:spcBef>
                <a:spcPts val="0"/>
              </a:spcBef>
              <a:spcAft>
                <a:spcPts val="0"/>
              </a:spcAft>
              <a:buNone/>
            </a:pPr>
            <a:r>
              <a:t/>
            </a:r>
            <a:endParaRPr b="0" i="0" sz="1400" u="none" cap="none" strike="noStrike">
              <a:solidFill>
                <a:schemeClr val="lt1"/>
              </a:solidFill>
              <a:latin typeface="Century Gothic"/>
              <a:ea typeface="Century Gothic"/>
              <a:cs typeface="Century Gothic"/>
              <a:sym typeface="Century Gothic"/>
            </a:endParaRPr>
          </a:p>
        </p:txBody>
      </p:sp>
      <p:sp>
        <p:nvSpPr>
          <p:cNvPr id="80" name="Google Shape;80;p17"/>
          <p:cNvSpPr txBox="1"/>
          <p:nvPr>
            <p:ph idx="1" type="body"/>
          </p:nvPr>
        </p:nvSpPr>
        <p:spPr>
          <a:xfrm>
            <a:off x="449263" y="2201863"/>
            <a:ext cx="4866449" cy="2652712"/>
          </a:xfrm>
          <a:prstGeom prst="rect">
            <a:avLst/>
          </a:prstGeom>
          <a:noFill/>
          <a:ln>
            <a:noFill/>
          </a:ln>
        </p:spPr>
        <p:txBody>
          <a:bodyPr anchorCtr="0" anchor="t" bIns="0" lIns="0" spcFirstLastPara="1" rIns="0" wrap="square" tIns="0">
            <a:noAutofit/>
          </a:bodyPr>
          <a:lstStyle>
            <a:lvl1pPr indent="-228600" lvl="0" marL="457200" algn="l">
              <a:lnSpc>
                <a:spcPct val="95000"/>
              </a:lnSpc>
              <a:spcBef>
                <a:spcPts val="600"/>
              </a:spcBef>
              <a:spcAft>
                <a:spcPts val="0"/>
              </a:spcAft>
              <a:buClr>
                <a:schemeClr val="dk2"/>
              </a:buClr>
              <a:buSzPts val="1800"/>
              <a:buNone/>
              <a:defRPr sz="1800">
                <a:solidFill>
                  <a:schemeClr val="dk2"/>
                </a:solidFill>
              </a:defRPr>
            </a:lvl1pPr>
            <a:lvl2pPr indent="-317500" lvl="1" marL="914400" algn="l">
              <a:lnSpc>
                <a:spcPct val="100000"/>
              </a:lnSpc>
              <a:spcBef>
                <a:spcPts val="200"/>
              </a:spcBef>
              <a:spcAft>
                <a:spcPts val="0"/>
              </a:spcAft>
              <a:buClr>
                <a:schemeClr val="dk1"/>
              </a:buClr>
              <a:buSzPts val="1400"/>
              <a:buFont typeface="Arial"/>
              <a:buChar char="•"/>
              <a:defRPr sz="1400"/>
            </a:lvl2pPr>
            <a:lvl3pPr indent="-342900" lvl="2" marL="1371600" algn="l">
              <a:lnSpc>
                <a:spcPct val="85000"/>
              </a:lnSpc>
              <a:spcBef>
                <a:spcPts val="600"/>
              </a:spcBef>
              <a:spcAft>
                <a:spcPts val="0"/>
              </a:spcAft>
              <a:buClr>
                <a:schemeClr val="dk1"/>
              </a:buClr>
              <a:buSzPts val="1800"/>
              <a:buChar char="-"/>
              <a:defRPr/>
            </a:lvl3pPr>
            <a:lvl4pPr indent="-342900" lvl="3" marL="1828800" algn="l">
              <a:lnSpc>
                <a:spcPct val="95000"/>
              </a:lnSpc>
              <a:spcBef>
                <a:spcPts val="600"/>
              </a:spcBef>
              <a:spcAft>
                <a:spcPts val="0"/>
              </a:spcAft>
              <a:buClr>
                <a:schemeClr val="dk1"/>
              </a:buClr>
              <a:buSzPts val="1800"/>
              <a:buChar char="​"/>
              <a:defRPr/>
            </a:lvl4pPr>
            <a:lvl5pPr indent="-342900" lvl="4" marL="2286000" algn="l">
              <a:lnSpc>
                <a:spcPct val="95000"/>
              </a:lnSpc>
              <a:spcBef>
                <a:spcPts val="600"/>
              </a:spcBef>
              <a:spcAft>
                <a:spcPts val="0"/>
              </a:spcAft>
              <a:buClr>
                <a:schemeClr val="accent1"/>
              </a:buClr>
              <a:buSzPts val="1800"/>
              <a:buChar char="​"/>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81" name="Google Shape;81;p17"/>
          <p:cNvSpPr txBox="1"/>
          <p:nvPr>
            <p:ph idx="2" type="body"/>
          </p:nvPr>
        </p:nvSpPr>
        <p:spPr>
          <a:xfrm>
            <a:off x="449262" y="904312"/>
            <a:ext cx="6622097" cy="1029264"/>
          </a:xfrm>
          <a:prstGeom prst="rect">
            <a:avLst/>
          </a:prstGeom>
          <a:noFill/>
          <a:ln>
            <a:noFill/>
          </a:ln>
        </p:spPr>
        <p:txBody>
          <a:bodyPr anchorCtr="0" anchor="t" bIns="0" lIns="0" spcFirstLastPara="1" rIns="0" wrap="square" tIns="0">
            <a:noAutofit/>
          </a:bodyPr>
          <a:lstStyle>
            <a:lvl1pPr indent="-228600" lvl="0" marL="457200" algn="l">
              <a:lnSpc>
                <a:spcPct val="95000"/>
              </a:lnSpc>
              <a:spcBef>
                <a:spcPts val="600"/>
              </a:spcBef>
              <a:spcAft>
                <a:spcPts val="0"/>
              </a:spcAft>
              <a:buClr>
                <a:schemeClr val="lt1"/>
              </a:buClr>
              <a:buSzPts val="1800"/>
              <a:buNone/>
              <a:defRPr sz="1800">
                <a:solidFill>
                  <a:schemeClr val="lt1"/>
                </a:solidFill>
              </a:defRPr>
            </a:lvl1pPr>
            <a:lvl2pPr indent="-342900" lvl="1" marL="914400" algn="l">
              <a:lnSpc>
                <a:spcPct val="85000"/>
              </a:lnSpc>
              <a:spcBef>
                <a:spcPts val="200"/>
              </a:spcBef>
              <a:spcAft>
                <a:spcPts val="0"/>
              </a:spcAft>
              <a:buClr>
                <a:schemeClr val="dk1"/>
              </a:buClr>
              <a:buSzPts val="1800"/>
              <a:buChar char="–"/>
              <a:defRPr sz="1800"/>
            </a:lvl2pPr>
            <a:lvl3pPr indent="-342900" lvl="2" marL="1371600" algn="l">
              <a:lnSpc>
                <a:spcPct val="85000"/>
              </a:lnSpc>
              <a:spcBef>
                <a:spcPts val="200"/>
              </a:spcBef>
              <a:spcAft>
                <a:spcPts val="0"/>
              </a:spcAft>
              <a:buClr>
                <a:schemeClr val="dk1"/>
              </a:buClr>
              <a:buSzPts val="1800"/>
              <a:buChar char="-"/>
              <a:defRPr sz="18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ase Study_Option2">
  <p:cSld name="2_Case Study_Option2">
    <p:spTree>
      <p:nvGrpSpPr>
        <p:cNvPr id="82" name="Shape 82"/>
        <p:cNvGrpSpPr/>
        <p:nvPr/>
      </p:nvGrpSpPr>
      <p:grpSpPr>
        <a:xfrm>
          <a:off x="0" y="0"/>
          <a:ext cx="0" cy="0"/>
          <a:chOff x="0" y="0"/>
          <a:chExt cx="0" cy="0"/>
        </a:xfrm>
      </p:grpSpPr>
      <p:sp>
        <p:nvSpPr>
          <p:cNvPr id="83" name="Google Shape;83;p18"/>
          <p:cNvSpPr txBox="1"/>
          <p:nvPr>
            <p:ph idx="1" type="body"/>
          </p:nvPr>
        </p:nvSpPr>
        <p:spPr>
          <a:xfrm>
            <a:off x="3495437" y="128016"/>
            <a:ext cx="5648693" cy="914400"/>
          </a:xfrm>
          <a:prstGeom prst="rect">
            <a:avLst/>
          </a:prstGeom>
          <a:solidFill>
            <a:srgbClr val="0079DB"/>
          </a:solidFill>
          <a:ln>
            <a:noFill/>
          </a:ln>
        </p:spPr>
        <p:txBody>
          <a:bodyPr anchorCtr="0" anchor="b" bIns="227825" lIns="227825" spcFirstLastPara="1" rIns="455800" wrap="square" tIns="136775">
            <a:noAutofit/>
          </a:bodyPr>
          <a:lstStyle>
            <a:lvl1pPr indent="-368300" lvl="0" marL="457200" algn="l">
              <a:lnSpc>
                <a:spcPct val="85000"/>
              </a:lnSpc>
              <a:spcBef>
                <a:spcPts val="200"/>
              </a:spcBef>
              <a:spcAft>
                <a:spcPts val="0"/>
              </a:spcAft>
              <a:buClr>
                <a:schemeClr val="lt1"/>
              </a:buClr>
              <a:buSzPts val="2200"/>
              <a:buFont typeface="Arial"/>
              <a:buChar char="​"/>
              <a:defRPr sz="2200">
                <a:solidFill>
                  <a:schemeClr val="lt1"/>
                </a:solidFill>
              </a:defRPr>
            </a:lvl1pPr>
            <a:lvl2pPr indent="-342900" lvl="1" marL="914400" algn="l">
              <a:lnSpc>
                <a:spcPct val="85000"/>
              </a:lnSpc>
              <a:spcBef>
                <a:spcPts val="200"/>
              </a:spcBef>
              <a:spcAft>
                <a:spcPts val="0"/>
              </a:spcAft>
              <a:buClr>
                <a:schemeClr val="lt1"/>
              </a:buClr>
              <a:buSzPts val="1800"/>
              <a:buFont typeface="Arial"/>
              <a:buChar char="​"/>
              <a:defRPr sz="1800">
                <a:solidFill>
                  <a:schemeClr val="lt1"/>
                </a:solidFill>
              </a:defRPr>
            </a:lvl2pPr>
            <a:lvl3pPr indent="-317500" lvl="2" marL="1371600" algn="l">
              <a:lnSpc>
                <a:spcPct val="85000"/>
              </a:lnSpc>
              <a:spcBef>
                <a:spcPts val="600"/>
              </a:spcBef>
              <a:spcAft>
                <a:spcPts val="0"/>
              </a:spcAft>
              <a:buClr>
                <a:schemeClr val="lt1"/>
              </a:buClr>
              <a:buSzPts val="1400"/>
              <a:buFont typeface="Arial"/>
              <a:buChar char="​"/>
              <a:defRPr b="1" sz="1400">
                <a:solidFill>
                  <a:schemeClr val="lt1"/>
                </a:solidFill>
              </a:defRPr>
            </a:lvl3pPr>
            <a:lvl4pPr indent="-317500" lvl="3" marL="1828800" algn="l">
              <a:lnSpc>
                <a:spcPct val="85000"/>
              </a:lnSpc>
              <a:spcBef>
                <a:spcPts val="200"/>
              </a:spcBef>
              <a:spcAft>
                <a:spcPts val="0"/>
              </a:spcAft>
              <a:buClr>
                <a:schemeClr val="lt1"/>
              </a:buClr>
              <a:buSzPts val="1400"/>
              <a:buFont typeface="Arial"/>
              <a:buChar char="​"/>
              <a:defRPr b="0" sz="1400">
                <a:solidFill>
                  <a:schemeClr val="lt1"/>
                </a:solidFill>
              </a:defRPr>
            </a:lvl4pPr>
            <a:lvl5pPr indent="-317500" lvl="4" marL="2286000" algn="l">
              <a:lnSpc>
                <a:spcPct val="85000"/>
              </a:lnSpc>
              <a:spcBef>
                <a:spcPts val="200"/>
              </a:spcBef>
              <a:spcAft>
                <a:spcPts val="0"/>
              </a:spcAft>
              <a:buClr>
                <a:schemeClr val="lt1"/>
              </a:buClr>
              <a:buSzPts val="1400"/>
              <a:buFont typeface="Arial"/>
              <a:buChar char="​"/>
              <a:defRPr b="0" sz="1400">
                <a:solidFill>
                  <a:schemeClr val="lt1"/>
                </a:solidFill>
              </a:defRPr>
            </a:lvl5pPr>
            <a:lvl6pPr indent="-317500" lvl="5" marL="2743200" algn="ctr">
              <a:lnSpc>
                <a:spcPct val="85000"/>
              </a:lnSpc>
              <a:spcBef>
                <a:spcPts val="200"/>
              </a:spcBef>
              <a:spcAft>
                <a:spcPts val="0"/>
              </a:spcAft>
              <a:buClr>
                <a:schemeClr val="lt1"/>
              </a:buClr>
              <a:buSzPts val="1400"/>
              <a:buFont typeface="Arial"/>
              <a:buChar char="​"/>
              <a:defRPr b="0" sz="1400">
                <a:solidFill>
                  <a:schemeClr val="lt1"/>
                </a:solidFill>
              </a:defRPr>
            </a:lvl6pPr>
            <a:lvl7pPr indent="-317500" lvl="6" marL="3200400" algn="ctr">
              <a:lnSpc>
                <a:spcPct val="85000"/>
              </a:lnSpc>
              <a:spcBef>
                <a:spcPts val="200"/>
              </a:spcBef>
              <a:spcAft>
                <a:spcPts val="0"/>
              </a:spcAft>
              <a:buClr>
                <a:schemeClr val="lt1"/>
              </a:buClr>
              <a:buSzPts val="1400"/>
              <a:buFont typeface="Arial"/>
              <a:buChar char="​"/>
              <a:defRPr b="0" sz="1400">
                <a:solidFill>
                  <a:schemeClr val="lt1"/>
                </a:solidFill>
              </a:defRPr>
            </a:lvl7pPr>
            <a:lvl8pPr indent="-317500" lvl="7" marL="3657600" algn="ctr">
              <a:lnSpc>
                <a:spcPct val="85000"/>
              </a:lnSpc>
              <a:spcBef>
                <a:spcPts val="200"/>
              </a:spcBef>
              <a:spcAft>
                <a:spcPts val="0"/>
              </a:spcAft>
              <a:buClr>
                <a:schemeClr val="lt1"/>
              </a:buClr>
              <a:buSzPts val="1400"/>
              <a:buFont typeface="Arial"/>
              <a:buChar char="​"/>
              <a:defRPr b="0" sz="1400">
                <a:solidFill>
                  <a:schemeClr val="lt1"/>
                </a:solidFill>
              </a:defRPr>
            </a:lvl8pPr>
            <a:lvl9pPr indent="-317500" lvl="8" marL="4114800" algn="ctr">
              <a:lnSpc>
                <a:spcPct val="85000"/>
              </a:lnSpc>
              <a:spcBef>
                <a:spcPts val="200"/>
              </a:spcBef>
              <a:spcAft>
                <a:spcPts val="200"/>
              </a:spcAft>
              <a:buClr>
                <a:schemeClr val="lt1"/>
              </a:buClr>
              <a:buSzPts val="1400"/>
              <a:buFont typeface="Arial"/>
              <a:buChar char="​"/>
              <a:defRPr b="0" sz="1400">
                <a:solidFill>
                  <a:schemeClr val="lt1"/>
                </a:solidFill>
              </a:defRPr>
            </a:lvl9pPr>
          </a:lstStyle>
          <a:p/>
        </p:txBody>
      </p:sp>
      <p:sp>
        <p:nvSpPr>
          <p:cNvPr id="84" name="Google Shape;84;p18"/>
          <p:cNvSpPr/>
          <p:nvPr>
            <p:ph idx="2" type="pic"/>
          </p:nvPr>
        </p:nvSpPr>
        <p:spPr>
          <a:xfrm>
            <a:off x="0" y="0"/>
            <a:ext cx="2971800" cy="5143500"/>
          </a:xfrm>
          <a:prstGeom prst="rect">
            <a:avLst/>
          </a:prstGeom>
          <a:noFill/>
          <a:ln>
            <a:noFill/>
          </a:ln>
        </p:spPr>
        <p:txBody>
          <a:bodyPr anchorCtr="0" anchor="t" bIns="0" lIns="0" spcFirstLastPara="1" rIns="0" wrap="square" tIns="0">
            <a:noAutofit/>
          </a:bodyPr>
          <a:lstStyle>
            <a:lvl1pPr lvl="0" marR="0" rtl="0" algn="ctr">
              <a:lnSpc>
                <a:spcPct val="95000"/>
              </a:lnSpc>
              <a:spcBef>
                <a:spcPts val="600"/>
              </a:spcBef>
              <a:spcAft>
                <a:spcPts val="0"/>
              </a:spcAft>
              <a:buClr>
                <a:schemeClr val="dk1"/>
              </a:buClr>
              <a:buSzPts val="1600"/>
              <a:buFont typeface="Arial"/>
              <a:buNone/>
              <a:defRPr b="0" i="0" sz="1600" u="none" cap="none" strike="noStrike">
                <a:solidFill>
                  <a:schemeClr val="dk1"/>
                </a:solidFill>
                <a:latin typeface="Century Gothic"/>
                <a:ea typeface="Century Gothic"/>
                <a:cs typeface="Century Gothic"/>
                <a:sym typeface="Century Gothic"/>
              </a:defRPr>
            </a:lvl1pPr>
            <a:lvl2pPr lvl="1" marR="0" rtl="0" algn="l">
              <a:lnSpc>
                <a:spcPct val="85000"/>
              </a:lnSpc>
              <a:spcBef>
                <a:spcPts val="200"/>
              </a:spcBef>
              <a:spcAft>
                <a:spcPts val="0"/>
              </a:spcAft>
              <a:buClr>
                <a:schemeClr val="dk1"/>
              </a:buClr>
              <a:buSzPts val="1600"/>
              <a:buFont typeface="Arial"/>
              <a:buChar char="–"/>
              <a:defRPr b="0" i="0" sz="1600" u="none" cap="none" strike="noStrike">
                <a:solidFill>
                  <a:schemeClr val="dk1"/>
                </a:solidFill>
                <a:latin typeface="Century Gothic"/>
                <a:ea typeface="Century Gothic"/>
                <a:cs typeface="Century Gothic"/>
                <a:sym typeface="Century Gothic"/>
              </a:defRPr>
            </a:lvl2pPr>
            <a:lvl3pPr lvl="2" marR="0" rtl="0" algn="l">
              <a:lnSpc>
                <a:spcPct val="85000"/>
              </a:lnSpc>
              <a:spcBef>
                <a:spcPts val="200"/>
              </a:spcBef>
              <a:spcAft>
                <a:spcPts val="0"/>
              </a:spcAft>
              <a:buClr>
                <a:schemeClr val="dk1"/>
              </a:buClr>
              <a:buSzPts val="1400"/>
              <a:buFont typeface="Arial"/>
              <a:buChar char="-"/>
              <a:defRPr b="0" i="0" sz="1400" u="none" cap="none" strike="noStrike">
                <a:solidFill>
                  <a:schemeClr val="dk1"/>
                </a:solidFill>
                <a:latin typeface="Century Gothic"/>
                <a:ea typeface="Century Gothic"/>
                <a:cs typeface="Century Gothic"/>
                <a:sym typeface="Century Gothic"/>
              </a:defRPr>
            </a:lvl3pPr>
            <a:lvl4pPr lvl="3"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4pPr>
            <a:lvl5pPr lvl="4" marR="0" rtl="0" algn="l">
              <a:lnSpc>
                <a:spcPct val="95000"/>
              </a:lnSpc>
              <a:spcBef>
                <a:spcPts val="600"/>
              </a:spcBef>
              <a:spcAft>
                <a:spcPts val="0"/>
              </a:spcAft>
              <a:buClr>
                <a:schemeClr val="accent1"/>
              </a:buClr>
              <a:buSzPts val="1800"/>
              <a:buFont typeface="Arial"/>
              <a:buChar char="​"/>
              <a:defRPr b="0" i="0" sz="1800" u="none" cap="none" strike="noStrike">
                <a:solidFill>
                  <a:schemeClr val="accent1"/>
                </a:solidFill>
                <a:latin typeface="Century Gothic"/>
                <a:ea typeface="Century Gothic"/>
                <a:cs typeface="Century Gothic"/>
                <a:sym typeface="Century Gothic"/>
              </a:defRPr>
            </a:lvl5pPr>
            <a:lvl6pPr lvl="5" marR="0" rtl="0" algn="l">
              <a:lnSpc>
                <a:spcPct val="95000"/>
              </a:lnSpc>
              <a:spcBef>
                <a:spcPts val="600"/>
              </a:spcBef>
              <a:spcAft>
                <a:spcPts val="0"/>
              </a:spcAft>
              <a:buClr>
                <a:schemeClr val="accent2"/>
              </a:buClr>
              <a:buSzPts val="1800"/>
              <a:buFont typeface="Arial"/>
              <a:buChar char="​"/>
              <a:defRPr b="0" i="0" sz="1800" u="none" cap="none" strike="noStrike">
                <a:solidFill>
                  <a:schemeClr val="accent2"/>
                </a:solidFill>
                <a:latin typeface="Century Gothic"/>
                <a:ea typeface="Century Gothic"/>
                <a:cs typeface="Century Gothic"/>
                <a:sym typeface="Century Gothic"/>
              </a:defRPr>
            </a:lvl6pPr>
            <a:lvl7pPr lvl="6" marR="0" rtl="0" algn="l">
              <a:lnSpc>
                <a:spcPct val="95000"/>
              </a:lnSpc>
              <a:spcBef>
                <a:spcPts val="1000"/>
              </a:spcBef>
              <a:spcAft>
                <a:spcPts val="0"/>
              </a:spcAft>
              <a:buClr>
                <a:schemeClr val="dk1"/>
              </a:buClr>
              <a:buSzPts val="1800"/>
              <a:buFont typeface="Arial"/>
              <a:buChar char="​"/>
              <a:defRPr b="1" i="0" sz="1800" u="none" cap="none" strike="noStrike">
                <a:solidFill>
                  <a:schemeClr val="dk1"/>
                </a:solidFill>
                <a:latin typeface="Century Gothic"/>
                <a:ea typeface="Century Gothic"/>
                <a:cs typeface="Century Gothic"/>
                <a:sym typeface="Century Gothic"/>
              </a:defRPr>
            </a:lvl7pPr>
            <a:lvl8pPr lvl="7" marR="0" rtl="0" algn="l">
              <a:lnSpc>
                <a:spcPct val="95000"/>
              </a:lnSpc>
              <a:spcBef>
                <a:spcPts val="200"/>
              </a:spcBef>
              <a:spcAft>
                <a:spcPts val="0"/>
              </a:spcAft>
              <a:buClr>
                <a:schemeClr val="dk1"/>
              </a:buClr>
              <a:buSzPts val="1800"/>
              <a:buFont typeface="Century Gothic"/>
              <a:buAutoNum type="arabicPeriod"/>
              <a:defRPr b="0" i="0" sz="1800" u="none" cap="none" strike="noStrike">
                <a:solidFill>
                  <a:schemeClr val="dk1"/>
                </a:solidFill>
                <a:latin typeface="Century Gothic"/>
                <a:ea typeface="Century Gothic"/>
                <a:cs typeface="Century Gothic"/>
                <a:sym typeface="Century Gothic"/>
              </a:defRPr>
            </a:lvl8pPr>
            <a:lvl9pPr lvl="8" marR="0" rtl="0" algn="l">
              <a:lnSpc>
                <a:spcPct val="95000"/>
              </a:lnSpc>
              <a:spcBef>
                <a:spcPts val="400"/>
              </a:spcBef>
              <a:spcAft>
                <a:spcPts val="400"/>
              </a:spcAft>
              <a:buClr>
                <a:schemeClr val="accent6"/>
              </a:buClr>
              <a:buSzPts val="900"/>
              <a:buFont typeface="Arial"/>
              <a:buChar char="​"/>
              <a:defRPr b="0" i="0" sz="900" u="none" cap="none" strike="noStrike">
                <a:solidFill>
                  <a:schemeClr val="accent6"/>
                </a:solidFill>
                <a:latin typeface="Century Gothic"/>
                <a:ea typeface="Century Gothic"/>
                <a:cs typeface="Century Gothic"/>
                <a:sym typeface="Century Gothic"/>
              </a:defRPr>
            </a:lvl9pPr>
          </a:lstStyle>
          <a:p/>
        </p:txBody>
      </p:sp>
      <p:sp>
        <p:nvSpPr>
          <p:cNvPr id="85" name="Google Shape;85;p18"/>
          <p:cNvSpPr txBox="1"/>
          <p:nvPr>
            <p:ph idx="3" type="body"/>
          </p:nvPr>
        </p:nvSpPr>
        <p:spPr>
          <a:xfrm>
            <a:off x="3511296" y="1152143"/>
            <a:ext cx="5164694" cy="3511296"/>
          </a:xfrm>
          <a:prstGeom prst="rect">
            <a:avLst/>
          </a:prstGeom>
          <a:noFill/>
          <a:ln>
            <a:noFill/>
          </a:ln>
        </p:spPr>
        <p:txBody>
          <a:bodyPr anchorCtr="0" anchor="t" bIns="0" lIns="0" spcFirstLastPara="1" rIns="0" wrap="square" tIns="0">
            <a:noAutofit/>
          </a:bodyPr>
          <a:lstStyle>
            <a:lvl1pPr indent="-355600" lvl="0" marL="457200" algn="l">
              <a:lnSpc>
                <a:spcPct val="95000"/>
              </a:lnSpc>
              <a:spcBef>
                <a:spcPts val="400"/>
              </a:spcBef>
              <a:spcAft>
                <a:spcPts val="0"/>
              </a:spcAft>
              <a:buClr>
                <a:schemeClr val="dk1"/>
              </a:buClr>
              <a:buSzPts val="2000"/>
              <a:buChar char="•"/>
              <a:defRPr sz="2000"/>
            </a:lvl1pPr>
            <a:lvl2pPr indent="-342900" lvl="1" marL="914400" algn="l">
              <a:lnSpc>
                <a:spcPct val="85000"/>
              </a:lnSpc>
              <a:spcBef>
                <a:spcPts val="200"/>
              </a:spcBef>
              <a:spcAft>
                <a:spcPts val="0"/>
              </a:spcAft>
              <a:buClr>
                <a:schemeClr val="dk1"/>
              </a:buClr>
              <a:buSzPts val="1800"/>
              <a:buChar char="–"/>
              <a:defRPr sz="1800"/>
            </a:lvl2pPr>
            <a:lvl3pPr indent="-330200" lvl="2" marL="1371600" algn="l">
              <a:lnSpc>
                <a:spcPct val="85000"/>
              </a:lnSpc>
              <a:spcBef>
                <a:spcPts val="200"/>
              </a:spcBef>
              <a:spcAft>
                <a:spcPts val="0"/>
              </a:spcAft>
              <a:buClr>
                <a:schemeClr val="dk1"/>
              </a:buClr>
              <a:buSzPts val="1600"/>
              <a:buChar char="-"/>
              <a:defRPr sz="16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Tree>
  </p:cSld>
  <p:clrMapOvr>
    <a:masterClrMapping/>
  </p:clrMapOvr>
  <p:transition spd="med">
    <p:fade/>
  </p:transition>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ternate Title Slide" showMasterSp="0">
  <p:cSld name="Alternate Title Slide">
    <p:spTree>
      <p:nvGrpSpPr>
        <p:cNvPr id="86" name="Shape 86"/>
        <p:cNvGrpSpPr/>
        <p:nvPr/>
      </p:nvGrpSpPr>
      <p:grpSpPr>
        <a:xfrm>
          <a:off x="0" y="0"/>
          <a:ext cx="0" cy="0"/>
          <a:chOff x="0" y="0"/>
          <a:chExt cx="0" cy="0"/>
        </a:xfrm>
      </p:grpSpPr>
      <p:sp>
        <p:nvSpPr>
          <p:cNvPr id="87" name="Google Shape;87;p19"/>
          <p:cNvSpPr txBox="1"/>
          <p:nvPr>
            <p:ph idx="1" type="body"/>
          </p:nvPr>
        </p:nvSpPr>
        <p:spPr>
          <a:xfrm>
            <a:off x="0" y="1765763"/>
            <a:ext cx="9144000" cy="1611980"/>
          </a:xfrm>
          <a:prstGeom prst="rect">
            <a:avLst/>
          </a:prstGeom>
          <a:solidFill>
            <a:schemeClr val="accent1">
              <a:alpha val="89803"/>
            </a:schemeClr>
          </a:solidFill>
          <a:ln>
            <a:noFill/>
          </a:ln>
        </p:spPr>
        <p:txBody>
          <a:bodyPr anchorCtr="1" anchor="ctr" bIns="137150" lIns="457200" spcFirstLastPara="1" rIns="457200" wrap="square" tIns="137150">
            <a:noAutofit/>
          </a:bodyPr>
          <a:lstStyle>
            <a:lvl1pPr indent="-381000" lvl="0" marL="457200" algn="ctr">
              <a:lnSpc>
                <a:spcPct val="85000"/>
              </a:lnSpc>
              <a:spcBef>
                <a:spcPts val="200"/>
              </a:spcBef>
              <a:spcAft>
                <a:spcPts val="0"/>
              </a:spcAft>
              <a:buClr>
                <a:schemeClr val="lt1"/>
              </a:buClr>
              <a:buSzPts val="2400"/>
              <a:buFont typeface="Arial"/>
              <a:buChar char="​"/>
              <a:defRPr b="1" sz="2400">
                <a:solidFill>
                  <a:schemeClr val="lt1"/>
                </a:solidFill>
              </a:defRPr>
            </a:lvl1pPr>
            <a:lvl2pPr indent="-342900" lvl="1" marL="914400" algn="ctr">
              <a:lnSpc>
                <a:spcPct val="85000"/>
              </a:lnSpc>
              <a:spcBef>
                <a:spcPts val="200"/>
              </a:spcBef>
              <a:spcAft>
                <a:spcPts val="0"/>
              </a:spcAft>
              <a:buClr>
                <a:schemeClr val="lt1"/>
              </a:buClr>
              <a:buSzPts val="1800"/>
              <a:buFont typeface="Arial"/>
              <a:buChar char="​"/>
              <a:defRPr b="1" sz="1800">
                <a:solidFill>
                  <a:schemeClr val="lt1"/>
                </a:solidFill>
              </a:defRPr>
            </a:lvl2pPr>
            <a:lvl3pPr indent="-317500" lvl="2" marL="1371600" algn="ctr">
              <a:lnSpc>
                <a:spcPct val="85000"/>
              </a:lnSpc>
              <a:spcBef>
                <a:spcPts val="600"/>
              </a:spcBef>
              <a:spcAft>
                <a:spcPts val="0"/>
              </a:spcAft>
              <a:buClr>
                <a:schemeClr val="lt1"/>
              </a:buClr>
              <a:buSzPts val="1400"/>
              <a:buFont typeface="Arial"/>
              <a:buChar char="​"/>
              <a:defRPr b="1" sz="1400">
                <a:solidFill>
                  <a:schemeClr val="lt1"/>
                </a:solidFill>
              </a:defRPr>
            </a:lvl3pPr>
            <a:lvl4pPr indent="-317500" lvl="3" marL="1828800" algn="ctr">
              <a:lnSpc>
                <a:spcPct val="85000"/>
              </a:lnSpc>
              <a:spcBef>
                <a:spcPts val="200"/>
              </a:spcBef>
              <a:spcAft>
                <a:spcPts val="0"/>
              </a:spcAft>
              <a:buClr>
                <a:schemeClr val="lt1"/>
              </a:buClr>
              <a:buSzPts val="1400"/>
              <a:buFont typeface="Arial"/>
              <a:buChar char="​"/>
              <a:defRPr b="0" sz="1400">
                <a:solidFill>
                  <a:schemeClr val="lt1"/>
                </a:solidFill>
              </a:defRPr>
            </a:lvl4pPr>
            <a:lvl5pPr indent="-317500" lvl="4" marL="2286000" algn="ctr">
              <a:lnSpc>
                <a:spcPct val="85000"/>
              </a:lnSpc>
              <a:spcBef>
                <a:spcPts val="200"/>
              </a:spcBef>
              <a:spcAft>
                <a:spcPts val="0"/>
              </a:spcAft>
              <a:buClr>
                <a:schemeClr val="lt1"/>
              </a:buClr>
              <a:buSzPts val="1400"/>
              <a:buFont typeface="Arial"/>
              <a:buChar char="​"/>
              <a:defRPr b="0" sz="1400">
                <a:solidFill>
                  <a:schemeClr val="lt1"/>
                </a:solidFill>
              </a:defRPr>
            </a:lvl5pPr>
            <a:lvl6pPr indent="-317500" lvl="5" marL="2743200" algn="ctr">
              <a:lnSpc>
                <a:spcPct val="85000"/>
              </a:lnSpc>
              <a:spcBef>
                <a:spcPts val="200"/>
              </a:spcBef>
              <a:spcAft>
                <a:spcPts val="0"/>
              </a:spcAft>
              <a:buClr>
                <a:schemeClr val="lt1"/>
              </a:buClr>
              <a:buSzPts val="1400"/>
              <a:buFont typeface="Arial"/>
              <a:buChar char="​"/>
              <a:defRPr b="0" sz="1400">
                <a:solidFill>
                  <a:schemeClr val="lt1"/>
                </a:solidFill>
              </a:defRPr>
            </a:lvl6pPr>
            <a:lvl7pPr indent="-317500" lvl="6" marL="3200400" algn="ctr">
              <a:lnSpc>
                <a:spcPct val="85000"/>
              </a:lnSpc>
              <a:spcBef>
                <a:spcPts val="200"/>
              </a:spcBef>
              <a:spcAft>
                <a:spcPts val="0"/>
              </a:spcAft>
              <a:buClr>
                <a:schemeClr val="lt1"/>
              </a:buClr>
              <a:buSzPts val="1400"/>
              <a:buFont typeface="Arial"/>
              <a:buChar char="​"/>
              <a:defRPr b="0" sz="1400">
                <a:solidFill>
                  <a:schemeClr val="lt1"/>
                </a:solidFill>
              </a:defRPr>
            </a:lvl7pPr>
            <a:lvl8pPr indent="-317500" lvl="7" marL="3657600" algn="ctr">
              <a:lnSpc>
                <a:spcPct val="85000"/>
              </a:lnSpc>
              <a:spcBef>
                <a:spcPts val="200"/>
              </a:spcBef>
              <a:spcAft>
                <a:spcPts val="0"/>
              </a:spcAft>
              <a:buClr>
                <a:schemeClr val="lt1"/>
              </a:buClr>
              <a:buSzPts val="1400"/>
              <a:buFont typeface="Arial"/>
              <a:buChar char="​"/>
              <a:defRPr b="0" sz="1400">
                <a:solidFill>
                  <a:schemeClr val="lt1"/>
                </a:solidFill>
              </a:defRPr>
            </a:lvl8pPr>
            <a:lvl9pPr indent="-317500" lvl="8" marL="4114800" algn="ctr">
              <a:lnSpc>
                <a:spcPct val="85000"/>
              </a:lnSpc>
              <a:spcBef>
                <a:spcPts val="200"/>
              </a:spcBef>
              <a:spcAft>
                <a:spcPts val="200"/>
              </a:spcAft>
              <a:buClr>
                <a:schemeClr val="lt1"/>
              </a:buClr>
              <a:buSzPts val="1400"/>
              <a:buFont typeface="Arial"/>
              <a:buChar char="​"/>
              <a:defRPr b="0" sz="1400">
                <a:solidFill>
                  <a:schemeClr val="lt1"/>
                </a:solidFill>
              </a:defRPr>
            </a:lvl9pPr>
          </a:lstStyle>
          <a:p/>
        </p:txBody>
      </p:sp>
      <p:sp>
        <p:nvSpPr>
          <p:cNvPr id="88" name="Google Shape;88;p19"/>
          <p:cNvSpPr/>
          <p:nvPr/>
        </p:nvSpPr>
        <p:spPr>
          <a:xfrm>
            <a:off x="457200" y="0"/>
            <a:ext cx="2438400" cy="9144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nvGrpSpPr>
          <p:cNvPr id="89" name="Google Shape;89;p19"/>
          <p:cNvGrpSpPr/>
          <p:nvPr/>
        </p:nvGrpSpPr>
        <p:grpSpPr>
          <a:xfrm>
            <a:off x="994117" y="305466"/>
            <a:ext cx="1362335" cy="305001"/>
            <a:chOff x="5137" y="4139"/>
            <a:chExt cx="335" cy="75"/>
          </a:xfrm>
        </p:grpSpPr>
        <p:sp>
          <p:nvSpPr>
            <p:cNvPr id="90" name="Google Shape;90;p19"/>
            <p:cNvSpPr/>
            <p:nvPr/>
          </p:nvSpPr>
          <p:spPr>
            <a:xfrm>
              <a:off x="5137" y="4139"/>
              <a:ext cx="324" cy="75"/>
            </a:xfrm>
            <a:custGeom>
              <a:rect b="b" l="l" r="r" t="t"/>
              <a:pathLst>
                <a:path extrusionOk="0" h="863" w="3745">
                  <a:moveTo>
                    <a:pt x="660" y="0"/>
                  </a:moveTo>
                  <a:lnTo>
                    <a:pt x="660" y="0"/>
                  </a:lnTo>
                  <a:lnTo>
                    <a:pt x="22" y="0"/>
                  </a:lnTo>
                  <a:lnTo>
                    <a:pt x="0" y="73"/>
                  </a:lnTo>
                  <a:lnTo>
                    <a:pt x="292" y="73"/>
                  </a:lnTo>
                  <a:lnTo>
                    <a:pt x="292" y="804"/>
                  </a:lnTo>
                  <a:cubicBezTo>
                    <a:pt x="292" y="843"/>
                    <a:pt x="316" y="863"/>
                    <a:pt x="360" y="863"/>
                  </a:cubicBezTo>
                  <a:lnTo>
                    <a:pt x="399" y="863"/>
                  </a:lnTo>
                  <a:lnTo>
                    <a:pt x="399" y="73"/>
                  </a:lnTo>
                  <a:lnTo>
                    <a:pt x="637" y="73"/>
                  </a:lnTo>
                  <a:lnTo>
                    <a:pt x="660" y="0"/>
                  </a:lnTo>
                  <a:lnTo>
                    <a:pt x="660" y="0"/>
                  </a:lnTo>
                  <a:close/>
                  <a:moveTo>
                    <a:pt x="2673" y="181"/>
                  </a:moveTo>
                  <a:lnTo>
                    <a:pt x="2673" y="181"/>
                  </a:lnTo>
                  <a:cubicBezTo>
                    <a:pt x="2647" y="181"/>
                    <a:pt x="2626" y="190"/>
                    <a:pt x="2621" y="203"/>
                  </a:cubicBezTo>
                  <a:lnTo>
                    <a:pt x="2408" y="768"/>
                  </a:lnTo>
                  <a:lnTo>
                    <a:pt x="2448" y="768"/>
                  </a:lnTo>
                  <a:cubicBezTo>
                    <a:pt x="2491" y="768"/>
                    <a:pt x="2509" y="764"/>
                    <a:pt x="2522" y="729"/>
                  </a:cubicBezTo>
                  <a:lnTo>
                    <a:pt x="2570" y="596"/>
                  </a:lnTo>
                  <a:lnTo>
                    <a:pt x="2698" y="596"/>
                  </a:lnTo>
                  <a:lnTo>
                    <a:pt x="2679" y="533"/>
                  </a:lnTo>
                  <a:lnTo>
                    <a:pt x="2590" y="533"/>
                  </a:lnTo>
                  <a:lnTo>
                    <a:pt x="2669" y="310"/>
                  </a:lnTo>
                  <a:lnTo>
                    <a:pt x="2812" y="729"/>
                  </a:lnTo>
                  <a:cubicBezTo>
                    <a:pt x="2824" y="764"/>
                    <a:pt x="2845" y="768"/>
                    <a:pt x="2891" y="768"/>
                  </a:cubicBezTo>
                  <a:lnTo>
                    <a:pt x="2941" y="768"/>
                  </a:lnTo>
                  <a:lnTo>
                    <a:pt x="2725" y="203"/>
                  </a:lnTo>
                  <a:cubicBezTo>
                    <a:pt x="2720" y="190"/>
                    <a:pt x="2697" y="181"/>
                    <a:pt x="2673" y="181"/>
                  </a:cubicBezTo>
                  <a:close/>
                  <a:moveTo>
                    <a:pt x="3529" y="203"/>
                  </a:moveTo>
                  <a:lnTo>
                    <a:pt x="3529" y="203"/>
                  </a:lnTo>
                  <a:cubicBezTo>
                    <a:pt x="3524" y="190"/>
                    <a:pt x="3501" y="181"/>
                    <a:pt x="3477" y="181"/>
                  </a:cubicBezTo>
                  <a:cubicBezTo>
                    <a:pt x="3451" y="181"/>
                    <a:pt x="3430" y="190"/>
                    <a:pt x="3425" y="203"/>
                  </a:cubicBezTo>
                  <a:lnTo>
                    <a:pt x="3212" y="768"/>
                  </a:lnTo>
                  <a:lnTo>
                    <a:pt x="3252" y="768"/>
                  </a:lnTo>
                  <a:cubicBezTo>
                    <a:pt x="3294" y="768"/>
                    <a:pt x="3313" y="764"/>
                    <a:pt x="3326" y="729"/>
                  </a:cubicBezTo>
                  <a:lnTo>
                    <a:pt x="3374" y="596"/>
                  </a:lnTo>
                  <a:lnTo>
                    <a:pt x="3502" y="596"/>
                  </a:lnTo>
                  <a:lnTo>
                    <a:pt x="3483" y="533"/>
                  </a:lnTo>
                  <a:lnTo>
                    <a:pt x="3394" y="533"/>
                  </a:lnTo>
                  <a:lnTo>
                    <a:pt x="3473" y="310"/>
                  </a:lnTo>
                  <a:lnTo>
                    <a:pt x="3616" y="729"/>
                  </a:lnTo>
                  <a:cubicBezTo>
                    <a:pt x="3628" y="764"/>
                    <a:pt x="3649" y="768"/>
                    <a:pt x="3695" y="768"/>
                  </a:cubicBezTo>
                  <a:lnTo>
                    <a:pt x="3745" y="768"/>
                  </a:lnTo>
                  <a:lnTo>
                    <a:pt x="3529" y="203"/>
                  </a:lnTo>
                  <a:lnTo>
                    <a:pt x="3529" y="203"/>
                  </a:lnTo>
                  <a:close/>
                  <a:moveTo>
                    <a:pt x="1655" y="181"/>
                  </a:moveTo>
                  <a:lnTo>
                    <a:pt x="1655" y="181"/>
                  </a:lnTo>
                  <a:cubicBezTo>
                    <a:pt x="1630" y="181"/>
                    <a:pt x="1608" y="190"/>
                    <a:pt x="1603" y="203"/>
                  </a:cubicBezTo>
                  <a:lnTo>
                    <a:pt x="1399" y="746"/>
                  </a:lnTo>
                  <a:lnTo>
                    <a:pt x="1247" y="515"/>
                  </a:lnTo>
                  <a:cubicBezTo>
                    <a:pt x="1327" y="501"/>
                    <a:pt x="1374" y="459"/>
                    <a:pt x="1374" y="387"/>
                  </a:cubicBezTo>
                  <a:lnTo>
                    <a:pt x="1374" y="336"/>
                  </a:lnTo>
                  <a:cubicBezTo>
                    <a:pt x="1374" y="232"/>
                    <a:pt x="1277" y="189"/>
                    <a:pt x="1149" y="189"/>
                  </a:cubicBezTo>
                  <a:lnTo>
                    <a:pt x="969" y="189"/>
                  </a:lnTo>
                  <a:lnTo>
                    <a:pt x="969" y="704"/>
                  </a:lnTo>
                  <a:lnTo>
                    <a:pt x="737" y="704"/>
                  </a:lnTo>
                  <a:cubicBezTo>
                    <a:pt x="646" y="704"/>
                    <a:pt x="625" y="684"/>
                    <a:pt x="625" y="590"/>
                  </a:cubicBezTo>
                  <a:lnTo>
                    <a:pt x="625" y="488"/>
                  </a:lnTo>
                  <a:lnTo>
                    <a:pt x="797" y="488"/>
                  </a:lnTo>
                  <a:lnTo>
                    <a:pt x="816" y="424"/>
                  </a:lnTo>
                  <a:lnTo>
                    <a:pt x="625" y="424"/>
                  </a:lnTo>
                  <a:lnTo>
                    <a:pt x="625" y="253"/>
                  </a:lnTo>
                  <a:lnTo>
                    <a:pt x="878" y="253"/>
                  </a:lnTo>
                  <a:lnTo>
                    <a:pt x="897" y="189"/>
                  </a:lnTo>
                  <a:lnTo>
                    <a:pt x="520" y="189"/>
                  </a:lnTo>
                  <a:lnTo>
                    <a:pt x="520" y="590"/>
                  </a:lnTo>
                  <a:cubicBezTo>
                    <a:pt x="520" y="724"/>
                    <a:pt x="552" y="768"/>
                    <a:pt x="735" y="768"/>
                  </a:cubicBezTo>
                  <a:lnTo>
                    <a:pt x="1074" y="766"/>
                  </a:lnTo>
                  <a:lnTo>
                    <a:pt x="1074" y="253"/>
                  </a:lnTo>
                  <a:lnTo>
                    <a:pt x="1149" y="253"/>
                  </a:lnTo>
                  <a:cubicBezTo>
                    <a:pt x="1230" y="253"/>
                    <a:pt x="1271" y="282"/>
                    <a:pt x="1271" y="337"/>
                  </a:cubicBezTo>
                  <a:lnTo>
                    <a:pt x="1271" y="387"/>
                  </a:lnTo>
                  <a:cubicBezTo>
                    <a:pt x="1271" y="443"/>
                    <a:pt x="1220" y="461"/>
                    <a:pt x="1157" y="461"/>
                  </a:cubicBezTo>
                  <a:lnTo>
                    <a:pt x="1110" y="461"/>
                  </a:lnTo>
                  <a:lnTo>
                    <a:pt x="1269" y="733"/>
                  </a:lnTo>
                  <a:cubicBezTo>
                    <a:pt x="1287" y="765"/>
                    <a:pt x="1296" y="768"/>
                    <a:pt x="1338" y="768"/>
                  </a:cubicBezTo>
                  <a:lnTo>
                    <a:pt x="1430" y="768"/>
                  </a:lnTo>
                  <a:cubicBezTo>
                    <a:pt x="1473" y="768"/>
                    <a:pt x="1492" y="764"/>
                    <a:pt x="1505" y="729"/>
                  </a:cubicBezTo>
                  <a:lnTo>
                    <a:pt x="1552" y="596"/>
                  </a:lnTo>
                  <a:lnTo>
                    <a:pt x="1680" y="596"/>
                  </a:lnTo>
                  <a:lnTo>
                    <a:pt x="1661" y="533"/>
                  </a:lnTo>
                  <a:lnTo>
                    <a:pt x="1573" y="533"/>
                  </a:lnTo>
                  <a:lnTo>
                    <a:pt x="1652" y="310"/>
                  </a:lnTo>
                  <a:lnTo>
                    <a:pt x="1795" y="729"/>
                  </a:lnTo>
                  <a:cubicBezTo>
                    <a:pt x="1807" y="764"/>
                    <a:pt x="1827" y="768"/>
                    <a:pt x="1873" y="768"/>
                  </a:cubicBezTo>
                  <a:lnTo>
                    <a:pt x="1923" y="768"/>
                  </a:lnTo>
                  <a:lnTo>
                    <a:pt x="1707" y="203"/>
                  </a:lnTo>
                  <a:cubicBezTo>
                    <a:pt x="1702" y="190"/>
                    <a:pt x="1679" y="181"/>
                    <a:pt x="1655" y="181"/>
                  </a:cubicBezTo>
                  <a:close/>
                  <a:moveTo>
                    <a:pt x="2304" y="530"/>
                  </a:moveTo>
                  <a:lnTo>
                    <a:pt x="2304" y="530"/>
                  </a:lnTo>
                  <a:cubicBezTo>
                    <a:pt x="2304" y="647"/>
                    <a:pt x="2266" y="704"/>
                    <a:pt x="2162" y="704"/>
                  </a:cubicBezTo>
                  <a:lnTo>
                    <a:pt x="2068" y="704"/>
                  </a:lnTo>
                  <a:lnTo>
                    <a:pt x="2068" y="253"/>
                  </a:lnTo>
                  <a:lnTo>
                    <a:pt x="2159" y="253"/>
                  </a:lnTo>
                  <a:cubicBezTo>
                    <a:pt x="2266" y="253"/>
                    <a:pt x="2304" y="316"/>
                    <a:pt x="2304" y="433"/>
                  </a:cubicBezTo>
                  <a:lnTo>
                    <a:pt x="2304" y="530"/>
                  </a:lnTo>
                  <a:lnTo>
                    <a:pt x="2304" y="530"/>
                  </a:lnTo>
                  <a:close/>
                  <a:moveTo>
                    <a:pt x="2409" y="432"/>
                  </a:moveTo>
                  <a:lnTo>
                    <a:pt x="2409" y="432"/>
                  </a:lnTo>
                  <a:cubicBezTo>
                    <a:pt x="2409" y="270"/>
                    <a:pt x="2326" y="189"/>
                    <a:pt x="2159" y="189"/>
                  </a:cubicBezTo>
                  <a:lnTo>
                    <a:pt x="1963" y="189"/>
                  </a:lnTo>
                  <a:lnTo>
                    <a:pt x="1963" y="709"/>
                  </a:lnTo>
                  <a:cubicBezTo>
                    <a:pt x="1963" y="748"/>
                    <a:pt x="1984" y="768"/>
                    <a:pt x="2029" y="768"/>
                  </a:cubicBezTo>
                  <a:lnTo>
                    <a:pt x="2159" y="768"/>
                  </a:lnTo>
                  <a:lnTo>
                    <a:pt x="2180" y="767"/>
                  </a:lnTo>
                  <a:cubicBezTo>
                    <a:pt x="2337" y="761"/>
                    <a:pt x="2409" y="693"/>
                    <a:pt x="2409" y="530"/>
                  </a:cubicBezTo>
                  <a:lnTo>
                    <a:pt x="2409" y="432"/>
                  </a:lnTo>
                  <a:lnTo>
                    <a:pt x="2409" y="432"/>
                  </a:lnTo>
                  <a:close/>
                  <a:moveTo>
                    <a:pt x="3332" y="190"/>
                  </a:moveTo>
                  <a:lnTo>
                    <a:pt x="3332" y="190"/>
                  </a:lnTo>
                  <a:lnTo>
                    <a:pt x="2851" y="190"/>
                  </a:lnTo>
                  <a:lnTo>
                    <a:pt x="2831" y="254"/>
                  </a:lnTo>
                  <a:lnTo>
                    <a:pt x="3028" y="254"/>
                  </a:lnTo>
                  <a:lnTo>
                    <a:pt x="3028" y="710"/>
                  </a:lnTo>
                  <a:cubicBezTo>
                    <a:pt x="3028" y="749"/>
                    <a:pt x="3052" y="768"/>
                    <a:pt x="3096" y="768"/>
                  </a:cubicBezTo>
                  <a:lnTo>
                    <a:pt x="3135" y="768"/>
                  </a:lnTo>
                  <a:lnTo>
                    <a:pt x="3135" y="254"/>
                  </a:lnTo>
                  <a:lnTo>
                    <a:pt x="3313" y="254"/>
                  </a:lnTo>
                  <a:lnTo>
                    <a:pt x="3332" y="19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3C3B"/>
                </a:solidFill>
                <a:latin typeface="Century Gothic"/>
                <a:ea typeface="Century Gothic"/>
                <a:cs typeface="Century Gothic"/>
                <a:sym typeface="Century Gothic"/>
              </a:endParaRPr>
            </a:p>
          </p:txBody>
        </p:sp>
        <p:sp>
          <p:nvSpPr>
            <p:cNvPr id="91" name="Google Shape;91;p19"/>
            <p:cNvSpPr/>
            <p:nvPr/>
          </p:nvSpPr>
          <p:spPr>
            <a:xfrm>
              <a:off x="5464" y="4197"/>
              <a:ext cx="8" cy="9"/>
            </a:xfrm>
            <a:custGeom>
              <a:rect b="b" l="l" r="r" t="t"/>
              <a:pathLst>
                <a:path extrusionOk="0" h="98" w="99">
                  <a:moveTo>
                    <a:pt x="59" y="30"/>
                  </a:moveTo>
                  <a:lnTo>
                    <a:pt x="59" y="30"/>
                  </a:lnTo>
                  <a:cubicBezTo>
                    <a:pt x="57" y="29"/>
                    <a:pt x="53" y="28"/>
                    <a:pt x="47" y="28"/>
                  </a:cubicBezTo>
                  <a:lnTo>
                    <a:pt x="39" y="28"/>
                  </a:lnTo>
                  <a:lnTo>
                    <a:pt x="39" y="48"/>
                  </a:lnTo>
                  <a:lnTo>
                    <a:pt x="48" y="48"/>
                  </a:lnTo>
                  <a:cubicBezTo>
                    <a:pt x="52" y="48"/>
                    <a:pt x="55" y="47"/>
                    <a:pt x="57" y="46"/>
                  </a:cubicBezTo>
                  <a:cubicBezTo>
                    <a:pt x="61" y="45"/>
                    <a:pt x="63" y="42"/>
                    <a:pt x="63" y="38"/>
                  </a:cubicBezTo>
                  <a:cubicBezTo>
                    <a:pt x="63" y="34"/>
                    <a:pt x="61" y="31"/>
                    <a:pt x="59" y="30"/>
                  </a:cubicBezTo>
                  <a:close/>
                  <a:moveTo>
                    <a:pt x="49" y="22"/>
                  </a:moveTo>
                  <a:lnTo>
                    <a:pt x="49" y="22"/>
                  </a:lnTo>
                  <a:cubicBezTo>
                    <a:pt x="55" y="22"/>
                    <a:pt x="60" y="22"/>
                    <a:pt x="63" y="23"/>
                  </a:cubicBezTo>
                  <a:cubicBezTo>
                    <a:pt x="69" y="26"/>
                    <a:pt x="72" y="30"/>
                    <a:pt x="72" y="37"/>
                  </a:cubicBezTo>
                  <a:cubicBezTo>
                    <a:pt x="72" y="42"/>
                    <a:pt x="70" y="46"/>
                    <a:pt x="66" y="48"/>
                  </a:cubicBezTo>
                  <a:cubicBezTo>
                    <a:pt x="65" y="49"/>
                    <a:pt x="62" y="50"/>
                    <a:pt x="59" y="51"/>
                  </a:cubicBezTo>
                  <a:cubicBezTo>
                    <a:pt x="63" y="51"/>
                    <a:pt x="66" y="53"/>
                    <a:pt x="68" y="56"/>
                  </a:cubicBezTo>
                  <a:cubicBezTo>
                    <a:pt x="70" y="59"/>
                    <a:pt x="71" y="62"/>
                    <a:pt x="71" y="64"/>
                  </a:cubicBezTo>
                  <a:lnTo>
                    <a:pt x="71" y="68"/>
                  </a:lnTo>
                  <a:cubicBezTo>
                    <a:pt x="71" y="69"/>
                    <a:pt x="71" y="71"/>
                    <a:pt x="71" y="72"/>
                  </a:cubicBezTo>
                  <a:cubicBezTo>
                    <a:pt x="71" y="74"/>
                    <a:pt x="71" y="75"/>
                    <a:pt x="72" y="75"/>
                  </a:cubicBezTo>
                  <a:lnTo>
                    <a:pt x="72" y="76"/>
                  </a:lnTo>
                  <a:lnTo>
                    <a:pt x="63" y="76"/>
                  </a:lnTo>
                  <a:cubicBezTo>
                    <a:pt x="63" y="76"/>
                    <a:pt x="63" y="75"/>
                    <a:pt x="63" y="75"/>
                  </a:cubicBezTo>
                  <a:cubicBezTo>
                    <a:pt x="63" y="75"/>
                    <a:pt x="63" y="75"/>
                    <a:pt x="63" y="75"/>
                  </a:cubicBezTo>
                  <a:lnTo>
                    <a:pt x="62" y="73"/>
                  </a:lnTo>
                  <a:lnTo>
                    <a:pt x="62" y="69"/>
                  </a:lnTo>
                  <a:cubicBezTo>
                    <a:pt x="62" y="62"/>
                    <a:pt x="61" y="58"/>
                    <a:pt x="57" y="56"/>
                  </a:cubicBezTo>
                  <a:cubicBezTo>
                    <a:pt x="55" y="55"/>
                    <a:pt x="52" y="54"/>
                    <a:pt x="47" y="54"/>
                  </a:cubicBezTo>
                  <a:lnTo>
                    <a:pt x="39" y="54"/>
                  </a:lnTo>
                  <a:lnTo>
                    <a:pt x="39" y="76"/>
                  </a:lnTo>
                  <a:lnTo>
                    <a:pt x="30" y="76"/>
                  </a:lnTo>
                  <a:lnTo>
                    <a:pt x="30" y="22"/>
                  </a:lnTo>
                  <a:lnTo>
                    <a:pt x="49" y="22"/>
                  </a:lnTo>
                  <a:lnTo>
                    <a:pt x="49" y="22"/>
                  </a:lnTo>
                  <a:close/>
                  <a:moveTo>
                    <a:pt x="20" y="19"/>
                  </a:moveTo>
                  <a:lnTo>
                    <a:pt x="20" y="19"/>
                  </a:lnTo>
                  <a:cubicBezTo>
                    <a:pt x="11" y="27"/>
                    <a:pt x="7" y="37"/>
                    <a:pt x="7" y="49"/>
                  </a:cubicBezTo>
                  <a:cubicBezTo>
                    <a:pt x="7" y="61"/>
                    <a:pt x="11" y="71"/>
                    <a:pt x="20" y="79"/>
                  </a:cubicBezTo>
                  <a:cubicBezTo>
                    <a:pt x="28" y="87"/>
                    <a:pt x="38" y="92"/>
                    <a:pt x="50" y="92"/>
                  </a:cubicBezTo>
                  <a:cubicBezTo>
                    <a:pt x="61" y="92"/>
                    <a:pt x="71" y="87"/>
                    <a:pt x="80" y="79"/>
                  </a:cubicBezTo>
                  <a:cubicBezTo>
                    <a:pt x="88" y="71"/>
                    <a:pt x="92" y="61"/>
                    <a:pt x="92" y="49"/>
                  </a:cubicBezTo>
                  <a:cubicBezTo>
                    <a:pt x="92" y="37"/>
                    <a:pt x="88" y="27"/>
                    <a:pt x="80" y="19"/>
                  </a:cubicBezTo>
                  <a:cubicBezTo>
                    <a:pt x="71" y="10"/>
                    <a:pt x="61" y="6"/>
                    <a:pt x="50" y="6"/>
                  </a:cubicBezTo>
                  <a:cubicBezTo>
                    <a:pt x="38" y="6"/>
                    <a:pt x="28" y="10"/>
                    <a:pt x="20" y="19"/>
                  </a:cubicBezTo>
                  <a:close/>
                  <a:moveTo>
                    <a:pt x="85" y="84"/>
                  </a:moveTo>
                  <a:lnTo>
                    <a:pt x="85" y="84"/>
                  </a:lnTo>
                  <a:cubicBezTo>
                    <a:pt x="75" y="94"/>
                    <a:pt x="63" y="98"/>
                    <a:pt x="50" y="98"/>
                  </a:cubicBezTo>
                  <a:cubicBezTo>
                    <a:pt x="36" y="98"/>
                    <a:pt x="24" y="94"/>
                    <a:pt x="15" y="84"/>
                  </a:cubicBezTo>
                  <a:cubicBezTo>
                    <a:pt x="5" y="74"/>
                    <a:pt x="0" y="63"/>
                    <a:pt x="0" y="49"/>
                  </a:cubicBezTo>
                  <a:cubicBezTo>
                    <a:pt x="0" y="35"/>
                    <a:pt x="5" y="24"/>
                    <a:pt x="15" y="14"/>
                  </a:cubicBezTo>
                  <a:cubicBezTo>
                    <a:pt x="24" y="4"/>
                    <a:pt x="36" y="0"/>
                    <a:pt x="50" y="0"/>
                  </a:cubicBezTo>
                  <a:cubicBezTo>
                    <a:pt x="63" y="0"/>
                    <a:pt x="75" y="4"/>
                    <a:pt x="85" y="14"/>
                  </a:cubicBezTo>
                  <a:cubicBezTo>
                    <a:pt x="94" y="24"/>
                    <a:pt x="99" y="35"/>
                    <a:pt x="99" y="49"/>
                  </a:cubicBezTo>
                  <a:cubicBezTo>
                    <a:pt x="99" y="63"/>
                    <a:pt x="94" y="74"/>
                    <a:pt x="85" y="84"/>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3C3B"/>
                </a:solidFill>
                <a:latin typeface="Century Gothic"/>
                <a:ea typeface="Century Gothic"/>
                <a:cs typeface="Century Gothic"/>
                <a:sym typeface="Century Gothic"/>
              </a:endParaRPr>
            </a:p>
          </p:txBody>
        </p:sp>
      </p:grpSp>
    </p:spTree>
  </p:cSld>
  <p:clrMapOvr>
    <a:masterClrMapping/>
  </p:clrMapOvr>
  <p:transition spd="med">
    <p:fade/>
  </p:transition>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Table Contents">
  <p:cSld name="Agenda/Table Contents">
    <p:spTree>
      <p:nvGrpSpPr>
        <p:cNvPr id="92" name="Shape 92"/>
        <p:cNvGrpSpPr/>
        <p:nvPr/>
      </p:nvGrpSpPr>
      <p:grpSpPr>
        <a:xfrm>
          <a:off x="0" y="0"/>
          <a:ext cx="0" cy="0"/>
          <a:chOff x="0" y="0"/>
          <a:chExt cx="0" cy="0"/>
        </a:xfrm>
      </p:grpSpPr>
      <p:sp>
        <p:nvSpPr>
          <p:cNvPr id="93" name="Google Shape;93;p20"/>
          <p:cNvSpPr txBox="1"/>
          <p:nvPr>
            <p:ph idx="1" type="body"/>
          </p:nvPr>
        </p:nvSpPr>
        <p:spPr>
          <a:xfrm>
            <a:off x="4800600" y="1216152"/>
            <a:ext cx="3886200" cy="3349777"/>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solidFill>
                  <a:schemeClr val="dk1"/>
                </a:solidFill>
              </a:defRPr>
            </a:lvl1pPr>
            <a:lvl2pPr indent="-330200" lvl="1" marL="914400" algn="l">
              <a:lnSpc>
                <a:spcPct val="85000"/>
              </a:lnSpc>
              <a:spcBef>
                <a:spcPts val="200"/>
              </a:spcBef>
              <a:spcAft>
                <a:spcPts val="0"/>
              </a:spcAft>
              <a:buClr>
                <a:schemeClr val="dk1"/>
              </a:buClr>
              <a:buSzPts val="1600"/>
              <a:buChar char="–"/>
              <a:defRPr sz="1600">
                <a:solidFill>
                  <a:schemeClr val="dk1"/>
                </a:solidFill>
              </a:defRPr>
            </a:lvl2pPr>
            <a:lvl3pPr indent="-317500" lvl="2" marL="1371600" algn="l">
              <a:lnSpc>
                <a:spcPct val="85000"/>
              </a:lnSpc>
              <a:spcBef>
                <a:spcPts val="200"/>
              </a:spcBef>
              <a:spcAft>
                <a:spcPts val="0"/>
              </a:spcAft>
              <a:buClr>
                <a:schemeClr val="dk1"/>
              </a:buClr>
              <a:buSzPts val="1400"/>
              <a:buChar char="-"/>
              <a:defRPr sz="1400">
                <a:solidFill>
                  <a:schemeClr val="dk1"/>
                </a:solidFill>
              </a:defRPr>
            </a:lvl3pPr>
            <a:lvl4pPr indent="-342900" lvl="3" marL="1828800" algn="l">
              <a:lnSpc>
                <a:spcPct val="95000"/>
              </a:lnSpc>
              <a:spcBef>
                <a:spcPts val="600"/>
              </a:spcBef>
              <a:spcAft>
                <a:spcPts val="0"/>
              </a:spcAft>
              <a:buClr>
                <a:schemeClr val="dk1"/>
              </a:buClr>
              <a:buSzPts val="1800"/>
              <a:buChar char="​"/>
              <a:defRPr sz="1800">
                <a:solidFill>
                  <a:schemeClr val="dk1"/>
                </a:solidFill>
              </a:defRPr>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94" name="Google Shape;94;p20"/>
          <p:cNvSpPr txBox="1"/>
          <p:nvPr>
            <p:ph type="title"/>
          </p:nvPr>
        </p:nvSpPr>
        <p:spPr>
          <a:xfrm>
            <a:off x="4800600" y="263385"/>
            <a:ext cx="3886200" cy="704088"/>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5" name="Google Shape;95;p20"/>
          <p:cNvSpPr/>
          <p:nvPr/>
        </p:nvSpPr>
        <p:spPr>
          <a:xfrm>
            <a:off x="99060" y="4858087"/>
            <a:ext cx="236220" cy="177165"/>
          </a:xfrm>
          <a:prstGeom prst="rect">
            <a:avLst/>
          </a:prstGeom>
          <a:solidFill>
            <a:schemeClr val="l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96" name="Google Shape;96;p20"/>
          <p:cNvSpPr/>
          <p:nvPr>
            <p:ph idx="2" type="pic"/>
          </p:nvPr>
        </p:nvSpPr>
        <p:spPr>
          <a:xfrm>
            <a:off x="0" y="0"/>
            <a:ext cx="4343400" cy="5143500"/>
          </a:xfrm>
          <a:prstGeom prst="rect">
            <a:avLst/>
          </a:prstGeom>
          <a:noFill/>
          <a:ln>
            <a:noFill/>
          </a:ln>
        </p:spPr>
        <p:txBody>
          <a:bodyPr anchorCtr="0" anchor="t" bIns="0" lIns="0" spcFirstLastPara="1" rIns="0" wrap="square" tIns="0">
            <a:noAutofit/>
          </a:bodyPr>
          <a:lstStyle>
            <a:lvl1pPr lvl="0" marR="0" rtl="0" algn="ctr">
              <a:lnSpc>
                <a:spcPct val="95000"/>
              </a:lnSpc>
              <a:spcBef>
                <a:spcPts val="600"/>
              </a:spcBef>
              <a:spcAft>
                <a:spcPts val="0"/>
              </a:spcAft>
              <a:buClr>
                <a:schemeClr val="dk1"/>
              </a:buClr>
              <a:buSzPts val="1200"/>
              <a:buFont typeface="Arial"/>
              <a:buNone/>
              <a:defRPr b="0" i="0" sz="1200" u="none" cap="none" strike="noStrike">
                <a:solidFill>
                  <a:schemeClr val="dk1"/>
                </a:solidFill>
                <a:latin typeface="Century Gothic"/>
                <a:ea typeface="Century Gothic"/>
                <a:cs typeface="Century Gothic"/>
                <a:sym typeface="Century Gothic"/>
              </a:defRPr>
            </a:lvl1pPr>
            <a:lvl2pPr lvl="1" marR="0" rtl="0" algn="l">
              <a:lnSpc>
                <a:spcPct val="85000"/>
              </a:lnSpc>
              <a:spcBef>
                <a:spcPts val="200"/>
              </a:spcBef>
              <a:spcAft>
                <a:spcPts val="0"/>
              </a:spcAft>
              <a:buClr>
                <a:schemeClr val="dk1"/>
              </a:buClr>
              <a:buSzPts val="1600"/>
              <a:buFont typeface="Arial"/>
              <a:buChar char="–"/>
              <a:defRPr b="0" i="0" sz="1600" u="none" cap="none" strike="noStrike">
                <a:solidFill>
                  <a:schemeClr val="dk1"/>
                </a:solidFill>
                <a:latin typeface="Century Gothic"/>
                <a:ea typeface="Century Gothic"/>
                <a:cs typeface="Century Gothic"/>
                <a:sym typeface="Century Gothic"/>
              </a:defRPr>
            </a:lvl2pPr>
            <a:lvl3pPr lvl="2" marR="0" rtl="0" algn="l">
              <a:lnSpc>
                <a:spcPct val="85000"/>
              </a:lnSpc>
              <a:spcBef>
                <a:spcPts val="200"/>
              </a:spcBef>
              <a:spcAft>
                <a:spcPts val="0"/>
              </a:spcAft>
              <a:buClr>
                <a:schemeClr val="dk1"/>
              </a:buClr>
              <a:buSzPts val="1400"/>
              <a:buFont typeface="Arial"/>
              <a:buChar char="-"/>
              <a:defRPr b="0" i="0" sz="1400" u="none" cap="none" strike="noStrike">
                <a:solidFill>
                  <a:schemeClr val="dk1"/>
                </a:solidFill>
                <a:latin typeface="Century Gothic"/>
                <a:ea typeface="Century Gothic"/>
                <a:cs typeface="Century Gothic"/>
                <a:sym typeface="Century Gothic"/>
              </a:defRPr>
            </a:lvl3pPr>
            <a:lvl4pPr lvl="3"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4pPr>
            <a:lvl5pPr lvl="4" marR="0" rtl="0" algn="l">
              <a:lnSpc>
                <a:spcPct val="95000"/>
              </a:lnSpc>
              <a:spcBef>
                <a:spcPts val="600"/>
              </a:spcBef>
              <a:spcAft>
                <a:spcPts val="0"/>
              </a:spcAft>
              <a:buClr>
                <a:schemeClr val="accent1"/>
              </a:buClr>
              <a:buSzPts val="1800"/>
              <a:buFont typeface="Arial"/>
              <a:buChar char="​"/>
              <a:defRPr b="0" i="0" sz="1800" u="none" cap="none" strike="noStrike">
                <a:solidFill>
                  <a:schemeClr val="accent1"/>
                </a:solidFill>
                <a:latin typeface="Century Gothic"/>
                <a:ea typeface="Century Gothic"/>
                <a:cs typeface="Century Gothic"/>
                <a:sym typeface="Century Gothic"/>
              </a:defRPr>
            </a:lvl5pPr>
            <a:lvl6pPr lvl="5" marR="0" rtl="0" algn="l">
              <a:lnSpc>
                <a:spcPct val="95000"/>
              </a:lnSpc>
              <a:spcBef>
                <a:spcPts val="600"/>
              </a:spcBef>
              <a:spcAft>
                <a:spcPts val="0"/>
              </a:spcAft>
              <a:buClr>
                <a:schemeClr val="accent2"/>
              </a:buClr>
              <a:buSzPts val="1800"/>
              <a:buFont typeface="Arial"/>
              <a:buChar char="​"/>
              <a:defRPr b="0" i="0" sz="1800" u="none" cap="none" strike="noStrike">
                <a:solidFill>
                  <a:schemeClr val="accent2"/>
                </a:solidFill>
                <a:latin typeface="Century Gothic"/>
                <a:ea typeface="Century Gothic"/>
                <a:cs typeface="Century Gothic"/>
                <a:sym typeface="Century Gothic"/>
              </a:defRPr>
            </a:lvl6pPr>
            <a:lvl7pPr lvl="6" marR="0" rtl="0" algn="l">
              <a:lnSpc>
                <a:spcPct val="95000"/>
              </a:lnSpc>
              <a:spcBef>
                <a:spcPts val="1000"/>
              </a:spcBef>
              <a:spcAft>
                <a:spcPts val="0"/>
              </a:spcAft>
              <a:buClr>
                <a:schemeClr val="dk1"/>
              </a:buClr>
              <a:buSzPts val="1800"/>
              <a:buFont typeface="Arial"/>
              <a:buChar char="​"/>
              <a:defRPr b="1" i="0" sz="1800" u="none" cap="none" strike="noStrike">
                <a:solidFill>
                  <a:schemeClr val="dk1"/>
                </a:solidFill>
                <a:latin typeface="Century Gothic"/>
                <a:ea typeface="Century Gothic"/>
                <a:cs typeface="Century Gothic"/>
                <a:sym typeface="Century Gothic"/>
              </a:defRPr>
            </a:lvl7pPr>
            <a:lvl8pPr lvl="7" marR="0" rtl="0" algn="l">
              <a:lnSpc>
                <a:spcPct val="95000"/>
              </a:lnSpc>
              <a:spcBef>
                <a:spcPts val="200"/>
              </a:spcBef>
              <a:spcAft>
                <a:spcPts val="0"/>
              </a:spcAft>
              <a:buClr>
                <a:schemeClr val="dk1"/>
              </a:buClr>
              <a:buSzPts val="1800"/>
              <a:buFont typeface="Century Gothic"/>
              <a:buAutoNum type="arabicPeriod"/>
              <a:defRPr b="0" i="0" sz="1800" u="none" cap="none" strike="noStrike">
                <a:solidFill>
                  <a:schemeClr val="dk1"/>
                </a:solidFill>
                <a:latin typeface="Century Gothic"/>
                <a:ea typeface="Century Gothic"/>
                <a:cs typeface="Century Gothic"/>
                <a:sym typeface="Century Gothic"/>
              </a:defRPr>
            </a:lvl8pPr>
            <a:lvl9pPr lvl="8" marR="0" rtl="0" algn="l">
              <a:lnSpc>
                <a:spcPct val="95000"/>
              </a:lnSpc>
              <a:spcBef>
                <a:spcPts val="400"/>
              </a:spcBef>
              <a:spcAft>
                <a:spcPts val="400"/>
              </a:spcAft>
              <a:buClr>
                <a:schemeClr val="accent6"/>
              </a:buClr>
              <a:buSzPts val="900"/>
              <a:buFont typeface="Arial"/>
              <a:buChar char="​"/>
              <a:defRPr b="0" i="0" sz="900" u="none" cap="none" strike="noStrike">
                <a:solidFill>
                  <a:schemeClr val="accent6"/>
                </a:solidFill>
                <a:latin typeface="Century Gothic"/>
                <a:ea typeface="Century Gothic"/>
                <a:cs typeface="Century Gothic"/>
                <a:sym typeface="Century Gothic"/>
              </a:defRPr>
            </a:lvl9pPr>
          </a:lstStyle>
          <a:p/>
        </p:txBody>
      </p:sp>
    </p:spTree>
  </p:cSld>
  <p:clrMapOvr>
    <a:masterClrMapping/>
  </p:clrMapOvr>
  <p:transition spd="med">
    <p:fade/>
  </p:transition>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p:cSld name="1_Two Content">
    <p:spTree>
      <p:nvGrpSpPr>
        <p:cNvPr id="97" name="Shape 97"/>
        <p:cNvGrpSpPr/>
        <p:nvPr/>
      </p:nvGrpSpPr>
      <p:grpSpPr>
        <a:xfrm>
          <a:off x="0" y="0"/>
          <a:ext cx="0" cy="0"/>
          <a:chOff x="0" y="0"/>
          <a:chExt cx="0" cy="0"/>
        </a:xfrm>
      </p:grpSpPr>
      <p:sp>
        <p:nvSpPr>
          <p:cNvPr id="98" name="Google Shape;98;p21"/>
          <p:cNvSpPr txBox="1"/>
          <p:nvPr>
            <p:ph idx="1" type="body"/>
          </p:nvPr>
        </p:nvSpPr>
        <p:spPr>
          <a:xfrm>
            <a:off x="4800600" y="1216188"/>
            <a:ext cx="3886200" cy="3343998"/>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lvl1pPr>
            <a:lvl2pPr indent="-330200" lvl="1" marL="914400" algn="l">
              <a:lnSpc>
                <a:spcPct val="85000"/>
              </a:lnSpc>
              <a:spcBef>
                <a:spcPts val="200"/>
              </a:spcBef>
              <a:spcAft>
                <a:spcPts val="0"/>
              </a:spcAft>
              <a:buClr>
                <a:schemeClr val="dk1"/>
              </a:buClr>
              <a:buSzPts val="1600"/>
              <a:buChar char="–"/>
              <a:defRPr sz="1600"/>
            </a:lvl2pPr>
            <a:lvl3pPr indent="-317500" lvl="2" marL="1371600" algn="l">
              <a:lnSpc>
                <a:spcPct val="85000"/>
              </a:lnSpc>
              <a:spcBef>
                <a:spcPts val="200"/>
              </a:spcBef>
              <a:spcAft>
                <a:spcPts val="0"/>
              </a:spcAft>
              <a:buClr>
                <a:schemeClr val="dk1"/>
              </a:buClr>
              <a:buSzPts val="1400"/>
              <a:buChar char="-"/>
              <a:defRPr sz="14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99" name="Google Shape;99;p21"/>
          <p:cNvSpPr txBox="1"/>
          <p:nvPr>
            <p:ph idx="2" type="body"/>
          </p:nvPr>
        </p:nvSpPr>
        <p:spPr>
          <a:xfrm>
            <a:off x="457200" y="1216152"/>
            <a:ext cx="3886200" cy="3344436"/>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lvl1pPr>
            <a:lvl2pPr indent="-330200" lvl="1" marL="914400" algn="l">
              <a:lnSpc>
                <a:spcPct val="85000"/>
              </a:lnSpc>
              <a:spcBef>
                <a:spcPts val="200"/>
              </a:spcBef>
              <a:spcAft>
                <a:spcPts val="0"/>
              </a:spcAft>
              <a:buClr>
                <a:schemeClr val="dk1"/>
              </a:buClr>
              <a:buSzPts val="1600"/>
              <a:buChar char="–"/>
              <a:defRPr sz="1600"/>
            </a:lvl2pPr>
            <a:lvl3pPr indent="-317500" lvl="2" marL="1371600" algn="l">
              <a:lnSpc>
                <a:spcPct val="85000"/>
              </a:lnSpc>
              <a:spcBef>
                <a:spcPts val="200"/>
              </a:spcBef>
              <a:spcAft>
                <a:spcPts val="0"/>
              </a:spcAft>
              <a:buClr>
                <a:schemeClr val="dk1"/>
              </a:buClr>
              <a:buSzPts val="1400"/>
              <a:buChar char="-"/>
              <a:defRPr sz="14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00" name="Google Shape;100;p21"/>
          <p:cNvSpPr txBox="1"/>
          <p:nvPr>
            <p:ph idx="3" type="body"/>
          </p:nvPr>
        </p:nvSpPr>
        <p:spPr>
          <a:xfrm>
            <a:off x="3297994" y="4855464"/>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01" name="Google Shape;101;p21"/>
          <p:cNvSpPr txBox="1"/>
          <p:nvPr>
            <p:ph type="title"/>
          </p:nvPr>
        </p:nvSpPr>
        <p:spPr>
          <a:xfrm>
            <a:off x="457200" y="173735"/>
            <a:ext cx="8229600" cy="700031"/>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spd="med">
    <p:fade/>
  </p:transition>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ntent">
  <p:cSld name="Title and Three Content">
    <p:spTree>
      <p:nvGrpSpPr>
        <p:cNvPr id="102" name="Shape 102"/>
        <p:cNvGrpSpPr/>
        <p:nvPr/>
      </p:nvGrpSpPr>
      <p:grpSpPr>
        <a:xfrm>
          <a:off x="0" y="0"/>
          <a:ext cx="0" cy="0"/>
          <a:chOff x="0" y="0"/>
          <a:chExt cx="0" cy="0"/>
        </a:xfrm>
      </p:grpSpPr>
      <p:sp>
        <p:nvSpPr>
          <p:cNvPr id="103" name="Google Shape;103;p22"/>
          <p:cNvSpPr txBox="1"/>
          <p:nvPr>
            <p:ph idx="1" type="body"/>
          </p:nvPr>
        </p:nvSpPr>
        <p:spPr>
          <a:xfrm>
            <a:off x="457200" y="1216152"/>
            <a:ext cx="2438400" cy="3344034"/>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lvl1pPr>
            <a:lvl2pPr indent="-330200" lvl="1" marL="914400" algn="l">
              <a:lnSpc>
                <a:spcPct val="85000"/>
              </a:lnSpc>
              <a:spcBef>
                <a:spcPts val="200"/>
              </a:spcBef>
              <a:spcAft>
                <a:spcPts val="0"/>
              </a:spcAft>
              <a:buClr>
                <a:schemeClr val="dk1"/>
              </a:buClr>
              <a:buSzPts val="1600"/>
              <a:buChar char="–"/>
              <a:defRPr sz="1600"/>
            </a:lvl2pPr>
            <a:lvl3pPr indent="-317500" lvl="2" marL="1371600" algn="l">
              <a:lnSpc>
                <a:spcPct val="85000"/>
              </a:lnSpc>
              <a:spcBef>
                <a:spcPts val="200"/>
              </a:spcBef>
              <a:spcAft>
                <a:spcPts val="0"/>
              </a:spcAft>
              <a:buClr>
                <a:schemeClr val="dk1"/>
              </a:buClr>
              <a:buSzPts val="1400"/>
              <a:buChar char="-"/>
              <a:defRPr sz="14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04" name="Google Shape;104;p22"/>
          <p:cNvSpPr txBox="1"/>
          <p:nvPr>
            <p:ph idx="2" type="body"/>
          </p:nvPr>
        </p:nvSpPr>
        <p:spPr>
          <a:xfrm>
            <a:off x="3352800" y="1216152"/>
            <a:ext cx="2438400" cy="3344034"/>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lvl1pPr>
            <a:lvl2pPr indent="-330200" lvl="1" marL="914400" algn="l">
              <a:lnSpc>
                <a:spcPct val="85000"/>
              </a:lnSpc>
              <a:spcBef>
                <a:spcPts val="200"/>
              </a:spcBef>
              <a:spcAft>
                <a:spcPts val="0"/>
              </a:spcAft>
              <a:buClr>
                <a:schemeClr val="dk1"/>
              </a:buClr>
              <a:buSzPts val="1600"/>
              <a:buChar char="–"/>
              <a:defRPr sz="1600"/>
            </a:lvl2pPr>
            <a:lvl3pPr indent="-317500" lvl="2" marL="1371600" algn="l">
              <a:lnSpc>
                <a:spcPct val="85000"/>
              </a:lnSpc>
              <a:spcBef>
                <a:spcPts val="200"/>
              </a:spcBef>
              <a:spcAft>
                <a:spcPts val="0"/>
              </a:spcAft>
              <a:buClr>
                <a:schemeClr val="dk1"/>
              </a:buClr>
              <a:buSzPts val="1400"/>
              <a:buChar char="-"/>
              <a:defRPr sz="14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05" name="Google Shape;105;p22"/>
          <p:cNvSpPr txBox="1"/>
          <p:nvPr>
            <p:ph idx="3" type="body"/>
          </p:nvPr>
        </p:nvSpPr>
        <p:spPr>
          <a:xfrm>
            <a:off x="6248400" y="1216152"/>
            <a:ext cx="2438400" cy="3344034"/>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lvl1pPr>
            <a:lvl2pPr indent="-330200" lvl="1" marL="914400" algn="l">
              <a:lnSpc>
                <a:spcPct val="85000"/>
              </a:lnSpc>
              <a:spcBef>
                <a:spcPts val="200"/>
              </a:spcBef>
              <a:spcAft>
                <a:spcPts val="0"/>
              </a:spcAft>
              <a:buClr>
                <a:schemeClr val="dk1"/>
              </a:buClr>
              <a:buSzPts val="1600"/>
              <a:buChar char="–"/>
              <a:defRPr sz="1600"/>
            </a:lvl2pPr>
            <a:lvl3pPr indent="-317500" lvl="2" marL="1371600" algn="l">
              <a:lnSpc>
                <a:spcPct val="85000"/>
              </a:lnSpc>
              <a:spcBef>
                <a:spcPts val="200"/>
              </a:spcBef>
              <a:spcAft>
                <a:spcPts val="0"/>
              </a:spcAft>
              <a:buClr>
                <a:schemeClr val="dk1"/>
              </a:buClr>
              <a:buSzPts val="1400"/>
              <a:buChar char="-"/>
              <a:defRPr sz="14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06" name="Google Shape;106;p22"/>
          <p:cNvSpPr txBox="1"/>
          <p:nvPr>
            <p:ph idx="4" type="body"/>
          </p:nvPr>
        </p:nvSpPr>
        <p:spPr>
          <a:xfrm>
            <a:off x="3297994" y="4855464"/>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07" name="Google Shape;107;p22"/>
          <p:cNvSpPr txBox="1"/>
          <p:nvPr>
            <p:ph type="title"/>
          </p:nvPr>
        </p:nvSpPr>
        <p:spPr>
          <a:xfrm>
            <a:off x="457200" y="173736"/>
            <a:ext cx="8229600" cy="704088"/>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spd="med">
    <p:fade/>
  </p:transition>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Left Weighted">
  <p:cSld name="Title and Two Left Weighted">
    <p:spTree>
      <p:nvGrpSpPr>
        <p:cNvPr id="108" name="Shape 108"/>
        <p:cNvGrpSpPr/>
        <p:nvPr/>
      </p:nvGrpSpPr>
      <p:grpSpPr>
        <a:xfrm>
          <a:off x="0" y="0"/>
          <a:ext cx="0" cy="0"/>
          <a:chOff x="0" y="0"/>
          <a:chExt cx="0" cy="0"/>
        </a:xfrm>
      </p:grpSpPr>
      <p:sp>
        <p:nvSpPr>
          <p:cNvPr id="109" name="Google Shape;109;p23"/>
          <p:cNvSpPr/>
          <p:nvPr>
            <p:ph idx="2" type="pic"/>
          </p:nvPr>
        </p:nvSpPr>
        <p:spPr>
          <a:xfrm>
            <a:off x="6258796" y="1216152"/>
            <a:ext cx="2438400" cy="3068356"/>
          </a:xfrm>
          <a:prstGeom prst="rect">
            <a:avLst/>
          </a:prstGeom>
          <a:noFill/>
          <a:ln>
            <a:noFill/>
          </a:ln>
        </p:spPr>
        <p:txBody>
          <a:bodyPr anchorCtr="0" anchor="t" bIns="0" lIns="0" spcFirstLastPara="1" rIns="0" wrap="square" tIns="0">
            <a:noAutofit/>
          </a:bodyPr>
          <a:lstStyle>
            <a:lvl1pPr lvl="0"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1pPr>
            <a:lvl2pPr lvl="1" marR="0" rtl="0" algn="l">
              <a:lnSpc>
                <a:spcPct val="85000"/>
              </a:lnSpc>
              <a:spcBef>
                <a:spcPts val="200"/>
              </a:spcBef>
              <a:spcAft>
                <a:spcPts val="0"/>
              </a:spcAft>
              <a:buClr>
                <a:schemeClr val="dk1"/>
              </a:buClr>
              <a:buSzPts val="1600"/>
              <a:buFont typeface="Arial"/>
              <a:buChar char="–"/>
              <a:defRPr b="0" i="0" sz="1600" u="none" cap="none" strike="noStrike">
                <a:solidFill>
                  <a:schemeClr val="dk1"/>
                </a:solidFill>
                <a:latin typeface="Century Gothic"/>
                <a:ea typeface="Century Gothic"/>
                <a:cs typeface="Century Gothic"/>
                <a:sym typeface="Century Gothic"/>
              </a:defRPr>
            </a:lvl2pPr>
            <a:lvl3pPr lvl="2" marR="0" rtl="0" algn="l">
              <a:lnSpc>
                <a:spcPct val="85000"/>
              </a:lnSpc>
              <a:spcBef>
                <a:spcPts val="200"/>
              </a:spcBef>
              <a:spcAft>
                <a:spcPts val="0"/>
              </a:spcAft>
              <a:buClr>
                <a:schemeClr val="dk1"/>
              </a:buClr>
              <a:buSzPts val="1400"/>
              <a:buFont typeface="Arial"/>
              <a:buChar char="-"/>
              <a:defRPr b="0" i="0" sz="1400" u="none" cap="none" strike="noStrike">
                <a:solidFill>
                  <a:schemeClr val="dk1"/>
                </a:solidFill>
                <a:latin typeface="Century Gothic"/>
                <a:ea typeface="Century Gothic"/>
                <a:cs typeface="Century Gothic"/>
                <a:sym typeface="Century Gothic"/>
              </a:defRPr>
            </a:lvl3pPr>
            <a:lvl4pPr lvl="3"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4pPr>
            <a:lvl5pPr lvl="4" marR="0" rtl="0" algn="l">
              <a:lnSpc>
                <a:spcPct val="95000"/>
              </a:lnSpc>
              <a:spcBef>
                <a:spcPts val="600"/>
              </a:spcBef>
              <a:spcAft>
                <a:spcPts val="0"/>
              </a:spcAft>
              <a:buClr>
                <a:schemeClr val="accent1"/>
              </a:buClr>
              <a:buSzPts val="1800"/>
              <a:buFont typeface="Arial"/>
              <a:buChar char="​"/>
              <a:defRPr b="0" i="0" sz="1800" u="none" cap="none" strike="noStrike">
                <a:solidFill>
                  <a:schemeClr val="accent1"/>
                </a:solidFill>
                <a:latin typeface="Century Gothic"/>
                <a:ea typeface="Century Gothic"/>
                <a:cs typeface="Century Gothic"/>
                <a:sym typeface="Century Gothic"/>
              </a:defRPr>
            </a:lvl5pPr>
            <a:lvl6pPr lvl="5" marR="0" rtl="0" algn="l">
              <a:lnSpc>
                <a:spcPct val="95000"/>
              </a:lnSpc>
              <a:spcBef>
                <a:spcPts val="600"/>
              </a:spcBef>
              <a:spcAft>
                <a:spcPts val="0"/>
              </a:spcAft>
              <a:buClr>
                <a:schemeClr val="accent2"/>
              </a:buClr>
              <a:buSzPts val="1800"/>
              <a:buFont typeface="Arial"/>
              <a:buChar char="​"/>
              <a:defRPr b="0" i="0" sz="1800" u="none" cap="none" strike="noStrike">
                <a:solidFill>
                  <a:schemeClr val="accent2"/>
                </a:solidFill>
                <a:latin typeface="Century Gothic"/>
                <a:ea typeface="Century Gothic"/>
                <a:cs typeface="Century Gothic"/>
                <a:sym typeface="Century Gothic"/>
              </a:defRPr>
            </a:lvl6pPr>
            <a:lvl7pPr lvl="6" marR="0" rtl="0" algn="l">
              <a:lnSpc>
                <a:spcPct val="95000"/>
              </a:lnSpc>
              <a:spcBef>
                <a:spcPts val="1000"/>
              </a:spcBef>
              <a:spcAft>
                <a:spcPts val="0"/>
              </a:spcAft>
              <a:buClr>
                <a:schemeClr val="dk1"/>
              </a:buClr>
              <a:buSzPts val="1800"/>
              <a:buFont typeface="Arial"/>
              <a:buChar char="​"/>
              <a:defRPr b="1" i="0" sz="1800" u="none" cap="none" strike="noStrike">
                <a:solidFill>
                  <a:schemeClr val="dk1"/>
                </a:solidFill>
                <a:latin typeface="Century Gothic"/>
                <a:ea typeface="Century Gothic"/>
                <a:cs typeface="Century Gothic"/>
                <a:sym typeface="Century Gothic"/>
              </a:defRPr>
            </a:lvl7pPr>
            <a:lvl8pPr lvl="7" marR="0" rtl="0" algn="l">
              <a:lnSpc>
                <a:spcPct val="95000"/>
              </a:lnSpc>
              <a:spcBef>
                <a:spcPts val="200"/>
              </a:spcBef>
              <a:spcAft>
                <a:spcPts val="0"/>
              </a:spcAft>
              <a:buClr>
                <a:schemeClr val="dk1"/>
              </a:buClr>
              <a:buSzPts val="1800"/>
              <a:buFont typeface="Century Gothic"/>
              <a:buAutoNum type="arabicPeriod"/>
              <a:defRPr b="0" i="0" sz="1800" u="none" cap="none" strike="noStrike">
                <a:solidFill>
                  <a:schemeClr val="dk1"/>
                </a:solidFill>
                <a:latin typeface="Century Gothic"/>
                <a:ea typeface="Century Gothic"/>
                <a:cs typeface="Century Gothic"/>
                <a:sym typeface="Century Gothic"/>
              </a:defRPr>
            </a:lvl8pPr>
            <a:lvl9pPr lvl="8" marR="0" rtl="0" algn="l">
              <a:lnSpc>
                <a:spcPct val="95000"/>
              </a:lnSpc>
              <a:spcBef>
                <a:spcPts val="400"/>
              </a:spcBef>
              <a:spcAft>
                <a:spcPts val="400"/>
              </a:spcAft>
              <a:buClr>
                <a:schemeClr val="accent6"/>
              </a:buClr>
              <a:buSzPts val="900"/>
              <a:buFont typeface="Arial"/>
              <a:buChar char="​"/>
              <a:defRPr b="0" i="0" sz="900" u="none" cap="none" strike="noStrike">
                <a:solidFill>
                  <a:schemeClr val="accent6"/>
                </a:solidFill>
                <a:latin typeface="Century Gothic"/>
                <a:ea typeface="Century Gothic"/>
                <a:cs typeface="Century Gothic"/>
                <a:sym typeface="Century Gothic"/>
              </a:defRPr>
            </a:lvl9pPr>
          </a:lstStyle>
          <a:p/>
        </p:txBody>
      </p:sp>
      <p:sp>
        <p:nvSpPr>
          <p:cNvPr id="110" name="Google Shape;110;p23"/>
          <p:cNvSpPr txBox="1"/>
          <p:nvPr>
            <p:ph idx="1" type="body"/>
          </p:nvPr>
        </p:nvSpPr>
        <p:spPr>
          <a:xfrm>
            <a:off x="457200" y="1216152"/>
            <a:ext cx="5334000" cy="3344035"/>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lvl1pPr>
            <a:lvl2pPr indent="-330200" lvl="1" marL="914400" algn="l">
              <a:lnSpc>
                <a:spcPct val="85000"/>
              </a:lnSpc>
              <a:spcBef>
                <a:spcPts val="200"/>
              </a:spcBef>
              <a:spcAft>
                <a:spcPts val="0"/>
              </a:spcAft>
              <a:buClr>
                <a:schemeClr val="dk1"/>
              </a:buClr>
              <a:buSzPts val="1600"/>
              <a:buChar char="–"/>
              <a:defRPr sz="1600"/>
            </a:lvl2pPr>
            <a:lvl3pPr indent="-317500" lvl="2" marL="1371600" algn="l">
              <a:lnSpc>
                <a:spcPct val="85000"/>
              </a:lnSpc>
              <a:spcBef>
                <a:spcPts val="200"/>
              </a:spcBef>
              <a:spcAft>
                <a:spcPts val="0"/>
              </a:spcAft>
              <a:buClr>
                <a:schemeClr val="dk1"/>
              </a:buClr>
              <a:buSzPts val="1400"/>
              <a:buChar char="-"/>
              <a:defRPr sz="14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11" name="Google Shape;111;p23"/>
          <p:cNvSpPr txBox="1"/>
          <p:nvPr>
            <p:ph idx="3" type="body"/>
          </p:nvPr>
        </p:nvSpPr>
        <p:spPr>
          <a:xfrm>
            <a:off x="3297994" y="4855464"/>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12" name="Google Shape;112;p23"/>
          <p:cNvSpPr txBox="1"/>
          <p:nvPr>
            <p:ph type="title"/>
          </p:nvPr>
        </p:nvSpPr>
        <p:spPr>
          <a:xfrm>
            <a:off x="457200" y="173736"/>
            <a:ext cx="8229600" cy="704088"/>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spd="med">
    <p:fade/>
  </p:transition>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Right Weighted">
  <p:cSld name="Title and Two Right Weighted">
    <p:spTree>
      <p:nvGrpSpPr>
        <p:cNvPr id="113" name="Shape 113"/>
        <p:cNvGrpSpPr/>
        <p:nvPr/>
      </p:nvGrpSpPr>
      <p:grpSpPr>
        <a:xfrm>
          <a:off x="0" y="0"/>
          <a:ext cx="0" cy="0"/>
          <a:chOff x="0" y="0"/>
          <a:chExt cx="0" cy="0"/>
        </a:xfrm>
      </p:grpSpPr>
      <p:sp>
        <p:nvSpPr>
          <p:cNvPr id="114" name="Google Shape;114;p24"/>
          <p:cNvSpPr/>
          <p:nvPr>
            <p:ph idx="2" type="pic"/>
          </p:nvPr>
        </p:nvSpPr>
        <p:spPr>
          <a:xfrm>
            <a:off x="457200" y="1216152"/>
            <a:ext cx="2438400" cy="3070129"/>
          </a:xfrm>
          <a:prstGeom prst="rect">
            <a:avLst/>
          </a:prstGeom>
          <a:noFill/>
          <a:ln>
            <a:noFill/>
          </a:ln>
        </p:spPr>
        <p:txBody>
          <a:bodyPr anchorCtr="0" anchor="t" bIns="0" lIns="0" spcFirstLastPara="1" rIns="0" wrap="square" tIns="0">
            <a:noAutofit/>
          </a:bodyPr>
          <a:lstStyle>
            <a:lvl1pPr lvl="0"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1pPr>
            <a:lvl2pPr lvl="1" marR="0" rtl="0" algn="l">
              <a:lnSpc>
                <a:spcPct val="85000"/>
              </a:lnSpc>
              <a:spcBef>
                <a:spcPts val="200"/>
              </a:spcBef>
              <a:spcAft>
                <a:spcPts val="0"/>
              </a:spcAft>
              <a:buClr>
                <a:schemeClr val="dk1"/>
              </a:buClr>
              <a:buSzPts val="1600"/>
              <a:buFont typeface="Arial"/>
              <a:buChar char="–"/>
              <a:defRPr b="0" i="0" sz="1600" u="none" cap="none" strike="noStrike">
                <a:solidFill>
                  <a:schemeClr val="dk1"/>
                </a:solidFill>
                <a:latin typeface="Century Gothic"/>
                <a:ea typeface="Century Gothic"/>
                <a:cs typeface="Century Gothic"/>
                <a:sym typeface="Century Gothic"/>
              </a:defRPr>
            </a:lvl2pPr>
            <a:lvl3pPr lvl="2" marR="0" rtl="0" algn="l">
              <a:lnSpc>
                <a:spcPct val="85000"/>
              </a:lnSpc>
              <a:spcBef>
                <a:spcPts val="200"/>
              </a:spcBef>
              <a:spcAft>
                <a:spcPts val="0"/>
              </a:spcAft>
              <a:buClr>
                <a:schemeClr val="dk1"/>
              </a:buClr>
              <a:buSzPts val="1400"/>
              <a:buFont typeface="Arial"/>
              <a:buChar char="-"/>
              <a:defRPr b="0" i="0" sz="1400" u="none" cap="none" strike="noStrike">
                <a:solidFill>
                  <a:schemeClr val="dk1"/>
                </a:solidFill>
                <a:latin typeface="Century Gothic"/>
                <a:ea typeface="Century Gothic"/>
                <a:cs typeface="Century Gothic"/>
                <a:sym typeface="Century Gothic"/>
              </a:defRPr>
            </a:lvl3pPr>
            <a:lvl4pPr lvl="3"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4pPr>
            <a:lvl5pPr lvl="4" marR="0" rtl="0" algn="l">
              <a:lnSpc>
                <a:spcPct val="95000"/>
              </a:lnSpc>
              <a:spcBef>
                <a:spcPts val="600"/>
              </a:spcBef>
              <a:spcAft>
                <a:spcPts val="0"/>
              </a:spcAft>
              <a:buClr>
                <a:schemeClr val="accent1"/>
              </a:buClr>
              <a:buSzPts val="1800"/>
              <a:buFont typeface="Arial"/>
              <a:buChar char="​"/>
              <a:defRPr b="0" i="0" sz="1800" u="none" cap="none" strike="noStrike">
                <a:solidFill>
                  <a:schemeClr val="accent1"/>
                </a:solidFill>
                <a:latin typeface="Century Gothic"/>
                <a:ea typeface="Century Gothic"/>
                <a:cs typeface="Century Gothic"/>
                <a:sym typeface="Century Gothic"/>
              </a:defRPr>
            </a:lvl5pPr>
            <a:lvl6pPr lvl="5" marR="0" rtl="0" algn="l">
              <a:lnSpc>
                <a:spcPct val="95000"/>
              </a:lnSpc>
              <a:spcBef>
                <a:spcPts val="600"/>
              </a:spcBef>
              <a:spcAft>
                <a:spcPts val="0"/>
              </a:spcAft>
              <a:buClr>
                <a:schemeClr val="accent2"/>
              </a:buClr>
              <a:buSzPts val="1800"/>
              <a:buFont typeface="Arial"/>
              <a:buChar char="​"/>
              <a:defRPr b="0" i="0" sz="1800" u="none" cap="none" strike="noStrike">
                <a:solidFill>
                  <a:schemeClr val="accent2"/>
                </a:solidFill>
                <a:latin typeface="Century Gothic"/>
                <a:ea typeface="Century Gothic"/>
                <a:cs typeface="Century Gothic"/>
                <a:sym typeface="Century Gothic"/>
              </a:defRPr>
            </a:lvl6pPr>
            <a:lvl7pPr lvl="6" marR="0" rtl="0" algn="l">
              <a:lnSpc>
                <a:spcPct val="95000"/>
              </a:lnSpc>
              <a:spcBef>
                <a:spcPts val="1000"/>
              </a:spcBef>
              <a:spcAft>
                <a:spcPts val="0"/>
              </a:spcAft>
              <a:buClr>
                <a:schemeClr val="dk1"/>
              </a:buClr>
              <a:buSzPts val="1800"/>
              <a:buFont typeface="Arial"/>
              <a:buChar char="​"/>
              <a:defRPr b="1" i="0" sz="1800" u="none" cap="none" strike="noStrike">
                <a:solidFill>
                  <a:schemeClr val="dk1"/>
                </a:solidFill>
                <a:latin typeface="Century Gothic"/>
                <a:ea typeface="Century Gothic"/>
                <a:cs typeface="Century Gothic"/>
                <a:sym typeface="Century Gothic"/>
              </a:defRPr>
            </a:lvl7pPr>
            <a:lvl8pPr lvl="7" marR="0" rtl="0" algn="l">
              <a:lnSpc>
                <a:spcPct val="95000"/>
              </a:lnSpc>
              <a:spcBef>
                <a:spcPts val="200"/>
              </a:spcBef>
              <a:spcAft>
                <a:spcPts val="0"/>
              </a:spcAft>
              <a:buClr>
                <a:schemeClr val="dk1"/>
              </a:buClr>
              <a:buSzPts val="1800"/>
              <a:buFont typeface="Century Gothic"/>
              <a:buAutoNum type="arabicPeriod"/>
              <a:defRPr b="0" i="0" sz="1800" u="none" cap="none" strike="noStrike">
                <a:solidFill>
                  <a:schemeClr val="dk1"/>
                </a:solidFill>
                <a:latin typeface="Century Gothic"/>
                <a:ea typeface="Century Gothic"/>
                <a:cs typeface="Century Gothic"/>
                <a:sym typeface="Century Gothic"/>
              </a:defRPr>
            </a:lvl8pPr>
            <a:lvl9pPr lvl="8" marR="0" rtl="0" algn="l">
              <a:lnSpc>
                <a:spcPct val="95000"/>
              </a:lnSpc>
              <a:spcBef>
                <a:spcPts val="400"/>
              </a:spcBef>
              <a:spcAft>
                <a:spcPts val="400"/>
              </a:spcAft>
              <a:buClr>
                <a:schemeClr val="accent6"/>
              </a:buClr>
              <a:buSzPts val="900"/>
              <a:buFont typeface="Arial"/>
              <a:buChar char="​"/>
              <a:defRPr b="0" i="0" sz="900" u="none" cap="none" strike="noStrike">
                <a:solidFill>
                  <a:schemeClr val="accent6"/>
                </a:solidFill>
                <a:latin typeface="Century Gothic"/>
                <a:ea typeface="Century Gothic"/>
                <a:cs typeface="Century Gothic"/>
                <a:sym typeface="Century Gothic"/>
              </a:defRPr>
            </a:lvl9pPr>
          </a:lstStyle>
          <a:p/>
        </p:txBody>
      </p:sp>
      <p:sp>
        <p:nvSpPr>
          <p:cNvPr id="115" name="Google Shape;115;p24"/>
          <p:cNvSpPr txBox="1"/>
          <p:nvPr>
            <p:ph idx="1" type="body"/>
          </p:nvPr>
        </p:nvSpPr>
        <p:spPr>
          <a:xfrm>
            <a:off x="3352800" y="1216152"/>
            <a:ext cx="5334000" cy="3344034"/>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lvl1pPr>
            <a:lvl2pPr indent="-330200" lvl="1" marL="914400" algn="l">
              <a:lnSpc>
                <a:spcPct val="85000"/>
              </a:lnSpc>
              <a:spcBef>
                <a:spcPts val="200"/>
              </a:spcBef>
              <a:spcAft>
                <a:spcPts val="0"/>
              </a:spcAft>
              <a:buClr>
                <a:schemeClr val="dk1"/>
              </a:buClr>
              <a:buSzPts val="1600"/>
              <a:buChar char="–"/>
              <a:defRPr sz="1600"/>
            </a:lvl2pPr>
            <a:lvl3pPr indent="-317500" lvl="2" marL="1371600" algn="l">
              <a:lnSpc>
                <a:spcPct val="85000"/>
              </a:lnSpc>
              <a:spcBef>
                <a:spcPts val="200"/>
              </a:spcBef>
              <a:spcAft>
                <a:spcPts val="0"/>
              </a:spcAft>
              <a:buClr>
                <a:schemeClr val="dk1"/>
              </a:buClr>
              <a:buSzPts val="1400"/>
              <a:buChar char="-"/>
              <a:defRPr sz="14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16" name="Google Shape;116;p24"/>
          <p:cNvSpPr txBox="1"/>
          <p:nvPr>
            <p:ph idx="3" type="body"/>
          </p:nvPr>
        </p:nvSpPr>
        <p:spPr>
          <a:xfrm>
            <a:off x="3297994" y="4855464"/>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17" name="Google Shape;117;p24"/>
          <p:cNvSpPr txBox="1"/>
          <p:nvPr>
            <p:ph type="title"/>
          </p:nvPr>
        </p:nvSpPr>
        <p:spPr>
          <a:xfrm>
            <a:off x="457200" y="173736"/>
            <a:ext cx="8229600" cy="704088"/>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spd="med">
    <p:fade/>
  </p:transition>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Only">
  <p:cSld name="Title and Subtitle Only">
    <p:spTree>
      <p:nvGrpSpPr>
        <p:cNvPr id="118" name="Shape 118"/>
        <p:cNvGrpSpPr/>
        <p:nvPr/>
      </p:nvGrpSpPr>
      <p:grpSpPr>
        <a:xfrm>
          <a:off x="0" y="0"/>
          <a:ext cx="0" cy="0"/>
          <a:chOff x="0" y="0"/>
          <a:chExt cx="0" cy="0"/>
        </a:xfrm>
      </p:grpSpPr>
      <p:sp>
        <p:nvSpPr>
          <p:cNvPr id="119" name="Google Shape;119;p25"/>
          <p:cNvSpPr txBox="1"/>
          <p:nvPr>
            <p:ph idx="1" type="body"/>
          </p:nvPr>
        </p:nvSpPr>
        <p:spPr>
          <a:xfrm>
            <a:off x="3297994" y="4855464"/>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20" name="Google Shape;120;p25"/>
          <p:cNvSpPr txBox="1"/>
          <p:nvPr>
            <p:ph type="title"/>
          </p:nvPr>
        </p:nvSpPr>
        <p:spPr>
          <a:xfrm>
            <a:off x="457200" y="173736"/>
            <a:ext cx="8229600" cy="413639"/>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spd="med">
    <p:fade/>
  </p:transition>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21" name="Shape 121"/>
        <p:cNvGrpSpPr/>
        <p:nvPr/>
      </p:nvGrpSpPr>
      <p:grpSpPr>
        <a:xfrm>
          <a:off x="0" y="0"/>
          <a:ext cx="0" cy="0"/>
          <a:chOff x="0" y="0"/>
          <a:chExt cx="0" cy="0"/>
        </a:xfrm>
      </p:grpSpPr>
      <p:sp>
        <p:nvSpPr>
          <p:cNvPr id="122" name="Google Shape;122;p26"/>
          <p:cNvSpPr txBox="1"/>
          <p:nvPr>
            <p:ph idx="1" type="body"/>
          </p:nvPr>
        </p:nvSpPr>
        <p:spPr>
          <a:xfrm>
            <a:off x="3297994" y="4855464"/>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Tree>
  </p:cSld>
  <p:clrMapOvr>
    <a:masterClrMapping/>
  </p:clrMapOvr>
  <p:transition spd="med">
    <p:fade/>
  </p:transition>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se Study">
  <p:cSld name="Case Study">
    <p:spTree>
      <p:nvGrpSpPr>
        <p:cNvPr id="123" name="Shape 123"/>
        <p:cNvGrpSpPr/>
        <p:nvPr/>
      </p:nvGrpSpPr>
      <p:grpSpPr>
        <a:xfrm>
          <a:off x="0" y="0"/>
          <a:ext cx="0" cy="0"/>
          <a:chOff x="0" y="0"/>
          <a:chExt cx="0" cy="0"/>
        </a:xfrm>
      </p:grpSpPr>
      <p:sp>
        <p:nvSpPr>
          <p:cNvPr id="124" name="Google Shape;124;p27"/>
          <p:cNvSpPr txBox="1"/>
          <p:nvPr>
            <p:ph idx="1" type="body"/>
          </p:nvPr>
        </p:nvSpPr>
        <p:spPr>
          <a:xfrm>
            <a:off x="3514722" y="777240"/>
            <a:ext cx="5629278" cy="914400"/>
          </a:xfrm>
          <a:prstGeom prst="rect">
            <a:avLst/>
          </a:prstGeom>
          <a:solidFill>
            <a:srgbClr val="0079DB"/>
          </a:solidFill>
          <a:ln>
            <a:noFill/>
          </a:ln>
        </p:spPr>
        <p:txBody>
          <a:bodyPr anchorCtr="0" anchor="b" bIns="228600" lIns="228600" spcFirstLastPara="1" rIns="457200" wrap="square" tIns="137150">
            <a:noAutofit/>
          </a:bodyPr>
          <a:lstStyle>
            <a:lvl1pPr indent="-368300" lvl="0" marL="457200" algn="l">
              <a:lnSpc>
                <a:spcPct val="85000"/>
              </a:lnSpc>
              <a:spcBef>
                <a:spcPts val="200"/>
              </a:spcBef>
              <a:spcAft>
                <a:spcPts val="0"/>
              </a:spcAft>
              <a:buClr>
                <a:schemeClr val="lt1"/>
              </a:buClr>
              <a:buSzPts val="2200"/>
              <a:buFont typeface="Arial"/>
              <a:buChar char="​"/>
              <a:defRPr sz="2200">
                <a:solidFill>
                  <a:schemeClr val="lt1"/>
                </a:solidFill>
              </a:defRPr>
            </a:lvl1pPr>
            <a:lvl2pPr indent="-342900" lvl="1" marL="914400" algn="l">
              <a:lnSpc>
                <a:spcPct val="85000"/>
              </a:lnSpc>
              <a:spcBef>
                <a:spcPts val="200"/>
              </a:spcBef>
              <a:spcAft>
                <a:spcPts val="0"/>
              </a:spcAft>
              <a:buClr>
                <a:schemeClr val="lt1"/>
              </a:buClr>
              <a:buSzPts val="1800"/>
              <a:buFont typeface="Arial"/>
              <a:buChar char="​"/>
              <a:defRPr sz="1800">
                <a:solidFill>
                  <a:schemeClr val="lt1"/>
                </a:solidFill>
              </a:defRPr>
            </a:lvl2pPr>
            <a:lvl3pPr indent="-317500" lvl="2" marL="1371600" algn="l">
              <a:lnSpc>
                <a:spcPct val="85000"/>
              </a:lnSpc>
              <a:spcBef>
                <a:spcPts val="600"/>
              </a:spcBef>
              <a:spcAft>
                <a:spcPts val="0"/>
              </a:spcAft>
              <a:buClr>
                <a:schemeClr val="lt1"/>
              </a:buClr>
              <a:buSzPts val="1400"/>
              <a:buFont typeface="Arial"/>
              <a:buChar char="​"/>
              <a:defRPr b="1" sz="1400">
                <a:solidFill>
                  <a:schemeClr val="lt1"/>
                </a:solidFill>
              </a:defRPr>
            </a:lvl3pPr>
            <a:lvl4pPr indent="-317500" lvl="3" marL="1828800" algn="l">
              <a:lnSpc>
                <a:spcPct val="85000"/>
              </a:lnSpc>
              <a:spcBef>
                <a:spcPts val="200"/>
              </a:spcBef>
              <a:spcAft>
                <a:spcPts val="0"/>
              </a:spcAft>
              <a:buClr>
                <a:schemeClr val="lt1"/>
              </a:buClr>
              <a:buSzPts val="1400"/>
              <a:buFont typeface="Arial"/>
              <a:buChar char="​"/>
              <a:defRPr b="0" sz="1400">
                <a:solidFill>
                  <a:schemeClr val="lt1"/>
                </a:solidFill>
              </a:defRPr>
            </a:lvl4pPr>
            <a:lvl5pPr indent="-317500" lvl="4" marL="2286000" algn="l">
              <a:lnSpc>
                <a:spcPct val="85000"/>
              </a:lnSpc>
              <a:spcBef>
                <a:spcPts val="200"/>
              </a:spcBef>
              <a:spcAft>
                <a:spcPts val="0"/>
              </a:spcAft>
              <a:buClr>
                <a:schemeClr val="lt1"/>
              </a:buClr>
              <a:buSzPts val="1400"/>
              <a:buFont typeface="Arial"/>
              <a:buChar char="​"/>
              <a:defRPr b="0" sz="1400">
                <a:solidFill>
                  <a:schemeClr val="lt1"/>
                </a:solidFill>
              </a:defRPr>
            </a:lvl5pPr>
            <a:lvl6pPr indent="-317500" lvl="5" marL="2743200" algn="ctr">
              <a:lnSpc>
                <a:spcPct val="85000"/>
              </a:lnSpc>
              <a:spcBef>
                <a:spcPts val="200"/>
              </a:spcBef>
              <a:spcAft>
                <a:spcPts val="0"/>
              </a:spcAft>
              <a:buClr>
                <a:schemeClr val="lt1"/>
              </a:buClr>
              <a:buSzPts val="1400"/>
              <a:buFont typeface="Arial"/>
              <a:buChar char="​"/>
              <a:defRPr b="0" sz="1400">
                <a:solidFill>
                  <a:schemeClr val="lt1"/>
                </a:solidFill>
              </a:defRPr>
            </a:lvl6pPr>
            <a:lvl7pPr indent="-317500" lvl="6" marL="3200400" algn="ctr">
              <a:lnSpc>
                <a:spcPct val="85000"/>
              </a:lnSpc>
              <a:spcBef>
                <a:spcPts val="200"/>
              </a:spcBef>
              <a:spcAft>
                <a:spcPts val="0"/>
              </a:spcAft>
              <a:buClr>
                <a:schemeClr val="lt1"/>
              </a:buClr>
              <a:buSzPts val="1400"/>
              <a:buFont typeface="Arial"/>
              <a:buChar char="​"/>
              <a:defRPr b="0" sz="1400">
                <a:solidFill>
                  <a:schemeClr val="lt1"/>
                </a:solidFill>
              </a:defRPr>
            </a:lvl7pPr>
            <a:lvl8pPr indent="-317500" lvl="7" marL="3657600" algn="ctr">
              <a:lnSpc>
                <a:spcPct val="85000"/>
              </a:lnSpc>
              <a:spcBef>
                <a:spcPts val="200"/>
              </a:spcBef>
              <a:spcAft>
                <a:spcPts val="0"/>
              </a:spcAft>
              <a:buClr>
                <a:schemeClr val="lt1"/>
              </a:buClr>
              <a:buSzPts val="1400"/>
              <a:buFont typeface="Arial"/>
              <a:buChar char="​"/>
              <a:defRPr b="0" sz="1400">
                <a:solidFill>
                  <a:schemeClr val="lt1"/>
                </a:solidFill>
              </a:defRPr>
            </a:lvl8pPr>
            <a:lvl9pPr indent="-317500" lvl="8" marL="4114800" algn="ctr">
              <a:lnSpc>
                <a:spcPct val="85000"/>
              </a:lnSpc>
              <a:spcBef>
                <a:spcPts val="200"/>
              </a:spcBef>
              <a:spcAft>
                <a:spcPts val="200"/>
              </a:spcAft>
              <a:buClr>
                <a:schemeClr val="lt1"/>
              </a:buClr>
              <a:buSzPts val="1400"/>
              <a:buFont typeface="Arial"/>
              <a:buChar char="​"/>
              <a:defRPr b="0" sz="1400">
                <a:solidFill>
                  <a:schemeClr val="lt1"/>
                </a:solidFill>
              </a:defRPr>
            </a:lvl9pPr>
          </a:lstStyle>
          <a:p/>
        </p:txBody>
      </p:sp>
      <p:sp>
        <p:nvSpPr>
          <p:cNvPr id="125" name="Google Shape;125;p27"/>
          <p:cNvSpPr/>
          <p:nvPr>
            <p:ph idx="2" type="pic"/>
          </p:nvPr>
        </p:nvSpPr>
        <p:spPr>
          <a:xfrm>
            <a:off x="0" y="0"/>
            <a:ext cx="2971800" cy="5143500"/>
          </a:xfrm>
          <a:prstGeom prst="rect">
            <a:avLst/>
          </a:prstGeom>
          <a:noFill/>
          <a:ln>
            <a:noFill/>
          </a:ln>
        </p:spPr>
        <p:txBody>
          <a:bodyPr anchorCtr="0" anchor="t" bIns="0" lIns="0" spcFirstLastPara="1" rIns="0" wrap="square" tIns="0">
            <a:noAutofit/>
          </a:bodyPr>
          <a:lstStyle>
            <a:lvl1pPr lvl="0" marR="0" rtl="0" algn="ctr">
              <a:lnSpc>
                <a:spcPct val="95000"/>
              </a:lnSpc>
              <a:spcBef>
                <a:spcPts val="600"/>
              </a:spcBef>
              <a:spcAft>
                <a:spcPts val="0"/>
              </a:spcAft>
              <a:buClr>
                <a:schemeClr val="dk1"/>
              </a:buClr>
              <a:buSzPts val="1600"/>
              <a:buFont typeface="Arial"/>
              <a:buNone/>
              <a:defRPr b="0" i="0" sz="1600" u="none" cap="none" strike="noStrike">
                <a:solidFill>
                  <a:schemeClr val="dk1"/>
                </a:solidFill>
                <a:latin typeface="Century Gothic"/>
                <a:ea typeface="Century Gothic"/>
                <a:cs typeface="Century Gothic"/>
                <a:sym typeface="Century Gothic"/>
              </a:defRPr>
            </a:lvl1pPr>
            <a:lvl2pPr lvl="1" marR="0" rtl="0" algn="l">
              <a:lnSpc>
                <a:spcPct val="85000"/>
              </a:lnSpc>
              <a:spcBef>
                <a:spcPts val="200"/>
              </a:spcBef>
              <a:spcAft>
                <a:spcPts val="0"/>
              </a:spcAft>
              <a:buClr>
                <a:schemeClr val="dk1"/>
              </a:buClr>
              <a:buSzPts val="1600"/>
              <a:buFont typeface="Arial"/>
              <a:buChar char="–"/>
              <a:defRPr b="0" i="0" sz="1600" u="none" cap="none" strike="noStrike">
                <a:solidFill>
                  <a:schemeClr val="dk1"/>
                </a:solidFill>
                <a:latin typeface="Century Gothic"/>
                <a:ea typeface="Century Gothic"/>
                <a:cs typeface="Century Gothic"/>
                <a:sym typeface="Century Gothic"/>
              </a:defRPr>
            </a:lvl2pPr>
            <a:lvl3pPr lvl="2" marR="0" rtl="0" algn="l">
              <a:lnSpc>
                <a:spcPct val="85000"/>
              </a:lnSpc>
              <a:spcBef>
                <a:spcPts val="200"/>
              </a:spcBef>
              <a:spcAft>
                <a:spcPts val="0"/>
              </a:spcAft>
              <a:buClr>
                <a:schemeClr val="dk1"/>
              </a:buClr>
              <a:buSzPts val="1400"/>
              <a:buFont typeface="Arial"/>
              <a:buChar char="-"/>
              <a:defRPr b="0" i="0" sz="1400" u="none" cap="none" strike="noStrike">
                <a:solidFill>
                  <a:schemeClr val="dk1"/>
                </a:solidFill>
                <a:latin typeface="Century Gothic"/>
                <a:ea typeface="Century Gothic"/>
                <a:cs typeface="Century Gothic"/>
                <a:sym typeface="Century Gothic"/>
              </a:defRPr>
            </a:lvl3pPr>
            <a:lvl4pPr lvl="3"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4pPr>
            <a:lvl5pPr lvl="4" marR="0" rtl="0" algn="l">
              <a:lnSpc>
                <a:spcPct val="95000"/>
              </a:lnSpc>
              <a:spcBef>
                <a:spcPts val="600"/>
              </a:spcBef>
              <a:spcAft>
                <a:spcPts val="0"/>
              </a:spcAft>
              <a:buClr>
                <a:schemeClr val="accent1"/>
              </a:buClr>
              <a:buSzPts val="1800"/>
              <a:buFont typeface="Arial"/>
              <a:buChar char="​"/>
              <a:defRPr b="0" i="0" sz="1800" u="none" cap="none" strike="noStrike">
                <a:solidFill>
                  <a:schemeClr val="accent1"/>
                </a:solidFill>
                <a:latin typeface="Century Gothic"/>
                <a:ea typeface="Century Gothic"/>
                <a:cs typeface="Century Gothic"/>
                <a:sym typeface="Century Gothic"/>
              </a:defRPr>
            </a:lvl5pPr>
            <a:lvl6pPr lvl="5" marR="0" rtl="0" algn="l">
              <a:lnSpc>
                <a:spcPct val="95000"/>
              </a:lnSpc>
              <a:spcBef>
                <a:spcPts val="600"/>
              </a:spcBef>
              <a:spcAft>
                <a:spcPts val="0"/>
              </a:spcAft>
              <a:buClr>
                <a:schemeClr val="accent2"/>
              </a:buClr>
              <a:buSzPts val="1800"/>
              <a:buFont typeface="Arial"/>
              <a:buChar char="​"/>
              <a:defRPr b="0" i="0" sz="1800" u="none" cap="none" strike="noStrike">
                <a:solidFill>
                  <a:schemeClr val="accent2"/>
                </a:solidFill>
                <a:latin typeface="Century Gothic"/>
                <a:ea typeface="Century Gothic"/>
                <a:cs typeface="Century Gothic"/>
                <a:sym typeface="Century Gothic"/>
              </a:defRPr>
            </a:lvl6pPr>
            <a:lvl7pPr lvl="6" marR="0" rtl="0" algn="l">
              <a:lnSpc>
                <a:spcPct val="95000"/>
              </a:lnSpc>
              <a:spcBef>
                <a:spcPts val="1000"/>
              </a:spcBef>
              <a:spcAft>
                <a:spcPts val="0"/>
              </a:spcAft>
              <a:buClr>
                <a:schemeClr val="dk1"/>
              </a:buClr>
              <a:buSzPts val="1800"/>
              <a:buFont typeface="Arial"/>
              <a:buChar char="​"/>
              <a:defRPr b="1" i="0" sz="1800" u="none" cap="none" strike="noStrike">
                <a:solidFill>
                  <a:schemeClr val="dk1"/>
                </a:solidFill>
                <a:latin typeface="Century Gothic"/>
                <a:ea typeface="Century Gothic"/>
                <a:cs typeface="Century Gothic"/>
                <a:sym typeface="Century Gothic"/>
              </a:defRPr>
            </a:lvl7pPr>
            <a:lvl8pPr lvl="7" marR="0" rtl="0" algn="l">
              <a:lnSpc>
                <a:spcPct val="95000"/>
              </a:lnSpc>
              <a:spcBef>
                <a:spcPts val="200"/>
              </a:spcBef>
              <a:spcAft>
                <a:spcPts val="0"/>
              </a:spcAft>
              <a:buClr>
                <a:schemeClr val="dk1"/>
              </a:buClr>
              <a:buSzPts val="1800"/>
              <a:buFont typeface="Century Gothic"/>
              <a:buAutoNum type="arabicPeriod"/>
              <a:defRPr b="0" i="0" sz="1800" u="none" cap="none" strike="noStrike">
                <a:solidFill>
                  <a:schemeClr val="dk1"/>
                </a:solidFill>
                <a:latin typeface="Century Gothic"/>
                <a:ea typeface="Century Gothic"/>
                <a:cs typeface="Century Gothic"/>
                <a:sym typeface="Century Gothic"/>
              </a:defRPr>
            </a:lvl8pPr>
            <a:lvl9pPr lvl="8" marR="0" rtl="0" algn="l">
              <a:lnSpc>
                <a:spcPct val="95000"/>
              </a:lnSpc>
              <a:spcBef>
                <a:spcPts val="400"/>
              </a:spcBef>
              <a:spcAft>
                <a:spcPts val="400"/>
              </a:spcAft>
              <a:buClr>
                <a:schemeClr val="accent6"/>
              </a:buClr>
              <a:buSzPts val="900"/>
              <a:buFont typeface="Arial"/>
              <a:buChar char="​"/>
              <a:defRPr b="0" i="0" sz="900" u="none" cap="none" strike="noStrike">
                <a:solidFill>
                  <a:schemeClr val="accent6"/>
                </a:solidFill>
                <a:latin typeface="Century Gothic"/>
                <a:ea typeface="Century Gothic"/>
                <a:cs typeface="Century Gothic"/>
                <a:sym typeface="Century Gothic"/>
              </a:defRPr>
            </a:lvl9pPr>
          </a:lstStyle>
          <a:p/>
        </p:txBody>
      </p:sp>
      <p:sp>
        <p:nvSpPr>
          <p:cNvPr id="126" name="Google Shape;126;p27"/>
          <p:cNvSpPr txBox="1"/>
          <p:nvPr>
            <p:ph idx="3" type="body"/>
          </p:nvPr>
        </p:nvSpPr>
        <p:spPr>
          <a:xfrm>
            <a:off x="3511296" y="1878314"/>
            <a:ext cx="5146943" cy="2783250"/>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400"/>
              </a:spcBef>
              <a:spcAft>
                <a:spcPts val="0"/>
              </a:spcAft>
              <a:buClr>
                <a:schemeClr val="dk1"/>
              </a:buClr>
              <a:buSzPts val="1800"/>
              <a:buChar char="•"/>
              <a:defRPr sz="1800"/>
            </a:lvl1pPr>
            <a:lvl2pPr indent="-330200" lvl="1" marL="914400" algn="l">
              <a:lnSpc>
                <a:spcPct val="85000"/>
              </a:lnSpc>
              <a:spcBef>
                <a:spcPts val="200"/>
              </a:spcBef>
              <a:spcAft>
                <a:spcPts val="0"/>
              </a:spcAft>
              <a:buClr>
                <a:schemeClr val="dk1"/>
              </a:buClr>
              <a:buSzPts val="1600"/>
              <a:buChar char="–"/>
              <a:defRPr sz="1600"/>
            </a:lvl2pPr>
            <a:lvl3pPr indent="-317500" lvl="2" marL="1371600" algn="l">
              <a:lnSpc>
                <a:spcPct val="85000"/>
              </a:lnSpc>
              <a:spcBef>
                <a:spcPts val="200"/>
              </a:spcBef>
              <a:spcAft>
                <a:spcPts val="0"/>
              </a:spcAft>
              <a:buClr>
                <a:schemeClr val="dk1"/>
              </a:buClr>
              <a:buSzPts val="1400"/>
              <a:buChar char="-"/>
              <a:defRPr sz="14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27" name="Google Shape;127;p27"/>
          <p:cNvSpPr/>
          <p:nvPr>
            <p:ph idx="4" type="pic"/>
          </p:nvPr>
        </p:nvSpPr>
        <p:spPr>
          <a:xfrm>
            <a:off x="3505200" y="73152"/>
            <a:ext cx="1371600" cy="621792"/>
          </a:xfrm>
          <a:prstGeom prst="rect">
            <a:avLst/>
          </a:prstGeom>
          <a:noFill/>
          <a:ln>
            <a:noFill/>
          </a:ln>
        </p:spPr>
        <p:txBody>
          <a:bodyPr anchorCtr="0" anchor="ctr" bIns="0" lIns="0" spcFirstLastPara="1" rIns="0" wrap="square" tIns="0">
            <a:noAutofit/>
          </a:bodyPr>
          <a:lstStyle>
            <a:lvl1pPr lvl="0" marR="0" rtl="0" algn="ctr">
              <a:lnSpc>
                <a:spcPct val="95000"/>
              </a:lnSpc>
              <a:spcBef>
                <a:spcPts val="600"/>
              </a:spcBef>
              <a:spcAft>
                <a:spcPts val="0"/>
              </a:spcAft>
              <a:buClr>
                <a:schemeClr val="dk1"/>
              </a:buClr>
              <a:buSzPts val="900"/>
              <a:buFont typeface="Arial"/>
              <a:buNone/>
              <a:defRPr b="0" i="0" sz="900" u="none" cap="none" strike="noStrike">
                <a:solidFill>
                  <a:schemeClr val="dk1"/>
                </a:solidFill>
                <a:latin typeface="Century Gothic"/>
                <a:ea typeface="Century Gothic"/>
                <a:cs typeface="Century Gothic"/>
                <a:sym typeface="Century Gothic"/>
              </a:defRPr>
            </a:lvl1pPr>
            <a:lvl2pPr lvl="1" marR="0" rtl="0" algn="l">
              <a:lnSpc>
                <a:spcPct val="85000"/>
              </a:lnSpc>
              <a:spcBef>
                <a:spcPts val="200"/>
              </a:spcBef>
              <a:spcAft>
                <a:spcPts val="0"/>
              </a:spcAft>
              <a:buClr>
                <a:schemeClr val="dk1"/>
              </a:buClr>
              <a:buSzPts val="1600"/>
              <a:buFont typeface="Arial"/>
              <a:buChar char="–"/>
              <a:defRPr b="0" i="0" sz="1600" u="none" cap="none" strike="noStrike">
                <a:solidFill>
                  <a:schemeClr val="dk1"/>
                </a:solidFill>
                <a:latin typeface="Century Gothic"/>
                <a:ea typeface="Century Gothic"/>
                <a:cs typeface="Century Gothic"/>
                <a:sym typeface="Century Gothic"/>
              </a:defRPr>
            </a:lvl2pPr>
            <a:lvl3pPr lvl="2" marR="0" rtl="0" algn="l">
              <a:lnSpc>
                <a:spcPct val="85000"/>
              </a:lnSpc>
              <a:spcBef>
                <a:spcPts val="200"/>
              </a:spcBef>
              <a:spcAft>
                <a:spcPts val="0"/>
              </a:spcAft>
              <a:buClr>
                <a:schemeClr val="dk1"/>
              </a:buClr>
              <a:buSzPts val="1400"/>
              <a:buFont typeface="Arial"/>
              <a:buChar char="-"/>
              <a:defRPr b="0" i="0" sz="1400" u="none" cap="none" strike="noStrike">
                <a:solidFill>
                  <a:schemeClr val="dk1"/>
                </a:solidFill>
                <a:latin typeface="Century Gothic"/>
                <a:ea typeface="Century Gothic"/>
                <a:cs typeface="Century Gothic"/>
                <a:sym typeface="Century Gothic"/>
              </a:defRPr>
            </a:lvl3pPr>
            <a:lvl4pPr lvl="3"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4pPr>
            <a:lvl5pPr lvl="4" marR="0" rtl="0" algn="l">
              <a:lnSpc>
                <a:spcPct val="95000"/>
              </a:lnSpc>
              <a:spcBef>
                <a:spcPts val="600"/>
              </a:spcBef>
              <a:spcAft>
                <a:spcPts val="0"/>
              </a:spcAft>
              <a:buClr>
                <a:schemeClr val="accent1"/>
              </a:buClr>
              <a:buSzPts val="1800"/>
              <a:buFont typeface="Arial"/>
              <a:buChar char="​"/>
              <a:defRPr b="0" i="0" sz="1800" u="none" cap="none" strike="noStrike">
                <a:solidFill>
                  <a:schemeClr val="accent1"/>
                </a:solidFill>
                <a:latin typeface="Century Gothic"/>
                <a:ea typeface="Century Gothic"/>
                <a:cs typeface="Century Gothic"/>
                <a:sym typeface="Century Gothic"/>
              </a:defRPr>
            </a:lvl5pPr>
            <a:lvl6pPr lvl="5" marR="0" rtl="0" algn="l">
              <a:lnSpc>
                <a:spcPct val="95000"/>
              </a:lnSpc>
              <a:spcBef>
                <a:spcPts val="600"/>
              </a:spcBef>
              <a:spcAft>
                <a:spcPts val="0"/>
              </a:spcAft>
              <a:buClr>
                <a:schemeClr val="accent2"/>
              </a:buClr>
              <a:buSzPts val="1800"/>
              <a:buFont typeface="Arial"/>
              <a:buChar char="​"/>
              <a:defRPr b="0" i="0" sz="1800" u="none" cap="none" strike="noStrike">
                <a:solidFill>
                  <a:schemeClr val="accent2"/>
                </a:solidFill>
                <a:latin typeface="Century Gothic"/>
                <a:ea typeface="Century Gothic"/>
                <a:cs typeface="Century Gothic"/>
                <a:sym typeface="Century Gothic"/>
              </a:defRPr>
            </a:lvl6pPr>
            <a:lvl7pPr lvl="6" marR="0" rtl="0" algn="l">
              <a:lnSpc>
                <a:spcPct val="95000"/>
              </a:lnSpc>
              <a:spcBef>
                <a:spcPts val="1000"/>
              </a:spcBef>
              <a:spcAft>
                <a:spcPts val="0"/>
              </a:spcAft>
              <a:buClr>
                <a:schemeClr val="dk1"/>
              </a:buClr>
              <a:buSzPts val="1800"/>
              <a:buFont typeface="Arial"/>
              <a:buChar char="​"/>
              <a:defRPr b="1" i="0" sz="1800" u="none" cap="none" strike="noStrike">
                <a:solidFill>
                  <a:schemeClr val="dk1"/>
                </a:solidFill>
                <a:latin typeface="Century Gothic"/>
                <a:ea typeface="Century Gothic"/>
                <a:cs typeface="Century Gothic"/>
                <a:sym typeface="Century Gothic"/>
              </a:defRPr>
            </a:lvl7pPr>
            <a:lvl8pPr lvl="7" marR="0" rtl="0" algn="l">
              <a:lnSpc>
                <a:spcPct val="95000"/>
              </a:lnSpc>
              <a:spcBef>
                <a:spcPts val="200"/>
              </a:spcBef>
              <a:spcAft>
                <a:spcPts val="0"/>
              </a:spcAft>
              <a:buClr>
                <a:schemeClr val="dk1"/>
              </a:buClr>
              <a:buSzPts val="1800"/>
              <a:buFont typeface="Century Gothic"/>
              <a:buAutoNum type="arabicPeriod"/>
              <a:defRPr b="0" i="0" sz="1800" u="none" cap="none" strike="noStrike">
                <a:solidFill>
                  <a:schemeClr val="dk1"/>
                </a:solidFill>
                <a:latin typeface="Century Gothic"/>
                <a:ea typeface="Century Gothic"/>
                <a:cs typeface="Century Gothic"/>
                <a:sym typeface="Century Gothic"/>
              </a:defRPr>
            </a:lvl8pPr>
            <a:lvl9pPr lvl="8" marR="0" rtl="0" algn="l">
              <a:lnSpc>
                <a:spcPct val="95000"/>
              </a:lnSpc>
              <a:spcBef>
                <a:spcPts val="400"/>
              </a:spcBef>
              <a:spcAft>
                <a:spcPts val="400"/>
              </a:spcAft>
              <a:buClr>
                <a:schemeClr val="accent6"/>
              </a:buClr>
              <a:buSzPts val="900"/>
              <a:buFont typeface="Arial"/>
              <a:buChar char="​"/>
              <a:defRPr b="0" i="0" sz="900" u="none" cap="none" strike="noStrike">
                <a:solidFill>
                  <a:schemeClr val="accent6"/>
                </a:solidFill>
                <a:latin typeface="Century Gothic"/>
                <a:ea typeface="Century Gothic"/>
                <a:cs typeface="Century Gothic"/>
                <a:sym typeface="Century Gothic"/>
              </a:defRPr>
            </a:lvl9pPr>
          </a:lstStyle>
          <a:p/>
        </p:txBody>
      </p:sp>
    </p:spTree>
  </p:cSld>
  <p:clrMapOvr>
    <a:masterClrMapping/>
  </p:clrMapOvr>
  <p:transition spd="med">
    <p:fade/>
  </p:transition>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ase Study_Option2">
  <p:cSld name="1_Case Study_Option2">
    <p:spTree>
      <p:nvGrpSpPr>
        <p:cNvPr id="128" name="Shape 128"/>
        <p:cNvGrpSpPr/>
        <p:nvPr/>
      </p:nvGrpSpPr>
      <p:grpSpPr>
        <a:xfrm>
          <a:off x="0" y="0"/>
          <a:ext cx="0" cy="0"/>
          <a:chOff x="0" y="0"/>
          <a:chExt cx="0" cy="0"/>
        </a:xfrm>
      </p:grpSpPr>
      <p:sp>
        <p:nvSpPr>
          <p:cNvPr id="129" name="Google Shape;129;p28"/>
          <p:cNvSpPr txBox="1"/>
          <p:nvPr>
            <p:ph idx="1" type="body"/>
          </p:nvPr>
        </p:nvSpPr>
        <p:spPr>
          <a:xfrm>
            <a:off x="3495307" y="128016"/>
            <a:ext cx="5648693" cy="914400"/>
          </a:xfrm>
          <a:prstGeom prst="rect">
            <a:avLst/>
          </a:prstGeom>
          <a:solidFill>
            <a:srgbClr val="0079DB"/>
          </a:solidFill>
          <a:ln>
            <a:noFill/>
          </a:ln>
        </p:spPr>
        <p:txBody>
          <a:bodyPr anchorCtr="0" anchor="b" bIns="228600" lIns="228600" spcFirstLastPara="1" rIns="457200" wrap="square" tIns="137150">
            <a:noAutofit/>
          </a:bodyPr>
          <a:lstStyle>
            <a:lvl1pPr indent="-368300" lvl="0" marL="457200" algn="l">
              <a:lnSpc>
                <a:spcPct val="85000"/>
              </a:lnSpc>
              <a:spcBef>
                <a:spcPts val="200"/>
              </a:spcBef>
              <a:spcAft>
                <a:spcPts val="0"/>
              </a:spcAft>
              <a:buClr>
                <a:schemeClr val="lt1"/>
              </a:buClr>
              <a:buSzPts val="2200"/>
              <a:buFont typeface="Arial"/>
              <a:buChar char="​"/>
              <a:defRPr sz="2200">
                <a:solidFill>
                  <a:schemeClr val="lt1"/>
                </a:solidFill>
              </a:defRPr>
            </a:lvl1pPr>
            <a:lvl2pPr indent="-342900" lvl="1" marL="914400" algn="l">
              <a:lnSpc>
                <a:spcPct val="85000"/>
              </a:lnSpc>
              <a:spcBef>
                <a:spcPts val="200"/>
              </a:spcBef>
              <a:spcAft>
                <a:spcPts val="0"/>
              </a:spcAft>
              <a:buClr>
                <a:schemeClr val="lt1"/>
              </a:buClr>
              <a:buSzPts val="1800"/>
              <a:buFont typeface="Arial"/>
              <a:buChar char="​"/>
              <a:defRPr sz="1800">
                <a:solidFill>
                  <a:schemeClr val="lt1"/>
                </a:solidFill>
              </a:defRPr>
            </a:lvl2pPr>
            <a:lvl3pPr indent="-317500" lvl="2" marL="1371600" algn="l">
              <a:lnSpc>
                <a:spcPct val="85000"/>
              </a:lnSpc>
              <a:spcBef>
                <a:spcPts val="600"/>
              </a:spcBef>
              <a:spcAft>
                <a:spcPts val="0"/>
              </a:spcAft>
              <a:buClr>
                <a:schemeClr val="lt1"/>
              </a:buClr>
              <a:buSzPts val="1400"/>
              <a:buFont typeface="Arial"/>
              <a:buChar char="​"/>
              <a:defRPr b="1" sz="1400">
                <a:solidFill>
                  <a:schemeClr val="lt1"/>
                </a:solidFill>
              </a:defRPr>
            </a:lvl3pPr>
            <a:lvl4pPr indent="-317500" lvl="3" marL="1828800" algn="l">
              <a:lnSpc>
                <a:spcPct val="85000"/>
              </a:lnSpc>
              <a:spcBef>
                <a:spcPts val="200"/>
              </a:spcBef>
              <a:spcAft>
                <a:spcPts val="0"/>
              </a:spcAft>
              <a:buClr>
                <a:schemeClr val="lt1"/>
              </a:buClr>
              <a:buSzPts val="1400"/>
              <a:buFont typeface="Arial"/>
              <a:buChar char="​"/>
              <a:defRPr b="0" sz="1400">
                <a:solidFill>
                  <a:schemeClr val="lt1"/>
                </a:solidFill>
              </a:defRPr>
            </a:lvl4pPr>
            <a:lvl5pPr indent="-317500" lvl="4" marL="2286000" algn="l">
              <a:lnSpc>
                <a:spcPct val="85000"/>
              </a:lnSpc>
              <a:spcBef>
                <a:spcPts val="200"/>
              </a:spcBef>
              <a:spcAft>
                <a:spcPts val="0"/>
              </a:spcAft>
              <a:buClr>
                <a:schemeClr val="lt1"/>
              </a:buClr>
              <a:buSzPts val="1400"/>
              <a:buFont typeface="Arial"/>
              <a:buChar char="​"/>
              <a:defRPr b="0" sz="1400">
                <a:solidFill>
                  <a:schemeClr val="lt1"/>
                </a:solidFill>
              </a:defRPr>
            </a:lvl5pPr>
            <a:lvl6pPr indent="-317500" lvl="5" marL="2743200" algn="ctr">
              <a:lnSpc>
                <a:spcPct val="85000"/>
              </a:lnSpc>
              <a:spcBef>
                <a:spcPts val="200"/>
              </a:spcBef>
              <a:spcAft>
                <a:spcPts val="0"/>
              </a:spcAft>
              <a:buClr>
                <a:schemeClr val="lt1"/>
              </a:buClr>
              <a:buSzPts val="1400"/>
              <a:buFont typeface="Arial"/>
              <a:buChar char="​"/>
              <a:defRPr b="0" sz="1400">
                <a:solidFill>
                  <a:schemeClr val="lt1"/>
                </a:solidFill>
              </a:defRPr>
            </a:lvl6pPr>
            <a:lvl7pPr indent="-317500" lvl="6" marL="3200400" algn="ctr">
              <a:lnSpc>
                <a:spcPct val="85000"/>
              </a:lnSpc>
              <a:spcBef>
                <a:spcPts val="200"/>
              </a:spcBef>
              <a:spcAft>
                <a:spcPts val="0"/>
              </a:spcAft>
              <a:buClr>
                <a:schemeClr val="lt1"/>
              </a:buClr>
              <a:buSzPts val="1400"/>
              <a:buFont typeface="Arial"/>
              <a:buChar char="​"/>
              <a:defRPr b="0" sz="1400">
                <a:solidFill>
                  <a:schemeClr val="lt1"/>
                </a:solidFill>
              </a:defRPr>
            </a:lvl7pPr>
            <a:lvl8pPr indent="-317500" lvl="7" marL="3657600" algn="ctr">
              <a:lnSpc>
                <a:spcPct val="85000"/>
              </a:lnSpc>
              <a:spcBef>
                <a:spcPts val="200"/>
              </a:spcBef>
              <a:spcAft>
                <a:spcPts val="0"/>
              </a:spcAft>
              <a:buClr>
                <a:schemeClr val="lt1"/>
              </a:buClr>
              <a:buSzPts val="1400"/>
              <a:buFont typeface="Arial"/>
              <a:buChar char="​"/>
              <a:defRPr b="0" sz="1400">
                <a:solidFill>
                  <a:schemeClr val="lt1"/>
                </a:solidFill>
              </a:defRPr>
            </a:lvl8pPr>
            <a:lvl9pPr indent="-317500" lvl="8" marL="4114800" algn="ctr">
              <a:lnSpc>
                <a:spcPct val="85000"/>
              </a:lnSpc>
              <a:spcBef>
                <a:spcPts val="200"/>
              </a:spcBef>
              <a:spcAft>
                <a:spcPts val="200"/>
              </a:spcAft>
              <a:buClr>
                <a:schemeClr val="lt1"/>
              </a:buClr>
              <a:buSzPts val="1400"/>
              <a:buFont typeface="Arial"/>
              <a:buChar char="​"/>
              <a:defRPr b="0" sz="1400">
                <a:solidFill>
                  <a:schemeClr val="lt1"/>
                </a:solidFill>
              </a:defRPr>
            </a:lvl9pPr>
          </a:lstStyle>
          <a:p/>
        </p:txBody>
      </p:sp>
      <p:sp>
        <p:nvSpPr>
          <p:cNvPr id="130" name="Google Shape;130;p28"/>
          <p:cNvSpPr/>
          <p:nvPr>
            <p:ph idx="2" type="pic"/>
          </p:nvPr>
        </p:nvSpPr>
        <p:spPr>
          <a:xfrm>
            <a:off x="0" y="0"/>
            <a:ext cx="2971800" cy="5143500"/>
          </a:xfrm>
          <a:prstGeom prst="rect">
            <a:avLst/>
          </a:prstGeom>
          <a:noFill/>
          <a:ln>
            <a:noFill/>
          </a:ln>
        </p:spPr>
        <p:txBody>
          <a:bodyPr anchorCtr="0" anchor="t" bIns="0" lIns="0" spcFirstLastPara="1" rIns="0" wrap="square" tIns="0">
            <a:noAutofit/>
          </a:bodyPr>
          <a:lstStyle>
            <a:lvl1pPr lvl="0" marR="0" rtl="0" algn="ctr">
              <a:lnSpc>
                <a:spcPct val="95000"/>
              </a:lnSpc>
              <a:spcBef>
                <a:spcPts val="600"/>
              </a:spcBef>
              <a:spcAft>
                <a:spcPts val="0"/>
              </a:spcAft>
              <a:buClr>
                <a:schemeClr val="dk1"/>
              </a:buClr>
              <a:buSzPts val="1600"/>
              <a:buFont typeface="Arial"/>
              <a:buNone/>
              <a:defRPr b="0" i="0" sz="1600" u="none" cap="none" strike="noStrike">
                <a:solidFill>
                  <a:schemeClr val="dk1"/>
                </a:solidFill>
                <a:latin typeface="Century Gothic"/>
                <a:ea typeface="Century Gothic"/>
                <a:cs typeface="Century Gothic"/>
                <a:sym typeface="Century Gothic"/>
              </a:defRPr>
            </a:lvl1pPr>
            <a:lvl2pPr lvl="1" marR="0" rtl="0" algn="l">
              <a:lnSpc>
                <a:spcPct val="85000"/>
              </a:lnSpc>
              <a:spcBef>
                <a:spcPts val="200"/>
              </a:spcBef>
              <a:spcAft>
                <a:spcPts val="0"/>
              </a:spcAft>
              <a:buClr>
                <a:schemeClr val="dk1"/>
              </a:buClr>
              <a:buSzPts val="1600"/>
              <a:buFont typeface="Arial"/>
              <a:buChar char="–"/>
              <a:defRPr b="0" i="0" sz="1600" u="none" cap="none" strike="noStrike">
                <a:solidFill>
                  <a:schemeClr val="dk1"/>
                </a:solidFill>
                <a:latin typeface="Century Gothic"/>
                <a:ea typeface="Century Gothic"/>
                <a:cs typeface="Century Gothic"/>
                <a:sym typeface="Century Gothic"/>
              </a:defRPr>
            </a:lvl2pPr>
            <a:lvl3pPr lvl="2" marR="0" rtl="0" algn="l">
              <a:lnSpc>
                <a:spcPct val="85000"/>
              </a:lnSpc>
              <a:spcBef>
                <a:spcPts val="200"/>
              </a:spcBef>
              <a:spcAft>
                <a:spcPts val="0"/>
              </a:spcAft>
              <a:buClr>
                <a:schemeClr val="dk1"/>
              </a:buClr>
              <a:buSzPts val="1400"/>
              <a:buFont typeface="Arial"/>
              <a:buChar char="-"/>
              <a:defRPr b="0" i="0" sz="1400" u="none" cap="none" strike="noStrike">
                <a:solidFill>
                  <a:schemeClr val="dk1"/>
                </a:solidFill>
                <a:latin typeface="Century Gothic"/>
                <a:ea typeface="Century Gothic"/>
                <a:cs typeface="Century Gothic"/>
                <a:sym typeface="Century Gothic"/>
              </a:defRPr>
            </a:lvl3pPr>
            <a:lvl4pPr lvl="3"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4pPr>
            <a:lvl5pPr lvl="4" marR="0" rtl="0" algn="l">
              <a:lnSpc>
                <a:spcPct val="95000"/>
              </a:lnSpc>
              <a:spcBef>
                <a:spcPts val="600"/>
              </a:spcBef>
              <a:spcAft>
                <a:spcPts val="0"/>
              </a:spcAft>
              <a:buClr>
                <a:schemeClr val="accent1"/>
              </a:buClr>
              <a:buSzPts val="1800"/>
              <a:buFont typeface="Arial"/>
              <a:buChar char="​"/>
              <a:defRPr b="0" i="0" sz="1800" u="none" cap="none" strike="noStrike">
                <a:solidFill>
                  <a:schemeClr val="accent1"/>
                </a:solidFill>
                <a:latin typeface="Century Gothic"/>
                <a:ea typeface="Century Gothic"/>
                <a:cs typeface="Century Gothic"/>
                <a:sym typeface="Century Gothic"/>
              </a:defRPr>
            </a:lvl5pPr>
            <a:lvl6pPr lvl="5" marR="0" rtl="0" algn="l">
              <a:lnSpc>
                <a:spcPct val="95000"/>
              </a:lnSpc>
              <a:spcBef>
                <a:spcPts val="600"/>
              </a:spcBef>
              <a:spcAft>
                <a:spcPts val="0"/>
              </a:spcAft>
              <a:buClr>
                <a:schemeClr val="accent2"/>
              </a:buClr>
              <a:buSzPts val="1800"/>
              <a:buFont typeface="Arial"/>
              <a:buChar char="​"/>
              <a:defRPr b="0" i="0" sz="1800" u="none" cap="none" strike="noStrike">
                <a:solidFill>
                  <a:schemeClr val="accent2"/>
                </a:solidFill>
                <a:latin typeface="Century Gothic"/>
                <a:ea typeface="Century Gothic"/>
                <a:cs typeface="Century Gothic"/>
                <a:sym typeface="Century Gothic"/>
              </a:defRPr>
            </a:lvl6pPr>
            <a:lvl7pPr lvl="6" marR="0" rtl="0" algn="l">
              <a:lnSpc>
                <a:spcPct val="95000"/>
              </a:lnSpc>
              <a:spcBef>
                <a:spcPts val="1000"/>
              </a:spcBef>
              <a:spcAft>
                <a:spcPts val="0"/>
              </a:spcAft>
              <a:buClr>
                <a:schemeClr val="dk1"/>
              </a:buClr>
              <a:buSzPts val="1800"/>
              <a:buFont typeface="Arial"/>
              <a:buChar char="​"/>
              <a:defRPr b="1" i="0" sz="1800" u="none" cap="none" strike="noStrike">
                <a:solidFill>
                  <a:schemeClr val="dk1"/>
                </a:solidFill>
                <a:latin typeface="Century Gothic"/>
                <a:ea typeface="Century Gothic"/>
                <a:cs typeface="Century Gothic"/>
                <a:sym typeface="Century Gothic"/>
              </a:defRPr>
            </a:lvl7pPr>
            <a:lvl8pPr lvl="7" marR="0" rtl="0" algn="l">
              <a:lnSpc>
                <a:spcPct val="95000"/>
              </a:lnSpc>
              <a:spcBef>
                <a:spcPts val="200"/>
              </a:spcBef>
              <a:spcAft>
                <a:spcPts val="0"/>
              </a:spcAft>
              <a:buClr>
                <a:schemeClr val="dk1"/>
              </a:buClr>
              <a:buSzPts val="1800"/>
              <a:buFont typeface="Century Gothic"/>
              <a:buAutoNum type="arabicPeriod"/>
              <a:defRPr b="0" i="0" sz="1800" u="none" cap="none" strike="noStrike">
                <a:solidFill>
                  <a:schemeClr val="dk1"/>
                </a:solidFill>
                <a:latin typeface="Century Gothic"/>
                <a:ea typeface="Century Gothic"/>
                <a:cs typeface="Century Gothic"/>
                <a:sym typeface="Century Gothic"/>
              </a:defRPr>
            </a:lvl8pPr>
            <a:lvl9pPr lvl="8" marR="0" rtl="0" algn="l">
              <a:lnSpc>
                <a:spcPct val="95000"/>
              </a:lnSpc>
              <a:spcBef>
                <a:spcPts val="400"/>
              </a:spcBef>
              <a:spcAft>
                <a:spcPts val="400"/>
              </a:spcAft>
              <a:buClr>
                <a:schemeClr val="accent6"/>
              </a:buClr>
              <a:buSzPts val="900"/>
              <a:buFont typeface="Arial"/>
              <a:buChar char="​"/>
              <a:defRPr b="0" i="0" sz="900" u="none" cap="none" strike="noStrike">
                <a:solidFill>
                  <a:schemeClr val="accent6"/>
                </a:solidFill>
                <a:latin typeface="Century Gothic"/>
                <a:ea typeface="Century Gothic"/>
                <a:cs typeface="Century Gothic"/>
                <a:sym typeface="Century Gothic"/>
              </a:defRPr>
            </a:lvl9pPr>
          </a:lstStyle>
          <a:p/>
        </p:txBody>
      </p:sp>
      <p:sp>
        <p:nvSpPr>
          <p:cNvPr id="131" name="Google Shape;131;p28"/>
          <p:cNvSpPr txBox="1"/>
          <p:nvPr>
            <p:ph idx="3" type="body"/>
          </p:nvPr>
        </p:nvSpPr>
        <p:spPr>
          <a:xfrm>
            <a:off x="3511296" y="1152143"/>
            <a:ext cx="5164694" cy="3511296"/>
          </a:xfrm>
          <a:prstGeom prst="rect">
            <a:avLst/>
          </a:prstGeom>
          <a:noFill/>
          <a:ln>
            <a:noFill/>
          </a:ln>
        </p:spPr>
        <p:txBody>
          <a:bodyPr anchorCtr="0" anchor="t" bIns="0" lIns="0" spcFirstLastPara="1" rIns="0" wrap="square" tIns="0">
            <a:noAutofit/>
          </a:bodyPr>
          <a:lstStyle>
            <a:lvl1pPr indent="-355600" lvl="0" marL="457200" algn="l">
              <a:lnSpc>
                <a:spcPct val="95000"/>
              </a:lnSpc>
              <a:spcBef>
                <a:spcPts val="400"/>
              </a:spcBef>
              <a:spcAft>
                <a:spcPts val="0"/>
              </a:spcAft>
              <a:buClr>
                <a:schemeClr val="dk1"/>
              </a:buClr>
              <a:buSzPts val="2000"/>
              <a:buChar char="•"/>
              <a:defRPr sz="2000"/>
            </a:lvl1pPr>
            <a:lvl2pPr indent="-342900" lvl="1" marL="914400" algn="l">
              <a:lnSpc>
                <a:spcPct val="85000"/>
              </a:lnSpc>
              <a:spcBef>
                <a:spcPts val="200"/>
              </a:spcBef>
              <a:spcAft>
                <a:spcPts val="0"/>
              </a:spcAft>
              <a:buClr>
                <a:schemeClr val="dk1"/>
              </a:buClr>
              <a:buSzPts val="1800"/>
              <a:buChar char="–"/>
              <a:defRPr sz="1800"/>
            </a:lvl2pPr>
            <a:lvl3pPr indent="-330200" lvl="2" marL="1371600" algn="l">
              <a:lnSpc>
                <a:spcPct val="85000"/>
              </a:lnSpc>
              <a:spcBef>
                <a:spcPts val="200"/>
              </a:spcBef>
              <a:spcAft>
                <a:spcPts val="0"/>
              </a:spcAft>
              <a:buClr>
                <a:schemeClr val="dk1"/>
              </a:buClr>
              <a:buSzPts val="1600"/>
              <a:buChar char="-"/>
              <a:defRPr sz="16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Tree>
  </p:cSld>
  <p:clrMapOvr>
    <a:masterClrMapping/>
  </p:clrMapOvr>
  <p:transition spd="med">
    <p:fade/>
  </p:transition>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Slide" showMasterSp="0">
  <p:cSld name="End Slide">
    <p:spTree>
      <p:nvGrpSpPr>
        <p:cNvPr id="132" name="Shape 132"/>
        <p:cNvGrpSpPr/>
        <p:nvPr/>
      </p:nvGrpSpPr>
      <p:grpSpPr>
        <a:xfrm>
          <a:off x="0" y="0"/>
          <a:ext cx="0" cy="0"/>
          <a:chOff x="0" y="0"/>
          <a:chExt cx="0" cy="0"/>
        </a:xfrm>
      </p:grpSpPr>
      <p:sp>
        <p:nvSpPr>
          <p:cNvPr id="133" name="Google Shape;133;p29"/>
          <p:cNvSpPr txBox="1"/>
          <p:nvPr/>
        </p:nvSpPr>
        <p:spPr>
          <a:xfrm>
            <a:off x="171052" y="4837176"/>
            <a:ext cx="115416" cy="107722"/>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lang="en-GB" sz="700">
                <a:solidFill>
                  <a:srgbClr val="A2A2A2"/>
                </a:solidFill>
                <a:latin typeface="Century Gothic"/>
                <a:ea typeface="Century Gothic"/>
                <a:cs typeface="Century Gothic"/>
                <a:sym typeface="Century Gothic"/>
              </a:rPr>
              <a:t>‹#›</a:t>
            </a:fld>
            <a:endParaRPr sz="700">
              <a:solidFill>
                <a:srgbClr val="A2A2A2"/>
              </a:solidFill>
              <a:latin typeface="Century Gothic"/>
              <a:ea typeface="Century Gothic"/>
              <a:cs typeface="Century Gothic"/>
              <a:sym typeface="Century Gothic"/>
            </a:endParaRPr>
          </a:p>
        </p:txBody>
      </p:sp>
      <p:sp>
        <p:nvSpPr>
          <p:cNvPr id="134" name="Google Shape;134;p29"/>
          <p:cNvSpPr txBox="1"/>
          <p:nvPr>
            <p:ph idx="1" type="body"/>
          </p:nvPr>
        </p:nvSpPr>
        <p:spPr>
          <a:xfrm>
            <a:off x="3297994" y="4855464"/>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35" name="Google Shape;135;p29"/>
          <p:cNvSpPr txBox="1"/>
          <p:nvPr/>
        </p:nvSpPr>
        <p:spPr>
          <a:xfrm>
            <a:off x="153254" y="4837176"/>
            <a:ext cx="133221" cy="130805"/>
          </a:xfrm>
          <a:prstGeom prst="rect">
            <a:avLst/>
          </a:prstGeom>
          <a:solidFill>
            <a:schemeClr val="lt1"/>
          </a:solid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lang="en-GB" sz="850">
                <a:solidFill>
                  <a:srgbClr val="6C6C6C"/>
                </a:solidFill>
                <a:latin typeface="Century Gothic"/>
                <a:ea typeface="Century Gothic"/>
                <a:cs typeface="Century Gothic"/>
                <a:sym typeface="Century Gothic"/>
              </a:rPr>
              <a:t>‹#›</a:t>
            </a:fld>
            <a:endParaRPr sz="850">
              <a:solidFill>
                <a:srgbClr val="6C6C6C"/>
              </a:solidFill>
              <a:latin typeface="Century Gothic"/>
              <a:ea typeface="Century Gothic"/>
              <a:cs typeface="Century Gothic"/>
              <a:sym typeface="Century Gothic"/>
            </a:endParaRPr>
          </a:p>
        </p:txBody>
      </p:sp>
      <p:grpSp>
        <p:nvGrpSpPr>
          <p:cNvPr id="136" name="Google Shape;136;p29"/>
          <p:cNvGrpSpPr/>
          <p:nvPr/>
        </p:nvGrpSpPr>
        <p:grpSpPr>
          <a:xfrm>
            <a:off x="2742406" y="2158207"/>
            <a:ext cx="3659188" cy="827087"/>
            <a:chOff x="1728" y="1805"/>
            <a:chExt cx="2305" cy="521"/>
          </a:xfrm>
        </p:grpSpPr>
        <p:sp>
          <p:nvSpPr>
            <p:cNvPr id="137" name="Google Shape;137;p29"/>
            <p:cNvSpPr/>
            <p:nvPr/>
          </p:nvSpPr>
          <p:spPr>
            <a:xfrm>
              <a:off x="1728" y="1805"/>
              <a:ext cx="2231" cy="521"/>
            </a:xfrm>
            <a:custGeom>
              <a:rect b="b" l="l" r="r" t="t"/>
              <a:pathLst>
                <a:path extrusionOk="0" h="863" w="3745">
                  <a:moveTo>
                    <a:pt x="660" y="0"/>
                  </a:moveTo>
                  <a:lnTo>
                    <a:pt x="660" y="0"/>
                  </a:lnTo>
                  <a:lnTo>
                    <a:pt x="22" y="0"/>
                  </a:lnTo>
                  <a:lnTo>
                    <a:pt x="0" y="73"/>
                  </a:lnTo>
                  <a:lnTo>
                    <a:pt x="292" y="73"/>
                  </a:lnTo>
                  <a:lnTo>
                    <a:pt x="292" y="804"/>
                  </a:lnTo>
                  <a:cubicBezTo>
                    <a:pt x="292" y="843"/>
                    <a:pt x="316" y="863"/>
                    <a:pt x="360" y="863"/>
                  </a:cubicBezTo>
                  <a:lnTo>
                    <a:pt x="399" y="863"/>
                  </a:lnTo>
                  <a:lnTo>
                    <a:pt x="399" y="73"/>
                  </a:lnTo>
                  <a:lnTo>
                    <a:pt x="637" y="73"/>
                  </a:lnTo>
                  <a:lnTo>
                    <a:pt x="660" y="0"/>
                  </a:lnTo>
                  <a:lnTo>
                    <a:pt x="660" y="0"/>
                  </a:lnTo>
                  <a:close/>
                  <a:moveTo>
                    <a:pt x="2673" y="181"/>
                  </a:moveTo>
                  <a:lnTo>
                    <a:pt x="2673" y="181"/>
                  </a:lnTo>
                  <a:cubicBezTo>
                    <a:pt x="2647" y="181"/>
                    <a:pt x="2626" y="190"/>
                    <a:pt x="2621" y="203"/>
                  </a:cubicBezTo>
                  <a:lnTo>
                    <a:pt x="2408" y="768"/>
                  </a:lnTo>
                  <a:lnTo>
                    <a:pt x="2448" y="768"/>
                  </a:lnTo>
                  <a:cubicBezTo>
                    <a:pt x="2491" y="768"/>
                    <a:pt x="2509" y="764"/>
                    <a:pt x="2522" y="729"/>
                  </a:cubicBezTo>
                  <a:lnTo>
                    <a:pt x="2570" y="596"/>
                  </a:lnTo>
                  <a:lnTo>
                    <a:pt x="2698" y="596"/>
                  </a:lnTo>
                  <a:lnTo>
                    <a:pt x="2679" y="533"/>
                  </a:lnTo>
                  <a:lnTo>
                    <a:pt x="2590" y="533"/>
                  </a:lnTo>
                  <a:lnTo>
                    <a:pt x="2669" y="310"/>
                  </a:lnTo>
                  <a:lnTo>
                    <a:pt x="2812" y="729"/>
                  </a:lnTo>
                  <a:cubicBezTo>
                    <a:pt x="2824" y="764"/>
                    <a:pt x="2845" y="768"/>
                    <a:pt x="2891" y="768"/>
                  </a:cubicBezTo>
                  <a:lnTo>
                    <a:pt x="2941" y="768"/>
                  </a:lnTo>
                  <a:lnTo>
                    <a:pt x="2725" y="203"/>
                  </a:lnTo>
                  <a:cubicBezTo>
                    <a:pt x="2720" y="190"/>
                    <a:pt x="2697" y="181"/>
                    <a:pt x="2673" y="181"/>
                  </a:cubicBezTo>
                  <a:close/>
                  <a:moveTo>
                    <a:pt x="3529" y="203"/>
                  </a:moveTo>
                  <a:lnTo>
                    <a:pt x="3529" y="203"/>
                  </a:lnTo>
                  <a:cubicBezTo>
                    <a:pt x="3524" y="190"/>
                    <a:pt x="3501" y="181"/>
                    <a:pt x="3477" y="181"/>
                  </a:cubicBezTo>
                  <a:cubicBezTo>
                    <a:pt x="3451" y="181"/>
                    <a:pt x="3430" y="190"/>
                    <a:pt x="3425" y="203"/>
                  </a:cubicBezTo>
                  <a:lnTo>
                    <a:pt x="3212" y="768"/>
                  </a:lnTo>
                  <a:lnTo>
                    <a:pt x="3252" y="768"/>
                  </a:lnTo>
                  <a:cubicBezTo>
                    <a:pt x="3294" y="768"/>
                    <a:pt x="3313" y="764"/>
                    <a:pt x="3326" y="729"/>
                  </a:cubicBezTo>
                  <a:lnTo>
                    <a:pt x="3374" y="596"/>
                  </a:lnTo>
                  <a:lnTo>
                    <a:pt x="3502" y="596"/>
                  </a:lnTo>
                  <a:lnTo>
                    <a:pt x="3483" y="533"/>
                  </a:lnTo>
                  <a:lnTo>
                    <a:pt x="3394" y="533"/>
                  </a:lnTo>
                  <a:lnTo>
                    <a:pt x="3473" y="310"/>
                  </a:lnTo>
                  <a:lnTo>
                    <a:pt x="3616" y="729"/>
                  </a:lnTo>
                  <a:cubicBezTo>
                    <a:pt x="3628" y="764"/>
                    <a:pt x="3649" y="768"/>
                    <a:pt x="3695" y="768"/>
                  </a:cubicBezTo>
                  <a:lnTo>
                    <a:pt x="3745" y="768"/>
                  </a:lnTo>
                  <a:lnTo>
                    <a:pt x="3529" y="203"/>
                  </a:lnTo>
                  <a:lnTo>
                    <a:pt x="3529" y="203"/>
                  </a:lnTo>
                  <a:close/>
                  <a:moveTo>
                    <a:pt x="1655" y="181"/>
                  </a:moveTo>
                  <a:lnTo>
                    <a:pt x="1655" y="181"/>
                  </a:lnTo>
                  <a:cubicBezTo>
                    <a:pt x="1630" y="181"/>
                    <a:pt x="1608" y="190"/>
                    <a:pt x="1603" y="203"/>
                  </a:cubicBezTo>
                  <a:lnTo>
                    <a:pt x="1399" y="746"/>
                  </a:lnTo>
                  <a:lnTo>
                    <a:pt x="1247" y="515"/>
                  </a:lnTo>
                  <a:cubicBezTo>
                    <a:pt x="1327" y="501"/>
                    <a:pt x="1374" y="459"/>
                    <a:pt x="1374" y="387"/>
                  </a:cubicBezTo>
                  <a:lnTo>
                    <a:pt x="1374" y="336"/>
                  </a:lnTo>
                  <a:cubicBezTo>
                    <a:pt x="1374" y="232"/>
                    <a:pt x="1277" y="189"/>
                    <a:pt x="1149" y="189"/>
                  </a:cubicBezTo>
                  <a:lnTo>
                    <a:pt x="969" y="189"/>
                  </a:lnTo>
                  <a:lnTo>
                    <a:pt x="969" y="704"/>
                  </a:lnTo>
                  <a:lnTo>
                    <a:pt x="737" y="704"/>
                  </a:lnTo>
                  <a:cubicBezTo>
                    <a:pt x="646" y="704"/>
                    <a:pt x="625" y="684"/>
                    <a:pt x="625" y="590"/>
                  </a:cubicBezTo>
                  <a:lnTo>
                    <a:pt x="625" y="488"/>
                  </a:lnTo>
                  <a:lnTo>
                    <a:pt x="797" y="488"/>
                  </a:lnTo>
                  <a:lnTo>
                    <a:pt x="816" y="424"/>
                  </a:lnTo>
                  <a:lnTo>
                    <a:pt x="625" y="424"/>
                  </a:lnTo>
                  <a:lnTo>
                    <a:pt x="625" y="253"/>
                  </a:lnTo>
                  <a:lnTo>
                    <a:pt x="878" y="253"/>
                  </a:lnTo>
                  <a:lnTo>
                    <a:pt x="897" y="189"/>
                  </a:lnTo>
                  <a:lnTo>
                    <a:pt x="520" y="189"/>
                  </a:lnTo>
                  <a:lnTo>
                    <a:pt x="520" y="590"/>
                  </a:lnTo>
                  <a:cubicBezTo>
                    <a:pt x="520" y="724"/>
                    <a:pt x="552" y="768"/>
                    <a:pt x="735" y="768"/>
                  </a:cubicBezTo>
                  <a:lnTo>
                    <a:pt x="1074" y="766"/>
                  </a:lnTo>
                  <a:lnTo>
                    <a:pt x="1074" y="253"/>
                  </a:lnTo>
                  <a:lnTo>
                    <a:pt x="1149" y="253"/>
                  </a:lnTo>
                  <a:cubicBezTo>
                    <a:pt x="1230" y="253"/>
                    <a:pt x="1271" y="282"/>
                    <a:pt x="1271" y="337"/>
                  </a:cubicBezTo>
                  <a:lnTo>
                    <a:pt x="1271" y="387"/>
                  </a:lnTo>
                  <a:cubicBezTo>
                    <a:pt x="1271" y="443"/>
                    <a:pt x="1220" y="461"/>
                    <a:pt x="1157" y="461"/>
                  </a:cubicBezTo>
                  <a:lnTo>
                    <a:pt x="1110" y="461"/>
                  </a:lnTo>
                  <a:lnTo>
                    <a:pt x="1269" y="733"/>
                  </a:lnTo>
                  <a:cubicBezTo>
                    <a:pt x="1287" y="765"/>
                    <a:pt x="1296" y="768"/>
                    <a:pt x="1338" y="768"/>
                  </a:cubicBezTo>
                  <a:lnTo>
                    <a:pt x="1430" y="768"/>
                  </a:lnTo>
                  <a:cubicBezTo>
                    <a:pt x="1473" y="768"/>
                    <a:pt x="1492" y="764"/>
                    <a:pt x="1505" y="729"/>
                  </a:cubicBezTo>
                  <a:lnTo>
                    <a:pt x="1552" y="596"/>
                  </a:lnTo>
                  <a:lnTo>
                    <a:pt x="1680" y="596"/>
                  </a:lnTo>
                  <a:lnTo>
                    <a:pt x="1661" y="533"/>
                  </a:lnTo>
                  <a:lnTo>
                    <a:pt x="1573" y="533"/>
                  </a:lnTo>
                  <a:lnTo>
                    <a:pt x="1652" y="310"/>
                  </a:lnTo>
                  <a:lnTo>
                    <a:pt x="1795" y="729"/>
                  </a:lnTo>
                  <a:cubicBezTo>
                    <a:pt x="1807" y="764"/>
                    <a:pt x="1827" y="768"/>
                    <a:pt x="1873" y="768"/>
                  </a:cubicBezTo>
                  <a:lnTo>
                    <a:pt x="1923" y="768"/>
                  </a:lnTo>
                  <a:lnTo>
                    <a:pt x="1707" y="203"/>
                  </a:lnTo>
                  <a:cubicBezTo>
                    <a:pt x="1702" y="190"/>
                    <a:pt x="1679" y="181"/>
                    <a:pt x="1655" y="181"/>
                  </a:cubicBezTo>
                  <a:close/>
                  <a:moveTo>
                    <a:pt x="2304" y="530"/>
                  </a:moveTo>
                  <a:lnTo>
                    <a:pt x="2304" y="530"/>
                  </a:lnTo>
                  <a:cubicBezTo>
                    <a:pt x="2304" y="647"/>
                    <a:pt x="2266" y="704"/>
                    <a:pt x="2162" y="704"/>
                  </a:cubicBezTo>
                  <a:lnTo>
                    <a:pt x="2068" y="704"/>
                  </a:lnTo>
                  <a:lnTo>
                    <a:pt x="2068" y="253"/>
                  </a:lnTo>
                  <a:lnTo>
                    <a:pt x="2159" y="253"/>
                  </a:lnTo>
                  <a:cubicBezTo>
                    <a:pt x="2266" y="253"/>
                    <a:pt x="2304" y="316"/>
                    <a:pt x="2304" y="433"/>
                  </a:cubicBezTo>
                  <a:lnTo>
                    <a:pt x="2304" y="530"/>
                  </a:lnTo>
                  <a:lnTo>
                    <a:pt x="2304" y="530"/>
                  </a:lnTo>
                  <a:close/>
                  <a:moveTo>
                    <a:pt x="2409" y="432"/>
                  </a:moveTo>
                  <a:lnTo>
                    <a:pt x="2409" y="432"/>
                  </a:lnTo>
                  <a:cubicBezTo>
                    <a:pt x="2409" y="270"/>
                    <a:pt x="2326" y="189"/>
                    <a:pt x="2159" y="189"/>
                  </a:cubicBezTo>
                  <a:lnTo>
                    <a:pt x="1963" y="189"/>
                  </a:lnTo>
                  <a:lnTo>
                    <a:pt x="1963" y="709"/>
                  </a:lnTo>
                  <a:cubicBezTo>
                    <a:pt x="1963" y="748"/>
                    <a:pt x="1984" y="768"/>
                    <a:pt x="2029" y="768"/>
                  </a:cubicBezTo>
                  <a:lnTo>
                    <a:pt x="2159" y="768"/>
                  </a:lnTo>
                  <a:lnTo>
                    <a:pt x="2180" y="767"/>
                  </a:lnTo>
                  <a:cubicBezTo>
                    <a:pt x="2337" y="761"/>
                    <a:pt x="2409" y="693"/>
                    <a:pt x="2409" y="530"/>
                  </a:cubicBezTo>
                  <a:lnTo>
                    <a:pt x="2409" y="432"/>
                  </a:lnTo>
                  <a:lnTo>
                    <a:pt x="2409" y="432"/>
                  </a:lnTo>
                  <a:close/>
                  <a:moveTo>
                    <a:pt x="3332" y="190"/>
                  </a:moveTo>
                  <a:lnTo>
                    <a:pt x="3332" y="190"/>
                  </a:lnTo>
                  <a:lnTo>
                    <a:pt x="2851" y="190"/>
                  </a:lnTo>
                  <a:lnTo>
                    <a:pt x="2831" y="254"/>
                  </a:lnTo>
                  <a:lnTo>
                    <a:pt x="3028" y="254"/>
                  </a:lnTo>
                  <a:lnTo>
                    <a:pt x="3028" y="710"/>
                  </a:lnTo>
                  <a:cubicBezTo>
                    <a:pt x="3028" y="749"/>
                    <a:pt x="3052" y="768"/>
                    <a:pt x="3096" y="768"/>
                  </a:cubicBezTo>
                  <a:lnTo>
                    <a:pt x="3135" y="768"/>
                  </a:lnTo>
                  <a:lnTo>
                    <a:pt x="3135" y="254"/>
                  </a:lnTo>
                  <a:lnTo>
                    <a:pt x="3313" y="254"/>
                  </a:lnTo>
                  <a:lnTo>
                    <a:pt x="3332" y="19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3C3B"/>
                </a:solidFill>
                <a:latin typeface="Century Gothic"/>
                <a:ea typeface="Century Gothic"/>
                <a:cs typeface="Century Gothic"/>
                <a:sym typeface="Century Gothic"/>
              </a:endParaRPr>
            </a:p>
          </p:txBody>
        </p:sp>
        <p:sp>
          <p:nvSpPr>
            <p:cNvPr id="138" name="Google Shape;138;p29"/>
            <p:cNvSpPr/>
            <p:nvPr/>
          </p:nvSpPr>
          <p:spPr>
            <a:xfrm>
              <a:off x="3974" y="2210"/>
              <a:ext cx="59" cy="59"/>
            </a:xfrm>
            <a:custGeom>
              <a:rect b="b" l="l" r="r" t="t"/>
              <a:pathLst>
                <a:path extrusionOk="0" h="98" w="99">
                  <a:moveTo>
                    <a:pt x="59" y="30"/>
                  </a:moveTo>
                  <a:lnTo>
                    <a:pt x="59" y="30"/>
                  </a:lnTo>
                  <a:cubicBezTo>
                    <a:pt x="57" y="29"/>
                    <a:pt x="53" y="28"/>
                    <a:pt x="47" y="28"/>
                  </a:cubicBezTo>
                  <a:lnTo>
                    <a:pt x="39" y="28"/>
                  </a:lnTo>
                  <a:lnTo>
                    <a:pt x="39" y="48"/>
                  </a:lnTo>
                  <a:lnTo>
                    <a:pt x="48" y="48"/>
                  </a:lnTo>
                  <a:cubicBezTo>
                    <a:pt x="52" y="48"/>
                    <a:pt x="55" y="47"/>
                    <a:pt x="57" y="46"/>
                  </a:cubicBezTo>
                  <a:cubicBezTo>
                    <a:pt x="61" y="45"/>
                    <a:pt x="63" y="42"/>
                    <a:pt x="63" y="38"/>
                  </a:cubicBezTo>
                  <a:cubicBezTo>
                    <a:pt x="63" y="34"/>
                    <a:pt x="61" y="31"/>
                    <a:pt x="59" y="30"/>
                  </a:cubicBezTo>
                  <a:close/>
                  <a:moveTo>
                    <a:pt x="49" y="22"/>
                  </a:moveTo>
                  <a:lnTo>
                    <a:pt x="49" y="22"/>
                  </a:lnTo>
                  <a:cubicBezTo>
                    <a:pt x="55" y="22"/>
                    <a:pt x="60" y="22"/>
                    <a:pt x="63" y="23"/>
                  </a:cubicBezTo>
                  <a:cubicBezTo>
                    <a:pt x="69" y="26"/>
                    <a:pt x="72" y="30"/>
                    <a:pt x="72" y="37"/>
                  </a:cubicBezTo>
                  <a:cubicBezTo>
                    <a:pt x="72" y="42"/>
                    <a:pt x="70" y="46"/>
                    <a:pt x="66" y="48"/>
                  </a:cubicBezTo>
                  <a:cubicBezTo>
                    <a:pt x="65" y="49"/>
                    <a:pt x="62" y="50"/>
                    <a:pt x="59" y="51"/>
                  </a:cubicBezTo>
                  <a:cubicBezTo>
                    <a:pt x="63" y="51"/>
                    <a:pt x="66" y="53"/>
                    <a:pt x="68" y="56"/>
                  </a:cubicBezTo>
                  <a:cubicBezTo>
                    <a:pt x="70" y="59"/>
                    <a:pt x="71" y="62"/>
                    <a:pt x="71" y="64"/>
                  </a:cubicBezTo>
                  <a:lnTo>
                    <a:pt x="71" y="68"/>
                  </a:lnTo>
                  <a:cubicBezTo>
                    <a:pt x="71" y="69"/>
                    <a:pt x="71" y="71"/>
                    <a:pt x="71" y="72"/>
                  </a:cubicBezTo>
                  <a:cubicBezTo>
                    <a:pt x="71" y="74"/>
                    <a:pt x="71" y="75"/>
                    <a:pt x="72" y="75"/>
                  </a:cubicBezTo>
                  <a:lnTo>
                    <a:pt x="72" y="76"/>
                  </a:lnTo>
                  <a:lnTo>
                    <a:pt x="63" y="76"/>
                  </a:lnTo>
                  <a:cubicBezTo>
                    <a:pt x="63" y="76"/>
                    <a:pt x="63" y="75"/>
                    <a:pt x="63" y="75"/>
                  </a:cubicBezTo>
                  <a:cubicBezTo>
                    <a:pt x="63" y="75"/>
                    <a:pt x="63" y="75"/>
                    <a:pt x="63" y="75"/>
                  </a:cubicBezTo>
                  <a:lnTo>
                    <a:pt x="62" y="73"/>
                  </a:lnTo>
                  <a:lnTo>
                    <a:pt x="62" y="69"/>
                  </a:lnTo>
                  <a:cubicBezTo>
                    <a:pt x="62" y="62"/>
                    <a:pt x="61" y="58"/>
                    <a:pt x="57" y="56"/>
                  </a:cubicBezTo>
                  <a:cubicBezTo>
                    <a:pt x="55" y="55"/>
                    <a:pt x="52" y="54"/>
                    <a:pt x="47" y="54"/>
                  </a:cubicBezTo>
                  <a:lnTo>
                    <a:pt x="39" y="54"/>
                  </a:lnTo>
                  <a:lnTo>
                    <a:pt x="39" y="76"/>
                  </a:lnTo>
                  <a:lnTo>
                    <a:pt x="30" y="76"/>
                  </a:lnTo>
                  <a:lnTo>
                    <a:pt x="30" y="22"/>
                  </a:lnTo>
                  <a:lnTo>
                    <a:pt x="49" y="22"/>
                  </a:lnTo>
                  <a:lnTo>
                    <a:pt x="49" y="22"/>
                  </a:lnTo>
                  <a:close/>
                  <a:moveTo>
                    <a:pt x="20" y="19"/>
                  </a:moveTo>
                  <a:lnTo>
                    <a:pt x="20" y="19"/>
                  </a:lnTo>
                  <a:cubicBezTo>
                    <a:pt x="11" y="27"/>
                    <a:pt x="7" y="37"/>
                    <a:pt x="7" y="49"/>
                  </a:cubicBezTo>
                  <a:cubicBezTo>
                    <a:pt x="7" y="61"/>
                    <a:pt x="11" y="71"/>
                    <a:pt x="20" y="79"/>
                  </a:cubicBezTo>
                  <a:cubicBezTo>
                    <a:pt x="28" y="87"/>
                    <a:pt x="38" y="92"/>
                    <a:pt x="50" y="92"/>
                  </a:cubicBezTo>
                  <a:cubicBezTo>
                    <a:pt x="61" y="92"/>
                    <a:pt x="71" y="87"/>
                    <a:pt x="80" y="79"/>
                  </a:cubicBezTo>
                  <a:cubicBezTo>
                    <a:pt x="88" y="71"/>
                    <a:pt x="92" y="61"/>
                    <a:pt x="92" y="49"/>
                  </a:cubicBezTo>
                  <a:cubicBezTo>
                    <a:pt x="92" y="37"/>
                    <a:pt x="88" y="27"/>
                    <a:pt x="80" y="19"/>
                  </a:cubicBezTo>
                  <a:cubicBezTo>
                    <a:pt x="71" y="10"/>
                    <a:pt x="61" y="6"/>
                    <a:pt x="50" y="6"/>
                  </a:cubicBezTo>
                  <a:cubicBezTo>
                    <a:pt x="38" y="6"/>
                    <a:pt x="28" y="10"/>
                    <a:pt x="20" y="19"/>
                  </a:cubicBezTo>
                  <a:close/>
                  <a:moveTo>
                    <a:pt x="85" y="84"/>
                  </a:moveTo>
                  <a:lnTo>
                    <a:pt x="85" y="84"/>
                  </a:lnTo>
                  <a:cubicBezTo>
                    <a:pt x="75" y="94"/>
                    <a:pt x="63" y="98"/>
                    <a:pt x="50" y="98"/>
                  </a:cubicBezTo>
                  <a:cubicBezTo>
                    <a:pt x="36" y="98"/>
                    <a:pt x="24" y="94"/>
                    <a:pt x="15" y="84"/>
                  </a:cubicBezTo>
                  <a:cubicBezTo>
                    <a:pt x="5" y="74"/>
                    <a:pt x="0" y="63"/>
                    <a:pt x="0" y="49"/>
                  </a:cubicBezTo>
                  <a:cubicBezTo>
                    <a:pt x="0" y="35"/>
                    <a:pt x="5" y="24"/>
                    <a:pt x="15" y="14"/>
                  </a:cubicBezTo>
                  <a:cubicBezTo>
                    <a:pt x="24" y="4"/>
                    <a:pt x="36" y="0"/>
                    <a:pt x="50" y="0"/>
                  </a:cubicBezTo>
                  <a:cubicBezTo>
                    <a:pt x="63" y="0"/>
                    <a:pt x="75" y="4"/>
                    <a:pt x="85" y="14"/>
                  </a:cubicBezTo>
                  <a:cubicBezTo>
                    <a:pt x="94" y="24"/>
                    <a:pt x="99" y="35"/>
                    <a:pt x="99" y="49"/>
                  </a:cubicBezTo>
                  <a:cubicBezTo>
                    <a:pt x="99" y="63"/>
                    <a:pt x="94" y="74"/>
                    <a:pt x="85" y="84"/>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3C3B"/>
                </a:solidFill>
                <a:latin typeface="Century Gothic"/>
                <a:ea typeface="Century Gothic"/>
                <a:cs typeface="Century Gothic"/>
                <a:sym typeface="Century Gothic"/>
              </a:endParaRPr>
            </a:p>
          </p:txBody>
        </p:sp>
      </p:grpSp>
    </p:spTree>
  </p:cSld>
  <p:clrMapOvr>
    <a:masterClrMapping/>
  </p:clrMapOvr>
  <p:transition spd="med">
    <p:fade/>
  </p:transition>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itle and Content">
  <p:cSld name="5_Title and Content">
    <p:spTree>
      <p:nvGrpSpPr>
        <p:cNvPr id="139" name="Shape 139"/>
        <p:cNvGrpSpPr/>
        <p:nvPr/>
      </p:nvGrpSpPr>
      <p:grpSpPr>
        <a:xfrm>
          <a:off x="0" y="0"/>
          <a:ext cx="0" cy="0"/>
          <a:chOff x="0" y="0"/>
          <a:chExt cx="0" cy="0"/>
        </a:xfrm>
      </p:grpSpPr>
      <p:sp>
        <p:nvSpPr>
          <p:cNvPr id="140" name="Google Shape;140;p30"/>
          <p:cNvSpPr txBox="1"/>
          <p:nvPr>
            <p:ph idx="1" type="body"/>
          </p:nvPr>
        </p:nvSpPr>
        <p:spPr>
          <a:xfrm>
            <a:off x="457200" y="1115840"/>
            <a:ext cx="8229600" cy="3507581"/>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solidFill>
                  <a:schemeClr val="dk1"/>
                </a:solidFill>
              </a:defRPr>
            </a:lvl1pPr>
            <a:lvl2pPr indent="-330200" lvl="1" marL="914400" algn="l">
              <a:lnSpc>
                <a:spcPct val="85000"/>
              </a:lnSpc>
              <a:spcBef>
                <a:spcPts val="200"/>
              </a:spcBef>
              <a:spcAft>
                <a:spcPts val="0"/>
              </a:spcAft>
              <a:buClr>
                <a:schemeClr val="dk1"/>
              </a:buClr>
              <a:buSzPts val="1600"/>
              <a:buChar char="–"/>
              <a:defRPr sz="1600">
                <a:solidFill>
                  <a:schemeClr val="dk1"/>
                </a:solidFill>
              </a:defRPr>
            </a:lvl2pPr>
            <a:lvl3pPr indent="-317500" lvl="2" marL="1371600" algn="l">
              <a:lnSpc>
                <a:spcPct val="85000"/>
              </a:lnSpc>
              <a:spcBef>
                <a:spcPts val="200"/>
              </a:spcBef>
              <a:spcAft>
                <a:spcPts val="0"/>
              </a:spcAft>
              <a:buClr>
                <a:schemeClr val="dk1"/>
              </a:buClr>
              <a:buSzPts val="1400"/>
              <a:buChar char="-"/>
              <a:defRPr sz="1400">
                <a:solidFill>
                  <a:schemeClr val="dk1"/>
                </a:solidFill>
              </a:defRPr>
            </a:lvl3pPr>
            <a:lvl4pPr indent="-342900" lvl="3" marL="1828800" algn="l">
              <a:lnSpc>
                <a:spcPct val="95000"/>
              </a:lnSpc>
              <a:spcBef>
                <a:spcPts val="600"/>
              </a:spcBef>
              <a:spcAft>
                <a:spcPts val="0"/>
              </a:spcAft>
              <a:buClr>
                <a:schemeClr val="dk1"/>
              </a:buClr>
              <a:buSzPts val="1800"/>
              <a:buChar char="​"/>
              <a:defRPr sz="1800">
                <a:solidFill>
                  <a:schemeClr val="dk1"/>
                </a:solidFill>
              </a:defRPr>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41" name="Google Shape;141;p30"/>
          <p:cNvSpPr txBox="1"/>
          <p:nvPr>
            <p:ph idx="2" type="body"/>
          </p:nvPr>
        </p:nvSpPr>
        <p:spPr>
          <a:xfrm>
            <a:off x="457200" y="703405"/>
            <a:ext cx="8229600" cy="353174"/>
          </a:xfrm>
          <a:prstGeom prst="rect">
            <a:avLst/>
          </a:prstGeom>
          <a:noFill/>
          <a:ln>
            <a:noFill/>
          </a:ln>
        </p:spPr>
        <p:txBody>
          <a:bodyPr anchorCtr="0" anchor="t" bIns="0" lIns="0" spcFirstLastPara="1" rIns="0" wrap="square" tIns="0">
            <a:noAutofit/>
          </a:bodyPr>
          <a:lstStyle>
            <a:lvl1pPr indent="-228600" lvl="0" marL="457200" algn="l">
              <a:lnSpc>
                <a:spcPct val="85000"/>
              </a:lnSpc>
              <a:spcBef>
                <a:spcPts val="0"/>
              </a:spcBef>
              <a:spcAft>
                <a:spcPts val="0"/>
              </a:spcAft>
              <a:buClr>
                <a:schemeClr val="dk1"/>
              </a:buClr>
              <a:buSzPts val="1800"/>
              <a:buFont typeface="Century Gothic"/>
              <a:buNone/>
              <a:defRPr sz="1800">
                <a:solidFill>
                  <a:schemeClr val="dk1"/>
                </a:solidFill>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42" name="Google Shape;142;p30"/>
          <p:cNvSpPr txBox="1"/>
          <p:nvPr>
            <p:ph type="title"/>
          </p:nvPr>
        </p:nvSpPr>
        <p:spPr>
          <a:xfrm>
            <a:off x="457200" y="128590"/>
            <a:ext cx="8229600" cy="526298"/>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3" name="Google Shape;143;p30"/>
          <p:cNvSpPr txBox="1"/>
          <p:nvPr>
            <p:ph idx="3" type="body"/>
          </p:nvPr>
        </p:nvSpPr>
        <p:spPr>
          <a:xfrm>
            <a:off x="3297994" y="4943703"/>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Tree>
  </p:cSld>
  <p:clrMapOvr>
    <a:masterClrMapping/>
  </p:clrMapOvr>
  <p:transition spd="med">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 name="Shape 12"/>
        <p:cNvGrpSpPr/>
        <p:nvPr/>
      </p:nvGrpSpPr>
      <p:grpSpPr>
        <a:xfrm>
          <a:off x="0" y="0"/>
          <a:ext cx="0" cy="0"/>
          <a:chOff x="0" y="0"/>
          <a:chExt cx="0" cy="0"/>
        </a:xfrm>
      </p:grpSpPr>
      <p:sp>
        <p:nvSpPr>
          <p:cNvPr id="13" name="Google Shape;13;p1"/>
          <p:cNvSpPr txBox="1"/>
          <p:nvPr>
            <p:ph idx="1" type="body"/>
          </p:nvPr>
        </p:nvSpPr>
        <p:spPr>
          <a:xfrm>
            <a:off x="457200" y="1216372"/>
            <a:ext cx="8229600" cy="3340559"/>
          </a:xfrm>
          <a:prstGeom prst="rect">
            <a:avLst/>
          </a:prstGeom>
          <a:noFill/>
          <a:ln>
            <a:noFill/>
          </a:ln>
        </p:spPr>
        <p:txBody>
          <a:bodyPr anchorCtr="0" anchor="t" bIns="0" lIns="0" spcFirstLastPara="1" rIns="0" wrap="square" tIns="0">
            <a:noAutofit/>
          </a:bodyPr>
          <a:lstStyle>
            <a:lvl1pPr indent="-342900" lvl="0" marL="457200"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1pPr>
            <a:lvl2pPr indent="-330200" lvl="1" marL="914400" marR="0" rtl="0" algn="l">
              <a:lnSpc>
                <a:spcPct val="85000"/>
              </a:lnSpc>
              <a:spcBef>
                <a:spcPts val="200"/>
              </a:spcBef>
              <a:spcAft>
                <a:spcPts val="0"/>
              </a:spcAft>
              <a:buClr>
                <a:schemeClr val="dk1"/>
              </a:buClr>
              <a:buSzPts val="1600"/>
              <a:buFont typeface="Arial"/>
              <a:buChar char="–"/>
              <a:defRPr b="0" i="0" sz="1600" u="none" cap="none" strike="noStrike">
                <a:solidFill>
                  <a:schemeClr val="dk1"/>
                </a:solidFill>
                <a:latin typeface="Century Gothic"/>
                <a:ea typeface="Century Gothic"/>
                <a:cs typeface="Century Gothic"/>
                <a:sym typeface="Century Gothic"/>
              </a:defRPr>
            </a:lvl2pPr>
            <a:lvl3pPr indent="-317500" lvl="2" marL="1371600" marR="0" rtl="0" algn="l">
              <a:lnSpc>
                <a:spcPct val="85000"/>
              </a:lnSpc>
              <a:spcBef>
                <a:spcPts val="200"/>
              </a:spcBef>
              <a:spcAft>
                <a:spcPts val="0"/>
              </a:spcAft>
              <a:buClr>
                <a:schemeClr val="dk1"/>
              </a:buClr>
              <a:buSzPts val="1400"/>
              <a:buFont typeface="Arial"/>
              <a:buChar char="-"/>
              <a:defRPr b="0" i="0" sz="1400" u="none" cap="none" strike="noStrike">
                <a:solidFill>
                  <a:schemeClr val="dk1"/>
                </a:solidFill>
                <a:latin typeface="Century Gothic"/>
                <a:ea typeface="Century Gothic"/>
                <a:cs typeface="Century Gothic"/>
                <a:sym typeface="Century Gothic"/>
              </a:defRPr>
            </a:lvl3pPr>
            <a:lvl4pPr indent="-342900" lvl="3" marL="1828800"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4pPr>
            <a:lvl5pPr indent="-342900" lvl="4" marL="2286000" marR="0" rtl="0" algn="l">
              <a:lnSpc>
                <a:spcPct val="95000"/>
              </a:lnSpc>
              <a:spcBef>
                <a:spcPts val="600"/>
              </a:spcBef>
              <a:spcAft>
                <a:spcPts val="0"/>
              </a:spcAft>
              <a:buClr>
                <a:schemeClr val="accent1"/>
              </a:buClr>
              <a:buSzPts val="1800"/>
              <a:buFont typeface="Arial"/>
              <a:buChar char="​"/>
              <a:defRPr b="0" i="0" sz="1800" u="none" cap="none" strike="noStrike">
                <a:solidFill>
                  <a:schemeClr val="accent1"/>
                </a:solidFill>
                <a:latin typeface="Century Gothic"/>
                <a:ea typeface="Century Gothic"/>
                <a:cs typeface="Century Gothic"/>
                <a:sym typeface="Century Gothic"/>
              </a:defRPr>
            </a:lvl5pPr>
            <a:lvl6pPr indent="-342900" lvl="5" marL="2743200" marR="0" rtl="0" algn="l">
              <a:lnSpc>
                <a:spcPct val="95000"/>
              </a:lnSpc>
              <a:spcBef>
                <a:spcPts val="600"/>
              </a:spcBef>
              <a:spcAft>
                <a:spcPts val="0"/>
              </a:spcAft>
              <a:buClr>
                <a:schemeClr val="accent2"/>
              </a:buClr>
              <a:buSzPts val="1800"/>
              <a:buFont typeface="Arial"/>
              <a:buChar char="​"/>
              <a:defRPr b="0" i="0" sz="1800" u="none" cap="none" strike="noStrike">
                <a:solidFill>
                  <a:schemeClr val="accent2"/>
                </a:solidFill>
                <a:latin typeface="Century Gothic"/>
                <a:ea typeface="Century Gothic"/>
                <a:cs typeface="Century Gothic"/>
                <a:sym typeface="Century Gothic"/>
              </a:defRPr>
            </a:lvl6pPr>
            <a:lvl7pPr indent="-342900" lvl="6" marL="3200400" marR="0" rtl="0" algn="l">
              <a:lnSpc>
                <a:spcPct val="95000"/>
              </a:lnSpc>
              <a:spcBef>
                <a:spcPts val="1000"/>
              </a:spcBef>
              <a:spcAft>
                <a:spcPts val="0"/>
              </a:spcAft>
              <a:buClr>
                <a:schemeClr val="dk1"/>
              </a:buClr>
              <a:buSzPts val="1800"/>
              <a:buFont typeface="Arial"/>
              <a:buChar char="​"/>
              <a:defRPr b="1" i="0" sz="1800" u="none" cap="none" strike="noStrike">
                <a:solidFill>
                  <a:schemeClr val="dk1"/>
                </a:solidFill>
                <a:latin typeface="Century Gothic"/>
                <a:ea typeface="Century Gothic"/>
                <a:cs typeface="Century Gothic"/>
                <a:sym typeface="Century Gothic"/>
              </a:defRPr>
            </a:lvl7pPr>
            <a:lvl8pPr indent="-342900" lvl="7" marL="3657600" marR="0" rtl="0" algn="l">
              <a:lnSpc>
                <a:spcPct val="95000"/>
              </a:lnSpc>
              <a:spcBef>
                <a:spcPts val="200"/>
              </a:spcBef>
              <a:spcAft>
                <a:spcPts val="0"/>
              </a:spcAft>
              <a:buClr>
                <a:schemeClr val="dk1"/>
              </a:buClr>
              <a:buSzPts val="1800"/>
              <a:buFont typeface="Century Gothic"/>
              <a:buAutoNum type="arabicPeriod"/>
              <a:defRPr b="0" i="0" sz="1800" u="none" cap="none" strike="noStrike">
                <a:solidFill>
                  <a:schemeClr val="dk1"/>
                </a:solidFill>
                <a:latin typeface="Century Gothic"/>
                <a:ea typeface="Century Gothic"/>
                <a:cs typeface="Century Gothic"/>
                <a:sym typeface="Century Gothic"/>
              </a:defRPr>
            </a:lvl8pPr>
            <a:lvl9pPr indent="-285750" lvl="8" marL="4114800" marR="0" rtl="0" algn="l">
              <a:lnSpc>
                <a:spcPct val="95000"/>
              </a:lnSpc>
              <a:spcBef>
                <a:spcPts val="400"/>
              </a:spcBef>
              <a:spcAft>
                <a:spcPts val="400"/>
              </a:spcAft>
              <a:buClr>
                <a:schemeClr val="accent6"/>
              </a:buClr>
              <a:buSzPts val="900"/>
              <a:buFont typeface="Arial"/>
              <a:buChar char="​"/>
              <a:defRPr b="0" i="0" sz="900" u="none" cap="none" strike="noStrike">
                <a:solidFill>
                  <a:schemeClr val="accent6"/>
                </a:solidFill>
                <a:latin typeface="Century Gothic"/>
                <a:ea typeface="Century Gothic"/>
                <a:cs typeface="Century Gothic"/>
                <a:sym typeface="Century Gothic"/>
              </a:defRPr>
            </a:lvl9pPr>
          </a:lstStyle>
          <a:p/>
        </p:txBody>
      </p:sp>
      <p:sp>
        <p:nvSpPr>
          <p:cNvPr id="14" name="Google Shape;14;p1"/>
          <p:cNvSpPr txBox="1"/>
          <p:nvPr/>
        </p:nvSpPr>
        <p:spPr>
          <a:xfrm>
            <a:off x="153254" y="4896022"/>
            <a:ext cx="133221" cy="130805"/>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lang="en-GB" sz="850">
                <a:solidFill>
                  <a:srgbClr val="6C6C6C"/>
                </a:solidFill>
                <a:latin typeface="Century Gothic"/>
                <a:ea typeface="Century Gothic"/>
                <a:cs typeface="Century Gothic"/>
                <a:sym typeface="Century Gothic"/>
              </a:rPr>
              <a:t>‹#›</a:t>
            </a:fld>
            <a:endParaRPr sz="850">
              <a:solidFill>
                <a:srgbClr val="6C6C6C"/>
              </a:solidFill>
              <a:latin typeface="Century Gothic"/>
              <a:ea typeface="Century Gothic"/>
              <a:cs typeface="Century Gothic"/>
              <a:sym typeface="Century Gothic"/>
            </a:endParaRPr>
          </a:p>
        </p:txBody>
      </p:sp>
      <p:sp>
        <p:nvSpPr>
          <p:cNvPr id="15" name="Google Shape;15;p1"/>
          <p:cNvSpPr txBox="1"/>
          <p:nvPr>
            <p:ph type="title"/>
          </p:nvPr>
        </p:nvSpPr>
        <p:spPr>
          <a:xfrm>
            <a:off x="457200" y="164592"/>
            <a:ext cx="8229600" cy="704088"/>
          </a:xfrm>
          <a:prstGeom prst="rect">
            <a:avLst/>
          </a:prstGeom>
          <a:noFill/>
          <a:ln>
            <a:noFill/>
          </a:ln>
        </p:spPr>
        <p:txBody>
          <a:bodyPr anchorCtr="0" anchor="b" bIns="0" lIns="0" spcFirstLastPara="1" rIns="0" wrap="square" tIns="0">
            <a:noAutofit/>
          </a:bodyPr>
          <a:lstStyle>
            <a:lvl1pPr lvl="0" marR="0" rtl="0" algn="l">
              <a:lnSpc>
                <a:spcPct val="95000"/>
              </a:lnSpc>
              <a:spcBef>
                <a:spcPts val="0"/>
              </a:spcBef>
              <a:spcAft>
                <a:spcPts val="0"/>
              </a:spcAft>
              <a:buClr>
                <a:schemeClr val="accent1"/>
              </a:buClr>
              <a:buSzPts val="2200"/>
              <a:buFont typeface="Century Gothic"/>
              <a:buNone/>
              <a:defRPr b="1" i="0" sz="2200" u="none" cap="none" strike="noStrike">
                <a:solidFill>
                  <a:schemeClr val="accent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grpSp>
        <p:nvGrpSpPr>
          <p:cNvPr id="16" name="Google Shape;16;p1"/>
          <p:cNvGrpSpPr/>
          <p:nvPr/>
        </p:nvGrpSpPr>
        <p:grpSpPr>
          <a:xfrm>
            <a:off x="7772401" y="4853350"/>
            <a:ext cx="914400" cy="204717"/>
            <a:chOff x="5137" y="4139"/>
            <a:chExt cx="335" cy="75"/>
          </a:xfrm>
        </p:grpSpPr>
        <p:sp>
          <p:nvSpPr>
            <p:cNvPr id="17" name="Google Shape;17;p1"/>
            <p:cNvSpPr/>
            <p:nvPr/>
          </p:nvSpPr>
          <p:spPr>
            <a:xfrm>
              <a:off x="5137" y="4139"/>
              <a:ext cx="324" cy="75"/>
            </a:xfrm>
            <a:custGeom>
              <a:rect b="b" l="l" r="r" t="t"/>
              <a:pathLst>
                <a:path extrusionOk="0" h="863" w="3745">
                  <a:moveTo>
                    <a:pt x="660" y="0"/>
                  </a:moveTo>
                  <a:lnTo>
                    <a:pt x="660" y="0"/>
                  </a:lnTo>
                  <a:lnTo>
                    <a:pt x="22" y="0"/>
                  </a:lnTo>
                  <a:lnTo>
                    <a:pt x="0" y="73"/>
                  </a:lnTo>
                  <a:lnTo>
                    <a:pt x="292" y="73"/>
                  </a:lnTo>
                  <a:lnTo>
                    <a:pt x="292" y="804"/>
                  </a:lnTo>
                  <a:cubicBezTo>
                    <a:pt x="292" y="843"/>
                    <a:pt x="316" y="863"/>
                    <a:pt x="360" y="863"/>
                  </a:cubicBezTo>
                  <a:lnTo>
                    <a:pt x="399" y="863"/>
                  </a:lnTo>
                  <a:lnTo>
                    <a:pt x="399" y="73"/>
                  </a:lnTo>
                  <a:lnTo>
                    <a:pt x="637" y="73"/>
                  </a:lnTo>
                  <a:lnTo>
                    <a:pt x="660" y="0"/>
                  </a:lnTo>
                  <a:lnTo>
                    <a:pt x="660" y="0"/>
                  </a:lnTo>
                  <a:close/>
                  <a:moveTo>
                    <a:pt x="2673" y="181"/>
                  </a:moveTo>
                  <a:lnTo>
                    <a:pt x="2673" y="181"/>
                  </a:lnTo>
                  <a:cubicBezTo>
                    <a:pt x="2647" y="181"/>
                    <a:pt x="2626" y="190"/>
                    <a:pt x="2621" y="203"/>
                  </a:cubicBezTo>
                  <a:lnTo>
                    <a:pt x="2408" y="768"/>
                  </a:lnTo>
                  <a:lnTo>
                    <a:pt x="2448" y="768"/>
                  </a:lnTo>
                  <a:cubicBezTo>
                    <a:pt x="2491" y="768"/>
                    <a:pt x="2509" y="764"/>
                    <a:pt x="2522" y="729"/>
                  </a:cubicBezTo>
                  <a:lnTo>
                    <a:pt x="2570" y="596"/>
                  </a:lnTo>
                  <a:lnTo>
                    <a:pt x="2698" y="596"/>
                  </a:lnTo>
                  <a:lnTo>
                    <a:pt x="2679" y="533"/>
                  </a:lnTo>
                  <a:lnTo>
                    <a:pt x="2590" y="533"/>
                  </a:lnTo>
                  <a:lnTo>
                    <a:pt x="2669" y="310"/>
                  </a:lnTo>
                  <a:lnTo>
                    <a:pt x="2812" y="729"/>
                  </a:lnTo>
                  <a:cubicBezTo>
                    <a:pt x="2824" y="764"/>
                    <a:pt x="2845" y="768"/>
                    <a:pt x="2891" y="768"/>
                  </a:cubicBezTo>
                  <a:lnTo>
                    <a:pt x="2941" y="768"/>
                  </a:lnTo>
                  <a:lnTo>
                    <a:pt x="2725" y="203"/>
                  </a:lnTo>
                  <a:cubicBezTo>
                    <a:pt x="2720" y="190"/>
                    <a:pt x="2697" y="181"/>
                    <a:pt x="2673" y="181"/>
                  </a:cubicBezTo>
                  <a:close/>
                  <a:moveTo>
                    <a:pt x="3529" y="203"/>
                  </a:moveTo>
                  <a:lnTo>
                    <a:pt x="3529" y="203"/>
                  </a:lnTo>
                  <a:cubicBezTo>
                    <a:pt x="3524" y="190"/>
                    <a:pt x="3501" y="181"/>
                    <a:pt x="3477" y="181"/>
                  </a:cubicBezTo>
                  <a:cubicBezTo>
                    <a:pt x="3451" y="181"/>
                    <a:pt x="3430" y="190"/>
                    <a:pt x="3425" y="203"/>
                  </a:cubicBezTo>
                  <a:lnTo>
                    <a:pt x="3212" y="768"/>
                  </a:lnTo>
                  <a:lnTo>
                    <a:pt x="3252" y="768"/>
                  </a:lnTo>
                  <a:cubicBezTo>
                    <a:pt x="3294" y="768"/>
                    <a:pt x="3313" y="764"/>
                    <a:pt x="3326" y="729"/>
                  </a:cubicBezTo>
                  <a:lnTo>
                    <a:pt x="3374" y="596"/>
                  </a:lnTo>
                  <a:lnTo>
                    <a:pt x="3502" y="596"/>
                  </a:lnTo>
                  <a:lnTo>
                    <a:pt x="3483" y="533"/>
                  </a:lnTo>
                  <a:lnTo>
                    <a:pt x="3394" y="533"/>
                  </a:lnTo>
                  <a:lnTo>
                    <a:pt x="3473" y="310"/>
                  </a:lnTo>
                  <a:lnTo>
                    <a:pt x="3616" y="729"/>
                  </a:lnTo>
                  <a:cubicBezTo>
                    <a:pt x="3628" y="764"/>
                    <a:pt x="3649" y="768"/>
                    <a:pt x="3695" y="768"/>
                  </a:cubicBezTo>
                  <a:lnTo>
                    <a:pt x="3745" y="768"/>
                  </a:lnTo>
                  <a:lnTo>
                    <a:pt x="3529" y="203"/>
                  </a:lnTo>
                  <a:lnTo>
                    <a:pt x="3529" y="203"/>
                  </a:lnTo>
                  <a:close/>
                  <a:moveTo>
                    <a:pt x="1655" y="181"/>
                  </a:moveTo>
                  <a:lnTo>
                    <a:pt x="1655" y="181"/>
                  </a:lnTo>
                  <a:cubicBezTo>
                    <a:pt x="1630" y="181"/>
                    <a:pt x="1608" y="190"/>
                    <a:pt x="1603" y="203"/>
                  </a:cubicBezTo>
                  <a:lnTo>
                    <a:pt x="1399" y="746"/>
                  </a:lnTo>
                  <a:lnTo>
                    <a:pt x="1247" y="515"/>
                  </a:lnTo>
                  <a:cubicBezTo>
                    <a:pt x="1327" y="501"/>
                    <a:pt x="1374" y="459"/>
                    <a:pt x="1374" y="387"/>
                  </a:cubicBezTo>
                  <a:lnTo>
                    <a:pt x="1374" y="336"/>
                  </a:lnTo>
                  <a:cubicBezTo>
                    <a:pt x="1374" y="232"/>
                    <a:pt x="1277" y="189"/>
                    <a:pt x="1149" y="189"/>
                  </a:cubicBezTo>
                  <a:lnTo>
                    <a:pt x="969" y="189"/>
                  </a:lnTo>
                  <a:lnTo>
                    <a:pt x="969" y="704"/>
                  </a:lnTo>
                  <a:lnTo>
                    <a:pt x="737" y="704"/>
                  </a:lnTo>
                  <a:cubicBezTo>
                    <a:pt x="646" y="704"/>
                    <a:pt x="625" y="684"/>
                    <a:pt x="625" y="590"/>
                  </a:cubicBezTo>
                  <a:lnTo>
                    <a:pt x="625" y="488"/>
                  </a:lnTo>
                  <a:lnTo>
                    <a:pt x="797" y="488"/>
                  </a:lnTo>
                  <a:lnTo>
                    <a:pt x="816" y="424"/>
                  </a:lnTo>
                  <a:lnTo>
                    <a:pt x="625" y="424"/>
                  </a:lnTo>
                  <a:lnTo>
                    <a:pt x="625" y="253"/>
                  </a:lnTo>
                  <a:lnTo>
                    <a:pt x="878" y="253"/>
                  </a:lnTo>
                  <a:lnTo>
                    <a:pt x="897" y="189"/>
                  </a:lnTo>
                  <a:lnTo>
                    <a:pt x="520" y="189"/>
                  </a:lnTo>
                  <a:lnTo>
                    <a:pt x="520" y="590"/>
                  </a:lnTo>
                  <a:cubicBezTo>
                    <a:pt x="520" y="724"/>
                    <a:pt x="552" y="768"/>
                    <a:pt x="735" y="768"/>
                  </a:cubicBezTo>
                  <a:lnTo>
                    <a:pt x="1074" y="766"/>
                  </a:lnTo>
                  <a:lnTo>
                    <a:pt x="1074" y="253"/>
                  </a:lnTo>
                  <a:lnTo>
                    <a:pt x="1149" y="253"/>
                  </a:lnTo>
                  <a:cubicBezTo>
                    <a:pt x="1230" y="253"/>
                    <a:pt x="1271" y="282"/>
                    <a:pt x="1271" y="337"/>
                  </a:cubicBezTo>
                  <a:lnTo>
                    <a:pt x="1271" y="387"/>
                  </a:lnTo>
                  <a:cubicBezTo>
                    <a:pt x="1271" y="443"/>
                    <a:pt x="1220" y="461"/>
                    <a:pt x="1157" y="461"/>
                  </a:cubicBezTo>
                  <a:lnTo>
                    <a:pt x="1110" y="461"/>
                  </a:lnTo>
                  <a:lnTo>
                    <a:pt x="1269" y="733"/>
                  </a:lnTo>
                  <a:cubicBezTo>
                    <a:pt x="1287" y="765"/>
                    <a:pt x="1296" y="768"/>
                    <a:pt x="1338" y="768"/>
                  </a:cubicBezTo>
                  <a:lnTo>
                    <a:pt x="1430" y="768"/>
                  </a:lnTo>
                  <a:cubicBezTo>
                    <a:pt x="1473" y="768"/>
                    <a:pt x="1492" y="764"/>
                    <a:pt x="1505" y="729"/>
                  </a:cubicBezTo>
                  <a:lnTo>
                    <a:pt x="1552" y="596"/>
                  </a:lnTo>
                  <a:lnTo>
                    <a:pt x="1680" y="596"/>
                  </a:lnTo>
                  <a:lnTo>
                    <a:pt x="1661" y="533"/>
                  </a:lnTo>
                  <a:lnTo>
                    <a:pt x="1573" y="533"/>
                  </a:lnTo>
                  <a:lnTo>
                    <a:pt x="1652" y="310"/>
                  </a:lnTo>
                  <a:lnTo>
                    <a:pt x="1795" y="729"/>
                  </a:lnTo>
                  <a:cubicBezTo>
                    <a:pt x="1807" y="764"/>
                    <a:pt x="1827" y="768"/>
                    <a:pt x="1873" y="768"/>
                  </a:cubicBezTo>
                  <a:lnTo>
                    <a:pt x="1923" y="768"/>
                  </a:lnTo>
                  <a:lnTo>
                    <a:pt x="1707" y="203"/>
                  </a:lnTo>
                  <a:cubicBezTo>
                    <a:pt x="1702" y="190"/>
                    <a:pt x="1679" y="181"/>
                    <a:pt x="1655" y="181"/>
                  </a:cubicBezTo>
                  <a:close/>
                  <a:moveTo>
                    <a:pt x="2304" y="530"/>
                  </a:moveTo>
                  <a:lnTo>
                    <a:pt x="2304" y="530"/>
                  </a:lnTo>
                  <a:cubicBezTo>
                    <a:pt x="2304" y="647"/>
                    <a:pt x="2266" y="704"/>
                    <a:pt x="2162" y="704"/>
                  </a:cubicBezTo>
                  <a:lnTo>
                    <a:pt x="2068" y="704"/>
                  </a:lnTo>
                  <a:lnTo>
                    <a:pt x="2068" y="253"/>
                  </a:lnTo>
                  <a:lnTo>
                    <a:pt x="2159" y="253"/>
                  </a:lnTo>
                  <a:cubicBezTo>
                    <a:pt x="2266" y="253"/>
                    <a:pt x="2304" y="316"/>
                    <a:pt x="2304" y="433"/>
                  </a:cubicBezTo>
                  <a:lnTo>
                    <a:pt x="2304" y="530"/>
                  </a:lnTo>
                  <a:lnTo>
                    <a:pt x="2304" y="530"/>
                  </a:lnTo>
                  <a:close/>
                  <a:moveTo>
                    <a:pt x="2409" y="432"/>
                  </a:moveTo>
                  <a:lnTo>
                    <a:pt x="2409" y="432"/>
                  </a:lnTo>
                  <a:cubicBezTo>
                    <a:pt x="2409" y="270"/>
                    <a:pt x="2326" y="189"/>
                    <a:pt x="2159" y="189"/>
                  </a:cubicBezTo>
                  <a:lnTo>
                    <a:pt x="1963" y="189"/>
                  </a:lnTo>
                  <a:lnTo>
                    <a:pt x="1963" y="709"/>
                  </a:lnTo>
                  <a:cubicBezTo>
                    <a:pt x="1963" y="748"/>
                    <a:pt x="1984" y="768"/>
                    <a:pt x="2029" y="768"/>
                  </a:cubicBezTo>
                  <a:lnTo>
                    <a:pt x="2159" y="768"/>
                  </a:lnTo>
                  <a:lnTo>
                    <a:pt x="2180" y="767"/>
                  </a:lnTo>
                  <a:cubicBezTo>
                    <a:pt x="2337" y="761"/>
                    <a:pt x="2409" y="693"/>
                    <a:pt x="2409" y="530"/>
                  </a:cubicBezTo>
                  <a:lnTo>
                    <a:pt x="2409" y="432"/>
                  </a:lnTo>
                  <a:lnTo>
                    <a:pt x="2409" y="432"/>
                  </a:lnTo>
                  <a:close/>
                  <a:moveTo>
                    <a:pt x="3332" y="190"/>
                  </a:moveTo>
                  <a:lnTo>
                    <a:pt x="3332" y="190"/>
                  </a:lnTo>
                  <a:lnTo>
                    <a:pt x="2851" y="190"/>
                  </a:lnTo>
                  <a:lnTo>
                    <a:pt x="2831" y="254"/>
                  </a:lnTo>
                  <a:lnTo>
                    <a:pt x="3028" y="254"/>
                  </a:lnTo>
                  <a:lnTo>
                    <a:pt x="3028" y="710"/>
                  </a:lnTo>
                  <a:cubicBezTo>
                    <a:pt x="3028" y="749"/>
                    <a:pt x="3052" y="768"/>
                    <a:pt x="3096" y="768"/>
                  </a:cubicBezTo>
                  <a:lnTo>
                    <a:pt x="3135" y="768"/>
                  </a:lnTo>
                  <a:lnTo>
                    <a:pt x="3135" y="254"/>
                  </a:lnTo>
                  <a:lnTo>
                    <a:pt x="3313" y="254"/>
                  </a:lnTo>
                  <a:lnTo>
                    <a:pt x="3332" y="19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3C3B"/>
                </a:solidFill>
                <a:latin typeface="Century Gothic"/>
                <a:ea typeface="Century Gothic"/>
                <a:cs typeface="Century Gothic"/>
                <a:sym typeface="Century Gothic"/>
              </a:endParaRPr>
            </a:p>
          </p:txBody>
        </p:sp>
        <p:sp>
          <p:nvSpPr>
            <p:cNvPr id="18" name="Google Shape;18;p1"/>
            <p:cNvSpPr/>
            <p:nvPr/>
          </p:nvSpPr>
          <p:spPr>
            <a:xfrm>
              <a:off x="5464" y="4197"/>
              <a:ext cx="8" cy="9"/>
            </a:xfrm>
            <a:custGeom>
              <a:rect b="b" l="l" r="r" t="t"/>
              <a:pathLst>
                <a:path extrusionOk="0" h="98" w="99">
                  <a:moveTo>
                    <a:pt x="59" y="30"/>
                  </a:moveTo>
                  <a:lnTo>
                    <a:pt x="59" y="30"/>
                  </a:lnTo>
                  <a:cubicBezTo>
                    <a:pt x="57" y="29"/>
                    <a:pt x="53" y="28"/>
                    <a:pt x="47" y="28"/>
                  </a:cubicBezTo>
                  <a:lnTo>
                    <a:pt x="39" y="28"/>
                  </a:lnTo>
                  <a:lnTo>
                    <a:pt x="39" y="48"/>
                  </a:lnTo>
                  <a:lnTo>
                    <a:pt x="48" y="48"/>
                  </a:lnTo>
                  <a:cubicBezTo>
                    <a:pt x="52" y="48"/>
                    <a:pt x="55" y="47"/>
                    <a:pt x="57" y="46"/>
                  </a:cubicBezTo>
                  <a:cubicBezTo>
                    <a:pt x="61" y="45"/>
                    <a:pt x="63" y="42"/>
                    <a:pt x="63" y="38"/>
                  </a:cubicBezTo>
                  <a:cubicBezTo>
                    <a:pt x="63" y="34"/>
                    <a:pt x="61" y="31"/>
                    <a:pt x="59" y="30"/>
                  </a:cubicBezTo>
                  <a:close/>
                  <a:moveTo>
                    <a:pt x="49" y="22"/>
                  </a:moveTo>
                  <a:lnTo>
                    <a:pt x="49" y="22"/>
                  </a:lnTo>
                  <a:cubicBezTo>
                    <a:pt x="55" y="22"/>
                    <a:pt x="60" y="22"/>
                    <a:pt x="63" y="23"/>
                  </a:cubicBezTo>
                  <a:cubicBezTo>
                    <a:pt x="69" y="26"/>
                    <a:pt x="72" y="30"/>
                    <a:pt x="72" y="37"/>
                  </a:cubicBezTo>
                  <a:cubicBezTo>
                    <a:pt x="72" y="42"/>
                    <a:pt x="70" y="46"/>
                    <a:pt x="66" y="48"/>
                  </a:cubicBezTo>
                  <a:cubicBezTo>
                    <a:pt x="65" y="49"/>
                    <a:pt x="62" y="50"/>
                    <a:pt x="59" y="51"/>
                  </a:cubicBezTo>
                  <a:cubicBezTo>
                    <a:pt x="63" y="51"/>
                    <a:pt x="66" y="53"/>
                    <a:pt x="68" y="56"/>
                  </a:cubicBezTo>
                  <a:cubicBezTo>
                    <a:pt x="70" y="59"/>
                    <a:pt x="71" y="62"/>
                    <a:pt x="71" y="64"/>
                  </a:cubicBezTo>
                  <a:lnTo>
                    <a:pt x="71" y="68"/>
                  </a:lnTo>
                  <a:cubicBezTo>
                    <a:pt x="71" y="69"/>
                    <a:pt x="71" y="71"/>
                    <a:pt x="71" y="72"/>
                  </a:cubicBezTo>
                  <a:cubicBezTo>
                    <a:pt x="71" y="74"/>
                    <a:pt x="71" y="75"/>
                    <a:pt x="72" y="75"/>
                  </a:cubicBezTo>
                  <a:lnTo>
                    <a:pt x="72" y="76"/>
                  </a:lnTo>
                  <a:lnTo>
                    <a:pt x="63" y="76"/>
                  </a:lnTo>
                  <a:cubicBezTo>
                    <a:pt x="63" y="76"/>
                    <a:pt x="63" y="75"/>
                    <a:pt x="63" y="75"/>
                  </a:cubicBezTo>
                  <a:cubicBezTo>
                    <a:pt x="63" y="75"/>
                    <a:pt x="63" y="75"/>
                    <a:pt x="63" y="75"/>
                  </a:cubicBezTo>
                  <a:lnTo>
                    <a:pt x="62" y="73"/>
                  </a:lnTo>
                  <a:lnTo>
                    <a:pt x="62" y="69"/>
                  </a:lnTo>
                  <a:cubicBezTo>
                    <a:pt x="62" y="62"/>
                    <a:pt x="61" y="58"/>
                    <a:pt x="57" y="56"/>
                  </a:cubicBezTo>
                  <a:cubicBezTo>
                    <a:pt x="55" y="55"/>
                    <a:pt x="52" y="54"/>
                    <a:pt x="47" y="54"/>
                  </a:cubicBezTo>
                  <a:lnTo>
                    <a:pt x="39" y="54"/>
                  </a:lnTo>
                  <a:lnTo>
                    <a:pt x="39" y="76"/>
                  </a:lnTo>
                  <a:lnTo>
                    <a:pt x="30" y="76"/>
                  </a:lnTo>
                  <a:lnTo>
                    <a:pt x="30" y="22"/>
                  </a:lnTo>
                  <a:lnTo>
                    <a:pt x="49" y="22"/>
                  </a:lnTo>
                  <a:lnTo>
                    <a:pt x="49" y="22"/>
                  </a:lnTo>
                  <a:close/>
                  <a:moveTo>
                    <a:pt x="20" y="19"/>
                  </a:moveTo>
                  <a:lnTo>
                    <a:pt x="20" y="19"/>
                  </a:lnTo>
                  <a:cubicBezTo>
                    <a:pt x="11" y="27"/>
                    <a:pt x="7" y="37"/>
                    <a:pt x="7" y="49"/>
                  </a:cubicBezTo>
                  <a:cubicBezTo>
                    <a:pt x="7" y="61"/>
                    <a:pt x="11" y="71"/>
                    <a:pt x="20" y="79"/>
                  </a:cubicBezTo>
                  <a:cubicBezTo>
                    <a:pt x="28" y="87"/>
                    <a:pt x="38" y="92"/>
                    <a:pt x="50" y="92"/>
                  </a:cubicBezTo>
                  <a:cubicBezTo>
                    <a:pt x="61" y="92"/>
                    <a:pt x="71" y="87"/>
                    <a:pt x="80" y="79"/>
                  </a:cubicBezTo>
                  <a:cubicBezTo>
                    <a:pt x="88" y="71"/>
                    <a:pt x="92" y="61"/>
                    <a:pt x="92" y="49"/>
                  </a:cubicBezTo>
                  <a:cubicBezTo>
                    <a:pt x="92" y="37"/>
                    <a:pt x="88" y="27"/>
                    <a:pt x="80" y="19"/>
                  </a:cubicBezTo>
                  <a:cubicBezTo>
                    <a:pt x="71" y="10"/>
                    <a:pt x="61" y="6"/>
                    <a:pt x="50" y="6"/>
                  </a:cubicBezTo>
                  <a:cubicBezTo>
                    <a:pt x="38" y="6"/>
                    <a:pt x="28" y="10"/>
                    <a:pt x="20" y="19"/>
                  </a:cubicBezTo>
                  <a:close/>
                  <a:moveTo>
                    <a:pt x="85" y="84"/>
                  </a:moveTo>
                  <a:lnTo>
                    <a:pt x="85" y="84"/>
                  </a:lnTo>
                  <a:cubicBezTo>
                    <a:pt x="75" y="94"/>
                    <a:pt x="63" y="98"/>
                    <a:pt x="50" y="98"/>
                  </a:cubicBezTo>
                  <a:cubicBezTo>
                    <a:pt x="36" y="98"/>
                    <a:pt x="24" y="94"/>
                    <a:pt x="15" y="84"/>
                  </a:cubicBezTo>
                  <a:cubicBezTo>
                    <a:pt x="5" y="74"/>
                    <a:pt x="0" y="63"/>
                    <a:pt x="0" y="49"/>
                  </a:cubicBezTo>
                  <a:cubicBezTo>
                    <a:pt x="0" y="35"/>
                    <a:pt x="5" y="24"/>
                    <a:pt x="15" y="14"/>
                  </a:cubicBezTo>
                  <a:cubicBezTo>
                    <a:pt x="24" y="4"/>
                    <a:pt x="36" y="0"/>
                    <a:pt x="50" y="0"/>
                  </a:cubicBezTo>
                  <a:cubicBezTo>
                    <a:pt x="63" y="0"/>
                    <a:pt x="75" y="4"/>
                    <a:pt x="85" y="14"/>
                  </a:cubicBezTo>
                  <a:cubicBezTo>
                    <a:pt x="94" y="24"/>
                    <a:pt x="99" y="35"/>
                    <a:pt x="99" y="49"/>
                  </a:cubicBezTo>
                  <a:cubicBezTo>
                    <a:pt x="99" y="63"/>
                    <a:pt x="94" y="74"/>
                    <a:pt x="85" y="84"/>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3C3B"/>
                </a:solidFill>
                <a:latin typeface="Century Gothic"/>
                <a:ea typeface="Century Gothic"/>
                <a:cs typeface="Century Gothic"/>
                <a:sym typeface="Century Gothic"/>
              </a:endParaRPr>
            </a:p>
          </p:txBody>
        </p:sp>
      </p:grpSp>
      <p:sp>
        <p:nvSpPr>
          <p:cNvPr id="19" name="Google Shape;19;p1"/>
          <p:cNvSpPr txBox="1"/>
          <p:nvPr/>
        </p:nvSpPr>
        <p:spPr>
          <a:xfrm>
            <a:off x="457200" y="4867275"/>
            <a:ext cx="3214489" cy="232042"/>
          </a:xfrm>
          <a:prstGeom prst="rect">
            <a:avLst/>
          </a:prstGeom>
          <a:noFill/>
          <a:ln>
            <a:noFill/>
          </a:ln>
        </p:spPr>
        <p:txBody>
          <a:bodyPr anchorCtr="0" anchor="ctr" bIns="45700" lIns="46800" spcFirstLastPara="1" rIns="91425" wrap="square" tIns="45700">
            <a:noAutofit/>
          </a:bodyPr>
          <a:lstStyle/>
          <a:p>
            <a:pPr indent="0" lvl="0" marL="0" marR="0" rtl="0" algn="l">
              <a:lnSpc>
                <a:spcPct val="100000"/>
              </a:lnSpc>
              <a:spcBef>
                <a:spcPts val="0"/>
              </a:spcBef>
              <a:spcAft>
                <a:spcPts val="0"/>
              </a:spcAft>
              <a:buClr>
                <a:schemeClr val="dk1"/>
              </a:buClr>
              <a:buSzPts val="800"/>
              <a:buFont typeface="Century Gothic"/>
              <a:buNone/>
            </a:pPr>
            <a:r>
              <a:rPr b="0" baseline="30000" lang="en-GB" sz="800">
                <a:solidFill>
                  <a:schemeClr val="dk1"/>
                </a:solidFill>
                <a:latin typeface="Century Gothic"/>
                <a:ea typeface="Century Gothic"/>
                <a:cs typeface="Century Gothic"/>
                <a:sym typeface="Century Gothic"/>
              </a:rPr>
              <a:t>© </a:t>
            </a:r>
            <a:r>
              <a:rPr b="0" lang="en-GB" sz="800">
                <a:solidFill>
                  <a:schemeClr val="dk1"/>
                </a:solidFill>
                <a:latin typeface="Century Gothic"/>
                <a:ea typeface="Century Gothic"/>
                <a:cs typeface="Century Gothic"/>
                <a:sym typeface="Century Gothic"/>
              </a:rPr>
              <a:t>2017 Teradata Confidential Information</a:t>
            </a:r>
            <a:endParaRPr/>
          </a:p>
          <a:p>
            <a:pPr indent="0" lvl="0" marL="0" marR="0" rtl="0" algn="l">
              <a:spcBef>
                <a:spcPts val="0"/>
              </a:spcBef>
              <a:spcAft>
                <a:spcPts val="0"/>
              </a:spcAft>
              <a:buNone/>
            </a:pPr>
            <a:r>
              <a:t/>
            </a:r>
            <a:endParaRPr b="0" sz="100">
              <a:solidFill>
                <a:srgbClr val="A2A2A2"/>
              </a:solidFill>
              <a:latin typeface="Century Gothic"/>
              <a:ea typeface="Century Gothic"/>
              <a:cs typeface="Century Gothic"/>
              <a:sym typeface="Century Gothic"/>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Lst>
  <p:transition spd="med">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1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0.xml"/><Relationship Id="rId3" Type="http://schemas.openxmlformats.org/officeDocument/2006/relationships/slide" Target="slide10.xml"/><Relationship Id="rId4" Type="http://schemas.openxmlformats.org/officeDocument/2006/relationships/slide" Target="slide8.xml"/><Relationship Id="rId5" Type="http://schemas.openxmlformats.org/officeDocument/2006/relationships/slide" Target="slide3.xml"/><Relationship Id="rId6" Type="http://schemas.openxmlformats.org/officeDocument/2006/relationships/slide" Target="slide3.xml"/><Relationship Id="rId7" Type="http://schemas.openxmlformats.org/officeDocument/2006/relationships/slide" Target="slide3.xml"/><Relationship Id="rId8" Type="http://schemas.openxmlformats.org/officeDocument/2006/relationships/slide" Target="slide4.xml"/><Relationship Id="rId9" Type="http://schemas.openxmlformats.org/officeDocument/2006/relationships/slide" Target="slide4.xml"/><Relationship Id="rId10" Type="http://schemas.openxmlformats.org/officeDocument/2006/relationships/slide" Target="slide5.xml"/><Relationship Id="rId11" Type="http://schemas.openxmlformats.org/officeDocument/2006/relationships/slide" Target="slide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1.xml"/><Relationship Id="rId3" Type="http://schemas.openxmlformats.org/officeDocument/2006/relationships/slide" Target="slide25.xml"/><Relationship Id="rId4" Type="http://schemas.openxmlformats.org/officeDocument/2006/relationships/slide" Target="slide23.xml"/><Relationship Id="rId5" Type="http://schemas.openxmlformats.org/officeDocument/2006/relationships/slide" Target="slide21.xml"/><Relationship Id="rId6" Type="http://schemas.openxmlformats.org/officeDocument/2006/relationships/slide" Target="slide2.xml"/><Relationship Id="rId7" Type="http://schemas.openxmlformats.org/officeDocument/2006/relationships/slide" Target="slide5.xml"/><Relationship Id="rId8" Type="http://schemas.openxmlformats.org/officeDocument/2006/relationships/slide" Target="slide19.xml"/><Relationship Id="rId9" Type="http://schemas.openxmlformats.org/officeDocument/2006/relationships/slide" Target="slide2.xml"/><Relationship Id="rId10" Type="http://schemas.openxmlformats.org/officeDocument/2006/relationships/slide" Target="slide27.xml"/><Relationship Id="rId11" Type="http://schemas.openxmlformats.org/officeDocument/2006/relationships/slide" Target="slide31.xml"/><Relationship Id="rId12" Type="http://schemas.openxmlformats.org/officeDocument/2006/relationships/slide" Target="slide29.xml"/><Relationship Id="rId13" Type="http://schemas.openxmlformats.org/officeDocument/2006/relationships/slide" Target="slide2.xml"/><Relationship Id="rId14" Type="http://schemas.openxmlformats.org/officeDocument/2006/relationships/slide" Target="slide37.xml"/><Relationship Id="rId15" Type="http://schemas.openxmlformats.org/officeDocument/2006/relationships/slide" Target="slide35.xml"/><Relationship Id="rId16" Type="http://schemas.openxmlformats.org/officeDocument/2006/relationships/slide" Target="slide33.xml"/><Relationship Id="rId17" Type="http://schemas.openxmlformats.org/officeDocument/2006/relationships/slide" Target="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2.xml"/><Relationship Id="rId3" Type="http://schemas.openxmlformats.org/officeDocument/2006/relationships/slide" Target="slide41.xml"/><Relationship Id="rId4" Type="http://schemas.openxmlformats.org/officeDocument/2006/relationships/slide" Target="slide2.xml"/><Relationship Id="rId5" Type="http://schemas.openxmlformats.org/officeDocument/2006/relationships/slide" Target="slide6.xml"/><Relationship Id="rId6" Type="http://schemas.openxmlformats.org/officeDocument/2006/relationships/slide" Target="slide39.xml"/><Relationship Id="rId7" Type="http://schemas.openxmlformats.org/officeDocument/2006/relationships/slide" Target="slide2.xml"/><Relationship Id="rId8" Type="http://schemas.openxmlformats.org/officeDocument/2006/relationships/slide" Target="slide43.xml"/><Relationship Id="rId9" Type="http://schemas.openxmlformats.org/officeDocument/2006/relationships/slide" Target="slide47.xml"/><Relationship Id="rId10" Type="http://schemas.openxmlformats.org/officeDocument/2006/relationships/slide" Target="slide45.xml"/><Relationship Id="rId11" Type="http://schemas.openxmlformats.org/officeDocument/2006/relationships/slide" Target="slide49.xml"/><Relationship Id="rId12" Type="http://schemas.openxmlformats.org/officeDocument/2006/relationships/slide" Target="slide51.xml"/><Relationship Id="rId13" Type="http://schemas.openxmlformats.org/officeDocument/2006/relationships/slide" Target="slide53.xml"/><Relationship Id="rId14" Type="http://schemas.openxmlformats.org/officeDocument/2006/relationships/slide" Target="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3.xml"/><Relationship Id="rId9" Type="http://schemas.openxmlformats.org/officeDocument/2006/relationships/slide" Target="slide3.xml"/><Relationship Id="rId10" Type="http://schemas.openxmlformats.org/officeDocument/2006/relationships/slide" Target="slide6.xml"/><Relationship Id="rId12" Type="http://schemas.openxmlformats.org/officeDocument/2006/relationships/slide" Target="slide3.xml"/><Relationship Id="rId14" Type="http://schemas.openxmlformats.org/officeDocument/2006/relationships/slide" Target="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4.xml"/><Relationship Id="rId6" Type="http://schemas.openxmlformats.org/officeDocument/2006/relationships/slide" Target="slide3.xml"/><Relationship Id="rId7" Type="http://schemas.openxmlformats.org/officeDocument/2006/relationships/slide" Target="slide4.xml"/><Relationship Id="rId10" Type="http://schemas.openxmlformats.org/officeDocument/2006/relationships/slide" Target="slide5.xml"/><Relationship Id="rId11" Type="http://schemas.openxmlformats.org/officeDocument/2006/relationships/slide" Target="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2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6.xml"/><Relationship Id="rId3" Type="http://schemas.openxmlformats.org/officeDocument/2006/relationships/image" Target="../media/image51.png"/><Relationship Id="rId4" Type="http://schemas.openxmlformats.org/officeDocument/2006/relationships/image" Target="../media/image48.png"/><Relationship Id="rId5" Type="http://schemas.openxmlformats.org/officeDocument/2006/relationships/image" Target="../media/image53.png"/><Relationship Id="rId6" Type="http://schemas.openxmlformats.org/officeDocument/2006/relationships/image" Target="../media/image61.png"/><Relationship Id="rId7" Type="http://schemas.openxmlformats.org/officeDocument/2006/relationships/hyperlink" Target="http://www.google.com/url?sa=i&amp;rct=j&amp;q=&amp;esrc=s&amp;source=images&amp;cd=&amp;cad=rja&amp;uact=8&amp;ved=0ahUKEwjQ_5iq77LPAhWF0h4KHcYLC_4QjRwIBw&amp;url=http://www.pullman-wa.gov/departments/police/crime-prevention/drugs&amp;bvm=bv.134052249,d.dmo&amp;psig=AFQjCNH4M2X9F_FSAZOmNY-5z41aykvBqQ&amp;ust=1475179843438811" TargetMode="External"/><Relationship Id="rId8" Type="http://schemas.openxmlformats.org/officeDocument/2006/relationships/image" Target="../media/image45.jpg"/><Relationship Id="rId9" Type="http://schemas.openxmlformats.org/officeDocument/2006/relationships/hyperlink" Target="https://www.google.com/url?sa=i&amp;rct=j&amp;q=&amp;esrc=s&amp;source=images&amp;cd=&amp;cad=rja&amp;uact=8&amp;ved=0ahUKEwj6y67I77LPAhUGKh4KHfXBDz0QjRwIBw&amp;url=https://palacestation.sclv.com/Hotel.aspx&amp;bvm=bv.134052249,d.dmo&amp;psig=AFQjCNEOv67BHBepsS1HeunpNMF7c08klw&amp;ust=1475179907322776" TargetMode="External"/><Relationship Id="rId10" Type="http://schemas.openxmlformats.org/officeDocument/2006/relationships/image" Target="../media/image63.jpg"/><Relationship Id="rId11" Type="http://schemas.openxmlformats.org/officeDocument/2006/relationships/image" Target="../media/image57.png"/><Relationship Id="rId12" Type="http://schemas.openxmlformats.org/officeDocument/2006/relationships/image" Target="../media/image47.png"/><Relationship Id="rId13" Type="http://schemas.openxmlformats.org/officeDocument/2006/relationships/image" Target="../media/image50.jpg"/><Relationship Id="rId14" Type="http://schemas.openxmlformats.org/officeDocument/2006/relationships/image" Target="../media/image52.png"/><Relationship Id="rId15" Type="http://schemas.openxmlformats.org/officeDocument/2006/relationships/hyperlink" Target="http://www.google.com/url?sa=i&amp;rct=j&amp;q=&amp;esrc=s&amp;source=images&amp;cd=&amp;cad=rja&amp;uact=8&amp;ved=0ahUKEwilycm1kLPPAhVL1B4KHUyVAg8QjRwIBw&amp;url=http://knack.nyc/category/blog/page/4/&amp;psig=AFQjCNHaW4IrkYBM5O2agoKWbAie617oJQ&amp;ust=1475188644504619" TargetMode="External"/><Relationship Id="rId16" Type="http://schemas.openxmlformats.org/officeDocument/2006/relationships/image" Target="../media/image58.jpg"/><Relationship Id="rId17" Type="http://schemas.openxmlformats.org/officeDocument/2006/relationships/hyperlink" Target="https://www.google.com/url?sa=i&amp;rct=j&amp;q=&amp;esrc=s&amp;source=images&amp;cd=&amp;cad=rja&amp;uact=8&amp;ved=0ahUKEwj4j6fHicjPAhWBKiYKHZN_DWQQjRwIBw&amp;url=https://illinoislending.com/blog/&amp;psig=AFQjCNF0u7oLZCSM8ZmSf58fqQbfM89mTA&amp;ust=1475908416892471" TargetMode="External"/><Relationship Id="rId18" Type="http://schemas.openxmlformats.org/officeDocument/2006/relationships/image" Target="../media/image49.jpg"/><Relationship Id="rId19" Type="http://schemas.openxmlformats.org/officeDocument/2006/relationships/slide" Target="slid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7.xml"/><Relationship Id="rId3" Type="http://schemas.openxmlformats.org/officeDocument/2006/relationships/slide" Target="slid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28.xml"/><Relationship Id="rId3" Type="http://schemas.openxmlformats.org/officeDocument/2006/relationships/image" Target="../media/image72.jpg"/><Relationship Id="rId4" Type="http://schemas.openxmlformats.org/officeDocument/2006/relationships/slide" Target="slid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9.xml"/><Relationship Id="rId3" Type="http://schemas.openxmlformats.org/officeDocument/2006/relationships/image" Target="../media/image36.jpg"/><Relationship Id="rId4" Type="http://schemas.openxmlformats.org/officeDocument/2006/relationships/slide" Target="slid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0.xml"/><Relationship Id="rId3" Type="http://schemas.openxmlformats.org/officeDocument/2006/relationships/image" Target="../media/image54.jpg"/><Relationship Id="rId4" Type="http://schemas.openxmlformats.org/officeDocument/2006/relationships/slide" Target="slide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1.xml"/><Relationship Id="rId3" Type="http://schemas.openxmlformats.org/officeDocument/2006/relationships/image" Target="../media/image55.png"/><Relationship Id="rId4" Type="http://schemas.openxmlformats.org/officeDocument/2006/relationships/slide" Target="slide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2.xml"/><Relationship Id="rId3" Type="http://schemas.openxmlformats.org/officeDocument/2006/relationships/image" Target="../media/image60.png"/><Relationship Id="rId4" Type="http://schemas.openxmlformats.org/officeDocument/2006/relationships/slide" Target="slide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3.xml"/><Relationship Id="rId3" Type="http://schemas.openxmlformats.org/officeDocument/2006/relationships/image" Target="../media/image69.jpg"/><Relationship Id="rId4" Type="http://schemas.openxmlformats.org/officeDocument/2006/relationships/slide" Target="slide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4.xml"/><Relationship Id="rId3" Type="http://schemas.openxmlformats.org/officeDocument/2006/relationships/slide" Target="slide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5.xml"/><Relationship Id="rId3" Type="http://schemas.openxmlformats.org/officeDocument/2006/relationships/slide" Target="slide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3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37.xml"/><Relationship Id="rId3" Type="http://schemas.openxmlformats.org/officeDocument/2006/relationships/image" Target="../media/image69.jpg"/><Relationship Id="rId4" Type="http://schemas.openxmlformats.org/officeDocument/2006/relationships/slide" Target="slide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8.xml"/><Relationship Id="rId3" Type="http://schemas.openxmlformats.org/officeDocument/2006/relationships/image" Target="../media/image59.jpg"/><Relationship Id="rId4" Type="http://schemas.openxmlformats.org/officeDocument/2006/relationships/slide" Target="slide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39.xml"/><Relationship Id="rId3" Type="http://schemas.openxmlformats.org/officeDocument/2006/relationships/slide" Target="slide5.xml"/><Relationship Id="rId4" Type="http://schemas.openxmlformats.org/officeDocument/2006/relationships/image" Target="../media/image59.jpg"/><Relationship Id="rId5" Type="http://schemas.openxmlformats.org/officeDocument/2006/relationships/slide" Target="slide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40.xml"/><Relationship Id="rId3" Type="http://schemas.openxmlformats.org/officeDocument/2006/relationships/slide" Target="slide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41.xml"/><Relationship Id="rId3" Type="http://schemas.openxmlformats.org/officeDocument/2006/relationships/image" Target="../media/image54.jpg"/><Relationship Id="rId4" Type="http://schemas.openxmlformats.org/officeDocument/2006/relationships/slide" Target="slide3.xml"/><Relationship Id="rId5" Type="http://schemas.openxmlformats.org/officeDocument/2006/relationships/slide" Target="slide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42.xml"/><Relationship Id="rId3" Type="http://schemas.openxmlformats.org/officeDocument/2006/relationships/slide" Target="slide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43.xml"/><Relationship Id="rId3" Type="http://schemas.openxmlformats.org/officeDocument/2006/relationships/image" Target="../media/image71.jpg"/><Relationship Id="rId4" Type="http://schemas.openxmlformats.org/officeDocument/2006/relationships/slide" Target="slide3.xml"/><Relationship Id="rId5" Type="http://schemas.openxmlformats.org/officeDocument/2006/relationships/slide" Target="slide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44.xml"/><Relationship Id="rId3" Type="http://schemas.openxmlformats.org/officeDocument/2006/relationships/slide" Target="slide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45.xml"/><Relationship Id="rId3" Type="http://schemas.openxmlformats.org/officeDocument/2006/relationships/image" Target="../media/image34.jpg"/><Relationship Id="rId4" Type="http://schemas.openxmlformats.org/officeDocument/2006/relationships/slide" Target="slide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6.xml"/><Relationship Id="rId3" Type="http://schemas.openxmlformats.org/officeDocument/2006/relationships/image" Target="../media/image73.jpg"/><Relationship Id="rId4" Type="http://schemas.openxmlformats.org/officeDocument/2006/relationships/slide" Target="slide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47.xml"/><Relationship Id="rId3" Type="http://schemas.openxmlformats.org/officeDocument/2006/relationships/image" Target="../media/image62.jpg"/><Relationship Id="rId4" Type="http://schemas.openxmlformats.org/officeDocument/2006/relationships/slide" Target="slide3.xml"/><Relationship Id="rId5" Type="http://schemas.openxmlformats.org/officeDocument/2006/relationships/slide" Target="slide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48.xml"/><Relationship Id="rId3" Type="http://schemas.openxmlformats.org/officeDocument/2006/relationships/slide" Target="slide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49.xml"/><Relationship Id="rId3" Type="http://schemas.openxmlformats.org/officeDocument/2006/relationships/image" Target="../media/image66.png"/><Relationship Id="rId4" Type="http://schemas.openxmlformats.org/officeDocument/2006/relationships/slide" Target="slide3.xml"/><Relationship Id="rId5" Type="http://schemas.openxmlformats.org/officeDocument/2006/relationships/slide" Target="slide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50.xml"/><Relationship Id="rId3" Type="http://schemas.openxmlformats.org/officeDocument/2006/relationships/slide" Target="slide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51.xml"/><Relationship Id="rId3" Type="http://schemas.openxmlformats.org/officeDocument/2006/relationships/image" Target="../media/image70.jpg"/><Relationship Id="rId4" Type="http://schemas.openxmlformats.org/officeDocument/2006/relationships/image" Target="../media/image64.jpg"/><Relationship Id="rId5" Type="http://schemas.openxmlformats.org/officeDocument/2006/relationships/slide" Target="slide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2.xml"/><Relationship Id="rId3" Type="http://schemas.openxmlformats.org/officeDocument/2006/relationships/image" Target="../media/image56.jpg"/><Relationship Id="rId4" Type="http://schemas.openxmlformats.org/officeDocument/2006/relationships/slide" Target="slide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53.xml"/><Relationship Id="rId3" Type="http://schemas.openxmlformats.org/officeDocument/2006/relationships/slide" Target="slide6.xml"/><Relationship Id="rId4" Type="http://schemas.openxmlformats.org/officeDocument/2006/relationships/image" Target="../media/image79.jpg"/><Relationship Id="rId5" Type="http://schemas.openxmlformats.org/officeDocument/2006/relationships/slide" Target="slide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54.xml"/><Relationship Id="rId3" Type="http://schemas.openxmlformats.org/officeDocument/2006/relationships/slide" Target="slide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55.xml"/><Relationship Id="rId3" Type="http://schemas.openxmlformats.org/officeDocument/2006/relationships/image" Target="../media/image65.jpg"/><Relationship Id="rId4" Type="http://schemas.openxmlformats.org/officeDocument/2006/relationships/slide" Target="slide3.xml"/><Relationship Id="rId5" Type="http://schemas.openxmlformats.org/officeDocument/2006/relationships/slide" Target="slide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56.xml"/><Relationship Id="rId3" Type="http://schemas.openxmlformats.org/officeDocument/2006/relationships/slide" Target="slide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57.xml"/><Relationship Id="rId3" Type="http://schemas.openxmlformats.org/officeDocument/2006/relationships/image" Target="../media/image68.jpg"/><Relationship Id="rId4" Type="http://schemas.openxmlformats.org/officeDocument/2006/relationships/slide" Target="slide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8.xml"/><Relationship Id="rId3" Type="http://schemas.openxmlformats.org/officeDocument/2006/relationships/image" Target="../media/image87.jpg"/><Relationship Id="rId4" Type="http://schemas.openxmlformats.org/officeDocument/2006/relationships/slide" Target="slide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59.xml"/><Relationship Id="rId3" Type="http://schemas.openxmlformats.org/officeDocument/2006/relationships/image" Target="../media/image33.jpg"/><Relationship Id="rId4" Type="http://schemas.openxmlformats.org/officeDocument/2006/relationships/slide" Target="slide4.xml"/><Relationship Id="rId5" Type="http://schemas.openxmlformats.org/officeDocument/2006/relationships/slide" Target="slide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60.xml"/><Relationship Id="rId3" Type="http://schemas.openxmlformats.org/officeDocument/2006/relationships/slide" Target="slide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61.xml"/><Relationship Id="rId3" Type="http://schemas.openxmlformats.org/officeDocument/2006/relationships/image" Target="../media/image64.jpg"/><Relationship Id="rId4" Type="http://schemas.openxmlformats.org/officeDocument/2006/relationships/slide" Target="slide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2.xml"/><Relationship Id="rId3" Type="http://schemas.openxmlformats.org/officeDocument/2006/relationships/image" Target="../media/image80.jpg"/><Relationship Id="rId4" Type="http://schemas.openxmlformats.org/officeDocument/2006/relationships/slide" Target="slide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63.xml"/><Relationship Id="rId3" Type="http://schemas.openxmlformats.org/officeDocument/2006/relationships/image" Target="../media/image82.png"/><Relationship Id="rId4" Type="http://schemas.openxmlformats.org/officeDocument/2006/relationships/slide" Target="slide4.xml"/><Relationship Id="rId5" Type="http://schemas.openxmlformats.org/officeDocument/2006/relationships/slide" Target="slide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64.xml"/><Relationship Id="rId3" Type="http://schemas.openxmlformats.org/officeDocument/2006/relationships/slide" Target="slide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65.xml"/><Relationship Id="rId3" Type="http://schemas.openxmlformats.org/officeDocument/2006/relationships/image" Target="../media/image77.jpg"/><Relationship Id="rId4" Type="http://schemas.openxmlformats.org/officeDocument/2006/relationships/slide" Target="slide4.xml"/><Relationship Id="rId5" Type="http://schemas.openxmlformats.org/officeDocument/2006/relationships/slide" Target="slide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66.xml"/><Relationship Id="rId3" Type="http://schemas.openxmlformats.org/officeDocument/2006/relationships/slide" Target="slide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67.xml"/><Relationship Id="rId3" Type="http://schemas.openxmlformats.org/officeDocument/2006/relationships/image" Target="../media/image85.jpg"/><Relationship Id="rId4" Type="http://schemas.openxmlformats.org/officeDocument/2006/relationships/slide" Target="slide4.xml"/><Relationship Id="rId5" Type="http://schemas.openxmlformats.org/officeDocument/2006/relationships/slide" Target="slide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68.xml"/><Relationship Id="rId3" Type="http://schemas.openxmlformats.org/officeDocument/2006/relationships/slide" Target="slide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69.xml"/><Relationship Id="rId3" Type="http://schemas.openxmlformats.org/officeDocument/2006/relationships/image" Target="../media/image67.jpg"/><Relationship Id="rId4" Type="http://schemas.openxmlformats.org/officeDocument/2006/relationships/slide" Target="slide4.xml"/><Relationship Id="rId5" Type="http://schemas.openxmlformats.org/officeDocument/2006/relationships/slide" Target="slide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70.xml"/><Relationship Id="rId3" Type="http://schemas.openxmlformats.org/officeDocument/2006/relationships/slide" Target="slide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71.xml"/><Relationship Id="rId3" Type="http://schemas.openxmlformats.org/officeDocument/2006/relationships/image" Target="../media/image84.png"/><Relationship Id="rId4" Type="http://schemas.openxmlformats.org/officeDocument/2006/relationships/slide" Target="slide4.xml"/><Relationship Id="rId5" Type="http://schemas.openxmlformats.org/officeDocument/2006/relationships/slide" Target="slide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72.xml"/><Relationship Id="rId3" Type="http://schemas.openxmlformats.org/officeDocument/2006/relationships/slide" Target="slide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1" name="Shape 6271"/>
        <p:cNvGrpSpPr/>
        <p:nvPr/>
      </p:nvGrpSpPr>
      <p:grpSpPr>
        <a:xfrm>
          <a:off x="0" y="0"/>
          <a:ext cx="0" cy="0"/>
          <a:chOff x="0" y="0"/>
          <a:chExt cx="0" cy="0"/>
        </a:xfrm>
      </p:grpSpPr>
      <p:sp>
        <p:nvSpPr>
          <p:cNvPr id="6272" name="Google Shape;6272;p349"/>
          <p:cNvSpPr txBox="1"/>
          <p:nvPr>
            <p:ph idx="1" type="body"/>
          </p:nvPr>
        </p:nvSpPr>
        <p:spPr>
          <a:xfrm>
            <a:off x="0" y="2142803"/>
            <a:ext cx="9144000" cy="857927"/>
          </a:xfrm>
          <a:prstGeom prst="rect">
            <a:avLst/>
          </a:prstGeom>
          <a:solidFill>
            <a:schemeClr val="lt1"/>
          </a:solidFill>
          <a:ln>
            <a:noFill/>
          </a:ln>
        </p:spPr>
        <p:txBody>
          <a:bodyPr anchorCtr="1" anchor="ctr" bIns="45700" lIns="457200" spcFirstLastPara="1" rIns="457200" wrap="square" tIns="45700">
            <a:noAutofit/>
          </a:bodyPr>
          <a:lstStyle/>
          <a:p>
            <a:pPr indent="0" lvl="0" marL="0" rtl="0" algn="ctr">
              <a:lnSpc>
                <a:spcPct val="110000"/>
              </a:lnSpc>
              <a:spcBef>
                <a:spcPts val="0"/>
              </a:spcBef>
              <a:spcAft>
                <a:spcPts val="0"/>
              </a:spcAft>
              <a:buClr>
                <a:schemeClr val="accent1"/>
              </a:buClr>
              <a:buSzPts val="2200"/>
              <a:buFont typeface="Century Gothic"/>
              <a:buNone/>
            </a:pPr>
            <a:r>
              <a:rPr lang="en-GB"/>
              <a:t>Product Management</a:t>
            </a:r>
            <a:endParaRPr/>
          </a:p>
          <a:p>
            <a:pPr indent="0" lvl="0" marL="0" rtl="0" algn="ctr">
              <a:lnSpc>
                <a:spcPct val="110000"/>
              </a:lnSpc>
              <a:spcBef>
                <a:spcPts val="400"/>
              </a:spcBef>
              <a:spcAft>
                <a:spcPts val="0"/>
              </a:spcAft>
              <a:buClr>
                <a:schemeClr val="accent1"/>
              </a:buClr>
              <a:buSzPts val="2200"/>
              <a:buFont typeface="Century Gothic"/>
              <a:buNone/>
            </a:pPr>
            <a:r>
              <a:rPr lang="en-GB"/>
              <a:t>Navigation</a:t>
            </a:r>
            <a:endParaRPr/>
          </a:p>
        </p:txBody>
      </p:sp>
      <p:sp>
        <p:nvSpPr>
          <p:cNvPr id="6273" name="Google Shape;6273;p349"/>
          <p:cNvSpPr txBox="1"/>
          <p:nvPr>
            <p:ph idx="2" type="body"/>
          </p:nvPr>
        </p:nvSpPr>
        <p:spPr>
          <a:xfrm>
            <a:off x="3242535" y="4855464"/>
            <a:ext cx="2658930" cy="106186"/>
          </a:xfrm>
          <a:prstGeom prst="rect">
            <a:avLst/>
          </a:prstGeom>
          <a:noFill/>
          <a:ln>
            <a:noFill/>
          </a:ln>
        </p:spPr>
        <p:txBody>
          <a:bodyPr anchorCtr="0" anchor="t" bIns="0" lIns="0" spcFirstLastPara="1" rIns="0" wrap="square" tIns="0">
            <a:noAutofit/>
          </a:bodyPr>
          <a:lstStyle/>
          <a:p>
            <a:pPr indent="0" lvl="0" marL="0" rtl="0" algn="ctr">
              <a:lnSpc>
                <a:spcPct val="85000"/>
              </a:lnSpc>
              <a:spcBef>
                <a:spcPts val="0"/>
              </a:spcBef>
              <a:spcAft>
                <a:spcPts val="0"/>
              </a:spcAft>
              <a:buClr>
                <a:schemeClr val="lt1"/>
              </a:buClr>
              <a:buSzPts val="700"/>
              <a:buFont typeface="Century Gothic"/>
              <a:buNone/>
            </a:pPr>
            <a:r>
              <a:t/>
            </a:r>
            <a:endParaRP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8" name="Shape 6278"/>
        <p:cNvGrpSpPr/>
        <p:nvPr/>
      </p:nvGrpSpPr>
      <p:grpSpPr>
        <a:xfrm>
          <a:off x="0" y="0"/>
          <a:ext cx="0" cy="0"/>
          <a:chOff x="0" y="0"/>
          <a:chExt cx="0" cy="0"/>
        </a:xfrm>
      </p:grpSpPr>
      <p:sp>
        <p:nvSpPr>
          <p:cNvPr id="6279" name="Google Shape;6279;p350"/>
          <p:cNvSpPr/>
          <p:nvPr/>
        </p:nvSpPr>
        <p:spPr>
          <a:xfrm>
            <a:off x="459949" y="1238294"/>
            <a:ext cx="8223249" cy="3122083"/>
          </a:xfrm>
          <a:prstGeom prst="roundRect">
            <a:avLst>
              <a:gd fmla="val 2069" name="adj"/>
            </a:avLst>
          </a:prstGeom>
          <a:solidFill>
            <a:srgbClr val="FFFFFF"/>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6280" name="Google Shape;6280;p350"/>
          <p:cNvSpPr txBox="1"/>
          <p:nvPr>
            <p:ph idx="1" type="body"/>
          </p:nvPr>
        </p:nvSpPr>
        <p:spPr>
          <a:xfrm>
            <a:off x="3297994" y="4943703"/>
            <a:ext cx="2548012" cy="106186"/>
          </a:xfrm>
          <a:prstGeom prst="rect">
            <a:avLst/>
          </a:prstGeom>
          <a:noFill/>
          <a:ln>
            <a:noFill/>
          </a:ln>
        </p:spPr>
        <p:txBody>
          <a:bodyPr anchorCtr="0" anchor="t" bIns="0" lIns="0" spcFirstLastPara="1" rIns="0" wrap="square" tIns="0">
            <a:noAutofit/>
          </a:bodyPr>
          <a:lstStyle/>
          <a:p>
            <a:pPr indent="0" lvl="0" marL="0" rtl="0" algn="ctr">
              <a:lnSpc>
                <a:spcPct val="85000"/>
              </a:lnSpc>
              <a:spcBef>
                <a:spcPts val="0"/>
              </a:spcBef>
              <a:spcAft>
                <a:spcPts val="0"/>
              </a:spcAft>
              <a:buClr>
                <a:srgbClr val="4FB0FF"/>
              </a:buClr>
              <a:buSzPts val="700"/>
              <a:buFont typeface="Century Gothic"/>
              <a:buNone/>
            </a:pPr>
            <a:r>
              <a:t/>
            </a:r>
            <a:endParaRPr/>
          </a:p>
        </p:txBody>
      </p:sp>
      <p:sp>
        <p:nvSpPr>
          <p:cNvPr id="6281" name="Google Shape;6281;p350"/>
          <p:cNvSpPr txBox="1"/>
          <p:nvPr>
            <p:ph idx="2" type="body"/>
          </p:nvPr>
        </p:nvSpPr>
        <p:spPr>
          <a:xfrm>
            <a:off x="457200" y="703405"/>
            <a:ext cx="8229600" cy="353174"/>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Clr>
                <a:schemeClr val="dk1"/>
              </a:buClr>
              <a:buSzPts val="1800"/>
              <a:buFont typeface="Century Gothic"/>
              <a:buNone/>
            </a:pPr>
            <a:r>
              <a:rPr lang="en-GB"/>
              <a:t>Areas of analytic insight required to excel at Product Management</a:t>
            </a:r>
            <a:endParaRPr/>
          </a:p>
        </p:txBody>
      </p:sp>
      <p:sp>
        <p:nvSpPr>
          <p:cNvPr id="6282" name="Google Shape;6282;p350"/>
          <p:cNvSpPr txBox="1"/>
          <p:nvPr>
            <p:ph type="title"/>
          </p:nvPr>
        </p:nvSpPr>
        <p:spPr>
          <a:xfrm>
            <a:off x="457200" y="128590"/>
            <a:ext cx="8229600" cy="526298"/>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Product Management - Functional Insights</a:t>
            </a:r>
            <a:endParaRPr/>
          </a:p>
        </p:txBody>
      </p:sp>
      <p:sp>
        <p:nvSpPr>
          <p:cNvPr id="6283" name="Google Shape;6283;p350">
            <a:hlinkClick action="ppaction://hlinksldjump" r:id="rId3"/>
          </p:cNvPr>
          <p:cNvSpPr/>
          <p:nvPr/>
        </p:nvSpPr>
        <p:spPr>
          <a:xfrm>
            <a:off x="570389" y="1384441"/>
            <a:ext cx="1396270" cy="2865346"/>
          </a:xfrm>
          <a:prstGeom prst="rect">
            <a:avLst/>
          </a:prstGeom>
          <a:solidFill>
            <a:schemeClr val="accent1"/>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rgbClr val="FFFFFF"/>
                </a:solidFill>
                <a:latin typeface="Century Gothic"/>
                <a:ea typeface="Century Gothic"/>
                <a:cs typeface="Century Gothic"/>
                <a:sym typeface="Century Gothic"/>
              </a:rPr>
              <a:t>Product Management</a:t>
            </a:r>
            <a:endParaRPr sz="1100">
              <a:solidFill>
                <a:srgbClr val="FFFFFF"/>
              </a:solidFill>
              <a:latin typeface="Century Gothic"/>
              <a:ea typeface="Century Gothic"/>
              <a:cs typeface="Century Gothic"/>
              <a:sym typeface="Century Gothic"/>
            </a:endParaRPr>
          </a:p>
        </p:txBody>
      </p:sp>
      <p:sp>
        <p:nvSpPr>
          <p:cNvPr id="6284" name="Google Shape;6284;p350"/>
          <p:cNvSpPr/>
          <p:nvPr/>
        </p:nvSpPr>
        <p:spPr>
          <a:xfrm>
            <a:off x="2073322" y="1301750"/>
            <a:ext cx="6062954" cy="360000"/>
          </a:xfrm>
          <a:prstGeom prst="rect">
            <a:avLst/>
          </a:prstGeom>
          <a:noFill/>
          <a:ln>
            <a:noFill/>
          </a:ln>
        </p:spPr>
        <p:txBody>
          <a:bodyPr anchorCtr="0" anchor="ctr" bIns="91425" lIns="36000" spcFirstLastPara="1" rIns="36000" wrap="square" tIns="91425">
            <a:noAutofit/>
          </a:bodyPr>
          <a:lstStyle/>
          <a:p>
            <a:pPr indent="0" lvl="0" marL="0" marR="0" rtl="0" algn="ctr">
              <a:spcBef>
                <a:spcPts val="0"/>
              </a:spcBef>
              <a:spcAft>
                <a:spcPts val="0"/>
              </a:spcAft>
              <a:buNone/>
            </a:pPr>
            <a:r>
              <a:rPr lang="en-GB" sz="1400">
                <a:solidFill>
                  <a:srgbClr val="3C3C3B"/>
                </a:solidFill>
                <a:latin typeface="Century Gothic"/>
                <a:ea typeface="Century Gothic"/>
                <a:cs typeface="Century Gothic"/>
                <a:sym typeface="Century Gothic"/>
              </a:rPr>
              <a:t>Functional Insights</a:t>
            </a:r>
            <a:endParaRPr sz="1400">
              <a:solidFill>
                <a:srgbClr val="3C3C3B"/>
              </a:solidFill>
              <a:latin typeface="Century Gothic"/>
              <a:ea typeface="Century Gothic"/>
              <a:cs typeface="Century Gothic"/>
              <a:sym typeface="Century Gothic"/>
            </a:endParaRPr>
          </a:p>
        </p:txBody>
      </p:sp>
      <p:sp>
        <p:nvSpPr>
          <p:cNvPr id="6285" name="Google Shape;6285;p350">
            <a:hlinkClick action="ppaction://hlinksldjump" r:id="rId4"/>
          </p:cNvPr>
          <p:cNvSpPr/>
          <p:nvPr/>
        </p:nvSpPr>
        <p:spPr>
          <a:xfrm>
            <a:off x="567549" y="4049610"/>
            <a:ext cx="849788" cy="200177"/>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rPr lang="en-GB" sz="800">
                <a:solidFill>
                  <a:srgbClr val="FF0000"/>
                </a:solidFill>
                <a:latin typeface="Century Gothic"/>
                <a:ea typeface="Century Gothic"/>
                <a:cs typeface="Century Gothic"/>
                <a:sym typeface="Century Gothic"/>
              </a:rPr>
              <a:t>More info &gt; </a:t>
            </a:r>
            <a:endParaRPr/>
          </a:p>
        </p:txBody>
      </p:sp>
      <p:sp>
        <p:nvSpPr>
          <p:cNvPr id="6286" name="Google Shape;6286;p350">
            <a:hlinkClick action="ppaction://hlinksldjump" r:id="rId5"/>
          </p:cNvPr>
          <p:cNvSpPr/>
          <p:nvPr/>
        </p:nvSpPr>
        <p:spPr>
          <a:xfrm>
            <a:off x="2099735" y="1755147"/>
            <a:ext cx="2065899" cy="720000"/>
          </a:xfrm>
          <a:prstGeom prst="rect">
            <a:avLst/>
          </a:prstGeom>
          <a:solidFill>
            <a:schemeClr val="accent4"/>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rgbClr val="FFFFFF"/>
                </a:solidFill>
                <a:latin typeface="Century Gothic"/>
                <a:ea typeface="Century Gothic"/>
                <a:cs typeface="Century Gothic"/>
                <a:sym typeface="Century Gothic"/>
              </a:rPr>
              <a:t>Product Development</a:t>
            </a:r>
            <a:endParaRPr sz="1100">
              <a:solidFill>
                <a:srgbClr val="FFFFFF"/>
              </a:solidFill>
              <a:latin typeface="Century Gothic"/>
              <a:ea typeface="Century Gothic"/>
              <a:cs typeface="Century Gothic"/>
              <a:sym typeface="Century Gothic"/>
            </a:endParaRPr>
          </a:p>
        </p:txBody>
      </p:sp>
      <p:sp>
        <p:nvSpPr>
          <p:cNvPr id="6287" name="Google Shape;6287;p350">
            <a:hlinkClick action="ppaction://hlinksldjump" r:id="rId6"/>
          </p:cNvPr>
          <p:cNvSpPr/>
          <p:nvPr/>
        </p:nvSpPr>
        <p:spPr>
          <a:xfrm>
            <a:off x="4291698" y="1755147"/>
            <a:ext cx="2065899" cy="720000"/>
          </a:xfrm>
          <a:prstGeom prst="rect">
            <a:avLst/>
          </a:prstGeom>
          <a:solidFill>
            <a:schemeClr val="accent4"/>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rgbClr val="FFFFFF"/>
                </a:solidFill>
                <a:latin typeface="Century Gothic"/>
                <a:ea typeface="Century Gothic"/>
                <a:cs typeface="Century Gothic"/>
                <a:sym typeface="Century Gothic"/>
              </a:rPr>
              <a:t>Product Introduction</a:t>
            </a:r>
            <a:endParaRPr sz="1100">
              <a:solidFill>
                <a:srgbClr val="FFFFFF"/>
              </a:solidFill>
              <a:latin typeface="Century Gothic"/>
              <a:ea typeface="Century Gothic"/>
              <a:cs typeface="Century Gothic"/>
              <a:sym typeface="Century Gothic"/>
            </a:endParaRPr>
          </a:p>
        </p:txBody>
      </p:sp>
      <p:sp>
        <p:nvSpPr>
          <p:cNvPr id="6288" name="Google Shape;6288;p350">
            <a:hlinkClick action="ppaction://hlinksldjump" r:id="rId7"/>
          </p:cNvPr>
          <p:cNvSpPr/>
          <p:nvPr/>
        </p:nvSpPr>
        <p:spPr>
          <a:xfrm>
            <a:off x="6476968" y="1755147"/>
            <a:ext cx="2065899" cy="720000"/>
          </a:xfrm>
          <a:prstGeom prst="rect">
            <a:avLst/>
          </a:prstGeom>
          <a:solidFill>
            <a:schemeClr val="accent4"/>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rgbClr val="FFFFFF"/>
                </a:solidFill>
                <a:latin typeface="Century Gothic"/>
                <a:ea typeface="Century Gothic"/>
                <a:cs typeface="Century Gothic"/>
                <a:sym typeface="Century Gothic"/>
              </a:rPr>
              <a:t>Price and Promotion</a:t>
            </a:r>
            <a:endParaRPr sz="1100">
              <a:solidFill>
                <a:srgbClr val="FFFFFF"/>
              </a:solidFill>
              <a:latin typeface="Century Gothic"/>
              <a:ea typeface="Century Gothic"/>
              <a:cs typeface="Century Gothic"/>
              <a:sym typeface="Century Gothic"/>
            </a:endParaRPr>
          </a:p>
        </p:txBody>
      </p:sp>
      <p:sp>
        <p:nvSpPr>
          <p:cNvPr id="6289" name="Google Shape;6289;p350">
            <a:hlinkClick action="ppaction://hlinksldjump" r:id="rId8"/>
          </p:cNvPr>
          <p:cNvSpPr/>
          <p:nvPr/>
        </p:nvSpPr>
        <p:spPr>
          <a:xfrm>
            <a:off x="2099735" y="2599351"/>
            <a:ext cx="2065899" cy="720000"/>
          </a:xfrm>
          <a:prstGeom prst="rect">
            <a:avLst/>
          </a:prstGeom>
          <a:solidFill>
            <a:schemeClr val="accent4"/>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rgbClr val="FFFFFF"/>
                </a:solidFill>
                <a:latin typeface="Century Gothic"/>
                <a:ea typeface="Century Gothic"/>
                <a:cs typeface="Century Gothic"/>
                <a:sym typeface="Century Gothic"/>
              </a:rPr>
              <a:t>Product </a:t>
            </a:r>
            <a:endParaRPr/>
          </a:p>
          <a:p>
            <a:pPr indent="0" lvl="0" marL="0" marR="0" rtl="0" algn="ctr">
              <a:spcBef>
                <a:spcPts val="0"/>
              </a:spcBef>
              <a:spcAft>
                <a:spcPts val="0"/>
              </a:spcAft>
              <a:buNone/>
            </a:pPr>
            <a:r>
              <a:rPr lang="en-GB" sz="1100">
                <a:solidFill>
                  <a:srgbClr val="FFFFFF"/>
                </a:solidFill>
                <a:latin typeface="Century Gothic"/>
                <a:ea typeface="Century Gothic"/>
                <a:cs typeface="Century Gothic"/>
                <a:sym typeface="Century Gothic"/>
              </a:rPr>
              <a:t>End of Life</a:t>
            </a:r>
            <a:endParaRPr sz="1100">
              <a:solidFill>
                <a:srgbClr val="FFFFFF"/>
              </a:solidFill>
              <a:latin typeface="Century Gothic"/>
              <a:ea typeface="Century Gothic"/>
              <a:cs typeface="Century Gothic"/>
              <a:sym typeface="Century Gothic"/>
            </a:endParaRPr>
          </a:p>
        </p:txBody>
      </p:sp>
      <p:sp>
        <p:nvSpPr>
          <p:cNvPr id="6290" name="Google Shape;6290;p350">
            <a:hlinkClick action="ppaction://hlinksldjump" r:id="rId9"/>
          </p:cNvPr>
          <p:cNvSpPr/>
          <p:nvPr/>
        </p:nvSpPr>
        <p:spPr>
          <a:xfrm>
            <a:off x="4291698" y="2599351"/>
            <a:ext cx="2065899" cy="720000"/>
          </a:xfrm>
          <a:prstGeom prst="rect">
            <a:avLst/>
          </a:prstGeom>
          <a:solidFill>
            <a:schemeClr val="accent4"/>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rgbClr val="FFFFFF"/>
                </a:solidFill>
                <a:latin typeface="Century Gothic"/>
                <a:ea typeface="Century Gothic"/>
                <a:cs typeface="Century Gothic"/>
                <a:sym typeface="Century Gothic"/>
              </a:rPr>
              <a:t>Product Performance </a:t>
            </a:r>
            <a:endParaRPr/>
          </a:p>
        </p:txBody>
      </p:sp>
      <p:grpSp>
        <p:nvGrpSpPr>
          <p:cNvPr id="6291" name="Google Shape;6291;p350"/>
          <p:cNvGrpSpPr/>
          <p:nvPr/>
        </p:nvGrpSpPr>
        <p:grpSpPr>
          <a:xfrm>
            <a:off x="7779998" y="4410748"/>
            <a:ext cx="995883" cy="297004"/>
            <a:chOff x="7711013" y="3986494"/>
            <a:chExt cx="995883" cy="297004"/>
          </a:xfrm>
        </p:grpSpPr>
        <p:sp>
          <p:nvSpPr>
            <p:cNvPr id="6292" name="Google Shape;6292;p350">
              <a:hlinkClick action="ppaction://hlinksldjump" r:id="rId10"/>
            </p:cNvPr>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6293" name="Google Shape;6293;p350"/>
            <p:cNvGrpSpPr/>
            <p:nvPr/>
          </p:nvGrpSpPr>
          <p:grpSpPr>
            <a:xfrm>
              <a:off x="7711013" y="4002615"/>
              <a:ext cx="281520" cy="241973"/>
              <a:chOff x="5652748" y="4066000"/>
              <a:chExt cx="906498" cy="747974"/>
            </a:xfrm>
          </p:grpSpPr>
          <p:sp>
            <p:nvSpPr>
              <p:cNvPr id="6294" name="Google Shape;6294;p350"/>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6295" name="Google Shape;6295;p350"/>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6296" name="Google Shape;6296;p350"/>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6297" name="Google Shape;6297;p350">
            <a:hlinkClick action="ppaction://hlinksldjump" r:id="rId11"/>
          </p:cNvPr>
          <p:cNvSpPr/>
          <p:nvPr/>
        </p:nvSpPr>
        <p:spPr>
          <a:xfrm>
            <a:off x="6515100" y="-196501"/>
            <a:ext cx="2777392" cy="378533"/>
          </a:xfrm>
          <a:prstGeom prst="roundRect">
            <a:avLst>
              <a:gd fmla="val 50000" name="adj"/>
            </a:avLst>
          </a:prstGeom>
          <a:solidFill>
            <a:schemeClr val="accent1"/>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Business Value Framework</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1" name="Shape 6301"/>
        <p:cNvGrpSpPr/>
        <p:nvPr/>
      </p:nvGrpSpPr>
      <p:grpSpPr>
        <a:xfrm>
          <a:off x="0" y="0"/>
          <a:ext cx="0" cy="0"/>
          <a:chOff x="0" y="0"/>
          <a:chExt cx="0" cy="0"/>
        </a:xfrm>
      </p:grpSpPr>
      <p:sp>
        <p:nvSpPr>
          <p:cNvPr id="6302" name="Google Shape;6302;p351"/>
          <p:cNvSpPr/>
          <p:nvPr/>
        </p:nvSpPr>
        <p:spPr>
          <a:xfrm>
            <a:off x="459950" y="1187449"/>
            <a:ext cx="8223249" cy="3122083"/>
          </a:xfrm>
          <a:prstGeom prst="roundRect">
            <a:avLst>
              <a:gd fmla="val 2069" name="adj"/>
            </a:avLst>
          </a:prstGeom>
          <a:solidFill>
            <a:srgbClr val="FFFFFF"/>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6303" name="Google Shape;6303;p351">
            <a:hlinkClick action="ppaction://hlinksldjump" r:id="rId3"/>
          </p:cNvPr>
          <p:cNvSpPr/>
          <p:nvPr/>
        </p:nvSpPr>
        <p:spPr>
          <a:xfrm>
            <a:off x="6543349" y="1762240"/>
            <a:ext cx="2066400" cy="52200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Develop and Test Product Prototypes</a:t>
            </a:r>
            <a:endParaRPr sz="1100">
              <a:solidFill>
                <a:schemeClr val="dk1"/>
              </a:solidFill>
              <a:latin typeface="Century Gothic"/>
              <a:ea typeface="Century Gothic"/>
              <a:cs typeface="Century Gothic"/>
              <a:sym typeface="Century Gothic"/>
            </a:endParaRPr>
          </a:p>
        </p:txBody>
      </p:sp>
      <p:sp>
        <p:nvSpPr>
          <p:cNvPr id="6304" name="Google Shape;6304;p351">
            <a:hlinkClick action="ppaction://hlinksldjump" r:id="rId4"/>
          </p:cNvPr>
          <p:cNvSpPr/>
          <p:nvPr/>
        </p:nvSpPr>
        <p:spPr>
          <a:xfrm>
            <a:off x="4321743" y="1762241"/>
            <a:ext cx="2066400" cy="52200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Predict Business Impact (Discovery)</a:t>
            </a:r>
            <a:endParaRPr sz="1100">
              <a:solidFill>
                <a:schemeClr val="dk1"/>
              </a:solidFill>
              <a:latin typeface="Century Gothic"/>
              <a:ea typeface="Century Gothic"/>
              <a:cs typeface="Century Gothic"/>
              <a:sym typeface="Century Gothic"/>
            </a:endParaRPr>
          </a:p>
        </p:txBody>
      </p:sp>
      <p:sp>
        <p:nvSpPr>
          <p:cNvPr id="6305" name="Google Shape;6305;p351">
            <a:hlinkClick action="ppaction://hlinksldjump" r:id="rId5"/>
          </p:cNvPr>
          <p:cNvSpPr/>
          <p:nvPr/>
        </p:nvSpPr>
        <p:spPr>
          <a:xfrm>
            <a:off x="2101372" y="1742585"/>
            <a:ext cx="2066400" cy="52200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Research New Product Development Opportunities</a:t>
            </a:r>
            <a:endParaRPr sz="1100">
              <a:solidFill>
                <a:schemeClr val="dk1"/>
              </a:solidFill>
              <a:latin typeface="Century Gothic"/>
              <a:ea typeface="Century Gothic"/>
              <a:cs typeface="Century Gothic"/>
              <a:sym typeface="Century Gothic"/>
            </a:endParaRPr>
          </a:p>
        </p:txBody>
      </p:sp>
      <p:sp>
        <p:nvSpPr>
          <p:cNvPr id="6306" name="Google Shape;6306;p351">
            <a:hlinkClick action="ppaction://hlinksldjump" r:id="rId6"/>
          </p:cNvPr>
          <p:cNvSpPr/>
          <p:nvPr/>
        </p:nvSpPr>
        <p:spPr>
          <a:xfrm>
            <a:off x="565902" y="1378768"/>
            <a:ext cx="1395519" cy="905472"/>
          </a:xfrm>
          <a:prstGeom prst="homePlate">
            <a:avLst>
              <a:gd fmla="val 7540" name="adj"/>
            </a:avLst>
          </a:prstGeom>
          <a:solidFill>
            <a:schemeClr val="accent4"/>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rgbClr val="FFFFFF"/>
                </a:solidFill>
                <a:latin typeface="Century Gothic"/>
                <a:ea typeface="Century Gothic"/>
                <a:cs typeface="Century Gothic"/>
                <a:sym typeface="Century Gothic"/>
              </a:rPr>
              <a:t>Product Development</a:t>
            </a:r>
            <a:endParaRPr sz="1100">
              <a:solidFill>
                <a:srgbClr val="FFFFFF"/>
              </a:solidFill>
              <a:latin typeface="Century Gothic"/>
              <a:ea typeface="Century Gothic"/>
              <a:cs typeface="Century Gothic"/>
              <a:sym typeface="Century Gothic"/>
            </a:endParaRPr>
          </a:p>
        </p:txBody>
      </p:sp>
      <p:sp>
        <p:nvSpPr>
          <p:cNvPr id="6307" name="Google Shape;6307;p351"/>
          <p:cNvSpPr/>
          <p:nvPr/>
        </p:nvSpPr>
        <p:spPr>
          <a:xfrm>
            <a:off x="2073748" y="1270818"/>
            <a:ext cx="6062954" cy="360000"/>
          </a:xfrm>
          <a:prstGeom prst="rect">
            <a:avLst/>
          </a:prstGeom>
          <a:noFill/>
          <a:ln>
            <a:noFill/>
          </a:ln>
        </p:spPr>
        <p:txBody>
          <a:bodyPr anchorCtr="0" anchor="ctr" bIns="91425" lIns="36000" spcFirstLastPara="1" rIns="36000" wrap="square" tIns="91425">
            <a:noAutofit/>
          </a:bodyPr>
          <a:lstStyle/>
          <a:p>
            <a:pPr indent="0" lvl="0" marL="0" marR="0" rtl="0" algn="ctr">
              <a:spcBef>
                <a:spcPts val="0"/>
              </a:spcBef>
              <a:spcAft>
                <a:spcPts val="0"/>
              </a:spcAft>
              <a:buNone/>
            </a:pPr>
            <a:r>
              <a:rPr lang="en-GB" sz="1400">
                <a:solidFill>
                  <a:srgbClr val="3C3C3B"/>
                </a:solidFill>
                <a:latin typeface="Century Gothic"/>
                <a:ea typeface="Century Gothic"/>
                <a:cs typeface="Century Gothic"/>
                <a:sym typeface="Century Gothic"/>
              </a:rPr>
              <a:t>Analytical Capabilities</a:t>
            </a:r>
            <a:endParaRPr sz="1400">
              <a:solidFill>
                <a:srgbClr val="3C3C3B"/>
              </a:solidFill>
              <a:latin typeface="Century Gothic"/>
              <a:ea typeface="Century Gothic"/>
              <a:cs typeface="Century Gothic"/>
              <a:sym typeface="Century Gothic"/>
            </a:endParaRPr>
          </a:p>
        </p:txBody>
      </p:sp>
      <p:sp>
        <p:nvSpPr>
          <p:cNvPr id="6308" name="Google Shape;6308;p351"/>
          <p:cNvSpPr/>
          <p:nvPr/>
        </p:nvSpPr>
        <p:spPr>
          <a:xfrm>
            <a:off x="567549" y="-956851"/>
            <a:ext cx="1762241" cy="112328"/>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rgbClr val="FFFFFF"/>
                </a:solidFill>
                <a:latin typeface="Century Gothic"/>
                <a:ea typeface="Century Gothic"/>
                <a:cs typeface="Century Gothic"/>
                <a:sym typeface="Century Gothic"/>
              </a:rPr>
              <a:t>Spacer</a:t>
            </a:r>
            <a:endParaRPr/>
          </a:p>
        </p:txBody>
      </p:sp>
      <p:sp>
        <p:nvSpPr>
          <p:cNvPr id="6309" name="Google Shape;6309;p351"/>
          <p:cNvSpPr/>
          <p:nvPr/>
        </p:nvSpPr>
        <p:spPr>
          <a:xfrm rot="5400000">
            <a:off x="8364087" y="824956"/>
            <a:ext cx="1762241" cy="112328"/>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rgbClr val="FFFFFF"/>
                </a:solidFill>
                <a:latin typeface="Century Gothic"/>
                <a:ea typeface="Century Gothic"/>
                <a:cs typeface="Century Gothic"/>
                <a:sym typeface="Century Gothic"/>
              </a:rPr>
              <a:t>Spacer</a:t>
            </a:r>
            <a:endParaRPr/>
          </a:p>
        </p:txBody>
      </p:sp>
      <p:sp>
        <p:nvSpPr>
          <p:cNvPr id="6310" name="Google Shape;6310;p351"/>
          <p:cNvSpPr txBox="1"/>
          <p:nvPr>
            <p:ph idx="2" type="body"/>
          </p:nvPr>
        </p:nvSpPr>
        <p:spPr>
          <a:xfrm>
            <a:off x="438098" y="585291"/>
            <a:ext cx="7728002" cy="353174"/>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Clr>
                <a:schemeClr val="dk1"/>
              </a:buClr>
              <a:buSzPts val="1600"/>
              <a:buFont typeface="Century Gothic"/>
              <a:buNone/>
            </a:pPr>
            <a:r>
              <a:rPr lang="en-GB" sz="1600"/>
              <a:t>Expand features sets and develop new products and  services by tapping into Customers’ unmet needs</a:t>
            </a:r>
            <a:endParaRPr sz="1600"/>
          </a:p>
        </p:txBody>
      </p:sp>
      <p:sp>
        <p:nvSpPr>
          <p:cNvPr id="6311" name="Google Shape;6311;p351"/>
          <p:cNvSpPr txBox="1"/>
          <p:nvPr>
            <p:ph type="title"/>
          </p:nvPr>
        </p:nvSpPr>
        <p:spPr>
          <a:xfrm>
            <a:off x="453971" y="64901"/>
            <a:ext cx="8229600" cy="526298"/>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Product Management - Capabilities</a:t>
            </a:r>
            <a:endParaRPr/>
          </a:p>
        </p:txBody>
      </p:sp>
      <p:grpSp>
        <p:nvGrpSpPr>
          <p:cNvPr id="6312" name="Google Shape;6312;p351"/>
          <p:cNvGrpSpPr/>
          <p:nvPr/>
        </p:nvGrpSpPr>
        <p:grpSpPr>
          <a:xfrm>
            <a:off x="7779998" y="4410748"/>
            <a:ext cx="995883" cy="297004"/>
            <a:chOff x="7711013" y="3986494"/>
            <a:chExt cx="995883" cy="297004"/>
          </a:xfrm>
        </p:grpSpPr>
        <p:sp>
          <p:nvSpPr>
            <p:cNvPr id="6313" name="Google Shape;6313;p351">
              <a:hlinkClick action="ppaction://hlinksldjump" r:id="rId7"/>
            </p:cNvPr>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6314" name="Google Shape;6314;p351"/>
            <p:cNvGrpSpPr/>
            <p:nvPr/>
          </p:nvGrpSpPr>
          <p:grpSpPr>
            <a:xfrm>
              <a:off x="7711013" y="4002615"/>
              <a:ext cx="281520" cy="241973"/>
              <a:chOff x="5652748" y="4066000"/>
              <a:chExt cx="906498" cy="747974"/>
            </a:xfrm>
          </p:grpSpPr>
          <p:sp>
            <p:nvSpPr>
              <p:cNvPr id="6315" name="Google Shape;6315;p351"/>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6316" name="Google Shape;6316;p351"/>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6317" name="Google Shape;6317;p351"/>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6318" name="Google Shape;6318;p351">
            <a:hlinkClick action="ppaction://hlinksldjump" r:id="rId8"/>
          </p:cNvPr>
          <p:cNvSpPr/>
          <p:nvPr/>
        </p:nvSpPr>
        <p:spPr>
          <a:xfrm>
            <a:off x="567549" y="2084064"/>
            <a:ext cx="849788" cy="200177"/>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rPr lang="en-GB" sz="800">
                <a:solidFill>
                  <a:schemeClr val="lt1"/>
                </a:solidFill>
                <a:latin typeface="Century Gothic"/>
                <a:ea typeface="Century Gothic"/>
                <a:cs typeface="Century Gothic"/>
                <a:sym typeface="Century Gothic"/>
              </a:rPr>
              <a:t>More info &gt; </a:t>
            </a:r>
            <a:endParaRPr/>
          </a:p>
        </p:txBody>
      </p:sp>
      <p:sp>
        <p:nvSpPr>
          <p:cNvPr id="6319" name="Google Shape;6319;p351">
            <a:hlinkClick action="ppaction://hlinksldjump" r:id="rId9"/>
          </p:cNvPr>
          <p:cNvSpPr/>
          <p:nvPr/>
        </p:nvSpPr>
        <p:spPr>
          <a:xfrm>
            <a:off x="565902" y="2371513"/>
            <a:ext cx="1395519" cy="828000"/>
          </a:xfrm>
          <a:prstGeom prst="homePlate">
            <a:avLst>
              <a:gd fmla="val 7540" name="adj"/>
            </a:avLst>
          </a:prstGeom>
          <a:solidFill>
            <a:schemeClr val="accent4"/>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rgbClr val="FFFFFF"/>
                </a:solidFill>
                <a:latin typeface="Century Gothic"/>
                <a:ea typeface="Century Gothic"/>
                <a:cs typeface="Century Gothic"/>
                <a:sym typeface="Century Gothic"/>
              </a:rPr>
              <a:t>Product Introduction</a:t>
            </a:r>
            <a:endParaRPr sz="1100">
              <a:solidFill>
                <a:srgbClr val="FFFFFF"/>
              </a:solidFill>
              <a:latin typeface="Century Gothic"/>
              <a:ea typeface="Century Gothic"/>
              <a:cs typeface="Century Gothic"/>
              <a:sym typeface="Century Gothic"/>
            </a:endParaRPr>
          </a:p>
        </p:txBody>
      </p:sp>
      <p:sp>
        <p:nvSpPr>
          <p:cNvPr id="6320" name="Google Shape;6320;p351">
            <a:hlinkClick action="ppaction://hlinksldjump" r:id="rId10"/>
          </p:cNvPr>
          <p:cNvSpPr/>
          <p:nvPr/>
        </p:nvSpPr>
        <p:spPr>
          <a:xfrm>
            <a:off x="567549" y="3014038"/>
            <a:ext cx="849788" cy="200177"/>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rPr lang="en-GB" sz="800">
                <a:solidFill>
                  <a:schemeClr val="lt1"/>
                </a:solidFill>
                <a:latin typeface="Century Gothic"/>
                <a:ea typeface="Century Gothic"/>
                <a:cs typeface="Century Gothic"/>
                <a:sym typeface="Century Gothic"/>
              </a:rPr>
              <a:t>More info &gt; </a:t>
            </a:r>
            <a:endParaRPr/>
          </a:p>
        </p:txBody>
      </p:sp>
      <p:sp>
        <p:nvSpPr>
          <p:cNvPr id="6321" name="Google Shape;6321;p351">
            <a:hlinkClick action="ppaction://hlinksldjump" r:id="rId11"/>
          </p:cNvPr>
          <p:cNvSpPr/>
          <p:nvPr/>
        </p:nvSpPr>
        <p:spPr>
          <a:xfrm>
            <a:off x="4321744" y="2524514"/>
            <a:ext cx="2065221" cy="52200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Improve Product Onboarding</a:t>
            </a:r>
            <a:endParaRPr sz="1100">
              <a:solidFill>
                <a:schemeClr val="dk1"/>
              </a:solidFill>
              <a:latin typeface="Century Gothic"/>
              <a:ea typeface="Century Gothic"/>
              <a:cs typeface="Century Gothic"/>
              <a:sym typeface="Century Gothic"/>
            </a:endParaRPr>
          </a:p>
        </p:txBody>
      </p:sp>
      <p:sp>
        <p:nvSpPr>
          <p:cNvPr id="6322" name="Google Shape;6322;p351">
            <a:hlinkClick action="ppaction://hlinksldjump" r:id="rId12"/>
          </p:cNvPr>
          <p:cNvSpPr/>
          <p:nvPr/>
        </p:nvSpPr>
        <p:spPr>
          <a:xfrm>
            <a:off x="2101372" y="2524513"/>
            <a:ext cx="2057400" cy="52200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Plan Product Investments to Support Go to Market Strategy</a:t>
            </a:r>
            <a:endParaRPr sz="1100">
              <a:solidFill>
                <a:schemeClr val="dk1"/>
              </a:solidFill>
              <a:latin typeface="Century Gothic"/>
              <a:ea typeface="Century Gothic"/>
              <a:cs typeface="Century Gothic"/>
              <a:sym typeface="Century Gothic"/>
            </a:endParaRPr>
          </a:p>
        </p:txBody>
      </p:sp>
      <p:sp>
        <p:nvSpPr>
          <p:cNvPr id="6323" name="Google Shape;6323;p351">
            <a:hlinkClick action="ppaction://hlinksldjump" r:id="rId13"/>
          </p:cNvPr>
          <p:cNvSpPr/>
          <p:nvPr/>
        </p:nvSpPr>
        <p:spPr>
          <a:xfrm>
            <a:off x="565902" y="3311841"/>
            <a:ext cx="1395519" cy="828000"/>
          </a:xfrm>
          <a:prstGeom prst="homePlate">
            <a:avLst>
              <a:gd fmla="val 7540" name="adj"/>
            </a:avLst>
          </a:prstGeom>
          <a:solidFill>
            <a:schemeClr val="accent4"/>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rgbClr val="FFFFFF"/>
                </a:solidFill>
                <a:latin typeface="Century Gothic"/>
                <a:ea typeface="Century Gothic"/>
                <a:cs typeface="Century Gothic"/>
                <a:sym typeface="Century Gothic"/>
              </a:rPr>
              <a:t>Pricing and Promotion</a:t>
            </a:r>
            <a:endParaRPr sz="1100">
              <a:solidFill>
                <a:srgbClr val="FFFFFF"/>
              </a:solidFill>
              <a:latin typeface="Century Gothic"/>
              <a:ea typeface="Century Gothic"/>
              <a:cs typeface="Century Gothic"/>
              <a:sym typeface="Century Gothic"/>
            </a:endParaRPr>
          </a:p>
        </p:txBody>
      </p:sp>
      <p:sp>
        <p:nvSpPr>
          <p:cNvPr id="6324" name="Google Shape;6324;p351">
            <a:hlinkClick action="ppaction://hlinksldjump" r:id="rId14"/>
          </p:cNvPr>
          <p:cNvSpPr/>
          <p:nvPr/>
        </p:nvSpPr>
        <p:spPr>
          <a:xfrm>
            <a:off x="4305289" y="3464841"/>
            <a:ext cx="2065221" cy="52200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Manage Dynamic Pricing</a:t>
            </a:r>
            <a:endParaRPr sz="1100">
              <a:solidFill>
                <a:schemeClr val="dk1"/>
              </a:solidFill>
              <a:latin typeface="Century Gothic"/>
              <a:ea typeface="Century Gothic"/>
              <a:cs typeface="Century Gothic"/>
              <a:sym typeface="Century Gothic"/>
            </a:endParaRPr>
          </a:p>
        </p:txBody>
      </p:sp>
      <p:sp>
        <p:nvSpPr>
          <p:cNvPr id="6325" name="Google Shape;6325;p351">
            <a:hlinkClick action="ppaction://hlinksldjump" r:id="rId15"/>
          </p:cNvPr>
          <p:cNvSpPr/>
          <p:nvPr/>
        </p:nvSpPr>
        <p:spPr>
          <a:xfrm>
            <a:off x="2073748" y="3464840"/>
            <a:ext cx="2057400" cy="52200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Analyze Competitive Pricing </a:t>
            </a:r>
            <a:endParaRPr sz="1100">
              <a:solidFill>
                <a:schemeClr val="dk1"/>
              </a:solidFill>
              <a:latin typeface="Century Gothic"/>
              <a:ea typeface="Century Gothic"/>
              <a:cs typeface="Century Gothic"/>
              <a:sym typeface="Century Gothic"/>
            </a:endParaRPr>
          </a:p>
        </p:txBody>
      </p:sp>
      <p:sp>
        <p:nvSpPr>
          <p:cNvPr id="6326" name="Google Shape;6326;p351">
            <a:hlinkClick action="ppaction://hlinksldjump" r:id="rId16"/>
          </p:cNvPr>
          <p:cNvSpPr/>
          <p:nvPr/>
        </p:nvSpPr>
        <p:spPr>
          <a:xfrm>
            <a:off x="567549" y="3950175"/>
            <a:ext cx="849788" cy="200177"/>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rPr lang="en-GB" sz="800">
                <a:solidFill>
                  <a:schemeClr val="lt1"/>
                </a:solidFill>
                <a:latin typeface="Century Gothic"/>
                <a:ea typeface="Century Gothic"/>
                <a:cs typeface="Century Gothic"/>
                <a:sym typeface="Century Gothic"/>
              </a:rPr>
              <a:t>More info &gt; </a:t>
            </a:r>
            <a:endParaRPr/>
          </a:p>
        </p:txBody>
      </p:sp>
      <p:sp>
        <p:nvSpPr>
          <p:cNvPr id="6327" name="Google Shape;6327;p351">
            <a:hlinkClick action="ppaction://hlinksldjump" r:id="rId17"/>
          </p:cNvPr>
          <p:cNvSpPr/>
          <p:nvPr/>
        </p:nvSpPr>
        <p:spPr>
          <a:xfrm>
            <a:off x="6515100" y="-196501"/>
            <a:ext cx="2777392" cy="378533"/>
          </a:xfrm>
          <a:prstGeom prst="roundRect">
            <a:avLst>
              <a:gd fmla="val 50000" name="adj"/>
            </a:avLst>
          </a:prstGeom>
          <a:solidFill>
            <a:schemeClr val="accent1"/>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Product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1" name="Shape 6331"/>
        <p:cNvGrpSpPr/>
        <p:nvPr/>
      </p:nvGrpSpPr>
      <p:grpSpPr>
        <a:xfrm>
          <a:off x="0" y="0"/>
          <a:ext cx="0" cy="0"/>
          <a:chOff x="0" y="0"/>
          <a:chExt cx="0" cy="0"/>
        </a:xfrm>
      </p:grpSpPr>
      <p:sp>
        <p:nvSpPr>
          <p:cNvPr id="6332" name="Google Shape;6332;p352"/>
          <p:cNvSpPr/>
          <p:nvPr/>
        </p:nvSpPr>
        <p:spPr>
          <a:xfrm>
            <a:off x="459950" y="1187449"/>
            <a:ext cx="8223249" cy="3122083"/>
          </a:xfrm>
          <a:prstGeom prst="roundRect">
            <a:avLst>
              <a:gd fmla="val 2069" name="adj"/>
            </a:avLst>
          </a:prstGeom>
          <a:solidFill>
            <a:srgbClr val="FFFFFF"/>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6333" name="Google Shape;6333;p352">
            <a:hlinkClick action="ppaction://hlinksldjump" r:id="rId3"/>
          </p:cNvPr>
          <p:cNvSpPr/>
          <p:nvPr/>
        </p:nvSpPr>
        <p:spPr>
          <a:xfrm>
            <a:off x="2101372" y="1773492"/>
            <a:ext cx="2057400" cy="52200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Determine Product </a:t>
            </a:r>
            <a:br>
              <a:rPr lang="en-GB" sz="1100">
                <a:solidFill>
                  <a:schemeClr val="dk1"/>
                </a:solidFill>
                <a:latin typeface="Century Gothic"/>
                <a:ea typeface="Century Gothic"/>
                <a:cs typeface="Century Gothic"/>
                <a:sym typeface="Century Gothic"/>
              </a:rPr>
            </a:br>
            <a:r>
              <a:rPr lang="en-GB" sz="1100">
                <a:solidFill>
                  <a:schemeClr val="dk1"/>
                </a:solidFill>
                <a:latin typeface="Century Gothic"/>
                <a:ea typeface="Century Gothic"/>
                <a:cs typeface="Century Gothic"/>
                <a:sym typeface="Century Gothic"/>
              </a:rPr>
              <a:t>Migration</a:t>
            </a:r>
            <a:endParaRPr sz="1100">
              <a:solidFill>
                <a:schemeClr val="dk1"/>
              </a:solidFill>
              <a:latin typeface="Century Gothic"/>
              <a:ea typeface="Century Gothic"/>
              <a:cs typeface="Century Gothic"/>
              <a:sym typeface="Century Gothic"/>
            </a:endParaRPr>
          </a:p>
        </p:txBody>
      </p:sp>
      <p:sp>
        <p:nvSpPr>
          <p:cNvPr id="6334" name="Google Shape;6334;p352">
            <a:hlinkClick action="ppaction://hlinksldjump" r:id="rId4"/>
          </p:cNvPr>
          <p:cNvSpPr/>
          <p:nvPr/>
        </p:nvSpPr>
        <p:spPr>
          <a:xfrm>
            <a:off x="565902" y="1388292"/>
            <a:ext cx="1395519" cy="907200"/>
          </a:xfrm>
          <a:prstGeom prst="homePlate">
            <a:avLst>
              <a:gd fmla="val 7540" name="adj"/>
            </a:avLst>
          </a:prstGeom>
          <a:solidFill>
            <a:schemeClr val="accent4"/>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rgbClr val="FFFFFF"/>
                </a:solidFill>
                <a:latin typeface="Century Gothic"/>
                <a:ea typeface="Century Gothic"/>
                <a:cs typeface="Century Gothic"/>
                <a:sym typeface="Century Gothic"/>
              </a:rPr>
              <a:t>Product End </a:t>
            </a:r>
            <a:br>
              <a:rPr lang="en-GB" sz="1100">
                <a:solidFill>
                  <a:srgbClr val="FFFFFF"/>
                </a:solidFill>
                <a:latin typeface="Century Gothic"/>
                <a:ea typeface="Century Gothic"/>
                <a:cs typeface="Century Gothic"/>
                <a:sym typeface="Century Gothic"/>
              </a:rPr>
            </a:br>
            <a:r>
              <a:rPr lang="en-GB" sz="1100">
                <a:solidFill>
                  <a:srgbClr val="FFFFFF"/>
                </a:solidFill>
                <a:latin typeface="Century Gothic"/>
                <a:ea typeface="Century Gothic"/>
                <a:cs typeface="Century Gothic"/>
                <a:sym typeface="Century Gothic"/>
              </a:rPr>
              <a:t>of Life</a:t>
            </a:r>
            <a:endParaRPr sz="1100">
              <a:solidFill>
                <a:srgbClr val="FFFFFF"/>
              </a:solidFill>
              <a:latin typeface="Century Gothic"/>
              <a:ea typeface="Century Gothic"/>
              <a:cs typeface="Century Gothic"/>
              <a:sym typeface="Century Gothic"/>
            </a:endParaRPr>
          </a:p>
        </p:txBody>
      </p:sp>
      <p:sp>
        <p:nvSpPr>
          <p:cNvPr id="6335" name="Google Shape;6335;p352"/>
          <p:cNvSpPr/>
          <p:nvPr/>
        </p:nvSpPr>
        <p:spPr>
          <a:xfrm>
            <a:off x="2073748" y="1270818"/>
            <a:ext cx="6062954" cy="360000"/>
          </a:xfrm>
          <a:prstGeom prst="rect">
            <a:avLst/>
          </a:prstGeom>
          <a:noFill/>
          <a:ln>
            <a:noFill/>
          </a:ln>
        </p:spPr>
        <p:txBody>
          <a:bodyPr anchorCtr="0" anchor="ctr" bIns="91425" lIns="36000" spcFirstLastPara="1" rIns="36000" wrap="square" tIns="91425">
            <a:noAutofit/>
          </a:bodyPr>
          <a:lstStyle/>
          <a:p>
            <a:pPr indent="0" lvl="0" marL="0" marR="0" rtl="0" algn="ctr">
              <a:spcBef>
                <a:spcPts val="0"/>
              </a:spcBef>
              <a:spcAft>
                <a:spcPts val="0"/>
              </a:spcAft>
              <a:buNone/>
            </a:pPr>
            <a:r>
              <a:rPr lang="en-GB" sz="1400">
                <a:solidFill>
                  <a:srgbClr val="3C3C3B"/>
                </a:solidFill>
                <a:latin typeface="Century Gothic"/>
                <a:ea typeface="Century Gothic"/>
                <a:cs typeface="Century Gothic"/>
                <a:sym typeface="Century Gothic"/>
              </a:rPr>
              <a:t>Analytical Capabilities</a:t>
            </a:r>
            <a:endParaRPr sz="1400">
              <a:solidFill>
                <a:srgbClr val="3C3C3B"/>
              </a:solidFill>
              <a:latin typeface="Century Gothic"/>
              <a:ea typeface="Century Gothic"/>
              <a:cs typeface="Century Gothic"/>
              <a:sym typeface="Century Gothic"/>
            </a:endParaRPr>
          </a:p>
        </p:txBody>
      </p:sp>
      <p:sp>
        <p:nvSpPr>
          <p:cNvPr id="6336" name="Google Shape;6336;p352"/>
          <p:cNvSpPr/>
          <p:nvPr/>
        </p:nvSpPr>
        <p:spPr>
          <a:xfrm>
            <a:off x="2132418" y="-356305"/>
            <a:ext cx="1762241" cy="112328"/>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rgbClr val="FFFFFF"/>
                </a:solidFill>
                <a:latin typeface="Century Gothic"/>
                <a:ea typeface="Century Gothic"/>
                <a:cs typeface="Century Gothic"/>
                <a:sym typeface="Century Gothic"/>
              </a:rPr>
              <a:t>Spacer</a:t>
            </a:r>
            <a:endParaRPr/>
          </a:p>
        </p:txBody>
      </p:sp>
      <p:sp>
        <p:nvSpPr>
          <p:cNvPr id="6337" name="Google Shape;6337;p352"/>
          <p:cNvSpPr/>
          <p:nvPr/>
        </p:nvSpPr>
        <p:spPr>
          <a:xfrm rot="5400000">
            <a:off x="8364087" y="824956"/>
            <a:ext cx="1762241" cy="112328"/>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rgbClr val="FFFFFF"/>
                </a:solidFill>
                <a:latin typeface="Century Gothic"/>
                <a:ea typeface="Century Gothic"/>
                <a:cs typeface="Century Gothic"/>
                <a:sym typeface="Century Gothic"/>
              </a:rPr>
              <a:t>Spacer</a:t>
            </a:r>
            <a:endParaRPr/>
          </a:p>
        </p:txBody>
      </p:sp>
      <p:sp>
        <p:nvSpPr>
          <p:cNvPr id="6338" name="Google Shape;6338;p352"/>
          <p:cNvSpPr txBox="1"/>
          <p:nvPr>
            <p:ph idx="2" type="body"/>
          </p:nvPr>
        </p:nvSpPr>
        <p:spPr>
          <a:xfrm>
            <a:off x="466673" y="585291"/>
            <a:ext cx="7728002" cy="353174"/>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Clr>
                <a:schemeClr val="dk1"/>
              </a:buClr>
              <a:buSzPts val="1600"/>
              <a:buFont typeface="Century Gothic"/>
              <a:buNone/>
            </a:pPr>
            <a:r>
              <a:rPr lang="en-GB" sz="1600"/>
              <a:t>Plan product exit or decommissioning strategy by item / location to maximize portfolio consistency, sales and profitability</a:t>
            </a:r>
            <a:endParaRPr sz="1600"/>
          </a:p>
        </p:txBody>
      </p:sp>
      <p:sp>
        <p:nvSpPr>
          <p:cNvPr id="6339" name="Google Shape;6339;p352"/>
          <p:cNvSpPr txBox="1"/>
          <p:nvPr>
            <p:ph type="title"/>
          </p:nvPr>
        </p:nvSpPr>
        <p:spPr>
          <a:xfrm>
            <a:off x="453971" y="64901"/>
            <a:ext cx="8229600" cy="526298"/>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Product Management - Capabilities</a:t>
            </a:r>
            <a:endParaRPr/>
          </a:p>
        </p:txBody>
      </p:sp>
      <p:grpSp>
        <p:nvGrpSpPr>
          <p:cNvPr id="6340" name="Google Shape;6340;p352"/>
          <p:cNvGrpSpPr/>
          <p:nvPr/>
        </p:nvGrpSpPr>
        <p:grpSpPr>
          <a:xfrm>
            <a:off x="7779998" y="4410748"/>
            <a:ext cx="995883" cy="297004"/>
            <a:chOff x="7711013" y="3986494"/>
            <a:chExt cx="995883" cy="297004"/>
          </a:xfrm>
        </p:grpSpPr>
        <p:sp>
          <p:nvSpPr>
            <p:cNvPr id="6341" name="Google Shape;6341;p352">
              <a:hlinkClick action="ppaction://hlinksldjump" r:id="rId5"/>
            </p:cNvPr>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6342" name="Google Shape;6342;p352"/>
            <p:cNvGrpSpPr/>
            <p:nvPr/>
          </p:nvGrpSpPr>
          <p:grpSpPr>
            <a:xfrm>
              <a:off x="7711013" y="4002615"/>
              <a:ext cx="281520" cy="241973"/>
              <a:chOff x="5652748" y="4066000"/>
              <a:chExt cx="906498" cy="747974"/>
            </a:xfrm>
          </p:grpSpPr>
          <p:sp>
            <p:nvSpPr>
              <p:cNvPr id="6343" name="Google Shape;6343;p352"/>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6344" name="Google Shape;6344;p352"/>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6345" name="Google Shape;6345;p352"/>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6346" name="Google Shape;6346;p352">
            <a:hlinkClick action="ppaction://hlinksldjump" r:id="rId6"/>
          </p:cNvPr>
          <p:cNvSpPr/>
          <p:nvPr/>
        </p:nvSpPr>
        <p:spPr>
          <a:xfrm>
            <a:off x="567549" y="2083168"/>
            <a:ext cx="849788" cy="200177"/>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rPr lang="en-GB" sz="800">
                <a:solidFill>
                  <a:schemeClr val="lt1"/>
                </a:solidFill>
                <a:latin typeface="Century Gothic"/>
                <a:ea typeface="Century Gothic"/>
                <a:cs typeface="Century Gothic"/>
                <a:sym typeface="Century Gothic"/>
              </a:rPr>
              <a:t>More info &gt; </a:t>
            </a:r>
            <a:endParaRPr/>
          </a:p>
        </p:txBody>
      </p:sp>
      <p:sp>
        <p:nvSpPr>
          <p:cNvPr id="6347" name="Google Shape;6347;p352">
            <a:hlinkClick action="ppaction://hlinksldjump" r:id="rId7"/>
          </p:cNvPr>
          <p:cNvSpPr/>
          <p:nvPr/>
        </p:nvSpPr>
        <p:spPr>
          <a:xfrm>
            <a:off x="565902" y="2407820"/>
            <a:ext cx="1395519" cy="1738640"/>
          </a:xfrm>
          <a:prstGeom prst="homePlate">
            <a:avLst>
              <a:gd fmla="val 7540" name="adj"/>
            </a:avLst>
          </a:prstGeom>
          <a:solidFill>
            <a:schemeClr val="accent4"/>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rgbClr val="FFFFFF"/>
                </a:solidFill>
                <a:latin typeface="Century Gothic"/>
                <a:ea typeface="Century Gothic"/>
                <a:cs typeface="Century Gothic"/>
                <a:sym typeface="Century Gothic"/>
              </a:rPr>
              <a:t>Product Performance </a:t>
            </a:r>
            <a:endParaRPr sz="1100">
              <a:solidFill>
                <a:srgbClr val="FFFFFF"/>
              </a:solidFill>
              <a:latin typeface="Century Gothic"/>
              <a:ea typeface="Century Gothic"/>
              <a:cs typeface="Century Gothic"/>
              <a:sym typeface="Century Gothic"/>
            </a:endParaRPr>
          </a:p>
        </p:txBody>
      </p:sp>
      <p:sp>
        <p:nvSpPr>
          <p:cNvPr id="6348" name="Google Shape;6348;p352">
            <a:hlinkClick action="ppaction://hlinksldjump" r:id="rId8"/>
          </p:cNvPr>
          <p:cNvSpPr/>
          <p:nvPr/>
        </p:nvSpPr>
        <p:spPr>
          <a:xfrm>
            <a:off x="567549" y="3900093"/>
            <a:ext cx="849788" cy="200177"/>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rPr lang="en-GB" sz="800">
                <a:solidFill>
                  <a:schemeClr val="lt1"/>
                </a:solidFill>
                <a:latin typeface="Century Gothic"/>
                <a:ea typeface="Century Gothic"/>
                <a:cs typeface="Century Gothic"/>
                <a:sym typeface="Century Gothic"/>
              </a:rPr>
              <a:t>More info &gt; </a:t>
            </a:r>
            <a:endParaRPr/>
          </a:p>
        </p:txBody>
      </p:sp>
      <p:sp>
        <p:nvSpPr>
          <p:cNvPr id="6349" name="Google Shape;6349;p352">
            <a:hlinkClick action="ppaction://hlinksldjump" r:id="rId9"/>
          </p:cNvPr>
          <p:cNvSpPr/>
          <p:nvPr/>
        </p:nvSpPr>
        <p:spPr>
          <a:xfrm>
            <a:off x="4332913" y="2707893"/>
            <a:ext cx="2057400" cy="52200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Compare to Product Benchmarks</a:t>
            </a:r>
            <a:endParaRPr sz="1100">
              <a:solidFill>
                <a:schemeClr val="dk1"/>
              </a:solidFill>
              <a:latin typeface="Century Gothic"/>
              <a:ea typeface="Century Gothic"/>
              <a:cs typeface="Century Gothic"/>
              <a:sym typeface="Century Gothic"/>
            </a:endParaRPr>
          </a:p>
        </p:txBody>
      </p:sp>
      <p:sp>
        <p:nvSpPr>
          <p:cNvPr id="6350" name="Google Shape;6350;p352">
            <a:hlinkClick action="ppaction://hlinksldjump" r:id="rId10"/>
          </p:cNvPr>
          <p:cNvSpPr/>
          <p:nvPr/>
        </p:nvSpPr>
        <p:spPr>
          <a:xfrm>
            <a:off x="2123113" y="2707893"/>
            <a:ext cx="2065221" cy="52200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Analyze Cross Channel Performance</a:t>
            </a:r>
            <a:endParaRPr sz="1100">
              <a:solidFill>
                <a:schemeClr val="dk1"/>
              </a:solidFill>
              <a:latin typeface="Century Gothic"/>
              <a:ea typeface="Century Gothic"/>
              <a:cs typeface="Century Gothic"/>
              <a:sym typeface="Century Gothic"/>
            </a:endParaRPr>
          </a:p>
        </p:txBody>
      </p:sp>
      <p:sp>
        <p:nvSpPr>
          <p:cNvPr id="6351" name="Google Shape;6351;p352">
            <a:hlinkClick action="ppaction://hlinksldjump" r:id="rId11"/>
          </p:cNvPr>
          <p:cNvSpPr/>
          <p:nvPr/>
        </p:nvSpPr>
        <p:spPr>
          <a:xfrm>
            <a:off x="6551171" y="2707893"/>
            <a:ext cx="2057400" cy="52200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Manage Product Profitability</a:t>
            </a:r>
            <a:endParaRPr sz="1100">
              <a:solidFill>
                <a:schemeClr val="dk1"/>
              </a:solidFill>
              <a:latin typeface="Century Gothic"/>
              <a:ea typeface="Century Gothic"/>
              <a:cs typeface="Century Gothic"/>
              <a:sym typeface="Century Gothic"/>
            </a:endParaRPr>
          </a:p>
        </p:txBody>
      </p:sp>
      <p:sp>
        <p:nvSpPr>
          <p:cNvPr id="6352" name="Google Shape;6352;p352">
            <a:hlinkClick action="ppaction://hlinksldjump" r:id="rId12"/>
          </p:cNvPr>
          <p:cNvSpPr/>
          <p:nvPr/>
        </p:nvSpPr>
        <p:spPr>
          <a:xfrm>
            <a:off x="2123113" y="3342221"/>
            <a:ext cx="2057400" cy="52200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Produce Behavioral Segmentations</a:t>
            </a:r>
            <a:endParaRPr sz="1100">
              <a:solidFill>
                <a:schemeClr val="dk1"/>
              </a:solidFill>
              <a:latin typeface="Century Gothic"/>
              <a:ea typeface="Century Gothic"/>
              <a:cs typeface="Century Gothic"/>
              <a:sym typeface="Century Gothic"/>
            </a:endParaRPr>
          </a:p>
        </p:txBody>
      </p:sp>
      <p:sp>
        <p:nvSpPr>
          <p:cNvPr id="6353" name="Google Shape;6353;p352">
            <a:hlinkClick action="ppaction://hlinksldjump" r:id="rId13"/>
          </p:cNvPr>
          <p:cNvSpPr/>
          <p:nvPr/>
        </p:nvSpPr>
        <p:spPr>
          <a:xfrm>
            <a:off x="4332913" y="3342221"/>
            <a:ext cx="2057400" cy="522000"/>
          </a:xfrm>
          <a:prstGeom prst="rect">
            <a:avLst/>
          </a:prstGeom>
          <a:solidFill>
            <a:srgbClr val="D8D8D8"/>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chemeClr val="dk1"/>
                </a:solidFill>
                <a:latin typeface="Century Gothic"/>
                <a:ea typeface="Century Gothic"/>
                <a:cs typeface="Century Gothic"/>
                <a:sym typeface="Century Gothic"/>
              </a:rPr>
              <a:t>Predict Product / Service  Retention</a:t>
            </a:r>
            <a:endParaRPr sz="1100">
              <a:solidFill>
                <a:schemeClr val="dk1"/>
              </a:solidFill>
              <a:latin typeface="Century Gothic"/>
              <a:ea typeface="Century Gothic"/>
              <a:cs typeface="Century Gothic"/>
              <a:sym typeface="Century Gothic"/>
            </a:endParaRPr>
          </a:p>
        </p:txBody>
      </p:sp>
      <p:sp>
        <p:nvSpPr>
          <p:cNvPr id="6354" name="Google Shape;6354;p352">
            <a:hlinkClick action="ppaction://hlinksldjump" r:id="rId14"/>
          </p:cNvPr>
          <p:cNvSpPr/>
          <p:nvPr/>
        </p:nvSpPr>
        <p:spPr>
          <a:xfrm>
            <a:off x="6515100" y="-196501"/>
            <a:ext cx="2777392" cy="378533"/>
          </a:xfrm>
          <a:prstGeom prst="roundRect">
            <a:avLst>
              <a:gd fmla="val 50000" name="adj"/>
            </a:avLst>
          </a:prstGeom>
          <a:solidFill>
            <a:schemeClr val="accent1"/>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Product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9" name="Shape 6359"/>
        <p:cNvGrpSpPr/>
        <p:nvPr/>
      </p:nvGrpSpPr>
      <p:grpSpPr>
        <a:xfrm>
          <a:off x="0" y="0"/>
          <a:ext cx="0" cy="0"/>
          <a:chOff x="0" y="0"/>
          <a:chExt cx="0" cy="0"/>
        </a:xfrm>
      </p:grpSpPr>
      <p:sp>
        <p:nvSpPr>
          <p:cNvPr id="6360" name="Google Shape;6360;p353"/>
          <p:cNvSpPr/>
          <p:nvPr/>
        </p:nvSpPr>
        <p:spPr>
          <a:xfrm>
            <a:off x="459950" y="1187449"/>
            <a:ext cx="8223249" cy="3511551"/>
          </a:xfrm>
          <a:prstGeom prst="roundRect">
            <a:avLst>
              <a:gd fmla="val 2069" name="adj"/>
            </a:avLst>
          </a:prstGeom>
          <a:solidFill>
            <a:srgbClr val="FFFFFF"/>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6361" name="Google Shape;6361;p353"/>
          <p:cNvSpPr/>
          <p:nvPr/>
        </p:nvSpPr>
        <p:spPr>
          <a:xfrm>
            <a:off x="612386" y="-315254"/>
            <a:ext cx="1762241" cy="112328"/>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rgbClr val="FFFFFF"/>
                </a:solidFill>
                <a:latin typeface="Century Gothic"/>
                <a:ea typeface="Century Gothic"/>
                <a:cs typeface="Century Gothic"/>
                <a:sym typeface="Century Gothic"/>
              </a:rPr>
              <a:t>Spacer</a:t>
            </a:r>
            <a:endParaRPr/>
          </a:p>
        </p:txBody>
      </p:sp>
      <p:sp>
        <p:nvSpPr>
          <p:cNvPr id="6362" name="Google Shape;6362;p353"/>
          <p:cNvSpPr/>
          <p:nvPr/>
        </p:nvSpPr>
        <p:spPr>
          <a:xfrm rot="5400000">
            <a:off x="9041570" y="2147731"/>
            <a:ext cx="1762241" cy="112328"/>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rgbClr val="FFFFFF"/>
                </a:solidFill>
                <a:latin typeface="Century Gothic"/>
                <a:ea typeface="Century Gothic"/>
                <a:cs typeface="Century Gothic"/>
                <a:sym typeface="Century Gothic"/>
              </a:rPr>
              <a:t>Spacer</a:t>
            </a:r>
            <a:endParaRPr/>
          </a:p>
        </p:txBody>
      </p:sp>
      <p:sp>
        <p:nvSpPr>
          <p:cNvPr id="6363" name="Google Shape;6363;p353"/>
          <p:cNvSpPr txBox="1"/>
          <p:nvPr>
            <p:ph idx="1" type="body"/>
          </p:nvPr>
        </p:nvSpPr>
        <p:spPr>
          <a:xfrm>
            <a:off x="3297994" y="4943703"/>
            <a:ext cx="2548012" cy="106186"/>
          </a:xfrm>
          <a:prstGeom prst="rect">
            <a:avLst/>
          </a:prstGeom>
          <a:noFill/>
          <a:ln>
            <a:noFill/>
          </a:ln>
        </p:spPr>
        <p:txBody>
          <a:bodyPr anchorCtr="0" anchor="t" bIns="0" lIns="0" spcFirstLastPara="1" rIns="0" wrap="square" tIns="0">
            <a:noAutofit/>
          </a:bodyPr>
          <a:lstStyle/>
          <a:p>
            <a:pPr indent="0" lvl="0" marL="0" rtl="0" algn="ctr">
              <a:lnSpc>
                <a:spcPct val="85000"/>
              </a:lnSpc>
              <a:spcBef>
                <a:spcPts val="0"/>
              </a:spcBef>
              <a:spcAft>
                <a:spcPts val="0"/>
              </a:spcAft>
              <a:buClr>
                <a:srgbClr val="4FB0FF"/>
              </a:buClr>
              <a:buSzPts val="700"/>
              <a:buFont typeface="Century Gothic"/>
              <a:buNone/>
            </a:pPr>
            <a:r>
              <a:t/>
            </a:r>
            <a:endParaRPr/>
          </a:p>
        </p:txBody>
      </p:sp>
      <p:sp>
        <p:nvSpPr>
          <p:cNvPr id="6364" name="Google Shape;6364;p353">
            <a:hlinkClick action="ppaction://hlinksldjump" r:id="rId3"/>
          </p:cNvPr>
          <p:cNvSpPr/>
          <p:nvPr/>
        </p:nvSpPr>
        <p:spPr>
          <a:xfrm>
            <a:off x="3750670" y="2497193"/>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100">
                <a:solidFill>
                  <a:schemeClr val="dk1"/>
                </a:solidFill>
                <a:latin typeface="Century Gothic"/>
                <a:ea typeface="Century Gothic"/>
                <a:cs typeface="Century Gothic"/>
                <a:sym typeface="Century Gothic"/>
              </a:rPr>
              <a:t>Improvement in Risk Scoring Models</a:t>
            </a:r>
            <a:endParaRPr sz="1100">
              <a:solidFill>
                <a:schemeClr val="dk1"/>
              </a:solidFill>
              <a:latin typeface="Century Gothic"/>
              <a:ea typeface="Century Gothic"/>
              <a:cs typeface="Century Gothic"/>
              <a:sym typeface="Century Gothic"/>
            </a:endParaRPr>
          </a:p>
        </p:txBody>
      </p:sp>
      <p:sp>
        <p:nvSpPr>
          <p:cNvPr id="6365" name="Google Shape;6365;p353">
            <a:hlinkClick action="ppaction://hlinksldjump" r:id="rId4"/>
          </p:cNvPr>
          <p:cNvSpPr/>
          <p:nvPr/>
        </p:nvSpPr>
        <p:spPr>
          <a:xfrm>
            <a:off x="2101373" y="2497193"/>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100">
                <a:solidFill>
                  <a:schemeClr val="dk1"/>
                </a:solidFill>
                <a:latin typeface="Century Gothic"/>
                <a:ea typeface="Century Gothic"/>
                <a:cs typeface="Century Gothic"/>
                <a:sym typeface="Century Gothic"/>
              </a:rPr>
              <a:t>Individualized Merchant Recommendations</a:t>
            </a:r>
            <a:endParaRPr sz="1100">
              <a:solidFill>
                <a:schemeClr val="dk1"/>
              </a:solidFill>
              <a:latin typeface="Century Gothic"/>
              <a:ea typeface="Century Gothic"/>
              <a:cs typeface="Century Gothic"/>
              <a:sym typeface="Century Gothic"/>
            </a:endParaRPr>
          </a:p>
        </p:txBody>
      </p:sp>
      <p:sp>
        <p:nvSpPr>
          <p:cNvPr id="6366" name="Google Shape;6366;p353">
            <a:hlinkClick action="ppaction://hlinksldjump" r:id="rId5"/>
          </p:cNvPr>
          <p:cNvSpPr/>
          <p:nvPr/>
        </p:nvSpPr>
        <p:spPr>
          <a:xfrm>
            <a:off x="7040226" y="1754865"/>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100">
                <a:solidFill>
                  <a:schemeClr val="dk1"/>
                </a:solidFill>
                <a:latin typeface="Century Gothic"/>
                <a:ea typeface="Century Gothic"/>
                <a:cs typeface="Century Gothic"/>
                <a:sym typeface="Century Gothic"/>
              </a:rPr>
              <a:t>Credit/Debit Card Spend Simulation</a:t>
            </a:r>
            <a:endParaRPr sz="1100">
              <a:solidFill>
                <a:schemeClr val="dk1"/>
              </a:solidFill>
              <a:latin typeface="Century Gothic"/>
              <a:ea typeface="Century Gothic"/>
              <a:cs typeface="Century Gothic"/>
              <a:sym typeface="Century Gothic"/>
            </a:endParaRPr>
          </a:p>
        </p:txBody>
      </p:sp>
      <p:sp>
        <p:nvSpPr>
          <p:cNvPr id="6367" name="Google Shape;6367;p353">
            <a:hlinkClick action="ppaction://hlinksldjump" r:id="rId6"/>
          </p:cNvPr>
          <p:cNvSpPr/>
          <p:nvPr/>
        </p:nvSpPr>
        <p:spPr>
          <a:xfrm>
            <a:off x="5383981" y="1754864"/>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100">
                <a:solidFill>
                  <a:schemeClr val="dk1"/>
                </a:solidFill>
                <a:latin typeface="Century Gothic"/>
                <a:ea typeface="Century Gothic"/>
                <a:cs typeface="Century Gothic"/>
                <a:sym typeface="Century Gothic"/>
              </a:rPr>
              <a:t>Merchant </a:t>
            </a:r>
            <a:br>
              <a:rPr lang="en-GB" sz="1100">
                <a:solidFill>
                  <a:schemeClr val="dk1"/>
                </a:solidFill>
                <a:latin typeface="Century Gothic"/>
                <a:ea typeface="Century Gothic"/>
                <a:cs typeface="Century Gothic"/>
                <a:sym typeface="Century Gothic"/>
              </a:rPr>
            </a:br>
            <a:r>
              <a:rPr lang="en-GB" sz="1100">
                <a:solidFill>
                  <a:schemeClr val="dk1"/>
                </a:solidFill>
                <a:latin typeface="Century Gothic"/>
                <a:ea typeface="Century Gothic"/>
                <a:cs typeface="Century Gothic"/>
                <a:sym typeface="Century Gothic"/>
              </a:rPr>
              <a:t>Acquiring Insights</a:t>
            </a:r>
            <a:endParaRPr sz="1100">
              <a:solidFill>
                <a:schemeClr val="dk1"/>
              </a:solidFill>
              <a:latin typeface="Century Gothic"/>
              <a:ea typeface="Century Gothic"/>
              <a:cs typeface="Century Gothic"/>
              <a:sym typeface="Century Gothic"/>
            </a:endParaRPr>
          </a:p>
        </p:txBody>
      </p:sp>
      <p:sp>
        <p:nvSpPr>
          <p:cNvPr id="6368" name="Google Shape;6368;p353">
            <a:hlinkClick action="ppaction://hlinksldjump" r:id="rId7"/>
          </p:cNvPr>
          <p:cNvSpPr/>
          <p:nvPr/>
        </p:nvSpPr>
        <p:spPr>
          <a:xfrm>
            <a:off x="3750670" y="1754864"/>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100">
                <a:solidFill>
                  <a:schemeClr val="dk1"/>
                </a:solidFill>
                <a:latin typeface="Century Gothic"/>
                <a:ea typeface="Century Gothic"/>
                <a:cs typeface="Century Gothic"/>
                <a:sym typeface="Century Gothic"/>
              </a:rPr>
              <a:t>Relationship Management and Optimization</a:t>
            </a:r>
            <a:br>
              <a:rPr lang="en-GB" sz="1100">
                <a:solidFill>
                  <a:schemeClr val="dk1"/>
                </a:solidFill>
                <a:latin typeface="Century Gothic"/>
                <a:ea typeface="Century Gothic"/>
                <a:cs typeface="Century Gothic"/>
                <a:sym typeface="Century Gothic"/>
              </a:rPr>
            </a:br>
            <a:r>
              <a:rPr lang="en-GB" sz="1100">
                <a:solidFill>
                  <a:schemeClr val="dk1"/>
                </a:solidFill>
                <a:latin typeface="Century Gothic"/>
                <a:ea typeface="Century Gothic"/>
                <a:cs typeface="Century Gothic"/>
                <a:sym typeface="Century Gothic"/>
              </a:rPr>
              <a:t>(Product Usage)</a:t>
            </a:r>
            <a:endParaRPr sz="1100">
              <a:solidFill>
                <a:schemeClr val="dk1"/>
              </a:solidFill>
              <a:latin typeface="Century Gothic"/>
              <a:ea typeface="Century Gothic"/>
              <a:cs typeface="Century Gothic"/>
              <a:sym typeface="Century Gothic"/>
            </a:endParaRPr>
          </a:p>
        </p:txBody>
      </p:sp>
      <p:sp>
        <p:nvSpPr>
          <p:cNvPr id="6369" name="Google Shape;6369;p353">
            <a:hlinkClick action="ppaction://hlinksldjump" r:id="rId8"/>
          </p:cNvPr>
          <p:cNvSpPr/>
          <p:nvPr/>
        </p:nvSpPr>
        <p:spPr>
          <a:xfrm>
            <a:off x="2105690" y="1754864"/>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100">
                <a:solidFill>
                  <a:schemeClr val="dk1"/>
                </a:solidFill>
                <a:latin typeface="Century Gothic"/>
                <a:ea typeface="Century Gothic"/>
                <a:cs typeface="Century Gothic"/>
                <a:sym typeface="Century Gothic"/>
              </a:rPr>
              <a:t>Product Development and Packaging</a:t>
            </a:r>
            <a:endParaRPr sz="1100">
              <a:solidFill>
                <a:schemeClr val="dk1"/>
              </a:solidFill>
              <a:latin typeface="Century Gothic"/>
              <a:ea typeface="Century Gothic"/>
              <a:cs typeface="Century Gothic"/>
              <a:sym typeface="Century Gothic"/>
            </a:endParaRPr>
          </a:p>
        </p:txBody>
      </p:sp>
      <p:sp>
        <p:nvSpPr>
          <p:cNvPr id="6370" name="Google Shape;6370;p353">
            <a:hlinkClick action="ppaction://hlinksldjump" r:id="rId9"/>
          </p:cNvPr>
          <p:cNvSpPr/>
          <p:nvPr/>
        </p:nvSpPr>
        <p:spPr>
          <a:xfrm>
            <a:off x="612350" y="1754865"/>
            <a:ext cx="1395519" cy="1372328"/>
          </a:xfrm>
          <a:prstGeom prst="homePlate">
            <a:avLst>
              <a:gd fmla="val 7540" name="adj"/>
            </a:avLst>
          </a:prstGeom>
          <a:solidFill>
            <a:schemeClr val="accent4"/>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rgbClr val="FFFFFF"/>
                </a:solidFill>
                <a:latin typeface="Century Gothic"/>
                <a:ea typeface="Century Gothic"/>
                <a:cs typeface="Century Gothic"/>
                <a:sym typeface="Century Gothic"/>
              </a:rPr>
              <a:t>Product Development</a:t>
            </a:r>
            <a:endParaRPr sz="1100">
              <a:solidFill>
                <a:srgbClr val="FFFFFF"/>
              </a:solidFill>
              <a:latin typeface="Century Gothic"/>
              <a:ea typeface="Century Gothic"/>
              <a:cs typeface="Century Gothic"/>
              <a:sym typeface="Century Gothic"/>
            </a:endParaRPr>
          </a:p>
        </p:txBody>
      </p:sp>
      <p:sp>
        <p:nvSpPr>
          <p:cNvPr id="6371" name="Google Shape;6371;p353">
            <a:hlinkClick action="ppaction://hlinksldjump" r:id="rId10"/>
          </p:cNvPr>
          <p:cNvSpPr/>
          <p:nvPr/>
        </p:nvSpPr>
        <p:spPr>
          <a:xfrm rot="5400000">
            <a:off x="5059182" y="4498581"/>
            <a:ext cx="202919" cy="594235"/>
          </a:xfrm>
          <a:prstGeom prst="homePlat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2" name="Google Shape;6372;p353"/>
          <p:cNvSpPr txBox="1"/>
          <p:nvPr/>
        </p:nvSpPr>
        <p:spPr>
          <a:xfrm>
            <a:off x="4863517" y="4694233"/>
            <a:ext cx="594235" cy="152189"/>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rgbClr val="FFFFFF"/>
                </a:solidFill>
                <a:latin typeface="Century Gothic"/>
                <a:ea typeface="Century Gothic"/>
                <a:cs typeface="Century Gothic"/>
                <a:sym typeface="Century Gothic"/>
              </a:rPr>
              <a:t>1 of 2</a:t>
            </a:r>
            <a:endParaRPr/>
          </a:p>
        </p:txBody>
      </p:sp>
      <p:grpSp>
        <p:nvGrpSpPr>
          <p:cNvPr id="6373" name="Google Shape;6373;p353"/>
          <p:cNvGrpSpPr/>
          <p:nvPr/>
        </p:nvGrpSpPr>
        <p:grpSpPr>
          <a:xfrm>
            <a:off x="2093107" y="1344189"/>
            <a:ext cx="281520" cy="241973"/>
            <a:chOff x="5652748" y="4066000"/>
            <a:chExt cx="906498" cy="747974"/>
          </a:xfrm>
        </p:grpSpPr>
        <p:sp>
          <p:nvSpPr>
            <p:cNvPr id="6374" name="Google Shape;6374;p353"/>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6375" name="Google Shape;6375;p353"/>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6376" name="Google Shape;6376;p353"/>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sp>
        <p:nvSpPr>
          <p:cNvPr id="6377" name="Google Shape;6377;p353"/>
          <p:cNvSpPr/>
          <p:nvPr/>
        </p:nvSpPr>
        <p:spPr>
          <a:xfrm rot="5400000">
            <a:off x="5377965" y="2067444"/>
            <a:ext cx="95758" cy="63500"/>
          </a:xfrm>
          <a:prstGeom prst="triangle">
            <a:avLst>
              <a:gd fmla="val 50000" name="adj"/>
            </a:avLst>
          </a:prstGeom>
          <a:solidFill>
            <a:schemeClr val="accent3"/>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6378" name="Google Shape;6378;p353"/>
          <p:cNvSpPr/>
          <p:nvPr/>
        </p:nvSpPr>
        <p:spPr>
          <a:xfrm rot="5400000">
            <a:off x="2099673" y="2067443"/>
            <a:ext cx="95758" cy="63500"/>
          </a:xfrm>
          <a:prstGeom prst="triangle">
            <a:avLst>
              <a:gd fmla="val 50000" name="adj"/>
            </a:avLst>
          </a:prstGeom>
          <a:solidFill>
            <a:schemeClr val="accent3"/>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6379" name="Google Shape;6379;p353"/>
          <p:cNvSpPr/>
          <p:nvPr/>
        </p:nvSpPr>
        <p:spPr>
          <a:xfrm rot="5400000">
            <a:off x="3730050" y="2067444"/>
            <a:ext cx="95758" cy="63500"/>
          </a:xfrm>
          <a:prstGeom prst="triangle">
            <a:avLst>
              <a:gd fmla="val 50000" name="adj"/>
            </a:avLst>
          </a:prstGeom>
          <a:solidFill>
            <a:schemeClr val="accent3"/>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6380" name="Google Shape;6380;p353"/>
          <p:cNvSpPr/>
          <p:nvPr/>
        </p:nvSpPr>
        <p:spPr>
          <a:xfrm rot="5400000">
            <a:off x="7041391" y="2023681"/>
            <a:ext cx="95758" cy="63500"/>
          </a:xfrm>
          <a:prstGeom prst="triangle">
            <a:avLst>
              <a:gd fmla="val 50000" name="adj"/>
            </a:avLst>
          </a:prstGeom>
          <a:solidFill>
            <a:schemeClr val="accent3"/>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6381" name="Google Shape;6381;p353"/>
          <p:cNvSpPr txBox="1"/>
          <p:nvPr>
            <p:ph type="title"/>
          </p:nvPr>
        </p:nvSpPr>
        <p:spPr>
          <a:xfrm>
            <a:off x="498912" y="81282"/>
            <a:ext cx="8229600" cy="526298"/>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Product Management Business Value Framework</a:t>
            </a:r>
            <a:endParaRPr/>
          </a:p>
        </p:txBody>
      </p:sp>
      <p:sp>
        <p:nvSpPr>
          <p:cNvPr id="6382" name="Google Shape;6382;p353"/>
          <p:cNvSpPr/>
          <p:nvPr/>
        </p:nvSpPr>
        <p:spPr>
          <a:xfrm>
            <a:off x="2073748" y="1284265"/>
            <a:ext cx="6062954" cy="360000"/>
          </a:xfrm>
          <a:prstGeom prst="rect">
            <a:avLst/>
          </a:prstGeom>
          <a:noFill/>
          <a:ln>
            <a:noFill/>
          </a:ln>
        </p:spPr>
        <p:txBody>
          <a:bodyPr anchorCtr="0" anchor="ctr" bIns="91425" lIns="36000" spcFirstLastPara="1" rIns="36000" wrap="square" tIns="91425">
            <a:noAutofit/>
          </a:bodyPr>
          <a:lstStyle/>
          <a:p>
            <a:pPr indent="0" lvl="0" marL="0" marR="0" rtl="0" algn="ctr">
              <a:spcBef>
                <a:spcPts val="0"/>
              </a:spcBef>
              <a:spcAft>
                <a:spcPts val="0"/>
              </a:spcAft>
              <a:buNone/>
            </a:pPr>
            <a:r>
              <a:rPr lang="en-GB" sz="1400">
                <a:solidFill>
                  <a:srgbClr val="3C3C3B"/>
                </a:solidFill>
                <a:latin typeface="Century Gothic"/>
                <a:ea typeface="Century Gothic"/>
                <a:cs typeface="Century Gothic"/>
                <a:sym typeface="Century Gothic"/>
              </a:rPr>
              <a:t>Analytics Use Cases</a:t>
            </a:r>
            <a:endParaRPr sz="1400">
              <a:solidFill>
                <a:srgbClr val="3C3C3B"/>
              </a:solidFill>
              <a:latin typeface="Century Gothic"/>
              <a:ea typeface="Century Gothic"/>
              <a:cs typeface="Century Gothic"/>
              <a:sym typeface="Century Gothic"/>
            </a:endParaRPr>
          </a:p>
        </p:txBody>
      </p:sp>
      <p:sp>
        <p:nvSpPr>
          <p:cNvPr id="6383" name="Google Shape;6383;p353"/>
          <p:cNvSpPr/>
          <p:nvPr/>
        </p:nvSpPr>
        <p:spPr>
          <a:xfrm rot="5400000">
            <a:off x="2085244" y="2780443"/>
            <a:ext cx="95758" cy="63500"/>
          </a:xfrm>
          <a:prstGeom prst="triangle">
            <a:avLst>
              <a:gd fmla="val 50000" name="adj"/>
            </a:avLst>
          </a:prstGeom>
          <a:solidFill>
            <a:schemeClr val="accent3"/>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6384" name="Google Shape;6384;p353"/>
          <p:cNvSpPr/>
          <p:nvPr/>
        </p:nvSpPr>
        <p:spPr>
          <a:xfrm rot="5400000">
            <a:off x="3737143" y="2780443"/>
            <a:ext cx="95758" cy="63500"/>
          </a:xfrm>
          <a:prstGeom prst="triangle">
            <a:avLst>
              <a:gd fmla="val 50000" name="adj"/>
            </a:avLst>
          </a:prstGeom>
          <a:solidFill>
            <a:schemeClr val="accent3"/>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6385" name="Google Shape;6385;p353">
            <a:hlinkClick action="ppaction://hlinksldjump" r:id="rId11"/>
          </p:cNvPr>
          <p:cNvSpPr/>
          <p:nvPr/>
        </p:nvSpPr>
        <p:spPr>
          <a:xfrm>
            <a:off x="5394094" y="2497193"/>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Multivariate Testing</a:t>
            </a:r>
            <a:endParaRPr/>
          </a:p>
        </p:txBody>
      </p:sp>
      <p:sp>
        <p:nvSpPr>
          <p:cNvPr id="6386" name="Google Shape;6386;p353"/>
          <p:cNvSpPr/>
          <p:nvPr/>
        </p:nvSpPr>
        <p:spPr>
          <a:xfrm rot="5400000">
            <a:off x="5386384" y="2791570"/>
            <a:ext cx="95758" cy="63500"/>
          </a:xfrm>
          <a:prstGeom prst="triangle">
            <a:avLst>
              <a:gd fmla="val 50000" name="adj"/>
            </a:avLst>
          </a:prstGeom>
          <a:solidFill>
            <a:schemeClr val="accent3"/>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6387" name="Google Shape;6387;p353">
            <a:hlinkClick action="ppaction://hlinksldjump" r:id="rId12"/>
          </p:cNvPr>
          <p:cNvSpPr/>
          <p:nvPr/>
        </p:nvSpPr>
        <p:spPr>
          <a:xfrm>
            <a:off x="620491" y="3239521"/>
            <a:ext cx="1395519" cy="630001"/>
          </a:xfrm>
          <a:prstGeom prst="homePlate">
            <a:avLst>
              <a:gd fmla="val 7540" name="adj"/>
            </a:avLst>
          </a:prstGeom>
          <a:solidFill>
            <a:schemeClr val="accent4"/>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rgbClr val="FFFFFF"/>
                </a:solidFill>
                <a:latin typeface="Century Gothic"/>
                <a:ea typeface="Century Gothic"/>
                <a:cs typeface="Century Gothic"/>
                <a:sym typeface="Century Gothic"/>
              </a:rPr>
              <a:t>Product Introduction</a:t>
            </a:r>
            <a:endParaRPr sz="1100">
              <a:solidFill>
                <a:srgbClr val="FFFFFF"/>
              </a:solidFill>
              <a:latin typeface="Century Gothic"/>
              <a:ea typeface="Century Gothic"/>
              <a:cs typeface="Century Gothic"/>
              <a:sym typeface="Century Gothic"/>
            </a:endParaRPr>
          </a:p>
        </p:txBody>
      </p:sp>
      <p:sp>
        <p:nvSpPr>
          <p:cNvPr id="6388" name="Google Shape;6388;p353">
            <a:hlinkClick action="ppaction://hlinksldjump" r:id="rId13"/>
          </p:cNvPr>
          <p:cNvSpPr/>
          <p:nvPr/>
        </p:nvSpPr>
        <p:spPr>
          <a:xfrm>
            <a:off x="2101372" y="3239521"/>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Competitor Analysis</a:t>
            </a:r>
            <a:endParaRPr/>
          </a:p>
        </p:txBody>
      </p:sp>
      <p:sp>
        <p:nvSpPr>
          <p:cNvPr id="6389" name="Google Shape;6389;p353"/>
          <p:cNvSpPr/>
          <p:nvPr/>
        </p:nvSpPr>
        <p:spPr>
          <a:xfrm rot="5400000">
            <a:off x="2085243" y="3522771"/>
            <a:ext cx="95758" cy="63500"/>
          </a:xfrm>
          <a:prstGeom prst="triangle">
            <a:avLst>
              <a:gd fmla="val 50000" name="adj"/>
            </a:avLst>
          </a:prstGeom>
          <a:solidFill>
            <a:schemeClr val="accent3"/>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6390" name="Google Shape;6390;p353">
            <a:hlinkClick action="ppaction://hlinksldjump" r:id="rId14"/>
          </p:cNvPr>
          <p:cNvSpPr/>
          <p:nvPr/>
        </p:nvSpPr>
        <p:spPr>
          <a:xfrm>
            <a:off x="6515100" y="-196501"/>
            <a:ext cx="2777392" cy="378533"/>
          </a:xfrm>
          <a:prstGeom prst="roundRect">
            <a:avLst>
              <a:gd fmla="val 50000" name="adj"/>
            </a:avLst>
          </a:prstGeom>
          <a:solidFill>
            <a:schemeClr val="accent1"/>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Product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5" name="Shape 6395"/>
        <p:cNvGrpSpPr/>
        <p:nvPr/>
      </p:nvGrpSpPr>
      <p:grpSpPr>
        <a:xfrm>
          <a:off x="0" y="0"/>
          <a:ext cx="0" cy="0"/>
          <a:chOff x="0" y="0"/>
          <a:chExt cx="0" cy="0"/>
        </a:xfrm>
      </p:grpSpPr>
      <p:sp>
        <p:nvSpPr>
          <p:cNvPr id="6396" name="Google Shape;6396;p354"/>
          <p:cNvSpPr/>
          <p:nvPr/>
        </p:nvSpPr>
        <p:spPr>
          <a:xfrm>
            <a:off x="459950" y="1187449"/>
            <a:ext cx="8223249" cy="3511551"/>
          </a:xfrm>
          <a:prstGeom prst="roundRect">
            <a:avLst>
              <a:gd fmla="val 2069" name="adj"/>
            </a:avLst>
          </a:prstGeom>
          <a:solidFill>
            <a:srgbClr val="FFFFFF"/>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6397" name="Google Shape;6397;p354"/>
          <p:cNvSpPr/>
          <p:nvPr/>
        </p:nvSpPr>
        <p:spPr>
          <a:xfrm rot="5400000">
            <a:off x="9041570" y="2147731"/>
            <a:ext cx="1762241" cy="112328"/>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rgbClr val="FFFFFF"/>
                </a:solidFill>
                <a:latin typeface="Century Gothic"/>
                <a:ea typeface="Century Gothic"/>
                <a:cs typeface="Century Gothic"/>
                <a:sym typeface="Century Gothic"/>
              </a:rPr>
              <a:t>Spacer</a:t>
            </a:r>
            <a:endParaRPr/>
          </a:p>
        </p:txBody>
      </p:sp>
      <p:sp>
        <p:nvSpPr>
          <p:cNvPr id="6398" name="Google Shape;6398;p354"/>
          <p:cNvSpPr txBox="1"/>
          <p:nvPr>
            <p:ph idx="1" type="body"/>
          </p:nvPr>
        </p:nvSpPr>
        <p:spPr>
          <a:xfrm>
            <a:off x="3297994" y="4943703"/>
            <a:ext cx="2548012" cy="106186"/>
          </a:xfrm>
          <a:prstGeom prst="rect">
            <a:avLst/>
          </a:prstGeom>
          <a:noFill/>
          <a:ln>
            <a:noFill/>
          </a:ln>
        </p:spPr>
        <p:txBody>
          <a:bodyPr anchorCtr="0" anchor="t" bIns="0" lIns="0" spcFirstLastPara="1" rIns="0" wrap="square" tIns="0">
            <a:noAutofit/>
          </a:bodyPr>
          <a:lstStyle/>
          <a:p>
            <a:pPr indent="0" lvl="0" marL="0" rtl="0" algn="ctr">
              <a:lnSpc>
                <a:spcPct val="85000"/>
              </a:lnSpc>
              <a:spcBef>
                <a:spcPts val="0"/>
              </a:spcBef>
              <a:spcAft>
                <a:spcPts val="0"/>
              </a:spcAft>
              <a:buClr>
                <a:srgbClr val="4FB0FF"/>
              </a:buClr>
              <a:buSzPts val="700"/>
              <a:buFont typeface="Century Gothic"/>
              <a:buNone/>
            </a:pPr>
            <a:r>
              <a:t/>
            </a:r>
            <a:endParaRPr/>
          </a:p>
        </p:txBody>
      </p:sp>
      <p:sp>
        <p:nvSpPr>
          <p:cNvPr id="6399" name="Google Shape;6399;p354">
            <a:hlinkClick action="ppaction://hlinksldjump" r:id="rId3"/>
          </p:cNvPr>
          <p:cNvSpPr/>
          <p:nvPr/>
        </p:nvSpPr>
        <p:spPr>
          <a:xfrm>
            <a:off x="5383981" y="1754864"/>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100">
                <a:solidFill>
                  <a:schemeClr val="dk1"/>
                </a:solidFill>
                <a:latin typeface="Century Gothic"/>
                <a:ea typeface="Century Gothic"/>
                <a:cs typeface="Century Gothic"/>
                <a:sym typeface="Century Gothic"/>
              </a:rPr>
              <a:t>Credit Risk Models for New Lending Customers</a:t>
            </a:r>
            <a:endParaRPr sz="800">
              <a:solidFill>
                <a:schemeClr val="dk1"/>
              </a:solidFill>
              <a:latin typeface="Century Gothic"/>
              <a:ea typeface="Century Gothic"/>
              <a:cs typeface="Century Gothic"/>
              <a:sym typeface="Century Gothic"/>
            </a:endParaRPr>
          </a:p>
        </p:txBody>
      </p:sp>
      <p:sp>
        <p:nvSpPr>
          <p:cNvPr id="6400" name="Google Shape;6400;p354">
            <a:hlinkClick action="ppaction://hlinksldjump" r:id="rId4"/>
          </p:cNvPr>
          <p:cNvSpPr/>
          <p:nvPr/>
        </p:nvSpPr>
        <p:spPr>
          <a:xfrm>
            <a:off x="3750670" y="1754864"/>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100">
                <a:solidFill>
                  <a:schemeClr val="dk1"/>
                </a:solidFill>
                <a:latin typeface="Century Gothic"/>
                <a:ea typeface="Century Gothic"/>
                <a:cs typeface="Century Gothic"/>
                <a:sym typeface="Century Gothic"/>
              </a:rPr>
              <a:t>Behavioral-Based Pricing with Telematics Data</a:t>
            </a:r>
            <a:endParaRPr sz="800">
              <a:solidFill>
                <a:schemeClr val="dk1"/>
              </a:solidFill>
              <a:latin typeface="Century Gothic"/>
              <a:ea typeface="Century Gothic"/>
              <a:cs typeface="Century Gothic"/>
              <a:sym typeface="Century Gothic"/>
            </a:endParaRPr>
          </a:p>
        </p:txBody>
      </p:sp>
      <p:sp>
        <p:nvSpPr>
          <p:cNvPr id="6401" name="Google Shape;6401;p354">
            <a:hlinkClick action="ppaction://hlinksldjump" r:id="rId5"/>
          </p:cNvPr>
          <p:cNvSpPr/>
          <p:nvPr/>
        </p:nvSpPr>
        <p:spPr>
          <a:xfrm>
            <a:off x="2105690" y="1754864"/>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90000">
            <a:noAutofit/>
          </a:bodyPr>
          <a:lstStyle/>
          <a:p>
            <a:pPr indent="0" lvl="0" marL="0" marR="0" rtl="0" algn="ctr">
              <a:lnSpc>
                <a:spcPct val="95000"/>
              </a:lnSpc>
              <a:spcBef>
                <a:spcPts val="0"/>
              </a:spcBef>
              <a:spcAft>
                <a:spcPts val="0"/>
              </a:spcAft>
              <a:buNone/>
            </a:pPr>
            <a:r>
              <a:rPr lang="en-GB" sz="1100">
                <a:solidFill>
                  <a:schemeClr val="dk1"/>
                </a:solidFill>
                <a:latin typeface="Century Gothic"/>
                <a:ea typeface="Century Gothic"/>
                <a:cs typeface="Century Gothic"/>
                <a:sym typeface="Century Gothic"/>
              </a:rPr>
              <a:t>Advanced Risk &amp; Pricing Insights</a:t>
            </a:r>
            <a:endParaRPr sz="1100">
              <a:solidFill>
                <a:schemeClr val="dk1"/>
              </a:solidFill>
              <a:latin typeface="Century Gothic"/>
              <a:ea typeface="Century Gothic"/>
              <a:cs typeface="Century Gothic"/>
              <a:sym typeface="Century Gothic"/>
            </a:endParaRPr>
          </a:p>
        </p:txBody>
      </p:sp>
      <p:sp>
        <p:nvSpPr>
          <p:cNvPr id="6402" name="Google Shape;6402;p354">
            <a:hlinkClick action="ppaction://hlinksldjump" r:id="rId6"/>
          </p:cNvPr>
          <p:cNvSpPr/>
          <p:nvPr/>
        </p:nvSpPr>
        <p:spPr>
          <a:xfrm>
            <a:off x="612350" y="1754865"/>
            <a:ext cx="1395519" cy="629999"/>
          </a:xfrm>
          <a:prstGeom prst="homePlate">
            <a:avLst>
              <a:gd fmla="val 7540" name="adj"/>
            </a:avLst>
          </a:prstGeom>
          <a:solidFill>
            <a:schemeClr val="accent4"/>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rgbClr val="FFFFFF"/>
                </a:solidFill>
                <a:latin typeface="Century Gothic"/>
                <a:ea typeface="Century Gothic"/>
                <a:cs typeface="Century Gothic"/>
                <a:sym typeface="Century Gothic"/>
              </a:rPr>
              <a:t>Price and Promotion</a:t>
            </a:r>
            <a:endParaRPr sz="1100">
              <a:solidFill>
                <a:srgbClr val="FFFFFF"/>
              </a:solidFill>
              <a:latin typeface="Century Gothic"/>
              <a:ea typeface="Century Gothic"/>
              <a:cs typeface="Century Gothic"/>
              <a:sym typeface="Century Gothic"/>
            </a:endParaRPr>
          </a:p>
        </p:txBody>
      </p:sp>
      <p:grpSp>
        <p:nvGrpSpPr>
          <p:cNvPr id="6403" name="Google Shape;6403;p354"/>
          <p:cNvGrpSpPr/>
          <p:nvPr/>
        </p:nvGrpSpPr>
        <p:grpSpPr>
          <a:xfrm>
            <a:off x="2093107" y="1344189"/>
            <a:ext cx="281520" cy="241973"/>
            <a:chOff x="5652748" y="4066000"/>
            <a:chExt cx="906498" cy="747974"/>
          </a:xfrm>
        </p:grpSpPr>
        <p:sp>
          <p:nvSpPr>
            <p:cNvPr id="6404" name="Google Shape;6404;p354"/>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6405" name="Google Shape;6405;p354"/>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6406" name="Google Shape;6406;p354"/>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sp>
        <p:nvSpPr>
          <p:cNvPr id="6407" name="Google Shape;6407;p354"/>
          <p:cNvSpPr/>
          <p:nvPr/>
        </p:nvSpPr>
        <p:spPr>
          <a:xfrm rot="5400000">
            <a:off x="5367852" y="2067444"/>
            <a:ext cx="95758" cy="63500"/>
          </a:xfrm>
          <a:prstGeom prst="triangle">
            <a:avLst>
              <a:gd fmla="val 50000" name="adj"/>
            </a:avLst>
          </a:prstGeom>
          <a:solidFill>
            <a:schemeClr val="accent3"/>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6408" name="Google Shape;6408;p354"/>
          <p:cNvSpPr/>
          <p:nvPr/>
        </p:nvSpPr>
        <p:spPr>
          <a:xfrm rot="5400000">
            <a:off x="2099673" y="2067443"/>
            <a:ext cx="95758" cy="63500"/>
          </a:xfrm>
          <a:prstGeom prst="triangle">
            <a:avLst>
              <a:gd fmla="val 50000" name="adj"/>
            </a:avLst>
          </a:prstGeom>
          <a:solidFill>
            <a:schemeClr val="accent3"/>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6409" name="Google Shape;6409;p354"/>
          <p:cNvSpPr/>
          <p:nvPr/>
        </p:nvSpPr>
        <p:spPr>
          <a:xfrm rot="5400000">
            <a:off x="3730050" y="2067444"/>
            <a:ext cx="95758" cy="63500"/>
          </a:xfrm>
          <a:prstGeom prst="triangle">
            <a:avLst>
              <a:gd fmla="val 50000" name="adj"/>
            </a:avLst>
          </a:prstGeom>
          <a:solidFill>
            <a:schemeClr val="accent3"/>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6410" name="Google Shape;6410;p354"/>
          <p:cNvSpPr txBox="1"/>
          <p:nvPr>
            <p:ph type="title"/>
          </p:nvPr>
        </p:nvSpPr>
        <p:spPr>
          <a:xfrm>
            <a:off x="498912" y="81282"/>
            <a:ext cx="8229600" cy="526298"/>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Product Management Business Value Framework</a:t>
            </a:r>
            <a:endParaRPr/>
          </a:p>
        </p:txBody>
      </p:sp>
      <p:sp>
        <p:nvSpPr>
          <p:cNvPr id="6411" name="Google Shape;6411;p354"/>
          <p:cNvSpPr/>
          <p:nvPr/>
        </p:nvSpPr>
        <p:spPr>
          <a:xfrm>
            <a:off x="2073748" y="1284265"/>
            <a:ext cx="6062954" cy="360000"/>
          </a:xfrm>
          <a:prstGeom prst="rect">
            <a:avLst/>
          </a:prstGeom>
          <a:noFill/>
          <a:ln>
            <a:noFill/>
          </a:ln>
        </p:spPr>
        <p:txBody>
          <a:bodyPr anchorCtr="0" anchor="ctr" bIns="91425" lIns="36000" spcFirstLastPara="1" rIns="36000" wrap="square" tIns="91425">
            <a:noAutofit/>
          </a:bodyPr>
          <a:lstStyle/>
          <a:p>
            <a:pPr indent="0" lvl="0" marL="0" marR="0" rtl="0" algn="ctr">
              <a:spcBef>
                <a:spcPts val="0"/>
              </a:spcBef>
              <a:spcAft>
                <a:spcPts val="0"/>
              </a:spcAft>
              <a:buNone/>
            </a:pPr>
            <a:r>
              <a:rPr lang="en-GB" sz="1400">
                <a:solidFill>
                  <a:srgbClr val="3C3C3B"/>
                </a:solidFill>
                <a:latin typeface="Century Gothic"/>
                <a:ea typeface="Century Gothic"/>
                <a:cs typeface="Century Gothic"/>
                <a:sym typeface="Century Gothic"/>
              </a:rPr>
              <a:t>Analytics Use Cases</a:t>
            </a:r>
            <a:endParaRPr sz="1400">
              <a:solidFill>
                <a:srgbClr val="3C3C3B"/>
              </a:solidFill>
              <a:latin typeface="Century Gothic"/>
              <a:ea typeface="Century Gothic"/>
              <a:cs typeface="Century Gothic"/>
              <a:sym typeface="Century Gothic"/>
            </a:endParaRPr>
          </a:p>
        </p:txBody>
      </p:sp>
      <p:sp>
        <p:nvSpPr>
          <p:cNvPr id="6412" name="Google Shape;6412;p354"/>
          <p:cNvSpPr/>
          <p:nvPr/>
        </p:nvSpPr>
        <p:spPr>
          <a:xfrm>
            <a:off x="675207" y="-227494"/>
            <a:ext cx="1762241" cy="112328"/>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rgbClr val="FFFFFF"/>
                </a:solidFill>
                <a:latin typeface="Century Gothic"/>
                <a:ea typeface="Century Gothic"/>
                <a:cs typeface="Century Gothic"/>
                <a:sym typeface="Century Gothic"/>
              </a:rPr>
              <a:t>Spacer</a:t>
            </a:r>
            <a:endParaRPr/>
          </a:p>
        </p:txBody>
      </p:sp>
      <p:sp>
        <p:nvSpPr>
          <p:cNvPr id="6413" name="Google Shape;6413;p354">
            <a:hlinkClick action="ppaction://hlinksldjump" r:id="rId7"/>
          </p:cNvPr>
          <p:cNvSpPr/>
          <p:nvPr/>
        </p:nvSpPr>
        <p:spPr>
          <a:xfrm>
            <a:off x="612349" y="2459864"/>
            <a:ext cx="1395519" cy="630000"/>
          </a:xfrm>
          <a:prstGeom prst="homePlate">
            <a:avLst>
              <a:gd fmla="val 7540" name="adj"/>
            </a:avLst>
          </a:prstGeom>
          <a:solidFill>
            <a:schemeClr val="accent4"/>
          </a:solidFill>
          <a:ln>
            <a:noFill/>
          </a:ln>
          <a:effectLst>
            <a:outerShdw blurRad="50800" rotWithShape="0" algn="tl" dir="2700000" dist="38100">
              <a:srgbClr val="000000">
                <a:alpha val="40000"/>
              </a:srgbClr>
            </a:outerShdw>
          </a:effectLst>
        </p:spPr>
        <p:txBody>
          <a:bodyPr anchorCtr="0" anchor="ctr" bIns="91425" lIns="36000" spcFirstLastPara="1" rIns="36000" wrap="square" tIns="91425">
            <a:noAutofit/>
          </a:bodyPr>
          <a:lstStyle/>
          <a:p>
            <a:pPr indent="0" lvl="0" marL="0" marR="0" rtl="0" algn="ctr">
              <a:spcBef>
                <a:spcPts val="0"/>
              </a:spcBef>
              <a:spcAft>
                <a:spcPts val="0"/>
              </a:spcAft>
              <a:buNone/>
            </a:pPr>
            <a:r>
              <a:rPr lang="en-GB" sz="1100">
                <a:solidFill>
                  <a:srgbClr val="FFFFFF"/>
                </a:solidFill>
                <a:latin typeface="Century Gothic"/>
                <a:ea typeface="Century Gothic"/>
                <a:cs typeface="Century Gothic"/>
                <a:sym typeface="Century Gothic"/>
              </a:rPr>
              <a:t>Product Performance</a:t>
            </a:r>
            <a:endParaRPr sz="1100">
              <a:solidFill>
                <a:srgbClr val="FFFFFF"/>
              </a:solidFill>
              <a:latin typeface="Century Gothic"/>
              <a:ea typeface="Century Gothic"/>
              <a:cs typeface="Century Gothic"/>
              <a:sym typeface="Century Gothic"/>
            </a:endParaRPr>
          </a:p>
        </p:txBody>
      </p:sp>
      <p:sp>
        <p:nvSpPr>
          <p:cNvPr id="6414" name="Google Shape;6414;p354">
            <a:hlinkClick action="ppaction://hlinksldjump" r:id="rId8"/>
          </p:cNvPr>
          <p:cNvSpPr/>
          <p:nvPr/>
        </p:nvSpPr>
        <p:spPr>
          <a:xfrm>
            <a:off x="2107288" y="2477312"/>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126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Understanding Sales Across All Channels</a:t>
            </a:r>
            <a:endParaRPr sz="1000">
              <a:solidFill>
                <a:schemeClr val="dk1"/>
              </a:solidFill>
              <a:latin typeface="Century Gothic"/>
              <a:ea typeface="Century Gothic"/>
              <a:cs typeface="Century Gothic"/>
              <a:sym typeface="Century Gothic"/>
            </a:endParaRPr>
          </a:p>
        </p:txBody>
      </p:sp>
      <p:sp>
        <p:nvSpPr>
          <p:cNvPr id="6415" name="Google Shape;6415;p354"/>
          <p:cNvSpPr/>
          <p:nvPr/>
        </p:nvSpPr>
        <p:spPr>
          <a:xfrm rot="5400000">
            <a:off x="2090903" y="2739772"/>
            <a:ext cx="95758" cy="63500"/>
          </a:xfrm>
          <a:prstGeom prst="triangle">
            <a:avLst>
              <a:gd fmla="val 50000" name="adj"/>
            </a:avLst>
          </a:prstGeom>
          <a:solidFill>
            <a:schemeClr val="accent3"/>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6416" name="Google Shape;6416;p354">
            <a:hlinkClick action="ppaction://hlinksldjump" r:id="rId9"/>
          </p:cNvPr>
          <p:cNvSpPr/>
          <p:nvPr/>
        </p:nvSpPr>
        <p:spPr>
          <a:xfrm>
            <a:off x="3746179" y="2477312"/>
            <a:ext cx="1521321" cy="630000"/>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36000" spcFirstLastPara="1" rIns="36000" wrap="square" tIns="126000">
            <a:noAutofit/>
          </a:bodyPr>
          <a:lstStyle/>
          <a:p>
            <a:pPr indent="0" lvl="0" marL="0" marR="0" rtl="0" algn="ctr">
              <a:lnSpc>
                <a:spcPct val="95000"/>
              </a:lnSpc>
              <a:spcBef>
                <a:spcPts val="0"/>
              </a:spcBef>
              <a:spcAft>
                <a:spcPts val="0"/>
              </a:spcAft>
              <a:buNone/>
            </a:pPr>
            <a:r>
              <a:rPr lang="en-GB" sz="1000">
                <a:solidFill>
                  <a:schemeClr val="dk1"/>
                </a:solidFill>
                <a:latin typeface="Century Gothic"/>
                <a:ea typeface="Century Gothic"/>
                <a:cs typeface="Century Gothic"/>
                <a:sym typeface="Century Gothic"/>
              </a:rPr>
              <a:t>Portfolio Benchmarks</a:t>
            </a:r>
            <a:endParaRPr/>
          </a:p>
        </p:txBody>
      </p:sp>
      <p:sp>
        <p:nvSpPr>
          <p:cNvPr id="6417" name="Google Shape;6417;p354"/>
          <p:cNvSpPr/>
          <p:nvPr/>
        </p:nvSpPr>
        <p:spPr>
          <a:xfrm rot="5400000">
            <a:off x="3733178" y="2743114"/>
            <a:ext cx="95758" cy="63500"/>
          </a:xfrm>
          <a:prstGeom prst="triangle">
            <a:avLst>
              <a:gd fmla="val 50000" name="adj"/>
            </a:avLst>
          </a:prstGeom>
          <a:solidFill>
            <a:schemeClr val="accent3"/>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6418" name="Google Shape;6418;p354">
            <a:hlinkClick action="ppaction://hlinksldjump" r:id="rId10"/>
          </p:cNvPr>
          <p:cNvSpPr/>
          <p:nvPr/>
        </p:nvSpPr>
        <p:spPr>
          <a:xfrm flipH="1" rot="5400000">
            <a:off x="5064095" y="793575"/>
            <a:ext cx="202919" cy="594235"/>
          </a:xfrm>
          <a:prstGeom prst="homePlat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9" name="Google Shape;6419;p354"/>
          <p:cNvSpPr txBox="1"/>
          <p:nvPr/>
        </p:nvSpPr>
        <p:spPr>
          <a:xfrm flipH="1">
            <a:off x="4868417" y="1039963"/>
            <a:ext cx="594235" cy="152189"/>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rgbClr val="FFFFFF"/>
                </a:solidFill>
                <a:latin typeface="Century Gothic"/>
                <a:ea typeface="Century Gothic"/>
                <a:cs typeface="Century Gothic"/>
                <a:sym typeface="Century Gothic"/>
              </a:rPr>
              <a:t>2 of 2</a:t>
            </a:r>
            <a:endParaRPr sz="800">
              <a:solidFill>
                <a:srgbClr val="FFFFFF"/>
              </a:solidFill>
              <a:latin typeface="Century Gothic"/>
              <a:ea typeface="Century Gothic"/>
              <a:cs typeface="Century Gothic"/>
              <a:sym typeface="Century Gothic"/>
            </a:endParaRPr>
          </a:p>
        </p:txBody>
      </p:sp>
      <p:sp>
        <p:nvSpPr>
          <p:cNvPr id="6420" name="Google Shape;6420;p354">
            <a:hlinkClick action="ppaction://hlinksldjump" r:id="rId11"/>
          </p:cNvPr>
          <p:cNvSpPr/>
          <p:nvPr/>
        </p:nvSpPr>
        <p:spPr>
          <a:xfrm>
            <a:off x="6515100" y="-196501"/>
            <a:ext cx="2777392" cy="378533"/>
          </a:xfrm>
          <a:prstGeom prst="roundRect">
            <a:avLst>
              <a:gd fmla="val 50000" name="adj"/>
            </a:avLst>
          </a:prstGeom>
          <a:solidFill>
            <a:schemeClr val="accent1"/>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Product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4" name="Shape 6424"/>
        <p:cNvGrpSpPr/>
        <p:nvPr/>
      </p:nvGrpSpPr>
      <p:grpSpPr>
        <a:xfrm>
          <a:off x="0" y="0"/>
          <a:ext cx="0" cy="0"/>
          <a:chOff x="0" y="0"/>
          <a:chExt cx="0" cy="0"/>
        </a:xfrm>
      </p:grpSpPr>
      <p:sp>
        <p:nvSpPr>
          <p:cNvPr id="6425" name="Google Shape;6425;p355"/>
          <p:cNvSpPr txBox="1"/>
          <p:nvPr>
            <p:ph idx="1" type="body"/>
          </p:nvPr>
        </p:nvSpPr>
        <p:spPr>
          <a:xfrm>
            <a:off x="0" y="2354656"/>
            <a:ext cx="9144000" cy="434221"/>
          </a:xfrm>
          <a:prstGeom prst="rect">
            <a:avLst/>
          </a:prstGeom>
          <a:solidFill>
            <a:schemeClr val="lt1"/>
          </a:solidFill>
          <a:ln>
            <a:noFill/>
          </a:ln>
        </p:spPr>
        <p:txBody>
          <a:bodyPr anchorCtr="1" anchor="ctr" bIns="45700" lIns="457200" spcFirstLastPara="1" rIns="457200" wrap="square" tIns="45700">
            <a:noAutofit/>
          </a:bodyPr>
          <a:lstStyle/>
          <a:p>
            <a:pPr indent="0" lvl="0" marL="0" rtl="0" algn="ctr">
              <a:lnSpc>
                <a:spcPct val="110000"/>
              </a:lnSpc>
              <a:spcBef>
                <a:spcPts val="0"/>
              </a:spcBef>
              <a:spcAft>
                <a:spcPts val="0"/>
              </a:spcAft>
              <a:buClr>
                <a:schemeClr val="accent1"/>
              </a:buClr>
              <a:buSzPts val="2200"/>
              <a:buFont typeface="Century Gothic"/>
              <a:buNone/>
            </a:pPr>
            <a:r>
              <a:rPr lang="en-GB"/>
              <a:t>Product Management Introduction</a:t>
            </a:r>
            <a:endParaRPr/>
          </a:p>
        </p:txBody>
      </p:sp>
      <p:sp>
        <p:nvSpPr>
          <p:cNvPr id="6426" name="Google Shape;6426;p355"/>
          <p:cNvSpPr txBox="1"/>
          <p:nvPr>
            <p:ph idx="2" type="body"/>
          </p:nvPr>
        </p:nvSpPr>
        <p:spPr>
          <a:xfrm>
            <a:off x="3242535" y="4855464"/>
            <a:ext cx="2658930" cy="106186"/>
          </a:xfrm>
          <a:prstGeom prst="rect">
            <a:avLst/>
          </a:prstGeom>
          <a:noFill/>
          <a:ln>
            <a:noFill/>
          </a:ln>
        </p:spPr>
        <p:txBody>
          <a:bodyPr anchorCtr="0" anchor="t" bIns="0" lIns="0" spcFirstLastPara="1" rIns="0" wrap="square" tIns="0">
            <a:noAutofit/>
          </a:bodyPr>
          <a:lstStyle/>
          <a:p>
            <a:pPr indent="0" lvl="0" marL="0" rtl="0" algn="ctr">
              <a:lnSpc>
                <a:spcPct val="85000"/>
              </a:lnSpc>
              <a:spcBef>
                <a:spcPts val="0"/>
              </a:spcBef>
              <a:spcAft>
                <a:spcPts val="0"/>
              </a:spcAft>
              <a:buClr>
                <a:schemeClr val="lt1"/>
              </a:buClr>
              <a:buSzPts val="700"/>
              <a:buFont typeface="Century Gothic"/>
              <a:buNone/>
            </a:pPr>
            <a:r>
              <a:t/>
            </a:r>
            <a:endParaRPr/>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0" name="Shape 6430"/>
        <p:cNvGrpSpPr/>
        <p:nvPr/>
      </p:nvGrpSpPr>
      <p:grpSpPr>
        <a:xfrm>
          <a:off x="0" y="0"/>
          <a:ext cx="0" cy="0"/>
          <a:chOff x="0" y="0"/>
          <a:chExt cx="0" cy="0"/>
        </a:xfrm>
      </p:grpSpPr>
      <p:sp>
        <p:nvSpPr>
          <p:cNvPr id="6431" name="Google Shape;6431;p356"/>
          <p:cNvSpPr/>
          <p:nvPr/>
        </p:nvSpPr>
        <p:spPr>
          <a:xfrm>
            <a:off x="505609" y="736096"/>
            <a:ext cx="7767022" cy="3911208"/>
          </a:xfrm>
          <a:prstGeom prst="rect">
            <a:avLst/>
          </a:prstGeom>
          <a:solidFill>
            <a:srgbClr val="005AA4"/>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6432" name="Google Shape;6432;p356"/>
          <p:cNvSpPr txBox="1"/>
          <p:nvPr>
            <p:ph type="title"/>
          </p:nvPr>
        </p:nvSpPr>
        <p:spPr>
          <a:xfrm>
            <a:off x="457200" y="173736"/>
            <a:ext cx="8229600" cy="413639"/>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Products/Services Vary by Industry, Analytic Needs Differ Too</a:t>
            </a:r>
            <a:endParaRPr/>
          </a:p>
          <a:p>
            <a:r>
              <a:rPr sz="900">
                <a:solidFill>
                  <a:srgbClr val="006699"/>
                </a:solidFill>
              </a:rPr>
              <a:t>In banking, a 'product' encompasses: deposit accounts (CASA, term deposits), lending facilities (personal loans, home finance, corporate working capital), cards (debit, credit, prepaid), trade finance (LC, LG, SBLC), treasury products, digital services (mobile banking, RAAST), and Islamic equivalents (Murabaha, Ijarah, Diminishing Musharaka)</a:t>
            </a:r>
          </a:p>
        </p:txBody>
      </p:sp>
      <p:sp>
        <p:nvSpPr>
          <p:cNvPr id="6433" name="Google Shape;6433;p356"/>
          <p:cNvSpPr txBox="1"/>
          <p:nvPr>
            <p:ph idx="2" type="body"/>
          </p:nvPr>
        </p:nvSpPr>
        <p:spPr>
          <a:xfrm>
            <a:off x="3297994" y="4923703"/>
            <a:ext cx="2548012" cy="106186"/>
          </a:xfrm>
          <a:prstGeom prst="rect">
            <a:avLst/>
          </a:prstGeom>
          <a:noFill/>
          <a:ln>
            <a:noFill/>
          </a:ln>
        </p:spPr>
        <p:txBody>
          <a:bodyPr anchorCtr="0" anchor="t" bIns="0" lIns="0" spcFirstLastPara="1" rIns="0" wrap="square" tIns="0">
            <a:noAutofit/>
          </a:bodyPr>
          <a:lstStyle/>
          <a:p>
            <a:pPr indent="0" lvl="0" marL="0" rtl="0" algn="ctr">
              <a:lnSpc>
                <a:spcPct val="85000"/>
              </a:lnSpc>
              <a:spcBef>
                <a:spcPts val="0"/>
              </a:spcBef>
              <a:spcAft>
                <a:spcPts val="0"/>
              </a:spcAft>
              <a:buClr>
                <a:srgbClr val="4FB0FF"/>
              </a:buClr>
              <a:buSzPts val="700"/>
              <a:buFont typeface="Century Gothic"/>
              <a:buNone/>
            </a:pPr>
            <a:r>
              <a:t/>
            </a:r>
            <a:endParaRPr/>
          </a:p>
        </p:txBody>
      </p:sp>
      <p:pic>
        <p:nvPicPr>
          <p:cNvPr id="6434" name="Google Shape;6434;p356"/>
          <p:cNvPicPr preferRelativeResize="0"/>
          <p:nvPr/>
        </p:nvPicPr>
        <p:blipFill rotWithShape="1">
          <a:blip r:embed="rId3">
            <a:alphaModFix/>
          </a:blip>
          <a:srcRect b="0" l="0" r="0" t="0"/>
          <a:stretch/>
        </p:blipFill>
        <p:spPr>
          <a:xfrm>
            <a:off x="2561530" y="903642"/>
            <a:ext cx="1737360" cy="1115568"/>
          </a:xfrm>
          <a:prstGeom prst="rect">
            <a:avLst/>
          </a:prstGeom>
          <a:noFill/>
          <a:ln>
            <a:noFill/>
          </a:ln>
        </p:spPr>
      </p:pic>
      <p:pic>
        <p:nvPicPr>
          <p:cNvPr id="6435" name="Google Shape;6435;p356"/>
          <p:cNvPicPr preferRelativeResize="0"/>
          <p:nvPr/>
        </p:nvPicPr>
        <p:blipFill rotWithShape="1">
          <a:blip r:embed="rId4">
            <a:alphaModFix/>
          </a:blip>
          <a:srcRect b="0" l="0" r="0" t="0"/>
          <a:stretch/>
        </p:blipFill>
        <p:spPr>
          <a:xfrm>
            <a:off x="2559511" y="3405814"/>
            <a:ext cx="1737360" cy="1115568"/>
          </a:xfrm>
          <a:prstGeom prst="rect">
            <a:avLst/>
          </a:prstGeom>
          <a:noFill/>
          <a:ln>
            <a:noFill/>
          </a:ln>
        </p:spPr>
      </p:pic>
      <p:pic>
        <p:nvPicPr>
          <p:cNvPr id="6436" name="Google Shape;6436;p356"/>
          <p:cNvPicPr preferRelativeResize="0"/>
          <p:nvPr/>
        </p:nvPicPr>
        <p:blipFill rotWithShape="1">
          <a:blip r:embed="rId5">
            <a:alphaModFix/>
          </a:blip>
          <a:srcRect b="0" l="0" r="0" t="0"/>
          <a:stretch/>
        </p:blipFill>
        <p:spPr>
          <a:xfrm>
            <a:off x="2562990" y="2168083"/>
            <a:ext cx="1737360" cy="1115568"/>
          </a:xfrm>
          <a:prstGeom prst="rect">
            <a:avLst/>
          </a:prstGeom>
          <a:noFill/>
          <a:ln>
            <a:noFill/>
          </a:ln>
        </p:spPr>
      </p:pic>
      <p:pic>
        <p:nvPicPr>
          <p:cNvPr id="6437" name="Google Shape;6437;p356"/>
          <p:cNvPicPr preferRelativeResize="0"/>
          <p:nvPr/>
        </p:nvPicPr>
        <p:blipFill rotWithShape="1">
          <a:blip r:embed="rId6">
            <a:alphaModFix/>
          </a:blip>
          <a:srcRect b="0" l="0" r="0" t="0"/>
          <a:stretch/>
        </p:blipFill>
        <p:spPr>
          <a:xfrm>
            <a:off x="4477729" y="903642"/>
            <a:ext cx="1737442" cy="1118662"/>
          </a:xfrm>
          <a:prstGeom prst="rect">
            <a:avLst/>
          </a:prstGeom>
          <a:noFill/>
          <a:ln>
            <a:noFill/>
          </a:ln>
        </p:spPr>
      </p:pic>
      <p:pic>
        <p:nvPicPr>
          <p:cNvPr descr="Image result for drugs" id="6438" name="Google Shape;6438;p356">
            <a:hlinkClick r:id="rId7"/>
          </p:cNvPr>
          <p:cNvPicPr preferRelativeResize="0"/>
          <p:nvPr>
            <p:ph idx="1" type="body"/>
          </p:nvPr>
        </p:nvPicPr>
        <p:blipFill rotWithShape="1">
          <a:blip r:embed="rId8">
            <a:alphaModFix/>
          </a:blip>
          <a:srcRect b="0" l="0" r="0" t="0"/>
          <a:stretch/>
        </p:blipFill>
        <p:spPr>
          <a:xfrm>
            <a:off x="4464712" y="2168083"/>
            <a:ext cx="1737360" cy="1115568"/>
          </a:xfrm>
          <a:prstGeom prst="rect">
            <a:avLst/>
          </a:prstGeom>
          <a:noFill/>
          <a:ln>
            <a:noFill/>
          </a:ln>
        </p:spPr>
      </p:pic>
      <p:pic>
        <p:nvPicPr>
          <p:cNvPr descr="Image result for hotel room" id="6439" name="Google Shape;6439;p356">
            <a:hlinkClick r:id="rId9"/>
          </p:cNvPr>
          <p:cNvPicPr preferRelativeResize="0"/>
          <p:nvPr/>
        </p:nvPicPr>
        <p:blipFill rotWithShape="1">
          <a:blip r:embed="rId10">
            <a:alphaModFix/>
          </a:blip>
          <a:srcRect b="0" l="0" r="0" t="0"/>
          <a:stretch/>
        </p:blipFill>
        <p:spPr>
          <a:xfrm>
            <a:off x="688492" y="3405814"/>
            <a:ext cx="1737360" cy="1115568"/>
          </a:xfrm>
          <a:prstGeom prst="rect">
            <a:avLst/>
          </a:prstGeom>
          <a:noFill/>
          <a:ln>
            <a:noFill/>
          </a:ln>
        </p:spPr>
      </p:pic>
      <p:pic>
        <p:nvPicPr>
          <p:cNvPr id="6440" name="Google Shape;6440;p356"/>
          <p:cNvPicPr preferRelativeResize="0"/>
          <p:nvPr/>
        </p:nvPicPr>
        <p:blipFill rotWithShape="1">
          <a:blip r:embed="rId11">
            <a:alphaModFix/>
          </a:blip>
          <a:srcRect b="0" l="0" r="0" t="0"/>
          <a:stretch/>
        </p:blipFill>
        <p:spPr>
          <a:xfrm>
            <a:off x="4467163" y="3405814"/>
            <a:ext cx="1737360" cy="1115568"/>
          </a:xfrm>
          <a:prstGeom prst="rect">
            <a:avLst/>
          </a:prstGeom>
          <a:noFill/>
          <a:ln>
            <a:noFill/>
          </a:ln>
        </p:spPr>
      </p:pic>
      <p:pic>
        <p:nvPicPr>
          <p:cNvPr id="6441" name="Google Shape;6441;p356"/>
          <p:cNvPicPr preferRelativeResize="0"/>
          <p:nvPr/>
        </p:nvPicPr>
        <p:blipFill rotWithShape="1">
          <a:blip r:embed="rId12">
            <a:alphaModFix/>
          </a:blip>
          <a:srcRect b="0" l="19091" r="19090" t="0"/>
          <a:stretch/>
        </p:blipFill>
        <p:spPr>
          <a:xfrm>
            <a:off x="6366434" y="3405814"/>
            <a:ext cx="1737360" cy="1115568"/>
          </a:xfrm>
          <a:prstGeom prst="rect">
            <a:avLst/>
          </a:prstGeom>
          <a:noFill/>
          <a:ln>
            <a:noFill/>
          </a:ln>
        </p:spPr>
      </p:pic>
      <p:pic>
        <p:nvPicPr>
          <p:cNvPr id="6442" name="Google Shape;6442;p356"/>
          <p:cNvPicPr preferRelativeResize="0"/>
          <p:nvPr/>
        </p:nvPicPr>
        <p:blipFill rotWithShape="1">
          <a:blip r:embed="rId13">
            <a:alphaModFix/>
          </a:blip>
          <a:srcRect b="0" l="0" r="0" t="0"/>
          <a:stretch/>
        </p:blipFill>
        <p:spPr>
          <a:xfrm>
            <a:off x="661268" y="2168083"/>
            <a:ext cx="1737360" cy="1115568"/>
          </a:xfrm>
          <a:prstGeom prst="rect">
            <a:avLst/>
          </a:prstGeom>
          <a:noFill/>
          <a:ln>
            <a:noFill/>
          </a:ln>
        </p:spPr>
      </p:pic>
      <p:pic>
        <p:nvPicPr>
          <p:cNvPr id="6443" name="Google Shape;6443;p356"/>
          <p:cNvPicPr preferRelativeResize="0"/>
          <p:nvPr/>
        </p:nvPicPr>
        <p:blipFill rotWithShape="1">
          <a:blip r:embed="rId14">
            <a:alphaModFix/>
          </a:blip>
          <a:srcRect b="0" l="0" r="0" t="0"/>
          <a:stretch/>
        </p:blipFill>
        <p:spPr>
          <a:xfrm>
            <a:off x="6366435" y="903642"/>
            <a:ext cx="1737360" cy="1115568"/>
          </a:xfrm>
          <a:prstGeom prst="rect">
            <a:avLst/>
          </a:prstGeom>
          <a:noFill/>
          <a:ln>
            <a:noFill/>
          </a:ln>
        </p:spPr>
      </p:pic>
      <p:pic>
        <p:nvPicPr>
          <p:cNvPr descr="Image result for web site" id="6444" name="Google Shape;6444;p356">
            <a:hlinkClick r:id="rId15"/>
          </p:cNvPr>
          <p:cNvPicPr preferRelativeResize="0"/>
          <p:nvPr/>
        </p:nvPicPr>
        <p:blipFill rotWithShape="1">
          <a:blip r:embed="rId16">
            <a:alphaModFix/>
          </a:blip>
          <a:srcRect b="0" l="0" r="0" t="0"/>
          <a:stretch/>
        </p:blipFill>
        <p:spPr>
          <a:xfrm>
            <a:off x="6366433" y="2168083"/>
            <a:ext cx="1737360" cy="1115568"/>
          </a:xfrm>
          <a:prstGeom prst="rect">
            <a:avLst/>
          </a:prstGeom>
          <a:noFill/>
          <a:ln>
            <a:noFill/>
          </a:ln>
        </p:spPr>
      </p:pic>
      <p:pic>
        <p:nvPicPr>
          <p:cNvPr descr="Image result for checkbook, credit card and loan" id="6445" name="Google Shape;6445;p356">
            <a:hlinkClick r:id="rId17"/>
          </p:cNvPr>
          <p:cNvPicPr preferRelativeResize="0"/>
          <p:nvPr/>
        </p:nvPicPr>
        <p:blipFill rotWithShape="1">
          <a:blip r:embed="rId18">
            <a:alphaModFix/>
          </a:blip>
          <a:srcRect b="0" l="0" r="0" t="0"/>
          <a:stretch/>
        </p:blipFill>
        <p:spPr>
          <a:xfrm>
            <a:off x="688492" y="906736"/>
            <a:ext cx="1737360" cy="1115568"/>
          </a:xfrm>
          <a:prstGeom prst="rect">
            <a:avLst/>
          </a:prstGeom>
          <a:noFill/>
          <a:ln>
            <a:noFill/>
          </a:ln>
        </p:spPr>
      </p:pic>
      <p:sp>
        <p:nvSpPr>
          <p:cNvPr id="6446" name="Google Shape;6446;p356">
            <a:hlinkClick action="ppaction://hlinksldjump" r:id="rId19"/>
          </p:cNvPr>
          <p:cNvSpPr/>
          <p:nvPr/>
        </p:nvSpPr>
        <p:spPr>
          <a:xfrm>
            <a:off x="6515100" y="-196501"/>
            <a:ext cx="2777392" cy="378533"/>
          </a:xfrm>
          <a:prstGeom prst="roundRect">
            <a:avLst>
              <a:gd fmla="val 50000" name="adj"/>
            </a:avLst>
          </a:prstGeom>
          <a:solidFill>
            <a:schemeClr val="accent1"/>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Product Management</a:t>
            </a:r>
            <a:endParaRPr sz="750">
              <a:solidFill>
                <a:schemeClr val="lt1"/>
              </a:solidFill>
              <a:latin typeface="Century Gothic"/>
              <a:ea typeface="Century Gothic"/>
              <a:cs typeface="Century Gothic"/>
              <a:sym typeface="Century Gothic"/>
            </a:endParaRPr>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1" name="Shape 6451"/>
        <p:cNvGrpSpPr/>
        <p:nvPr/>
      </p:nvGrpSpPr>
      <p:grpSpPr>
        <a:xfrm>
          <a:off x="0" y="0"/>
          <a:ext cx="0" cy="0"/>
          <a:chOff x="0" y="0"/>
          <a:chExt cx="0" cy="0"/>
        </a:xfrm>
      </p:grpSpPr>
      <p:sp>
        <p:nvSpPr>
          <p:cNvPr id="6452" name="Google Shape;6452;p357"/>
          <p:cNvSpPr txBox="1"/>
          <p:nvPr>
            <p:ph type="title"/>
          </p:nvPr>
        </p:nvSpPr>
        <p:spPr>
          <a:xfrm>
            <a:off x="457200" y="173736"/>
            <a:ext cx="8229600" cy="413639"/>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br>
              <a:rPr lang="en-GB"/>
            </a:br>
            <a:r>
              <a:rPr lang="en-GB"/>
              <a:t>Examples:  What Is a Product or Service?</a:t>
            </a:r>
            <a:endParaRPr/>
          </a:p>
          <a:p>
            <a:r>
              <a:rPr sz="900">
                <a:solidFill>
                  <a:srgbClr val="006699"/>
                </a:solidFill>
              </a:rPr>
              <a:t>In banking, a 'product' encompasses: deposit accounts (CASA, term deposits), lending facilities (personal loans, home finance, corporate working capital), cards (debit, credit, prepaid), trade finance (LC, LG, SBLC), treasury products, digital services (mobile banking, RAAST), and Islamic equivalents (Murabaha, Ijarah, Diminishing Musharaka)</a:t>
            </a:r>
          </a:p>
        </p:txBody>
      </p:sp>
      <p:sp>
        <p:nvSpPr>
          <p:cNvPr id="6453" name="Google Shape;6453;p357"/>
          <p:cNvSpPr txBox="1"/>
          <p:nvPr>
            <p:ph idx="1" type="body"/>
          </p:nvPr>
        </p:nvSpPr>
        <p:spPr>
          <a:xfrm>
            <a:off x="457200" y="865188"/>
            <a:ext cx="8229600" cy="3694997"/>
          </a:xfrm>
          <a:prstGeom prst="rect">
            <a:avLst/>
          </a:prstGeom>
          <a:noFill/>
          <a:ln>
            <a:noFill/>
          </a:ln>
        </p:spPr>
        <p:txBody>
          <a:bodyPr anchorCtr="0" anchor="t" bIns="0" lIns="0" spcFirstLastPara="1" rIns="0" wrap="square" tIns="0">
            <a:noAutofit/>
          </a:bodyPr>
          <a:lstStyle/>
          <a:p>
            <a:pPr indent="-169863" lvl="0" marL="169863" rtl="0" algn="l">
              <a:lnSpc>
                <a:spcPct val="95000"/>
              </a:lnSpc>
              <a:spcBef>
                <a:spcPts val="0"/>
              </a:spcBef>
              <a:spcAft>
                <a:spcPts val="0"/>
              </a:spcAft>
              <a:buClr>
                <a:schemeClr val="dk1"/>
              </a:buClr>
              <a:buSzPts val="1100"/>
              <a:buChar char="•"/>
            </a:pPr>
            <a:r>
              <a:rPr lang="en-GB" sz="1100"/>
              <a:t>Retail:  Apparel,  hard goods, electronics, office supplies, gift cards (non-banking product sku), drugs, etc.</a:t>
            </a:r>
            <a:endParaRPr/>
          </a:p>
          <a:p>
            <a:pPr indent="-169863" lvl="0" marL="169863" rtl="0" algn="l">
              <a:lnSpc>
                <a:spcPct val="95000"/>
              </a:lnSpc>
              <a:spcBef>
                <a:spcPts val="800"/>
              </a:spcBef>
              <a:spcAft>
                <a:spcPts val="0"/>
              </a:spcAft>
              <a:buClr>
                <a:schemeClr val="dk1"/>
              </a:buClr>
              <a:buSzPts val="1100"/>
              <a:buChar char="•"/>
            </a:pPr>
            <a:r>
              <a:rPr lang="en-GB" sz="1100"/>
              <a:t>CPG: Consumables i.e. food, beverage,  health &amp; beauty, household products, greeting cards</a:t>
            </a:r>
            <a:endParaRPr/>
          </a:p>
          <a:p>
            <a:pPr indent="-169863" lvl="0" marL="169863" rtl="0" algn="l">
              <a:lnSpc>
                <a:spcPct val="95000"/>
              </a:lnSpc>
              <a:spcBef>
                <a:spcPts val="800"/>
              </a:spcBef>
              <a:spcAft>
                <a:spcPts val="0"/>
              </a:spcAft>
              <a:buClr>
                <a:schemeClr val="dk1"/>
              </a:buClr>
              <a:buSzPts val="1100"/>
              <a:buChar char="•"/>
            </a:pPr>
            <a:r>
              <a:rPr lang="en-GB" sz="1100"/>
              <a:t>Transportation: rail car capacity, fleet of trucks, </a:t>
            </a:r>
            <a:endParaRPr/>
          </a:p>
          <a:p>
            <a:pPr indent="-169863" lvl="0" marL="169863" rtl="0" algn="l">
              <a:lnSpc>
                <a:spcPct val="95000"/>
              </a:lnSpc>
              <a:spcBef>
                <a:spcPts val="800"/>
              </a:spcBef>
              <a:spcAft>
                <a:spcPts val="0"/>
              </a:spcAft>
              <a:buClr>
                <a:schemeClr val="dk1"/>
              </a:buClr>
              <a:buSzPts val="1100"/>
              <a:buChar char="•"/>
            </a:pPr>
            <a:r>
              <a:rPr lang="en-GB" sz="1100"/>
              <a:t>Insurance: policy, claim</a:t>
            </a:r>
            <a:endParaRPr/>
          </a:p>
          <a:p>
            <a:pPr indent="-169863" lvl="0" marL="169863" rtl="0" algn="l">
              <a:lnSpc>
                <a:spcPct val="95000"/>
              </a:lnSpc>
              <a:spcBef>
                <a:spcPts val="800"/>
              </a:spcBef>
              <a:spcAft>
                <a:spcPts val="0"/>
              </a:spcAft>
              <a:buClr>
                <a:schemeClr val="dk1"/>
              </a:buClr>
              <a:buSzPts val="1100"/>
              <a:buChar char="•"/>
            </a:pPr>
            <a:r>
              <a:rPr lang="en-GB" sz="1100"/>
              <a:t>Financial Service: services to Bank Customers, loan, mortgage (which may be sold), financial Professional Services, accounts, balances, interest rates, limits, credit card product</a:t>
            </a:r>
            <a:endParaRPr/>
          </a:p>
          <a:p>
            <a:pPr indent="-169863" lvl="0" marL="169863" rtl="0" algn="l">
              <a:lnSpc>
                <a:spcPct val="95000"/>
              </a:lnSpc>
              <a:spcBef>
                <a:spcPts val="800"/>
              </a:spcBef>
              <a:spcAft>
                <a:spcPts val="0"/>
              </a:spcAft>
              <a:buClr>
                <a:schemeClr val="dk1"/>
              </a:buClr>
              <a:buSzPts val="1100"/>
              <a:buChar char="•"/>
            </a:pPr>
            <a:r>
              <a:rPr lang="en-GB" sz="1100"/>
              <a:t>Communications: rate plan (voice and data, devices, accessories, insurance, warranty, feature, upgrade, corporate product, data, advertising product), video programming, geospatial capability (geo fencing), satellite dish, network availability (but the network itself is in operations)</a:t>
            </a:r>
            <a:endParaRPr/>
          </a:p>
          <a:p>
            <a:pPr indent="-169863" lvl="0" marL="169863" rtl="0" algn="l">
              <a:lnSpc>
                <a:spcPct val="95000"/>
              </a:lnSpc>
              <a:spcBef>
                <a:spcPts val="800"/>
              </a:spcBef>
              <a:spcAft>
                <a:spcPts val="0"/>
              </a:spcAft>
              <a:buClr>
                <a:schemeClr val="dk1"/>
              </a:buClr>
              <a:buSzPts val="1100"/>
              <a:buChar char="•"/>
            </a:pPr>
            <a:r>
              <a:rPr lang="en-GB" sz="1100"/>
              <a:t>Media and Entertainment: website, stream content, contracts, website (WB builds website that is sold to customers – Fandango, IMDB) advertising, cable programming, set top usage data, video on demand</a:t>
            </a:r>
            <a:endParaRPr/>
          </a:p>
          <a:p>
            <a:pPr indent="-169863" lvl="0" marL="169863" rtl="0" algn="l">
              <a:lnSpc>
                <a:spcPct val="95000"/>
              </a:lnSpc>
              <a:spcBef>
                <a:spcPts val="800"/>
              </a:spcBef>
              <a:spcAft>
                <a:spcPts val="0"/>
              </a:spcAft>
              <a:buClr>
                <a:schemeClr val="dk1"/>
              </a:buClr>
              <a:buSzPts val="1100"/>
              <a:buChar char="•"/>
            </a:pPr>
            <a:r>
              <a:rPr lang="en-GB" sz="1100"/>
              <a:t>Oil and Gas: production, well</a:t>
            </a:r>
            <a:endParaRPr/>
          </a:p>
          <a:p>
            <a:pPr indent="-169863" lvl="0" marL="169863" rtl="0" algn="l">
              <a:lnSpc>
                <a:spcPct val="95000"/>
              </a:lnSpc>
              <a:spcBef>
                <a:spcPts val="800"/>
              </a:spcBef>
              <a:spcAft>
                <a:spcPts val="0"/>
              </a:spcAft>
              <a:buClr>
                <a:schemeClr val="dk1"/>
              </a:buClr>
              <a:buSzPts val="1100"/>
              <a:buChar char="•"/>
            </a:pPr>
            <a:r>
              <a:rPr lang="en-GB" sz="1100"/>
              <a:t>Aerospace: product as a service, engine, plane</a:t>
            </a:r>
            <a:endParaRPr/>
          </a:p>
          <a:p>
            <a:pPr indent="-169863" lvl="0" marL="169863" rtl="0" algn="l">
              <a:lnSpc>
                <a:spcPct val="95000"/>
              </a:lnSpc>
              <a:spcBef>
                <a:spcPts val="800"/>
              </a:spcBef>
              <a:spcAft>
                <a:spcPts val="0"/>
              </a:spcAft>
              <a:buClr>
                <a:schemeClr val="dk1"/>
              </a:buClr>
              <a:buSzPts val="1100"/>
              <a:buChar char="•"/>
            </a:pPr>
            <a:r>
              <a:rPr lang="en-GB" sz="1100"/>
              <a:t>Digital: web site, mobile app</a:t>
            </a:r>
            <a:endParaRPr/>
          </a:p>
          <a:p>
            <a:pPr indent="-169863" lvl="0" marL="169863" rtl="0" algn="l">
              <a:lnSpc>
                <a:spcPct val="95000"/>
              </a:lnSpc>
              <a:spcBef>
                <a:spcPts val="800"/>
              </a:spcBef>
              <a:spcAft>
                <a:spcPts val="0"/>
              </a:spcAft>
              <a:buClr>
                <a:schemeClr val="dk1"/>
              </a:buClr>
              <a:buSzPts val="1100"/>
              <a:buChar char="•"/>
            </a:pPr>
            <a:r>
              <a:rPr lang="en-GB" sz="1100"/>
              <a:t>High Tech:  computer chip</a:t>
            </a:r>
            <a:endParaRPr/>
          </a:p>
          <a:p>
            <a:pPr indent="-169863" lvl="0" marL="169863" rtl="0" algn="l">
              <a:lnSpc>
                <a:spcPct val="95000"/>
              </a:lnSpc>
              <a:spcBef>
                <a:spcPts val="800"/>
              </a:spcBef>
              <a:spcAft>
                <a:spcPts val="0"/>
              </a:spcAft>
              <a:buClr>
                <a:schemeClr val="dk1"/>
              </a:buClr>
              <a:buSzPts val="1100"/>
              <a:buChar char="•"/>
            </a:pPr>
            <a:r>
              <a:rPr lang="en-GB" sz="1100"/>
              <a:t>Hospitality and Travel : room, meal, reservation, airline seat, ancillary products (wifi, baggage, upgrade, meals)</a:t>
            </a:r>
            <a:endParaRPr/>
          </a:p>
          <a:p>
            <a:pPr indent="-100013" lvl="0" marL="169863" rtl="0" algn="l">
              <a:lnSpc>
                <a:spcPct val="95000"/>
              </a:lnSpc>
              <a:spcBef>
                <a:spcPts val="800"/>
              </a:spcBef>
              <a:spcAft>
                <a:spcPts val="0"/>
              </a:spcAft>
              <a:buClr>
                <a:schemeClr val="dk1"/>
              </a:buClr>
              <a:buSzPts val="1100"/>
              <a:buNone/>
            </a:pPr>
            <a:r>
              <a:t/>
            </a:r>
            <a:endParaRPr sz="1100"/>
          </a:p>
          <a:p>
            <a:pPr indent="-100013" lvl="0" marL="169863" rtl="0" algn="l">
              <a:lnSpc>
                <a:spcPct val="95000"/>
              </a:lnSpc>
              <a:spcBef>
                <a:spcPts val="800"/>
              </a:spcBef>
              <a:spcAft>
                <a:spcPts val="0"/>
              </a:spcAft>
              <a:buClr>
                <a:schemeClr val="dk1"/>
              </a:buClr>
              <a:buSzPts val="1100"/>
              <a:buNone/>
            </a:pPr>
            <a:r>
              <a:t/>
            </a:r>
            <a:endParaRPr sz="1100"/>
          </a:p>
          <a:p>
            <a:pPr indent="-100013" lvl="0" marL="169863" rtl="0" algn="l">
              <a:lnSpc>
                <a:spcPct val="95000"/>
              </a:lnSpc>
              <a:spcBef>
                <a:spcPts val="800"/>
              </a:spcBef>
              <a:spcAft>
                <a:spcPts val="0"/>
              </a:spcAft>
              <a:buClr>
                <a:schemeClr val="dk1"/>
              </a:buClr>
              <a:buSzPts val="1100"/>
              <a:buNone/>
            </a:pPr>
            <a:r>
              <a:t/>
            </a:r>
            <a:endParaRPr sz="1100"/>
          </a:p>
          <a:p>
            <a:pPr indent="-100013" lvl="0" marL="169863" rtl="0" algn="l">
              <a:lnSpc>
                <a:spcPct val="95000"/>
              </a:lnSpc>
              <a:spcBef>
                <a:spcPts val="800"/>
              </a:spcBef>
              <a:spcAft>
                <a:spcPts val="0"/>
              </a:spcAft>
              <a:buClr>
                <a:schemeClr val="dk1"/>
              </a:buClr>
              <a:buSzPts val="1100"/>
              <a:buNone/>
            </a:pPr>
            <a:r>
              <a:t/>
            </a:r>
            <a:endParaRPr sz="1100"/>
          </a:p>
        </p:txBody>
      </p:sp>
      <p:sp>
        <p:nvSpPr>
          <p:cNvPr id="6454" name="Google Shape;6454;p357"/>
          <p:cNvSpPr txBox="1"/>
          <p:nvPr>
            <p:ph idx="2" type="body"/>
          </p:nvPr>
        </p:nvSpPr>
        <p:spPr>
          <a:xfrm>
            <a:off x="3297994" y="4923703"/>
            <a:ext cx="2548012" cy="106186"/>
          </a:xfrm>
          <a:prstGeom prst="rect">
            <a:avLst/>
          </a:prstGeom>
          <a:noFill/>
          <a:ln>
            <a:noFill/>
          </a:ln>
        </p:spPr>
        <p:txBody>
          <a:bodyPr anchorCtr="0" anchor="t" bIns="0" lIns="0" spcFirstLastPara="1" rIns="0" wrap="square" tIns="0">
            <a:noAutofit/>
          </a:bodyPr>
          <a:lstStyle/>
          <a:p>
            <a:pPr indent="0" lvl="0" marL="0" rtl="0" algn="ctr">
              <a:lnSpc>
                <a:spcPct val="85000"/>
              </a:lnSpc>
              <a:spcBef>
                <a:spcPts val="0"/>
              </a:spcBef>
              <a:spcAft>
                <a:spcPts val="0"/>
              </a:spcAft>
              <a:buClr>
                <a:srgbClr val="4FB0FF"/>
              </a:buClr>
              <a:buSzPts val="700"/>
              <a:buFont typeface="Century Gothic"/>
              <a:buNone/>
            </a:pPr>
            <a:r>
              <a:t/>
            </a:r>
            <a:endParaRPr/>
          </a:p>
        </p:txBody>
      </p:sp>
      <p:sp>
        <p:nvSpPr>
          <p:cNvPr id="6455" name="Google Shape;6455;p357">
            <a:hlinkClick action="ppaction://hlinksldjump" r:id="rId3"/>
          </p:cNvPr>
          <p:cNvSpPr/>
          <p:nvPr/>
        </p:nvSpPr>
        <p:spPr>
          <a:xfrm>
            <a:off x="6515100" y="-196501"/>
            <a:ext cx="2777392" cy="378533"/>
          </a:xfrm>
          <a:prstGeom prst="roundRect">
            <a:avLst>
              <a:gd fmla="val 50000" name="adj"/>
            </a:avLst>
          </a:prstGeom>
          <a:solidFill>
            <a:schemeClr val="accent1"/>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Product Management</a:t>
            </a:r>
            <a:endParaRPr sz="750">
              <a:solidFill>
                <a:schemeClr val="lt1"/>
              </a:solidFill>
              <a:latin typeface="Century Gothic"/>
              <a:ea typeface="Century Gothic"/>
              <a:cs typeface="Century Gothic"/>
              <a:sym typeface="Century Gothic"/>
            </a:endParaRPr>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9" name="Shape 6459"/>
        <p:cNvGrpSpPr/>
        <p:nvPr/>
      </p:nvGrpSpPr>
      <p:grpSpPr>
        <a:xfrm>
          <a:off x="0" y="0"/>
          <a:ext cx="0" cy="0"/>
          <a:chOff x="0" y="0"/>
          <a:chExt cx="0" cy="0"/>
        </a:xfrm>
      </p:grpSpPr>
      <p:pic>
        <p:nvPicPr>
          <p:cNvPr descr="9F2D536B-2DF9-417C-BC65-900CB19738BB@Home" id="6460" name="Google Shape;6460;p358"/>
          <p:cNvPicPr preferRelativeResize="0"/>
          <p:nvPr/>
        </p:nvPicPr>
        <p:blipFill rotWithShape="1">
          <a:blip r:embed="rId3">
            <a:alphaModFix/>
          </a:blip>
          <a:srcRect b="0" l="32029" r="0" t="0"/>
          <a:stretch/>
        </p:blipFill>
        <p:spPr>
          <a:xfrm>
            <a:off x="5289202" y="0"/>
            <a:ext cx="3832922" cy="5143500"/>
          </a:xfrm>
          <a:prstGeom prst="rect">
            <a:avLst/>
          </a:prstGeom>
          <a:noFill/>
          <a:ln>
            <a:noFill/>
          </a:ln>
          <a:effectLst>
            <a:outerShdw blurRad="292100" rotWithShape="0" algn="tl" dir="2700000" dist="139700">
              <a:srgbClr val="333333">
                <a:alpha val="64705"/>
              </a:srgbClr>
            </a:outerShdw>
          </a:effectLst>
        </p:spPr>
      </p:pic>
      <p:sp>
        <p:nvSpPr>
          <p:cNvPr id="6461" name="Google Shape;6461;p358"/>
          <p:cNvSpPr txBox="1"/>
          <p:nvPr>
            <p:ph type="title"/>
          </p:nvPr>
        </p:nvSpPr>
        <p:spPr>
          <a:xfrm>
            <a:off x="466725" y="3747"/>
            <a:ext cx="5087938" cy="617601"/>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Product Management</a:t>
            </a:r>
            <a:endParaRPr/>
          </a:p>
        </p:txBody>
      </p:sp>
      <p:sp>
        <p:nvSpPr>
          <p:cNvPr id="6462" name="Google Shape;6462;p358"/>
          <p:cNvSpPr txBox="1"/>
          <p:nvPr>
            <p:ph idx="1" type="body"/>
          </p:nvPr>
        </p:nvSpPr>
        <p:spPr>
          <a:xfrm>
            <a:off x="449263" y="2201863"/>
            <a:ext cx="4866449" cy="2652712"/>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0079DB"/>
              </a:buClr>
              <a:buSzPts val="1800"/>
              <a:buNone/>
            </a:pPr>
            <a:r>
              <a:rPr lang="en-GB">
                <a:solidFill>
                  <a:srgbClr val="0079DB"/>
                </a:solidFill>
              </a:rPr>
              <a:t>Why is it important?</a:t>
            </a:r>
            <a:endParaRPr b="1">
              <a:solidFill>
                <a:schemeClr val="accent1"/>
              </a:solidFill>
            </a:endParaRPr>
          </a:p>
          <a:p>
            <a:pPr indent="-231775" lvl="1" marL="231775" rtl="0" algn="l">
              <a:lnSpc>
                <a:spcPct val="100000"/>
              </a:lnSpc>
              <a:spcBef>
                <a:spcPts val="200"/>
              </a:spcBef>
              <a:spcAft>
                <a:spcPts val="0"/>
              </a:spcAft>
              <a:buClr>
                <a:schemeClr val="dk1"/>
              </a:buClr>
              <a:buSzPts val="1400"/>
              <a:buChar char="•"/>
            </a:pPr>
            <a:r>
              <a:rPr lang="en-GB"/>
              <a:t>Foundation for incoming revenue, profitability and market share growth</a:t>
            </a:r>
            <a:endParaRPr/>
          </a:p>
          <a:p>
            <a:pPr indent="-231775" lvl="1" marL="231775" rtl="0" algn="l">
              <a:lnSpc>
                <a:spcPct val="100000"/>
              </a:lnSpc>
              <a:spcBef>
                <a:spcPts val="600"/>
              </a:spcBef>
              <a:spcAft>
                <a:spcPts val="0"/>
              </a:spcAft>
              <a:buClr>
                <a:schemeClr val="dk1"/>
              </a:buClr>
              <a:buSzPts val="1400"/>
              <a:buChar char="•"/>
            </a:pPr>
            <a:r>
              <a:rPr lang="en-GB"/>
              <a:t>Product is the largest investment many companies make</a:t>
            </a:r>
            <a:endParaRPr/>
          </a:p>
          <a:p>
            <a:pPr indent="-231775" lvl="1" marL="231775" rtl="0" algn="l">
              <a:lnSpc>
                <a:spcPct val="100000"/>
              </a:lnSpc>
              <a:spcBef>
                <a:spcPts val="600"/>
              </a:spcBef>
              <a:spcAft>
                <a:spcPts val="0"/>
              </a:spcAft>
              <a:buClr>
                <a:schemeClr val="dk1"/>
              </a:buClr>
              <a:buSzPts val="1400"/>
              <a:buChar char="•"/>
            </a:pPr>
            <a:r>
              <a:rPr lang="en-GB"/>
              <a:t>Product Mgt. teams recognize trends that drive strategic roadmap for innovation, new features, and services </a:t>
            </a:r>
            <a:endParaRPr/>
          </a:p>
          <a:p>
            <a:pPr indent="-231775" lvl="1" marL="231775" rtl="0" algn="l">
              <a:lnSpc>
                <a:spcPct val="100000"/>
              </a:lnSpc>
              <a:spcBef>
                <a:spcPts val="600"/>
              </a:spcBef>
              <a:spcAft>
                <a:spcPts val="0"/>
              </a:spcAft>
              <a:buClr>
                <a:schemeClr val="dk1"/>
              </a:buClr>
              <a:buSzPts val="1400"/>
              <a:buChar char="•"/>
            </a:pPr>
            <a:r>
              <a:rPr lang="en-GB"/>
              <a:t>Core to Brand building; distinguishable products help attract customers and maintain loyalty</a:t>
            </a:r>
            <a:endParaRPr/>
          </a:p>
          <a:p>
            <a:r>
              <a:rPr sz="900">
                <a:solidFill>
                  <a:srgbClr val="006699"/>
                </a:solidFill>
              </a:rPr>
              <a:t>Product management is the engine of banking revenue — every PKR of income comes from a product</a:t>
            </a:r>
          </a:p>
          <a:p>
            <a:r>
              <a:rPr sz="900">
                <a:solidFill>
                  <a:srgbClr val="006699"/>
                </a:solidFill>
              </a:rPr>
              <a:t>Pakistan banks average 1.8 products per customer vs. 4-6 globally — massive cross-sell opportunity</a:t>
            </a:r>
          </a:p>
          <a:p>
            <a:r>
              <a:rPr sz="900">
                <a:solidFill>
                  <a:srgbClr val="006699"/>
                </a:solidFill>
              </a:rPr>
              <a:t>Islamic product innovation critical — 25%+ of deposits in Islamic products, growing 20%+ annually</a:t>
            </a:r>
          </a:p>
          <a:p>
            <a:r>
              <a:rPr sz="900">
                <a:solidFill>
                  <a:srgbClr val="006699"/>
                </a:solidFill>
              </a:rPr>
              <a:t>Digital product adoption determines competitive survival against fintechs (JazzCash 50M+, Easypaisa 40M+)</a:t>
            </a:r>
          </a:p>
        </p:txBody>
      </p:sp>
      <p:sp>
        <p:nvSpPr>
          <p:cNvPr id="6463" name="Google Shape;6463;p358"/>
          <p:cNvSpPr txBox="1"/>
          <p:nvPr>
            <p:ph idx="2" type="body"/>
          </p:nvPr>
        </p:nvSpPr>
        <p:spPr>
          <a:xfrm>
            <a:off x="449262" y="904312"/>
            <a:ext cx="6622097" cy="1029264"/>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chemeClr val="lt1"/>
              </a:buClr>
              <a:buSzPts val="1800"/>
              <a:buNone/>
            </a:pPr>
            <a:r>
              <a:t/>
            </a:r>
            <a:endParaRPr/>
          </a:p>
        </p:txBody>
      </p:sp>
      <p:sp>
        <p:nvSpPr>
          <p:cNvPr id="6464" name="Google Shape;6464;p358"/>
          <p:cNvSpPr/>
          <p:nvPr/>
        </p:nvSpPr>
        <p:spPr>
          <a:xfrm>
            <a:off x="1" y="769691"/>
            <a:ext cx="7205662" cy="1160709"/>
          </a:xfrm>
          <a:prstGeom prst="rect">
            <a:avLst/>
          </a:prstGeom>
          <a:solidFill>
            <a:srgbClr val="005AA4"/>
          </a:solidFill>
          <a:ln>
            <a:noFill/>
          </a:ln>
          <a:effectLst>
            <a:outerShdw blurRad="50800" rotWithShape="0" algn="tl" dir="2700000" dist="38100">
              <a:srgbClr val="000000">
                <a:alpha val="40000"/>
              </a:srgbClr>
            </a:outerShdw>
          </a:effectLst>
        </p:spPr>
        <p:txBody>
          <a:bodyPr anchorCtr="0" anchor="ctr" bIns="91425" lIns="91425" spcFirstLastPara="1" rIns="91425" wrap="square" tIns="91425">
            <a:noAutofit/>
          </a:bodyPr>
          <a:lstStyle/>
          <a:p>
            <a:pPr indent="0" lvl="1" marL="406400" marR="0" rtl="0" algn="l">
              <a:spcBef>
                <a:spcPts val="0"/>
              </a:spcBef>
              <a:spcAft>
                <a:spcPts val="0"/>
              </a:spcAft>
              <a:buNone/>
            </a:pPr>
            <a:r>
              <a:rPr b="0" i="0" lang="en-GB" sz="1400" u="none" cap="none" strike="noStrike">
                <a:solidFill>
                  <a:schemeClr val="lt1"/>
                </a:solidFill>
                <a:latin typeface="Century Gothic"/>
                <a:ea typeface="Century Gothic"/>
                <a:cs typeface="Century Gothic"/>
                <a:sym typeface="Century Gothic"/>
              </a:rPr>
              <a:t>The strategic process of analyzing market performance to define, design, source, assort, flow, price, promote, present and manage the sales and profitability of products that customers want to buy.   </a:t>
            </a:r>
            <a:endParaRPr/>
          </a:p>
        </p:txBody>
      </p:sp>
      <p:sp>
        <p:nvSpPr>
          <p:cNvPr id="6465" name="Google Shape;6465;p358">
            <a:hlinkClick action="ppaction://hlinksldjump" r:id="rId4"/>
          </p:cNvPr>
          <p:cNvSpPr/>
          <p:nvPr/>
        </p:nvSpPr>
        <p:spPr>
          <a:xfrm>
            <a:off x="6515100" y="-196501"/>
            <a:ext cx="2777392" cy="378533"/>
          </a:xfrm>
          <a:prstGeom prst="roundRect">
            <a:avLst>
              <a:gd fmla="val 50000" name="adj"/>
            </a:avLst>
          </a:prstGeom>
          <a:solidFill>
            <a:schemeClr val="accent1"/>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Product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0" name="Shape 6470"/>
        <p:cNvGrpSpPr/>
        <p:nvPr/>
      </p:nvGrpSpPr>
      <p:grpSpPr>
        <a:xfrm>
          <a:off x="0" y="0"/>
          <a:ext cx="0" cy="0"/>
          <a:chOff x="0" y="0"/>
          <a:chExt cx="0" cy="0"/>
        </a:xfrm>
      </p:grpSpPr>
      <p:sp>
        <p:nvSpPr>
          <p:cNvPr id="6471" name="Google Shape;6471;p359"/>
          <p:cNvSpPr/>
          <p:nvPr/>
        </p:nvSpPr>
        <p:spPr>
          <a:xfrm>
            <a:off x="7772401" y="-368299"/>
            <a:ext cx="1503273" cy="5054600"/>
          </a:xfrm>
          <a:prstGeom prst="roundRect">
            <a:avLst>
              <a:gd fmla="val 3493" name="adj"/>
            </a:avLst>
          </a:prstGeom>
          <a:solidFill>
            <a:srgbClr val="FFFFFF"/>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6472" name="Google Shape;6472;p359"/>
          <p:cNvSpPr txBox="1"/>
          <p:nvPr>
            <p:ph type="title"/>
          </p:nvPr>
        </p:nvSpPr>
        <p:spPr>
          <a:xfrm>
            <a:off x="457200" y="173736"/>
            <a:ext cx="8229600" cy="69857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Product Management</a:t>
            </a:r>
            <a:endParaRPr/>
          </a:p>
        </p:txBody>
      </p:sp>
      <p:sp>
        <p:nvSpPr>
          <p:cNvPr id="6473" name="Google Shape;6473;p359"/>
          <p:cNvSpPr txBox="1"/>
          <p:nvPr>
            <p:ph idx="1" type="body"/>
          </p:nvPr>
        </p:nvSpPr>
        <p:spPr>
          <a:xfrm>
            <a:off x="465884" y="983379"/>
            <a:ext cx="5097463" cy="3344033"/>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0079DB"/>
              </a:buClr>
              <a:buSzPts val="1800"/>
              <a:buNone/>
            </a:pPr>
            <a:r>
              <a:rPr lang="en-GB">
                <a:solidFill>
                  <a:srgbClr val="0079DB"/>
                </a:solidFill>
              </a:rPr>
              <a:t>How - Capabilities</a:t>
            </a:r>
            <a:endParaRPr/>
          </a:p>
          <a:p>
            <a:pPr indent="-169863" lvl="0" marL="169863" rtl="0" algn="l">
              <a:lnSpc>
                <a:spcPct val="95000"/>
              </a:lnSpc>
              <a:spcBef>
                <a:spcPts val="800"/>
              </a:spcBef>
              <a:spcAft>
                <a:spcPts val="0"/>
              </a:spcAft>
              <a:buClr>
                <a:schemeClr val="dk1"/>
              </a:buClr>
              <a:buSzPts val="1400"/>
              <a:buChar char="•"/>
            </a:pPr>
            <a:r>
              <a:rPr lang="en-GB" sz="1400"/>
              <a:t>Design and develop products that people want to buy</a:t>
            </a:r>
            <a:endParaRPr/>
          </a:p>
          <a:p>
            <a:pPr indent="-169863" lvl="0" marL="169863" rtl="0" algn="l">
              <a:lnSpc>
                <a:spcPct val="95000"/>
              </a:lnSpc>
              <a:spcBef>
                <a:spcPts val="800"/>
              </a:spcBef>
              <a:spcAft>
                <a:spcPts val="0"/>
              </a:spcAft>
              <a:buClr>
                <a:schemeClr val="dk1"/>
              </a:buClr>
              <a:buSzPts val="1400"/>
              <a:buChar char="•"/>
            </a:pPr>
            <a:r>
              <a:rPr lang="en-GB" sz="1400"/>
              <a:t>Plan the launch of new products to minimize bottlenecks and  prepare the organization</a:t>
            </a:r>
            <a:endParaRPr/>
          </a:p>
          <a:p>
            <a:pPr indent="-169863" lvl="0" marL="169863" rtl="0" algn="l">
              <a:lnSpc>
                <a:spcPct val="95000"/>
              </a:lnSpc>
              <a:spcBef>
                <a:spcPts val="800"/>
              </a:spcBef>
              <a:spcAft>
                <a:spcPts val="0"/>
              </a:spcAft>
              <a:buClr>
                <a:schemeClr val="dk1"/>
              </a:buClr>
              <a:buSzPts val="1400"/>
              <a:buChar char="•"/>
            </a:pPr>
            <a:r>
              <a:rPr lang="en-GB" sz="1400"/>
              <a:t>Retire products cost effectively</a:t>
            </a:r>
            <a:endParaRPr/>
          </a:p>
          <a:p>
            <a:pPr indent="-169863" lvl="0" marL="169863" rtl="0" algn="l">
              <a:lnSpc>
                <a:spcPct val="95000"/>
              </a:lnSpc>
              <a:spcBef>
                <a:spcPts val="800"/>
              </a:spcBef>
              <a:spcAft>
                <a:spcPts val="0"/>
              </a:spcAft>
              <a:buClr>
                <a:schemeClr val="dk1"/>
              </a:buClr>
              <a:buSzPts val="1400"/>
              <a:buChar char="•"/>
            </a:pPr>
            <a:r>
              <a:rPr lang="en-GB" sz="1400"/>
              <a:t>Price products based on portfolio roles, competition and market tolerances</a:t>
            </a:r>
            <a:endParaRPr/>
          </a:p>
          <a:p>
            <a:pPr indent="-169863" lvl="0" marL="169863" rtl="0" algn="l">
              <a:lnSpc>
                <a:spcPct val="95000"/>
              </a:lnSpc>
              <a:spcBef>
                <a:spcPts val="800"/>
              </a:spcBef>
              <a:spcAft>
                <a:spcPts val="0"/>
              </a:spcAft>
              <a:buClr>
                <a:schemeClr val="dk1"/>
              </a:buClr>
              <a:buSzPts val="1400"/>
              <a:buChar char="•"/>
            </a:pPr>
            <a:r>
              <a:rPr lang="en-GB" sz="1400"/>
              <a:t>Promote products to maximize profits</a:t>
            </a:r>
            <a:endParaRPr/>
          </a:p>
          <a:p>
            <a:pPr indent="-169863" lvl="0" marL="169863" rtl="0" algn="l">
              <a:lnSpc>
                <a:spcPct val="95000"/>
              </a:lnSpc>
              <a:spcBef>
                <a:spcPts val="800"/>
              </a:spcBef>
              <a:spcAft>
                <a:spcPts val="0"/>
              </a:spcAft>
              <a:buClr>
                <a:schemeClr val="dk1"/>
              </a:buClr>
              <a:buSzPts val="1400"/>
              <a:buChar char="•"/>
            </a:pPr>
            <a:r>
              <a:rPr lang="en-GB" sz="1400"/>
              <a:t>Build local product portfolios that meet customers’ needs </a:t>
            </a:r>
            <a:endParaRPr/>
          </a:p>
          <a:p>
            <a:pPr indent="-169863" lvl="0" marL="169863" rtl="0" algn="l">
              <a:lnSpc>
                <a:spcPct val="95000"/>
              </a:lnSpc>
              <a:spcBef>
                <a:spcPts val="800"/>
              </a:spcBef>
              <a:spcAft>
                <a:spcPts val="0"/>
              </a:spcAft>
              <a:buClr>
                <a:schemeClr val="dk1"/>
              </a:buClr>
              <a:buSzPts val="1400"/>
              <a:buChar char="•"/>
            </a:pPr>
            <a:r>
              <a:rPr lang="en-GB" sz="1400"/>
              <a:t>Analyze space allocation and product product affinity to grow products per customer and Units per Transaction</a:t>
            </a:r>
            <a:endParaRPr/>
          </a:p>
          <a:p>
            <a:pPr indent="-169863" lvl="0" marL="169863" rtl="0" algn="l">
              <a:lnSpc>
                <a:spcPct val="95000"/>
              </a:lnSpc>
              <a:spcBef>
                <a:spcPts val="800"/>
              </a:spcBef>
              <a:spcAft>
                <a:spcPts val="0"/>
              </a:spcAft>
              <a:buClr>
                <a:schemeClr val="dk1"/>
              </a:buClr>
              <a:buSzPts val="1400"/>
              <a:buChar char="•"/>
            </a:pPr>
            <a:r>
              <a:rPr lang="en-GB" sz="1400"/>
              <a:t>Maximize growth by reacting to product performance trends;  identify velocity of products </a:t>
            </a:r>
            <a:endParaRPr/>
          </a:p>
        </p:txBody>
      </p:sp>
      <p:sp>
        <p:nvSpPr>
          <p:cNvPr id="6474" name="Google Shape;6474;p359"/>
          <p:cNvSpPr txBox="1"/>
          <p:nvPr>
            <p:ph idx="2" type="body"/>
          </p:nvPr>
        </p:nvSpPr>
        <p:spPr>
          <a:xfrm>
            <a:off x="3297994" y="4855464"/>
            <a:ext cx="2548012" cy="106186"/>
          </a:xfrm>
          <a:prstGeom prst="rect">
            <a:avLst/>
          </a:prstGeom>
          <a:noFill/>
          <a:ln>
            <a:noFill/>
          </a:ln>
        </p:spPr>
        <p:txBody>
          <a:bodyPr anchorCtr="0" anchor="t" bIns="0" lIns="0" spcFirstLastPara="1" rIns="0" wrap="square" tIns="0">
            <a:noAutofit/>
          </a:bodyPr>
          <a:lstStyle/>
          <a:p>
            <a:pPr indent="0" lvl="0" marL="0" rtl="0" algn="ctr">
              <a:lnSpc>
                <a:spcPct val="85000"/>
              </a:lnSpc>
              <a:spcBef>
                <a:spcPts val="0"/>
              </a:spcBef>
              <a:spcAft>
                <a:spcPts val="0"/>
              </a:spcAft>
              <a:buClr>
                <a:srgbClr val="4FB0FF"/>
              </a:buClr>
              <a:buSzPts val="700"/>
              <a:buFont typeface="Century Gothic"/>
              <a:buNone/>
            </a:pPr>
            <a:r>
              <a:t/>
            </a:r>
            <a:endParaRPr/>
          </a:p>
        </p:txBody>
      </p:sp>
      <p:pic>
        <p:nvPicPr>
          <p:cNvPr id="6475" name="Google Shape;6475;p359"/>
          <p:cNvPicPr preferRelativeResize="0"/>
          <p:nvPr/>
        </p:nvPicPr>
        <p:blipFill rotWithShape="1">
          <a:blip r:embed="rId3">
            <a:alphaModFix/>
          </a:blip>
          <a:srcRect b="0" l="0" r="0" t="0"/>
          <a:stretch/>
        </p:blipFill>
        <p:spPr>
          <a:xfrm>
            <a:off x="5549900" y="967317"/>
            <a:ext cx="3594100" cy="2396066"/>
          </a:xfrm>
          <a:prstGeom prst="rect">
            <a:avLst/>
          </a:prstGeom>
          <a:noFill/>
          <a:ln>
            <a:noFill/>
          </a:ln>
        </p:spPr>
      </p:pic>
      <p:sp>
        <p:nvSpPr>
          <p:cNvPr id="6476" name="Google Shape;6476;p359">
            <a:hlinkClick action="ppaction://hlinksldjump" r:id="rId4"/>
          </p:cNvPr>
          <p:cNvSpPr/>
          <p:nvPr/>
        </p:nvSpPr>
        <p:spPr>
          <a:xfrm>
            <a:off x="6515100" y="-196501"/>
            <a:ext cx="2777392" cy="378533"/>
          </a:xfrm>
          <a:prstGeom prst="roundRect">
            <a:avLst>
              <a:gd fmla="val 50000" name="adj"/>
            </a:avLst>
          </a:prstGeom>
          <a:solidFill>
            <a:schemeClr val="accent1"/>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Product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0" name="Shape 6480"/>
        <p:cNvGrpSpPr/>
        <p:nvPr/>
      </p:nvGrpSpPr>
      <p:grpSpPr>
        <a:xfrm>
          <a:off x="0" y="0"/>
          <a:ext cx="0" cy="0"/>
          <a:chOff x="0" y="0"/>
          <a:chExt cx="0" cy="0"/>
        </a:xfrm>
      </p:grpSpPr>
      <p:sp>
        <p:nvSpPr>
          <p:cNvPr id="6481" name="Google Shape;6481;p360"/>
          <p:cNvSpPr/>
          <p:nvPr/>
        </p:nvSpPr>
        <p:spPr>
          <a:xfrm>
            <a:off x="7772400" y="-368299"/>
            <a:ext cx="4616448" cy="5054600"/>
          </a:xfrm>
          <a:prstGeom prst="roundRect">
            <a:avLst>
              <a:gd fmla="val 3493" name="adj"/>
            </a:avLst>
          </a:prstGeom>
          <a:solidFill>
            <a:srgbClr val="FFFFFF"/>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6482" name="Google Shape;6482;p360"/>
          <p:cNvSpPr txBox="1"/>
          <p:nvPr>
            <p:ph type="title"/>
          </p:nvPr>
        </p:nvSpPr>
        <p:spPr>
          <a:xfrm>
            <a:off x="472328" y="461376"/>
            <a:ext cx="8229600" cy="413639"/>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Product Management</a:t>
            </a:r>
            <a:endParaRPr/>
          </a:p>
        </p:txBody>
      </p:sp>
      <p:sp>
        <p:nvSpPr>
          <p:cNvPr id="6483" name="Google Shape;6483;p360"/>
          <p:cNvSpPr txBox="1"/>
          <p:nvPr>
            <p:ph idx="1" type="body"/>
          </p:nvPr>
        </p:nvSpPr>
        <p:spPr>
          <a:xfrm>
            <a:off x="503238" y="972765"/>
            <a:ext cx="4456176" cy="3694997"/>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0079DB"/>
              </a:buClr>
              <a:buSzPts val="1800"/>
              <a:buNone/>
            </a:pPr>
            <a:r>
              <a:rPr lang="en-GB">
                <a:solidFill>
                  <a:srgbClr val="0079DB"/>
                </a:solidFill>
              </a:rPr>
              <a:t>Solutions</a:t>
            </a:r>
            <a:endParaRPr/>
          </a:p>
          <a:p>
            <a:pPr indent="-169863" lvl="0" marL="169863" rtl="0" algn="l">
              <a:lnSpc>
                <a:spcPct val="95000"/>
              </a:lnSpc>
              <a:spcBef>
                <a:spcPts val="800"/>
              </a:spcBef>
              <a:spcAft>
                <a:spcPts val="0"/>
              </a:spcAft>
              <a:buClr>
                <a:schemeClr val="dk1"/>
              </a:buClr>
              <a:buSzPts val="1400"/>
              <a:buChar char="•"/>
            </a:pPr>
            <a:r>
              <a:rPr lang="en-GB" sz="1400"/>
              <a:t>Available on shelf and lost sales analytics</a:t>
            </a:r>
            <a:endParaRPr/>
          </a:p>
          <a:p>
            <a:pPr indent="-169863" lvl="0" marL="169863" rtl="0" algn="l">
              <a:lnSpc>
                <a:spcPct val="95000"/>
              </a:lnSpc>
              <a:spcBef>
                <a:spcPts val="800"/>
              </a:spcBef>
              <a:spcAft>
                <a:spcPts val="0"/>
              </a:spcAft>
              <a:buClr>
                <a:schemeClr val="dk1"/>
              </a:buClr>
              <a:buSzPts val="1400"/>
              <a:buChar char="•"/>
            </a:pPr>
            <a:r>
              <a:rPr lang="en-GB" sz="1400"/>
              <a:t>Basket analytics driving range and product portfolio planning</a:t>
            </a:r>
            <a:endParaRPr/>
          </a:p>
          <a:p>
            <a:pPr indent="-169863" lvl="0" marL="169863" rtl="0" algn="l">
              <a:lnSpc>
                <a:spcPct val="95000"/>
              </a:lnSpc>
              <a:spcBef>
                <a:spcPts val="800"/>
              </a:spcBef>
              <a:spcAft>
                <a:spcPts val="0"/>
              </a:spcAft>
              <a:buClr>
                <a:schemeClr val="dk1"/>
              </a:buClr>
              <a:buSzPts val="1400"/>
              <a:buChar char="•"/>
            </a:pPr>
            <a:r>
              <a:rPr lang="en-GB" sz="1400"/>
              <a:t>Branch product portfolios tied to shopping missions and Customer behavior analytics </a:t>
            </a:r>
            <a:endParaRPr/>
          </a:p>
          <a:p>
            <a:pPr indent="-169863" lvl="0" marL="169863" rtl="0" algn="l">
              <a:lnSpc>
                <a:spcPct val="95000"/>
              </a:lnSpc>
              <a:spcBef>
                <a:spcPts val="800"/>
              </a:spcBef>
              <a:spcAft>
                <a:spcPts val="0"/>
              </a:spcAft>
              <a:buClr>
                <a:schemeClr val="dk1"/>
              </a:buClr>
              <a:buSzPts val="1400"/>
              <a:buChar char="•"/>
            </a:pPr>
            <a:r>
              <a:rPr lang="en-GB" sz="1400"/>
              <a:t>Pricing and promotion analytics</a:t>
            </a:r>
            <a:endParaRPr/>
          </a:p>
          <a:p>
            <a:pPr indent="-169863" lvl="0" marL="169863" rtl="0" algn="l">
              <a:lnSpc>
                <a:spcPct val="95000"/>
              </a:lnSpc>
              <a:spcBef>
                <a:spcPts val="800"/>
              </a:spcBef>
              <a:spcAft>
                <a:spcPts val="0"/>
              </a:spcAft>
              <a:buClr>
                <a:schemeClr val="dk1"/>
              </a:buClr>
              <a:buSzPts val="1400"/>
              <a:buChar char="•"/>
            </a:pPr>
            <a:r>
              <a:rPr lang="en-GB" sz="1400"/>
              <a:t>Markdown management analytics</a:t>
            </a:r>
            <a:endParaRPr/>
          </a:p>
          <a:p>
            <a:pPr indent="-169863" lvl="0" marL="169863" rtl="0" algn="l">
              <a:lnSpc>
                <a:spcPct val="95000"/>
              </a:lnSpc>
              <a:spcBef>
                <a:spcPts val="800"/>
              </a:spcBef>
              <a:spcAft>
                <a:spcPts val="0"/>
              </a:spcAft>
              <a:buClr>
                <a:schemeClr val="dk1"/>
              </a:buClr>
              <a:buSzPts val="1400"/>
              <a:buChar char="•"/>
            </a:pPr>
            <a:r>
              <a:rPr lang="en-GB" sz="1400"/>
              <a:t>Promotion modeling, Intelligent product introduction</a:t>
            </a:r>
            <a:endParaRPr/>
          </a:p>
          <a:p>
            <a:pPr indent="-169863" lvl="0" marL="169863" rtl="0" algn="l">
              <a:lnSpc>
                <a:spcPct val="95000"/>
              </a:lnSpc>
              <a:spcBef>
                <a:spcPts val="800"/>
              </a:spcBef>
              <a:spcAft>
                <a:spcPts val="0"/>
              </a:spcAft>
              <a:buClr>
                <a:schemeClr val="dk1"/>
              </a:buClr>
              <a:buSzPts val="1400"/>
              <a:buChar char="•"/>
            </a:pPr>
            <a:r>
              <a:rPr lang="en-GB" sz="1400"/>
              <a:t>Product Profitability Modeling</a:t>
            </a:r>
            <a:endParaRPr/>
          </a:p>
          <a:p>
            <a:pPr indent="-169863" lvl="0" marL="169863" rtl="0" algn="l">
              <a:lnSpc>
                <a:spcPct val="95000"/>
              </a:lnSpc>
              <a:spcBef>
                <a:spcPts val="800"/>
              </a:spcBef>
              <a:spcAft>
                <a:spcPts val="0"/>
              </a:spcAft>
              <a:buClr>
                <a:schemeClr val="dk1"/>
              </a:buClr>
              <a:buSzPts val="1400"/>
              <a:buChar char="•"/>
            </a:pPr>
            <a:r>
              <a:rPr lang="en-GB" sz="1400"/>
              <a:t>Best practice data models to accelerate banking product product portfolio and basket analytics</a:t>
            </a:r>
            <a:endParaRPr/>
          </a:p>
          <a:p>
            <a:pPr indent="0" lvl="0" marL="0" rtl="0" algn="l">
              <a:lnSpc>
                <a:spcPct val="95000"/>
              </a:lnSpc>
              <a:spcBef>
                <a:spcPts val="800"/>
              </a:spcBef>
              <a:spcAft>
                <a:spcPts val="0"/>
              </a:spcAft>
              <a:buClr>
                <a:schemeClr val="dk1"/>
              </a:buClr>
              <a:buSzPts val="1400"/>
              <a:buNone/>
            </a:pPr>
            <a:r>
              <a:t/>
            </a:r>
            <a:endParaRPr sz="1400"/>
          </a:p>
        </p:txBody>
      </p:sp>
      <p:sp>
        <p:nvSpPr>
          <p:cNvPr id="6484" name="Google Shape;6484;p360"/>
          <p:cNvSpPr txBox="1"/>
          <p:nvPr>
            <p:ph idx="2" type="body"/>
          </p:nvPr>
        </p:nvSpPr>
        <p:spPr>
          <a:xfrm>
            <a:off x="3297994" y="4923703"/>
            <a:ext cx="2548012" cy="106186"/>
          </a:xfrm>
          <a:prstGeom prst="rect">
            <a:avLst/>
          </a:prstGeom>
          <a:noFill/>
          <a:ln>
            <a:noFill/>
          </a:ln>
        </p:spPr>
        <p:txBody>
          <a:bodyPr anchorCtr="0" anchor="t" bIns="0" lIns="0" spcFirstLastPara="1" rIns="0" wrap="square" tIns="0">
            <a:noAutofit/>
          </a:bodyPr>
          <a:lstStyle/>
          <a:p>
            <a:pPr indent="0" lvl="0" marL="0" rtl="0" algn="ctr">
              <a:lnSpc>
                <a:spcPct val="85000"/>
              </a:lnSpc>
              <a:spcBef>
                <a:spcPts val="0"/>
              </a:spcBef>
              <a:spcAft>
                <a:spcPts val="0"/>
              </a:spcAft>
              <a:buClr>
                <a:srgbClr val="4FB0FF"/>
              </a:buClr>
              <a:buSzPts val="700"/>
              <a:buFont typeface="Century Gothic"/>
              <a:buNone/>
            </a:pPr>
            <a:r>
              <a:t/>
            </a:r>
            <a:endParaRPr/>
          </a:p>
        </p:txBody>
      </p:sp>
      <p:pic>
        <p:nvPicPr>
          <p:cNvPr descr="BIZ-1054-L.jpg" id="6485" name="Google Shape;6485;p360"/>
          <p:cNvPicPr preferRelativeResize="0"/>
          <p:nvPr/>
        </p:nvPicPr>
        <p:blipFill rotWithShape="1">
          <a:blip r:embed="rId3">
            <a:alphaModFix/>
          </a:blip>
          <a:srcRect b="0" l="-8520" r="-8519" t="0"/>
          <a:stretch/>
        </p:blipFill>
        <p:spPr>
          <a:xfrm>
            <a:off x="5311588" y="951753"/>
            <a:ext cx="4133570" cy="2398713"/>
          </a:xfrm>
          <a:prstGeom prst="rect">
            <a:avLst/>
          </a:prstGeom>
          <a:noFill/>
          <a:ln>
            <a:noFill/>
          </a:ln>
        </p:spPr>
      </p:pic>
      <p:sp>
        <p:nvSpPr>
          <p:cNvPr id="6486" name="Google Shape;6486;p360">
            <a:hlinkClick action="ppaction://hlinksldjump" r:id="rId4"/>
          </p:cNvPr>
          <p:cNvSpPr/>
          <p:nvPr/>
        </p:nvSpPr>
        <p:spPr>
          <a:xfrm>
            <a:off x="6515100" y="-196501"/>
            <a:ext cx="2777392" cy="378533"/>
          </a:xfrm>
          <a:prstGeom prst="roundRect">
            <a:avLst>
              <a:gd fmla="val 50000" name="adj"/>
            </a:avLst>
          </a:prstGeom>
          <a:solidFill>
            <a:schemeClr val="accent1"/>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Product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0" name="Shape 6490"/>
        <p:cNvGrpSpPr/>
        <p:nvPr/>
      </p:nvGrpSpPr>
      <p:grpSpPr>
        <a:xfrm>
          <a:off x="0" y="0"/>
          <a:ext cx="0" cy="0"/>
          <a:chOff x="0" y="0"/>
          <a:chExt cx="0" cy="0"/>
        </a:xfrm>
      </p:grpSpPr>
      <p:sp>
        <p:nvSpPr>
          <p:cNvPr id="6491" name="Google Shape;6491;p361"/>
          <p:cNvSpPr txBox="1"/>
          <p:nvPr>
            <p:ph idx="1" type="body"/>
          </p:nvPr>
        </p:nvSpPr>
        <p:spPr>
          <a:xfrm>
            <a:off x="467360" y="981025"/>
            <a:ext cx="3545839" cy="3344033"/>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0079DB"/>
              </a:buClr>
              <a:buSzPts val="1800"/>
              <a:buNone/>
            </a:pPr>
            <a:r>
              <a:rPr lang="en-GB">
                <a:solidFill>
                  <a:srgbClr val="0079DB"/>
                </a:solidFill>
              </a:rPr>
              <a:t>Interesting Facts/Stats/Quotes</a:t>
            </a:r>
            <a:endParaRPr b="1">
              <a:solidFill>
                <a:schemeClr val="accent1"/>
              </a:solidFill>
            </a:endParaRPr>
          </a:p>
          <a:p>
            <a:pPr indent="-169863" lvl="0" marL="169863" rtl="0" algn="l">
              <a:lnSpc>
                <a:spcPct val="110000"/>
              </a:lnSpc>
              <a:spcBef>
                <a:spcPts val="800"/>
              </a:spcBef>
              <a:spcAft>
                <a:spcPts val="0"/>
              </a:spcAft>
              <a:buClr>
                <a:schemeClr val="dk1"/>
              </a:buClr>
              <a:buSzPts val="1100"/>
              <a:buChar char="•"/>
            </a:pPr>
            <a:r>
              <a:rPr lang="en-GB" sz="1100"/>
              <a:t>The Product Development &amp; Management Association (PDMA) found differences in failure rates of new products, ranging from 35% for healthcare to 49% for fast moving customer goods</a:t>
            </a:r>
            <a:endParaRPr/>
          </a:p>
          <a:p>
            <a:pPr indent="-169863" lvl="0" marL="169863" rtl="0" algn="l">
              <a:lnSpc>
                <a:spcPct val="110000"/>
              </a:lnSpc>
              <a:spcBef>
                <a:spcPts val="800"/>
              </a:spcBef>
              <a:spcAft>
                <a:spcPts val="0"/>
              </a:spcAft>
              <a:buClr>
                <a:schemeClr val="dk1"/>
              </a:buClr>
              <a:buSzPts val="1100"/>
              <a:buChar char="•"/>
            </a:pPr>
            <a:r>
              <a:rPr lang="en-GB" sz="1100"/>
              <a:t>McKinsey and Company estimates that up to 30 percent of the thousands of pricing decisions companies make every year fail to deliver the best price</a:t>
            </a:r>
            <a:endParaRPr/>
          </a:p>
          <a:p>
            <a:pPr indent="-169863" lvl="0" marL="169863" rtl="0" algn="l">
              <a:lnSpc>
                <a:spcPct val="110000"/>
              </a:lnSpc>
              <a:spcBef>
                <a:spcPts val="800"/>
              </a:spcBef>
              <a:spcAft>
                <a:spcPts val="0"/>
              </a:spcAft>
              <a:buClr>
                <a:schemeClr val="dk1"/>
              </a:buClr>
              <a:buSzPts val="1100"/>
              <a:buChar char="•"/>
            </a:pPr>
            <a:r>
              <a:rPr lang="en-GB" sz="1100"/>
              <a:t>Pakistan Banking Industry Data indicates maximum growth opportunity lies in product portfolio or product-mix localization, integrating product design/development data, with 33% retailers planning to do this in the next 12 months. </a:t>
            </a:r>
            <a:endParaRPr/>
          </a:p>
          <a:p>
            <a:pPr indent="-169863" lvl="0" marL="169863" rtl="0" algn="l">
              <a:lnSpc>
                <a:spcPct val="110000"/>
              </a:lnSpc>
              <a:spcBef>
                <a:spcPts val="800"/>
              </a:spcBef>
              <a:spcAft>
                <a:spcPts val="0"/>
              </a:spcAft>
              <a:buClr>
                <a:schemeClr val="dk1"/>
              </a:buClr>
              <a:buSzPts val="1100"/>
              <a:buChar char="•"/>
            </a:pPr>
            <a:r>
              <a:rPr lang="en-GB" sz="1100"/>
              <a:t>Close to 60% of retailers indicated partial or no integration between their banking product planning and execution at the process and systems-level. </a:t>
            </a:r>
            <a:endParaRPr/>
          </a:p>
          <a:p>
            <a:pPr indent="-100013" lvl="0" marL="169863" rtl="0" algn="l">
              <a:lnSpc>
                <a:spcPct val="110000"/>
              </a:lnSpc>
              <a:spcBef>
                <a:spcPts val="800"/>
              </a:spcBef>
              <a:spcAft>
                <a:spcPts val="0"/>
              </a:spcAft>
              <a:buClr>
                <a:schemeClr val="dk1"/>
              </a:buClr>
              <a:buSzPts val="1100"/>
              <a:buNone/>
            </a:pPr>
            <a:r>
              <a:t/>
            </a:r>
            <a:endParaRPr sz="1100"/>
          </a:p>
          <a:p>
            <a:pPr indent="0" lvl="0" marL="0" rtl="0" algn="l">
              <a:lnSpc>
                <a:spcPct val="110000"/>
              </a:lnSpc>
              <a:spcBef>
                <a:spcPts val="800"/>
              </a:spcBef>
              <a:spcAft>
                <a:spcPts val="0"/>
              </a:spcAft>
              <a:buClr>
                <a:schemeClr val="dk1"/>
              </a:buClr>
              <a:buSzPts val="1100"/>
              <a:buNone/>
            </a:pPr>
            <a:r>
              <a:t/>
            </a:r>
            <a:endParaRPr sz="1100"/>
          </a:p>
        </p:txBody>
      </p:sp>
      <p:sp>
        <p:nvSpPr>
          <p:cNvPr id="6492" name="Google Shape;6492;p361"/>
          <p:cNvSpPr txBox="1"/>
          <p:nvPr>
            <p:ph type="title"/>
          </p:nvPr>
        </p:nvSpPr>
        <p:spPr>
          <a:xfrm>
            <a:off x="477880" y="174273"/>
            <a:ext cx="5435240" cy="704088"/>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Product Management</a:t>
            </a:r>
            <a:endParaRPr/>
          </a:p>
        </p:txBody>
      </p:sp>
      <p:sp>
        <p:nvSpPr>
          <p:cNvPr id="6493" name="Google Shape;6493;p361"/>
          <p:cNvSpPr/>
          <p:nvPr/>
        </p:nvSpPr>
        <p:spPr>
          <a:xfrm>
            <a:off x="7772400" y="-368299"/>
            <a:ext cx="4616448" cy="5054600"/>
          </a:xfrm>
          <a:prstGeom prst="roundRect">
            <a:avLst>
              <a:gd fmla="val 3493" name="adj"/>
            </a:avLst>
          </a:prstGeom>
          <a:solidFill>
            <a:srgbClr val="FFFFFF"/>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pic>
        <p:nvPicPr>
          <p:cNvPr id="6494" name="Google Shape;6494;p361"/>
          <p:cNvPicPr preferRelativeResize="0"/>
          <p:nvPr/>
        </p:nvPicPr>
        <p:blipFill rotWithShape="1">
          <a:blip r:embed="rId3">
            <a:alphaModFix/>
          </a:blip>
          <a:srcRect b="38306" l="0" r="0" t="0"/>
          <a:stretch/>
        </p:blipFill>
        <p:spPr>
          <a:xfrm>
            <a:off x="4445313" y="266645"/>
            <a:ext cx="3594937" cy="4419656"/>
          </a:xfrm>
          <a:prstGeom prst="rect">
            <a:avLst/>
          </a:prstGeom>
          <a:noFill/>
          <a:ln>
            <a:noFill/>
          </a:ln>
        </p:spPr>
      </p:pic>
      <p:sp>
        <p:nvSpPr>
          <p:cNvPr id="6495" name="Google Shape;6495;p361"/>
          <p:cNvSpPr txBox="1"/>
          <p:nvPr/>
        </p:nvSpPr>
        <p:spPr>
          <a:xfrm>
            <a:off x="4445313" y="4649817"/>
            <a:ext cx="1301959" cy="209288"/>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800">
                <a:solidFill>
                  <a:srgbClr val="A5A5A5"/>
                </a:solidFill>
                <a:latin typeface="Century Gothic"/>
                <a:ea typeface="Century Gothic"/>
                <a:cs typeface="Century Gothic"/>
                <a:sym typeface="Century Gothic"/>
              </a:rPr>
              <a:t>Source: CBX Web Blog</a:t>
            </a:r>
            <a:endParaRPr/>
          </a:p>
        </p:txBody>
      </p:sp>
      <p:sp>
        <p:nvSpPr>
          <p:cNvPr id="6496" name="Google Shape;6496;p361">
            <a:hlinkClick action="ppaction://hlinksldjump" r:id="rId4"/>
          </p:cNvPr>
          <p:cNvSpPr/>
          <p:nvPr/>
        </p:nvSpPr>
        <p:spPr>
          <a:xfrm>
            <a:off x="6515100" y="-196501"/>
            <a:ext cx="2777392" cy="378533"/>
          </a:xfrm>
          <a:prstGeom prst="roundRect">
            <a:avLst>
              <a:gd fmla="val 50000" name="adj"/>
            </a:avLst>
          </a:prstGeom>
          <a:solidFill>
            <a:schemeClr val="accent1"/>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Product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0" name="Shape 6500"/>
        <p:cNvGrpSpPr/>
        <p:nvPr/>
      </p:nvGrpSpPr>
      <p:grpSpPr>
        <a:xfrm>
          <a:off x="0" y="0"/>
          <a:ext cx="0" cy="0"/>
          <a:chOff x="0" y="0"/>
          <a:chExt cx="0" cy="0"/>
        </a:xfrm>
      </p:grpSpPr>
      <p:sp>
        <p:nvSpPr>
          <p:cNvPr id="6501" name="Google Shape;6501;p362"/>
          <p:cNvSpPr txBox="1"/>
          <p:nvPr>
            <p:ph idx="1" type="body"/>
          </p:nvPr>
        </p:nvSpPr>
        <p:spPr>
          <a:xfrm>
            <a:off x="467360" y="981025"/>
            <a:ext cx="4472775" cy="3344033"/>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0079DB"/>
              </a:buClr>
              <a:buSzPts val="1800"/>
              <a:buNone/>
            </a:pPr>
            <a:r>
              <a:rPr lang="en-GB">
                <a:solidFill>
                  <a:srgbClr val="0079DB"/>
                </a:solidFill>
              </a:rPr>
              <a:t>Pakistan Banking Industry Data (2014)</a:t>
            </a:r>
            <a:endParaRPr b="1">
              <a:solidFill>
                <a:schemeClr val="accent1"/>
              </a:solidFill>
            </a:endParaRPr>
          </a:p>
          <a:p>
            <a:pPr indent="-169863" lvl="0" marL="169863" rtl="0" algn="l">
              <a:lnSpc>
                <a:spcPct val="95000"/>
              </a:lnSpc>
              <a:spcBef>
                <a:spcPts val="800"/>
              </a:spcBef>
              <a:spcAft>
                <a:spcPts val="0"/>
              </a:spcAft>
              <a:buClr>
                <a:schemeClr val="dk1"/>
              </a:buClr>
              <a:buSzPts val="1100"/>
              <a:buChar char="•"/>
            </a:pPr>
            <a:r>
              <a:rPr lang="en-GB" sz="1100"/>
              <a:t>Close to 60% of bankingers indicated partial or no integration between their banking product planning and execution at the process and systems-level.</a:t>
            </a:r>
            <a:endParaRPr/>
          </a:p>
          <a:p>
            <a:pPr indent="-169863" lvl="0" marL="169863" rtl="0" algn="l">
              <a:lnSpc>
                <a:spcPct val="95000"/>
              </a:lnSpc>
              <a:spcBef>
                <a:spcPts val="800"/>
              </a:spcBef>
              <a:spcAft>
                <a:spcPts val="0"/>
              </a:spcAft>
              <a:buClr>
                <a:schemeClr val="dk1"/>
              </a:buClr>
              <a:buSzPts val="1100"/>
              <a:buChar char="•"/>
            </a:pPr>
            <a:r>
              <a:rPr lang="en-GB" sz="1100"/>
              <a:t>For close to half (47%) of the bankingers, continued growth in multi-site, multi-tier, multi-country upstream banking product product collaboration needs is a constant pressure for product management, product development and supply chain teams.</a:t>
            </a:r>
            <a:endParaRPr/>
          </a:p>
          <a:p>
            <a:pPr indent="-169863" lvl="0" marL="169863" rtl="0" algn="l">
              <a:lnSpc>
                <a:spcPct val="95000"/>
              </a:lnSpc>
              <a:spcBef>
                <a:spcPts val="800"/>
              </a:spcBef>
              <a:spcAft>
                <a:spcPts val="0"/>
              </a:spcAft>
              <a:buClr>
                <a:schemeClr val="dk1"/>
              </a:buClr>
              <a:buSzPts val="1100"/>
              <a:buChar char="•"/>
            </a:pPr>
            <a:r>
              <a:rPr lang="en-GB" sz="1100"/>
              <a:t>More than one-third of bankingers will improve product manufacturer compliance, reduce environmental impact and introduce more ethical sourcing in the next 12 months horizon.</a:t>
            </a:r>
            <a:endParaRPr/>
          </a:p>
          <a:p>
            <a:pPr indent="-169863" lvl="0" marL="169863" rtl="0" algn="l">
              <a:lnSpc>
                <a:spcPct val="95000"/>
              </a:lnSpc>
              <a:spcBef>
                <a:spcPts val="800"/>
              </a:spcBef>
              <a:spcAft>
                <a:spcPts val="0"/>
              </a:spcAft>
              <a:buClr>
                <a:schemeClr val="dk1"/>
              </a:buClr>
              <a:buSzPts val="1100"/>
              <a:buChar char="•"/>
            </a:pPr>
            <a:r>
              <a:rPr lang="en-GB" sz="1100"/>
              <a:t>Maximum growth opportunity lies in product portfolio or product-mix localization, integrating product design/development data, with 33% bankingers planning to do this in the next 12 months.</a:t>
            </a:r>
            <a:endParaRPr/>
          </a:p>
          <a:p>
            <a:pPr indent="-169863" lvl="0" marL="169863" rtl="0" algn="l">
              <a:lnSpc>
                <a:spcPct val="95000"/>
              </a:lnSpc>
              <a:spcBef>
                <a:spcPts val="800"/>
              </a:spcBef>
              <a:spcAft>
                <a:spcPts val="0"/>
              </a:spcAft>
              <a:buClr>
                <a:schemeClr val="dk1"/>
              </a:buClr>
              <a:buSzPts val="1100"/>
              <a:buChar char="•"/>
            </a:pPr>
            <a:r>
              <a:rPr lang="en-GB" sz="1100"/>
              <a:t>On average, half of the bankingers surveyed indicate an increase in product development and management challenges from long lead times and threat of global and local competition.</a:t>
            </a:r>
            <a:endParaRPr sz="1100"/>
          </a:p>
        </p:txBody>
      </p:sp>
      <p:sp>
        <p:nvSpPr>
          <p:cNvPr id="6502" name="Google Shape;6502;p362"/>
          <p:cNvSpPr txBox="1"/>
          <p:nvPr>
            <p:ph type="title"/>
          </p:nvPr>
        </p:nvSpPr>
        <p:spPr>
          <a:xfrm>
            <a:off x="477880" y="174273"/>
            <a:ext cx="5435240" cy="704088"/>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Product Management for Banking</a:t>
            </a:r>
            <a:endParaRPr/>
          </a:p>
        </p:txBody>
      </p:sp>
      <p:sp>
        <p:nvSpPr>
          <p:cNvPr id="6503" name="Google Shape;6503;p362"/>
          <p:cNvSpPr/>
          <p:nvPr/>
        </p:nvSpPr>
        <p:spPr>
          <a:xfrm>
            <a:off x="7772400" y="-368299"/>
            <a:ext cx="4616448" cy="5054600"/>
          </a:xfrm>
          <a:prstGeom prst="roundRect">
            <a:avLst>
              <a:gd fmla="val 3493" name="adj"/>
            </a:avLst>
          </a:prstGeom>
          <a:solidFill>
            <a:srgbClr val="FFFFFF"/>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6504" name="Google Shape;6504;p362"/>
          <p:cNvSpPr txBox="1"/>
          <p:nvPr/>
        </p:nvSpPr>
        <p:spPr>
          <a:xfrm>
            <a:off x="4445313" y="4649817"/>
            <a:ext cx="1273105" cy="209288"/>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800">
                <a:solidFill>
                  <a:srgbClr val="A5A5A5"/>
                </a:solidFill>
                <a:latin typeface="Century Gothic"/>
                <a:ea typeface="Century Gothic"/>
                <a:cs typeface="Century Gothic"/>
                <a:sym typeface="Century Gothic"/>
              </a:rPr>
              <a:t>Source: Pakistan Banking Industry Data</a:t>
            </a:r>
            <a:endParaRPr/>
          </a:p>
        </p:txBody>
      </p:sp>
      <p:pic>
        <p:nvPicPr>
          <p:cNvPr id="6505" name="Google Shape;6505;p362"/>
          <p:cNvPicPr preferRelativeResize="0"/>
          <p:nvPr/>
        </p:nvPicPr>
        <p:blipFill rotWithShape="1">
          <a:blip r:embed="rId3">
            <a:alphaModFix/>
          </a:blip>
          <a:srcRect b="0" l="0" r="0" t="0"/>
          <a:stretch/>
        </p:blipFill>
        <p:spPr>
          <a:xfrm>
            <a:off x="4940135" y="822306"/>
            <a:ext cx="4059752" cy="3849765"/>
          </a:xfrm>
          <a:prstGeom prst="rect">
            <a:avLst/>
          </a:prstGeom>
          <a:noFill/>
          <a:ln cap="flat" cmpd="sng" w="9525">
            <a:solidFill>
              <a:schemeClr val="dk1"/>
            </a:solidFill>
            <a:prstDash val="solid"/>
            <a:miter lim="800000"/>
            <a:headEnd len="sm" w="sm" type="none"/>
            <a:tailEnd len="sm" w="sm" type="none"/>
          </a:ln>
        </p:spPr>
      </p:pic>
      <p:sp>
        <p:nvSpPr>
          <p:cNvPr id="6506" name="Google Shape;6506;p362">
            <a:hlinkClick action="ppaction://hlinksldjump" r:id="rId4"/>
          </p:cNvPr>
          <p:cNvSpPr/>
          <p:nvPr/>
        </p:nvSpPr>
        <p:spPr>
          <a:xfrm>
            <a:off x="6515100" y="-196501"/>
            <a:ext cx="2777392" cy="378533"/>
          </a:xfrm>
          <a:prstGeom prst="roundRect">
            <a:avLst>
              <a:gd fmla="val 50000" name="adj"/>
            </a:avLst>
          </a:prstGeom>
          <a:solidFill>
            <a:schemeClr val="accent1"/>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Product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0" name="Shape 6510"/>
        <p:cNvGrpSpPr/>
        <p:nvPr/>
      </p:nvGrpSpPr>
      <p:grpSpPr>
        <a:xfrm>
          <a:off x="0" y="0"/>
          <a:ext cx="0" cy="0"/>
          <a:chOff x="0" y="0"/>
          <a:chExt cx="0" cy="0"/>
        </a:xfrm>
      </p:grpSpPr>
      <p:sp>
        <p:nvSpPr>
          <p:cNvPr id="6511" name="Google Shape;6511;p363"/>
          <p:cNvSpPr txBox="1"/>
          <p:nvPr>
            <p:ph type="title"/>
          </p:nvPr>
        </p:nvSpPr>
        <p:spPr>
          <a:xfrm>
            <a:off x="477880" y="174273"/>
            <a:ext cx="5435240" cy="704088"/>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Product Management</a:t>
            </a:r>
            <a:endParaRPr/>
          </a:p>
        </p:txBody>
      </p:sp>
      <p:sp>
        <p:nvSpPr>
          <p:cNvPr id="6512" name="Google Shape;6512;p363"/>
          <p:cNvSpPr txBox="1"/>
          <p:nvPr>
            <p:ph idx="4294967295" type="body"/>
          </p:nvPr>
        </p:nvSpPr>
        <p:spPr>
          <a:xfrm>
            <a:off x="312325" y="976182"/>
            <a:ext cx="4869260" cy="3672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2"/>
              </a:buClr>
              <a:buSzPts val="1800"/>
              <a:buNone/>
            </a:pPr>
            <a:r>
              <a:rPr lang="en-GB">
                <a:solidFill>
                  <a:schemeClr val="dk2"/>
                </a:solidFill>
              </a:rPr>
              <a:t>   Are You Able To…</a:t>
            </a:r>
            <a:endParaRPr/>
          </a:p>
          <a:p>
            <a:pPr indent="-228600" lvl="1" marL="457200" rtl="0" algn="l">
              <a:lnSpc>
                <a:spcPct val="100000"/>
              </a:lnSpc>
              <a:spcBef>
                <a:spcPts val="600"/>
              </a:spcBef>
              <a:spcAft>
                <a:spcPts val="0"/>
              </a:spcAft>
              <a:buClr>
                <a:srgbClr val="3C3C3B"/>
              </a:buClr>
              <a:buSzPts val="1200"/>
              <a:buChar char="–"/>
            </a:pPr>
            <a:r>
              <a:rPr lang="en-GB" sz="1200">
                <a:solidFill>
                  <a:srgbClr val="3C3C3B"/>
                </a:solidFill>
              </a:rPr>
              <a:t>Identify trends  and develop distinctive products that your customers want to buy , providing competitive differentiation?</a:t>
            </a:r>
            <a:endParaRPr/>
          </a:p>
          <a:p>
            <a:pPr indent="-228600" lvl="1" marL="457200" rtl="0" algn="l">
              <a:lnSpc>
                <a:spcPct val="100000"/>
              </a:lnSpc>
              <a:spcBef>
                <a:spcPts val="600"/>
              </a:spcBef>
              <a:spcAft>
                <a:spcPts val="0"/>
              </a:spcAft>
              <a:buClr>
                <a:srgbClr val="3C3C3B"/>
              </a:buClr>
              <a:buSzPts val="1200"/>
              <a:buChar char="–"/>
            </a:pPr>
            <a:r>
              <a:rPr lang="en-GB" sz="1200">
                <a:solidFill>
                  <a:srgbClr val="3C3C3B"/>
                </a:solidFill>
              </a:rPr>
              <a:t>Tailor product portfolios to align product portfolio by location and channel?</a:t>
            </a:r>
            <a:endParaRPr/>
          </a:p>
          <a:p>
            <a:pPr indent="-228600" lvl="1" marL="457200" rtl="0" algn="l">
              <a:lnSpc>
                <a:spcPct val="100000"/>
              </a:lnSpc>
              <a:spcBef>
                <a:spcPts val="600"/>
              </a:spcBef>
              <a:spcAft>
                <a:spcPts val="0"/>
              </a:spcAft>
              <a:buClr>
                <a:srgbClr val="3C3C3B"/>
              </a:buClr>
              <a:buSzPts val="1200"/>
              <a:buChar char="–"/>
            </a:pPr>
            <a:r>
              <a:rPr lang="en-GB" sz="1200">
                <a:solidFill>
                  <a:srgbClr val="3C3C3B"/>
                </a:solidFill>
              </a:rPr>
              <a:t>Identify trends in-season and react in hours or minutes?</a:t>
            </a:r>
            <a:endParaRPr/>
          </a:p>
          <a:p>
            <a:pPr indent="-228600" lvl="1" marL="457200" rtl="0" algn="l">
              <a:lnSpc>
                <a:spcPct val="100000"/>
              </a:lnSpc>
              <a:spcBef>
                <a:spcPts val="600"/>
              </a:spcBef>
              <a:spcAft>
                <a:spcPts val="0"/>
              </a:spcAft>
              <a:buClr>
                <a:srgbClr val="3C3C3B"/>
              </a:buClr>
              <a:buSzPts val="1200"/>
              <a:buChar char="–"/>
            </a:pPr>
            <a:r>
              <a:rPr lang="en-GB" sz="1200">
                <a:solidFill>
                  <a:srgbClr val="3C3C3B"/>
                </a:solidFill>
              </a:rPr>
              <a:t>Set and adjust prices based on competition and predictive customer response models?</a:t>
            </a:r>
            <a:endParaRPr/>
          </a:p>
          <a:p>
            <a:pPr indent="-228600" lvl="1" marL="457200" rtl="0" algn="l">
              <a:lnSpc>
                <a:spcPct val="100000"/>
              </a:lnSpc>
              <a:spcBef>
                <a:spcPts val="600"/>
              </a:spcBef>
              <a:spcAft>
                <a:spcPts val="0"/>
              </a:spcAft>
              <a:buClr>
                <a:schemeClr val="dk1"/>
              </a:buClr>
              <a:buSzPts val="1200"/>
              <a:buChar char="–"/>
            </a:pPr>
            <a:r>
              <a:rPr lang="en-GB" sz="1200"/>
              <a:t>Optimize initial price, promotional and product sunset rate adjustments to maximize sales and margin?</a:t>
            </a:r>
            <a:endParaRPr/>
          </a:p>
          <a:p>
            <a:pPr indent="-228600" lvl="1" marL="457200" rtl="0" algn="l">
              <a:lnSpc>
                <a:spcPct val="100000"/>
              </a:lnSpc>
              <a:spcBef>
                <a:spcPts val="600"/>
              </a:spcBef>
              <a:spcAft>
                <a:spcPts val="0"/>
              </a:spcAft>
              <a:buClr>
                <a:schemeClr val="dk1"/>
              </a:buClr>
              <a:buSzPts val="1200"/>
              <a:buChar char="–"/>
            </a:pPr>
            <a:r>
              <a:rPr lang="en-GB" sz="1200"/>
              <a:t>Allocate promotional space, based on customer responses and profitability?</a:t>
            </a:r>
            <a:endParaRPr/>
          </a:p>
          <a:p>
            <a:pPr indent="-228600" lvl="1" marL="457200" rtl="0" algn="l">
              <a:lnSpc>
                <a:spcPct val="100000"/>
              </a:lnSpc>
              <a:spcBef>
                <a:spcPts val="600"/>
              </a:spcBef>
              <a:spcAft>
                <a:spcPts val="0"/>
              </a:spcAft>
              <a:buClr>
                <a:schemeClr val="dk1"/>
              </a:buClr>
              <a:buSzPts val="1200"/>
              <a:buChar char="–"/>
            </a:pPr>
            <a:r>
              <a:rPr lang="en-GB" sz="1200"/>
              <a:t>Manage how product portfolio and promotional mix influences demand, increasing units sold and products per customer?</a:t>
            </a:r>
            <a:endParaRPr/>
          </a:p>
          <a:p>
            <a:pPr indent="-228600" lvl="1" marL="457200" rtl="0" algn="l">
              <a:lnSpc>
                <a:spcPct val="100000"/>
              </a:lnSpc>
              <a:spcBef>
                <a:spcPts val="600"/>
              </a:spcBef>
              <a:spcAft>
                <a:spcPts val="0"/>
              </a:spcAft>
              <a:buClr>
                <a:schemeClr val="dk1"/>
              </a:buClr>
              <a:buSzPts val="1200"/>
              <a:buChar char="–"/>
            </a:pPr>
            <a:r>
              <a:rPr lang="en-GB" sz="1200"/>
              <a:t>Analyze a products’ overall profitability across all customers and channels?</a:t>
            </a:r>
            <a:endParaRPr/>
          </a:p>
          <a:p>
            <a:pPr indent="-152400" lvl="1" marL="457200" rtl="0" algn="l">
              <a:lnSpc>
                <a:spcPct val="100000"/>
              </a:lnSpc>
              <a:spcBef>
                <a:spcPts val="0"/>
              </a:spcBef>
              <a:spcAft>
                <a:spcPts val="0"/>
              </a:spcAft>
              <a:buClr>
                <a:schemeClr val="dk1"/>
              </a:buClr>
              <a:buSzPts val="1200"/>
              <a:buNone/>
            </a:pPr>
            <a:r>
              <a:t/>
            </a:r>
            <a:endParaRPr sz="1200"/>
          </a:p>
          <a:p>
            <a:pPr indent="-152400" lvl="1" marL="457200" rtl="0" algn="l">
              <a:lnSpc>
                <a:spcPct val="100000"/>
              </a:lnSpc>
              <a:spcBef>
                <a:spcPts val="0"/>
              </a:spcBef>
              <a:spcAft>
                <a:spcPts val="0"/>
              </a:spcAft>
              <a:buClr>
                <a:schemeClr val="dk1"/>
              </a:buClr>
              <a:buSzPts val="1200"/>
              <a:buNone/>
            </a:pPr>
            <a:r>
              <a:t/>
            </a:r>
            <a:endParaRPr sz="1200"/>
          </a:p>
          <a:p>
            <a:pPr indent="-152400" lvl="1" marL="457200" rtl="0" algn="l">
              <a:lnSpc>
                <a:spcPct val="100000"/>
              </a:lnSpc>
              <a:spcBef>
                <a:spcPts val="0"/>
              </a:spcBef>
              <a:spcAft>
                <a:spcPts val="0"/>
              </a:spcAft>
              <a:buClr>
                <a:schemeClr val="dk1"/>
              </a:buClr>
              <a:buSzPts val="1200"/>
              <a:buNone/>
            </a:pPr>
            <a:r>
              <a:t/>
            </a:r>
            <a:endParaRPr sz="1200"/>
          </a:p>
          <a:p>
            <a:pPr indent="-152400" lvl="1" marL="457200" rtl="0" algn="l">
              <a:lnSpc>
                <a:spcPct val="100000"/>
              </a:lnSpc>
              <a:spcBef>
                <a:spcPts val="0"/>
              </a:spcBef>
              <a:spcAft>
                <a:spcPts val="0"/>
              </a:spcAft>
              <a:buClr>
                <a:schemeClr val="dk1"/>
              </a:buClr>
              <a:buSzPts val="1200"/>
              <a:buNone/>
            </a:pPr>
            <a:r>
              <a:t/>
            </a:r>
            <a:endParaRPr sz="1200"/>
          </a:p>
          <a:p>
            <a:pPr indent="-152400" lvl="1" marL="457200" rtl="0" algn="l">
              <a:lnSpc>
                <a:spcPct val="100000"/>
              </a:lnSpc>
              <a:spcBef>
                <a:spcPts val="0"/>
              </a:spcBef>
              <a:spcAft>
                <a:spcPts val="0"/>
              </a:spcAft>
              <a:buClr>
                <a:schemeClr val="dk1"/>
              </a:buClr>
              <a:buSzPts val="1200"/>
              <a:buNone/>
            </a:pPr>
            <a:r>
              <a:t/>
            </a:r>
            <a:endParaRPr sz="1200"/>
          </a:p>
          <a:p>
            <a:pPr indent="-152400" lvl="1" marL="457200" rtl="0" algn="l">
              <a:lnSpc>
                <a:spcPct val="100000"/>
              </a:lnSpc>
              <a:spcBef>
                <a:spcPts val="0"/>
              </a:spcBef>
              <a:spcAft>
                <a:spcPts val="0"/>
              </a:spcAft>
              <a:buClr>
                <a:schemeClr val="dk1"/>
              </a:buClr>
              <a:buSzPts val="1200"/>
              <a:buNone/>
            </a:pPr>
            <a:r>
              <a:t/>
            </a:r>
            <a:endParaRPr sz="1200"/>
          </a:p>
          <a:p>
            <a:pPr indent="-152400" lvl="1" marL="457200" rtl="0" algn="l">
              <a:lnSpc>
                <a:spcPct val="100000"/>
              </a:lnSpc>
              <a:spcBef>
                <a:spcPts val="0"/>
              </a:spcBef>
              <a:spcAft>
                <a:spcPts val="0"/>
              </a:spcAft>
              <a:buClr>
                <a:schemeClr val="dk1"/>
              </a:buClr>
              <a:buSzPts val="1200"/>
              <a:buNone/>
            </a:pPr>
            <a:r>
              <a:t/>
            </a:r>
            <a:endParaRPr sz="1200"/>
          </a:p>
          <a:p>
            <a:pPr indent="-80963" lvl="0" marL="169863" rtl="0" algn="l">
              <a:lnSpc>
                <a:spcPct val="100000"/>
              </a:lnSpc>
              <a:spcBef>
                <a:spcPts val="0"/>
              </a:spcBef>
              <a:spcAft>
                <a:spcPts val="0"/>
              </a:spcAft>
              <a:buClr>
                <a:schemeClr val="dk1"/>
              </a:buClr>
              <a:buSzPts val="1400"/>
              <a:buNone/>
            </a:pPr>
            <a:r>
              <a:t/>
            </a:r>
            <a:endParaRPr sz="1400"/>
          </a:p>
          <a:p>
            <a:r>
              <a:rPr sz="900">
                <a:solidFill>
                  <a:srgbClr val="006699"/>
                </a:solidFill>
              </a:rPr>
              <a:t>Can you calculate true profitability for each product in your portfolio?</a:t>
            </a:r>
          </a:p>
          <a:p>
            <a:r>
              <a:rPr sz="900">
                <a:solidFill>
                  <a:srgbClr val="006699"/>
                </a:solidFill>
              </a:rPr>
              <a:t>Can you track product performance across all channels (branch, ATM, digital, agent)?</a:t>
            </a:r>
          </a:p>
          <a:p>
            <a:r>
              <a:rPr sz="900">
                <a:solidFill>
                  <a:srgbClr val="006699"/>
                </a:solidFill>
              </a:rPr>
              <a:t>Can you identify which products drive cross-sell and which cannibalize?</a:t>
            </a:r>
          </a:p>
          <a:p>
            <a:r>
              <a:rPr sz="900">
                <a:solidFill>
                  <a:srgbClr val="006699"/>
                </a:solidFill>
              </a:rPr>
              <a:t>Can you optimize deposit pricing (rate) vs. volume trade-off analytically?</a:t>
            </a:r>
          </a:p>
          <a:p>
            <a:r>
              <a:rPr sz="900">
                <a:solidFill>
                  <a:srgbClr val="006699"/>
                </a:solidFill>
              </a:rPr>
              <a:t>Can you measure product onboarding success rate by channel?</a:t>
            </a:r>
          </a:p>
          <a:p>
            <a:r>
              <a:rPr sz="900">
                <a:solidFill>
                  <a:srgbClr val="006699"/>
                </a:solidFill>
              </a:rPr>
              <a:t>Can you predict which products a customer is likely to close next?</a:t>
            </a:r>
          </a:p>
          <a:p>
            <a:r>
              <a:rPr sz="900">
                <a:solidFill>
                  <a:srgbClr val="006699"/>
                </a:solidFill>
              </a:rPr>
              <a:t>Can you launch a new product variant in under 4 weeks?</a:t>
            </a:r>
          </a:p>
        </p:txBody>
      </p:sp>
      <p:sp>
        <p:nvSpPr>
          <p:cNvPr id="6513" name="Google Shape;6513;p363"/>
          <p:cNvSpPr/>
          <p:nvPr/>
        </p:nvSpPr>
        <p:spPr>
          <a:xfrm>
            <a:off x="7772400" y="-368299"/>
            <a:ext cx="4616448" cy="5054600"/>
          </a:xfrm>
          <a:prstGeom prst="roundRect">
            <a:avLst>
              <a:gd fmla="val 3493" name="adj"/>
            </a:avLst>
          </a:prstGeom>
          <a:solidFill>
            <a:srgbClr val="FFFFFF"/>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pic>
        <p:nvPicPr>
          <p:cNvPr descr="BIZ-1061-L.jpg" id="6514" name="Google Shape;6514;p363"/>
          <p:cNvPicPr preferRelativeResize="0"/>
          <p:nvPr/>
        </p:nvPicPr>
        <p:blipFill rotWithShape="1">
          <a:blip r:embed="rId3">
            <a:alphaModFix/>
          </a:blip>
          <a:srcRect b="0" l="-8656" r="-8655" t="0"/>
          <a:stretch/>
        </p:blipFill>
        <p:spPr>
          <a:xfrm>
            <a:off x="5157644" y="1236102"/>
            <a:ext cx="3529155" cy="2005573"/>
          </a:xfrm>
          <a:prstGeom prst="rect">
            <a:avLst/>
          </a:prstGeom>
          <a:noFill/>
          <a:ln>
            <a:noFill/>
          </a:ln>
        </p:spPr>
      </p:pic>
      <p:sp>
        <p:nvSpPr>
          <p:cNvPr id="6515" name="Google Shape;6515;p363">
            <a:hlinkClick action="ppaction://hlinksldjump" r:id="rId4"/>
          </p:cNvPr>
          <p:cNvSpPr/>
          <p:nvPr/>
        </p:nvSpPr>
        <p:spPr>
          <a:xfrm>
            <a:off x="6515100" y="-196501"/>
            <a:ext cx="2777392" cy="378533"/>
          </a:xfrm>
          <a:prstGeom prst="roundRect">
            <a:avLst>
              <a:gd fmla="val 50000" name="adj"/>
            </a:avLst>
          </a:prstGeom>
          <a:solidFill>
            <a:schemeClr val="accent1"/>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Product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0" name="Shape 6520"/>
        <p:cNvGrpSpPr/>
        <p:nvPr/>
      </p:nvGrpSpPr>
      <p:grpSpPr>
        <a:xfrm>
          <a:off x="0" y="0"/>
          <a:ext cx="0" cy="0"/>
          <a:chOff x="0" y="0"/>
          <a:chExt cx="0" cy="0"/>
        </a:xfrm>
      </p:grpSpPr>
      <p:sp>
        <p:nvSpPr>
          <p:cNvPr id="6521" name="Google Shape;6521;p364"/>
          <p:cNvSpPr/>
          <p:nvPr/>
        </p:nvSpPr>
        <p:spPr>
          <a:xfrm>
            <a:off x="7772400" y="-368299"/>
            <a:ext cx="4616448" cy="5054600"/>
          </a:xfrm>
          <a:prstGeom prst="roundRect">
            <a:avLst>
              <a:gd fmla="val 3493" name="adj"/>
            </a:avLst>
          </a:prstGeom>
          <a:solidFill>
            <a:srgbClr val="FFFFFF"/>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6522" name="Google Shape;6522;p364"/>
          <p:cNvSpPr txBox="1"/>
          <p:nvPr>
            <p:ph type="title"/>
          </p:nvPr>
        </p:nvSpPr>
        <p:spPr>
          <a:xfrm>
            <a:off x="477880" y="-384527"/>
            <a:ext cx="8401960" cy="126400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Product Management Business Challenges</a:t>
            </a:r>
            <a:endParaRPr/>
          </a:p>
          <a:p>
            <a:r>
              <a:rPr sz="900">
                <a:solidFill>
                  <a:srgbClr val="006699"/>
                </a:solidFill>
              </a:rPr>
              <a:t>SBP product approval process adds 4-8 weeks to launch timeline</a:t>
            </a:r>
          </a:p>
          <a:p>
            <a:r>
              <a:rPr sz="900">
                <a:solidFill>
                  <a:srgbClr val="006699"/>
                </a:solidFill>
              </a:rPr>
              <a:t>Islamic products require dual approval: Shariah board + SBP</a:t>
            </a:r>
          </a:p>
          <a:p>
            <a:r>
              <a:rPr sz="900">
                <a:solidFill>
                  <a:srgbClr val="006699"/>
                </a:solidFill>
              </a:rPr>
              <a:t>4-5 core banking systems make product configuration inconsistent</a:t>
            </a:r>
          </a:p>
          <a:p>
            <a:r>
              <a:rPr sz="900">
                <a:solidFill>
                  <a:srgbClr val="006699"/>
                </a:solidFill>
              </a:rPr>
              <a:t>Pricing constrained: deposit floor (SBP), lending ceiling (KIBOR + risk), card rates (SBP caps under discussion)</a:t>
            </a:r>
          </a:p>
          <a:p>
            <a:r>
              <a:rPr sz="900">
                <a:solidFill>
                  <a:srgbClr val="006699"/>
                </a:solidFill>
              </a:rPr>
              <a:t>Product data fragmented across core banking, cards, trade finance, Islamic sub-systems</a:t>
            </a:r>
          </a:p>
        </p:txBody>
      </p:sp>
      <p:sp>
        <p:nvSpPr>
          <p:cNvPr id="6523" name="Google Shape;6523;p364"/>
          <p:cNvSpPr/>
          <p:nvPr/>
        </p:nvSpPr>
        <p:spPr>
          <a:xfrm>
            <a:off x="3747971" y="3956982"/>
            <a:ext cx="5061653" cy="741644"/>
          </a:xfrm>
          <a:prstGeom prst="rect">
            <a:avLst/>
          </a:prstGeom>
          <a:solidFill>
            <a:schemeClr val="lt2"/>
          </a:solidFill>
          <a:ln>
            <a:noFill/>
          </a:ln>
        </p:spPr>
        <p:txBody>
          <a:bodyPr anchorCtr="0" anchor="ctr" bIns="91425" lIns="252000" spcFirstLastPara="1" rIns="91425" wrap="square" tIns="90000">
            <a:noAutofit/>
          </a:bodyPr>
          <a:lstStyle/>
          <a:p>
            <a:pPr indent="0" lvl="0" marL="0" marR="0" rtl="0" algn="l">
              <a:spcBef>
                <a:spcPts val="0"/>
              </a:spcBef>
              <a:spcAft>
                <a:spcPts val="0"/>
              </a:spcAft>
              <a:buNone/>
            </a:pPr>
            <a:r>
              <a:rPr lang="en-GB" sz="900">
                <a:solidFill>
                  <a:schemeClr val="dk1"/>
                </a:solidFill>
                <a:latin typeface="Century Gothic"/>
                <a:ea typeface="Century Gothic"/>
                <a:cs typeface="Century Gothic"/>
                <a:sym typeface="Century Gothic"/>
              </a:rPr>
              <a:t>As electronics merge with textiles, home goods and other manufactured products, new information about a product’s usage becomes available.  Privacy must be balanced with the opportunity to optimize the products life.  Sensors  and “fibertronic”  products can provide sources of data to connect and communicate with products for servicing purposes,.</a:t>
            </a:r>
            <a:endParaRPr sz="900">
              <a:solidFill>
                <a:schemeClr val="dk1"/>
              </a:solidFill>
              <a:latin typeface="Century Gothic"/>
              <a:ea typeface="Century Gothic"/>
              <a:cs typeface="Century Gothic"/>
              <a:sym typeface="Century Gothic"/>
            </a:endParaRPr>
          </a:p>
        </p:txBody>
      </p:sp>
      <p:sp>
        <p:nvSpPr>
          <p:cNvPr id="6524" name="Google Shape;6524;p364"/>
          <p:cNvSpPr/>
          <p:nvPr/>
        </p:nvSpPr>
        <p:spPr>
          <a:xfrm>
            <a:off x="3664672" y="3262757"/>
            <a:ext cx="5158834" cy="676957"/>
          </a:xfrm>
          <a:prstGeom prst="rect">
            <a:avLst/>
          </a:prstGeom>
          <a:solidFill>
            <a:schemeClr val="lt2"/>
          </a:solidFill>
          <a:ln>
            <a:noFill/>
          </a:ln>
        </p:spPr>
        <p:txBody>
          <a:bodyPr anchorCtr="0" anchor="ctr" bIns="91425" lIns="252000" spcFirstLastPara="1" rIns="91425" wrap="square" tIns="90000">
            <a:noAutofit/>
          </a:bodyPr>
          <a:lstStyle/>
          <a:p>
            <a:pPr indent="0" lvl="0" marL="0" marR="0" rtl="0" algn="l">
              <a:spcBef>
                <a:spcPts val="0"/>
              </a:spcBef>
              <a:spcAft>
                <a:spcPts val="0"/>
              </a:spcAft>
              <a:buNone/>
            </a:pPr>
            <a:r>
              <a:rPr lang="en-GB" sz="900">
                <a:solidFill>
                  <a:srgbClr val="3C3C3B"/>
                </a:solidFill>
                <a:latin typeface="Century Gothic"/>
                <a:ea typeface="Century Gothic"/>
                <a:cs typeface="Century Gothic"/>
                <a:sym typeface="Century Gothic"/>
              </a:rPr>
              <a:t>Savvy customers use digital devices to improve price awareness. Companies react to competitive pressure by reducing prices  or through promotional activities. While this may drive volume, it dilutes margin and disrupts supply chains. Companies must strategically analyze pricing  decisions based on product lifecycle stage, elasticity, penetration  and role of each product in the line. </a:t>
            </a:r>
            <a:endParaRPr sz="900">
              <a:solidFill>
                <a:srgbClr val="3C3C3B"/>
              </a:solidFill>
              <a:latin typeface="Century Gothic"/>
              <a:ea typeface="Century Gothic"/>
              <a:cs typeface="Century Gothic"/>
              <a:sym typeface="Century Gothic"/>
            </a:endParaRPr>
          </a:p>
        </p:txBody>
      </p:sp>
      <p:sp>
        <p:nvSpPr>
          <p:cNvPr id="6525" name="Google Shape;6525;p364"/>
          <p:cNvSpPr/>
          <p:nvPr/>
        </p:nvSpPr>
        <p:spPr>
          <a:xfrm>
            <a:off x="546075" y="3921705"/>
            <a:ext cx="3361125" cy="680588"/>
          </a:xfrm>
          <a:prstGeom prst="homePlate">
            <a:avLst>
              <a:gd fmla="val 23856" name="adj"/>
            </a:avLst>
          </a:prstGeom>
          <a:solidFill>
            <a:schemeClr val="lt1"/>
          </a:solidFill>
          <a:ln>
            <a:noFill/>
          </a:ln>
        </p:spPr>
        <p:txBody>
          <a:bodyPr anchorCtr="0" anchor="ctr" bIns="91425" lIns="91425" spcFirstLastPara="1" rIns="228600" wrap="square" tIns="91425">
            <a:noAutofit/>
          </a:bodyPr>
          <a:lstStyle/>
          <a:p>
            <a:pPr indent="0" lvl="0" marL="0" marR="0" rtl="0" algn="r">
              <a:spcBef>
                <a:spcPts val="0"/>
              </a:spcBef>
              <a:spcAft>
                <a:spcPts val="0"/>
              </a:spcAft>
              <a:buNone/>
            </a:pPr>
            <a:r>
              <a:t/>
            </a:r>
            <a:endParaRPr b="1" sz="1200">
              <a:solidFill>
                <a:srgbClr val="FFFFFF"/>
              </a:solidFill>
              <a:latin typeface="Century Gothic"/>
              <a:ea typeface="Century Gothic"/>
              <a:cs typeface="Century Gothic"/>
              <a:sym typeface="Century Gothic"/>
            </a:endParaRPr>
          </a:p>
        </p:txBody>
      </p:sp>
      <p:sp>
        <p:nvSpPr>
          <p:cNvPr id="6526" name="Google Shape;6526;p364"/>
          <p:cNvSpPr/>
          <p:nvPr/>
        </p:nvSpPr>
        <p:spPr>
          <a:xfrm>
            <a:off x="3651225" y="2545459"/>
            <a:ext cx="5158834" cy="676957"/>
          </a:xfrm>
          <a:prstGeom prst="rect">
            <a:avLst/>
          </a:prstGeom>
          <a:solidFill>
            <a:schemeClr val="lt2"/>
          </a:solidFill>
          <a:ln>
            <a:noFill/>
          </a:ln>
        </p:spPr>
        <p:txBody>
          <a:bodyPr anchorCtr="0" anchor="ctr" bIns="91425" lIns="252000" spcFirstLastPara="1" rIns="91425" wrap="square" tIns="90000">
            <a:noAutofit/>
          </a:bodyPr>
          <a:lstStyle/>
          <a:p>
            <a:pPr indent="0" lvl="0" marL="0" marR="0" rtl="0" algn="l">
              <a:spcBef>
                <a:spcPts val="0"/>
              </a:spcBef>
              <a:spcAft>
                <a:spcPts val="0"/>
              </a:spcAft>
              <a:buNone/>
            </a:pPr>
            <a:r>
              <a:rPr lang="en-GB" sz="900">
                <a:solidFill>
                  <a:schemeClr val="dk1"/>
                </a:solidFill>
                <a:latin typeface="Century Gothic"/>
                <a:ea typeface="Century Gothic"/>
                <a:cs typeface="Century Gothic"/>
                <a:sym typeface="Century Gothic"/>
              </a:rPr>
              <a:t>Product lifecycles are becoming shorter which puts pressure on companies to refresh their product portfolio on a more frequent basis.  This makes the processes of  product development, product introduction and product product sunset more critical.</a:t>
            </a:r>
            <a:endParaRPr sz="900">
              <a:solidFill>
                <a:schemeClr val="dk1"/>
              </a:solidFill>
              <a:latin typeface="Century Gothic"/>
              <a:ea typeface="Century Gothic"/>
              <a:cs typeface="Century Gothic"/>
              <a:sym typeface="Century Gothic"/>
            </a:endParaRPr>
          </a:p>
        </p:txBody>
      </p:sp>
      <p:sp>
        <p:nvSpPr>
          <p:cNvPr id="6527" name="Google Shape;6527;p364"/>
          <p:cNvSpPr/>
          <p:nvPr/>
        </p:nvSpPr>
        <p:spPr>
          <a:xfrm>
            <a:off x="546075" y="2542744"/>
            <a:ext cx="3361125" cy="680588"/>
          </a:xfrm>
          <a:prstGeom prst="homePlate">
            <a:avLst>
              <a:gd fmla="val 23856" name="adj"/>
            </a:avLst>
          </a:prstGeom>
          <a:solidFill>
            <a:schemeClr val="lt1"/>
          </a:solidFill>
          <a:ln>
            <a:noFill/>
          </a:ln>
        </p:spPr>
        <p:txBody>
          <a:bodyPr anchorCtr="0" anchor="ctr" bIns="91425" lIns="91425" spcFirstLastPara="1" rIns="228600" wrap="square" tIns="91425">
            <a:noAutofit/>
          </a:bodyPr>
          <a:lstStyle/>
          <a:p>
            <a:pPr indent="0" lvl="0" marL="0" marR="0" rtl="0" algn="r">
              <a:spcBef>
                <a:spcPts val="0"/>
              </a:spcBef>
              <a:spcAft>
                <a:spcPts val="0"/>
              </a:spcAft>
              <a:buNone/>
            </a:pPr>
            <a:r>
              <a:t/>
            </a:r>
            <a:endParaRPr b="1" sz="1200">
              <a:solidFill>
                <a:srgbClr val="FFFFFF"/>
              </a:solidFill>
              <a:latin typeface="Century Gothic"/>
              <a:ea typeface="Century Gothic"/>
              <a:cs typeface="Century Gothic"/>
              <a:sym typeface="Century Gothic"/>
            </a:endParaRPr>
          </a:p>
        </p:txBody>
      </p:sp>
      <p:sp>
        <p:nvSpPr>
          <p:cNvPr id="6528" name="Google Shape;6528;p364"/>
          <p:cNvSpPr/>
          <p:nvPr/>
        </p:nvSpPr>
        <p:spPr>
          <a:xfrm>
            <a:off x="469875" y="2542744"/>
            <a:ext cx="3361125" cy="680588"/>
          </a:xfrm>
          <a:prstGeom prst="homePlate">
            <a:avLst>
              <a:gd fmla="val 23856" name="adj"/>
            </a:avLst>
          </a:prstGeom>
          <a:solidFill>
            <a:srgbClr val="EC881D"/>
          </a:solidFill>
          <a:ln>
            <a:noFill/>
          </a:ln>
        </p:spPr>
        <p:txBody>
          <a:bodyPr anchorCtr="0" anchor="ctr" bIns="91425" lIns="360000" spcFirstLastPara="1" rIns="228600" wrap="square" tIns="91425">
            <a:noAutofit/>
          </a:bodyPr>
          <a:lstStyle/>
          <a:p>
            <a:pPr indent="0" lvl="0" marL="0" marR="0" rtl="0" algn="l">
              <a:spcBef>
                <a:spcPts val="0"/>
              </a:spcBef>
              <a:spcAft>
                <a:spcPts val="0"/>
              </a:spcAft>
              <a:buNone/>
            </a:pPr>
            <a:r>
              <a:rPr b="1" lang="en-GB" sz="1200">
                <a:solidFill>
                  <a:srgbClr val="FFFFFF"/>
                </a:solidFill>
                <a:latin typeface="Century Gothic"/>
                <a:ea typeface="Century Gothic"/>
                <a:cs typeface="Century Gothic"/>
                <a:sym typeface="Century Gothic"/>
              </a:rPr>
              <a:t>React to shorter product lifecycles</a:t>
            </a:r>
            <a:endParaRPr b="1" sz="1200">
              <a:solidFill>
                <a:srgbClr val="FFFFFF"/>
              </a:solidFill>
              <a:latin typeface="Century Gothic"/>
              <a:ea typeface="Century Gothic"/>
              <a:cs typeface="Century Gothic"/>
              <a:sym typeface="Century Gothic"/>
            </a:endParaRPr>
          </a:p>
        </p:txBody>
      </p:sp>
      <p:sp>
        <p:nvSpPr>
          <p:cNvPr id="6529" name="Google Shape;6529;p364"/>
          <p:cNvSpPr/>
          <p:nvPr/>
        </p:nvSpPr>
        <p:spPr>
          <a:xfrm>
            <a:off x="3688595" y="1742734"/>
            <a:ext cx="5121029" cy="786707"/>
          </a:xfrm>
          <a:prstGeom prst="rect">
            <a:avLst/>
          </a:prstGeom>
          <a:solidFill>
            <a:schemeClr val="lt2"/>
          </a:solidFill>
          <a:ln>
            <a:noFill/>
          </a:ln>
        </p:spPr>
        <p:txBody>
          <a:bodyPr anchorCtr="0" anchor="ctr" bIns="91425" lIns="252000" spcFirstLastPara="1" rIns="91425" wrap="square" tIns="90000">
            <a:noAutofit/>
          </a:bodyPr>
          <a:lstStyle/>
          <a:p>
            <a:pPr indent="0" lvl="0" marL="0" marR="0" rtl="0" algn="l">
              <a:spcBef>
                <a:spcPts val="0"/>
              </a:spcBef>
              <a:spcAft>
                <a:spcPts val="0"/>
              </a:spcAft>
              <a:buNone/>
            </a:pPr>
            <a:r>
              <a:rPr lang="en-GB" sz="900">
                <a:solidFill>
                  <a:srgbClr val="3C3C3B"/>
                </a:solidFill>
                <a:latin typeface="Century Gothic"/>
                <a:ea typeface="Century Gothic"/>
                <a:cs typeface="Century Gothic"/>
                <a:sym typeface="Century Gothic"/>
              </a:rPr>
              <a:t>Product Mgt. teams must implement the right product portfolio strategies to compete successfully.  Assortments are difficult to plan and manage  if channels are fluid or if data is siloed . New  product variants are emerging (such as product-as-a service and  IoT products) which require different management , data analysis and  processes.</a:t>
            </a:r>
            <a:endParaRPr sz="900">
              <a:solidFill>
                <a:srgbClr val="3C3C3B"/>
              </a:solidFill>
              <a:latin typeface="Century Gothic"/>
              <a:ea typeface="Century Gothic"/>
              <a:cs typeface="Century Gothic"/>
              <a:sym typeface="Century Gothic"/>
            </a:endParaRPr>
          </a:p>
        </p:txBody>
      </p:sp>
      <p:sp>
        <p:nvSpPr>
          <p:cNvPr id="6530" name="Google Shape;6530;p364"/>
          <p:cNvSpPr/>
          <p:nvPr/>
        </p:nvSpPr>
        <p:spPr>
          <a:xfrm>
            <a:off x="546074" y="1838488"/>
            <a:ext cx="3361125" cy="680588"/>
          </a:xfrm>
          <a:prstGeom prst="homePlate">
            <a:avLst>
              <a:gd fmla="val 23856" name="adj"/>
            </a:avLst>
          </a:prstGeom>
          <a:solidFill>
            <a:schemeClr val="lt1"/>
          </a:solidFill>
          <a:ln>
            <a:noFill/>
          </a:ln>
        </p:spPr>
        <p:txBody>
          <a:bodyPr anchorCtr="0" anchor="ctr" bIns="91425" lIns="91425" spcFirstLastPara="1" rIns="228600" wrap="square" tIns="91425">
            <a:noAutofit/>
          </a:bodyPr>
          <a:lstStyle/>
          <a:p>
            <a:pPr indent="0" lvl="0" marL="0" marR="0" rtl="0" algn="r">
              <a:spcBef>
                <a:spcPts val="0"/>
              </a:spcBef>
              <a:spcAft>
                <a:spcPts val="0"/>
              </a:spcAft>
              <a:buNone/>
            </a:pPr>
            <a:r>
              <a:t/>
            </a:r>
            <a:endParaRPr b="1" sz="1200">
              <a:solidFill>
                <a:srgbClr val="FFFFFF"/>
              </a:solidFill>
              <a:latin typeface="Century Gothic"/>
              <a:ea typeface="Century Gothic"/>
              <a:cs typeface="Century Gothic"/>
              <a:sym typeface="Century Gothic"/>
            </a:endParaRPr>
          </a:p>
        </p:txBody>
      </p:sp>
      <p:sp>
        <p:nvSpPr>
          <p:cNvPr id="6531" name="Google Shape;6531;p364"/>
          <p:cNvSpPr/>
          <p:nvPr/>
        </p:nvSpPr>
        <p:spPr>
          <a:xfrm>
            <a:off x="469874" y="1838488"/>
            <a:ext cx="3361125" cy="680588"/>
          </a:xfrm>
          <a:prstGeom prst="homePlate">
            <a:avLst>
              <a:gd fmla="val 23856" name="adj"/>
            </a:avLst>
          </a:prstGeom>
          <a:solidFill>
            <a:srgbClr val="EC881D"/>
          </a:solidFill>
          <a:ln>
            <a:noFill/>
          </a:ln>
        </p:spPr>
        <p:txBody>
          <a:bodyPr anchorCtr="0" anchor="ctr" bIns="91425" lIns="360000" spcFirstLastPara="1" rIns="228600" wrap="square" tIns="91425">
            <a:noAutofit/>
          </a:bodyPr>
          <a:lstStyle/>
          <a:p>
            <a:pPr indent="0" lvl="0" marL="0" marR="0" rtl="0" algn="l">
              <a:spcBef>
                <a:spcPts val="0"/>
              </a:spcBef>
              <a:spcAft>
                <a:spcPts val="0"/>
              </a:spcAft>
              <a:buNone/>
            </a:pPr>
            <a:r>
              <a:rPr b="1" lang="en-GB" sz="1200">
                <a:solidFill>
                  <a:srgbClr val="FFFFFF"/>
                </a:solidFill>
                <a:latin typeface="Century Gothic"/>
                <a:ea typeface="Century Gothic"/>
                <a:cs typeface="Century Gothic"/>
                <a:sym typeface="Century Gothic"/>
              </a:rPr>
              <a:t>Balance product product portfolios</a:t>
            </a:r>
            <a:endParaRPr b="1" sz="1200">
              <a:solidFill>
                <a:srgbClr val="FFFFFF"/>
              </a:solidFill>
              <a:latin typeface="Century Gothic"/>
              <a:ea typeface="Century Gothic"/>
              <a:cs typeface="Century Gothic"/>
              <a:sym typeface="Century Gothic"/>
            </a:endParaRPr>
          </a:p>
        </p:txBody>
      </p:sp>
      <p:sp>
        <p:nvSpPr>
          <p:cNvPr id="6532" name="Google Shape;6532;p364"/>
          <p:cNvSpPr txBox="1"/>
          <p:nvPr/>
        </p:nvSpPr>
        <p:spPr>
          <a:xfrm>
            <a:off x="3048000" y="1671484"/>
            <a:ext cx="184666" cy="357790"/>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t/>
            </a:r>
            <a:endParaRPr sz="1800">
              <a:solidFill>
                <a:srgbClr val="231F20"/>
              </a:solidFill>
              <a:latin typeface="Century Gothic"/>
              <a:ea typeface="Century Gothic"/>
              <a:cs typeface="Century Gothic"/>
              <a:sym typeface="Century Gothic"/>
            </a:endParaRPr>
          </a:p>
        </p:txBody>
      </p:sp>
      <p:sp>
        <p:nvSpPr>
          <p:cNvPr id="6533" name="Google Shape;6533;p364"/>
          <p:cNvSpPr/>
          <p:nvPr/>
        </p:nvSpPr>
        <p:spPr>
          <a:xfrm>
            <a:off x="469875" y="3941942"/>
            <a:ext cx="3361125" cy="744359"/>
          </a:xfrm>
          <a:prstGeom prst="homePlate">
            <a:avLst>
              <a:gd fmla="val 23856" name="adj"/>
            </a:avLst>
          </a:prstGeom>
          <a:solidFill>
            <a:srgbClr val="EC881D"/>
          </a:solidFill>
          <a:ln>
            <a:noFill/>
          </a:ln>
        </p:spPr>
        <p:txBody>
          <a:bodyPr anchorCtr="0" anchor="ctr" bIns="91425" lIns="360000" spcFirstLastPara="1" rIns="228600" wrap="square" tIns="91425">
            <a:noAutofit/>
          </a:bodyPr>
          <a:lstStyle/>
          <a:p>
            <a:pPr indent="0" lvl="0" marL="0" marR="0" rtl="0" algn="l">
              <a:spcBef>
                <a:spcPts val="0"/>
              </a:spcBef>
              <a:spcAft>
                <a:spcPts val="0"/>
              </a:spcAft>
              <a:buNone/>
            </a:pPr>
            <a:r>
              <a:rPr b="1" lang="en-GB" sz="1200">
                <a:solidFill>
                  <a:srgbClr val="FFFFFF"/>
                </a:solidFill>
                <a:latin typeface="Century Gothic"/>
                <a:ea typeface="Century Gothic"/>
                <a:cs typeface="Century Gothic"/>
                <a:sym typeface="Century Gothic"/>
              </a:rPr>
              <a:t>Address evolving products</a:t>
            </a:r>
            <a:endParaRPr b="1" sz="1200">
              <a:solidFill>
                <a:srgbClr val="FFFFFF"/>
              </a:solidFill>
              <a:latin typeface="Century Gothic"/>
              <a:ea typeface="Century Gothic"/>
              <a:cs typeface="Century Gothic"/>
              <a:sym typeface="Century Gothic"/>
            </a:endParaRPr>
          </a:p>
        </p:txBody>
      </p:sp>
      <p:sp>
        <p:nvSpPr>
          <p:cNvPr id="6534" name="Google Shape;6534;p364"/>
          <p:cNvSpPr/>
          <p:nvPr/>
        </p:nvSpPr>
        <p:spPr>
          <a:xfrm>
            <a:off x="546075" y="3244830"/>
            <a:ext cx="3361125" cy="680588"/>
          </a:xfrm>
          <a:prstGeom prst="homePlate">
            <a:avLst>
              <a:gd fmla="val 23856" name="adj"/>
            </a:avLst>
          </a:prstGeom>
          <a:solidFill>
            <a:schemeClr val="lt1"/>
          </a:solidFill>
          <a:ln>
            <a:noFill/>
          </a:ln>
        </p:spPr>
        <p:txBody>
          <a:bodyPr anchorCtr="0" anchor="ctr" bIns="91425" lIns="91425" spcFirstLastPara="1" rIns="228600" wrap="square" tIns="91425">
            <a:noAutofit/>
          </a:bodyPr>
          <a:lstStyle/>
          <a:p>
            <a:pPr indent="0" lvl="0" marL="0" marR="0" rtl="0" algn="r">
              <a:spcBef>
                <a:spcPts val="0"/>
              </a:spcBef>
              <a:spcAft>
                <a:spcPts val="0"/>
              </a:spcAft>
              <a:buNone/>
            </a:pPr>
            <a:r>
              <a:t/>
            </a:r>
            <a:endParaRPr b="1" sz="1200">
              <a:solidFill>
                <a:srgbClr val="FFFFFF"/>
              </a:solidFill>
              <a:latin typeface="Century Gothic"/>
              <a:ea typeface="Century Gothic"/>
              <a:cs typeface="Century Gothic"/>
              <a:sym typeface="Century Gothic"/>
            </a:endParaRPr>
          </a:p>
        </p:txBody>
      </p:sp>
      <p:sp>
        <p:nvSpPr>
          <p:cNvPr id="6535" name="Google Shape;6535;p364"/>
          <p:cNvSpPr/>
          <p:nvPr/>
        </p:nvSpPr>
        <p:spPr>
          <a:xfrm>
            <a:off x="469875" y="3244830"/>
            <a:ext cx="3361125" cy="680588"/>
          </a:xfrm>
          <a:prstGeom prst="homePlate">
            <a:avLst>
              <a:gd fmla="val 23856" name="adj"/>
            </a:avLst>
          </a:prstGeom>
          <a:solidFill>
            <a:srgbClr val="EC881D"/>
          </a:solidFill>
          <a:ln>
            <a:noFill/>
          </a:ln>
        </p:spPr>
        <p:txBody>
          <a:bodyPr anchorCtr="0" anchor="ctr" bIns="91425" lIns="360000" spcFirstLastPara="1" rIns="228600" wrap="square" tIns="91425">
            <a:noAutofit/>
          </a:bodyPr>
          <a:lstStyle/>
          <a:p>
            <a:pPr indent="0" lvl="0" marL="0" marR="0" rtl="0" algn="l">
              <a:spcBef>
                <a:spcPts val="0"/>
              </a:spcBef>
              <a:spcAft>
                <a:spcPts val="0"/>
              </a:spcAft>
              <a:buNone/>
            </a:pPr>
            <a:r>
              <a:rPr b="1" lang="en-GB" sz="1200">
                <a:solidFill>
                  <a:srgbClr val="FFFFFF"/>
                </a:solidFill>
                <a:latin typeface="Century Gothic"/>
                <a:ea typeface="Century Gothic"/>
                <a:cs typeface="Century Gothic"/>
                <a:sym typeface="Century Gothic"/>
              </a:rPr>
              <a:t>Compete on price / promotion</a:t>
            </a:r>
            <a:endParaRPr b="1" sz="1200">
              <a:solidFill>
                <a:srgbClr val="FFFFFF"/>
              </a:solidFill>
              <a:latin typeface="Century Gothic"/>
              <a:ea typeface="Century Gothic"/>
              <a:cs typeface="Century Gothic"/>
              <a:sym typeface="Century Gothic"/>
            </a:endParaRPr>
          </a:p>
        </p:txBody>
      </p:sp>
      <p:sp>
        <p:nvSpPr>
          <p:cNvPr id="6536" name="Google Shape;6536;p364"/>
          <p:cNvSpPr/>
          <p:nvPr/>
        </p:nvSpPr>
        <p:spPr>
          <a:xfrm>
            <a:off x="454293" y="1003323"/>
            <a:ext cx="8393047" cy="793599"/>
          </a:xfrm>
          <a:prstGeom prst="rect">
            <a:avLst/>
          </a:prstGeom>
          <a:solidFill>
            <a:srgbClr val="005AA4"/>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rPr b="1" lang="en-GB" sz="1400">
                <a:solidFill>
                  <a:srgbClr val="FFFFFF"/>
                </a:solidFill>
                <a:latin typeface="Century Gothic"/>
                <a:ea typeface="Century Gothic"/>
                <a:cs typeface="Century Gothic"/>
                <a:sym typeface="Century Gothic"/>
              </a:rPr>
              <a:t>Overall challenge: </a:t>
            </a:r>
            <a:r>
              <a:rPr lang="en-GB" sz="1200">
                <a:solidFill>
                  <a:schemeClr val="lt1"/>
                </a:solidFill>
                <a:latin typeface="Century Gothic"/>
                <a:ea typeface="Century Gothic"/>
                <a:cs typeface="Century Gothic"/>
                <a:sym typeface="Century Gothic"/>
              </a:rPr>
              <a:t>Companies must develop and manage products to align withCustomers demands and  market dynamics. Companies must also use price and promotion as key competitive weopons to maintain sales and margin, but may not have capabilities to optimise their impacts</a:t>
            </a:r>
            <a:endParaRPr sz="1400">
              <a:solidFill>
                <a:srgbClr val="FFFFFF"/>
              </a:solidFill>
              <a:latin typeface="Century Gothic"/>
              <a:ea typeface="Century Gothic"/>
              <a:cs typeface="Century Gothic"/>
              <a:sym typeface="Century Gothic"/>
            </a:endParaRPr>
          </a:p>
        </p:txBody>
      </p:sp>
      <p:sp>
        <p:nvSpPr>
          <p:cNvPr id="6537" name="Google Shape;6537;p364"/>
          <p:cNvSpPr txBox="1"/>
          <p:nvPr/>
        </p:nvSpPr>
        <p:spPr>
          <a:xfrm>
            <a:off x="4602443" y="-368299"/>
            <a:ext cx="88310" cy="735586"/>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t/>
            </a:r>
            <a:endParaRPr sz="4400">
              <a:solidFill>
                <a:srgbClr val="CF7513"/>
              </a:solidFill>
              <a:latin typeface="Century Gothic"/>
              <a:ea typeface="Century Gothic"/>
              <a:cs typeface="Century Gothic"/>
              <a:sym typeface="Century Gothic"/>
            </a:endParaRPr>
          </a:p>
        </p:txBody>
      </p:sp>
      <p:sp>
        <p:nvSpPr>
          <p:cNvPr id="6538" name="Google Shape;6538;p364">
            <a:hlinkClick action="ppaction://hlinksldjump" r:id="rId3"/>
          </p:cNvPr>
          <p:cNvSpPr/>
          <p:nvPr/>
        </p:nvSpPr>
        <p:spPr>
          <a:xfrm>
            <a:off x="6515100" y="-196501"/>
            <a:ext cx="2777392" cy="378533"/>
          </a:xfrm>
          <a:prstGeom prst="roundRect">
            <a:avLst>
              <a:gd fmla="val 50000" name="adj"/>
            </a:avLst>
          </a:prstGeom>
          <a:solidFill>
            <a:schemeClr val="accent1"/>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Product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2" name="Shape 6542"/>
        <p:cNvGrpSpPr/>
        <p:nvPr/>
      </p:nvGrpSpPr>
      <p:grpSpPr>
        <a:xfrm>
          <a:off x="0" y="0"/>
          <a:ext cx="0" cy="0"/>
          <a:chOff x="0" y="0"/>
          <a:chExt cx="0" cy="0"/>
        </a:xfrm>
      </p:grpSpPr>
      <p:sp>
        <p:nvSpPr>
          <p:cNvPr id="6543" name="Google Shape;6543;p365"/>
          <p:cNvSpPr/>
          <p:nvPr/>
        </p:nvSpPr>
        <p:spPr>
          <a:xfrm>
            <a:off x="7772400" y="-368299"/>
            <a:ext cx="4616448" cy="5054600"/>
          </a:xfrm>
          <a:prstGeom prst="roundRect">
            <a:avLst>
              <a:gd fmla="val 3493" name="adj"/>
            </a:avLst>
          </a:prstGeom>
          <a:solidFill>
            <a:srgbClr val="FFFFFF"/>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6544" name="Google Shape;6544;p365"/>
          <p:cNvSpPr txBox="1"/>
          <p:nvPr>
            <p:ph type="title"/>
          </p:nvPr>
        </p:nvSpPr>
        <p:spPr>
          <a:xfrm>
            <a:off x="477879" y="-384527"/>
            <a:ext cx="6579691" cy="1264002"/>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Value of Product Management</a:t>
            </a:r>
            <a:endParaRPr/>
          </a:p>
        </p:txBody>
      </p:sp>
      <p:sp>
        <p:nvSpPr>
          <p:cNvPr id="6545" name="Google Shape;6545;p365"/>
          <p:cNvSpPr/>
          <p:nvPr/>
        </p:nvSpPr>
        <p:spPr>
          <a:xfrm>
            <a:off x="2658933" y="2503816"/>
            <a:ext cx="5931682" cy="588653"/>
          </a:xfrm>
          <a:prstGeom prst="rect">
            <a:avLst/>
          </a:prstGeom>
          <a:solidFill>
            <a:schemeClr val="lt2"/>
          </a:solidFill>
          <a:ln>
            <a:noFill/>
          </a:ln>
        </p:spPr>
        <p:txBody>
          <a:bodyPr anchorCtr="0" anchor="ctr" bIns="91425" lIns="365750" spcFirstLastPara="1" rIns="91425" wrap="square" tIns="91425">
            <a:noAutofit/>
          </a:bodyPr>
          <a:lstStyle/>
          <a:p>
            <a:pPr indent="0" lvl="0" marL="0" marR="0" rtl="0" algn="l">
              <a:spcBef>
                <a:spcPts val="0"/>
              </a:spcBef>
              <a:spcAft>
                <a:spcPts val="0"/>
              </a:spcAft>
              <a:buNone/>
            </a:pPr>
            <a:r>
              <a:rPr lang="en-GB" sz="1000">
                <a:solidFill>
                  <a:schemeClr val="dk1"/>
                </a:solidFill>
                <a:latin typeface="Century Gothic"/>
                <a:ea typeface="Century Gothic"/>
                <a:cs typeface="Century Gothic"/>
                <a:sym typeface="Century Gothic"/>
              </a:rPr>
              <a:t>By understanding the impacts of promotional characteristics on different products and customers, companies can monitor and adjust price throughout the lifecycle of a product, leading to increased sales and margin</a:t>
            </a:r>
            <a:endParaRPr sz="1000">
              <a:solidFill>
                <a:schemeClr val="dk1"/>
              </a:solidFill>
              <a:latin typeface="Century Gothic"/>
              <a:ea typeface="Century Gothic"/>
              <a:cs typeface="Century Gothic"/>
              <a:sym typeface="Century Gothic"/>
            </a:endParaRPr>
          </a:p>
        </p:txBody>
      </p:sp>
      <p:sp>
        <p:nvSpPr>
          <p:cNvPr id="6546" name="Google Shape;6546;p365"/>
          <p:cNvSpPr/>
          <p:nvPr/>
        </p:nvSpPr>
        <p:spPr>
          <a:xfrm>
            <a:off x="473075" y="2508058"/>
            <a:ext cx="2427441" cy="585137"/>
          </a:xfrm>
          <a:prstGeom prst="homePlate">
            <a:avLst>
              <a:gd fmla="val 23856" name="adj"/>
            </a:avLst>
          </a:prstGeom>
          <a:solidFill>
            <a:srgbClr val="EC881D"/>
          </a:solidFill>
          <a:ln>
            <a:noFill/>
          </a:ln>
        </p:spPr>
        <p:txBody>
          <a:bodyPr anchorCtr="0" anchor="ctr" bIns="91425" lIns="108000" spcFirstLastPara="1" rIns="228600" wrap="square" tIns="91425">
            <a:noAutofit/>
          </a:bodyPr>
          <a:lstStyle/>
          <a:p>
            <a:pPr indent="0" lvl="0" marL="0" marR="0" rtl="0" algn="l">
              <a:spcBef>
                <a:spcPts val="0"/>
              </a:spcBef>
              <a:spcAft>
                <a:spcPts val="0"/>
              </a:spcAft>
              <a:buNone/>
            </a:pPr>
            <a:r>
              <a:rPr b="1" lang="en-GB" sz="1200">
                <a:solidFill>
                  <a:schemeClr val="lt1"/>
                </a:solidFill>
                <a:latin typeface="Century Gothic"/>
                <a:ea typeface="Century Gothic"/>
                <a:cs typeface="Century Gothic"/>
                <a:sym typeface="Century Gothic"/>
              </a:rPr>
              <a:t>Improve price and promotion performance</a:t>
            </a:r>
            <a:endParaRPr b="1" sz="1200">
              <a:solidFill>
                <a:schemeClr val="lt1"/>
              </a:solidFill>
              <a:latin typeface="Century Gothic"/>
              <a:ea typeface="Century Gothic"/>
              <a:cs typeface="Century Gothic"/>
              <a:sym typeface="Century Gothic"/>
            </a:endParaRPr>
          </a:p>
        </p:txBody>
      </p:sp>
      <p:sp>
        <p:nvSpPr>
          <p:cNvPr id="6547" name="Google Shape;6547;p365"/>
          <p:cNvSpPr/>
          <p:nvPr/>
        </p:nvSpPr>
        <p:spPr>
          <a:xfrm>
            <a:off x="2725034" y="1810511"/>
            <a:ext cx="5850000" cy="604455"/>
          </a:xfrm>
          <a:prstGeom prst="rect">
            <a:avLst/>
          </a:prstGeom>
          <a:solidFill>
            <a:srgbClr val="D8D8D8"/>
          </a:solidFill>
          <a:ln>
            <a:noFill/>
          </a:ln>
        </p:spPr>
        <p:txBody>
          <a:bodyPr anchorCtr="0" anchor="ctr" bIns="91425" lIns="365750" spcFirstLastPara="1" rIns="91425" wrap="square" tIns="91425">
            <a:noAutofit/>
          </a:bodyPr>
          <a:lstStyle/>
          <a:p>
            <a:pPr indent="0" lvl="0" marL="0" marR="0" rtl="0" algn="l">
              <a:spcBef>
                <a:spcPts val="0"/>
              </a:spcBef>
              <a:spcAft>
                <a:spcPts val="0"/>
              </a:spcAft>
              <a:buNone/>
            </a:pPr>
            <a:r>
              <a:rPr lang="en-GB" sz="1000">
                <a:solidFill>
                  <a:schemeClr val="dk1"/>
                </a:solidFill>
                <a:latin typeface="Century Gothic"/>
                <a:ea typeface="Century Gothic"/>
                <a:cs typeface="Century Gothic"/>
                <a:sym typeface="Century Gothic"/>
              </a:rPr>
              <a:t>By leveraging data sources including social media, benchmarks, competitive insights,  and timely performance data, product launches can be adjusted to maximize growth, achieve predicted outcomes, and reduce risks</a:t>
            </a:r>
            <a:endParaRPr sz="1000">
              <a:solidFill>
                <a:schemeClr val="dk1"/>
              </a:solidFill>
              <a:latin typeface="Century Gothic"/>
              <a:ea typeface="Century Gothic"/>
              <a:cs typeface="Century Gothic"/>
              <a:sym typeface="Century Gothic"/>
            </a:endParaRPr>
          </a:p>
        </p:txBody>
      </p:sp>
      <p:sp>
        <p:nvSpPr>
          <p:cNvPr id="6548" name="Google Shape;6548;p365"/>
          <p:cNvSpPr/>
          <p:nvPr/>
        </p:nvSpPr>
        <p:spPr>
          <a:xfrm>
            <a:off x="2725034" y="3186586"/>
            <a:ext cx="5872819" cy="590484"/>
          </a:xfrm>
          <a:prstGeom prst="rect">
            <a:avLst/>
          </a:prstGeom>
          <a:solidFill>
            <a:schemeClr val="lt2"/>
          </a:solidFill>
          <a:ln>
            <a:noFill/>
          </a:ln>
        </p:spPr>
        <p:txBody>
          <a:bodyPr anchorCtr="0" anchor="ctr" bIns="91425" lIns="288000" spcFirstLastPara="1" rIns="91425" wrap="square" tIns="91425">
            <a:noAutofit/>
          </a:bodyPr>
          <a:lstStyle/>
          <a:p>
            <a:pPr indent="0" lvl="0" marL="0" marR="0" rtl="0" algn="l">
              <a:spcBef>
                <a:spcPts val="0"/>
              </a:spcBef>
              <a:spcAft>
                <a:spcPts val="0"/>
              </a:spcAft>
              <a:buNone/>
            </a:pPr>
            <a:r>
              <a:rPr lang="en-GB" sz="1000">
                <a:solidFill>
                  <a:schemeClr val="dk1"/>
                </a:solidFill>
                <a:latin typeface="Century Gothic"/>
                <a:ea typeface="Century Gothic"/>
                <a:cs typeface="Century Gothic"/>
                <a:sym typeface="Century Gothic"/>
              </a:rPr>
              <a:t>Through improved end of life analytics, companies can predict potential residual stocks and optimize exit strategies based on product ownership, which can  minimize waste and maximize margin</a:t>
            </a:r>
            <a:endParaRPr sz="1000">
              <a:solidFill>
                <a:schemeClr val="dk1"/>
              </a:solidFill>
              <a:latin typeface="Century Gothic"/>
              <a:ea typeface="Century Gothic"/>
              <a:cs typeface="Century Gothic"/>
              <a:sym typeface="Century Gothic"/>
            </a:endParaRPr>
          </a:p>
        </p:txBody>
      </p:sp>
      <p:sp>
        <p:nvSpPr>
          <p:cNvPr id="6549" name="Google Shape;6549;p365"/>
          <p:cNvSpPr/>
          <p:nvPr/>
        </p:nvSpPr>
        <p:spPr>
          <a:xfrm>
            <a:off x="469371" y="3177218"/>
            <a:ext cx="2427440" cy="597164"/>
          </a:xfrm>
          <a:prstGeom prst="homePlate">
            <a:avLst>
              <a:gd fmla="val 23856" name="adj"/>
            </a:avLst>
          </a:prstGeom>
          <a:solidFill>
            <a:srgbClr val="EC881D"/>
          </a:solidFill>
          <a:ln>
            <a:noFill/>
          </a:ln>
        </p:spPr>
        <p:txBody>
          <a:bodyPr anchorCtr="0" anchor="ctr" bIns="91425" lIns="108000" spcFirstLastPara="1" rIns="228600" wrap="square" tIns="91425">
            <a:noAutofit/>
          </a:bodyPr>
          <a:lstStyle/>
          <a:p>
            <a:pPr indent="0" lvl="0" marL="0" marR="0" rtl="0" algn="l">
              <a:spcBef>
                <a:spcPts val="0"/>
              </a:spcBef>
              <a:spcAft>
                <a:spcPts val="0"/>
              </a:spcAft>
              <a:buNone/>
            </a:pPr>
            <a:r>
              <a:rPr b="1" lang="en-GB" sz="1200">
                <a:solidFill>
                  <a:schemeClr val="lt1"/>
                </a:solidFill>
                <a:latin typeface="Century Gothic"/>
                <a:ea typeface="Century Gothic"/>
                <a:cs typeface="Century Gothic"/>
                <a:sym typeface="Century Gothic"/>
              </a:rPr>
              <a:t>Reduce rate adjustments and waste</a:t>
            </a:r>
            <a:endParaRPr b="1" sz="1200">
              <a:solidFill>
                <a:schemeClr val="lt1"/>
              </a:solidFill>
              <a:latin typeface="Century Gothic"/>
              <a:ea typeface="Century Gothic"/>
              <a:cs typeface="Century Gothic"/>
              <a:sym typeface="Century Gothic"/>
            </a:endParaRPr>
          </a:p>
        </p:txBody>
      </p:sp>
      <p:sp>
        <p:nvSpPr>
          <p:cNvPr id="6550" name="Google Shape;6550;p365"/>
          <p:cNvSpPr/>
          <p:nvPr/>
        </p:nvSpPr>
        <p:spPr>
          <a:xfrm>
            <a:off x="2725034" y="1148753"/>
            <a:ext cx="5865581" cy="585321"/>
          </a:xfrm>
          <a:prstGeom prst="rect">
            <a:avLst/>
          </a:prstGeom>
          <a:solidFill>
            <a:srgbClr val="D8D8D8"/>
          </a:solidFill>
          <a:ln>
            <a:noFill/>
          </a:ln>
        </p:spPr>
        <p:txBody>
          <a:bodyPr anchorCtr="0" anchor="ctr" bIns="91425" lIns="288000" spcFirstLastPara="1" rIns="91425" wrap="square" tIns="91425">
            <a:noAutofit/>
          </a:bodyPr>
          <a:lstStyle/>
          <a:p>
            <a:pPr indent="0" lvl="0" marL="0" marR="0" rtl="0" algn="l">
              <a:spcBef>
                <a:spcPts val="0"/>
              </a:spcBef>
              <a:spcAft>
                <a:spcPts val="0"/>
              </a:spcAft>
              <a:buNone/>
            </a:pPr>
            <a:r>
              <a:rPr lang="en-GB" sz="1000">
                <a:solidFill>
                  <a:schemeClr val="dk1"/>
                </a:solidFill>
                <a:latin typeface="Century Gothic"/>
                <a:ea typeface="Century Gothic"/>
                <a:cs typeface="Century Gothic"/>
                <a:sym typeface="Century Gothic"/>
              </a:rPr>
              <a:t>By mining data about product performance and usage, Product Managers can define and design new products with features that will achieve the most business value for their organization</a:t>
            </a:r>
            <a:endParaRPr sz="1000">
              <a:solidFill>
                <a:schemeClr val="dk1"/>
              </a:solidFill>
              <a:latin typeface="Century Gothic"/>
              <a:ea typeface="Century Gothic"/>
              <a:cs typeface="Century Gothic"/>
              <a:sym typeface="Century Gothic"/>
            </a:endParaRPr>
          </a:p>
        </p:txBody>
      </p:sp>
      <p:sp>
        <p:nvSpPr>
          <p:cNvPr id="6551" name="Google Shape;6551;p365"/>
          <p:cNvSpPr/>
          <p:nvPr/>
        </p:nvSpPr>
        <p:spPr>
          <a:xfrm>
            <a:off x="481013" y="1828406"/>
            <a:ext cx="2422146" cy="595629"/>
          </a:xfrm>
          <a:prstGeom prst="homePlate">
            <a:avLst>
              <a:gd fmla="val 23856" name="adj"/>
            </a:avLst>
          </a:prstGeom>
          <a:solidFill>
            <a:srgbClr val="EC881D"/>
          </a:solidFill>
          <a:ln>
            <a:noFill/>
          </a:ln>
        </p:spPr>
        <p:txBody>
          <a:bodyPr anchorCtr="0" anchor="ctr" bIns="91425" lIns="108000" spcFirstLastPara="1" rIns="108000" wrap="square" tIns="91425">
            <a:noAutofit/>
          </a:bodyPr>
          <a:lstStyle/>
          <a:p>
            <a:pPr indent="0" lvl="0" marL="0" marR="0" rtl="0" algn="l">
              <a:spcBef>
                <a:spcPts val="0"/>
              </a:spcBef>
              <a:spcAft>
                <a:spcPts val="0"/>
              </a:spcAft>
              <a:buNone/>
            </a:pPr>
            <a:r>
              <a:rPr b="1" lang="en-GB" sz="1200">
                <a:solidFill>
                  <a:schemeClr val="lt1"/>
                </a:solidFill>
                <a:latin typeface="Century Gothic"/>
                <a:ea typeface="Century Gothic"/>
                <a:cs typeface="Century Gothic"/>
                <a:sym typeface="Century Gothic"/>
              </a:rPr>
              <a:t>Launch new products</a:t>
            </a:r>
            <a:endParaRPr b="1" sz="1200">
              <a:solidFill>
                <a:schemeClr val="lt1"/>
              </a:solidFill>
              <a:latin typeface="Century Gothic"/>
              <a:ea typeface="Century Gothic"/>
              <a:cs typeface="Century Gothic"/>
              <a:sym typeface="Century Gothic"/>
            </a:endParaRPr>
          </a:p>
        </p:txBody>
      </p:sp>
      <p:sp>
        <p:nvSpPr>
          <p:cNvPr id="6552" name="Google Shape;6552;p365"/>
          <p:cNvSpPr/>
          <p:nvPr/>
        </p:nvSpPr>
        <p:spPr>
          <a:xfrm>
            <a:off x="2732272" y="3866650"/>
            <a:ext cx="5865581" cy="585321"/>
          </a:xfrm>
          <a:prstGeom prst="rect">
            <a:avLst/>
          </a:prstGeom>
          <a:solidFill>
            <a:srgbClr val="D8D8D8"/>
          </a:solidFill>
          <a:ln>
            <a:noFill/>
          </a:ln>
        </p:spPr>
        <p:txBody>
          <a:bodyPr anchorCtr="0" anchor="ctr" bIns="91425" lIns="288000" spcFirstLastPara="1" rIns="91425" wrap="square" tIns="91425">
            <a:noAutofit/>
          </a:bodyPr>
          <a:lstStyle/>
          <a:p>
            <a:pPr indent="0" lvl="0" marL="0" marR="0" rtl="0" algn="l">
              <a:spcBef>
                <a:spcPts val="0"/>
              </a:spcBef>
              <a:spcAft>
                <a:spcPts val="0"/>
              </a:spcAft>
              <a:buNone/>
            </a:pPr>
            <a:r>
              <a:rPr lang="en-GB" sz="1000">
                <a:solidFill>
                  <a:schemeClr val="dk1"/>
                </a:solidFill>
                <a:latin typeface="Century Gothic"/>
                <a:ea typeface="Century Gothic"/>
                <a:cs typeface="Century Gothic"/>
                <a:sym typeface="Century Gothic"/>
              </a:rPr>
              <a:t>By understanding product affinities and Customers basket composition, companies can adapt their product portfolio range and product management presentations to drive larger baskets and promote high-value shopping missions,  resulting in increased sales, margin and loyalty</a:t>
            </a:r>
            <a:endParaRPr sz="1000">
              <a:solidFill>
                <a:schemeClr val="dk1"/>
              </a:solidFill>
              <a:latin typeface="Century Gothic"/>
              <a:ea typeface="Century Gothic"/>
              <a:cs typeface="Century Gothic"/>
              <a:sym typeface="Century Gothic"/>
            </a:endParaRPr>
          </a:p>
        </p:txBody>
      </p:sp>
      <p:sp>
        <p:nvSpPr>
          <p:cNvPr id="6553" name="Google Shape;6553;p365"/>
          <p:cNvSpPr/>
          <p:nvPr/>
        </p:nvSpPr>
        <p:spPr>
          <a:xfrm>
            <a:off x="480660" y="3858406"/>
            <a:ext cx="2427441" cy="598698"/>
          </a:xfrm>
          <a:prstGeom prst="homePlate">
            <a:avLst>
              <a:gd fmla="val 23856" name="adj"/>
            </a:avLst>
          </a:prstGeom>
          <a:solidFill>
            <a:srgbClr val="EC881D"/>
          </a:solidFill>
          <a:ln>
            <a:noFill/>
          </a:ln>
        </p:spPr>
        <p:txBody>
          <a:bodyPr anchorCtr="0" anchor="ctr" bIns="91425" lIns="108000" spcFirstLastPara="1" rIns="228600" wrap="square" tIns="91425">
            <a:noAutofit/>
          </a:bodyPr>
          <a:lstStyle/>
          <a:p>
            <a:pPr indent="0" lvl="0" marL="0" marR="0" rtl="0" algn="l">
              <a:spcBef>
                <a:spcPts val="0"/>
              </a:spcBef>
              <a:spcAft>
                <a:spcPts val="0"/>
              </a:spcAft>
              <a:buNone/>
            </a:pPr>
            <a:r>
              <a:rPr b="1" lang="en-GB" sz="1200">
                <a:solidFill>
                  <a:schemeClr val="lt1"/>
                </a:solidFill>
                <a:latin typeface="Century Gothic"/>
                <a:ea typeface="Century Gothic"/>
                <a:cs typeface="Century Gothic"/>
                <a:sym typeface="Century Gothic"/>
              </a:rPr>
              <a:t>Maximize sales throughout a product’s life</a:t>
            </a:r>
            <a:endParaRPr b="1" sz="1200">
              <a:solidFill>
                <a:schemeClr val="lt1"/>
              </a:solidFill>
              <a:latin typeface="Century Gothic"/>
              <a:ea typeface="Century Gothic"/>
              <a:cs typeface="Century Gothic"/>
              <a:sym typeface="Century Gothic"/>
            </a:endParaRPr>
          </a:p>
        </p:txBody>
      </p:sp>
      <p:sp>
        <p:nvSpPr>
          <p:cNvPr id="6554" name="Google Shape;6554;p365"/>
          <p:cNvSpPr/>
          <p:nvPr/>
        </p:nvSpPr>
        <p:spPr>
          <a:xfrm>
            <a:off x="485955" y="1150469"/>
            <a:ext cx="2422146" cy="595629"/>
          </a:xfrm>
          <a:prstGeom prst="homePlate">
            <a:avLst>
              <a:gd fmla="val 23856" name="adj"/>
            </a:avLst>
          </a:prstGeom>
          <a:solidFill>
            <a:srgbClr val="EC881D"/>
          </a:solidFill>
          <a:ln>
            <a:noFill/>
          </a:ln>
        </p:spPr>
        <p:txBody>
          <a:bodyPr anchorCtr="0" anchor="ctr" bIns="91425" lIns="108000" spcFirstLastPara="1" rIns="108000" wrap="square" tIns="91425">
            <a:noAutofit/>
          </a:bodyPr>
          <a:lstStyle/>
          <a:p>
            <a:pPr indent="0" lvl="0" marL="0" marR="0" rtl="0" algn="l">
              <a:spcBef>
                <a:spcPts val="0"/>
              </a:spcBef>
              <a:spcAft>
                <a:spcPts val="0"/>
              </a:spcAft>
              <a:buNone/>
            </a:pPr>
            <a:r>
              <a:rPr b="1" lang="en-GB" sz="1200">
                <a:solidFill>
                  <a:schemeClr val="lt1"/>
                </a:solidFill>
                <a:latin typeface="Century Gothic"/>
                <a:ea typeface="Century Gothic"/>
                <a:cs typeface="Century Gothic"/>
                <a:sym typeface="Century Gothic"/>
              </a:rPr>
              <a:t>Improve success of new products</a:t>
            </a:r>
            <a:endParaRPr b="1" sz="1200">
              <a:solidFill>
                <a:schemeClr val="lt1"/>
              </a:solidFill>
              <a:latin typeface="Century Gothic"/>
              <a:ea typeface="Century Gothic"/>
              <a:cs typeface="Century Gothic"/>
              <a:sym typeface="Century Gothic"/>
            </a:endParaRPr>
          </a:p>
        </p:txBody>
      </p:sp>
      <p:sp>
        <p:nvSpPr>
          <p:cNvPr id="6555" name="Google Shape;6555;p365">
            <a:hlinkClick action="ppaction://hlinksldjump" r:id="rId3"/>
          </p:cNvPr>
          <p:cNvSpPr/>
          <p:nvPr/>
        </p:nvSpPr>
        <p:spPr>
          <a:xfrm>
            <a:off x="6515100" y="-196501"/>
            <a:ext cx="2777392" cy="378533"/>
          </a:xfrm>
          <a:prstGeom prst="roundRect">
            <a:avLst>
              <a:gd fmla="val 50000" name="adj"/>
            </a:avLst>
          </a:prstGeom>
          <a:solidFill>
            <a:schemeClr val="accent1"/>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Product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9" name="Shape 6559"/>
        <p:cNvGrpSpPr/>
        <p:nvPr/>
      </p:nvGrpSpPr>
      <p:grpSpPr>
        <a:xfrm>
          <a:off x="0" y="0"/>
          <a:ext cx="0" cy="0"/>
          <a:chOff x="0" y="0"/>
          <a:chExt cx="0" cy="0"/>
        </a:xfrm>
      </p:grpSpPr>
      <p:sp>
        <p:nvSpPr>
          <p:cNvPr id="6560" name="Google Shape;6560;p366"/>
          <p:cNvSpPr txBox="1"/>
          <p:nvPr>
            <p:ph idx="1" type="body"/>
          </p:nvPr>
        </p:nvSpPr>
        <p:spPr>
          <a:xfrm>
            <a:off x="0" y="2354656"/>
            <a:ext cx="9144000" cy="434221"/>
          </a:xfrm>
          <a:prstGeom prst="rect">
            <a:avLst/>
          </a:prstGeom>
          <a:solidFill>
            <a:schemeClr val="lt1"/>
          </a:solidFill>
          <a:ln>
            <a:noFill/>
          </a:ln>
        </p:spPr>
        <p:txBody>
          <a:bodyPr anchorCtr="1" anchor="ctr" bIns="45700" lIns="457200" spcFirstLastPara="1" rIns="457200" wrap="square" tIns="45700">
            <a:noAutofit/>
          </a:bodyPr>
          <a:lstStyle/>
          <a:p>
            <a:pPr indent="0" lvl="0" marL="0" rtl="0" algn="ctr">
              <a:lnSpc>
                <a:spcPct val="110000"/>
              </a:lnSpc>
              <a:spcBef>
                <a:spcPts val="0"/>
              </a:spcBef>
              <a:spcAft>
                <a:spcPts val="0"/>
              </a:spcAft>
              <a:buClr>
                <a:schemeClr val="accent1"/>
              </a:buClr>
              <a:buSzPts val="2200"/>
              <a:buFont typeface="Century Gothic"/>
              <a:buNone/>
            </a:pPr>
            <a:r>
              <a:rPr lang="en-GB"/>
              <a:t>Functional Insights and Capabilities</a:t>
            </a:r>
            <a:endParaRPr/>
          </a:p>
        </p:txBody>
      </p:sp>
      <p:sp>
        <p:nvSpPr>
          <p:cNvPr id="6561" name="Google Shape;6561;p366"/>
          <p:cNvSpPr txBox="1"/>
          <p:nvPr>
            <p:ph idx="2" type="body"/>
          </p:nvPr>
        </p:nvSpPr>
        <p:spPr>
          <a:xfrm>
            <a:off x="3242535" y="4855464"/>
            <a:ext cx="2658930" cy="106186"/>
          </a:xfrm>
          <a:prstGeom prst="rect">
            <a:avLst/>
          </a:prstGeom>
          <a:noFill/>
          <a:ln>
            <a:noFill/>
          </a:ln>
        </p:spPr>
        <p:txBody>
          <a:bodyPr anchorCtr="0" anchor="t" bIns="0" lIns="0" spcFirstLastPara="1" rIns="0" wrap="square" tIns="0">
            <a:noAutofit/>
          </a:bodyPr>
          <a:lstStyle/>
          <a:p>
            <a:pPr indent="0" lvl="0" marL="0" rtl="0" algn="ctr">
              <a:lnSpc>
                <a:spcPct val="85000"/>
              </a:lnSpc>
              <a:spcBef>
                <a:spcPts val="0"/>
              </a:spcBef>
              <a:spcAft>
                <a:spcPts val="0"/>
              </a:spcAft>
              <a:buClr>
                <a:schemeClr val="lt1"/>
              </a:buClr>
              <a:buSzPts val="700"/>
              <a:buFont typeface="Century Gothic"/>
              <a:buNone/>
            </a:pPr>
            <a:r>
              <a:t/>
            </a:r>
            <a:endParaRPr/>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5" name="Shape 6565"/>
        <p:cNvGrpSpPr/>
        <p:nvPr/>
      </p:nvGrpSpPr>
      <p:grpSpPr>
        <a:xfrm>
          <a:off x="0" y="0"/>
          <a:ext cx="0" cy="0"/>
          <a:chOff x="0" y="0"/>
          <a:chExt cx="0" cy="0"/>
        </a:xfrm>
      </p:grpSpPr>
      <p:pic>
        <p:nvPicPr>
          <p:cNvPr descr="BIZ-1061-L.jpg" id="6566" name="Google Shape;6566;p367"/>
          <p:cNvPicPr preferRelativeResize="0"/>
          <p:nvPr/>
        </p:nvPicPr>
        <p:blipFill rotWithShape="1">
          <a:blip r:embed="rId3">
            <a:alphaModFix/>
          </a:blip>
          <a:srcRect b="0" l="-141" r="34634" t="0"/>
          <a:stretch/>
        </p:blipFill>
        <p:spPr>
          <a:xfrm>
            <a:off x="5367646" y="0"/>
            <a:ext cx="3776353" cy="5143500"/>
          </a:xfrm>
          <a:prstGeom prst="rect">
            <a:avLst/>
          </a:prstGeom>
          <a:noFill/>
          <a:ln>
            <a:noFill/>
          </a:ln>
        </p:spPr>
      </p:pic>
      <p:sp>
        <p:nvSpPr>
          <p:cNvPr id="6567" name="Google Shape;6567;p367"/>
          <p:cNvSpPr txBox="1"/>
          <p:nvPr>
            <p:ph type="title"/>
          </p:nvPr>
        </p:nvSpPr>
        <p:spPr>
          <a:xfrm>
            <a:off x="466725" y="3747"/>
            <a:ext cx="5087938" cy="617601"/>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Product Development</a:t>
            </a:r>
            <a:endParaRPr/>
          </a:p>
        </p:txBody>
      </p:sp>
      <p:sp>
        <p:nvSpPr>
          <p:cNvPr id="6568" name="Google Shape;6568;p367"/>
          <p:cNvSpPr txBox="1"/>
          <p:nvPr>
            <p:ph idx="1" type="body"/>
          </p:nvPr>
        </p:nvSpPr>
        <p:spPr>
          <a:xfrm>
            <a:off x="449263" y="2201863"/>
            <a:ext cx="4866449" cy="2652712"/>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chemeClr val="dk2"/>
              </a:buClr>
              <a:buSzPts val="1800"/>
              <a:buNone/>
            </a:pPr>
            <a:r>
              <a:rPr lang="en-GB"/>
              <a:t>Why is it important?</a:t>
            </a:r>
            <a:endParaRPr/>
          </a:p>
          <a:p>
            <a:pPr indent="-231775" lvl="1" marL="231775" rtl="0" algn="l">
              <a:lnSpc>
                <a:spcPct val="100000"/>
              </a:lnSpc>
              <a:spcBef>
                <a:spcPts val="400"/>
              </a:spcBef>
              <a:spcAft>
                <a:spcPts val="0"/>
              </a:spcAft>
              <a:buClr>
                <a:schemeClr val="dk1"/>
              </a:buClr>
              <a:buSzPts val="1400"/>
              <a:buChar char="•"/>
            </a:pPr>
            <a:r>
              <a:rPr lang="en-GB"/>
              <a:t>New products are the life-blood of companies, securing a relevant and sustainable future </a:t>
            </a:r>
            <a:endParaRPr/>
          </a:p>
          <a:p>
            <a:pPr indent="-231775" lvl="1" marL="231775" rtl="0" algn="l">
              <a:lnSpc>
                <a:spcPct val="100000"/>
              </a:lnSpc>
              <a:spcBef>
                <a:spcPts val="800"/>
              </a:spcBef>
              <a:spcAft>
                <a:spcPts val="0"/>
              </a:spcAft>
              <a:buClr>
                <a:schemeClr val="dk1"/>
              </a:buClr>
              <a:buSzPts val="1400"/>
              <a:buChar char="•"/>
            </a:pPr>
            <a:r>
              <a:rPr lang="en-GB"/>
              <a:t>Helps companies stay competitive when demand changes or new technology is developed</a:t>
            </a:r>
            <a:endParaRPr/>
          </a:p>
          <a:p>
            <a:pPr indent="-231775" lvl="1" marL="231775" rtl="0" algn="l">
              <a:lnSpc>
                <a:spcPct val="100000"/>
              </a:lnSpc>
              <a:spcBef>
                <a:spcPts val="800"/>
              </a:spcBef>
              <a:spcAft>
                <a:spcPts val="0"/>
              </a:spcAft>
              <a:buClr>
                <a:schemeClr val="dk1"/>
              </a:buClr>
              <a:buSzPts val="1400"/>
              <a:buChar char="•"/>
            </a:pPr>
            <a:r>
              <a:rPr lang="en-GB"/>
              <a:t>Requires anticipation of what the market demands to provide the product before it is requested</a:t>
            </a:r>
            <a:endParaRPr/>
          </a:p>
          <a:p>
            <a:pPr indent="-231775" lvl="1" marL="231775" rtl="0" algn="l">
              <a:lnSpc>
                <a:spcPct val="100000"/>
              </a:lnSpc>
              <a:spcBef>
                <a:spcPts val="800"/>
              </a:spcBef>
              <a:spcAft>
                <a:spcPts val="0"/>
              </a:spcAft>
              <a:buClr>
                <a:schemeClr val="dk1"/>
              </a:buClr>
              <a:buSzPts val="1400"/>
              <a:buChar char="•"/>
            </a:pPr>
            <a:r>
              <a:rPr lang="en-GB"/>
              <a:t>Key to growth by providing new value to existing and new customers…and failure is costly!</a:t>
            </a:r>
            <a:endParaRPr/>
          </a:p>
          <a:p>
            <a:pPr indent="-142875" lvl="1" marL="231775" rtl="0" algn="l">
              <a:lnSpc>
                <a:spcPct val="100000"/>
              </a:lnSpc>
              <a:spcBef>
                <a:spcPts val="800"/>
              </a:spcBef>
              <a:spcAft>
                <a:spcPts val="0"/>
              </a:spcAft>
              <a:buClr>
                <a:schemeClr val="dk1"/>
              </a:buClr>
              <a:buSzPts val="1400"/>
              <a:buNone/>
            </a:pPr>
            <a:r>
              <a:t/>
            </a:r>
            <a:endParaRPr/>
          </a:p>
        </p:txBody>
      </p:sp>
      <p:sp>
        <p:nvSpPr>
          <p:cNvPr id="6569" name="Google Shape;6569;p367"/>
          <p:cNvSpPr txBox="1"/>
          <p:nvPr>
            <p:ph idx="2" type="body"/>
          </p:nvPr>
        </p:nvSpPr>
        <p:spPr>
          <a:xfrm>
            <a:off x="449262" y="904312"/>
            <a:ext cx="6622097" cy="1029264"/>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chemeClr val="lt1"/>
              </a:buClr>
              <a:buSzPts val="1800"/>
              <a:buNone/>
            </a:pPr>
            <a:r>
              <a:t/>
            </a:r>
            <a:endParaRPr/>
          </a:p>
        </p:txBody>
      </p:sp>
      <p:sp>
        <p:nvSpPr>
          <p:cNvPr id="6570" name="Google Shape;6570;p367"/>
          <p:cNvSpPr/>
          <p:nvPr/>
        </p:nvSpPr>
        <p:spPr>
          <a:xfrm>
            <a:off x="1" y="769691"/>
            <a:ext cx="7205662" cy="1160709"/>
          </a:xfrm>
          <a:prstGeom prst="rect">
            <a:avLst/>
          </a:prstGeom>
          <a:solidFill>
            <a:srgbClr val="005AA4"/>
          </a:solidFill>
          <a:ln>
            <a:noFill/>
          </a:ln>
          <a:effectLst>
            <a:outerShdw blurRad="50800" rotWithShape="0" algn="tl" dir="2700000" dist="38100">
              <a:srgbClr val="000000">
                <a:alpha val="40000"/>
              </a:srgbClr>
            </a:outerShdw>
          </a:effectLst>
        </p:spPr>
        <p:txBody>
          <a:bodyPr anchorCtr="0" anchor="ctr" bIns="91425" lIns="91425" spcFirstLastPara="1" rIns="91425" wrap="square" tIns="91425">
            <a:noAutofit/>
          </a:bodyPr>
          <a:lstStyle/>
          <a:p>
            <a:pPr indent="0" lvl="1" marL="406400" marR="0" rtl="0" algn="l">
              <a:spcBef>
                <a:spcPts val="0"/>
              </a:spcBef>
              <a:spcAft>
                <a:spcPts val="0"/>
              </a:spcAft>
              <a:buNone/>
            </a:pPr>
            <a:r>
              <a:rPr b="0" i="0" lang="en-GB" sz="1400" u="none" cap="none" strike="noStrike">
                <a:solidFill>
                  <a:schemeClr val="lt1"/>
                </a:solidFill>
                <a:latin typeface="Century Gothic"/>
                <a:ea typeface="Century Gothic"/>
                <a:cs typeface="Century Gothic"/>
                <a:sym typeface="Century Gothic"/>
              </a:rPr>
              <a:t>Expand features sets and develop new products and services by tapping into Customers’ unmet needs</a:t>
            </a:r>
            <a:endParaRPr b="0" i="0" sz="1400" u="none" cap="none" strike="noStrike">
              <a:solidFill>
                <a:schemeClr val="lt1"/>
              </a:solidFill>
              <a:latin typeface="Century Gothic"/>
              <a:ea typeface="Century Gothic"/>
              <a:cs typeface="Century Gothic"/>
              <a:sym typeface="Century Gothic"/>
            </a:endParaRPr>
          </a:p>
        </p:txBody>
      </p:sp>
      <p:sp>
        <p:nvSpPr>
          <p:cNvPr id="6571" name="Google Shape;6571;p367">
            <a:hlinkClick action="ppaction://hlinksldjump" r:id="rId4"/>
          </p:cNvPr>
          <p:cNvSpPr/>
          <p:nvPr/>
        </p:nvSpPr>
        <p:spPr>
          <a:xfrm>
            <a:off x="6487285" y="-189267"/>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Product Development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5" name="Shape 6575"/>
        <p:cNvGrpSpPr/>
        <p:nvPr/>
      </p:nvGrpSpPr>
      <p:grpSpPr>
        <a:xfrm>
          <a:off x="0" y="0"/>
          <a:ext cx="0" cy="0"/>
          <a:chOff x="0" y="0"/>
          <a:chExt cx="0" cy="0"/>
        </a:xfrm>
      </p:grpSpPr>
      <p:sp>
        <p:nvSpPr>
          <p:cNvPr id="6576" name="Google Shape;6576;p368"/>
          <p:cNvSpPr/>
          <p:nvPr/>
        </p:nvSpPr>
        <p:spPr>
          <a:xfrm>
            <a:off x="7772401" y="-368299"/>
            <a:ext cx="1503273" cy="5054600"/>
          </a:xfrm>
          <a:prstGeom prst="roundRect">
            <a:avLst>
              <a:gd fmla="val 3493" name="adj"/>
            </a:avLst>
          </a:prstGeom>
          <a:solidFill>
            <a:srgbClr val="FFFFFF"/>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6577" name="Google Shape;6577;p368"/>
          <p:cNvSpPr txBox="1"/>
          <p:nvPr>
            <p:ph idx="1" type="body"/>
          </p:nvPr>
        </p:nvSpPr>
        <p:spPr>
          <a:xfrm>
            <a:off x="467360" y="852530"/>
            <a:ext cx="4830354" cy="3344033"/>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0079DB"/>
              </a:buClr>
              <a:buSzPts val="1800"/>
              <a:buNone/>
            </a:pPr>
            <a:r>
              <a:rPr lang="en-GB">
                <a:solidFill>
                  <a:srgbClr val="0079DB"/>
                </a:solidFill>
              </a:rPr>
              <a:t>How – Capabilities</a:t>
            </a:r>
            <a:endParaRPr b="1">
              <a:solidFill>
                <a:schemeClr val="accent1"/>
              </a:solidFill>
            </a:endParaRPr>
          </a:p>
          <a:p>
            <a:pPr indent="-169863" lvl="0" marL="169863" rtl="0" algn="l">
              <a:lnSpc>
                <a:spcPct val="95000"/>
              </a:lnSpc>
              <a:spcBef>
                <a:spcPts val="800"/>
              </a:spcBef>
              <a:spcAft>
                <a:spcPts val="0"/>
              </a:spcAft>
              <a:buClr>
                <a:schemeClr val="dk1"/>
              </a:buClr>
              <a:buSzPts val="1400"/>
              <a:buChar char="•"/>
            </a:pPr>
            <a:r>
              <a:rPr b="1" lang="en-GB" sz="1400"/>
              <a:t>Research new product opportunities </a:t>
            </a:r>
            <a:r>
              <a:rPr lang="en-GB" sz="1400"/>
              <a:t>by incorporating external market research, trends and internal product usage data used in product design and packaging decisions</a:t>
            </a:r>
            <a:endParaRPr/>
          </a:p>
          <a:p>
            <a:pPr indent="-169863" lvl="0" marL="169863" rtl="0" algn="l">
              <a:lnSpc>
                <a:spcPct val="95000"/>
              </a:lnSpc>
              <a:spcBef>
                <a:spcPts val="600"/>
              </a:spcBef>
              <a:spcAft>
                <a:spcPts val="0"/>
              </a:spcAft>
              <a:buClr>
                <a:schemeClr val="dk1"/>
              </a:buClr>
              <a:buSzPts val="1400"/>
              <a:buChar char="•"/>
            </a:pPr>
            <a:r>
              <a:rPr b="1" lang="en-GB" sz="1400"/>
              <a:t>Conduct a business discovery </a:t>
            </a:r>
            <a:r>
              <a:rPr lang="en-GB" sz="1400"/>
              <a:t>to predict the impact of new products on overall business.  Includes a financial business case which considers forecasted uptake, investment, costs/ benefits, risk, resources, product fit,  and revenue potential</a:t>
            </a:r>
            <a:endParaRPr/>
          </a:p>
          <a:p>
            <a:pPr indent="-169863" lvl="0" marL="169863" rtl="0" algn="l">
              <a:lnSpc>
                <a:spcPct val="95000"/>
              </a:lnSpc>
              <a:spcBef>
                <a:spcPts val="600"/>
              </a:spcBef>
              <a:spcAft>
                <a:spcPts val="0"/>
              </a:spcAft>
              <a:buClr>
                <a:schemeClr val="dk1"/>
              </a:buClr>
              <a:buSzPts val="1400"/>
              <a:buChar char="•"/>
            </a:pPr>
            <a:r>
              <a:rPr b="1" lang="en-GB" sz="1400"/>
              <a:t>Develop product prototypes  </a:t>
            </a:r>
            <a:r>
              <a:rPr lang="en-GB" sz="1400"/>
              <a:t>which are used to test and evaluate decisions on new  or alternative product specifications and features</a:t>
            </a:r>
            <a:endParaRPr/>
          </a:p>
          <a:p>
            <a:pPr indent="-169863" lvl="0" marL="169863" rtl="0" algn="l">
              <a:lnSpc>
                <a:spcPct val="95000"/>
              </a:lnSpc>
              <a:spcBef>
                <a:spcPts val="600"/>
              </a:spcBef>
              <a:spcAft>
                <a:spcPts val="0"/>
              </a:spcAft>
              <a:buClr>
                <a:schemeClr val="dk1"/>
              </a:buClr>
              <a:buSzPts val="1400"/>
              <a:buChar char="•"/>
            </a:pPr>
            <a:r>
              <a:rPr b="1" lang="en-GB" sz="1400"/>
              <a:t>Source products and develop contracts – </a:t>
            </a:r>
            <a:r>
              <a:rPr lang="en-GB" sz="1400"/>
              <a:t>engage resources to produce products which meet design specifications  and fulfilll  contract terms   </a:t>
            </a:r>
            <a:endParaRPr sz="1400"/>
          </a:p>
        </p:txBody>
      </p:sp>
      <p:sp>
        <p:nvSpPr>
          <p:cNvPr id="6578" name="Google Shape;6578;p368"/>
          <p:cNvSpPr txBox="1"/>
          <p:nvPr>
            <p:ph type="title"/>
          </p:nvPr>
        </p:nvSpPr>
        <p:spPr>
          <a:xfrm>
            <a:off x="468355" y="239424"/>
            <a:ext cx="5435240" cy="704088"/>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Product Development</a:t>
            </a:r>
            <a:br>
              <a:rPr lang="en-GB"/>
            </a:br>
            <a:endParaRPr/>
          </a:p>
        </p:txBody>
      </p:sp>
      <p:pic>
        <p:nvPicPr>
          <p:cNvPr descr="BIZ-1040-L.jpg" id="6579" name="Google Shape;6579;p368"/>
          <p:cNvPicPr preferRelativeResize="0"/>
          <p:nvPr/>
        </p:nvPicPr>
        <p:blipFill rotWithShape="1">
          <a:blip r:embed="rId3">
            <a:alphaModFix/>
          </a:blip>
          <a:srcRect b="0" l="-8656" r="-8655" t="0"/>
          <a:stretch/>
        </p:blipFill>
        <p:spPr>
          <a:xfrm>
            <a:off x="5218025" y="1212850"/>
            <a:ext cx="4267200" cy="2396066"/>
          </a:xfrm>
          <a:prstGeom prst="rect">
            <a:avLst/>
          </a:prstGeom>
          <a:noFill/>
          <a:ln>
            <a:noFill/>
          </a:ln>
        </p:spPr>
      </p:pic>
      <p:sp>
        <p:nvSpPr>
          <p:cNvPr id="6580" name="Google Shape;6580;p368">
            <a:hlinkClick action="ppaction://hlinksldjump" r:id="rId4"/>
          </p:cNvPr>
          <p:cNvSpPr/>
          <p:nvPr/>
        </p:nvSpPr>
        <p:spPr>
          <a:xfrm>
            <a:off x="6487285" y="-189267"/>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Product Development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5" name="Shape 6585"/>
        <p:cNvGrpSpPr/>
        <p:nvPr/>
      </p:nvGrpSpPr>
      <p:grpSpPr>
        <a:xfrm>
          <a:off x="0" y="0"/>
          <a:ext cx="0" cy="0"/>
          <a:chOff x="0" y="0"/>
          <a:chExt cx="0" cy="0"/>
        </a:xfrm>
      </p:grpSpPr>
      <p:cxnSp>
        <p:nvCxnSpPr>
          <p:cNvPr id="6586" name="Google Shape;6586;p369"/>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graphicFrame>
        <p:nvGraphicFramePr>
          <p:cNvPr id="6587" name="Google Shape;6587;p369"/>
          <p:cNvGraphicFramePr/>
          <p:nvPr/>
        </p:nvGraphicFramePr>
        <p:xfrm>
          <a:off x="600079" y="84613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b="1" sz="1400">
                        <a:solidFill>
                          <a:schemeClr val="dk2"/>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Leverage external market research, trends and internal product usage data to support product and packaging design and specifications</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The</a:t>
                      </a:r>
                      <a:r>
                        <a:rPr b="0" lang="en-GB" sz="900">
                          <a:solidFill>
                            <a:schemeClr val="dk1"/>
                          </a:solidFill>
                        </a:rPr>
                        <a:t> work of p</a:t>
                      </a:r>
                      <a:r>
                        <a:rPr b="0" lang="en-GB" sz="900">
                          <a:solidFill>
                            <a:schemeClr val="dk1"/>
                          </a:solidFill>
                        </a:rPr>
                        <a:t>roduct designers involves observing people, asking questions, searching for information, making and testing ideas, and ultimately generating 'solutions' to 'problems'. Manifest in the design process is the use of analytics</a:t>
                      </a:r>
                      <a:r>
                        <a:rPr b="0" lang="en-GB" sz="900">
                          <a:solidFill>
                            <a:schemeClr val="dk1"/>
                          </a:solidFill>
                        </a:rPr>
                        <a:t> and quantitative </a:t>
                      </a:r>
                      <a:r>
                        <a:rPr b="0" lang="en-GB" sz="900">
                          <a:solidFill>
                            <a:schemeClr val="dk1"/>
                          </a:solidFill>
                        </a:rPr>
                        <a:t>research methods. </a:t>
                      </a:r>
                      <a:endParaRPr b="0" sz="900">
                        <a:solidFill>
                          <a:schemeClr val="dk1"/>
                        </a:solidFill>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Determine market need/demand and underlying</a:t>
                      </a:r>
                      <a:r>
                        <a:rPr b="0" lang="en-GB" sz="900">
                          <a:solidFill>
                            <a:schemeClr val="dk1"/>
                          </a:solidFill>
                        </a:rPr>
                        <a:t> trends</a:t>
                      </a:r>
                      <a:endParaRPr b="0" sz="900">
                        <a:solidFill>
                          <a:schemeClr val="dk1"/>
                        </a:solidFill>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rPr>
                        <a:t>Understand product usage</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rPr>
                        <a:t>Identify</a:t>
                      </a:r>
                      <a:r>
                        <a:rPr b="0" lang="en-GB" sz="900">
                          <a:solidFill>
                            <a:schemeClr val="dk1"/>
                          </a:solidFill>
                        </a:rPr>
                        <a:t> targeted customer segments/personas</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Assess competitive</a:t>
                      </a:r>
                      <a:r>
                        <a:rPr b="0" lang="en-GB" sz="900">
                          <a:solidFill>
                            <a:schemeClr val="dk1"/>
                          </a:solidFill>
                        </a:rPr>
                        <a:t> marketplace/offers</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Identify gaps in product portfolio and product portfolios</a:t>
                      </a:r>
                      <a:endParaRPr b="0" sz="900">
                        <a:solidFill>
                          <a:schemeClr val="dk1"/>
                        </a:solidFill>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Investigate potential for copy write/ trademark/patent protection, and/or risk for potential infringement</a:t>
                      </a:r>
                      <a:endParaRPr/>
                    </a:p>
                    <a:p>
                      <a:r>
                        <a:rPr sz="900"/>
                        <a:t/>
                      </a:r>
                    </a:p>
                    <a:p>
                      <a:r>
                        <a:rPr sz="900"/>
                        <a:t>Research unmet needs in Pakistan's 220M population — only 30% banked, 60% have mobile phones</a:t>
                      </a:r>
                    </a:p>
                    <a:p>
                      <a:r>
                        <a:rPr sz="900"/>
                        <a:t>Analyze RAAST transaction patterns to identify product opportunities (P2P senders → savings product, frequent billers → auto-debit product)</a:t>
                      </a:r>
                    </a:p>
                    <a:p>
                      <a:r>
                        <a:rPr sz="900"/>
                        <a:t>Identify Islamic product gaps — Shariah-compliant alternatives for every conventional product</a:t>
                      </a:r>
                    </a:p>
                    <a:p>
                      <a:r>
                        <a:rPr sz="900"/>
                        <a:t>Products for financially excluded: basic accounts, micro-savings, nano-lending via mobile</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xBody>
                    <a:bodyPr/>
                    <a:p/>
                  </a:txBody>
                </a:tc>
                <a:tc vMerge="1">
                  <a:txBody>
                    <a:bodyPr/>
                    <a:p/>
                  </a:txBody>
                </a:tc>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p>
                      <a:r>
                        <a:rPr sz="800" b="1">
                          <a:solidFill>
                            <a:srgbClr val="006699"/>
                          </a:solidFill>
                        </a:rPr>
                        <a:t>FSDM: Customer_Journey, Interaction_Event, Channel_Session, Service_Request, Process_Step, Wait_Time_Metric</a:t>
                      </a:r>
                    </a:p>
                    <a:p>
                      <a:r>
                        <a:rPr sz="800" i="1">
                          <a:solidFill>
                            <a:srgbClr val="008040"/>
                          </a:solidFill>
                        </a:rPr>
                        <a:t>Pakistan: Branch queue management, ATM uptime correlation, mobile app crash analytics, RAAST transaction experience, complaint resolution SLA tracking per SBP guidelines</a:t>
                      </a: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9388" lvl="0" marL="179388" marR="0" rtl="0" algn="l">
                        <a:lnSpc>
                          <a:spcPct val="95000"/>
                        </a:lnSpc>
                        <a:spcBef>
                          <a:spcPts val="0"/>
                        </a:spcBef>
                        <a:spcAft>
                          <a:spcPts val="0"/>
                        </a:spcAft>
                        <a:buClr>
                          <a:schemeClr val="dk1"/>
                        </a:buClr>
                        <a:buSzPts val="900"/>
                        <a:buFont typeface="Arial"/>
                        <a:buChar char="•"/>
                      </a:pPr>
                      <a:r>
                        <a:rPr lang="en-GB" sz="900">
                          <a:solidFill>
                            <a:schemeClr val="dk1"/>
                          </a:solidFill>
                        </a:rPr>
                        <a:t>External market research</a:t>
                      </a:r>
                      <a:endParaRPr/>
                    </a:p>
                    <a:p>
                      <a:pPr indent="-179388" lvl="0" marL="179388" marR="0" rtl="0" algn="l">
                        <a:lnSpc>
                          <a:spcPct val="95000"/>
                        </a:lnSpc>
                        <a:spcBef>
                          <a:spcPts val="0"/>
                        </a:spcBef>
                        <a:spcAft>
                          <a:spcPts val="0"/>
                        </a:spcAft>
                        <a:buClr>
                          <a:schemeClr val="dk1"/>
                        </a:buClr>
                        <a:buSzPts val="900"/>
                        <a:buFont typeface="Arial"/>
                        <a:buChar char="•"/>
                      </a:pPr>
                      <a:r>
                        <a:rPr lang="en-GB" sz="900">
                          <a:solidFill>
                            <a:schemeClr val="dk1"/>
                          </a:solidFill>
                        </a:rPr>
                        <a:t>Customer survey’s, focus group feedback, and product reviews</a:t>
                      </a:r>
                      <a:endParaRPr/>
                    </a:p>
                    <a:p>
                      <a:pPr indent="-179388" lvl="0" marL="179388" marR="0" rtl="0" algn="l">
                        <a:lnSpc>
                          <a:spcPct val="95000"/>
                        </a:lnSpc>
                        <a:spcBef>
                          <a:spcPts val="0"/>
                        </a:spcBef>
                        <a:spcAft>
                          <a:spcPts val="0"/>
                        </a:spcAft>
                        <a:buClr>
                          <a:schemeClr val="dk1"/>
                        </a:buClr>
                        <a:buSzPts val="900"/>
                        <a:buFont typeface="Arial"/>
                        <a:buChar char="•"/>
                      </a:pPr>
                      <a:r>
                        <a:rPr lang="en-GB" sz="900">
                          <a:solidFill>
                            <a:schemeClr val="dk1"/>
                          </a:solidFill>
                        </a:rPr>
                        <a:t>Detailed usage data, Internal customer and transaction data</a:t>
                      </a:r>
                      <a:endParaRPr/>
                    </a:p>
                    <a:p>
                      <a:pPr indent="-179388" lvl="0" marL="179388" marR="0" rtl="0" algn="l">
                        <a:lnSpc>
                          <a:spcPct val="95000"/>
                        </a:lnSpc>
                        <a:spcBef>
                          <a:spcPts val="0"/>
                        </a:spcBef>
                        <a:spcAft>
                          <a:spcPts val="0"/>
                        </a:spcAft>
                        <a:buClr>
                          <a:schemeClr val="dk1"/>
                        </a:buClr>
                        <a:buSzPts val="900"/>
                        <a:buFont typeface="Arial"/>
                        <a:buChar char="•"/>
                      </a:pPr>
                      <a:r>
                        <a:rPr lang="en-GB" sz="900">
                          <a:solidFill>
                            <a:schemeClr val="dk1"/>
                          </a:solidFill>
                        </a:rPr>
                        <a:t>Contact center logs and branch/branch interaction notes</a:t>
                      </a:r>
                      <a:endParaRPr sz="900">
                        <a:solidFill>
                          <a:schemeClr val="dk1"/>
                        </a:solidFill>
                      </a:endParaRPr>
                    </a:p>
                    <a:p>
                      <a:pPr indent="-179388" lvl="0" marL="179388" marR="0" rtl="0" algn="l">
                        <a:lnSpc>
                          <a:spcPct val="95000"/>
                        </a:lnSpc>
                        <a:spcBef>
                          <a:spcPts val="0"/>
                        </a:spcBef>
                        <a:spcAft>
                          <a:spcPts val="0"/>
                        </a:spcAft>
                        <a:buClr>
                          <a:schemeClr val="dk1"/>
                        </a:buClr>
                        <a:buSzPts val="900"/>
                        <a:buFont typeface="Arial"/>
                        <a:buChar char="•"/>
                      </a:pPr>
                      <a:r>
                        <a:rPr lang="en-GB" sz="900">
                          <a:solidFill>
                            <a:schemeClr val="dk1"/>
                          </a:solidFill>
                        </a:rPr>
                        <a:t>Google search term metrics and social media (Twitter, Pinterest, Facebook, &amp; Instagram) topical statistics</a:t>
                      </a:r>
                      <a:endParaRPr/>
                    </a:p>
                    <a:p>
                      <a:pPr indent="-179388" lvl="0" marL="179388" marR="0" rtl="0" algn="l">
                        <a:lnSpc>
                          <a:spcPct val="95000"/>
                        </a:lnSpc>
                        <a:spcBef>
                          <a:spcPts val="0"/>
                        </a:spcBef>
                        <a:spcAft>
                          <a:spcPts val="0"/>
                        </a:spcAft>
                        <a:buClr>
                          <a:schemeClr val="dk1"/>
                        </a:buClr>
                        <a:buSzPts val="900"/>
                        <a:buFont typeface="Arial"/>
                        <a:buChar char="•"/>
                      </a:pPr>
                      <a:r>
                        <a:rPr lang="en-GB" sz="900">
                          <a:solidFill>
                            <a:schemeClr val="dk1"/>
                          </a:solidFill>
                        </a:rPr>
                        <a:t>US Patent Office Patent Full-Text and Image Database (PatFT)</a:t>
                      </a:r>
                      <a:endParaRPr/>
                    </a:p>
                    <a:p>
                      <a:pPr indent="0" lvl="0" marL="0" marR="0" rtl="0" algn="l">
                        <a:spcBef>
                          <a:spcPts val="0"/>
                        </a:spcBef>
                        <a:spcAft>
                          <a:spcPts val="0"/>
                        </a:spcAft>
                        <a:buClr>
                          <a:schemeClr val="dk1"/>
                        </a:buClr>
                        <a:buSzPts val="900"/>
                        <a:buFont typeface="Arial"/>
                        <a:buNone/>
                      </a:pPr>
                      <a:r>
                        <a:rPr b="1" lang="en-GB" sz="900">
                          <a:solidFill>
                            <a:schemeClr val="dk1"/>
                          </a:solidFill>
                        </a:rPr>
                        <a:t>Solution / Analytics</a:t>
                      </a:r>
                      <a:endParaRPr/>
                    </a:p>
                    <a:p>
                      <a:pPr indent="-171450" lvl="0" marL="171450" marR="0" rtl="0" algn="l">
                        <a:lnSpc>
                          <a:spcPct val="90000"/>
                        </a:lnSpc>
                        <a:spcBef>
                          <a:spcPts val="0"/>
                        </a:spcBef>
                        <a:spcAft>
                          <a:spcPts val="0"/>
                        </a:spcAft>
                        <a:buClr>
                          <a:schemeClr val="dk1"/>
                        </a:buClr>
                        <a:buSzPts val="900"/>
                        <a:buFont typeface="Arial"/>
                        <a:buChar char="•"/>
                      </a:pPr>
                      <a:r>
                        <a:rPr lang="en-GB" sz="900">
                          <a:solidFill>
                            <a:schemeClr val="dk1"/>
                          </a:solidFill>
                        </a:rPr>
                        <a:t>Variety of traditional (e.g. profiling, regression) analytical techniques</a:t>
                      </a:r>
                      <a:endParaRPr/>
                    </a:p>
                    <a:p>
                      <a:pPr indent="-171450" lvl="0" marL="171450" marR="0" rtl="0" algn="l">
                        <a:lnSpc>
                          <a:spcPct val="90000"/>
                        </a:lnSpc>
                        <a:spcBef>
                          <a:spcPts val="0"/>
                        </a:spcBef>
                        <a:spcAft>
                          <a:spcPts val="0"/>
                        </a:spcAft>
                        <a:buClr>
                          <a:schemeClr val="dk1"/>
                        </a:buClr>
                        <a:buSzPts val="900"/>
                        <a:buFont typeface="Arial"/>
                        <a:buChar char="•"/>
                      </a:pPr>
                      <a:r>
                        <a:rPr lang="en-GB" sz="900">
                          <a:solidFill>
                            <a:schemeClr val="dk1"/>
                          </a:solidFill>
                        </a:rPr>
                        <a:t>Natural Language processing (NLP) and other text analytic methods</a:t>
                      </a:r>
                      <a:endParaRPr/>
                    </a:p>
                    <a:p>
                      <a:pPr indent="-171450" lvl="0" marL="171450" marR="0" rtl="0" algn="l">
                        <a:lnSpc>
                          <a:spcPct val="90000"/>
                        </a:lnSpc>
                        <a:spcBef>
                          <a:spcPts val="0"/>
                        </a:spcBef>
                        <a:spcAft>
                          <a:spcPts val="0"/>
                        </a:spcAft>
                        <a:buClr>
                          <a:schemeClr val="dk1"/>
                        </a:buClr>
                        <a:buSzPts val="900"/>
                        <a:buFont typeface="Arial"/>
                        <a:buChar char="•"/>
                      </a:pPr>
                      <a:r>
                        <a:rPr lang="en-GB" sz="900">
                          <a:solidFill>
                            <a:schemeClr val="dk1"/>
                          </a:solidFill>
                        </a:rPr>
                        <a:t>Image analytics &amp; deep learning</a:t>
                      </a:r>
                      <a:endParaRPr/>
                    </a:p>
                    <a:p>
                      <a:pPr indent="-171450" lvl="0" marL="171450" marR="0" rtl="0" algn="l">
                        <a:lnSpc>
                          <a:spcPct val="90000"/>
                        </a:lnSpc>
                        <a:spcBef>
                          <a:spcPts val="0"/>
                        </a:spcBef>
                        <a:spcAft>
                          <a:spcPts val="0"/>
                        </a:spcAft>
                        <a:buClr>
                          <a:schemeClr val="dk1"/>
                        </a:buClr>
                        <a:buSzPts val="900"/>
                        <a:buFont typeface="Arial"/>
                        <a:buChar char="•"/>
                      </a:pPr>
                      <a:r>
                        <a:rPr lang="en-GB" sz="900">
                          <a:solidFill>
                            <a:schemeClr val="dk1"/>
                          </a:solidFill>
                        </a:rPr>
                        <a:t>Automatic classification and clustering techniques</a:t>
                      </a:r>
                      <a:endParaRPr/>
                    </a:p>
                    <a:p>
                      <a:r>
                        <a:rPr sz="800" b="1">
                          <a:solidFill>
                            <a:srgbClr val="006699"/>
                          </a:solidFill>
                        </a:rPr>
                        <a:t>FSDM: Customer_Journey, Interaction_Event, Channel_Session, Service_Request, Process_Step, Wait_Time_Metric</a:t>
                      </a:r>
                    </a:p>
                    <a:p>
                      <a:r>
                        <a:rPr sz="800" i="1">
                          <a:solidFill>
                            <a:srgbClr val="008040"/>
                          </a:solidFill>
                        </a:rPr>
                        <a:t>Pakistan: Branch queue management, ATM uptime correlation, mobile app crash analytics, RAAST transaction experience, complaint resolution SLA tracking per SBP guidelines</a:t>
                      </a:r>
                    </a:p>
                    <a:p>
                      <a:r>
                        <a:rPr sz="900"/>
                        <a:t/>
                      </a:r>
                    </a:p>
                    <a:p>
                      <a:r>
                        <a:rPr sz="900"/>
                        <a:t>FSDM customer/transaction data, mobile app usage analytics</a:t>
                      </a:r>
                    </a:p>
                    <a:p>
                      <a:r>
                        <a:rPr sz="900"/>
                        <a:t>RAAST transaction patterns, SBP financial inclusion survey data</a:t>
                      </a:r>
                    </a:p>
                    <a:p>
                      <a:r>
                        <a:rPr sz="900"/>
                        <a:t>Competitor product monitoring, social media sentiment analysis</a:t>
                      </a:r>
                    </a:p>
                    <a:p>
                      <a:r>
                        <a:rPr sz="900"/>
                        <a:t>NADRA demographic data for market sizing by segment</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Develop products to enhance profitability and customer experience</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Accelerate profit growth by identifying and investing in potentially valuable products</a:t>
                      </a:r>
                      <a:endParaRPr/>
                    </a:p>
                    <a:p>
                      <a:pPr indent="-171450" lvl="0" marL="171450" marR="0" rtl="0" algn="l">
                        <a:lnSpc>
                          <a:spcPct val="100000"/>
                        </a:lnSpc>
                        <a:spcBef>
                          <a:spcPts val="0"/>
                        </a:spcBef>
                        <a:spcAft>
                          <a:spcPts val="0"/>
                        </a:spcAft>
                        <a:buClr>
                          <a:schemeClr val="dk1"/>
                        </a:buClr>
                        <a:buSzPts val="900"/>
                        <a:buFont typeface="Arial"/>
                        <a:buChar char="•"/>
                      </a:pPr>
                      <a:r>
                        <a:rPr lang="en-GB" sz="900"/>
                        <a:t>Reduced</a:t>
                      </a:r>
                      <a:r>
                        <a:rPr lang="en-GB" sz="900"/>
                        <a:t> costs of new product development through improved developmental processes</a:t>
                      </a:r>
                      <a:endParaRPr sz="900"/>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Increased sales and higher cross sell rates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retention, brand loyalty, and referrals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Better customer experience and lower cost to serve</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Enhanced operational efficiency and </a:t>
                      </a:r>
                      <a:br>
                        <a:rPr lang="en-GB" sz="900">
                          <a:solidFill>
                            <a:schemeClr val="dk1"/>
                          </a:solidFill>
                          <a:latin typeface="Century Gothic"/>
                          <a:ea typeface="Century Gothic"/>
                          <a:cs typeface="Century Gothic"/>
                          <a:sym typeface="Century Gothic"/>
                        </a:rPr>
                      </a:br>
                      <a:r>
                        <a:rPr lang="en-GB" sz="900">
                          <a:solidFill>
                            <a:schemeClr val="dk1"/>
                          </a:solidFill>
                          <a:latin typeface="Century Gothic"/>
                          <a:ea typeface="Century Gothic"/>
                          <a:cs typeface="Century Gothic"/>
                          <a:sym typeface="Century Gothic"/>
                        </a:rPr>
                        <a:t>profitability</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r>
                        <a:rPr sz="900">
                          <a:latin typeface="Century Gothic"/>
                        </a:rPr>
                        <a:t/>
                      </a:r>
                    </a:p>
                    <a:p>
                      <a:r>
                        <a:rPr sz="900">
                          <a:latin typeface="Century Gothic"/>
                        </a:rPr>
                        <a:t>Data-driven product pipeline aligned with market need</a:t>
                      </a:r>
                    </a:p>
                    <a:p>
                      <a:r>
                        <a:rPr sz="900">
                          <a:latin typeface="Century Gothic"/>
                        </a:rPr>
                        <a:t>SBP financial inclusion target alignment (50% inclusion by 2028)</a:t>
                      </a:r>
                    </a:p>
                    <a:p>
                      <a:r>
                        <a:rPr sz="900">
                          <a:latin typeface="Century Gothic"/>
                        </a:rPr>
                        <a:t>Islamic product gap analysis: identify missing Shariah-compliant equivalents</a:t>
                      </a:r>
                    </a:p>
                    <a:p>
                      <a:r>
                        <a:rPr sz="900">
                          <a:latin typeface="Century Gothic"/>
                        </a:rPr>
                        <a:t>Digital-first product pipeline for Pakistan's mobile-savvy youth (60% under 30)</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6588" name="Google Shape;6588;p369"/>
          <p:cNvSpPr txBox="1"/>
          <p:nvPr>
            <p:ph type="title"/>
          </p:nvPr>
        </p:nvSpPr>
        <p:spPr>
          <a:xfrm>
            <a:off x="466725" y="297561"/>
            <a:ext cx="8229600" cy="704088"/>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Research New Product Development Opportunities</a:t>
            </a:r>
            <a:endParaRPr/>
          </a:p>
        </p:txBody>
      </p:sp>
      <p:grpSp>
        <p:nvGrpSpPr>
          <p:cNvPr id="6589" name="Google Shape;6589;p369"/>
          <p:cNvGrpSpPr/>
          <p:nvPr/>
        </p:nvGrpSpPr>
        <p:grpSpPr>
          <a:xfrm>
            <a:off x="7717533" y="4360377"/>
            <a:ext cx="1058348" cy="347375"/>
            <a:chOff x="7651698" y="4287227"/>
            <a:chExt cx="1058348" cy="347375"/>
          </a:xfrm>
        </p:grpSpPr>
        <p:grpSp>
          <p:nvGrpSpPr>
            <p:cNvPr id="6590" name="Google Shape;6590;p369"/>
            <p:cNvGrpSpPr/>
            <p:nvPr/>
          </p:nvGrpSpPr>
          <p:grpSpPr>
            <a:xfrm>
              <a:off x="7714163" y="4337598"/>
              <a:ext cx="995883" cy="297004"/>
              <a:chOff x="7711013" y="3986494"/>
              <a:chExt cx="995883" cy="297004"/>
            </a:xfrm>
          </p:grpSpPr>
          <p:sp>
            <p:nvSpPr>
              <p:cNvPr id="6591" name="Google Shape;6591;p369"/>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6592" name="Google Shape;6592;p369"/>
              <p:cNvGrpSpPr/>
              <p:nvPr/>
            </p:nvGrpSpPr>
            <p:grpSpPr>
              <a:xfrm>
                <a:off x="7711013" y="4002615"/>
                <a:ext cx="281520" cy="241973"/>
                <a:chOff x="5652748" y="4066000"/>
                <a:chExt cx="906498" cy="747974"/>
              </a:xfrm>
            </p:grpSpPr>
            <p:sp>
              <p:nvSpPr>
                <p:cNvPr id="6593" name="Google Shape;6593;p369"/>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6594" name="Google Shape;6594;p369"/>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6595" name="Google Shape;6595;p369"/>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6596" name="Google Shape;6596;p369">
              <a:hlinkClick action="ppaction://hlinksldjump" r:id="rId3"/>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pic>
        <p:nvPicPr>
          <p:cNvPr descr="BIZ-1040-L.jpg" id="6597" name="Google Shape;6597;p369"/>
          <p:cNvPicPr preferRelativeResize="0"/>
          <p:nvPr/>
        </p:nvPicPr>
        <p:blipFill rotWithShape="1">
          <a:blip r:embed="rId4">
            <a:alphaModFix/>
          </a:blip>
          <a:srcRect b="0" l="13530" r="-8655" t="16871"/>
          <a:stretch/>
        </p:blipFill>
        <p:spPr>
          <a:xfrm>
            <a:off x="5538788" y="803275"/>
            <a:ext cx="3237093" cy="1699193"/>
          </a:xfrm>
          <a:prstGeom prst="rect">
            <a:avLst/>
          </a:prstGeom>
          <a:noFill/>
          <a:ln>
            <a:noFill/>
          </a:ln>
        </p:spPr>
      </p:pic>
      <p:sp>
        <p:nvSpPr>
          <p:cNvPr id="6598" name="Google Shape;6598;p369">
            <a:hlinkClick action="ppaction://hlinksldjump" r:id="rId5"/>
          </p:cNvPr>
          <p:cNvSpPr/>
          <p:nvPr/>
        </p:nvSpPr>
        <p:spPr>
          <a:xfrm>
            <a:off x="6487285" y="-189267"/>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Product Development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3" name="Shape 6603"/>
        <p:cNvGrpSpPr/>
        <p:nvPr/>
      </p:nvGrpSpPr>
      <p:grpSpPr>
        <a:xfrm>
          <a:off x="0" y="0"/>
          <a:ext cx="0" cy="0"/>
          <a:chOff x="0" y="0"/>
          <a:chExt cx="0" cy="0"/>
        </a:xfrm>
      </p:grpSpPr>
      <p:graphicFrame>
        <p:nvGraphicFramePr>
          <p:cNvPr id="6604" name="Google Shape;6604;p370"/>
          <p:cNvGraphicFramePr/>
          <p:nvPr/>
        </p:nvGraphicFramePr>
        <p:xfrm>
          <a:off x="469899" y="789217"/>
          <a:ext cx="3000000" cy="3000000"/>
        </p:xfrm>
        <a:graphic>
          <a:graphicData uri="http://schemas.openxmlformats.org/drawingml/2006/table">
            <a:tbl>
              <a:tblPr bandRow="1" firstRow="1">
                <a:noFill/>
                <a:tableStyleId>{D098BFCB-6916-41F2-A2A5-0DF0D5139B6F}</a:tableStyleId>
              </a:tblPr>
              <a:tblGrid>
                <a:gridCol w="130325"/>
                <a:gridCol w="556275"/>
                <a:gridCol w="367500"/>
                <a:gridCol w="3170075"/>
                <a:gridCol w="3276050"/>
                <a:gridCol w="477150"/>
                <a:gridCol w="477150"/>
              </a:tblGrid>
              <a:tr h="180850">
                <a:tc gridSpan="3">
                  <a:txBody>
                    <a:bodyPr/>
                    <a:lstStyle/>
                    <a:p>
                      <a:pPr indent="0" lvl="0" marL="0" marR="0" rtl="0" algn="ctr">
                        <a:spcBef>
                          <a:spcPts val="0"/>
                        </a:spcBef>
                        <a:spcAft>
                          <a:spcPts val="0"/>
                        </a:spcAft>
                        <a:buNone/>
                      </a:pPr>
                      <a:r>
                        <a:rPr b="1" lang="en-GB" sz="1200">
                          <a:solidFill>
                            <a:schemeClr val="dk2"/>
                          </a:solidFill>
                        </a:rPr>
                        <a:t>Level</a:t>
                      </a:r>
                      <a:endParaRPr b="1" sz="12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hMerge="1">
                  <a:txBody>
                    <a:bodyPr/>
                    <a:p/>
                  </a:txBody>
                </a:tc>
                <a:tc gridSpan="2">
                  <a:txBody>
                    <a:bodyPr/>
                    <a:lstStyle/>
                    <a:p>
                      <a:pPr indent="0" lvl="0" marL="0" marR="0" rtl="0" algn="ctr">
                        <a:lnSpc>
                          <a:spcPct val="100000"/>
                        </a:lnSpc>
                        <a:spcBef>
                          <a:spcPts val="0"/>
                        </a:spcBef>
                        <a:spcAft>
                          <a:spcPts val="0"/>
                        </a:spcAft>
                        <a:buClr>
                          <a:schemeClr val="dk2"/>
                        </a:buClr>
                        <a:buSzPts val="1200"/>
                        <a:buFont typeface="Century Gothic"/>
                        <a:buNone/>
                      </a:pPr>
                      <a:r>
                        <a:rPr b="1" lang="en-GB" sz="1200">
                          <a:solidFill>
                            <a:schemeClr val="dk2"/>
                          </a:solidFill>
                        </a:rPr>
                        <a:t>Maturity Statement</a:t>
                      </a:r>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rPr b="1" lang="en-GB" sz="800">
                          <a:solidFill>
                            <a:schemeClr val="dk2"/>
                          </a:solidFill>
                        </a:rPr>
                        <a:t>Current</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rPr b="1" lang="en-GB" sz="800">
                          <a:solidFill>
                            <a:schemeClr val="dk2"/>
                          </a:solidFill>
                        </a:rPr>
                        <a:t>Desired</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3385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06C1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Leading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The entire organization is focused on continuous process improvement characterized by an agile new product development methodology. Able to predict emerging trends and gain first mover advantage. Advanced predictive analytics incorporated into methodology.</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43715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F7513"/>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Innovating</a:t>
                      </a:r>
                      <a:endParaRPr/>
                    </a:p>
                    <a:p>
                      <a:pPr indent="0" lvl="0" marL="0" marR="0" rtl="0" algn="ctr">
                        <a:spcBef>
                          <a:spcPts val="0"/>
                        </a:spcBef>
                        <a:spcAft>
                          <a:spcPts val="0"/>
                        </a:spcAft>
                        <a:buNone/>
                      </a:pPr>
                      <a:r>
                        <a:t/>
                      </a:r>
                      <a:endParaRPr b="1" sz="1000">
                        <a:solidFill>
                          <a:schemeClr val="dk2"/>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Established metrics for product development processes. The development process is predictable because the process is measured and operates within measurable limits. Utilize analytic techniques, such as sentiment analysis, to better understand customer needs and expectations systematically using customer and usage data </a:t>
                      </a:r>
                      <a:endParaRPr/>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79775">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C891C"/>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Practicing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A standard process for developing new products is documented. This process can be characterized as including inputs, standards and procedures for performing the work, metrics for verification, and other standard outputs. Emerging use of analytic techniques, such as sentiment analysis, to better understand customer needs and expectations with the use of customer and usage data </a:t>
                      </a:r>
                      <a:endParaRPr/>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lnSpc>
                          <a:spcPct val="100000"/>
                        </a:lnSpc>
                        <a:spcBef>
                          <a:spcPts val="0"/>
                        </a:spcBef>
                        <a:spcAft>
                          <a:spcPts val="0"/>
                        </a:spcAft>
                        <a:buClr>
                          <a:schemeClr val="dk1"/>
                        </a:buClr>
                        <a:buSzPts val="1400"/>
                        <a:buFont typeface="Century Gothic"/>
                        <a:buNone/>
                      </a:pPr>
                      <a:r>
                        <a:t/>
                      </a:r>
                      <a:endParaRPr sz="1400">
                        <a:solidFill>
                          <a:schemeClr val="dk1"/>
                        </a:solidFill>
                        <a:latin typeface="Noto Sans Symbols"/>
                        <a:ea typeface="Noto Sans Symbols"/>
                        <a:cs typeface="Noto Sans Symbols"/>
                        <a:sym typeface="Noto Sans Symbols"/>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3385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E9B4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Developing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Understanding of the need to efficiently manage the product development lifecycle and the limitation of being reactive to declining product revenue. Utilize surveys and focus groups to understand market direction and identify product categories. Most new product introductions are limited to evolutionary changes.</a:t>
                      </a:r>
                      <a:endParaRPr b="0" sz="800">
                        <a:solidFill>
                          <a:schemeClr val="dk1"/>
                        </a:solidFill>
                        <a:latin typeface="Century Gothic"/>
                        <a:ea typeface="Century Gothic"/>
                        <a:cs typeface="Century Gothic"/>
                        <a:sym typeface="Century Gothic"/>
                      </a:endParaRPr>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3385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F1AE65"/>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Emerging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Little to no investment in researching new product ideas. Decisions made based on past experience and/or personal preferences. Generally repeat what worked last year and plan product capacity based on last year’s product usage and sales statistics plus expected growth. Performance depends on the capabilities of individuals or teams and varies with their innate skills, knowledge, and motivations.</a:t>
                      </a:r>
                      <a:endParaRPr/>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178750">
                <a:tc gridSpan="3">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Priority</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hMerge="1">
                  <a:txBody>
                    <a:bodyPr/>
                    <a:p/>
                  </a:txBody>
                </a:tc>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Key areas for improvement</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Benefits from uplift</a:t>
                      </a:r>
                      <a:endParaRPr b="1" sz="1000">
                        <a:solidFill>
                          <a:schemeClr val="dk2"/>
                        </a:solidFill>
                        <a:latin typeface="Century Gothic"/>
                        <a:ea typeface="Century Gothic"/>
                        <a:cs typeface="Century Gothic"/>
                        <a:sym typeface="Century Gothic"/>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a:txBody>
                    <a:bodyPr/>
                    <a:lstStyle/>
                    <a:p>
                      <a:pPr indent="0" lvl="0" marL="0" marR="0" rtl="0" algn="ctr">
                        <a:spcBef>
                          <a:spcPts val="0"/>
                        </a:spcBef>
                        <a:spcAft>
                          <a:spcPts val="0"/>
                        </a:spcAft>
                        <a:buNone/>
                      </a:pPr>
                      <a:r>
                        <a:rPr b="1" lang="en-GB" sz="1000">
                          <a:solidFill>
                            <a:schemeClr val="dk2"/>
                          </a:solidFill>
                        </a:rPr>
                        <a:t>Timeframe</a:t>
                      </a:r>
                      <a:endParaRPr b="1" sz="1000">
                        <a:solidFill>
                          <a:schemeClr val="dk2"/>
                        </a:solidFill>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r>
              <a:tr h="243275">
                <a:tc gridSpan="2">
                  <a:txBody>
                    <a:bodyPr/>
                    <a:lstStyle/>
                    <a:p>
                      <a:pPr indent="0" lvl="0" marL="0" marR="0" rtl="0" algn="ctr">
                        <a:spcBef>
                          <a:spcPts val="0"/>
                        </a:spcBef>
                        <a:spcAft>
                          <a:spcPts val="0"/>
                        </a:spcAft>
                        <a:buNone/>
                      </a:pPr>
                      <a:r>
                        <a:rPr b="1" lang="en-GB" sz="800">
                          <a:solidFill>
                            <a:schemeClr val="dk1"/>
                          </a:solidFill>
                        </a:rPr>
                        <a:t>High</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rPr lang="en-GB" sz="1000">
                          <a:solidFill>
                            <a:schemeClr val="dk1"/>
                          </a:solidFill>
                          <a:latin typeface="Noto Sans Symbols"/>
                          <a:ea typeface="Noto Sans Symbols"/>
                          <a:cs typeface="Noto Sans Symbols"/>
                          <a:sym typeface="Noto Sans Symbols"/>
                        </a:rPr>
                        <a:t>✔</a:t>
                      </a:r>
                      <a:endParaRPr b="1" sz="10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0" lvl="0" marL="0" marR="0" rtl="0" algn="l">
                        <a:lnSpc>
                          <a:spcPct val="100000"/>
                        </a:lnSpc>
                        <a:spcBef>
                          <a:spcPts val="0"/>
                        </a:spcBef>
                        <a:spcAft>
                          <a:spcPts val="0"/>
                        </a:spcAft>
                        <a:buClr>
                          <a:schemeClr val="dk1"/>
                        </a:buClr>
                        <a:buSzPts val="800"/>
                        <a:buFont typeface="Arial"/>
                        <a:buNone/>
                      </a:pPr>
                      <a:r>
                        <a:rPr sz="800" b="0">
                          <a:latin typeface="Century Gothic"/>
                        </a:rPr>
                        <a:t>Pakistan priority improvements:</a:t>
                      </a:r>
                      <a:endParaRPr/>
                    </a:p>
                    <a:p>
                      <a:r>
                        <a:rPr sz="800" b="0">
                          <a:latin typeface="Century Gothic"/>
                        </a:rPr>
                        <a:t>RAAST/IBFT transaction pattern analysis for product opportunity identification</a:t>
                      </a:r>
                    </a:p>
                    <a:p>
                      <a:r>
                        <a:rPr sz="800" b="0">
                          <a:latin typeface="Century Gothic"/>
                        </a:rPr>
                        <a:t>Digital product demand analysis from mobile app usage analytics</a:t>
                      </a:r>
                    </a:p>
                    <a:p>
                      <a:r>
                        <a:rPr sz="800" b="0">
                          <a:latin typeface="Century Gothic"/>
                        </a:rPr>
                        <a:t>Islamic product gap analysis (Shariah-compliant alternatives for every conventional product)</a:t>
                      </a:r>
                    </a:p>
                    <a:p>
                      <a:r>
                        <a:rPr sz="800" b="0">
                          <a:latin typeface="Century Gothic"/>
                        </a:rPr>
                        <a:t>Financial inclusion product research (basic accounts, nano-lending, micro-savings)</a:t>
                      </a:r>
                    </a:p>
                    <a:p>
                      <a:r>
                        <a:rPr sz="800" b="0">
                          <a:latin typeface="Century Gothic"/>
                        </a:rPr>
                        <a:t>Competitor product monitoring dashboard (bank + fintech landscape)</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285750" lvl="0" marL="285750" marR="0" rtl="0" algn="l">
                        <a:spcBef>
                          <a:spcPts val="0"/>
                        </a:spcBef>
                        <a:spcAft>
                          <a:spcPts val="0"/>
                        </a:spcAft>
                        <a:buClr>
                          <a:schemeClr val="dk1"/>
                        </a:buClr>
                        <a:buSzPts val="800"/>
                        <a:buFont typeface="Arial"/>
                        <a:buChar char="•"/>
                      </a:pPr>
                      <a:r>
                        <a:rPr sz="800">
                          <a:latin typeface="Century Gothic"/>
                        </a:rPr>
                        <a:t>Data-driven product pipeline aligned with 220M population needs</a:t>
                      </a:r>
                      <a:endParaRPr/>
                    </a:p>
                    <a:p>
                      <a:r>
                        <a:rPr sz="800">
                          <a:latin typeface="Century Gothic"/>
                        </a:rPr>
                        <a:t>SBP financial inclusion target compliance through analytically designed products</a:t>
                      </a:r>
                    </a:p>
                    <a:p>
                      <a:r>
                        <a:rPr sz="800">
                          <a:latin typeface="Century Gothic"/>
                        </a:rPr>
                        <a:t>Islamic product innovation addressing 25%+ deposit market</a:t>
                      </a:r>
                    </a:p>
                    <a:p>
                      <a:r>
                        <a:rPr sz="800">
                          <a:latin typeface="Century Gothic"/>
                        </a:rPr>
                        <a:t>Reduced product failure rate through evidence-based development</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rowSpan="3">
                  <a:txBody>
                    <a:bodyPr/>
                    <a:lstStyle/>
                    <a:p>
                      <a:pPr indent="0" lvl="0" marL="0" marR="0" rtl="0" algn="ctr">
                        <a:lnSpc>
                          <a:spcPct val="100000"/>
                        </a:lnSpc>
                        <a:spcBef>
                          <a:spcPts val="0"/>
                        </a:spcBef>
                        <a:spcAft>
                          <a:spcPts val="0"/>
                        </a:spcAft>
                        <a:buClr>
                          <a:schemeClr val="dk1"/>
                        </a:buClr>
                        <a:buSzPts val="800"/>
                        <a:buFont typeface="Century Gothic"/>
                        <a:buNone/>
                      </a:pPr>
                      <a:r>
                        <a:rPr b="0" lang="en-GB" sz="800">
                          <a:solidFill>
                            <a:schemeClr val="dk1"/>
                          </a:solidFill>
                        </a:rPr>
                        <a:t>2025-2027</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hMerge="1">
                  <a:txBody>
                    <a:bodyPr/>
                    <a:p/>
                  </a:txBody>
                </a:tc>
              </a:tr>
              <a:tr h="243275">
                <a:tc gridSpan="2">
                  <a:txBody>
                    <a:bodyPr/>
                    <a:lstStyle/>
                    <a:p>
                      <a:pPr indent="0" lvl="0" marL="0" marR="0" rtl="0" algn="ctr">
                        <a:spcBef>
                          <a:spcPts val="0"/>
                        </a:spcBef>
                        <a:spcAft>
                          <a:spcPts val="0"/>
                        </a:spcAft>
                        <a:buNone/>
                      </a:pPr>
                      <a:r>
                        <a:rPr b="1" lang="en-GB" sz="800">
                          <a:solidFill>
                            <a:schemeClr val="dk1"/>
                          </a:solidFill>
                        </a:rPr>
                        <a:t>Medium</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xBody>
                    <a:bodyPr/>
                    <a:p/>
                  </a:txBody>
                </a:tc>
                <a:tc vMerge="1">
                  <a:txBody>
                    <a:bodyPr/>
                    <a:p/>
                  </a:txBody>
                </a:tc>
                <a:tc gridSpan="2" vMerge="1">
                  <a:txBody>
                    <a:bodyPr/>
                    <a:p/>
                  </a:txBody>
                </a:tc>
                <a:tc hMerge="1" vMerge="1">
                  <a:txBody>
                    <a:bodyPr/>
                    <a:p/>
                  </a:txBody>
                </a:tc>
              </a:tr>
              <a:tr h="243275">
                <a:tc gridSpan="2">
                  <a:txBody>
                    <a:bodyPr/>
                    <a:lstStyle/>
                    <a:p>
                      <a:pPr indent="0" lvl="0" marL="0" marR="0" rtl="0" algn="ctr">
                        <a:spcBef>
                          <a:spcPts val="0"/>
                        </a:spcBef>
                        <a:spcAft>
                          <a:spcPts val="0"/>
                        </a:spcAft>
                        <a:buNone/>
                      </a:pPr>
                      <a:r>
                        <a:rPr b="1" lang="en-GB" sz="800">
                          <a:solidFill>
                            <a:schemeClr val="dk1"/>
                          </a:solidFill>
                        </a:rPr>
                        <a:t>Low</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xBody>
                    <a:bodyPr/>
                    <a:p/>
                  </a:txBody>
                </a:tc>
                <a:tc vMerge="1">
                  <a:txBody>
                    <a:bodyPr/>
                    <a:p/>
                  </a:txBody>
                </a:tc>
                <a:tc gridSpan="2" vMerge="1">
                  <a:txBody>
                    <a:bodyPr/>
                    <a:p/>
                  </a:txBody>
                </a:tc>
                <a:tc hMerge="1" vMerge="1">
                  <a:txBody>
                    <a:bodyPr/>
                    <a:p/>
                  </a:txBody>
                </a:tc>
              </a:tr>
            </a:tbl>
          </a:graphicData>
        </a:graphic>
      </p:graphicFrame>
      <p:grpSp>
        <p:nvGrpSpPr>
          <p:cNvPr id="6605" name="Google Shape;6605;p370"/>
          <p:cNvGrpSpPr/>
          <p:nvPr/>
        </p:nvGrpSpPr>
        <p:grpSpPr>
          <a:xfrm>
            <a:off x="469900" y="3819680"/>
            <a:ext cx="8455025" cy="732866"/>
            <a:chOff x="211138" y="3972860"/>
            <a:chExt cx="8713787" cy="642437"/>
          </a:xfrm>
        </p:grpSpPr>
        <p:sp>
          <p:nvSpPr>
            <p:cNvPr id="6606" name="Google Shape;6606;p370"/>
            <p:cNvSpPr/>
            <p:nvPr/>
          </p:nvSpPr>
          <p:spPr>
            <a:xfrm>
              <a:off x="211138" y="3972860"/>
              <a:ext cx="8713787" cy="642437"/>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6607" name="Google Shape;6607;p370"/>
            <p:cNvSpPr/>
            <p:nvPr/>
          </p:nvSpPr>
          <p:spPr>
            <a:xfrm>
              <a:off x="3692726" y="3982349"/>
              <a:ext cx="1753883" cy="632948"/>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grpSp>
        <p:nvGrpSpPr>
          <p:cNvPr id="6608" name="Google Shape;6608;p370"/>
          <p:cNvGrpSpPr/>
          <p:nvPr/>
        </p:nvGrpSpPr>
        <p:grpSpPr>
          <a:xfrm>
            <a:off x="7971865" y="980278"/>
            <a:ext cx="949325" cy="2867825"/>
            <a:chOff x="7941888" y="1062037"/>
            <a:chExt cx="983037" cy="2695575"/>
          </a:xfrm>
        </p:grpSpPr>
        <p:sp>
          <p:nvSpPr>
            <p:cNvPr id="6609" name="Google Shape;6609;p370"/>
            <p:cNvSpPr/>
            <p:nvPr/>
          </p:nvSpPr>
          <p:spPr>
            <a:xfrm>
              <a:off x="7941889" y="1062037"/>
              <a:ext cx="983036" cy="2695575"/>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6610" name="Google Shape;6610;p370"/>
            <p:cNvSpPr/>
            <p:nvPr/>
          </p:nvSpPr>
          <p:spPr>
            <a:xfrm>
              <a:off x="7941888" y="2052586"/>
              <a:ext cx="983037" cy="714476"/>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sp>
        <p:nvSpPr>
          <p:cNvPr id="6611" name="Google Shape;6611;p370"/>
          <p:cNvSpPr txBox="1"/>
          <p:nvPr>
            <p:ph type="title"/>
          </p:nvPr>
        </p:nvSpPr>
        <p:spPr>
          <a:xfrm>
            <a:off x="466725" y="297561"/>
            <a:ext cx="8229600" cy="704088"/>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Research New Product Development Opportunities</a:t>
            </a:r>
            <a:endParaRPr/>
          </a:p>
        </p:txBody>
      </p:sp>
      <p:sp>
        <p:nvSpPr>
          <p:cNvPr id="6612" name="Google Shape;6612;p370">
            <a:hlinkClick action="ppaction://hlinksldjump" r:id="rId3"/>
          </p:cNvPr>
          <p:cNvSpPr/>
          <p:nvPr/>
        </p:nvSpPr>
        <p:spPr>
          <a:xfrm>
            <a:off x="6487285" y="-189267"/>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Product Development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7" name="Shape 6617"/>
        <p:cNvGrpSpPr/>
        <p:nvPr/>
      </p:nvGrpSpPr>
      <p:grpSpPr>
        <a:xfrm>
          <a:off x="0" y="0"/>
          <a:ext cx="0" cy="0"/>
          <a:chOff x="0" y="0"/>
          <a:chExt cx="0" cy="0"/>
        </a:xfrm>
      </p:grpSpPr>
      <p:cxnSp>
        <p:nvCxnSpPr>
          <p:cNvPr id="6618" name="Google Shape;6618;p371"/>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graphicFrame>
        <p:nvGraphicFramePr>
          <p:cNvPr id="6619" name="Google Shape;6619;p371"/>
          <p:cNvGraphicFramePr/>
          <p:nvPr/>
        </p:nvGraphicFramePr>
        <p:xfrm>
          <a:off x="608546" y="822655"/>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b="1" sz="1400">
                        <a:solidFill>
                          <a:schemeClr val="dk2"/>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Prediction of product launch</a:t>
                      </a:r>
                      <a:r>
                        <a:rPr b="1" lang="en-GB" sz="900">
                          <a:solidFill>
                            <a:schemeClr val="dk1"/>
                          </a:solidFill>
                        </a:rPr>
                        <a:t> impact on resources, assets and market adoption</a:t>
                      </a:r>
                      <a:r>
                        <a:rPr b="1" lang="en-GB" sz="900">
                          <a:solidFill>
                            <a:schemeClr val="dk1"/>
                          </a:solidFill>
                        </a:rPr>
                        <a:t>, to support </a:t>
                      </a:r>
                      <a:r>
                        <a:rPr b="1" lang="en-GB" sz="900">
                          <a:solidFill>
                            <a:schemeClr val="dk1"/>
                          </a:solidFill>
                        </a:rPr>
                        <a:t>business case and investment justification</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Predict impact on internal</a:t>
                      </a:r>
                      <a:r>
                        <a:rPr b="0" lang="en-GB" sz="900">
                          <a:solidFill>
                            <a:schemeClr val="dk1"/>
                          </a:solidFill>
                        </a:rPr>
                        <a:t> resources (such as call centre)</a:t>
                      </a:r>
                      <a:r>
                        <a:rPr b="0" lang="en-GB" sz="900">
                          <a:solidFill>
                            <a:schemeClr val="dk1"/>
                          </a:solidFill>
                        </a:rPr>
                        <a:t> based on historical patterns, behavior, context, relationships, market trends </a:t>
                      </a:r>
                      <a:endParaRPr b="0" sz="900">
                        <a:solidFill>
                          <a:srgbClr val="FF0000"/>
                        </a:solidFill>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Predict impact on sales volumes based on historical patterns, behavior, context, relationships, market trends</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rPr>
                        <a:t>Predict impact on profitability based on historical patterns, behavior, context, relationships, market trends</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rPr>
                        <a:t>Predict impact on existing portfolio (such as cannibalisation)</a:t>
                      </a:r>
                      <a:r>
                        <a:rPr b="0" lang="en-GB" sz="900">
                          <a:solidFill>
                            <a:schemeClr val="dk1"/>
                          </a:solidFill>
                        </a:rPr>
                        <a:t> </a:t>
                      </a:r>
                      <a:r>
                        <a:rPr b="0" lang="en-GB" sz="900">
                          <a:solidFill>
                            <a:schemeClr val="dk1"/>
                          </a:solidFill>
                        </a:rPr>
                        <a:t>based on historical patterns, behavior, context, relationships, market trends</a:t>
                      </a:r>
                      <a:endParaRPr b="0" sz="900">
                        <a:solidFill>
                          <a:schemeClr val="dk1"/>
                        </a:solidFill>
                      </a:endParaRPr>
                    </a:p>
                    <a:p>
                      <a:pPr indent="0" lvl="0" marL="0" marR="0" rtl="0" algn="l">
                        <a:lnSpc>
                          <a:spcPct val="100000"/>
                        </a:lnSpc>
                        <a:spcBef>
                          <a:spcPts val="0"/>
                        </a:spcBef>
                        <a:spcAft>
                          <a:spcPts val="0"/>
                        </a:spcAft>
                        <a:buClr>
                          <a:schemeClr val="dk1"/>
                        </a:buClr>
                        <a:buSzPts val="900"/>
                        <a:buFont typeface="Arial"/>
                        <a:buNone/>
                      </a:pPr>
                      <a:r>
                        <a:t/>
                      </a:r>
                      <a:endParaRPr b="0" sz="900">
                        <a:solidFill>
                          <a:schemeClr val="dk1"/>
                        </a:solidFill>
                      </a:endParaRPr>
                    </a:p>
                    <a:p>
                      <a:r>
                        <a:rPr sz="900"/>
                        <a:t/>
                      </a:r>
                    </a:p>
                    <a:p>
                      <a:r>
                        <a:rPr sz="900"/>
                        <a:t>Predict impact of new product launch on existing product balances (cannibalization)</a:t>
                      </a:r>
                    </a:p>
                    <a:p>
                      <a:r>
                        <a:rPr sz="900"/>
                        <a:t>Forecast channel capacity impact: branch/call center load from new product inquiries</a:t>
                      </a:r>
                    </a:p>
                    <a:p>
                      <a:r>
                        <a:rPr sz="900"/>
                        <a:t>Estimate revenue impact: NII + fees from new product vs. cannibalization of existing</a:t>
                      </a:r>
                    </a:p>
                    <a:p>
                      <a:r>
                        <a:rPr sz="900"/>
                        <a:t>Pakistan example: digital-only savings — will it cannibalize branch savings? Expected adoption curve?</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xBody>
                    <a:bodyPr/>
                    <a:p/>
                  </a:txBody>
                </a:tc>
                <a:tc vMerge="1">
                  <a:txBody>
                    <a:bodyPr/>
                    <a:p/>
                  </a:txBody>
                </a:tc>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p>
                      <a:r>
                        <a:rPr sz="800" b="1">
                          <a:solidFill>
                            <a:srgbClr val="006699"/>
                          </a:solidFill>
                        </a:rPr>
                        <a:t>FSDM: Customer_Journey, Interaction_Event, Channel_Session, Service_Request, Process_Step, Wait_Time_Metric</a:t>
                      </a:r>
                    </a:p>
                    <a:p>
                      <a:r>
                        <a:rPr sz="800" i="1">
                          <a:solidFill>
                            <a:srgbClr val="008040"/>
                          </a:solidFill>
                        </a:rPr>
                        <a:t>Pakistan: Branch queue management, ATM uptime correlation, mobile app crash analytics, RAAST transaction experience, complaint resolution SLA tracking per SBP guidelines</a:t>
                      </a: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9388" lvl="0" marL="179388" marR="0" rtl="0" algn="l">
                        <a:lnSpc>
                          <a:spcPct val="95000"/>
                        </a:lnSpc>
                        <a:spcBef>
                          <a:spcPts val="0"/>
                        </a:spcBef>
                        <a:spcAft>
                          <a:spcPts val="0"/>
                        </a:spcAft>
                        <a:buClr>
                          <a:schemeClr val="dk1"/>
                        </a:buClr>
                        <a:buSzPts val="900"/>
                        <a:buFont typeface="Arial"/>
                        <a:buChar char="•"/>
                      </a:pPr>
                      <a:r>
                        <a:rPr lang="en-GB" sz="900">
                          <a:solidFill>
                            <a:schemeClr val="dk1"/>
                          </a:solidFill>
                        </a:rPr>
                        <a:t>Product transactions</a:t>
                      </a:r>
                      <a:endParaRPr/>
                    </a:p>
                    <a:p>
                      <a:pPr indent="-179388" lvl="0" marL="179388" marR="0" rtl="0" algn="l">
                        <a:lnSpc>
                          <a:spcPct val="95000"/>
                        </a:lnSpc>
                        <a:spcBef>
                          <a:spcPts val="0"/>
                        </a:spcBef>
                        <a:spcAft>
                          <a:spcPts val="0"/>
                        </a:spcAft>
                        <a:buClr>
                          <a:schemeClr val="dk1"/>
                        </a:buClr>
                        <a:buSzPts val="900"/>
                        <a:buFont typeface="Arial"/>
                        <a:buChar char="•"/>
                      </a:pPr>
                      <a:r>
                        <a:rPr lang="en-GB" sz="900">
                          <a:solidFill>
                            <a:schemeClr val="dk1"/>
                          </a:solidFill>
                        </a:rPr>
                        <a:t>Behavioral data (product utilization)</a:t>
                      </a:r>
                      <a:endParaRPr/>
                    </a:p>
                    <a:p>
                      <a:pPr indent="-179388" lvl="0" marL="179388" marR="0" rtl="0" algn="l">
                        <a:lnSpc>
                          <a:spcPct val="95000"/>
                        </a:lnSpc>
                        <a:spcBef>
                          <a:spcPts val="0"/>
                        </a:spcBef>
                        <a:spcAft>
                          <a:spcPts val="0"/>
                        </a:spcAft>
                        <a:buClr>
                          <a:schemeClr val="dk1"/>
                        </a:buClr>
                        <a:buSzPts val="900"/>
                        <a:buFont typeface="Arial"/>
                        <a:buChar char="•"/>
                      </a:pPr>
                      <a:r>
                        <a:rPr lang="en-GB" sz="900">
                          <a:solidFill>
                            <a:schemeClr val="dk1"/>
                          </a:solidFill>
                        </a:rPr>
                        <a:t>Product associated revenue and cost</a:t>
                      </a:r>
                      <a:endParaRPr/>
                    </a:p>
                    <a:p>
                      <a:pPr indent="-179388" lvl="0" marL="179388" marR="0" rtl="0" algn="l">
                        <a:lnSpc>
                          <a:spcPct val="95000"/>
                        </a:lnSpc>
                        <a:spcBef>
                          <a:spcPts val="0"/>
                        </a:spcBef>
                        <a:spcAft>
                          <a:spcPts val="0"/>
                        </a:spcAft>
                        <a:buClr>
                          <a:schemeClr val="dk1"/>
                        </a:buClr>
                        <a:buSzPts val="900"/>
                        <a:buFont typeface="Arial"/>
                        <a:buChar char="•"/>
                      </a:pPr>
                      <a:r>
                        <a:rPr lang="en-GB" sz="900">
                          <a:solidFill>
                            <a:schemeClr val="dk1"/>
                          </a:solidFill>
                        </a:rPr>
                        <a:t>Product pricing and attribute data</a:t>
                      </a:r>
                      <a:endParaRPr/>
                    </a:p>
                    <a:p>
                      <a:pPr indent="-179388" lvl="0" marL="179388" marR="0" rtl="0" algn="l">
                        <a:lnSpc>
                          <a:spcPct val="95000"/>
                        </a:lnSpc>
                        <a:spcBef>
                          <a:spcPts val="0"/>
                        </a:spcBef>
                        <a:spcAft>
                          <a:spcPts val="0"/>
                        </a:spcAft>
                        <a:buClr>
                          <a:schemeClr val="dk1"/>
                        </a:buClr>
                        <a:buSzPts val="900"/>
                        <a:buFont typeface="Arial"/>
                        <a:buChar char="•"/>
                      </a:pPr>
                      <a:r>
                        <a:rPr lang="en-GB" sz="900">
                          <a:solidFill>
                            <a:schemeClr val="dk1"/>
                          </a:solidFill>
                        </a:rPr>
                        <a:t>Sales channel / branch/digital channel transactions</a:t>
                      </a:r>
                      <a:endParaRPr/>
                    </a:p>
                    <a:p>
                      <a:pPr indent="-179388" lvl="0" marL="179388" marR="0" rtl="0" algn="l">
                        <a:lnSpc>
                          <a:spcPct val="95000"/>
                        </a:lnSpc>
                        <a:spcBef>
                          <a:spcPts val="0"/>
                        </a:spcBef>
                        <a:spcAft>
                          <a:spcPts val="0"/>
                        </a:spcAft>
                        <a:buClr>
                          <a:schemeClr val="dk1"/>
                        </a:buClr>
                        <a:buSzPts val="900"/>
                        <a:buFont typeface="Arial"/>
                        <a:buChar char="•"/>
                      </a:pPr>
                      <a:r>
                        <a:rPr lang="en-GB" sz="900">
                          <a:solidFill>
                            <a:schemeClr val="dk1"/>
                          </a:solidFill>
                        </a:rPr>
                        <a:t>Call center interactions and IVR data</a:t>
                      </a:r>
                      <a:endParaRPr/>
                    </a:p>
                    <a:p>
                      <a:pPr indent="0" lvl="0" marL="0" marR="0" rtl="0" algn="l">
                        <a:spcBef>
                          <a:spcPts val="0"/>
                        </a:spcBef>
                        <a:spcAft>
                          <a:spcPts val="0"/>
                        </a:spcAft>
                        <a:buClr>
                          <a:schemeClr val="dk1"/>
                        </a:buClr>
                        <a:buSzPts val="900"/>
                        <a:buFont typeface="Arial"/>
                        <a:buNone/>
                      </a:pPr>
                      <a:r>
                        <a:rPr b="1" lang="en-GB" sz="900">
                          <a:solidFill>
                            <a:schemeClr val="dk1"/>
                          </a:solidFill>
                        </a:rPr>
                        <a:t>Solution / Analytics</a:t>
                      </a:r>
                      <a:endParaRPr/>
                    </a:p>
                    <a:p>
                      <a:pPr indent="-179388" lvl="0" marL="179388" marR="0" rtl="0" algn="l">
                        <a:lnSpc>
                          <a:spcPct val="95000"/>
                        </a:lnSpc>
                        <a:spcBef>
                          <a:spcPts val="0"/>
                        </a:spcBef>
                        <a:spcAft>
                          <a:spcPts val="0"/>
                        </a:spcAft>
                        <a:buClr>
                          <a:schemeClr val="dk1"/>
                        </a:buClr>
                        <a:buSzPts val="900"/>
                        <a:buFont typeface="Arial"/>
                        <a:buChar char="•"/>
                      </a:pPr>
                      <a:r>
                        <a:rPr lang="en-GB" sz="900">
                          <a:solidFill>
                            <a:schemeClr val="dk1"/>
                          </a:solidFill>
                        </a:rPr>
                        <a:t>Pricing and competitor analysis</a:t>
                      </a:r>
                      <a:endParaRPr/>
                    </a:p>
                    <a:p>
                      <a:pPr indent="-179388" lvl="0" marL="179388" marR="0" rtl="0" algn="l">
                        <a:lnSpc>
                          <a:spcPct val="95000"/>
                        </a:lnSpc>
                        <a:spcBef>
                          <a:spcPts val="0"/>
                        </a:spcBef>
                        <a:spcAft>
                          <a:spcPts val="0"/>
                        </a:spcAft>
                        <a:buClr>
                          <a:schemeClr val="dk1"/>
                        </a:buClr>
                        <a:buSzPts val="900"/>
                        <a:buFont typeface="Arial"/>
                        <a:buChar char="•"/>
                      </a:pPr>
                      <a:r>
                        <a:rPr lang="en-GB" sz="900">
                          <a:solidFill>
                            <a:schemeClr val="dk1"/>
                          </a:solidFill>
                        </a:rPr>
                        <a:t>Product uptake and cannibalisation analysis</a:t>
                      </a:r>
                      <a:endParaRPr/>
                    </a:p>
                    <a:p>
                      <a:pPr indent="-179388" lvl="0" marL="179388" marR="0" rtl="0" algn="l">
                        <a:lnSpc>
                          <a:spcPct val="95000"/>
                        </a:lnSpc>
                        <a:spcBef>
                          <a:spcPts val="0"/>
                        </a:spcBef>
                        <a:spcAft>
                          <a:spcPts val="0"/>
                        </a:spcAft>
                        <a:buClr>
                          <a:schemeClr val="dk1"/>
                        </a:buClr>
                        <a:buSzPts val="900"/>
                        <a:buFont typeface="Arial"/>
                        <a:buChar char="•"/>
                      </a:pPr>
                      <a:r>
                        <a:rPr lang="en-GB" sz="900">
                          <a:solidFill>
                            <a:schemeClr val="dk1"/>
                          </a:solidFill>
                        </a:rPr>
                        <a:t>Affinity analysis</a:t>
                      </a:r>
                      <a:endParaRPr/>
                    </a:p>
                    <a:p>
                      <a:pPr indent="-179388" lvl="0" marL="179388" marR="0" rtl="0" algn="l">
                        <a:lnSpc>
                          <a:spcPct val="95000"/>
                        </a:lnSpc>
                        <a:spcBef>
                          <a:spcPts val="0"/>
                        </a:spcBef>
                        <a:spcAft>
                          <a:spcPts val="0"/>
                        </a:spcAft>
                        <a:buClr>
                          <a:schemeClr val="dk1"/>
                        </a:buClr>
                        <a:buSzPts val="900"/>
                        <a:buFont typeface="Arial"/>
                        <a:buChar char="•"/>
                      </a:pPr>
                      <a:r>
                        <a:rPr lang="en-GB" sz="900">
                          <a:solidFill>
                            <a:schemeClr val="dk1"/>
                          </a:solidFill>
                        </a:rPr>
                        <a:t>Text analysis (call centre logs and social media)</a:t>
                      </a:r>
                      <a:endParaRPr/>
                    </a:p>
                    <a:p>
                      <a:pPr indent="-179388" lvl="0" marL="179388" marR="0" rtl="0" algn="l">
                        <a:lnSpc>
                          <a:spcPct val="95000"/>
                        </a:lnSpc>
                        <a:spcBef>
                          <a:spcPts val="0"/>
                        </a:spcBef>
                        <a:spcAft>
                          <a:spcPts val="0"/>
                        </a:spcAft>
                        <a:buClr>
                          <a:schemeClr val="dk1"/>
                        </a:buClr>
                        <a:buSzPts val="900"/>
                        <a:buFont typeface="Arial"/>
                        <a:buChar char="•"/>
                      </a:pPr>
                      <a:r>
                        <a:rPr lang="en-GB" sz="900">
                          <a:solidFill>
                            <a:schemeClr val="dk1"/>
                          </a:solidFill>
                        </a:rPr>
                        <a:t>Sentiment analysis</a:t>
                      </a:r>
                      <a:endParaRPr/>
                    </a:p>
                    <a:p>
                      <a:pPr indent="-179388" lvl="0" marL="179388" marR="0" rtl="0" algn="l">
                        <a:lnSpc>
                          <a:spcPct val="95000"/>
                        </a:lnSpc>
                        <a:spcBef>
                          <a:spcPts val="0"/>
                        </a:spcBef>
                        <a:spcAft>
                          <a:spcPts val="0"/>
                        </a:spcAft>
                        <a:buClr>
                          <a:schemeClr val="dk1"/>
                        </a:buClr>
                        <a:buSzPts val="900"/>
                        <a:buFont typeface="Arial"/>
                        <a:buChar char="•"/>
                      </a:pPr>
                      <a:r>
                        <a:rPr lang="en-GB" sz="900">
                          <a:solidFill>
                            <a:schemeClr val="dk1"/>
                          </a:solidFill>
                        </a:rPr>
                        <a:t>Social Network Analysis (telco specific)</a:t>
                      </a:r>
                      <a:endParaRPr/>
                    </a:p>
                    <a:p>
                      <a:r>
                        <a:rPr sz="800" b="1">
                          <a:solidFill>
                            <a:srgbClr val="006699"/>
                          </a:solidFill>
                        </a:rPr>
                        <a:t>FSDM: Customer_Journey, Interaction_Event, Channel_Session, Service_Request, Process_Step, Wait_Time_Metric</a:t>
                      </a:r>
                    </a:p>
                    <a:p>
                      <a:r>
                        <a:rPr sz="800" i="1">
                          <a:solidFill>
                            <a:srgbClr val="008040"/>
                          </a:solidFill>
                        </a:rPr>
                        <a:t>Pakistan: Branch queue management, ATM uptime correlation, mobile app crash analytics, RAAST transaction experience, complaint resolution SLA tracking per SBP guidelines</a:t>
                      </a:r>
                    </a:p>
                    <a:p>
                      <a:r>
                        <a:rPr sz="900"/>
                        <a:t/>
                      </a:r>
                    </a:p>
                    <a:p>
                      <a:r>
                        <a:rPr sz="900"/>
                        <a:t>Historical product launch data (past 5 years), similar product performance at competitors</a:t>
                      </a:r>
                    </a:p>
                    <a:p>
                      <a:r>
                        <a:rPr sz="900"/>
                        <a:t>Customer segment adoption patterns from FSDM, channel capacity models</a:t>
                      </a:r>
                    </a:p>
                    <a:p>
                      <a:r>
                        <a:rPr sz="900"/>
                        <a:t>FSDM: PRDCT_DVLPMNT, MKT_RSRCH, CSTMR_ND, PRDCT_PPLN</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Cost optimization due to efficient capacity planning in support channels</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Stabilization of Secured customer experience due to optimized staffing</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Go To Market (GTM) process adapted to likely market and internal needs</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Reduced risk of overinvesting in less likely to be successful product launches</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Maximizing revenue and profitability of launched products</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r>
                        <a:rPr sz="900">
                          <a:latin typeface="Century Gothic"/>
                        </a:rPr>
                        <a:t/>
                      </a:r>
                    </a:p>
                    <a:p>
                      <a:r>
                        <a:rPr sz="900">
                          <a:latin typeface="Century Gothic"/>
                        </a:rPr>
                        <a:t>Evidence-based product launch business case with cannibalization estimate</a:t>
                      </a:r>
                    </a:p>
                    <a:p>
                      <a:r>
                        <a:rPr sz="900">
                          <a:latin typeface="Century Gothic"/>
                        </a:rPr>
                        <a:t>Channel capacity plan for new product support</a:t>
                      </a:r>
                    </a:p>
                    <a:p>
                      <a:r>
                        <a:rPr sz="900">
                          <a:latin typeface="Century Gothic"/>
                        </a:rPr>
                        <a:t>Risk assessment: operational, regulatory (SBP approval), market risk for new products</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6620" name="Google Shape;6620;p371"/>
          <p:cNvSpPr txBox="1"/>
          <p:nvPr>
            <p:ph type="title"/>
          </p:nvPr>
        </p:nvSpPr>
        <p:spPr>
          <a:xfrm>
            <a:off x="466725" y="297561"/>
            <a:ext cx="8229600" cy="704088"/>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Predict Business Impact (Discovery)</a:t>
            </a:r>
            <a:endParaRPr/>
          </a:p>
        </p:txBody>
      </p:sp>
      <p:pic>
        <p:nvPicPr>
          <p:cNvPr descr="BIZ-1054-L.jpg" id="6621" name="Google Shape;6621;p371"/>
          <p:cNvPicPr preferRelativeResize="0"/>
          <p:nvPr/>
        </p:nvPicPr>
        <p:blipFill rotWithShape="1">
          <a:blip r:embed="rId3">
            <a:alphaModFix/>
          </a:blip>
          <a:srcRect b="0" l="-8520" r="-8519" t="0"/>
          <a:stretch/>
        </p:blipFill>
        <p:spPr>
          <a:xfrm>
            <a:off x="5149279" y="732830"/>
            <a:ext cx="3256949" cy="1850882"/>
          </a:xfrm>
          <a:prstGeom prst="rect">
            <a:avLst/>
          </a:prstGeom>
          <a:noFill/>
          <a:ln>
            <a:noFill/>
          </a:ln>
        </p:spPr>
      </p:pic>
      <p:sp>
        <p:nvSpPr>
          <p:cNvPr id="6622" name="Google Shape;6622;p371">
            <a:hlinkClick action="ppaction://hlinksldjump" r:id="rId4"/>
          </p:cNvPr>
          <p:cNvSpPr/>
          <p:nvPr/>
        </p:nvSpPr>
        <p:spPr>
          <a:xfrm>
            <a:off x="6487285" y="-189267"/>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Product Development</a:t>
            </a:r>
            <a:endParaRPr/>
          </a:p>
        </p:txBody>
      </p:sp>
      <p:grpSp>
        <p:nvGrpSpPr>
          <p:cNvPr id="6623" name="Google Shape;6623;p371"/>
          <p:cNvGrpSpPr/>
          <p:nvPr/>
        </p:nvGrpSpPr>
        <p:grpSpPr>
          <a:xfrm>
            <a:off x="7717533" y="4360377"/>
            <a:ext cx="1058348" cy="347375"/>
            <a:chOff x="7651698" y="4287227"/>
            <a:chExt cx="1058348" cy="347375"/>
          </a:xfrm>
        </p:grpSpPr>
        <p:grpSp>
          <p:nvGrpSpPr>
            <p:cNvPr id="6624" name="Google Shape;6624;p371"/>
            <p:cNvGrpSpPr/>
            <p:nvPr/>
          </p:nvGrpSpPr>
          <p:grpSpPr>
            <a:xfrm>
              <a:off x="7714163" y="4337598"/>
              <a:ext cx="995883" cy="297004"/>
              <a:chOff x="7711013" y="3986494"/>
              <a:chExt cx="995883" cy="297004"/>
            </a:xfrm>
          </p:grpSpPr>
          <p:sp>
            <p:nvSpPr>
              <p:cNvPr id="6625" name="Google Shape;6625;p371"/>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6626" name="Google Shape;6626;p371"/>
              <p:cNvGrpSpPr/>
              <p:nvPr/>
            </p:nvGrpSpPr>
            <p:grpSpPr>
              <a:xfrm>
                <a:off x="7711013" y="4002615"/>
                <a:ext cx="281520" cy="241973"/>
                <a:chOff x="5652748" y="4066000"/>
                <a:chExt cx="906498" cy="747974"/>
              </a:xfrm>
            </p:grpSpPr>
            <p:sp>
              <p:nvSpPr>
                <p:cNvPr id="6627" name="Google Shape;6627;p371"/>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6628" name="Google Shape;6628;p371"/>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6629" name="Google Shape;6629;p371"/>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6630" name="Google Shape;6630;p371">
              <a:hlinkClick action="ppaction://hlinksldjump" r:id="rId5"/>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5" name="Shape 6635"/>
        <p:cNvGrpSpPr/>
        <p:nvPr/>
      </p:nvGrpSpPr>
      <p:grpSpPr>
        <a:xfrm>
          <a:off x="0" y="0"/>
          <a:ext cx="0" cy="0"/>
          <a:chOff x="0" y="0"/>
          <a:chExt cx="0" cy="0"/>
        </a:xfrm>
      </p:grpSpPr>
      <p:graphicFrame>
        <p:nvGraphicFramePr>
          <p:cNvPr id="6636" name="Google Shape;6636;p372"/>
          <p:cNvGraphicFramePr/>
          <p:nvPr/>
        </p:nvGraphicFramePr>
        <p:xfrm>
          <a:off x="469899" y="789217"/>
          <a:ext cx="3000000" cy="3000000"/>
        </p:xfrm>
        <a:graphic>
          <a:graphicData uri="http://schemas.openxmlformats.org/drawingml/2006/table">
            <a:tbl>
              <a:tblPr bandRow="1" firstRow="1">
                <a:noFill/>
                <a:tableStyleId>{D098BFCB-6916-41F2-A2A5-0DF0D5139B6F}</a:tableStyleId>
              </a:tblPr>
              <a:tblGrid>
                <a:gridCol w="130325"/>
                <a:gridCol w="556275"/>
                <a:gridCol w="367500"/>
                <a:gridCol w="3170075"/>
                <a:gridCol w="3276050"/>
                <a:gridCol w="477150"/>
                <a:gridCol w="477150"/>
              </a:tblGrid>
              <a:tr h="180850">
                <a:tc gridSpan="3">
                  <a:txBody>
                    <a:bodyPr/>
                    <a:lstStyle/>
                    <a:p>
                      <a:pPr indent="0" lvl="0" marL="0" marR="0" rtl="0" algn="ctr">
                        <a:spcBef>
                          <a:spcPts val="0"/>
                        </a:spcBef>
                        <a:spcAft>
                          <a:spcPts val="0"/>
                        </a:spcAft>
                        <a:buNone/>
                      </a:pPr>
                      <a:r>
                        <a:rPr b="1" lang="en-GB" sz="1200">
                          <a:solidFill>
                            <a:schemeClr val="dk2"/>
                          </a:solidFill>
                        </a:rPr>
                        <a:t>Level</a:t>
                      </a:r>
                      <a:endParaRPr b="1" sz="12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hMerge="1">
                  <a:txBody>
                    <a:bodyPr/>
                    <a:p/>
                  </a:txBody>
                </a:tc>
                <a:tc gridSpan="2">
                  <a:txBody>
                    <a:bodyPr/>
                    <a:lstStyle/>
                    <a:p>
                      <a:pPr indent="0" lvl="0" marL="0" marR="0" rtl="0" algn="ctr">
                        <a:lnSpc>
                          <a:spcPct val="100000"/>
                        </a:lnSpc>
                        <a:spcBef>
                          <a:spcPts val="0"/>
                        </a:spcBef>
                        <a:spcAft>
                          <a:spcPts val="0"/>
                        </a:spcAft>
                        <a:buClr>
                          <a:schemeClr val="dk2"/>
                        </a:buClr>
                        <a:buSzPts val="1200"/>
                        <a:buFont typeface="Century Gothic"/>
                        <a:buNone/>
                      </a:pPr>
                      <a:r>
                        <a:rPr b="1" lang="en-GB" sz="1200">
                          <a:solidFill>
                            <a:schemeClr val="dk2"/>
                          </a:solidFill>
                        </a:rPr>
                        <a:t>Maturity Statement</a:t>
                      </a:r>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rPr b="1" lang="en-GB" sz="800">
                          <a:solidFill>
                            <a:schemeClr val="dk2"/>
                          </a:solidFill>
                        </a:rPr>
                        <a:t>Current</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rPr b="1" lang="en-GB" sz="800">
                          <a:solidFill>
                            <a:schemeClr val="dk2"/>
                          </a:solidFill>
                        </a:rPr>
                        <a:t>Desired</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3385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06C1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Leading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Proactive communication with targeted customers who are predicted to influence product uptake both from a sales and customer experience perspective.  As an example this can in a Telco be achieved by SNA (Social Network Analysis) in combination with other analytical techniques.</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3385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F7513"/>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Innovating</a:t>
                      </a:r>
                      <a:endParaRPr/>
                    </a:p>
                    <a:p>
                      <a:pPr indent="0" lvl="0" marL="0" marR="0" rtl="0" algn="ctr">
                        <a:spcBef>
                          <a:spcPts val="0"/>
                        </a:spcBef>
                        <a:spcAft>
                          <a:spcPts val="0"/>
                        </a:spcAft>
                        <a:buNone/>
                      </a:pPr>
                      <a:r>
                        <a:t/>
                      </a:r>
                      <a:endParaRPr b="1" sz="1000">
                        <a:solidFill>
                          <a:schemeClr val="dk2"/>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Resource planning based on additional insight of product launch impact on total product portfolio. Product affinity analysis can be added to support this.</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3385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C891C"/>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Practicing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Internal resource readiness planned based on expected product uptake, where cannibalisation analysis is added, as well as expected product related customer experience. This is obtained by things like text and sentiment analysis from digital channels, either from historical similar product launches or from current pre-announcements.</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lnSpc>
                          <a:spcPct val="100000"/>
                        </a:lnSpc>
                        <a:spcBef>
                          <a:spcPts val="0"/>
                        </a:spcBef>
                        <a:spcAft>
                          <a:spcPts val="0"/>
                        </a:spcAft>
                        <a:buClr>
                          <a:schemeClr val="dk1"/>
                        </a:buClr>
                        <a:buSzPts val="1400"/>
                        <a:buFont typeface="Century Gothic"/>
                        <a:buNone/>
                      </a:pPr>
                      <a:r>
                        <a:t/>
                      </a:r>
                      <a:endParaRPr sz="1400">
                        <a:solidFill>
                          <a:schemeClr val="dk1"/>
                        </a:solidFill>
                        <a:latin typeface="Noto Sans Symbols"/>
                        <a:ea typeface="Noto Sans Symbols"/>
                        <a:cs typeface="Noto Sans Symbols"/>
                        <a:sym typeface="Noto Sans Symbols"/>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3385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E9B4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Developing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Increased readiness of internal resources based on forecasted sales volumes. Expected product uptake based on historical patterns of relevant and similar products as well as market trends, and competitive analysis</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3385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F1AE65"/>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Emerging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No change or adaptation of internal resources. Sales volumes are anticipated by simply extrapolating trends based on previous launches.</a:t>
                      </a:r>
                      <a:endParaRPr/>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178750">
                <a:tc gridSpan="3">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Priority</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hMerge="1">
                  <a:txBody>
                    <a:bodyPr/>
                    <a:p/>
                  </a:txBody>
                </a:tc>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Key areas for improvement</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Benefits from uplift</a:t>
                      </a:r>
                      <a:endParaRPr b="1" sz="1000">
                        <a:solidFill>
                          <a:schemeClr val="dk2"/>
                        </a:solidFill>
                        <a:latin typeface="Century Gothic"/>
                        <a:ea typeface="Century Gothic"/>
                        <a:cs typeface="Century Gothic"/>
                        <a:sym typeface="Century Gothic"/>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a:txBody>
                    <a:bodyPr/>
                    <a:lstStyle/>
                    <a:p>
                      <a:pPr indent="0" lvl="0" marL="0" marR="0" rtl="0" algn="ctr">
                        <a:spcBef>
                          <a:spcPts val="0"/>
                        </a:spcBef>
                        <a:spcAft>
                          <a:spcPts val="0"/>
                        </a:spcAft>
                        <a:buNone/>
                      </a:pPr>
                      <a:r>
                        <a:rPr b="1" lang="en-GB" sz="1000">
                          <a:solidFill>
                            <a:schemeClr val="dk2"/>
                          </a:solidFill>
                        </a:rPr>
                        <a:t>Timeframe</a:t>
                      </a:r>
                      <a:endParaRPr b="1" sz="1000">
                        <a:solidFill>
                          <a:schemeClr val="dk2"/>
                        </a:solidFill>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r>
              <a:tr h="243275">
                <a:tc gridSpan="2">
                  <a:txBody>
                    <a:bodyPr/>
                    <a:lstStyle/>
                    <a:p>
                      <a:pPr indent="0" lvl="0" marL="0" marR="0" rtl="0" algn="ctr">
                        <a:spcBef>
                          <a:spcPts val="0"/>
                        </a:spcBef>
                        <a:spcAft>
                          <a:spcPts val="0"/>
                        </a:spcAft>
                        <a:buNone/>
                      </a:pPr>
                      <a:r>
                        <a:rPr b="1" lang="en-GB" sz="800">
                          <a:solidFill>
                            <a:schemeClr val="dk1"/>
                          </a:solidFill>
                        </a:rPr>
                        <a:t>High</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rPr lang="en-GB" sz="1000">
                          <a:solidFill>
                            <a:schemeClr val="dk1"/>
                          </a:solidFill>
                          <a:latin typeface="Noto Sans Symbols"/>
                          <a:ea typeface="Noto Sans Symbols"/>
                          <a:cs typeface="Noto Sans Symbols"/>
                          <a:sym typeface="Noto Sans Symbols"/>
                        </a:rPr>
                        <a:t>✔</a:t>
                      </a:r>
                      <a:endParaRPr b="1" sz="10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0" lvl="0" marL="0" marR="0" rtl="0" algn="l">
                        <a:lnSpc>
                          <a:spcPct val="100000"/>
                        </a:lnSpc>
                        <a:spcBef>
                          <a:spcPts val="0"/>
                        </a:spcBef>
                        <a:spcAft>
                          <a:spcPts val="0"/>
                        </a:spcAft>
                        <a:buClr>
                          <a:schemeClr val="dk1"/>
                        </a:buClr>
                        <a:buSzPts val="800"/>
                        <a:buFont typeface="Arial"/>
                        <a:buNone/>
                      </a:pPr>
                      <a:r>
                        <a:rPr sz="800" b="0">
                          <a:latin typeface="Century Gothic"/>
                        </a:rPr>
                        <a:t>Pakistan priority improvements:</a:t>
                      </a:r>
                      <a:endParaRPr/>
                    </a:p>
                    <a:p>
                      <a:r>
                        <a:rPr sz="800" b="0">
                          <a:latin typeface="Century Gothic"/>
                        </a:rPr>
                        <a:t>Product cannibalization modeling (digital vs. branch product impact)</a:t>
                      </a:r>
                    </a:p>
                    <a:p>
                      <a:r>
                        <a:rPr sz="800" b="0">
                          <a:latin typeface="Century Gothic"/>
                        </a:rPr>
                        <a:t>Channel capacity forecasting for new product launches</a:t>
                      </a:r>
                    </a:p>
                    <a:p>
                      <a:r>
                        <a:rPr sz="800" b="0">
                          <a:latin typeface="Century Gothic"/>
                        </a:rPr>
                        <a:t>Revenue prediction: NII + fee income impact with KIBOR sensitivity</a:t>
                      </a:r>
                    </a:p>
                    <a:p>
                      <a:r>
                        <a:rPr sz="800" b="0">
                          <a:latin typeface="Century Gothic"/>
                        </a:rPr>
                        <a:t>SBP approval timeline integration in launch impact modeling</a:t>
                      </a:r>
                    </a:p>
                    <a:p>
                      <a:r>
                        <a:rPr sz="800" b="0">
                          <a:latin typeface="Century Gothic"/>
                        </a:rPr>
                        <a:t>Islamic product impact assessment (Shariah board + SBP dual approval)</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285750" lvl="0" marL="285750" marR="0" rtl="0" algn="l">
                        <a:spcBef>
                          <a:spcPts val="0"/>
                        </a:spcBef>
                        <a:spcAft>
                          <a:spcPts val="0"/>
                        </a:spcAft>
                        <a:buClr>
                          <a:schemeClr val="dk1"/>
                        </a:buClr>
                        <a:buSzPts val="800"/>
                        <a:buFont typeface="Arial"/>
                        <a:buChar char="•"/>
                      </a:pPr>
                      <a:r>
                        <a:rPr sz="800">
                          <a:latin typeface="Century Gothic"/>
                        </a:rPr>
                        <a:t>Accurate new product revenue forecasting reducing launch risk</a:t>
                      </a:r>
                      <a:endParaRPr/>
                    </a:p>
                    <a:p>
                      <a:r>
                        <a:rPr sz="800">
                          <a:latin typeface="Century Gothic"/>
                        </a:rPr>
                        <a:t>Channel capacity planning avoiding service degradation at launch</a:t>
                      </a:r>
                    </a:p>
                    <a:p>
                      <a:r>
                        <a:rPr sz="800">
                          <a:latin typeface="Century Gothic"/>
                        </a:rPr>
                        <a:t>Cannibalization quantification enabling informed portfolio decisions</a:t>
                      </a:r>
                    </a:p>
                    <a:p>
                      <a:r>
                        <a:rPr sz="800">
                          <a:latin typeface="Century Gothic"/>
                        </a:rPr>
                        <a:t>Regulatory timeline accuracy improving launch date predictability</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rowSpan="3">
                  <a:txBody>
                    <a:bodyPr/>
                    <a:lstStyle/>
                    <a:p>
                      <a:pPr indent="0" lvl="0" marL="0" marR="0" rtl="0" algn="ctr">
                        <a:lnSpc>
                          <a:spcPct val="100000"/>
                        </a:lnSpc>
                        <a:spcBef>
                          <a:spcPts val="0"/>
                        </a:spcBef>
                        <a:spcAft>
                          <a:spcPts val="0"/>
                        </a:spcAft>
                        <a:buClr>
                          <a:schemeClr val="dk1"/>
                        </a:buClr>
                        <a:buSzPts val="800"/>
                        <a:buFont typeface="Century Gothic"/>
                        <a:buNone/>
                      </a:pPr>
                      <a:r>
                        <a:rPr b="0" lang="en-GB" sz="800">
                          <a:solidFill>
                            <a:schemeClr val="dk1"/>
                          </a:solidFill>
                        </a:rPr>
                        <a:t>2025-2027</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hMerge="1">
                  <a:txBody>
                    <a:bodyPr/>
                    <a:p/>
                  </a:txBody>
                </a:tc>
              </a:tr>
              <a:tr h="243275">
                <a:tc gridSpan="2">
                  <a:txBody>
                    <a:bodyPr/>
                    <a:lstStyle/>
                    <a:p>
                      <a:pPr indent="0" lvl="0" marL="0" marR="0" rtl="0" algn="ctr">
                        <a:spcBef>
                          <a:spcPts val="0"/>
                        </a:spcBef>
                        <a:spcAft>
                          <a:spcPts val="0"/>
                        </a:spcAft>
                        <a:buNone/>
                      </a:pPr>
                      <a:r>
                        <a:rPr b="1" lang="en-GB" sz="800">
                          <a:solidFill>
                            <a:schemeClr val="dk1"/>
                          </a:solidFill>
                        </a:rPr>
                        <a:t>Medium</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xBody>
                    <a:bodyPr/>
                    <a:p/>
                  </a:txBody>
                </a:tc>
                <a:tc vMerge="1">
                  <a:txBody>
                    <a:bodyPr/>
                    <a:p/>
                  </a:txBody>
                </a:tc>
                <a:tc gridSpan="2" vMerge="1">
                  <a:txBody>
                    <a:bodyPr/>
                    <a:p/>
                  </a:txBody>
                </a:tc>
                <a:tc hMerge="1" vMerge="1">
                  <a:txBody>
                    <a:bodyPr/>
                    <a:p/>
                  </a:txBody>
                </a:tc>
              </a:tr>
              <a:tr h="243275">
                <a:tc gridSpan="2">
                  <a:txBody>
                    <a:bodyPr/>
                    <a:lstStyle/>
                    <a:p>
                      <a:pPr indent="0" lvl="0" marL="0" marR="0" rtl="0" algn="ctr">
                        <a:spcBef>
                          <a:spcPts val="0"/>
                        </a:spcBef>
                        <a:spcAft>
                          <a:spcPts val="0"/>
                        </a:spcAft>
                        <a:buNone/>
                      </a:pPr>
                      <a:r>
                        <a:rPr b="1" lang="en-GB" sz="800">
                          <a:solidFill>
                            <a:schemeClr val="dk1"/>
                          </a:solidFill>
                        </a:rPr>
                        <a:t>Low</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xBody>
                    <a:bodyPr/>
                    <a:p/>
                  </a:txBody>
                </a:tc>
                <a:tc vMerge="1">
                  <a:txBody>
                    <a:bodyPr/>
                    <a:p/>
                  </a:txBody>
                </a:tc>
                <a:tc gridSpan="2" vMerge="1">
                  <a:txBody>
                    <a:bodyPr/>
                    <a:p/>
                  </a:txBody>
                </a:tc>
                <a:tc hMerge="1" vMerge="1">
                  <a:txBody>
                    <a:bodyPr/>
                    <a:p/>
                  </a:txBody>
                </a:tc>
              </a:tr>
            </a:tbl>
          </a:graphicData>
        </a:graphic>
      </p:graphicFrame>
      <p:grpSp>
        <p:nvGrpSpPr>
          <p:cNvPr id="6637" name="Google Shape;6637;p372"/>
          <p:cNvGrpSpPr/>
          <p:nvPr/>
        </p:nvGrpSpPr>
        <p:grpSpPr>
          <a:xfrm>
            <a:off x="469900" y="3830313"/>
            <a:ext cx="8455025" cy="732866"/>
            <a:chOff x="211138" y="3972860"/>
            <a:chExt cx="8713787" cy="642437"/>
          </a:xfrm>
        </p:grpSpPr>
        <p:sp>
          <p:nvSpPr>
            <p:cNvPr id="6638" name="Google Shape;6638;p372"/>
            <p:cNvSpPr/>
            <p:nvPr/>
          </p:nvSpPr>
          <p:spPr>
            <a:xfrm>
              <a:off x="211138" y="3972860"/>
              <a:ext cx="8713787" cy="642437"/>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6639" name="Google Shape;6639;p372"/>
            <p:cNvSpPr/>
            <p:nvPr/>
          </p:nvSpPr>
          <p:spPr>
            <a:xfrm>
              <a:off x="3692726" y="3982349"/>
              <a:ext cx="1753883" cy="632948"/>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grpSp>
        <p:nvGrpSpPr>
          <p:cNvPr id="6640" name="Google Shape;6640;p372"/>
          <p:cNvGrpSpPr/>
          <p:nvPr/>
        </p:nvGrpSpPr>
        <p:grpSpPr>
          <a:xfrm>
            <a:off x="7971865" y="980278"/>
            <a:ext cx="949325" cy="2867825"/>
            <a:chOff x="7941888" y="1062037"/>
            <a:chExt cx="983037" cy="2695575"/>
          </a:xfrm>
        </p:grpSpPr>
        <p:sp>
          <p:nvSpPr>
            <p:cNvPr id="6641" name="Google Shape;6641;p372"/>
            <p:cNvSpPr/>
            <p:nvPr/>
          </p:nvSpPr>
          <p:spPr>
            <a:xfrm>
              <a:off x="7941889" y="1062037"/>
              <a:ext cx="983036" cy="2695575"/>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6642" name="Google Shape;6642;p372"/>
            <p:cNvSpPr/>
            <p:nvPr/>
          </p:nvSpPr>
          <p:spPr>
            <a:xfrm>
              <a:off x="7941888" y="2052586"/>
              <a:ext cx="983037" cy="714476"/>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sp>
        <p:nvSpPr>
          <p:cNvPr id="6643" name="Google Shape;6643;p372"/>
          <p:cNvSpPr txBox="1"/>
          <p:nvPr>
            <p:ph type="title"/>
          </p:nvPr>
        </p:nvSpPr>
        <p:spPr>
          <a:xfrm>
            <a:off x="466725" y="297561"/>
            <a:ext cx="8229600" cy="704088"/>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Predict Business Impact (Discovery)</a:t>
            </a:r>
            <a:endParaRPr/>
          </a:p>
        </p:txBody>
      </p:sp>
      <p:sp>
        <p:nvSpPr>
          <p:cNvPr id="6644" name="Google Shape;6644;p372">
            <a:hlinkClick action="ppaction://hlinksldjump" r:id="rId3"/>
          </p:cNvPr>
          <p:cNvSpPr/>
          <p:nvPr/>
        </p:nvSpPr>
        <p:spPr>
          <a:xfrm>
            <a:off x="6487285" y="-189267"/>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Product Development</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9" name="Shape 6649"/>
        <p:cNvGrpSpPr/>
        <p:nvPr/>
      </p:nvGrpSpPr>
      <p:grpSpPr>
        <a:xfrm>
          <a:off x="0" y="0"/>
          <a:ext cx="0" cy="0"/>
          <a:chOff x="0" y="0"/>
          <a:chExt cx="0" cy="0"/>
        </a:xfrm>
      </p:grpSpPr>
      <p:cxnSp>
        <p:nvCxnSpPr>
          <p:cNvPr id="6650" name="Google Shape;6650;p373"/>
          <p:cNvCxnSpPr/>
          <p:nvPr/>
        </p:nvCxnSpPr>
        <p:spPr>
          <a:xfrm>
            <a:off x="4570253" y="858364"/>
            <a:ext cx="3239" cy="3906719"/>
          </a:xfrm>
          <a:prstGeom prst="straightConnector1">
            <a:avLst/>
          </a:prstGeom>
          <a:noFill/>
          <a:ln cap="flat" cmpd="sng" w="12700">
            <a:solidFill>
              <a:schemeClr val="lt2"/>
            </a:solidFill>
            <a:prstDash val="solid"/>
            <a:round/>
            <a:headEnd len="sm" w="sm" type="none"/>
            <a:tailEnd len="sm" w="sm" type="none"/>
          </a:ln>
        </p:spPr>
      </p:cxnSp>
      <p:sp>
        <p:nvSpPr>
          <p:cNvPr id="6651" name="Google Shape;6651;p373"/>
          <p:cNvSpPr txBox="1"/>
          <p:nvPr>
            <p:ph type="title"/>
          </p:nvPr>
        </p:nvSpPr>
        <p:spPr>
          <a:xfrm>
            <a:off x="466725" y="297561"/>
            <a:ext cx="8229600" cy="704088"/>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Develop and Test Product Prototypes </a:t>
            </a:r>
            <a:endParaRPr/>
          </a:p>
        </p:txBody>
      </p:sp>
      <p:pic>
        <p:nvPicPr>
          <p:cNvPr descr="Free stock photo of light, lamp, idea, power" id="6652" name="Google Shape;6652;p373"/>
          <p:cNvPicPr preferRelativeResize="0"/>
          <p:nvPr/>
        </p:nvPicPr>
        <p:blipFill rotWithShape="1">
          <a:blip r:embed="rId3">
            <a:alphaModFix/>
          </a:blip>
          <a:srcRect b="0" l="0" r="0" t="0"/>
          <a:stretch/>
        </p:blipFill>
        <p:spPr>
          <a:xfrm>
            <a:off x="5538788" y="803275"/>
            <a:ext cx="2552700" cy="1701800"/>
          </a:xfrm>
          <a:prstGeom prst="rect">
            <a:avLst/>
          </a:prstGeom>
          <a:noFill/>
          <a:ln>
            <a:noFill/>
          </a:ln>
        </p:spPr>
      </p:pic>
      <p:graphicFrame>
        <p:nvGraphicFramePr>
          <p:cNvPr id="6653" name="Google Shape;6653;p373"/>
          <p:cNvGraphicFramePr/>
          <p:nvPr/>
        </p:nvGraphicFramePr>
        <p:xfrm>
          <a:off x="629141" y="777874"/>
          <a:ext cx="3000000" cy="3000000"/>
        </p:xfrm>
        <a:graphic>
          <a:graphicData uri="http://schemas.openxmlformats.org/drawingml/2006/table">
            <a:tbl>
              <a:tblPr bandRow="1" firstRow="1">
                <a:noFill/>
                <a:tableStyleId>{D098BFCB-6916-41F2-A2A5-0DF0D5139B6F}</a:tableStyleId>
              </a:tblPr>
              <a:tblGrid>
                <a:gridCol w="3906850"/>
                <a:gridCol w="119000"/>
                <a:gridCol w="3862850"/>
              </a:tblGrid>
              <a:tr h="340600">
                <a:tc>
                  <a:txBody>
                    <a:bodyPr/>
                    <a:lstStyle/>
                    <a:p>
                      <a:pPr indent="0" lvl="0" marL="0" marR="0" rtl="0" algn="l">
                        <a:spcBef>
                          <a:spcPts val="0"/>
                        </a:spcBef>
                        <a:spcAft>
                          <a:spcPts val="0"/>
                        </a:spcAft>
                        <a:buNone/>
                      </a:pPr>
                      <a:r>
                        <a:rPr b="1" lang="en-GB" sz="1400">
                          <a:solidFill>
                            <a:schemeClr val="dk2"/>
                          </a:solidFill>
                        </a:rPr>
                        <a:t>Business Objectives</a:t>
                      </a:r>
                      <a:endParaRPr b="1" sz="1400">
                        <a:solidFill>
                          <a:schemeClr val="dk2"/>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389775">
                <a:tc>
                  <a:txBody>
                    <a:bodyPr/>
                    <a:lstStyle/>
                    <a:p>
                      <a:pPr indent="0" lvl="0" marL="0" marR="0" rtl="0" algn="l">
                        <a:lnSpc>
                          <a:spcPct val="100000"/>
                        </a:lnSpc>
                        <a:spcBef>
                          <a:spcPts val="0"/>
                        </a:spcBef>
                        <a:spcAft>
                          <a:spcPts val="0"/>
                        </a:spcAft>
                        <a:buClr>
                          <a:schemeClr val="dk1"/>
                        </a:buClr>
                        <a:buSzPts val="900"/>
                        <a:buFont typeface="Arial"/>
                        <a:buNone/>
                      </a:pPr>
                      <a:r>
                        <a:rPr b="1" lang="en-GB" sz="900">
                          <a:solidFill>
                            <a:schemeClr val="dk1"/>
                          </a:solidFill>
                          <a:latin typeface="Century Gothic"/>
                          <a:ea typeface="Century Gothic"/>
                          <a:cs typeface="Century Gothic"/>
                          <a:sym typeface="Century Gothic"/>
                        </a:rPr>
                        <a:t>Test and evaluate alternative product specifications and features which includes AB testing, product preview statistics</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Determine usability with various new and emerging Telecommunications products </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Increase adoptability of new product</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Increase overall household sales revenue</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Drive house hold penetration of products / services</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Evolve product and services offering</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Drive adoptability of new mobile application</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Keep telecommunications providers relevant</a:t>
                      </a:r>
                      <a:endParaRPr/>
                    </a:p>
                    <a:p>
                      <a:r>
                        <a:rPr sz="900">
                          <a:latin typeface="Century Gothic"/>
                        </a:rPr>
                        <a:t/>
                      </a:r>
                    </a:p>
                    <a:p>
                      <a:r>
                        <a:rPr sz="900">
                          <a:latin typeface="Century Gothic"/>
                        </a:rPr>
                        <a:t>Test product features, pricing, and packaging through A/B testing and pilot programs</a:t>
                      </a:r>
                    </a:p>
                    <a:p>
                      <a:r>
                        <a:rPr sz="900">
                          <a:latin typeface="Century Gothic"/>
                        </a:rPr>
                        <a:t>Pakistan banking: pilot new products in select branches/regions before national rollout</a:t>
                      </a:r>
                    </a:p>
                    <a:p>
                      <a:r>
                        <a:rPr sz="900">
                          <a:latin typeface="Century Gothic"/>
                        </a:rPr>
                        <a:t>Test pricing variants (rate sensitivity), feature variants (min balance, fee structure), channel variants</a:t>
                      </a:r>
                    </a:p>
                    <a:p>
                      <a:r>
                        <a:rPr sz="900">
                          <a:latin typeface="Century Gothic"/>
                        </a:rPr>
                        <a:t>A/B testing for digital products, regional pilot for branch products, champion/challenger for pricing</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xBody>
                    <a:bodyPr/>
                    <a:p/>
                  </a:txBody>
                </a:tc>
                <a:tc vMerge="1">
                  <a:txBody>
                    <a:bodyPr/>
                    <a:p/>
                  </a:txBody>
                </a:tc>
              </a:tr>
              <a:tr h="1721250">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Data &amp; Solution</a:t>
                      </a:r>
                      <a:endParaRPr/>
                    </a:p>
                    <a:p>
                      <a:pPr indent="0" lvl="0" marL="0" marR="0" rtl="0" algn="l">
                        <a:spcBef>
                          <a:spcPts val="0"/>
                        </a:spcBef>
                        <a:spcAft>
                          <a:spcPts val="0"/>
                        </a:spcAft>
                        <a:buNone/>
                      </a:pPr>
                      <a:r>
                        <a:rPr b="1" lang="en-GB" sz="900">
                          <a:solidFill>
                            <a:schemeClr val="dk1"/>
                          </a:solidFill>
                        </a:rPr>
                        <a:t>Data</a:t>
                      </a:r>
                      <a:endParaRPr/>
                    </a:p>
                    <a:p>
                      <a:pPr indent="-179388" lvl="0" marL="179388" marR="0" rtl="0" algn="l">
                        <a:lnSpc>
                          <a:spcPct val="100000"/>
                        </a:lnSpc>
                        <a:spcBef>
                          <a:spcPts val="0"/>
                        </a:spcBef>
                        <a:spcAft>
                          <a:spcPts val="0"/>
                        </a:spcAft>
                        <a:buClr>
                          <a:schemeClr val="dk1"/>
                        </a:buClr>
                        <a:buSzPts val="900"/>
                        <a:buFont typeface="Arial"/>
                        <a:buChar char="•"/>
                      </a:pPr>
                      <a:r>
                        <a:rPr lang="en-GB" sz="900">
                          <a:solidFill>
                            <a:schemeClr val="dk1"/>
                          </a:solidFill>
                        </a:rPr>
                        <a:t>Mobile app usage data</a:t>
                      </a:r>
                      <a:endParaRPr/>
                    </a:p>
                    <a:p>
                      <a:pPr indent="-179388" lvl="0" marL="179388" marR="0" rtl="0" algn="l">
                        <a:lnSpc>
                          <a:spcPct val="100000"/>
                        </a:lnSpc>
                        <a:spcBef>
                          <a:spcPts val="0"/>
                        </a:spcBef>
                        <a:spcAft>
                          <a:spcPts val="0"/>
                        </a:spcAft>
                        <a:buClr>
                          <a:schemeClr val="dk1"/>
                        </a:buClr>
                        <a:buSzPts val="900"/>
                        <a:buFont typeface="Arial"/>
                        <a:buChar char="•"/>
                      </a:pPr>
                      <a:r>
                        <a:rPr lang="en-GB" sz="900">
                          <a:solidFill>
                            <a:schemeClr val="dk1"/>
                          </a:solidFill>
                        </a:rPr>
                        <a:t>Home solutions  data</a:t>
                      </a:r>
                      <a:endParaRPr/>
                    </a:p>
                    <a:p>
                      <a:pPr indent="-179388" lvl="0" marL="179388" marR="0" rtl="0" algn="l">
                        <a:lnSpc>
                          <a:spcPct val="100000"/>
                        </a:lnSpc>
                        <a:spcBef>
                          <a:spcPts val="0"/>
                        </a:spcBef>
                        <a:spcAft>
                          <a:spcPts val="0"/>
                        </a:spcAft>
                        <a:buClr>
                          <a:schemeClr val="dk1"/>
                        </a:buClr>
                        <a:buSzPts val="900"/>
                        <a:buFont typeface="Arial"/>
                        <a:buChar char="•"/>
                      </a:pPr>
                      <a:r>
                        <a:rPr lang="en-GB" sz="900">
                          <a:solidFill>
                            <a:schemeClr val="dk1"/>
                          </a:solidFill>
                        </a:rPr>
                        <a:t>App usage of various products – application data</a:t>
                      </a:r>
                      <a:endParaRPr/>
                    </a:p>
                    <a:p>
                      <a:pPr indent="-179388" lvl="0" marL="179388" marR="0" rtl="0" algn="l">
                        <a:lnSpc>
                          <a:spcPct val="100000"/>
                        </a:lnSpc>
                        <a:spcBef>
                          <a:spcPts val="0"/>
                        </a:spcBef>
                        <a:spcAft>
                          <a:spcPts val="0"/>
                        </a:spcAft>
                        <a:buClr>
                          <a:schemeClr val="dk1"/>
                        </a:buClr>
                        <a:buSzPts val="900"/>
                        <a:buFont typeface="Arial"/>
                        <a:buChar char="•"/>
                      </a:pPr>
                      <a:r>
                        <a:rPr lang="en-GB" sz="900">
                          <a:solidFill>
                            <a:schemeClr val="dk1"/>
                          </a:solidFill>
                        </a:rPr>
                        <a:t>Customer profile data</a:t>
                      </a:r>
                      <a:endParaRPr/>
                    </a:p>
                    <a:p>
                      <a:pPr indent="-179388" lvl="0" marL="179388" marR="0" rtl="0" algn="l">
                        <a:lnSpc>
                          <a:spcPct val="100000"/>
                        </a:lnSpc>
                        <a:spcBef>
                          <a:spcPts val="0"/>
                        </a:spcBef>
                        <a:spcAft>
                          <a:spcPts val="0"/>
                        </a:spcAft>
                        <a:buClr>
                          <a:schemeClr val="dk1"/>
                        </a:buClr>
                        <a:buSzPts val="900"/>
                        <a:buFont typeface="Arial"/>
                        <a:buChar char="•"/>
                      </a:pPr>
                      <a:r>
                        <a:rPr lang="en-GB" sz="900">
                          <a:solidFill>
                            <a:schemeClr val="dk1"/>
                          </a:solidFill>
                        </a:rPr>
                        <a:t>Wireless and digital channel usage data; Network data</a:t>
                      </a:r>
                      <a:endParaRPr/>
                    </a:p>
                    <a:p>
                      <a:pPr indent="-179388" lvl="0" marL="179388" marR="0" rtl="0" algn="l">
                        <a:lnSpc>
                          <a:spcPct val="100000"/>
                        </a:lnSpc>
                        <a:spcBef>
                          <a:spcPts val="0"/>
                        </a:spcBef>
                        <a:spcAft>
                          <a:spcPts val="0"/>
                        </a:spcAft>
                        <a:buClr>
                          <a:schemeClr val="dk1"/>
                        </a:buClr>
                        <a:buSzPts val="900"/>
                        <a:buFont typeface="Arial"/>
                        <a:buChar char="•"/>
                      </a:pPr>
                      <a:r>
                        <a:rPr lang="en-GB" sz="900">
                          <a:solidFill>
                            <a:schemeClr val="dk1"/>
                          </a:solidFill>
                        </a:rPr>
                        <a:t>Multi-channel data</a:t>
                      </a:r>
                      <a:endParaRPr/>
                    </a:p>
                    <a:p>
                      <a:pPr indent="-122238" lvl="0" marL="179388" marR="0" rtl="0" algn="l">
                        <a:spcBef>
                          <a:spcPts val="0"/>
                        </a:spcBef>
                        <a:spcAft>
                          <a:spcPts val="0"/>
                        </a:spcAft>
                        <a:buClr>
                          <a:schemeClr val="dk1"/>
                        </a:buClr>
                        <a:buSzPts val="900"/>
                        <a:buFont typeface="Arial"/>
                        <a:buNone/>
                      </a:pPr>
                      <a:r>
                        <a:t/>
                      </a:r>
                      <a:endParaRPr sz="900">
                        <a:solidFill>
                          <a:schemeClr val="dk1"/>
                        </a:solidFill>
                      </a:endParaRPr>
                    </a:p>
                    <a:p>
                      <a:pPr indent="0" lvl="0" marL="0" marR="0" rtl="0" algn="l">
                        <a:spcBef>
                          <a:spcPts val="0"/>
                        </a:spcBef>
                        <a:spcAft>
                          <a:spcPts val="0"/>
                        </a:spcAft>
                        <a:buClr>
                          <a:schemeClr val="dk1"/>
                        </a:buClr>
                        <a:buSzPts val="900"/>
                        <a:buFont typeface="Arial"/>
                        <a:buNone/>
                      </a:pPr>
                      <a:r>
                        <a:rPr b="1" lang="en-GB" sz="900">
                          <a:solidFill>
                            <a:schemeClr val="dk1"/>
                          </a:solidFill>
                        </a:rPr>
                        <a:t>Solution / Analytics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Transform multiple structured for integration</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Data Repository / data schema for  multi-structure data storage</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analyze customer segments for  their usage of product prototypes and service packages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Study new product product closure rate and multi-channel support</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Track usage and profitability </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Path and pattern analysis to understand paths of low usage and high usage / issues and nonissues</a:t>
                      </a:r>
                      <a:endParaRPr/>
                    </a:p>
                    <a:p>
                      <a:pPr indent="0" lvl="0" marL="0" marR="0" rtl="0" algn="l">
                        <a:spcBef>
                          <a:spcPts val="0"/>
                        </a:spcBef>
                        <a:spcAft>
                          <a:spcPts val="0"/>
                        </a:spcAft>
                        <a:buNone/>
                      </a:pPr>
                      <a:r>
                        <a:t/>
                      </a:r>
                      <a:endParaRPr b="1" sz="900">
                        <a:solidFill>
                          <a:schemeClr val="dk2"/>
                        </a:solidFill>
                        <a:latin typeface="Century Gothic"/>
                        <a:ea typeface="Century Gothic"/>
                        <a:cs typeface="Century Gothic"/>
                        <a:sym typeface="Century Gothic"/>
                      </a:endParaRPr>
                    </a:p>
                    <a:p>
                      <a:r>
                        <a:rPr sz="800" b="1">
                          <a:solidFill>
                            <a:srgbClr val="006699"/>
                          </a:solidFill>
                        </a:rPr>
                        <a:t>FSDM: Churn_Score, Churn_Event, Balance_Withdrawal_Pattern, Account_Closure, Product_Cancellation, Dormancy_Flag</a:t>
                      </a:r>
                    </a:p>
                    <a:p>
                      <a:r>
                        <a:rPr sz="800" i="1">
                          <a:solidFill>
                            <a:srgbClr val="008040"/>
                          </a:solidFill>
                        </a:rPr>
                        <a:t>Pakistan: Silent balance product closure rate (CASA), fixed deposit non-renewal, card dormancy, mobile banking abandonment, salary account migration, diaspora account inactivity</a:t>
                      </a:r>
                    </a:p>
                    <a:p>
                      <a:r>
                        <a:rPr sz="1400">
                          <a:latin typeface="Century Gothic"/>
                        </a:rPr>
                        <a:t/>
                      </a:r>
                    </a:p>
                    <a:p>
                      <a:r>
                        <a:rPr sz="1400">
                          <a:latin typeface="Century Gothic"/>
                        </a:rPr>
                        <a:t>FSDM transaction data for pilot vs. control groups</a:t>
                      </a:r>
                    </a:p>
                    <a:p>
                      <a:r>
                        <a:rPr sz="1400">
                          <a:latin typeface="Century Gothic"/>
                        </a:rPr>
                        <a:t>Mobile app engagement data, branch sales data, customer feedback</a:t>
                      </a:r>
                    </a:p>
                    <a:p>
                      <a:r>
                        <a:rPr sz="1400">
                          <a:latin typeface="Century Gothic"/>
                        </a:rPr>
                        <a:t>Call center query data during pilot period</a:t>
                      </a:r>
                    </a:p>
                    <a:p>
                      <a:r>
                        <a:rPr sz="1400">
                          <a:latin typeface="Century Gothic"/>
                        </a:rPr>
                        <a:t>NADRA biometric success rates for digital product onboarding</a:t>
                      </a: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Arial"/>
                        <a:buNone/>
                      </a:pPr>
                      <a:r>
                        <a:rPr b="1" lang="en-GB" sz="1400">
                          <a:solidFill>
                            <a:schemeClr val="dk2"/>
                          </a:solidFill>
                          <a:latin typeface="Century Gothic"/>
                          <a:ea typeface="Century Gothic"/>
                          <a:cs typeface="Century Gothic"/>
                          <a:sym typeface="Century Gothic"/>
                        </a:rPr>
                        <a:t>Outcome</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Higher revenue per customer per customer</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Overall corporate-wide reduced product closure rate based on multiproduct households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Increased customer loyalty based on providing cutting edge products and services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Revenue replacement for retiring products</a:t>
                      </a:r>
                      <a:endParaRPr/>
                    </a:p>
                    <a:p>
                      <a:r>
                        <a:rPr sz="800" i="1">
                          <a:solidFill>
                            <a:srgbClr val="800080"/>
                          </a:solidFill>
                        </a:rPr>
                        <a:t>Modern Analytics: Deep learning product closure rate prediction, multi-product product closure rate modeling, real-time product closure rate scoring, root cause decomposition, economic value of retention</a:t>
                      </a:r>
                    </a:p>
                    <a:p>
                      <a:r>
                        <a:rPr sz="1400">
                          <a:latin typeface="Century Gothic"/>
                        </a:rPr>
                        <a:t/>
                      </a:r>
                    </a:p>
                    <a:p>
                      <a:r>
                        <a:rPr sz="1400">
                          <a:latin typeface="Century Gothic"/>
                        </a:rPr>
                        <a:t>Evidence-based product launch decisions, optimized features and pricing before full investment</a:t>
                      </a:r>
                    </a:p>
                    <a:p>
                      <a:r>
                        <a:rPr sz="1400">
                          <a:latin typeface="Century Gothic"/>
                        </a:rPr>
                        <a:t>Reduced product failure rate through data-driven pilot validation</a:t>
                      </a:r>
                    </a:p>
                    <a:p>
                      <a:r>
                        <a:rPr sz="1400">
                          <a:latin typeface="Century Gothic"/>
                        </a:rPr>
                        <a:t>SBP-ready product performance data supporting NOC application</a:t>
                      </a: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6654" name="Google Shape;6654;p373">
            <a:hlinkClick action="ppaction://hlinksldjump" r:id="rId4"/>
          </p:cNvPr>
          <p:cNvSpPr/>
          <p:nvPr/>
        </p:nvSpPr>
        <p:spPr>
          <a:xfrm>
            <a:off x="6487285" y="-189267"/>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Product Development</a:t>
            </a:r>
            <a:endParaRPr/>
          </a:p>
        </p:txBody>
      </p:sp>
      <p:grpSp>
        <p:nvGrpSpPr>
          <p:cNvPr id="6655" name="Google Shape;6655;p373"/>
          <p:cNvGrpSpPr/>
          <p:nvPr/>
        </p:nvGrpSpPr>
        <p:grpSpPr>
          <a:xfrm>
            <a:off x="7717533" y="4360377"/>
            <a:ext cx="1058348" cy="347375"/>
            <a:chOff x="7651698" y="4287227"/>
            <a:chExt cx="1058348" cy="347375"/>
          </a:xfrm>
        </p:grpSpPr>
        <p:grpSp>
          <p:nvGrpSpPr>
            <p:cNvPr id="6656" name="Google Shape;6656;p373"/>
            <p:cNvGrpSpPr/>
            <p:nvPr/>
          </p:nvGrpSpPr>
          <p:grpSpPr>
            <a:xfrm>
              <a:off x="7714163" y="4337598"/>
              <a:ext cx="995883" cy="297004"/>
              <a:chOff x="7711013" y="3986494"/>
              <a:chExt cx="995883" cy="297004"/>
            </a:xfrm>
          </p:grpSpPr>
          <p:sp>
            <p:nvSpPr>
              <p:cNvPr id="6657" name="Google Shape;6657;p373"/>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6658" name="Google Shape;6658;p373"/>
              <p:cNvGrpSpPr/>
              <p:nvPr/>
            </p:nvGrpSpPr>
            <p:grpSpPr>
              <a:xfrm>
                <a:off x="7711013" y="4002615"/>
                <a:ext cx="281520" cy="241973"/>
                <a:chOff x="5652748" y="4066000"/>
                <a:chExt cx="906498" cy="747974"/>
              </a:xfrm>
            </p:grpSpPr>
            <p:sp>
              <p:nvSpPr>
                <p:cNvPr id="6659" name="Google Shape;6659;p373"/>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6660" name="Google Shape;6660;p373"/>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6661" name="Google Shape;6661;p373"/>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6662" name="Google Shape;6662;p373">
              <a:hlinkClick action="ppaction://hlinksldjump" r:id="rId5"/>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7" name="Shape 6667"/>
        <p:cNvGrpSpPr/>
        <p:nvPr/>
      </p:nvGrpSpPr>
      <p:grpSpPr>
        <a:xfrm>
          <a:off x="0" y="0"/>
          <a:ext cx="0" cy="0"/>
          <a:chOff x="0" y="0"/>
          <a:chExt cx="0" cy="0"/>
        </a:xfrm>
      </p:grpSpPr>
      <p:graphicFrame>
        <p:nvGraphicFramePr>
          <p:cNvPr id="6668" name="Google Shape;6668;p374"/>
          <p:cNvGraphicFramePr/>
          <p:nvPr/>
        </p:nvGraphicFramePr>
        <p:xfrm>
          <a:off x="469899" y="789217"/>
          <a:ext cx="3000000" cy="3000000"/>
        </p:xfrm>
        <a:graphic>
          <a:graphicData uri="http://schemas.openxmlformats.org/drawingml/2006/table">
            <a:tbl>
              <a:tblPr bandRow="1" firstRow="1">
                <a:noFill/>
                <a:tableStyleId>{D098BFCB-6916-41F2-A2A5-0DF0D5139B6F}</a:tableStyleId>
              </a:tblPr>
              <a:tblGrid>
                <a:gridCol w="130325"/>
                <a:gridCol w="556275"/>
                <a:gridCol w="367500"/>
                <a:gridCol w="3170075"/>
                <a:gridCol w="3276050"/>
                <a:gridCol w="477150"/>
                <a:gridCol w="477150"/>
              </a:tblGrid>
              <a:tr h="180850">
                <a:tc gridSpan="3">
                  <a:txBody>
                    <a:bodyPr/>
                    <a:lstStyle/>
                    <a:p>
                      <a:pPr indent="0" lvl="0" marL="0" marR="0" rtl="0" algn="ctr">
                        <a:spcBef>
                          <a:spcPts val="0"/>
                        </a:spcBef>
                        <a:spcAft>
                          <a:spcPts val="0"/>
                        </a:spcAft>
                        <a:buNone/>
                      </a:pPr>
                      <a:r>
                        <a:rPr b="1" lang="en-GB" sz="1200">
                          <a:solidFill>
                            <a:schemeClr val="dk2"/>
                          </a:solidFill>
                        </a:rPr>
                        <a:t>Level</a:t>
                      </a:r>
                      <a:endParaRPr b="1" sz="12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hMerge="1">
                  <a:txBody>
                    <a:bodyPr/>
                    <a:p/>
                  </a:txBody>
                </a:tc>
                <a:tc gridSpan="2">
                  <a:txBody>
                    <a:bodyPr/>
                    <a:lstStyle/>
                    <a:p>
                      <a:pPr indent="0" lvl="0" marL="0" marR="0" rtl="0" algn="ctr">
                        <a:lnSpc>
                          <a:spcPct val="100000"/>
                        </a:lnSpc>
                        <a:spcBef>
                          <a:spcPts val="0"/>
                        </a:spcBef>
                        <a:spcAft>
                          <a:spcPts val="0"/>
                        </a:spcAft>
                        <a:buClr>
                          <a:schemeClr val="dk2"/>
                        </a:buClr>
                        <a:buSzPts val="1200"/>
                        <a:buFont typeface="Century Gothic"/>
                        <a:buNone/>
                      </a:pPr>
                      <a:r>
                        <a:rPr b="1" lang="en-GB" sz="1200">
                          <a:solidFill>
                            <a:schemeClr val="dk2"/>
                          </a:solidFill>
                        </a:rPr>
                        <a:t>Maturity Statement</a:t>
                      </a:r>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rPr b="1" lang="en-GB" sz="800">
                          <a:solidFill>
                            <a:schemeClr val="dk2"/>
                          </a:solidFill>
                        </a:rPr>
                        <a:t>Current</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rPr b="1" lang="en-GB" sz="800">
                          <a:solidFill>
                            <a:schemeClr val="dk2"/>
                          </a:solidFill>
                        </a:rPr>
                        <a:t>Desired</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479325">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06C1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Leading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For telecommunications companies to remain relevant, they will need to create compelling content offerings which integrate and evolve traditional home solutions and wireless innovation.</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3385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F7513"/>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Innovating</a:t>
                      </a:r>
                      <a:endParaRPr/>
                    </a:p>
                    <a:p>
                      <a:pPr indent="0" lvl="0" marL="0" marR="0" rtl="0" algn="ctr">
                        <a:spcBef>
                          <a:spcPts val="0"/>
                        </a:spcBef>
                        <a:spcAft>
                          <a:spcPts val="0"/>
                        </a:spcAft>
                        <a:buNone/>
                      </a:pPr>
                      <a:r>
                        <a:t/>
                      </a:r>
                      <a:endParaRPr b="1" sz="1000">
                        <a:solidFill>
                          <a:schemeClr val="dk2"/>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Traditional wireless and digital channel data, including viewership data, can be integrated in one platform and analyzed to yield insight into segmentation of customers and products. Continued advanced analytics of online / app viewership data can enable telecommunication companies to make superior content delivery offerings with compelling packages.</a:t>
                      </a:r>
                      <a:endParaRPr/>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3385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C891C"/>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Practicing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Storing mobile app usage data with wireless / digital channel data in one discovery platform and/or data schema enables rapid deployment of analytics. Additionally, incorporating multichannel and other customer behavioral data will provide an advanced data repository which can accommodate multi-structured data and support multi-genre analytics. Single platform for integrated data enables repeatable analytics.</a:t>
                      </a:r>
                      <a:endParaRPr/>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lnSpc>
                          <a:spcPct val="100000"/>
                        </a:lnSpc>
                        <a:spcBef>
                          <a:spcPts val="0"/>
                        </a:spcBef>
                        <a:spcAft>
                          <a:spcPts val="0"/>
                        </a:spcAft>
                        <a:buClr>
                          <a:schemeClr val="dk1"/>
                        </a:buClr>
                        <a:buSzPts val="1400"/>
                        <a:buFont typeface="Century Gothic"/>
                        <a:buNone/>
                      </a:pPr>
                      <a:r>
                        <a:t/>
                      </a:r>
                      <a:endParaRPr sz="1400">
                        <a:solidFill>
                          <a:schemeClr val="dk1"/>
                        </a:solidFill>
                        <a:latin typeface="Noto Sans Symbols"/>
                        <a:ea typeface="Noto Sans Symbols"/>
                        <a:cs typeface="Noto Sans Symbols"/>
                        <a:sym typeface="Noto Sans Symbols"/>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3385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E9B4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Developing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Developing new multi-genre analytics and open source analytics  leveraging the discovery platform of  several wireless and digital channel products,  mobile app usage data, multichannel data and other customer behavioral data.. </a:t>
                      </a:r>
                      <a:endParaRPr/>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3385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F1AE65"/>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Emerging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Operationalizing new multi-genre and open source analytics  leveraging the discovery platform of  several wireless and digital channel products,  mobile app usage data, multichannel  data and other customer behavioral data. This is considered to be emerging analytics that all telecommunications companies want to execute and Enterprise Analytics Platform is best suited to help deliver this success.</a:t>
                      </a:r>
                      <a:endParaRPr/>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178750">
                <a:tc gridSpan="3">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Priority</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hMerge="1">
                  <a:txBody>
                    <a:bodyPr/>
                    <a:p/>
                  </a:txBody>
                </a:tc>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Key areas for improvement</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Benefits from uplift</a:t>
                      </a:r>
                      <a:endParaRPr b="1" sz="1000">
                        <a:solidFill>
                          <a:schemeClr val="dk2"/>
                        </a:solidFill>
                        <a:latin typeface="Century Gothic"/>
                        <a:ea typeface="Century Gothic"/>
                        <a:cs typeface="Century Gothic"/>
                        <a:sym typeface="Century Gothic"/>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a:txBody>
                    <a:bodyPr/>
                    <a:lstStyle/>
                    <a:p>
                      <a:pPr indent="0" lvl="0" marL="0" marR="0" rtl="0" algn="ctr">
                        <a:spcBef>
                          <a:spcPts val="0"/>
                        </a:spcBef>
                        <a:spcAft>
                          <a:spcPts val="0"/>
                        </a:spcAft>
                        <a:buNone/>
                      </a:pPr>
                      <a:r>
                        <a:rPr b="1" lang="en-GB" sz="1000">
                          <a:solidFill>
                            <a:schemeClr val="dk2"/>
                          </a:solidFill>
                        </a:rPr>
                        <a:t>Timeframe</a:t>
                      </a:r>
                      <a:endParaRPr b="1" sz="1000">
                        <a:solidFill>
                          <a:schemeClr val="dk2"/>
                        </a:solidFill>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r>
              <a:tr h="243275">
                <a:tc gridSpan="2">
                  <a:txBody>
                    <a:bodyPr/>
                    <a:lstStyle/>
                    <a:p>
                      <a:pPr indent="0" lvl="0" marL="0" marR="0" rtl="0" algn="ctr">
                        <a:spcBef>
                          <a:spcPts val="0"/>
                        </a:spcBef>
                        <a:spcAft>
                          <a:spcPts val="0"/>
                        </a:spcAft>
                        <a:buNone/>
                      </a:pPr>
                      <a:r>
                        <a:rPr b="1" lang="en-GB" sz="800">
                          <a:solidFill>
                            <a:schemeClr val="dk1"/>
                          </a:solidFill>
                        </a:rPr>
                        <a:t>High</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rPr lang="en-GB" sz="1000">
                          <a:solidFill>
                            <a:schemeClr val="dk1"/>
                          </a:solidFill>
                          <a:latin typeface="Noto Sans Symbols"/>
                          <a:ea typeface="Noto Sans Symbols"/>
                          <a:cs typeface="Noto Sans Symbols"/>
                          <a:sym typeface="Noto Sans Symbols"/>
                        </a:rPr>
                        <a:t>✔</a:t>
                      </a:r>
                      <a:endParaRPr b="1" sz="10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0" lvl="0" marL="0" marR="0" rtl="0" algn="l">
                        <a:lnSpc>
                          <a:spcPct val="100000"/>
                        </a:lnSpc>
                        <a:spcBef>
                          <a:spcPts val="0"/>
                        </a:spcBef>
                        <a:spcAft>
                          <a:spcPts val="0"/>
                        </a:spcAft>
                        <a:buClr>
                          <a:schemeClr val="dk1"/>
                        </a:buClr>
                        <a:buSzPts val="800"/>
                        <a:buFont typeface="Arial"/>
                        <a:buNone/>
                      </a:pPr>
                      <a:r>
                        <a:rPr sz="800" b="0">
                          <a:latin typeface="Century Gothic"/>
                        </a:rPr>
                        <a:t>Pakistan priority improvements:</a:t>
                      </a:r>
                      <a:endParaRPr/>
                    </a:p>
                    <a:p>
                      <a:r>
                        <a:rPr sz="800" b="0">
                          <a:latin typeface="Century Gothic"/>
                        </a:rPr>
                        <a:t>A/B testing framework for digital banking products (rate, feature, UX variants)</a:t>
                      </a:r>
                    </a:p>
                    <a:p>
                      <a:r>
                        <a:rPr sz="800" b="0">
                          <a:latin typeface="Century Gothic"/>
                        </a:rPr>
                        <a:t>Regional pilot methodology for branch-based products</a:t>
                      </a:r>
                    </a:p>
                    <a:p>
                      <a:r>
                        <a:rPr sz="800" b="0">
                          <a:latin typeface="Century Gothic"/>
                        </a:rPr>
                        <a:t>Champion/challenger pricing testing (deposit rates, lending spreads)</a:t>
                      </a:r>
                    </a:p>
                    <a:p>
                      <a:r>
                        <a:rPr sz="800" b="0">
                          <a:latin typeface="Century Gothic"/>
                        </a:rPr>
                        <a:t>Focus group infrastructure for Islamic product design validation</a:t>
                      </a:r>
                    </a:p>
                    <a:p>
                      <a:r>
                        <a:rPr sz="800" b="0">
                          <a:latin typeface="Century Gothic"/>
                        </a:rPr>
                        <a:t>NADRA biometric integration testing for digital onboarding flows</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285750" lvl="0" marL="285750" marR="0" rtl="0" algn="l">
                        <a:spcBef>
                          <a:spcPts val="0"/>
                        </a:spcBef>
                        <a:spcAft>
                          <a:spcPts val="0"/>
                        </a:spcAft>
                        <a:buClr>
                          <a:schemeClr val="dk1"/>
                        </a:buClr>
                        <a:buSzPts val="800"/>
                        <a:buFont typeface="Arial"/>
                        <a:buChar char="•"/>
                      </a:pPr>
                      <a:r>
                        <a:rPr sz="800">
                          <a:latin typeface="Century Gothic"/>
                        </a:rPr>
                        <a:t>Reduced product launch risk through evidence-based pilot validation</a:t>
                      </a:r>
                      <a:endParaRPr/>
                    </a:p>
                    <a:p>
                      <a:r>
                        <a:rPr sz="800">
                          <a:latin typeface="Century Gothic"/>
                        </a:rPr>
                        <a:t>Optimized product features and pricing before full-scale investment</a:t>
                      </a:r>
                    </a:p>
                    <a:p>
                      <a:r>
                        <a:rPr sz="800">
                          <a:latin typeface="Century Gothic"/>
                        </a:rPr>
                        <a:t>Faster iteration on digital products through A/B testing capability</a:t>
                      </a:r>
                    </a:p>
                    <a:p>
                      <a:r>
                        <a:rPr sz="800">
                          <a:latin typeface="Century Gothic"/>
                        </a:rPr>
                        <a:t>Improved SBP NOC applications supported by pilot performance data</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rowSpan="3">
                  <a:txBody>
                    <a:bodyPr/>
                    <a:lstStyle/>
                    <a:p>
                      <a:pPr indent="0" lvl="0" marL="0" marR="0" rtl="0" algn="ctr">
                        <a:lnSpc>
                          <a:spcPct val="100000"/>
                        </a:lnSpc>
                        <a:spcBef>
                          <a:spcPts val="0"/>
                        </a:spcBef>
                        <a:spcAft>
                          <a:spcPts val="0"/>
                        </a:spcAft>
                        <a:buClr>
                          <a:schemeClr val="dk1"/>
                        </a:buClr>
                        <a:buSzPts val="800"/>
                        <a:buFont typeface="Century Gothic"/>
                        <a:buNone/>
                      </a:pPr>
                      <a:r>
                        <a:rPr b="0" lang="en-GB" sz="800">
                          <a:solidFill>
                            <a:schemeClr val="dk1"/>
                          </a:solidFill>
                        </a:rPr>
                        <a:t>2025-2026</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hMerge="1">
                  <a:txBody>
                    <a:bodyPr/>
                    <a:p/>
                  </a:txBody>
                </a:tc>
              </a:tr>
              <a:tr h="243275">
                <a:tc gridSpan="2">
                  <a:txBody>
                    <a:bodyPr/>
                    <a:lstStyle/>
                    <a:p>
                      <a:pPr indent="0" lvl="0" marL="0" marR="0" rtl="0" algn="ctr">
                        <a:spcBef>
                          <a:spcPts val="0"/>
                        </a:spcBef>
                        <a:spcAft>
                          <a:spcPts val="0"/>
                        </a:spcAft>
                        <a:buNone/>
                      </a:pPr>
                      <a:r>
                        <a:rPr b="1" lang="en-GB" sz="800">
                          <a:solidFill>
                            <a:schemeClr val="dk1"/>
                          </a:solidFill>
                        </a:rPr>
                        <a:t>Medium</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xBody>
                    <a:bodyPr/>
                    <a:p/>
                  </a:txBody>
                </a:tc>
                <a:tc vMerge="1">
                  <a:txBody>
                    <a:bodyPr/>
                    <a:p/>
                  </a:txBody>
                </a:tc>
                <a:tc gridSpan="2" vMerge="1">
                  <a:txBody>
                    <a:bodyPr/>
                    <a:p/>
                  </a:txBody>
                </a:tc>
                <a:tc hMerge="1" vMerge="1">
                  <a:txBody>
                    <a:bodyPr/>
                    <a:p/>
                  </a:txBody>
                </a:tc>
              </a:tr>
              <a:tr h="243275">
                <a:tc gridSpan="2">
                  <a:txBody>
                    <a:bodyPr/>
                    <a:lstStyle/>
                    <a:p>
                      <a:pPr indent="0" lvl="0" marL="0" marR="0" rtl="0" algn="ctr">
                        <a:spcBef>
                          <a:spcPts val="0"/>
                        </a:spcBef>
                        <a:spcAft>
                          <a:spcPts val="0"/>
                        </a:spcAft>
                        <a:buNone/>
                      </a:pPr>
                      <a:r>
                        <a:rPr b="1" lang="en-GB" sz="800">
                          <a:solidFill>
                            <a:schemeClr val="dk1"/>
                          </a:solidFill>
                        </a:rPr>
                        <a:t>Low</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xBody>
                    <a:bodyPr/>
                    <a:p/>
                  </a:txBody>
                </a:tc>
                <a:tc vMerge="1">
                  <a:txBody>
                    <a:bodyPr/>
                    <a:p/>
                  </a:txBody>
                </a:tc>
                <a:tc gridSpan="2" vMerge="1">
                  <a:txBody>
                    <a:bodyPr/>
                    <a:p/>
                  </a:txBody>
                </a:tc>
                <a:tc hMerge="1" vMerge="1">
                  <a:txBody>
                    <a:bodyPr/>
                    <a:p/>
                  </a:txBody>
                </a:tc>
              </a:tr>
            </a:tbl>
          </a:graphicData>
        </a:graphic>
      </p:graphicFrame>
      <p:grpSp>
        <p:nvGrpSpPr>
          <p:cNvPr id="6669" name="Google Shape;6669;p374"/>
          <p:cNvGrpSpPr/>
          <p:nvPr/>
        </p:nvGrpSpPr>
        <p:grpSpPr>
          <a:xfrm>
            <a:off x="469900" y="3819680"/>
            <a:ext cx="8455025" cy="732866"/>
            <a:chOff x="211138" y="3972860"/>
            <a:chExt cx="8713787" cy="642437"/>
          </a:xfrm>
        </p:grpSpPr>
        <p:sp>
          <p:nvSpPr>
            <p:cNvPr id="6670" name="Google Shape;6670;p374"/>
            <p:cNvSpPr/>
            <p:nvPr/>
          </p:nvSpPr>
          <p:spPr>
            <a:xfrm>
              <a:off x="211138" y="3972860"/>
              <a:ext cx="8713787" cy="642437"/>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6671" name="Google Shape;6671;p374"/>
            <p:cNvSpPr/>
            <p:nvPr/>
          </p:nvSpPr>
          <p:spPr>
            <a:xfrm>
              <a:off x="3692726" y="3982349"/>
              <a:ext cx="1753883" cy="632948"/>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grpSp>
        <p:nvGrpSpPr>
          <p:cNvPr id="6672" name="Google Shape;6672;p374"/>
          <p:cNvGrpSpPr/>
          <p:nvPr/>
        </p:nvGrpSpPr>
        <p:grpSpPr>
          <a:xfrm>
            <a:off x="7971865" y="980278"/>
            <a:ext cx="949325" cy="2867825"/>
            <a:chOff x="7941888" y="1062037"/>
            <a:chExt cx="983037" cy="2695575"/>
          </a:xfrm>
        </p:grpSpPr>
        <p:sp>
          <p:nvSpPr>
            <p:cNvPr id="6673" name="Google Shape;6673;p374"/>
            <p:cNvSpPr/>
            <p:nvPr/>
          </p:nvSpPr>
          <p:spPr>
            <a:xfrm>
              <a:off x="7941889" y="1062037"/>
              <a:ext cx="983036" cy="2695575"/>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6674" name="Google Shape;6674;p374"/>
            <p:cNvSpPr/>
            <p:nvPr/>
          </p:nvSpPr>
          <p:spPr>
            <a:xfrm>
              <a:off x="7941888" y="2052586"/>
              <a:ext cx="983037" cy="714476"/>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sp>
        <p:nvSpPr>
          <p:cNvPr id="6675" name="Google Shape;6675;p374"/>
          <p:cNvSpPr txBox="1"/>
          <p:nvPr>
            <p:ph type="title"/>
          </p:nvPr>
        </p:nvSpPr>
        <p:spPr>
          <a:xfrm>
            <a:off x="466725" y="297561"/>
            <a:ext cx="8229600" cy="704088"/>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Develop and Test Product Prototypes</a:t>
            </a:r>
            <a:endParaRPr/>
          </a:p>
        </p:txBody>
      </p:sp>
      <p:sp>
        <p:nvSpPr>
          <p:cNvPr id="6676" name="Google Shape;6676;p374">
            <a:hlinkClick action="ppaction://hlinksldjump" r:id="rId3"/>
          </p:cNvPr>
          <p:cNvSpPr/>
          <p:nvPr/>
        </p:nvSpPr>
        <p:spPr>
          <a:xfrm>
            <a:off x="6487285" y="-189267"/>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Product Development</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1" name="Shape 6681"/>
        <p:cNvGrpSpPr/>
        <p:nvPr/>
      </p:nvGrpSpPr>
      <p:grpSpPr>
        <a:xfrm>
          <a:off x="0" y="0"/>
          <a:ext cx="0" cy="0"/>
          <a:chOff x="0" y="0"/>
          <a:chExt cx="0" cy="0"/>
        </a:xfrm>
      </p:grpSpPr>
      <p:pic>
        <p:nvPicPr>
          <p:cNvPr descr="RS920_BIZ-1070-H-2.jpg" id="6682" name="Google Shape;6682;p375"/>
          <p:cNvPicPr preferRelativeResize="0"/>
          <p:nvPr/>
        </p:nvPicPr>
        <p:blipFill rotWithShape="1">
          <a:blip r:embed="rId3">
            <a:alphaModFix/>
          </a:blip>
          <a:srcRect b="12714" l="45835" r="13504" t="0"/>
          <a:stretch/>
        </p:blipFill>
        <p:spPr>
          <a:xfrm>
            <a:off x="5549900" y="0"/>
            <a:ext cx="3594100" cy="5143500"/>
          </a:xfrm>
          <a:prstGeom prst="rect">
            <a:avLst/>
          </a:prstGeom>
          <a:noFill/>
          <a:ln>
            <a:noFill/>
          </a:ln>
        </p:spPr>
      </p:pic>
      <p:sp>
        <p:nvSpPr>
          <p:cNvPr id="6683" name="Google Shape;6683;p375"/>
          <p:cNvSpPr txBox="1"/>
          <p:nvPr>
            <p:ph type="title"/>
          </p:nvPr>
        </p:nvSpPr>
        <p:spPr>
          <a:xfrm>
            <a:off x="466725" y="3747"/>
            <a:ext cx="5087938" cy="617601"/>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Product Introduction</a:t>
            </a:r>
            <a:endParaRPr/>
          </a:p>
        </p:txBody>
      </p:sp>
      <p:sp>
        <p:nvSpPr>
          <p:cNvPr id="6684" name="Google Shape;6684;p375"/>
          <p:cNvSpPr txBox="1"/>
          <p:nvPr>
            <p:ph idx="1" type="body"/>
          </p:nvPr>
        </p:nvSpPr>
        <p:spPr>
          <a:xfrm>
            <a:off x="449263" y="2201863"/>
            <a:ext cx="4866449" cy="2652712"/>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0079DB"/>
              </a:buClr>
              <a:buSzPts val="1800"/>
              <a:buNone/>
            </a:pPr>
            <a:r>
              <a:rPr lang="en-GB">
                <a:solidFill>
                  <a:srgbClr val="0079DB"/>
                </a:solidFill>
              </a:rPr>
              <a:t>Why is it important?</a:t>
            </a:r>
            <a:endParaRPr b="1">
              <a:solidFill>
                <a:schemeClr val="accent1"/>
              </a:solidFill>
            </a:endParaRPr>
          </a:p>
          <a:p>
            <a:pPr indent="-231775" lvl="1" marL="231775" rtl="0" algn="l">
              <a:lnSpc>
                <a:spcPct val="100000"/>
              </a:lnSpc>
              <a:spcBef>
                <a:spcPts val="200"/>
              </a:spcBef>
              <a:spcAft>
                <a:spcPts val="0"/>
              </a:spcAft>
              <a:buClr>
                <a:schemeClr val="dk1"/>
              </a:buClr>
              <a:buSzPts val="1200"/>
              <a:buChar char="•"/>
            </a:pPr>
            <a:r>
              <a:rPr lang="en-GB" sz="1200"/>
              <a:t>Launching a new product requires insight</a:t>
            </a:r>
            <a:endParaRPr/>
          </a:p>
          <a:p>
            <a:pPr indent="-231775" lvl="1" marL="231775" rtl="0" algn="l">
              <a:lnSpc>
                <a:spcPct val="100000"/>
              </a:lnSpc>
              <a:spcBef>
                <a:spcPts val="600"/>
              </a:spcBef>
              <a:spcAft>
                <a:spcPts val="0"/>
              </a:spcAft>
              <a:buClr>
                <a:schemeClr val="dk1"/>
              </a:buClr>
              <a:buSzPts val="1200"/>
              <a:buChar char="•"/>
            </a:pPr>
            <a:r>
              <a:rPr lang="en-GB" sz="1200"/>
              <a:t>Launching a new product can only be successful if the organization is prepared to support customers considering to buy, buying or returning the product</a:t>
            </a:r>
            <a:endParaRPr/>
          </a:p>
          <a:p>
            <a:pPr indent="-231775" lvl="1" marL="231775" rtl="0" algn="l">
              <a:lnSpc>
                <a:spcPct val="100000"/>
              </a:lnSpc>
              <a:spcBef>
                <a:spcPts val="600"/>
              </a:spcBef>
              <a:spcAft>
                <a:spcPts val="0"/>
              </a:spcAft>
              <a:buClr>
                <a:schemeClr val="dk1"/>
              </a:buClr>
              <a:buSzPts val="1200"/>
              <a:buChar char="•"/>
            </a:pPr>
            <a:r>
              <a:rPr lang="en-GB" sz="1200"/>
              <a:t>Customers are increasingly using multiple channels in their shopping journey,  making it important to track their behaviors across all channels</a:t>
            </a:r>
            <a:endParaRPr/>
          </a:p>
          <a:p>
            <a:pPr indent="-231775" lvl="1" marL="231775" rtl="0" algn="l">
              <a:lnSpc>
                <a:spcPct val="100000"/>
              </a:lnSpc>
              <a:spcBef>
                <a:spcPts val="600"/>
              </a:spcBef>
              <a:spcAft>
                <a:spcPts val="0"/>
              </a:spcAft>
              <a:buClr>
                <a:schemeClr val="dk1"/>
              </a:buClr>
              <a:buSzPts val="1200"/>
              <a:buChar char="•"/>
            </a:pPr>
            <a:r>
              <a:rPr lang="en-GB" sz="1200"/>
              <a:t>Extensive insight about how the new product is likely to be perceived and received by the market is essential</a:t>
            </a:r>
            <a:endParaRPr/>
          </a:p>
          <a:p>
            <a:pPr indent="-231775" lvl="1" marL="231775" rtl="0" algn="l">
              <a:lnSpc>
                <a:spcPct val="100000"/>
              </a:lnSpc>
              <a:spcBef>
                <a:spcPts val="600"/>
              </a:spcBef>
              <a:spcAft>
                <a:spcPts val="0"/>
              </a:spcAft>
              <a:buClr>
                <a:schemeClr val="dk1"/>
              </a:buClr>
              <a:buSzPts val="1200"/>
              <a:buChar char="•"/>
            </a:pPr>
            <a:r>
              <a:rPr lang="en-GB" sz="1200"/>
              <a:t>Positioning a new product in relation to competitors and the existing portfolio must be well understood</a:t>
            </a:r>
            <a:endParaRPr sz="1800"/>
          </a:p>
        </p:txBody>
      </p:sp>
      <p:sp>
        <p:nvSpPr>
          <p:cNvPr id="6685" name="Google Shape;6685;p375"/>
          <p:cNvSpPr txBox="1"/>
          <p:nvPr>
            <p:ph idx="2" type="body"/>
          </p:nvPr>
        </p:nvSpPr>
        <p:spPr>
          <a:xfrm>
            <a:off x="449262" y="904312"/>
            <a:ext cx="6622097" cy="1029264"/>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chemeClr val="lt1"/>
              </a:buClr>
              <a:buSzPts val="1800"/>
              <a:buNone/>
            </a:pPr>
            <a:r>
              <a:t/>
            </a:r>
            <a:endParaRPr/>
          </a:p>
        </p:txBody>
      </p:sp>
      <p:sp>
        <p:nvSpPr>
          <p:cNvPr id="6686" name="Google Shape;6686;p375"/>
          <p:cNvSpPr/>
          <p:nvPr/>
        </p:nvSpPr>
        <p:spPr>
          <a:xfrm>
            <a:off x="1" y="769691"/>
            <a:ext cx="7205662" cy="1160709"/>
          </a:xfrm>
          <a:prstGeom prst="rect">
            <a:avLst/>
          </a:prstGeom>
          <a:solidFill>
            <a:srgbClr val="005AA4"/>
          </a:solidFill>
          <a:ln>
            <a:noFill/>
          </a:ln>
          <a:effectLst>
            <a:outerShdw blurRad="50800" rotWithShape="0" algn="tl" dir="2700000" dist="38100">
              <a:srgbClr val="000000">
                <a:alpha val="40000"/>
              </a:srgbClr>
            </a:outerShdw>
          </a:effectLst>
        </p:spPr>
        <p:txBody>
          <a:bodyPr anchorCtr="0" anchor="ctr" bIns="91425" lIns="91425" spcFirstLastPara="1" rIns="91425" wrap="square" tIns="91425">
            <a:noAutofit/>
          </a:bodyPr>
          <a:lstStyle/>
          <a:p>
            <a:pPr indent="0" lvl="1" marL="406400" marR="0" rtl="0" algn="l">
              <a:spcBef>
                <a:spcPts val="0"/>
              </a:spcBef>
              <a:spcAft>
                <a:spcPts val="0"/>
              </a:spcAft>
              <a:buNone/>
            </a:pPr>
            <a:r>
              <a:rPr b="0" i="0" lang="en-GB" sz="1400" u="none" cap="none" strike="noStrike">
                <a:solidFill>
                  <a:schemeClr val="lt1"/>
                </a:solidFill>
                <a:latin typeface="Century Gothic"/>
                <a:ea typeface="Century Gothic"/>
                <a:cs typeface="Century Gothic"/>
                <a:sym typeface="Century Gothic"/>
              </a:rPr>
              <a:t>The process of bringing a new product to market, including resource planning, sales planning, GTM-process, setting a competitive price as well as optimized sales commissions and marketing communication (BTL &amp; ATL).</a:t>
            </a:r>
            <a:endParaRPr b="0" i="0" sz="1400" u="none" cap="none" strike="noStrike">
              <a:solidFill>
                <a:schemeClr val="lt1"/>
              </a:solidFill>
              <a:latin typeface="Century Gothic"/>
              <a:ea typeface="Century Gothic"/>
              <a:cs typeface="Century Gothic"/>
              <a:sym typeface="Century Gothic"/>
            </a:endParaRPr>
          </a:p>
        </p:txBody>
      </p:sp>
      <p:sp>
        <p:nvSpPr>
          <p:cNvPr id="6687" name="Google Shape;6687;p375">
            <a:hlinkClick action="ppaction://hlinksldjump" r:id="rId4"/>
          </p:cNvPr>
          <p:cNvSpPr/>
          <p:nvPr/>
        </p:nvSpPr>
        <p:spPr>
          <a:xfrm>
            <a:off x="6487285" y="-189267"/>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Product Introduction</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1" name="Shape 6691"/>
        <p:cNvGrpSpPr/>
        <p:nvPr/>
      </p:nvGrpSpPr>
      <p:grpSpPr>
        <a:xfrm>
          <a:off x="0" y="0"/>
          <a:ext cx="0" cy="0"/>
          <a:chOff x="0" y="0"/>
          <a:chExt cx="0" cy="0"/>
        </a:xfrm>
      </p:grpSpPr>
      <p:sp>
        <p:nvSpPr>
          <p:cNvPr id="6692" name="Google Shape;6692;p376"/>
          <p:cNvSpPr/>
          <p:nvPr/>
        </p:nvSpPr>
        <p:spPr>
          <a:xfrm>
            <a:off x="7772401" y="-368299"/>
            <a:ext cx="1503273" cy="5054600"/>
          </a:xfrm>
          <a:prstGeom prst="roundRect">
            <a:avLst>
              <a:gd fmla="val 3493" name="adj"/>
            </a:avLst>
          </a:prstGeom>
          <a:solidFill>
            <a:srgbClr val="FFFFFF"/>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6693" name="Google Shape;6693;p376"/>
          <p:cNvSpPr txBox="1"/>
          <p:nvPr>
            <p:ph idx="1" type="body"/>
          </p:nvPr>
        </p:nvSpPr>
        <p:spPr>
          <a:xfrm>
            <a:off x="467360" y="852530"/>
            <a:ext cx="4830354" cy="3344033"/>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0079DB"/>
              </a:buClr>
              <a:buSzPts val="1800"/>
              <a:buNone/>
            </a:pPr>
            <a:r>
              <a:rPr lang="en-GB">
                <a:solidFill>
                  <a:srgbClr val="0079DB"/>
                </a:solidFill>
              </a:rPr>
              <a:t>How – Capabilities</a:t>
            </a:r>
            <a:endParaRPr b="1">
              <a:solidFill>
                <a:schemeClr val="accent1"/>
              </a:solidFill>
            </a:endParaRPr>
          </a:p>
          <a:p>
            <a:pPr indent="-169863" lvl="0" marL="169863" rtl="0" algn="l">
              <a:lnSpc>
                <a:spcPct val="95000"/>
              </a:lnSpc>
              <a:spcBef>
                <a:spcPts val="800"/>
              </a:spcBef>
              <a:spcAft>
                <a:spcPts val="0"/>
              </a:spcAft>
              <a:buClr>
                <a:schemeClr val="dk1"/>
              </a:buClr>
              <a:buSzPts val="1400"/>
              <a:buChar char="•"/>
            </a:pPr>
            <a:r>
              <a:rPr b="1" lang="en-GB" sz="1400"/>
              <a:t>Plan Product investments </a:t>
            </a:r>
            <a:r>
              <a:rPr lang="en-GB" sz="1400"/>
              <a:t>to support go to Market Strategy</a:t>
            </a:r>
            <a:endParaRPr/>
          </a:p>
          <a:p>
            <a:pPr indent="-230187" lvl="1" marL="515938" rtl="0" algn="l">
              <a:lnSpc>
                <a:spcPct val="100000"/>
              </a:lnSpc>
              <a:spcBef>
                <a:spcPts val="200"/>
              </a:spcBef>
              <a:spcAft>
                <a:spcPts val="0"/>
              </a:spcAft>
              <a:buClr>
                <a:schemeClr val="dk1"/>
              </a:buClr>
              <a:buSzPts val="1200"/>
              <a:buChar char="–"/>
            </a:pPr>
            <a:r>
              <a:rPr lang="en-GB" sz="1200"/>
              <a:t>Predict top-down sales volumes split into category, geography and channel to drive initial investments </a:t>
            </a:r>
            <a:endParaRPr/>
          </a:p>
          <a:p>
            <a:pPr indent="-230187" lvl="1" marL="515938" rtl="0" algn="l">
              <a:lnSpc>
                <a:spcPct val="100000"/>
              </a:lnSpc>
              <a:spcBef>
                <a:spcPts val="200"/>
              </a:spcBef>
              <a:spcAft>
                <a:spcPts val="0"/>
              </a:spcAft>
              <a:buClr>
                <a:schemeClr val="dk1"/>
              </a:buClr>
              <a:buSzPts val="1200"/>
              <a:buChar char="–"/>
            </a:pPr>
            <a:r>
              <a:rPr lang="en-GB" sz="1200"/>
              <a:t>Use pricing analytics in order to set, adjust and ensure competitive product pricing and portfolio fit</a:t>
            </a:r>
            <a:endParaRPr/>
          </a:p>
          <a:p>
            <a:pPr indent="-80963" lvl="0" marL="169863" rtl="0" algn="l">
              <a:lnSpc>
                <a:spcPct val="95000"/>
              </a:lnSpc>
              <a:spcBef>
                <a:spcPts val="600"/>
              </a:spcBef>
              <a:spcAft>
                <a:spcPts val="0"/>
              </a:spcAft>
              <a:buClr>
                <a:schemeClr val="dk1"/>
              </a:buClr>
              <a:buSzPts val="1400"/>
              <a:buNone/>
            </a:pPr>
            <a:r>
              <a:t/>
            </a:r>
            <a:endParaRPr b="1" sz="1400"/>
          </a:p>
          <a:p>
            <a:pPr indent="-169863" lvl="0" marL="169863" rtl="0" algn="l">
              <a:lnSpc>
                <a:spcPct val="95000"/>
              </a:lnSpc>
              <a:spcBef>
                <a:spcPts val="600"/>
              </a:spcBef>
              <a:spcAft>
                <a:spcPts val="0"/>
              </a:spcAft>
              <a:buClr>
                <a:schemeClr val="dk1"/>
              </a:buClr>
              <a:buSzPts val="1400"/>
              <a:buChar char="•"/>
            </a:pPr>
            <a:r>
              <a:rPr b="1" lang="en-GB" sz="1400"/>
              <a:t>Improve Product Onboarding</a:t>
            </a:r>
            <a:endParaRPr/>
          </a:p>
          <a:p>
            <a:pPr indent="-230187" lvl="1" marL="515938" rtl="0" algn="l">
              <a:lnSpc>
                <a:spcPct val="100000"/>
              </a:lnSpc>
              <a:spcBef>
                <a:spcPts val="200"/>
              </a:spcBef>
              <a:spcAft>
                <a:spcPts val="0"/>
              </a:spcAft>
              <a:buClr>
                <a:schemeClr val="dk1"/>
              </a:buClr>
              <a:buSzPts val="1200"/>
              <a:buChar char="–"/>
            </a:pPr>
            <a:r>
              <a:rPr lang="en-GB" sz="1200"/>
              <a:t>Estimate impact on organization and staffing based on analysis of relevant historical product introductions:</a:t>
            </a:r>
            <a:endParaRPr/>
          </a:p>
          <a:p>
            <a:pPr indent="-171450" lvl="2" marL="687388" rtl="0" algn="l">
              <a:lnSpc>
                <a:spcPct val="100000"/>
              </a:lnSpc>
              <a:spcBef>
                <a:spcPts val="200"/>
              </a:spcBef>
              <a:spcAft>
                <a:spcPts val="0"/>
              </a:spcAft>
              <a:buClr>
                <a:schemeClr val="dk1"/>
              </a:buClr>
              <a:buSzPts val="1100"/>
              <a:buFont typeface="Noto Sans Symbols"/>
              <a:buChar char="▪"/>
            </a:pPr>
            <a:r>
              <a:rPr lang="en-GB" sz="1100"/>
              <a:t>Customer sentiment towards products with similar attributes</a:t>
            </a:r>
            <a:endParaRPr/>
          </a:p>
          <a:p>
            <a:pPr indent="-171450" lvl="2" marL="687388" rtl="0" algn="l">
              <a:lnSpc>
                <a:spcPct val="100000"/>
              </a:lnSpc>
              <a:spcBef>
                <a:spcPts val="200"/>
              </a:spcBef>
              <a:spcAft>
                <a:spcPts val="0"/>
              </a:spcAft>
              <a:buClr>
                <a:schemeClr val="dk1"/>
              </a:buClr>
              <a:buSzPts val="1100"/>
              <a:buFont typeface="Noto Sans Symbols"/>
              <a:buChar char="▪"/>
            </a:pPr>
            <a:r>
              <a:rPr lang="en-GB" sz="1100"/>
              <a:t>Customer sentiment in relation to pre-announcements</a:t>
            </a:r>
            <a:endParaRPr/>
          </a:p>
          <a:p>
            <a:pPr indent="-171450" lvl="2" marL="687388" rtl="0" algn="l">
              <a:lnSpc>
                <a:spcPct val="100000"/>
              </a:lnSpc>
              <a:spcBef>
                <a:spcPts val="200"/>
              </a:spcBef>
              <a:spcAft>
                <a:spcPts val="0"/>
              </a:spcAft>
              <a:buClr>
                <a:schemeClr val="dk1"/>
              </a:buClr>
              <a:buSzPts val="1100"/>
              <a:buFont typeface="Noto Sans Symbols"/>
              <a:buChar char="▪"/>
            </a:pPr>
            <a:r>
              <a:rPr lang="en-GB" sz="1100"/>
              <a:t>Influential relationships between customers and prospects</a:t>
            </a:r>
            <a:endParaRPr/>
          </a:p>
          <a:p>
            <a:pPr indent="-230187" lvl="1" marL="515938" rtl="0" algn="l">
              <a:lnSpc>
                <a:spcPct val="100000"/>
              </a:lnSpc>
              <a:spcBef>
                <a:spcPts val="600"/>
              </a:spcBef>
              <a:spcAft>
                <a:spcPts val="0"/>
              </a:spcAft>
              <a:buClr>
                <a:schemeClr val="dk1"/>
              </a:buClr>
              <a:buSzPts val="1200"/>
              <a:buChar char="–"/>
            </a:pPr>
            <a:r>
              <a:rPr lang="en-GB" sz="1200"/>
              <a:t>Establish commission schemes and commercial model based on predictions about how the product will be received and demanded by the market</a:t>
            </a:r>
            <a:endParaRPr sz="1200"/>
          </a:p>
        </p:txBody>
      </p:sp>
      <p:sp>
        <p:nvSpPr>
          <p:cNvPr id="6694" name="Google Shape;6694;p376"/>
          <p:cNvSpPr txBox="1"/>
          <p:nvPr>
            <p:ph type="title"/>
          </p:nvPr>
        </p:nvSpPr>
        <p:spPr>
          <a:xfrm>
            <a:off x="477880" y="235233"/>
            <a:ext cx="5435240" cy="704088"/>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Product Introduction</a:t>
            </a:r>
            <a:br>
              <a:rPr lang="en-GB"/>
            </a:br>
            <a:endParaRPr/>
          </a:p>
        </p:txBody>
      </p:sp>
      <p:pic>
        <p:nvPicPr>
          <p:cNvPr id="6695" name="Google Shape;6695;p376"/>
          <p:cNvPicPr preferRelativeResize="0"/>
          <p:nvPr/>
        </p:nvPicPr>
        <p:blipFill rotWithShape="1">
          <a:blip r:embed="rId3">
            <a:alphaModFix/>
          </a:blip>
          <a:srcRect b="0" l="0" r="0" t="0"/>
          <a:stretch/>
        </p:blipFill>
        <p:spPr>
          <a:xfrm>
            <a:off x="5549900" y="967317"/>
            <a:ext cx="3594100" cy="2396066"/>
          </a:xfrm>
          <a:prstGeom prst="rect">
            <a:avLst/>
          </a:prstGeom>
          <a:noFill/>
          <a:ln>
            <a:noFill/>
          </a:ln>
        </p:spPr>
      </p:pic>
      <p:sp>
        <p:nvSpPr>
          <p:cNvPr id="6696" name="Google Shape;6696;p376">
            <a:hlinkClick action="ppaction://hlinksldjump" r:id="rId4"/>
          </p:cNvPr>
          <p:cNvSpPr/>
          <p:nvPr/>
        </p:nvSpPr>
        <p:spPr>
          <a:xfrm>
            <a:off x="6487285" y="-189267"/>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Product Introduction</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1" name="Shape 6701"/>
        <p:cNvGrpSpPr/>
        <p:nvPr/>
      </p:nvGrpSpPr>
      <p:grpSpPr>
        <a:xfrm>
          <a:off x="0" y="0"/>
          <a:ext cx="0" cy="0"/>
          <a:chOff x="0" y="0"/>
          <a:chExt cx="0" cy="0"/>
        </a:xfrm>
      </p:grpSpPr>
      <p:cxnSp>
        <p:nvCxnSpPr>
          <p:cNvPr id="6702" name="Google Shape;6702;p377"/>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grpSp>
        <p:nvGrpSpPr>
          <p:cNvPr id="6703" name="Google Shape;6703;p377"/>
          <p:cNvGrpSpPr/>
          <p:nvPr/>
        </p:nvGrpSpPr>
        <p:grpSpPr>
          <a:xfrm>
            <a:off x="6027116" y="1706037"/>
            <a:ext cx="446523" cy="372936"/>
            <a:chOff x="4492625" y="3451225"/>
            <a:chExt cx="992188" cy="828675"/>
          </a:xfrm>
        </p:grpSpPr>
        <p:sp>
          <p:nvSpPr>
            <p:cNvPr id="6704" name="Google Shape;6704;p377"/>
            <p:cNvSpPr/>
            <p:nvPr/>
          </p:nvSpPr>
          <p:spPr>
            <a:xfrm>
              <a:off x="4975225" y="3451225"/>
              <a:ext cx="509588" cy="828675"/>
            </a:xfrm>
            <a:custGeom>
              <a:rect b="b" l="l" r="r" t="t"/>
              <a:pathLst>
                <a:path extrusionOk="0" h="2300" w="1414">
                  <a:moveTo>
                    <a:pt x="0" y="1334"/>
                  </a:moveTo>
                  <a:cubicBezTo>
                    <a:pt x="0" y="392"/>
                    <a:pt x="471" y="14"/>
                    <a:pt x="1320" y="0"/>
                  </a:cubicBezTo>
                  <a:lnTo>
                    <a:pt x="1413" y="449"/>
                  </a:lnTo>
                  <a:cubicBezTo>
                    <a:pt x="919" y="500"/>
                    <a:pt x="677" y="748"/>
                    <a:pt x="713" y="1156"/>
                  </a:cubicBezTo>
                  <a:lnTo>
                    <a:pt x="1156" y="1156"/>
                  </a:lnTo>
                  <a:lnTo>
                    <a:pt x="1156" y="2299"/>
                  </a:lnTo>
                  <a:lnTo>
                    <a:pt x="0" y="2299"/>
                  </a:lnTo>
                  <a:lnTo>
                    <a:pt x="0" y="1334"/>
                  </a:lnTo>
                </a:path>
              </a:pathLst>
            </a:custGeom>
            <a:solidFill>
              <a:srgbClr val="D8D8D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3C3C3B"/>
                </a:solidFill>
                <a:latin typeface="Century Gothic"/>
                <a:ea typeface="Century Gothic"/>
                <a:cs typeface="Century Gothic"/>
                <a:sym typeface="Century Gothic"/>
              </a:endParaRPr>
            </a:p>
          </p:txBody>
        </p:sp>
        <p:sp>
          <p:nvSpPr>
            <p:cNvPr id="6705" name="Google Shape;6705;p377"/>
            <p:cNvSpPr/>
            <p:nvPr/>
          </p:nvSpPr>
          <p:spPr>
            <a:xfrm>
              <a:off x="4492625" y="3451225"/>
              <a:ext cx="509588" cy="828675"/>
            </a:xfrm>
            <a:custGeom>
              <a:rect b="b" l="l" r="r" t="t"/>
              <a:pathLst>
                <a:path extrusionOk="0" h="2300" w="1415">
                  <a:moveTo>
                    <a:pt x="0" y="1334"/>
                  </a:moveTo>
                  <a:cubicBezTo>
                    <a:pt x="0" y="392"/>
                    <a:pt x="471" y="14"/>
                    <a:pt x="1321" y="0"/>
                  </a:cubicBezTo>
                  <a:lnTo>
                    <a:pt x="1414" y="449"/>
                  </a:lnTo>
                  <a:cubicBezTo>
                    <a:pt x="920" y="500"/>
                    <a:pt x="677" y="748"/>
                    <a:pt x="714" y="1156"/>
                  </a:cubicBezTo>
                  <a:lnTo>
                    <a:pt x="1157" y="1156"/>
                  </a:lnTo>
                  <a:lnTo>
                    <a:pt x="1157" y="2299"/>
                  </a:lnTo>
                  <a:lnTo>
                    <a:pt x="0" y="2299"/>
                  </a:lnTo>
                  <a:lnTo>
                    <a:pt x="0" y="1334"/>
                  </a:lnTo>
                </a:path>
              </a:pathLst>
            </a:custGeom>
            <a:solidFill>
              <a:srgbClr val="D8D8D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3C3C3B"/>
                </a:solidFill>
                <a:latin typeface="Century Gothic"/>
                <a:ea typeface="Century Gothic"/>
                <a:cs typeface="Century Gothic"/>
                <a:sym typeface="Century Gothic"/>
              </a:endParaRPr>
            </a:p>
          </p:txBody>
        </p:sp>
      </p:grpSp>
      <p:sp>
        <p:nvSpPr>
          <p:cNvPr id="6706" name="Google Shape;6706;p377"/>
          <p:cNvSpPr txBox="1"/>
          <p:nvPr>
            <p:ph type="title"/>
          </p:nvPr>
        </p:nvSpPr>
        <p:spPr>
          <a:xfrm>
            <a:off x="457200" y="173736"/>
            <a:ext cx="8229600" cy="704088"/>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Plan Product Investments to Support Go-To-Market Strategy 	</a:t>
            </a:r>
            <a:endParaRPr/>
          </a:p>
        </p:txBody>
      </p:sp>
      <p:graphicFrame>
        <p:nvGraphicFramePr>
          <p:cNvPr id="6707" name="Google Shape;6707;p377"/>
          <p:cNvGraphicFramePr/>
          <p:nvPr/>
        </p:nvGraphicFramePr>
        <p:xfrm>
          <a:off x="610133" y="675585"/>
          <a:ext cx="3000000" cy="3000000"/>
        </p:xfrm>
        <a:graphic>
          <a:graphicData uri="http://schemas.openxmlformats.org/drawingml/2006/table">
            <a:tbl>
              <a:tblPr bandRow="1" firstRow="1">
                <a:noFill/>
                <a:tableStyleId>{D098BFCB-6916-41F2-A2A5-0DF0D5139B6F}</a:tableStyleId>
              </a:tblPr>
              <a:tblGrid>
                <a:gridCol w="3978800"/>
                <a:gridCol w="279400"/>
                <a:gridCol w="4105600"/>
              </a:tblGrid>
              <a:tr h="207575">
                <a:tc>
                  <a:txBody>
                    <a:bodyPr/>
                    <a:lstStyle/>
                    <a:p>
                      <a:pPr indent="0" lvl="0" marL="0" marR="0" rtl="0" algn="l">
                        <a:spcBef>
                          <a:spcPts val="0"/>
                        </a:spcBef>
                        <a:spcAft>
                          <a:spcPts val="0"/>
                        </a:spcAft>
                        <a:buNone/>
                      </a:pPr>
                      <a:r>
                        <a:rPr b="1" lang="en-GB" sz="1400">
                          <a:solidFill>
                            <a:schemeClr val="dk2"/>
                          </a:solidFill>
                        </a:rPr>
                        <a:t>Business Objectives</a:t>
                      </a:r>
                      <a:endParaRPr b="1" sz="1400">
                        <a:solidFill>
                          <a:schemeClr val="dk2"/>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23775">
                <a:tc>
                  <a:txBody>
                    <a:bodyPr/>
                    <a:lstStyle/>
                    <a:p>
                      <a:pPr indent="0" lvl="0" marL="0" marR="0" rtl="0" algn="just">
                        <a:lnSpc>
                          <a:spcPct val="100000"/>
                        </a:lnSpc>
                        <a:spcBef>
                          <a:spcPts val="0"/>
                        </a:spcBef>
                        <a:spcAft>
                          <a:spcPts val="0"/>
                        </a:spcAft>
                        <a:buClr>
                          <a:srgbClr val="3C3C3B"/>
                        </a:buClr>
                        <a:buSzPts val="900"/>
                        <a:buFont typeface="Arial"/>
                        <a:buNone/>
                      </a:pPr>
                      <a:r>
                        <a:rPr b="1" i="0" lang="en-GB" sz="900" u="none" cap="none" strike="noStrike">
                          <a:solidFill>
                            <a:srgbClr val="3C3C3B"/>
                          </a:solidFill>
                          <a:latin typeface="Century Gothic"/>
                          <a:ea typeface="Century Gothic"/>
                          <a:cs typeface="Century Gothic"/>
                          <a:sym typeface="Century Gothic"/>
                        </a:rPr>
                        <a:t>Holistic evaluation and determination of appropriate initial resource, capital and infrastructural investment for product </a:t>
                      </a:r>
                      <a:r>
                        <a:rPr b="1" i="0" lang="en-GB" sz="900" u="none" cap="none" strike="noStrike">
                          <a:solidFill>
                            <a:schemeClr val="dk1"/>
                          </a:solidFill>
                          <a:latin typeface="Century Gothic"/>
                          <a:ea typeface="Century Gothic"/>
                          <a:cs typeface="Century Gothic"/>
                          <a:sym typeface="Century Gothic"/>
                        </a:rPr>
                        <a:t>launch</a:t>
                      </a:r>
                      <a:endParaRPr b="0" i="0" sz="900" u="none" cap="none" strike="noStrike">
                        <a:solidFill>
                          <a:schemeClr val="dk1"/>
                        </a:solidFill>
                        <a:latin typeface="Century Gothic"/>
                        <a:ea typeface="Century Gothic"/>
                        <a:cs typeface="Century Gothic"/>
                        <a:sym typeface="Century Gothic"/>
                      </a:endParaRPr>
                    </a:p>
                    <a:p>
                      <a:pPr indent="-171450" lvl="0" marL="171450" marR="0" rtl="0" algn="just">
                        <a:lnSpc>
                          <a:spcPct val="100000"/>
                        </a:lnSpc>
                        <a:spcBef>
                          <a:spcPts val="0"/>
                        </a:spcBef>
                        <a:spcAft>
                          <a:spcPts val="0"/>
                        </a:spcAft>
                        <a:buClr>
                          <a:srgbClr val="3C3C3B"/>
                        </a:buClr>
                        <a:buSzPts val="900"/>
                        <a:buFont typeface="Arial"/>
                        <a:buChar char="•"/>
                      </a:pPr>
                      <a:r>
                        <a:rPr b="0" i="0" lang="en-GB" sz="900" u="none" cap="none" strike="noStrike">
                          <a:solidFill>
                            <a:srgbClr val="3C3C3B"/>
                          </a:solidFill>
                          <a:latin typeface="Century Gothic"/>
                          <a:ea typeface="Century Gothic"/>
                          <a:cs typeface="Century Gothic"/>
                          <a:sym typeface="Century Gothic"/>
                        </a:rPr>
                        <a:t>Predict top down sales</a:t>
                      </a:r>
                      <a:r>
                        <a:rPr b="0" i="0" lang="en-GB" sz="900" u="none" cap="none" strike="noStrike">
                          <a:solidFill>
                            <a:srgbClr val="FF0000"/>
                          </a:solidFill>
                          <a:latin typeface="Century Gothic"/>
                          <a:ea typeface="Century Gothic"/>
                          <a:cs typeface="Century Gothic"/>
                          <a:sym typeface="Century Gothic"/>
                        </a:rPr>
                        <a:t> </a:t>
                      </a:r>
                      <a:r>
                        <a:rPr b="0" i="0" lang="en-GB" sz="900" u="none" cap="none" strike="noStrike">
                          <a:solidFill>
                            <a:srgbClr val="3C3C3B"/>
                          </a:solidFill>
                          <a:latin typeface="Century Gothic"/>
                          <a:ea typeface="Century Gothic"/>
                          <a:cs typeface="Century Gothic"/>
                          <a:sym typeface="Century Gothic"/>
                        </a:rPr>
                        <a:t>to develop rolling forecast for appropriate resource allocation</a:t>
                      </a:r>
                      <a:endParaRPr b="0" i="0" sz="900" u="none" cap="none" strike="sngStrike">
                        <a:solidFill>
                          <a:srgbClr val="FF0000"/>
                        </a:solidFill>
                        <a:latin typeface="Century Gothic"/>
                        <a:ea typeface="Century Gothic"/>
                        <a:cs typeface="Century Gothic"/>
                        <a:sym typeface="Century Gothic"/>
                      </a:endParaRPr>
                    </a:p>
                    <a:p>
                      <a:pPr indent="-171450" lvl="0" marL="171450" marR="0" rtl="0" algn="just">
                        <a:lnSpc>
                          <a:spcPct val="100000"/>
                        </a:lnSpc>
                        <a:spcBef>
                          <a:spcPts val="0"/>
                        </a:spcBef>
                        <a:spcAft>
                          <a:spcPts val="0"/>
                        </a:spcAft>
                        <a:buClr>
                          <a:srgbClr val="3C3C3B"/>
                        </a:buClr>
                        <a:buSzPts val="900"/>
                        <a:buFont typeface="Arial"/>
                        <a:buChar char="•"/>
                      </a:pPr>
                      <a:r>
                        <a:rPr b="0" i="0" lang="en-GB" sz="900" u="none" cap="none" strike="noStrike">
                          <a:solidFill>
                            <a:srgbClr val="3C3C3B"/>
                          </a:solidFill>
                          <a:latin typeface="Century Gothic"/>
                          <a:ea typeface="Century Gothic"/>
                          <a:cs typeface="Century Gothic"/>
                          <a:sym typeface="Century Gothic"/>
                        </a:rPr>
                        <a:t>Establish baseline for identified market </a:t>
                      </a:r>
                      <a:r>
                        <a:rPr b="0" i="0" lang="en-GB" sz="900" u="none" cap="none" strike="noStrike">
                          <a:solidFill>
                            <a:schemeClr val="dk1"/>
                          </a:solidFill>
                          <a:latin typeface="Century Gothic"/>
                          <a:ea typeface="Century Gothic"/>
                          <a:cs typeface="Century Gothic"/>
                          <a:sym typeface="Century Gothic"/>
                        </a:rPr>
                        <a:t>through determination of market share by category, channel and geography</a:t>
                      </a:r>
                      <a:endParaRPr/>
                    </a:p>
                    <a:p>
                      <a:pPr indent="-171450" lvl="0" marL="171450" marR="0" rtl="0" algn="just">
                        <a:lnSpc>
                          <a:spcPct val="100000"/>
                        </a:lnSpc>
                        <a:spcBef>
                          <a:spcPts val="0"/>
                        </a:spcBef>
                        <a:spcAft>
                          <a:spcPts val="0"/>
                        </a:spcAft>
                        <a:buClr>
                          <a:srgbClr val="3C3C3B"/>
                        </a:buClr>
                        <a:buSzPts val="900"/>
                        <a:buFont typeface="Arial"/>
                        <a:buChar char="•"/>
                      </a:pPr>
                      <a:r>
                        <a:rPr b="0" i="0" lang="en-GB" sz="900" u="none" cap="none" strike="noStrike">
                          <a:solidFill>
                            <a:srgbClr val="3C3C3B"/>
                          </a:solidFill>
                          <a:latin typeface="Century Gothic"/>
                          <a:ea typeface="Century Gothic"/>
                          <a:cs typeface="Century Gothic"/>
                          <a:sym typeface="Century Gothic"/>
                        </a:rPr>
                        <a:t>Evaluate current competition, local rules of engagement, regulatory environment and current barriers to entry (if any)  </a:t>
                      </a:r>
                      <a:endParaRPr/>
                    </a:p>
                    <a:p>
                      <a:pPr indent="-171450" lvl="0" marL="171450" marR="0" rtl="0" algn="just">
                        <a:lnSpc>
                          <a:spcPct val="100000"/>
                        </a:lnSpc>
                        <a:spcBef>
                          <a:spcPts val="0"/>
                        </a:spcBef>
                        <a:spcAft>
                          <a:spcPts val="0"/>
                        </a:spcAft>
                        <a:buClr>
                          <a:srgbClr val="3C3C3B"/>
                        </a:buClr>
                        <a:buSzPts val="900"/>
                        <a:buFont typeface="Arial"/>
                        <a:buChar char="•"/>
                      </a:pPr>
                      <a:r>
                        <a:rPr b="0" i="0" lang="en-GB" sz="900" u="none" cap="none" strike="noStrike">
                          <a:solidFill>
                            <a:srgbClr val="3C3C3B"/>
                          </a:solidFill>
                          <a:latin typeface="Century Gothic"/>
                          <a:ea typeface="Century Gothic"/>
                          <a:cs typeface="Century Gothic"/>
                          <a:sym typeface="Century Gothic"/>
                        </a:rPr>
                        <a:t>Identification of cross-functional areas pertaining to product launch and establishment of all appropriate people, process and technology requirements to enable operationalization/ normalization of product/ service in identified market</a:t>
                      </a:r>
                      <a:endParaRPr b="0" i="0" sz="900" u="none" cap="none" strike="noStrike">
                        <a:solidFill>
                          <a:srgbClr val="FF0000"/>
                        </a:solidFill>
                        <a:latin typeface="Century Gothic"/>
                        <a:ea typeface="Century Gothic"/>
                        <a:cs typeface="Century Gothic"/>
                        <a:sym typeface="Century Gothic"/>
                      </a:endParaRPr>
                    </a:p>
                    <a:p>
                      <a:r>
                        <a:rPr sz="900">
                          <a:latin typeface="Century Gothic"/>
                        </a:rPr>
                        <a:t/>
                      </a:r>
                    </a:p>
                    <a:p>
                      <a:r>
                        <a:rPr sz="900">
                          <a:latin typeface="Century Gothic"/>
                        </a:rPr>
                        <a:t>Plan GTM for Pakistan banking: branch staff training (16,000+ branches)</a:t>
                      </a:r>
                    </a:p>
                    <a:p>
                      <a:r>
                        <a:rPr sz="900">
                          <a:latin typeface="Century Gothic"/>
                        </a:rPr>
                        <a:t>Core banking system configuration (4-5 systems), SBP reporting setup</a:t>
                      </a:r>
                    </a:p>
                    <a:p>
                      <a:r>
                        <a:rPr sz="900">
                          <a:latin typeface="Century Gothic"/>
                        </a:rPr>
                        <a:t>Marketing collateral (Urdu + English), Islamic Shariah compliance documentation</a:t>
                      </a:r>
                    </a:p>
                    <a:p>
                      <a:r>
                        <a:rPr sz="900">
                          <a:latin typeface="Century Gothic"/>
                        </a:rPr>
                        <a:t>Forecast resource requirements: call center staffing, branch teller training, digital UX readiness</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xBody>
                    <a:bodyPr/>
                    <a:p/>
                  </a:txBody>
                </a:tc>
                <a:tc vMerge="1">
                  <a:txBody>
                    <a:bodyPr/>
                    <a:p/>
                  </a:txBody>
                </a:tc>
              </a:tr>
              <a:tr h="207575">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p>
                      <a:r>
                        <a:rPr sz="800" b="1">
                          <a:solidFill>
                            <a:srgbClr val="006699"/>
                          </a:solidFill>
                        </a:rPr>
                        <a:t>FSDM: Prospect, Application, Lead, Campaign_Response, Acquisition_Channel, Conversion_Event, Lead_Score</a:t>
                      </a:r>
                    </a:p>
                    <a:p>
                      <a:r>
                        <a:rPr sz="800" i="1">
                          <a:solidFill>
                            <a:srgbClr val="008040"/>
                          </a:solidFill>
                        </a:rPr>
                        <a:t>Pakistan: Asaan Digital Account opening, biometric verification (NADRA), CNIC-based pre-approval, branchless banking (JazzCash/Easypaisa partnerships), university/employer batch onboarding</a:t>
                      </a: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 </a:t>
                      </a:r>
                      <a:endParaRPr b="0" sz="1400">
                        <a:solidFill>
                          <a:srgbClr val="FF0000"/>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724425">
                <a:tc>
                  <a:txBody>
                    <a:bodyPr/>
                    <a:lstStyle/>
                    <a:p>
                      <a:pPr indent="0" lvl="0" marL="0" marR="0" rtl="0" algn="l">
                        <a:lnSpc>
                          <a:spcPct val="100000"/>
                        </a:lnSpc>
                        <a:spcBef>
                          <a:spcPts val="0"/>
                        </a:spcBef>
                        <a:spcAft>
                          <a:spcPts val="0"/>
                        </a:spcAft>
                        <a:buClr>
                          <a:srgbClr val="3C3C3B"/>
                        </a:buClr>
                        <a:buSzPts val="900"/>
                        <a:buFont typeface="Century Gothic"/>
                        <a:buNone/>
                      </a:pPr>
                      <a:r>
                        <a:rPr b="1" i="0" lang="en-GB" sz="900" u="none" cap="none" strike="noStrike">
                          <a:solidFill>
                            <a:srgbClr val="3C3C3B"/>
                          </a:solidFill>
                          <a:latin typeface="Century Gothic"/>
                          <a:ea typeface="Century Gothic"/>
                          <a:cs typeface="Century Gothic"/>
                          <a:sym typeface="Century Gothic"/>
                        </a:rPr>
                        <a:t>Data </a:t>
                      </a:r>
                      <a:endParaRPr/>
                    </a:p>
                    <a:p>
                      <a:pPr indent="-171450" lvl="0" marL="171450" marR="0" rtl="0" algn="l">
                        <a:lnSpc>
                          <a:spcPct val="95000"/>
                        </a:lnSpc>
                        <a:spcBef>
                          <a:spcPts val="0"/>
                        </a:spcBef>
                        <a:spcAft>
                          <a:spcPts val="0"/>
                        </a:spcAft>
                        <a:buClr>
                          <a:srgbClr val="3C3C3B"/>
                        </a:buClr>
                        <a:buSzPts val="900"/>
                        <a:buFont typeface="Arial"/>
                        <a:buChar char="•"/>
                      </a:pPr>
                      <a:r>
                        <a:rPr b="0" i="0" lang="en-GB" sz="900" u="none" cap="none" strike="noStrike">
                          <a:solidFill>
                            <a:srgbClr val="3C3C3B"/>
                          </a:solidFill>
                          <a:latin typeface="Century Gothic"/>
                          <a:ea typeface="Century Gothic"/>
                          <a:cs typeface="Century Gothic"/>
                          <a:sym typeface="Century Gothic"/>
                        </a:rPr>
                        <a:t>Proxy acquisition, portfolio management, attrition, banking sales etc.. data for comparable products/services and target customers</a:t>
                      </a:r>
                      <a:endParaRPr/>
                    </a:p>
                    <a:p>
                      <a:pPr indent="-179388" lvl="0" marL="179388" marR="0" rtl="0" algn="just">
                        <a:lnSpc>
                          <a:spcPct val="95000"/>
                        </a:lnSpc>
                        <a:spcBef>
                          <a:spcPts val="0"/>
                        </a:spcBef>
                        <a:spcAft>
                          <a:spcPts val="0"/>
                        </a:spcAft>
                        <a:buClr>
                          <a:srgbClr val="3C3C3B"/>
                        </a:buClr>
                        <a:buSzPts val="900"/>
                        <a:buFont typeface="Arial"/>
                        <a:buChar char="•"/>
                      </a:pPr>
                      <a:r>
                        <a:rPr b="0" i="0" lang="en-GB" sz="900" u="none" cap="none" strike="noStrike">
                          <a:solidFill>
                            <a:srgbClr val="3C3C3B"/>
                          </a:solidFill>
                          <a:latin typeface="Century Gothic"/>
                          <a:ea typeface="Century Gothic"/>
                          <a:cs typeface="Century Gothic"/>
                          <a:sym typeface="Century Gothic"/>
                        </a:rPr>
                        <a:t>Proxy acquisition data, product basket mix, channel data, expected fulfillment process data, expected product maintenance actions, expected product capacity balance flows through lifecycle</a:t>
                      </a:r>
                      <a:endParaRPr/>
                    </a:p>
                    <a:p>
                      <a:pPr indent="0" lvl="0" marL="0" marR="0" rtl="0" algn="just">
                        <a:lnSpc>
                          <a:spcPct val="100000"/>
                        </a:lnSpc>
                        <a:spcBef>
                          <a:spcPts val="0"/>
                        </a:spcBef>
                        <a:spcAft>
                          <a:spcPts val="0"/>
                        </a:spcAft>
                        <a:buClr>
                          <a:srgbClr val="3C3C3B"/>
                        </a:buClr>
                        <a:buSzPts val="900"/>
                        <a:buFont typeface="Arial"/>
                        <a:buNone/>
                      </a:pPr>
                      <a:r>
                        <a:rPr b="1" i="0" lang="en-GB" sz="900" u="none" cap="none" strike="noStrike">
                          <a:solidFill>
                            <a:srgbClr val="3C3C3B"/>
                          </a:solidFill>
                          <a:latin typeface="Century Gothic"/>
                          <a:ea typeface="Century Gothic"/>
                          <a:cs typeface="Century Gothic"/>
                          <a:sym typeface="Century Gothic"/>
                        </a:rPr>
                        <a:t>Analytics</a:t>
                      </a:r>
                      <a:endParaRPr/>
                    </a:p>
                    <a:p>
                      <a:pPr indent="-179388" lvl="0" marL="179388" marR="0" rtl="0" algn="just">
                        <a:lnSpc>
                          <a:spcPct val="95000"/>
                        </a:lnSpc>
                        <a:spcBef>
                          <a:spcPts val="0"/>
                        </a:spcBef>
                        <a:spcAft>
                          <a:spcPts val="0"/>
                        </a:spcAft>
                        <a:buClr>
                          <a:schemeClr val="dk1"/>
                        </a:buClr>
                        <a:buSzPts val="900"/>
                        <a:buFont typeface="Arial"/>
                        <a:buChar char="•"/>
                      </a:pPr>
                      <a:r>
                        <a:rPr lang="en-GB" sz="900" strike="noStrike">
                          <a:solidFill>
                            <a:schemeClr val="dk1"/>
                          </a:solidFill>
                        </a:rPr>
                        <a:t>P</a:t>
                      </a:r>
                      <a:r>
                        <a:rPr lang="en-GB" sz="900">
                          <a:solidFill>
                            <a:schemeClr val="dk1"/>
                          </a:solidFill>
                        </a:rPr>
                        <a:t>roduct drivers’ impact on sales, profitability, return rates and fulfillment for resource allocation </a:t>
                      </a:r>
                      <a:endParaRPr sz="900" strike="sngStrike">
                        <a:solidFill>
                          <a:srgbClr val="FF0000"/>
                        </a:solidFill>
                      </a:endParaRPr>
                    </a:p>
                    <a:p>
                      <a:pPr indent="-179388" lvl="0" marL="179388" marR="0" rtl="0" algn="just">
                        <a:lnSpc>
                          <a:spcPct val="95000"/>
                        </a:lnSpc>
                        <a:spcBef>
                          <a:spcPts val="0"/>
                        </a:spcBef>
                        <a:spcAft>
                          <a:spcPts val="0"/>
                        </a:spcAft>
                        <a:buClr>
                          <a:schemeClr val="dk1"/>
                        </a:buClr>
                        <a:buSzPts val="900"/>
                        <a:buFont typeface="Arial"/>
                        <a:buChar char="•"/>
                      </a:pPr>
                      <a:r>
                        <a:rPr lang="en-GB" sz="900">
                          <a:solidFill>
                            <a:schemeClr val="dk1"/>
                          </a:solidFill>
                        </a:rPr>
                        <a:t>Automated analytical applications utilizing channel sales, transactional, risk and product capacity  data to operationalize and scale continuous product/service launches </a:t>
                      </a:r>
                      <a:endParaRPr sz="900" strike="sngStrike">
                        <a:solidFill>
                          <a:srgbClr val="FF0000"/>
                        </a:solidFill>
                      </a:endParaRPr>
                    </a:p>
                    <a:p>
                      <a:r>
                        <a:rPr sz="800" b="1">
                          <a:solidFill>
                            <a:srgbClr val="006699"/>
                          </a:solidFill>
                        </a:rPr>
                        <a:t>FSDM: Prospect, Application, Lead, Campaign_Response, Acquisition_Channel, Conversion_Event, Lead_Score</a:t>
                      </a:r>
                    </a:p>
                    <a:p>
                      <a:r>
                        <a:rPr sz="800" i="1">
                          <a:solidFill>
                            <a:srgbClr val="008040"/>
                          </a:solidFill>
                        </a:rPr>
                        <a:t>Pakistan: Asaan Digital Account opening, biometric verification (NADRA), CNIC-based pre-approval, branchless banking (JazzCash/Easypaisa partnerships), university/employer batch onboarding</a:t>
                      </a:r>
                    </a:p>
                    <a:p>
                      <a:r>
                        <a:rPr sz="900">
                          <a:latin typeface="Century Gothic"/>
                        </a:rPr>
                        <a:t/>
                      </a:r>
                    </a:p>
                    <a:p>
                      <a:r>
                        <a:rPr sz="900">
                          <a:latin typeface="Century Gothic"/>
                        </a:rPr>
                        <a:t>Historical product launch data, branch capacity data</a:t>
                      </a:r>
                    </a:p>
                    <a:p>
                      <a:r>
                        <a:rPr sz="900">
                          <a:latin typeface="Century Gothic"/>
                        </a:rPr>
                        <a:t>Call center staffing model, digital channel capacity</a:t>
                      </a:r>
                    </a:p>
                    <a:p>
                      <a:r>
                        <a:rPr sz="900">
                          <a:latin typeface="Century Gothic"/>
                        </a:rPr>
                        <a:t>Card production lead times, NADRA integration capacity</a:t>
                      </a:r>
                    </a:p>
                    <a:p>
                      <a:r>
                        <a:rPr sz="900">
                          <a:latin typeface="Century Gothic"/>
                        </a:rPr>
                        <a:t>SBP NOC submission requirements and timeline data</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just">
                        <a:lnSpc>
                          <a:spcPct val="100000"/>
                        </a:lnSpc>
                        <a:spcBef>
                          <a:spcPts val="0"/>
                        </a:spcBef>
                        <a:spcAft>
                          <a:spcPts val="0"/>
                        </a:spcAft>
                        <a:buClr>
                          <a:srgbClr val="3C3C3B"/>
                        </a:buClr>
                        <a:buSzPts val="900"/>
                        <a:buFont typeface="Arial"/>
                        <a:buChar char="•"/>
                      </a:pPr>
                      <a:r>
                        <a:rPr b="0" i="0" lang="en-GB" sz="900" u="none" cap="none" strike="noStrike">
                          <a:solidFill>
                            <a:srgbClr val="3C3C3B"/>
                          </a:solidFill>
                          <a:latin typeface="Century Gothic"/>
                          <a:ea typeface="Century Gothic"/>
                          <a:cs typeface="Century Gothic"/>
                          <a:sym typeface="Century Gothic"/>
                        </a:rPr>
                        <a:t>Understanding of go-to-market resource requirements for  product/service launches</a:t>
                      </a:r>
                      <a:endParaRPr/>
                    </a:p>
                    <a:p>
                      <a:pPr indent="-171450" lvl="0" marL="171450" marR="0" rtl="0" algn="just">
                        <a:lnSpc>
                          <a:spcPct val="100000"/>
                        </a:lnSpc>
                        <a:spcBef>
                          <a:spcPts val="0"/>
                        </a:spcBef>
                        <a:spcAft>
                          <a:spcPts val="0"/>
                        </a:spcAft>
                        <a:buClr>
                          <a:srgbClr val="3C3C3B"/>
                        </a:buClr>
                        <a:buSzPts val="900"/>
                        <a:buFont typeface="Arial"/>
                        <a:buChar char="•"/>
                      </a:pPr>
                      <a:r>
                        <a:rPr b="0" i="0" lang="en-GB" sz="900" u="none" cap="none" strike="noStrike">
                          <a:solidFill>
                            <a:srgbClr val="3C3C3B"/>
                          </a:solidFill>
                          <a:latin typeface="Century Gothic"/>
                          <a:ea typeface="Century Gothic"/>
                          <a:cs typeface="Century Gothic"/>
                          <a:sym typeface="Century Gothic"/>
                        </a:rPr>
                        <a:t>Full operationalization capability of continuous product/service deployment and accurate forecasting of resource requirements towards the same </a:t>
                      </a:r>
                      <a:endParaRPr/>
                    </a:p>
                    <a:p>
                      <a:pPr indent="-171450" lvl="0" marL="171450" marR="0" rtl="0" algn="just">
                        <a:lnSpc>
                          <a:spcPct val="100000"/>
                        </a:lnSpc>
                        <a:spcBef>
                          <a:spcPts val="0"/>
                        </a:spcBef>
                        <a:spcAft>
                          <a:spcPts val="0"/>
                        </a:spcAft>
                        <a:buClr>
                          <a:srgbClr val="3C3C3B"/>
                        </a:buClr>
                        <a:buSzPts val="900"/>
                        <a:buFont typeface="Arial"/>
                        <a:buChar char="•"/>
                      </a:pPr>
                      <a:r>
                        <a:rPr b="0" i="0" lang="en-GB" sz="900" u="none" cap="none" strike="noStrike">
                          <a:solidFill>
                            <a:srgbClr val="3C3C3B"/>
                          </a:solidFill>
                          <a:latin typeface="Century Gothic"/>
                          <a:ea typeface="Century Gothic"/>
                          <a:cs typeface="Century Gothic"/>
                          <a:sym typeface="Century Gothic"/>
                        </a:rPr>
                        <a:t>Seamless integration of people, process and infrastructural capabilities in product go-to-market strategies </a:t>
                      </a:r>
                      <a:endParaRPr b="0" i="0" sz="900" u="none" cap="none" strike="noStrike">
                        <a:solidFill>
                          <a:srgbClr val="FF0000"/>
                        </a:solidFill>
                        <a:latin typeface="Century Gothic"/>
                        <a:ea typeface="Century Gothic"/>
                        <a:cs typeface="Century Gothic"/>
                        <a:sym typeface="Century Gothic"/>
                      </a:endParaRPr>
                    </a:p>
                    <a:p>
                      <a:pPr indent="-171450" lvl="0" marL="171450" marR="0" rtl="0" algn="l">
                        <a:lnSpc>
                          <a:spcPct val="100000"/>
                        </a:lnSpc>
                        <a:spcBef>
                          <a:spcPts val="0"/>
                        </a:spcBef>
                        <a:spcAft>
                          <a:spcPts val="0"/>
                        </a:spcAft>
                        <a:buClr>
                          <a:srgbClr val="3C3C3B"/>
                        </a:buClr>
                        <a:buSzPts val="900"/>
                        <a:buFont typeface="Arial"/>
                        <a:buChar char="•"/>
                      </a:pPr>
                      <a:r>
                        <a:rPr b="0" i="0" lang="en-GB" sz="900" u="none" cap="none" strike="noStrike">
                          <a:solidFill>
                            <a:srgbClr val="3C3C3B"/>
                          </a:solidFill>
                          <a:latin typeface="Century Gothic"/>
                          <a:ea typeface="Century Gothic"/>
                          <a:cs typeface="Century Gothic"/>
                          <a:sym typeface="Century Gothic"/>
                        </a:rPr>
                        <a:t>Appropriate forecasting of product drivers throughout product life cycle eg sales/acquisition/subscription dynamics, return rates, </a:t>
                      </a:r>
                      <a:br>
                        <a:rPr b="0" i="0" lang="en-GB" sz="900" u="none" cap="none" strike="noStrike">
                          <a:solidFill>
                            <a:srgbClr val="3C3C3B"/>
                          </a:solidFill>
                          <a:latin typeface="Century Gothic"/>
                          <a:ea typeface="Century Gothic"/>
                          <a:cs typeface="Century Gothic"/>
                          <a:sym typeface="Century Gothic"/>
                        </a:rPr>
                      </a:br>
                      <a:r>
                        <a:rPr b="0" i="0" lang="en-GB" sz="900" u="none" cap="none" strike="noStrike">
                          <a:solidFill>
                            <a:srgbClr val="3C3C3B"/>
                          </a:solidFill>
                          <a:latin typeface="Century Gothic"/>
                          <a:ea typeface="Century Gothic"/>
                          <a:cs typeface="Century Gothic"/>
                          <a:sym typeface="Century Gothic"/>
                        </a:rPr>
                        <a:t>approval/rejection levels, fulfillment</a:t>
                      </a:r>
                      <a:br>
                        <a:rPr b="0" i="0" lang="en-GB" sz="900" u="none" cap="none" strike="noStrike">
                          <a:solidFill>
                            <a:srgbClr val="3C3C3B"/>
                          </a:solidFill>
                          <a:latin typeface="Century Gothic"/>
                          <a:ea typeface="Century Gothic"/>
                          <a:cs typeface="Century Gothic"/>
                          <a:sym typeface="Century Gothic"/>
                        </a:rPr>
                      </a:br>
                      <a:r>
                        <a:rPr b="0" i="0" lang="en-GB" sz="900" u="none" cap="none" strike="noStrike">
                          <a:solidFill>
                            <a:srgbClr val="3C3C3B"/>
                          </a:solidFill>
                          <a:latin typeface="Century Gothic"/>
                          <a:ea typeface="Century Gothic"/>
                          <a:cs typeface="Century Gothic"/>
                          <a:sym typeface="Century Gothic"/>
                        </a:rPr>
                        <a:t> characteristics, product behavior</a:t>
                      </a:r>
                      <a:br>
                        <a:rPr b="0" i="0" lang="en-GB" sz="900" u="none" cap="none" strike="noStrike">
                          <a:solidFill>
                            <a:srgbClr val="3C3C3B"/>
                          </a:solidFill>
                          <a:latin typeface="Century Gothic"/>
                          <a:ea typeface="Century Gothic"/>
                          <a:cs typeface="Century Gothic"/>
                          <a:sym typeface="Century Gothic"/>
                        </a:rPr>
                      </a:br>
                      <a:r>
                        <a:rPr b="0" i="0" lang="en-GB" sz="900" u="none" cap="none" strike="noStrike">
                          <a:solidFill>
                            <a:srgbClr val="3C3C3B"/>
                          </a:solidFill>
                          <a:latin typeface="Century Gothic"/>
                          <a:ea typeface="Century Gothic"/>
                          <a:cs typeface="Century Gothic"/>
                          <a:sym typeface="Century Gothic"/>
                        </a:rPr>
                        <a:t> matrices, product capacity movements and </a:t>
                      </a:r>
                      <a:br>
                        <a:rPr b="0" i="0" lang="en-GB" sz="900" u="none" cap="none" strike="noStrike">
                          <a:solidFill>
                            <a:srgbClr val="3C3C3B"/>
                          </a:solidFill>
                          <a:latin typeface="Century Gothic"/>
                          <a:ea typeface="Century Gothic"/>
                          <a:cs typeface="Century Gothic"/>
                          <a:sym typeface="Century Gothic"/>
                        </a:rPr>
                      </a:br>
                      <a:r>
                        <a:rPr b="0" i="0" lang="en-GB" sz="900" u="none" cap="none" strike="noStrike">
                          <a:solidFill>
                            <a:srgbClr val="3C3C3B"/>
                          </a:solidFill>
                          <a:latin typeface="Century Gothic"/>
                          <a:ea typeface="Century Gothic"/>
                          <a:cs typeface="Century Gothic"/>
                          <a:sym typeface="Century Gothic"/>
                        </a:rPr>
                        <a:t>channel dynamics etc.. </a:t>
                      </a:r>
                      <a:endParaRPr/>
                    </a:p>
                    <a:p>
                      <a:r>
                        <a:rPr sz="900">
                          <a:latin typeface="Century Gothic"/>
                        </a:rPr>
                        <a:t/>
                      </a:r>
                    </a:p>
                    <a:p>
                      <a:r>
                        <a:rPr sz="900">
                          <a:latin typeface="Century Gothic"/>
                        </a:rPr>
                        <a:t>Fully resourced product launch plan with channel-specific readiness checklist</a:t>
                      </a:r>
                    </a:p>
                    <a:p>
                      <a:r>
                        <a:rPr sz="900">
                          <a:latin typeface="Century Gothic"/>
                        </a:rPr>
                        <a:t>Reduced time-to-market through parallel workstream management</a:t>
                      </a:r>
                    </a:p>
                    <a:p>
                      <a:r>
                        <a:rPr sz="900">
                          <a:latin typeface="Century Gothic"/>
                        </a:rPr>
                        <a:t>SBP approval timeline integrated into launch planning</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pic>
        <p:nvPicPr>
          <p:cNvPr descr="BIZ-1037-L.jpg" id="6708" name="Google Shape;6708;p377"/>
          <p:cNvPicPr preferRelativeResize="0"/>
          <p:nvPr/>
        </p:nvPicPr>
        <p:blipFill rotWithShape="1">
          <a:blip r:embed="rId3">
            <a:alphaModFix/>
          </a:blip>
          <a:srcRect b="0" l="-15988" r="-15988" t="0"/>
          <a:stretch/>
        </p:blipFill>
        <p:spPr>
          <a:xfrm>
            <a:off x="5131765" y="794812"/>
            <a:ext cx="3343275" cy="1899940"/>
          </a:xfrm>
          <a:prstGeom prst="rect">
            <a:avLst/>
          </a:prstGeom>
          <a:noFill/>
          <a:ln>
            <a:noFill/>
          </a:ln>
        </p:spPr>
      </p:pic>
      <p:sp>
        <p:nvSpPr>
          <p:cNvPr id="6709" name="Google Shape;6709;p377">
            <a:hlinkClick action="ppaction://hlinksldjump" r:id="rId4"/>
          </p:cNvPr>
          <p:cNvSpPr/>
          <p:nvPr/>
        </p:nvSpPr>
        <p:spPr>
          <a:xfrm>
            <a:off x="6487285" y="-189267"/>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Product Introduction</a:t>
            </a:r>
            <a:endParaRPr sz="750">
              <a:solidFill>
                <a:schemeClr val="lt1"/>
              </a:solidFill>
              <a:latin typeface="Century Gothic"/>
              <a:ea typeface="Century Gothic"/>
              <a:cs typeface="Century Gothic"/>
              <a:sym typeface="Century Gothic"/>
            </a:endParaRPr>
          </a:p>
        </p:txBody>
      </p:sp>
      <p:grpSp>
        <p:nvGrpSpPr>
          <p:cNvPr id="6710" name="Google Shape;6710;p377"/>
          <p:cNvGrpSpPr/>
          <p:nvPr/>
        </p:nvGrpSpPr>
        <p:grpSpPr>
          <a:xfrm>
            <a:off x="7717533" y="4360377"/>
            <a:ext cx="1058348" cy="347375"/>
            <a:chOff x="7651698" y="4287227"/>
            <a:chExt cx="1058348" cy="347375"/>
          </a:xfrm>
        </p:grpSpPr>
        <p:grpSp>
          <p:nvGrpSpPr>
            <p:cNvPr id="6711" name="Google Shape;6711;p377"/>
            <p:cNvGrpSpPr/>
            <p:nvPr/>
          </p:nvGrpSpPr>
          <p:grpSpPr>
            <a:xfrm>
              <a:off x="7714163" y="4337598"/>
              <a:ext cx="995883" cy="297004"/>
              <a:chOff x="7711013" y="3986494"/>
              <a:chExt cx="995883" cy="297004"/>
            </a:xfrm>
          </p:grpSpPr>
          <p:sp>
            <p:nvSpPr>
              <p:cNvPr id="6712" name="Google Shape;6712;p377"/>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6713" name="Google Shape;6713;p377"/>
              <p:cNvGrpSpPr/>
              <p:nvPr/>
            </p:nvGrpSpPr>
            <p:grpSpPr>
              <a:xfrm>
                <a:off x="7711013" y="4002615"/>
                <a:ext cx="281520" cy="241973"/>
                <a:chOff x="5652748" y="4066000"/>
                <a:chExt cx="906498" cy="747974"/>
              </a:xfrm>
            </p:grpSpPr>
            <p:sp>
              <p:nvSpPr>
                <p:cNvPr id="6714" name="Google Shape;6714;p377"/>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6715" name="Google Shape;6715;p377"/>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6716" name="Google Shape;6716;p377"/>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6717" name="Google Shape;6717;p377">
              <a:hlinkClick action="ppaction://hlinksldjump" r:id="rId5"/>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2" name="Shape 6722"/>
        <p:cNvGrpSpPr/>
        <p:nvPr/>
      </p:nvGrpSpPr>
      <p:grpSpPr>
        <a:xfrm>
          <a:off x="0" y="0"/>
          <a:ext cx="0" cy="0"/>
          <a:chOff x="0" y="0"/>
          <a:chExt cx="0" cy="0"/>
        </a:xfrm>
      </p:grpSpPr>
      <p:graphicFrame>
        <p:nvGraphicFramePr>
          <p:cNvPr id="6723" name="Google Shape;6723;p378"/>
          <p:cNvGraphicFramePr/>
          <p:nvPr/>
        </p:nvGraphicFramePr>
        <p:xfrm>
          <a:off x="469899" y="789217"/>
          <a:ext cx="3000000" cy="3000000"/>
        </p:xfrm>
        <a:graphic>
          <a:graphicData uri="http://schemas.openxmlformats.org/drawingml/2006/table">
            <a:tbl>
              <a:tblPr bandRow="1" firstRow="1">
                <a:noFill/>
                <a:tableStyleId>{D098BFCB-6916-41F2-A2A5-0DF0D5139B6F}</a:tableStyleId>
              </a:tblPr>
              <a:tblGrid>
                <a:gridCol w="130325"/>
                <a:gridCol w="556275"/>
                <a:gridCol w="367500"/>
                <a:gridCol w="3170075"/>
                <a:gridCol w="3276050"/>
                <a:gridCol w="477150"/>
                <a:gridCol w="477150"/>
              </a:tblGrid>
              <a:tr h="172975">
                <a:tc gridSpan="3">
                  <a:txBody>
                    <a:bodyPr/>
                    <a:lstStyle/>
                    <a:p>
                      <a:pPr indent="0" lvl="0" marL="0" marR="0" rtl="0" algn="ctr">
                        <a:spcBef>
                          <a:spcPts val="0"/>
                        </a:spcBef>
                        <a:spcAft>
                          <a:spcPts val="0"/>
                        </a:spcAft>
                        <a:buNone/>
                      </a:pPr>
                      <a:r>
                        <a:rPr b="1" lang="en-GB" sz="1200">
                          <a:solidFill>
                            <a:schemeClr val="dk2"/>
                          </a:solidFill>
                        </a:rPr>
                        <a:t>Level</a:t>
                      </a:r>
                      <a:endParaRPr b="1" sz="12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hMerge="1">
                  <a:txBody>
                    <a:bodyPr/>
                    <a:p/>
                  </a:txBody>
                </a:tc>
                <a:tc gridSpan="2">
                  <a:txBody>
                    <a:bodyPr/>
                    <a:lstStyle/>
                    <a:p>
                      <a:pPr indent="0" lvl="0" marL="0" marR="0" rtl="0" algn="ctr">
                        <a:lnSpc>
                          <a:spcPct val="100000"/>
                        </a:lnSpc>
                        <a:spcBef>
                          <a:spcPts val="0"/>
                        </a:spcBef>
                        <a:spcAft>
                          <a:spcPts val="0"/>
                        </a:spcAft>
                        <a:buClr>
                          <a:schemeClr val="dk2"/>
                        </a:buClr>
                        <a:buSzPts val="1200"/>
                        <a:buFont typeface="Century Gothic"/>
                        <a:buNone/>
                      </a:pPr>
                      <a:r>
                        <a:rPr b="1" lang="en-GB" sz="1200">
                          <a:solidFill>
                            <a:schemeClr val="dk2"/>
                          </a:solidFill>
                        </a:rPr>
                        <a:t>Maturity Statement</a:t>
                      </a:r>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rPr b="1" lang="en-GB" sz="800">
                          <a:solidFill>
                            <a:schemeClr val="dk2"/>
                          </a:solidFill>
                        </a:rPr>
                        <a:t>Current</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rPr b="1" lang="en-GB" sz="800">
                          <a:solidFill>
                            <a:schemeClr val="dk2"/>
                          </a:solidFill>
                        </a:rPr>
                        <a:t>Desired</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47655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06C1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Leading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just">
                        <a:lnSpc>
                          <a:spcPct val="100000"/>
                        </a:lnSpc>
                        <a:spcBef>
                          <a:spcPts val="0"/>
                        </a:spcBef>
                        <a:spcAft>
                          <a:spcPts val="0"/>
                        </a:spcAft>
                        <a:buClr>
                          <a:schemeClr val="dk1"/>
                        </a:buClr>
                        <a:buSzPts val="700"/>
                        <a:buFont typeface="Century Gothic"/>
                        <a:buNone/>
                      </a:pPr>
                      <a:r>
                        <a:rPr b="0" lang="en-GB" sz="700">
                          <a:solidFill>
                            <a:schemeClr val="dk1"/>
                          </a:solidFill>
                          <a:latin typeface="Century Gothic"/>
                          <a:ea typeface="Century Gothic"/>
                          <a:cs typeface="Century Gothic"/>
                          <a:sym typeface="Century Gothic"/>
                        </a:rPr>
                        <a:t>Full automation of all workflow driven processes from campaign design to final approvals. Full organizational alignment and integration across channels, functions and business units. Detailed SLAs for fulfillment coupled with transformed culture of collaboration. End to end product management and complete supply chain visibility. “What if” analytics well entrenched.  Unified pricing, campaign and Product suite modeling. Consider near real time competitor product proposition and pricing analytics. Incorporate customer segment definitions into product portfolio (range) planning process to support customer-centric product management across all channels. Track performance of product campaigns in near real time.</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39515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F7513"/>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Innovating</a:t>
                      </a:r>
                      <a:endParaRPr/>
                    </a:p>
                    <a:p>
                      <a:pPr indent="0" lvl="0" marL="0" marR="0" rtl="0" algn="ctr">
                        <a:spcBef>
                          <a:spcPts val="0"/>
                        </a:spcBef>
                        <a:spcAft>
                          <a:spcPts val="0"/>
                        </a:spcAft>
                        <a:buNone/>
                      </a:pPr>
                      <a:r>
                        <a:t/>
                      </a:r>
                      <a:endParaRPr b="1" sz="1000">
                        <a:solidFill>
                          <a:schemeClr val="dk2"/>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just">
                        <a:lnSpc>
                          <a:spcPct val="100000"/>
                        </a:lnSpc>
                        <a:spcBef>
                          <a:spcPts val="0"/>
                        </a:spcBef>
                        <a:spcAft>
                          <a:spcPts val="0"/>
                        </a:spcAft>
                        <a:buClr>
                          <a:schemeClr val="dk1"/>
                        </a:buClr>
                        <a:buSzPts val="700"/>
                        <a:buFont typeface="Century Gothic"/>
                        <a:buNone/>
                      </a:pPr>
                      <a:r>
                        <a:rPr b="0" lang="en-GB" sz="700">
                          <a:solidFill>
                            <a:schemeClr val="dk1"/>
                          </a:solidFill>
                          <a:latin typeface="Century Gothic"/>
                          <a:ea typeface="Century Gothic"/>
                          <a:cs typeface="Century Gothic"/>
                          <a:sym typeface="Century Gothic"/>
                        </a:rPr>
                        <a:t>Automation of cross-function approvals. Extensive cooperation, with integration between most functions. SLAs in place for fulfillment and delivery. average demand forecasting practices and tools for multiple product/ service suite. “Buy from anywhere, fulfill from  anywhere” capability enabled.  Automated fulfillment  via  parameters and rules. Full automation of new product introduction and history. Product suite optimized for key customer segments. Rationalization of technology providers and product suite based on margin and profitability. analyze product/service continuum gaps. Integrate campaign planning, marketing and product capacity planning. Robust calculation of campaign ROI </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3975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C891C"/>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Practicing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just">
                        <a:lnSpc>
                          <a:spcPct val="100000"/>
                        </a:lnSpc>
                        <a:spcBef>
                          <a:spcPts val="0"/>
                        </a:spcBef>
                        <a:spcAft>
                          <a:spcPts val="0"/>
                        </a:spcAft>
                        <a:buClr>
                          <a:schemeClr val="dk1"/>
                        </a:buClr>
                        <a:buSzPts val="700"/>
                        <a:buFont typeface="Century Gothic"/>
                        <a:buNone/>
                      </a:pPr>
                      <a:r>
                        <a:rPr b="0" lang="en-GB" sz="700">
                          <a:solidFill>
                            <a:schemeClr val="dk1"/>
                          </a:solidFill>
                          <a:latin typeface="Century Gothic"/>
                          <a:ea typeface="Century Gothic"/>
                          <a:cs typeface="Century Gothic"/>
                          <a:sym typeface="Century Gothic"/>
                        </a:rPr>
                        <a:t>Cross-function flows still manual but using electronic means. Close alignment among channels and functions, with high level cross-functional cooperation, but on a project-by-project basis. Enterprise product capacity visibility enabled. Seasonal forecasting practiced. Automated adjustment of product and location service levels based on product lifecycle stage. Assign products to branch clusters using profile-based attributes such as demographics/ lifestyle, financial profile and perception. Product/ service continuum planning to enable improved take-up rates. Competitor product suite  and pricing tracked. Leverage elasticity models for product campaign and promo product capacity management</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lnSpc>
                          <a:spcPct val="100000"/>
                        </a:lnSpc>
                        <a:spcBef>
                          <a:spcPts val="0"/>
                        </a:spcBef>
                        <a:spcAft>
                          <a:spcPts val="0"/>
                        </a:spcAft>
                        <a:buClr>
                          <a:schemeClr val="dk1"/>
                        </a:buClr>
                        <a:buSzPts val="1400"/>
                        <a:buFont typeface="Century Gothic"/>
                        <a:buNone/>
                      </a:pPr>
                      <a:r>
                        <a:t/>
                      </a:r>
                      <a:endParaRPr sz="1400">
                        <a:solidFill>
                          <a:schemeClr val="dk1"/>
                        </a:solidFill>
                        <a:latin typeface="Noto Sans Symbols"/>
                        <a:ea typeface="Noto Sans Symbols"/>
                        <a:cs typeface="Noto Sans Symbols"/>
                        <a:sym typeface="Noto Sans Symbols"/>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2935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E9B4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Developing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just">
                        <a:lnSpc>
                          <a:spcPct val="100000"/>
                        </a:lnSpc>
                        <a:spcBef>
                          <a:spcPts val="0"/>
                        </a:spcBef>
                        <a:spcAft>
                          <a:spcPts val="0"/>
                        </a:spcAft>
                        <a:buClr>
                          <a:schemeClr val="dk1"/>
                        </a:buClr>
                        <a:buSzPts val="700"/>
                        <a:buFont typeface="Century Gothic"/>
                        <a:buNone/>
                      </a:pPr>
                      <a:r>
                        <a:rPr b="0" lang="en-GB" sz="700">
                          <a:solidFill>
                            <a:schemeClr val="dk1"/>
                          </a:solidFill>
                          <a:latin typeface="Century Gothic"/>
                          <a:ea typeface="Century Gothic"/>
                          <a:cs typeface="Century Gothic"/>
                          <a:sym typeface="Century Gothic"/>
                        </a:rPr>
                        <a:t>Improved cross-functional communications during planning process. Basic alignment of some functions and channels. Leverage predictive forecasting practices/ tools  for basic items. New product forecast done via manual historical tracking of similar products/ services. Actual versus Plan reporting to manage performance and adjust future plans. Financial plans and drivers are reconciled to ensure direction and strategy.</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04925">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F1AE65"/>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Emerging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just">
                        <a:lnSpc>
                          <a:spcPct val="100000"/>
                        </a:lnSpc>
                        <a:spcBef>
                          <a:spcPts val="0"/>
                        </a:spcBef>
                        <a:spcAft>
                          <a:spcPts val="0"/>
                        </a:spcAft>
                        <a:buClr>
                          <a:schemeClr val="dk1"/>
                        </a:buClr>
                        <a:buSzPts val="700"/>
                        <a:buFont typeface="Century Gothic"/>
                        <a:buNone/>
                      </a:pPr>
                      <a:r>
                        <a:rPr b="0" lang="en-GB" sz="700">
                          <a:solidFill>
                            <a:schemeClr val="dk1"/>
                          </a:solidFill>
                          <a:latin typeface="Century Gothic"/>
                          <a:ea typeface="Century Gothic"/>
                          <a:cs typeface="Century Gothic"/>
                          <a:sym typeface="Century Gothic"/>
                        </a:rPr>
                        <a:t>Basic forecasting and allocation practices. No enterprise view of product capacity ownership. Go-to-market processes and cycle for each functional unit is lengthy, manual and non-aligned. Siloed processes in place but no cross-function or business cooperation. Promotional product capacity based on historical trends. Little variability in product portfolios</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169050">
                <a:tc gridSpan="3">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Priority</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hMerge="1">
                  <a:txBody>
                    <a:bodyPr/>
                    <a:p/>
                  </a:txBody>
                </a:tc>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Key areas for improvement</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Benefits from uplift</a:t>
                      </a:r>
                      <a:endParaRPr b="1" sz="1000">
                        <a:solidFill>
                          <a:schemeClr val="dk2"/>
                        </a:solidFill>
                        <a:latin typeface="Century Gothic"/>
                        <a:ea typeface="Century Gothic"/>
                        <a:cs typeface="Century Gothic"/>
                        <a:sym typeface="Century Gothic"/>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a:txBody>
                    <a:bodyPr/>
                    <a:lstStyle/>
                    <a:p>
                      <a:pPr indent="0" lvl="0" marL="0" marR="0" rtl="0" algn="ctr">
                        <a:spcBef>
                          <a:spcPts val="0"/>
                        </a:spcBef>
                        <a:spcAft>
                          <a:spcPts val="0"/>
                        </a:spcAft>
                        <a:buNone/>
                      </a:pPr>
                      <a:r>
                        <a:rPr b="1" lang="en-GB" sz="1000">
                          <a:solidFill>
                            <a:schemeClr val="dk2"/>
                          </a:solidFill>
                        </a:rPr>
                        <a:t>Timeframe</a:t>
                      </a:r>
                      <a:endParaRPr b="1" sz="1000">
                        <a:solidFill>
                          <a:schemeClr val="dk2"/>
                        </a:solidFill>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r>
              <a:tr h="232675">
                <a:tc gridSpan="2">
                  <a:txBody>
                    <a:bodyPr/>
                    <a:lstStyle/>
                    <a:p>
                      <a:pPr indent="0" lvl="0" marL="0" marR="0" rtl="0" algn="ctr">
                        <a:spcBef>
                          <a:spcPts val="0"/>
                        </a:spcBef>
                        <a:spcAft>
                          <a:spcPts val="0"/>
                        </a:spcAft>
                        <a:buNone/>
                      </a:pPr>
                      <a:r>
                        <a:rPr b="1" lang="en-GB" sz="800">
                          <a:solidFill>
                            <a:schemeClr val="dk1"/>
                          </a:solidFill>
                        </a:rPr>
                        <a:t>High</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rPr lang="en-GB" sz="1000">
                          <a:solidFill>
                            <a:schemeClr val="dk1"/>
                          </a:solidFill>
                          <a:latin typeface="Noto Sans Symbols"/>
                          <a:ea typeface="Noto Sans Symbols"/>
                          <a:cs typeface="Noto Sans Symbols"/>
                          <a:sym typeface="Noto Sans Symbols"/>
                        </a:rPr>
                        <a:t>✔</a:t>
                      </a:r>
                      <a:endParaRPr b="1" sz="10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0" lvl="0" marL="0" marR="0" rtl="0" algn="l">
                        <a:lnSpc>
                          <a:spcPct val="100000"/>
                        </a:lnSpc>
                        <a:spcBef>
                          <a:spcPts val="0"/>
                        </a:spcBef>
                        <a:spcAft>
                          <a:spcPts val="0"/>
                        </a:spcAft>
                        <a:buClr>
                          <a:schemeClr val="dk1"/>
                        </a:buClr>
                        <a:buSzPts val="800"/>
                        <a:buFont typeface="Arial"/>
                        <a:buNone/>
                      </a:pPr>
                      <a:r>
                        <a:rPr sz="800" b="0">
                          <a:latin typeface="Century Gothic"/>
                        </a:rPr>
                        <a:t>Pakistan priority improvements:</a:t>
                      </a:r>
                      <a:endParaRPr/>
                    </a:p>
                    <a:p>
                      <a:r>
                        <a:rPr sz="800" b="0">
                          <a:latin typeface="Century Gothic"/>
                        </a:rPr>
                        <a:t>Multi-channel GTM planning: 16,000+ branches, digital, ATM, agent network</a:t>
                      </a:r>
                    </a:p>
                    <a:p>
                      <a:r>
                        <a:rPr sz="800" b="0">
                          <a:latin typeface="Century Gothic"/>
                        </a:rPr>
                        <a:t>SBP NOC timeline integration in product launch planning</a:t>
                      </a:r>
                    </a:p>
                    <a:p>
                      <a:r>
                        <a:rPr sz="800" b="0">
                          <a:latin typeface="Century Gothic"/>
                        </a:rPr>
                        <a:t>Bilingual marketing collateral management (Urdu + English)</a:t>
                      </a:r>
                    </a:p>
                    <a:p>
                      <a:r>
                        <a:rPr sz="800" b="0">
                          <a:latin typeface="Century Gothic"/>
                        </a:rPr>
                        <a:t>Core banking configuration management across 4-5 systems</a:t>
                      </a:r>
                    </a:p>
                    <a:p>
                      <a:r>
                        <a:rPr sz="800" b="0">
                          <a:latin typeface="Century Gothic"/>
                        </a:rPr>
                        <a:t>Islamic product launch checklist: Shariah board + SBP + marketing + CBS config</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285750" lvl="0" marL="285750" marR="0" rtl="0" algn="l">
                        <a:spcBef>
                          <a:spcPts val="0"/>
                        </a:spcBef>
                        <a:spcAft>
                          <a:spcPts val="0"/>
                        </a:spcAft>
                        <a:buClr>
                          <a:schemeClr val="dk1"/>
                        </a:buClr>
                        <a:buSzPts val="800"/>
                        <a:buFont typeface="Arial"/>
                        <a:buChar char="•"/>
                      </a:pPr>
                      <a:r>
                        <a:rPr sz="800">
                          <a:latin typeface="Century Gothic"/>
                        </a:rPr>
                        <a:t>Reduced time-to-market through parallel workstream management</a:t>
                      </a:r>
                      <a:endParaRPr/>
                    </a:p>
                    <a:p>
                      <a:r>
                        <a:rPr sz="800">
                          <a:latin typeface="Century Gothic"/>
                        </a:rPr>
                        <a:t>Complete channel readiness at launch (branch training, digital UX, CBS config)</a:t>
                      </a:r>
                    </a:p>
                    <a:p>
                      <a:r>
                        <a:rPr sz="800">
                          <a:latin typeface="Century Gothic"/>
                        </a:rPr>
                        <a:t>SBP approval integrated into standard product launch methodology</a:t>
                      </a:r>
                    </a:p>
                    <a:p>
                      <a:r>
                        <a:rPr sz="800">
                          <a:latin typeface="Century Gothic"/>
                        </a:rPr>
                        <a:t>Consistent product experience across all channels from day one</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rowSpan="3">
                  <a:txBody>
                    <a:bodyPr/>
                    <a:lstStyle/>
                    <a:p>
                      <a:pPr indent="0" lvl="0" marL="0" marR="0" rtl="0" algn="ctr">
                        <a:lnSpc>
                          <a:spcPct val="100000"/>
                        </a:lnSpc>
                        <a:spcBef>
                          <a:spcPts val="0"/>
                        </a:spcBef>
                        <a:spcAft>
                          <a:spcPts val="0"/>
                        </a:spcAft>
                        <a:buClr>
                          <a:schemeClr val="dk1"/>
                        </a:buClr>
                        <a:buSzPts val="800"/>
                        <a:buFont typeface="Century Gothic"/>
                        <a:buNone/>
                      </a:pPr>
                      <a:r>
                        <a:rPr b="0" lang="en-GB" sz="800">
                          <a:solidFill>
                            <a:schemeClr val="dk1"/>
                          </a:solidFill>
                        </a:rPr>
                        <a:t>2025-2027</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hMerge="1">
                  <a:txBody>
                    <a:bodyPr/>
                    <a:p/>
                  </a:txBody>
                </a:tc>
              </a:tr>
              <a:tr h="232675">
                <a:tc gridSpan="2">
                  <a:txBody>
                    <a:bodyPr/>
                    <a:lstStyle/>
                    <a:p>
                      <a:pPr indent="0" lvl="0" marL="0" marR="0" rtl="0" algn="ctr">
                        <a:spcBef>
                          <a:spcPts val="0"/>
                        </a:spcBef>
                        <a:spcAft>
                          <a:spcPts val="0"/>
                        </a:spcAft>
                        <a:buNone/>
                      </a:pPr>
                      <a:r>
                        <a:rPr b="1" lang="en-GB" sz="800">
                          <a:solidFill>
                            <a:schemeClr val="dk1"/>
                          </a:solidFill>
                        </a:rPr>
                        <a:t>Medium</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xBody>
                    <a:bodyPr/>
                    <a:p/>
                  </a:txBody>
                </a:tc>
                <a:tc vMerge="1">
                  <a:txBody>
                    <a:bodyPr/>
                    <a:p/>
                  </a:txBody>
                </a:tc>
                <a:tc gridSpan="2" vMerge="1">
                  <a:txBody>
                    <a:bodyPr/>
                    <a:p/>
                  </a:txBody>
                </a:tc>
                <a:tc hMerge="1" vMerge="1">
                  <a:txBody>
                    <a:bodyPr/>
                    <a:p/>
                  </a:txBody>
                </a:tc>
              </a:tr>
              <a:tr h="232675">
                <a:tc gridSpan="2">
                  <a:txBody>
                    <a:bodyPr/>
                    <a:lstStyle/>
                    <a:p>
                      <a:pPr indent="0" lvl="0" marL="0" marR="0" rtl="0" algn="ctr">
                        <a:spcBef>
                          <a:spcPts val="0"/>
                        </a:spcBef>
                        <a:spcAft>
                          <a:spcPts val="0"/>
                        </a:spcAft>
                        <a:buNone/>
                      </a:pPr>
                      <a:r>
                        <a:rPr b="1" lang="en-GB" sz="800">
                          <a:solidFill>
                            <a:schemeClr val="dk1"/>
                          </a:solidFill>
                        </a:rPr>
                        <a:t>Low</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xBody>
                    <a:bodyPr/>
                    <a:p/>
                  </a:txBody>
                </a:tc>
                <a:tc vMerge="1">
                  <a:txBody>
                    <a:bodyPr/>
                    <a:p/>
                  </a:txBody>
                </a:tc>
                <a:tc gridSpan="2" vMerge="1">
                  <a:txBody>
                    <a:bodyPr/>
                    <a:p/>
                  </a:txBody>
                </a:tc>
                <a:tc hMerge="1" vMerge="1">
                  <a:txBody>
                    <a:bodyPr/>
                    <a:p/>
                  </a:txBody>
                </a:tc>
              </a:tr>
            </a:tbl>
          </a:graphicData>
        </a:graphic>
      </p:graphicFrame>
      <p:grpSp>
        <p:nvGrpSpPr>
          <p:cNvPr id="6724" name="Google Shape;6724;p378"/>
          <p:cNvGrpSpPr/>
          <p:nvPr/>
        </p:nvGrpSpPr>
        <p:grpSpPr>
          <a:xfrm>
            <a:off x="7971865" y="980278"/>
            <a:ext cx="949325" cy="3024885"/>
            <a:chOff x="7941888" y="1062037"/>
            <a:chExt cx="983037" cy="2695575"/>
          </a:xfrm>
        </p:grpSpPr>
        <p:sp>
          <p:nvSpPr>
            <p:cNvPr id="6725" name="Google Shape;6725;p378"/>
            <p:cNvSpPr/>
            <p:nvPr/>
          </p:nvSpPr>
          <p:spPr>
            <a:xfrm>
              <a:off x="7941889" y="1062037"/>
              <a:ext cx="983036" cy="2695575"/>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rgbClr val="3C3C3B"/>
                </a:solidFill>
                <a:latin typeface="Century Gothic"/>
                <a:ea typeface="Century Gothic"/>
                <a:cs typeface="Century Gothic"/>
                <a:sym typeface="Century Gothic"/>
              </a:endParaRPr>
            </a:p>
          </p:txBody>
        </p:sp>
        <p:sp>
          <p:nvSpPr>
            <p:cNvPr id="6726" name="Google Shape;6726;p378"/>
            <p:cNvSpPr/>
            <p:nvPr/>
          </p:nvSpPr>
          <p:spPr>
            <a:xfrm>
              <a:off x="7941888" y="2052586"/>
              <a:ext cx="983037" cy="714476"/>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rgbClr val="3C3C3B"/>
                  </a:solidFill>
                  <a:latin typeface="Century Gothic"/>
                  <a:ea typeface="Century Gothic"/>
                  <a:cs typeface="Century Gothic"/>
                  <a:sym typeface="Century Gothic"/>
                </a:rPr>
                <a:t/>
              </a:r>
              <a:endParaRPr/>
            </a:p>
            <a:p>
              <a:pPr indent="0" lvl="0" marL="0" marR="0" rtl="0" algn="ctr">
                <a:spcBef>
                  <a:spcPts val="0"/>
                </a:spcBef>
                <a:spcAft>
                  <a:spcPts val="0"/>
                </a:spcAft>
                <a:buNone/>
              </a:pPr>
              <a:r>
                <a:rPr lang="en-GB" sz="800">
                  <a:solidFill>
                    <a:srgbClr val="3C3C3B"/>
                  </a:solidFill>
                  <a:latin typeface="Century Gothic"/>
                  <a:ea typeface="Century Gothic"/>
                  <a:cs typeface="Century Gothic"/>
                  <a:sym typeface="Century Gothic"/>
                </a:rPr>
                <a:t/>
              </a:r>
              <a:endParaRPr/>
            </a:p>
          </p:txBody>
        </p:sp>
      </p:grpSp>
      <p:sp>
        <p:nvSpPr>
          <p:cNvPr id="6727" name="Google Shape;6727;p378"/>
          <p:cNvSpPr txBox="1"/>
          <p:nvPr>
            <p:ph type="title"/>
          </p:nvPr>
        </p:nvSpPr>
        <p:spPr>
          <a:xfrm>
            <a:off x="457200" y="173736"/>
            <a:ext cx="8229600" cy="704088"/>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Plan Product Investments to Support Go-To-Market Strategy </a:t>
            </a:r>
            <a:endParaRPr/>
          </a:p>
        </p:txBody>
      </p:sp>
      <p:sp>
        <p:nvSpPr>
          <p:cNvPr id="6728" name="Google Shape;6728;p378">
            <a:hlinkClick action="ppaction://hlinksldjump" r:id="rId3"/>
          </p:cNvPr>
          <p:cNvSpPr/>
          <p:nvPr/>
        </p:nvSpPr>
        <p:spPr>
          <a:xfrm>
            <a:off x="6487285" y="-189267"/>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Product Introduction</a:t>
            </a:r>
            <a:endParaRPr sz="750">
              <a:solidFill>
                <a:schemeClr val="lt1"/>
              </a:solidFill>
              <a:latin typeface="Century Gothic"/>
              <a:ea typeface="Century Gothic"/>
              <a:cs typeface="Century Gothic"/>
              <a:sym typeface="Century Gothic"/>
            </a:endParaRPr>
          </a:p>
        </p:txBody>
      </p:sp>
      <p:grpSp>
        <p:nvGrpSpPr>
          <p:cNvPr id="6729" name="Google Shape;6729;p378"/>
          <p:cNvGrpSpPr/>
          <p:nvPr/>
        </p:nvGrpSpPr>
        <p:grpSpPr>
          <a:xfrm>
            <a:off x="469900" y="3994338"/>
            <a:ext cx="8455025" cy="732866"/>
            <a:chOff x="211138" y="3972860"/>
            <a:chExt cx="8713787" cy="642437"/>
          </a:xfrm>
        </p:grpSpPr>
        <p:sp>
          <p:nvSpPr>
            <p:cNvPr id="6730" name="Google Shape;6730;p378"/>
            <p:cNvSpPr/>
            <p:nvPr/>
          </p:nvSpPr>
          <p:spPr>
            <a:xfrm>
              <a:off x="211138" y="3972860"/>
              <a:ext cx="8713787" cy="642437"/>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6731" name="Google Shape;6731;p378"/>
            <p:cNvSpPr/>
            <p:nvPr/>
          </p:nvSpPr>
          <p:spPr>
            <a:xfrm>
              <a:off x="3692726" y="3982349"/>
              <a:ext cx="1753883" cy="632948"/>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36" name="Shape 6736"/>
        <p:cNvGrpSpPr/>
        <p:nvPr/>
      </p:nvGrpSpPr>
      <p:grpSpPr>
        <a:xfrm>
          <a:off x="0" y="0"/>
          <a:ext cx="0" cy="0"/>
          <a:chOff x="0" y="0"/>
          <a:chExt cx="0" cy="0"/>
        </a:xfrm>
      </p:grpSpPr>
      <p:cxnSp>
        <p:nvCxnSpPr>
          <p:cNvPr id="6737" name="Google Shape;6737;p379"/>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graphicFrame>
        <p:nvGraphicFramePr>
          <p:cNvPr id="6738" name="Google Shape;6738;p379"/>
          <p:cNvGraphicFramePr/>
          <p:nvPr/>
        </p:nvGraphicFramePr>
        <p:xfrm>
          <a:off x="550863" y="840178"/>
          <a:ext cx="3000000" cy="3000000"/>
        </p:xfrm>
        <a:graphic>
          <a:graphicData uri="http://schemas.openxmlformats.org/drawingml/2006/table">
            <a:tbl>
              <a:tblPr bandRow="1" firstRow="1">
                <a:noFill/>
                <a:tableStyleId>{D098BFCB-6916-41F2-A2A5-0DF0D5139B6F}</a:tableStyleId>
              </a:tblPr>
              <a:tblGrid>
                <a:gridCol w="4046525"/>
                <a:gridCol w="169325"/>
                <a:gridCol w="4292400"/>
              </a:tblGrid>
              <a:tr h="216000">
                <a:tc>
                  <a:txBody>
                    <a:bodyPr/>
                    <a:lstStyle/>
                    <a:p>
                      <a:pPr indent="0" lvl="0" marL="0" marR="0" rtl="0" algn="l">
                        <a:spcBef>
                          <a:spcPts val="0"/>
                        </a:spcBef>
                        <a:spcAft>
                          <a:spcPts val="0"/>
                        </a:spcAft>
                        <a:buNone/>
                      </a:pPr>
                      <a:r>
                        <a:rPr b="1" lang="en-GB" sz="1400">
                          <a:solidFill>
                            <a:schemeClr val="dk2"/>
                          </a:solidFill>
                        </a:rPr>
                        <a:t>Business Objectives</a:t>
                      </a:r>
                      <a:endParaRPr b="1" sz="1400">
                        <a:solidFill>
                          <a:schemeClr val="dk2"/>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Optimize the process of onboarding new products and predicting the impact on business performance and customer behavior.</a:t>
                      </a:r>
                      <a:endParaRPr/>
                    </a:p>
                    <a:p>
                      <a:pPr indent="-85725" lvl="0" marL="85725" marR="0" rtl="0" algn="l">
                        <a:spcBef>
                          <a:spcPts val="0"/>
                        </a:spcBef>
                        <a:spcAft>
                          <a:spcPts val="0"/>
                        </a:spcAft>
                        <a:buClr>
                          <a:schemeClr val="dk1"/>
                        </a:buClr>
                        <a:buSzPts val="900"/>
                        <a:buFont typeface="Arial"/>
                        <a:buChar char="•"/>
                      </a:pPr>
                      <a:r>
                        <a:rPr b="0" lang="en-GB" sz="900">
                          <a:solidFill>
                            <a:schemeClr val="dk1"/>
                          </a:solidFill>
                        </a:rPr>
                        <a:t>Attain</a:t>
                      </a:r>
                      <a:r>
                        <a:rPr b="0" lang="en-GB" sz="900">
                          <a:solidFill>
                            <a:schemeClr val="dk1"/>
                          </a:solidFill>
                        </a:rPr>
                        <a:t> a detailed understanding of a new product launch on the whole business ; e.g. commercial, customer, operations, risk, architecture, existing products.</a:t>
                      </a:r>
                      <a:endParaRPr/>
                    </a:p>
                    <a:p>
                      <a:pPr indent="-85725" lvl="0" marL="85725" marR="0" rtl="0" algn="l">
                        <a:spcBef>
                          <a:spcPts val="0"/>
                        </a:spcBef>
                        <a:spcAft>
                          <a:spcPts val="0"/>
                        </a:spcAft>
                        <a:buClr>
                          <a:schemeClr val="dk1"/>
                        </a:buClr>
                        <a:buSzPts val="900"/>
                        <a:buFont typeface="Arial"/>
                        <a:buChar char="•"/>
                      </a:pPr>
                      <a:r>
                        <a:rPr b="0" lang="en-GB" sz="900">
                          <a:solidFill>
                            <a:schemeClr val="dk1"/>
                          </a:solidFill>
                        </a:rPr>
                        <a:t>Proactively identify process friction points or points of failure that could be detrimental to customer experience.</a:t>
                      </a:r>
                      <a:endParaRPr/>
                    </a:p>
                    <a:p>
                      <a:pPr indent="-85725" lvl="0" marL="85725" marR="0" rtl="0" algn="l">
                        <a:spcBef>
                          <a:spcPts val="0"/>
                        </a:spcBef>
                        <a:spcAft>
                          <a:spcPts val="0"/>
                        </a:spcAft>
                        <a:buClr>
                          <a:schemeClr val="dk1"/>
                        </a:buClr>
                        <a:buSzPts val="900"/>
                        <a:buFont typeface="Arial"/>
                        <a:buChar char="•"/>
                      </a:pPr>
                      <a:r>
                        <a:rPr b="0" lang="en-GB" sz="900">
                          <a:solidFill>
                            <a:schemeClr val="dk1"/>
                          </a:solidFill>
                        </a:rPr>
                        <a:t>Proactively plan, mobilise, and educate resources ahead of the release of a new product or new marketing campaign.</a:t>
                      </a:r>
                      <a:endParaRPr/>
                    </a:p>
                    <a:p>
                      <a:pPr indent="-85725" lvl="0" marL="85725" marR="0" rtl="0" algn="l">
                        <a:spcBef>
                          <a:spcPts val="0"/>
                        </a:spcBef>
                        <a:spcAft>
                          <a:spcPts val="0"/>
                        </a:spcAft>
                        <a:buClr>
                          <a:schemeClr val="dk1"/>
                        </a:buClr>
                        <a:buSzPts val="900"/>
                        <a:buFont typeface="Arial"/>
                        <a:buChar char="•"/>
                      </a:pPr>
                      <a:r>
                        <a:rPr b="0" lang="en-GB" sz="900">
                          <a:solidFill>
                            <a:schemeClr val="dk1"/>
                          </a:solidFill>
                        </a:rPr>
                        <a:t>Understand and plan for potential market and competitor reaction.</a:t>
                      </a:r>
                      <a:endParaRPr/>
                    </a:p>
                    <a:p>
                      <a:r>
                        <a:rPr sz="900"/>
                        <a:t/>
                      </a:r>
                    </a:p>
                    <a:p>
                      <a:r>
                        <a:rPr sz="900"/>
                        <a:t>Pakistan digital onboarding has 40-60% dropoff rate at NADRA biometric verification step</a:t>
                      </a:r>
                    </a:p>
                    <a:p>
                      <a:r>
                        <a:rPr sz="900"/>
                        <a:t>Optimize product onboarding: account opening (7-14 days → &lt;1 day), loan origination (21-45 days → &lt;7 days)</a:t>
                      </a:r>
                    </a:p>
                    <a:p>
                      <a:r>
                        <a:rPr sz="900"/>
                        <a:t>Card issuance optimization: 14-30 days → &lt;5 days</a:t>
                      </a:r>
                    </a:p>
                    <a:p>
                      <a:r>
                        <a:rPr sz="900"/>
                        <a:t>Track onboarding funnel: application → document submission → NADRA → KYC → activation → first transaction</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xBody>
                    <a:bodyPr/>
                    <a:p/>
                  </a:txBody>
                </a:tc>
                <a:tc vMerge="1">
                  <a:txBody>
                    <a:bodyPr/>
                    <a:p/>
                  </a:txBody>
                </a:tc>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p>
                      <a:r>
                        <a:rPr sz="800" b="1">
                          <a:solidFill>
                            <a:srgbClr val="006699"/>
                          </a:solidFill>
                        </a:rPr>
                        <a:t>FSDM: Customer_Journey, Interaction_Event, Channel_Session, Service_Request, Process_Step, Wait_Time_Metric</a:t>
                      </a:r>
                    </a:p>
                    <a:p>
                      <a:r>
                        <a:rPr sz="800" i="1">
                          <a:solidFill>
                            <a:srgbClr val="008040"/>
                          </a:solidFill>
                        </a:rPr>
                        <a:t>Pakistan: Branch queue management, ATM uptime correlation, mobile app crash analytics, RAAST transaction experience, complaint resolution SLA tracking per SBP guidelines</a:t>
                      </a: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Leverage previous launch customer purchase and response history.</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Current products utilisation.</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Product adoption data.</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Price and promotion data.</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Customer behavior data.</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Contact centre staffing and skills data</a:t>
                      </a:r>
                      <a:endParaRPr/>
                    </a:p>
                    <a:p>
                      <a:pPr indent="0" lvl="0" marL="0" marR="0" rtl="0" algn="l">
                        <a:spcBef>
                          <a:spcPts val="0"/>
                        </a:spcBef>
                        <a:spcAft>
                          <a:spcPts val="0"/>
                        </a:spcAft>
                        <a:buClr>
                          <a:schemeClr val="dk1"/>
                        </a:buClr>
                        <a:buSzPts val="900"/>
                        <a:buFont typeface="Arial"/>
                        <a:buNone/>
                      </a:pPr>
                      <a:r>
                        <a:rPr b="1" lang="en-GB" sz="900">
                          <a:solidFill>
                            <a:schemeClr val="dk1"/>
                          </a:solidFill>
                        </a:rPr>
                        <a:t>Solution / Analytics</a:t>
                      </a:r>
                      <a:endParaRPr/>
                    </a:p>
                    <a:p>
                      <a:pPr indent="-179388" lvl="0" marL="179388" marR="0" rtl="0" algn="l">
                        <a:lnSpc>
                          <a:spcPct val="100000"/>
                        </a:lnSpc>
                        <a:spcBef>
                          <a:spcPts val="0"/>
                        </a:spcBef>
                        <a:spcAft>
                          <a:spcPts val="0"/>
                        </a:spcAft>
                        <a:buClr>
                          <a:schemeClr val="dk1"/>
                        </a:buClr>
                        <a:buSzPts val="900"/>
                        <a:buFont typeface="Arial"/>
                        <a:buChar char="•"/>
                      </a:pPr>
                      <a:r>
                        <a:rPr b="0" lang="en-GB" sz="900">
                          <a:solidFill>
                            <a:schemeClr val="dk1"/>
                          </a:solidFill>
                        </a:rPr>
                        <a:t>What if simulation.</a:t>
                      </a:r>
                      <a:endParaRPr/>
                    </a:p>
                    <a:p>
                      <a:pPr indent="-179388" lvl="0" marL="179388" marR="0" rtl="0" algn="l">
                        <a:lnSpc>
                          <a:spcPct val="100000"/>
                        </a:lnSpc>
                        <a:spcBef>
                          <a:spcPts val="0"/>
                        </a:spcBef>
                        <a:spcAft>
                          <a:spcPts val="0"/>
                        </a:spcAft>
                        <a:buClr>
                          <a:schemeClr val="dk1"/>
                        </a:buClr>
                        <a:buSzPts val="900"/>
                        <a:buFont typeface="Arial"/>
                        <a:buChar char="•"/>
                      </a:pPr>
                      <a:r>
                        <a:rPr b="0" lang="en-GB" sz="900">
                          <a:solidFill>
                            <a:schemeClr val="dk1"/>
                          </a:solidFill>
                        </a:rPr>
                        <a:t>Product affinity .</a:t>
                      </a:r>
                      <a:endParaRPr/>
                    </a:p>
                    <a:p>
                      <a:pPr indent="-179388" lvl="0" marL="179388" marR="0" rtl="0" algn="l">
                        <a:lnSpc>
                          <a:spcPct val="100000"/>
                        </a:lnSpc>
                        <a:spcBef>
                          <a:spcPts val="0"/>
                        </a:spcBef>
                        <a:spcAft>
                          <a:spcPts val="0"/>
                        </a:spcAft>
                        <a:buClr>
                          <a:schemeClr val="dk1"/>
                        </a:buClr>
                        <a:buSzPts val="900"/>
                        <a:buFont typeface="Arial"/>
                        <a:buChar char="•"/>
                      </a:pPr>
                      <a:r>
                        <a:rPr b="0" lang="en-GB" sz="900">
                          <a:solidFill>
                            <a:schemeClr val="dk1"/>
                          </a:solidFill>
                        </a:rPr>
                        <a:t>Elasticity  and Demand Forecasting Models.</a:t>
                      </a:r>
                      <a:endParaRPr/>
                    </a:p>
                    <a:p>
                      <a:pPr indent="-179388" lvl="0" marL="179388" marR="0" rtl="0" algn="l">
                        <a:lnSpc>
                          <a:spcPct val="100000"/>
                        </a:lnSpc>
                        <a:spcBef>
                          <a:spcPts val="0"/>
                        </a:spcBef>
                        <a:spcAft>
                          <a:spcPts val="0"/>
                        </a:spcAft>
                        <a:buClr>
                          <a:schemeClr val="dk1"/>
                        </a:buClr>
                        <a:buSzPts val="900"/>
                        <a:buFont typeface="Arial"/>
                        <a:buChar char="•"/>
                      </a:pPr>
                      <a:r>
                        <a:rPr b="0" lang="en-GB" sz="900">
                          <a:solidFill>
                            <a:schemeClr val="dk1"/>
                          </a:solidFill>
                        </a:rPr>
                        <a:t>nPath analysis to map out product on boarding journey</a:t>
                      </a:r>
                      <a:endParaRPr/>
                    </a:p>
                    <a:p>
                      <a:pPr indent="-179388" lvl="0" marL="179388" marR="0" rtl="0" algn="l">
                        <a:lnSpc>
                          <a:spcPct val="100000"/>
                        </a:lnSpc>
                        <a:spcBef>
                          <a:spcPts val="0"/>
                        </a:spcBef>
                        <a:spcAft>
                          <a:spcPts val="0"/>
                        </a:spcAft>
                        <a:buClr>
                          <a:schemeClr val="dk1"/>
                        </a:buClr>
                        <a:buSzPts val="900"/>
                        <a:buFont typeface="Arial"/>
                        <a:buChar char="•"/>
                      </a:pPr>
                      <a:r>
                        <a:rPr b="0" lang="en-GB" sz="900" strike="noStrike">
                          <a:solidFill>
                            <a:schemeClr val="dk1"/>
                          </a:solidFill>
                        </a:rPr>
                        <a:t>Sentiment and text analytics.</a:t>
                      </a:r>
                      <a:endParaRPr sz="900" strike="noStrike">
                        <a:solidFill>
                          <a:schemeClr val="dk1"/>
                        </a:solidFill>
                      </a:endParaRPr>
                    </a:p>
                    <a:p>
                      <a:r>
                        <a:rPr sz="800" b="1">
                          <a:solidFill>
                            <a:srgbClr val="006699"/>
                          </a:solidFill>
                        </a:rPr>
                        <a:t>FSDM: Customer_Journey, Interaction_Event, Channel_Session, Service_Request, Process_Step, Wait_Time_Metric</a:t>
                      </a:r>
                    </a:p>
                    <a:p>
                      <a:r>
                        <a:rPr sz="800" i="1">
                          <a:solidFill>
                            <a:srgbClr val="008040"/>
                          </a:solidFill>
                        </a:rPr>
                        <a:t>Pakistan: Branch queue management, ATM uptime correlation, mobile app crash analytics, RAAST transaction experience, complaint resolution SLA tracking per SBP guidelines</a:t>
                      </a:r>
                    </a:p>
                    <a:p>
                      <a:r>
                        <a:rPr sz="900"/>
                        <a:t/>
                      </a:r>
                    </a:p>
                    <a:p>
                      <a:r>
                        <a:rPr sz="900"/>
                        <a:t>Digital onboarding funnel data, NADRA verification success/failure rates</a:t>
                      </a:r>
                    </a:p>
                    <a:p>
                      <a:r>
                        <a:rPr sz="900"/>
                        <a:t>Document upload completion rates, first transaction timing</a:t>
                      </a:r>
                    </a:p>
                    <a:p>
                      <a:r>
                        <a:rPr sz="900"/>
                        <a:t>Call center queries during onboarding, branch walk-in data</a:t>
                      </a:r>
                    </a:p>
                    <a:p>
                      <a:r>
                        <a:rPr sz="900"/>
                        <a:t>Competitor onboarding benchmarks (SadaPay, NayaPay — minutes not days)</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More effective integration of products into the portfolio.</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Reduced customer product closure rate.</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revenue by controlling cannibalisation.</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Customer Experience through improved service during the product introduction.</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Reduced operational expenses through optimized contact center staffing</a:t>
                      </a:r>
                      <a:endParaRPr/>
                    </a:p>
                    <a:p>
                      <a:r>
                        <a:rPr sz="900">
                          <a:latin typeface="Century Gothic"/>
                        </a:rPr>
                        <a:t/>
                      </a:r>
                    </a:p>
                    <a:p>
                      <a:r>
                        <a:rPr sz="900">
                          <a:latin typeface="Century Gothic"/>
                        </a:rPr>
                        <a:t>Reduced digital dropoff from 40-60% to &lt;20% through funnel optimization</a:t>
                      </a:r>
                    </a:p>
                    <a:p>
                      <a:r>
                        <a:rPr sz="900">
                          <a:latin typeface="Century Gothic"/>
                        </a:rPr>
                        <a:t>Faster time-to-first-transaction: from days to hours for digital products</a:t>
                      </a:r>
                    </a:p>
                    <a:p>
                      <a:r>
                        <a:rPr sz="900">
                          <a:latin typeface="Century Gothic"/>
                        </a:rPr>
                        <a:t>Onboarding cost reduction through digital-first channel steering</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6739" name="Google Shape;6739;p379"/>
          <p:cNvSpPr txBox="1"/>
          <p:nvPr>
            <p:ph type="title"/>
          </p:nvPr>
        </p:nvSpPr>
        <p:spPr>
          <a:xfrm>
            <a:off x="457200" y="173736"/>
            <a:ext cx="8229600" cy="704088"/>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Improve Product Onboarding</a:t>
            </a:r>
            <a:endParaRPr/>
          </a:p>
        </p:txBody>
      </p:sp>
      <p:pic>
        <p:nvPicPr>
          <p:cNvPr id="6740" name="Google Shape;6740;p379"/>
          <p:cNvPicPr preferRelativeResize="0"/>
          <p:nvPr/>
        </p:nvPicPr>
        <p:blipFill rotWithShape="1">
          <a:blip r:embed="rId3">
            <a:alphaModFix/>
          </a:blip>
          <a:srcRect b="0" l="0" r="0" t="0"/>
          <a:stretch/>
        </p:blipFill>
        <p:spPr>
          <a:xfrm>
            <a:off x="5538788" y="603250"/>
            <a:ext cx="3133725" cy="2093137"/>
          </a:xfrm>
          <a:prstGeom prst="rect">
            <a:avLst/>
          </a:prstGeom>
          <a:noFill/>
          <a:ln>
            <a:noFill/>
          </a:ln>
        </p:spPr>
      </p:pic>
      <p:sp>
        <p:nvSpPr>
          <p:cNvPr id="6741" name="Google Shape;6741;p379">
            <a:hlinkClick action="ppaction://hlinksldjump" r:id="rId4"/>
          </p:cNvPr>
          <p:cNvSpPr/>
          <p:nvPr/>
        </p:nvSpPr>
        <p:spPr>
          <a:xfrm>
            <a:off x="6487285" y="-189267"/>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Product Introduction</a:t>
            </a:r>
            <a:endParaRPr sz="750">
              <a:solidFill>
                <a:schemeClr val="lt1"/>
              </a:solidFill>
              <a:latin typeface="Century Gothic"/>
              <a:ea typeface="Century Gothic"/>
              <a:cs typeface="Century Gothic"/>
              <a:sym typeface="Century Gothic"/>
            </a:endParaRPr>
          </a:p>
        </p:txBody>
      </p:sp>
      <p:grpSp>
        <p:nvGrpSpPr>
          <p:cNvPr id="6742" name="Google Shape;6742;p379"/>
          <p:cNvGrpSpPr/>
          <p:nvPr/>
        </p:nvGrpSpPr>
        <p:grpSpPr>
          <a:xfrm>
            <a:off x="7717533" y="4360377"/>
            <a:ext cx="1058348" cy="347375"/>
            <a:chOff x="7651698" y="4287227"/>
            <a:chExt cx="1058348" cy="347375"/>
          </a:xfrm>
        </p:grpSpPr>
        <p:grpSp>
          <p:nvGrpSpPr>
            <p:cNvPr id="6743" name="Google Shape;6743;p379"/>
            <p:cNvGrpSpPr/>
            <p:nvPr/>
          </p:nvGrpSpPr>
          <p:grpSpPr>
            <a:xfrm>
              <a:off x="7714163" y="4337598"/>
              <a:ext cx="995883" cy="297004"/>
              <a:chOff x="7711013" y="3986494"/>
              <a:chExt cx="995883" cy="297004"/>
            </a:xfrm>
          </p:grpSpPr>
          <p:sp>
            <p:nvSpPr>
              <p:cNvPr id="6744" name="Google Shape;6744;p379"/>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6745" name="Google Shape;6745;p379"/>
              <p:cNvGrpSpPr/>
              <p:nvPr/>
            </p:nvGrpSpPr>
            <p:grpSpPr>
              <a:xfrm>
                <a:off x="7711013" y="4002615"/>
                <a:ext cx="281520" cy="241973"/>
                <a:chOff x="5652748" y="4066000"/>
                <a:chExt cx="906498" cy="747974"/>
              </a:xfrm>
            </p:grpSpPr>
            <p:sp>
              <p:nvSpPr>
                <p:cNvPr id="6746" name="Google Shape;6746;p379"/>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6747" name="Google Shape;6747;p379"/>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6748" name="Google Shape;6748;p379"/>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6749" name="Google Shape;6749;p379">
              <a:hlinkClick action="ppaction://hlinksldjump" r:id="rId5"/>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4" name="Shape 6754"/>
        <p:cNvGrpSpPr/>
        <p:nvPr/>
      </p:nvGrpSpPr>
      <p:grpSpPr>
        <a:xfrm>
          <a:off x="0" y="0"/>
          <a:ext cx="0" cy="0"/>
          <a:chOff x="0" y="0"/>
          <a:chExt cx="0" cy="0"/>
        </a:xfrm>
      </p:grpSpPr>
      <p:graphicFrame>
        <p:nvGraphicFramePr>
          <p:cNvPr id="6755" name="Google Shape;6755;p380"/>
          <p:cNvGraphicFramePr/>
          <p:nvPr/>
        </p:nvGraphicFramePr>
        <p:xfrm>
          <a:off x="469899" y="789217"/>
          <a:ext cx="3000000" cy="3000000"/>
        </p:xfrm>
        <a:graphic>
          <a:graphicData uri="http://schemas.openxmlformats.org/drawingml/2006/table">
            <a:tbl>
              <a:tblPr bandRow="1" firstRow="1">
                <a:noFill/>
                <a:tableStyleId>{D098BFCB-6916-41F2-A2A5-0DF0D5139B6F}</a:tableStyleId>
              </a:tblPr>
              <a:tblGrid>
                <a:gridCol w="130325"/>
                <a:gridCol w="556275"/>
                <a:gridCol w="367500"/>
                <a:gridCol w="3170075"/>
                <a:gridCol w="3276050"/>
                <a:gridCol w="477150"/>
                <a:gridCol w="477150"/>
              </a:tblGrid>
              <a:tr h="180850">
                <a:tc gridSpan="3">
                  <a:txBody>
                    <a:bodyPr/>
                    <a:lstStyle/>
                    <a:p>
                      <a:pPr indent="0" lvl="0" marL="0" marR="0" rtl="0" algn="ctr">
                        <a:spcBef>
                          <a:spcPts val="0"/>
                        </a:spcBef>
                        <a:spcAft>
                          <a:spcPts val="0"/>
                        </a:spcAft>
                        <a:buNone/>
                      </a:pPr>
                      <a:r>
                        <a:rPr b="1" lang="en-GB" sz="1200">
                          <a:solidFill>
                            <a:schemeClr val="dk2"/>
                          </a:solidFill>
                        </a:rPr>
                        <a:t>Level</a:t>
                      </a:r>
                      <a:endParaRPr b="1" sz="12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hMerge="1">
                  <a:txBody>
                    <a:bodyPr/>
                    <a:p/>
                  </a:txBody>
                </a:tc>
                <a:tc gridSpan="2">
                  <a:txBody>
                    <a:bodyPr/>
                    <a:lstStyle/>
                    <a:p>
                      <a:pPr indent="0" lvl="0" marL="0" marR="0" rtl="0" algn="ctr">
                        <a:lnSpc>
                          <a:spcPct val="100000"/>
                        </a:lnSpc>
                        <a:spcBef>
                          <a:spcPts val="0"/>
                        </a:spcBef>
                        <a:spcAft>
                          <a:spcPts val="0"/>
                        </a:spcAft>
                        <a:buClr>
                          <a:schemeClr val="dk2"/>
                        </a:buClr>
                        <a:buSzPts val="1200"/>
                        <a:buFont typeface="Century Gothic"/>
                        <a:buNone/>
                      </a:pPr>
                      <a:r>
                        <a:rPr b="1" lang="en-GB" sz="1200">
                          <a:solidFill>
                            <a:schemeClr val="dk2"/>
                          </a:solidFill>
                        </a:rPr>
                        <a:t>Maturity Statement</a:t>
                      </a:r>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rPr b="1" lang="en-GB" sz="800">
                          <a:solidFill>
                            <a:schemeClr val="dk2"/>
                          </a:solidFill>
                        </a:rPr>
                        <a:t>Current</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rPr b="1" lang="en-GB" sz="800">
                          <a:solidFill>
                            <a:schemeClr val="dk2"/>
                          </a:solidFill>
                        </a:rPr>
                        <a:t>Desired</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3385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06C1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Leading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In advance of a product launch, predicting the impact on the customer and the business. This includes external  feedback (including social input) to identify and react to product launch issues.  Also developed a continuous feedback loop to improve product specifications and launch processes for future enhancements.</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3385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F7513"/>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Innovating</a:t>
                      </a:r>
                      <a:endParaRPr/>
                    </a:p>
                    <a:p>
                      <a:pPr indent="0" lvl="0" marL="0" marR="0" rtl="0" algn="ctr">
                        <a:spcBef>
                          <a:spcPts val="0"/>
                        </a:spcBef>
                        <a:spcAft>
                          <a:spcPts val="0"/>
                        </a:spcAft>
                        <a:buNone/>
                      </a:pPr>
                      <a:r>
                        <a:t/>
                      </a:r>
                      <a:endParaRPr b="1" sz="1000">
                        <a:solidFill>
                          <a:schemeClr val="dk2"/>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Proactively conducting basic analysis on customer and infrastructure impact based on results from similarly launched items.   </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3385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C891C"/>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Practicing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Reactive cross channel analysis, including impact of cannibalization.  Beginning to conduct basic analysis on customer impact. </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lnSpc>
                          <a:spcPct val="100000"/>
                        </a:lnSpc>
                        <a:spcBef>
                          <a:spcPts val="0"/>
                        </a:spcBef>
                        <a:spcAft>
                          <a:spcPts val="0"/>
                        </a:spcAft>
                        <a:buClr>
                          <a:schemeClr val="dk1"/>
                        </a:buClr>
                        <a:buSzPts val="1400"/>
                        <a:buFont typeface="Century Gothic"/>
                        <a:buNone/>
                      </a:pPr>
                      <a:r>
                        <a:t/>
                      </a:r>
                      <a:endParaRPr sz="1400">
                        <a:solidFill>
                          <a:schemeClr val="dk1"/>
                        </a:solidFill>
                        <a:latin typeface="Noto Sans Symbols"/>
                        <a:ea typeface="Noto Sans Symbols"/>
                        <a:cs typeface="Noto Sans Symbols"/>
                        <a:sym typeface="Noto Sans Symbols"/>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3385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E9B4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Developing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Beginning to monitor cross channel implications and impact on other products. Considers market impact and customer satisfaction. Reactive response to infrastructure issues (e.g. call center, supply chain and operations) are modeled and shared functionally.  </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3385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F1AE65"/>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Emerging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Product centric approach to product launch.  New products are measured based on the single objective of unit sales. </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178750">
                <a:tc gridSpan="3">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Priority</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hMerge="1">
                  <a:txBody>
                    <a:bodyPr/>
                    <a:p/>
                  </a:txBody>
                </a:tc>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Key areas for improvement</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Benefits from uplift</a:t>
                      </a:r>
                      <a:endParaRPr b="1" sz="1000">
                        <a:solidFill>
                          <a:schemeClr val="dk2"/>
                        </a:solidFill>
                        <a:latin typeface="Century Gothic"/>
                        <a:ea typeface="Century Gothic"/>
                        <a:cs typeface="Century Gothic"/>
                        <a:sym typeface="Century Gothic"/>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a:txBody>
                    <a:bodyPr/>
                    <a:lstStyle/>
                    <a:p>
                      <a:pPr indent="0" lvl="0" marL="0" marR="0" rtl="0" algn="ctr">
                        <a:spcBef>
                          <a:spcPts val="0"/>
                        </a:spcBef>
                        <a:spcAft>
                          <a:spcPts val="0"/>
                        </a:spcAft>
                        <a:buNone/>
                      </a:pPr>
                      <a:r>
                        <a:rPr b="1" lang="en-GB" sz="1000">
                          <a:solidFill>
                            <a:schemeClr val="dk2"/>
                          </a:solidFill>
                        </a:rPr>
                        <a:t>Timeframe</a:t>
                      </a:r>
                      <a:endParaRPr b="1" sz="1000">
                        <a:solidFill>
                          <a:schemeClr val="dk2"/>
                        </a:solidFill>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r>
              <a:tr h="243275">
                <a:tc gridSpan="2">
                  <a:txBody>
                    <a:bodyPr/>
                    <a:lstStyle/>
                    <a:p>
                      <a:pPr indent="0" lvl="0" marL="0" marR="0" rtl="0" algn="ctr">
                        <a:spcBef>
                          <a:spcPts val="0"/>
                        </a:spcBef>
                        <a:spcAft>
                          <a:spcPts val="0"/>
                        </a:spcAft>
                        <a:buNone/>
                      </a:pPr>
                      <a:r>
                        <a:rPr b="1" lang="en-GB" sz="800">
                          <a:solidFill>
                            <a:schemeClr val="dk1"/>
                          </a:solidFill>
                        </a:rPr>
                        <a:t>High</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rPr lang="en-GB" sz="1000">
                          <a:solidFill>
                            <a:schemeClr val="dk1"/>
                          </a:solidFill>
                          <a:latin typeface="Noto Sans Symbols"/>
                          <a:ea typeface="Noto Sans Symbols"/>
                          <a:cs typeface="Noto Sans Symbols"/>
                          <a:sym typeface="Noto Sans Symbols"/>
                        </a:rPr>
                        <a:t>✔</a:t>
                      </a:r>
                      <a:endParaRPr b="1" sz="10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0" lvl="0" marL="0" marR="0" rtl="0" algn="l">
                        <a:lnSpc>
                          <a:spcPct val="100000"/>
                        </a:lnSpc>
                        <a:spcBef>
                          <a:spcPts val="0"/>
                        </a:spcBef>
                        <a:spcAft>
                          <a:spcPts val="0"/>
                        </a:spcAft>
                        <a:buClr>
                          <a:schemeClr val="dk1"/>
                        </a:buClr>
                        <a:buSzPts val="800"/>
                        <a:buFont typeface="Arial"/>
                        <a:buNone/>
                      </a:pPr>
                      <a:r>
                        <a:rPr sz="800" b="0">
                          <a:latin typeface="Century Gothic"/>
                        </a:rPr>
                        <a:t>Pakistan priority improvements:</a:t>
                      </a:r>
                      <a:endParaRPr/>
                    </a:p>
                    <a:p>
                      <a:r>
                        <a:rPr sz="800" b="0">
                          <a:latin typeface="Century Gothic"/>
                        </a:rPr>
                        <a:t>NADRA biometric verification optimization (30-40% first-attempt failure rate)</a:t>
                      </a:r>
                    </a:p>
                    <a:p>
                      <a:r>
                        <a:rPr sz="800" b="0">
                          <a:latin typeface="Century Gothic"/>
                        </a:rPr>
                        <a:t>Digital onboarding funnel analytics (identify and fix dropout points)</a:t>
                      </a:r>
                    </a:p>
                    <a:p>
                      <a:r>
                        <a:rPr sz="800" b="0">
                          <a:latin typeface="Century Gothic"/>
                        </a:rPr>
                        <a:t>Account opening time reduction: branch (7-14 → &lt;1 day), digital (&lt;30 min)</a:t>
                      </a:r>
                    </a:p>
                    <a:p>
                      <a:r>
                        <a:rPr sz="800" b="0">
                          <a:latin typeface="Century Gothic"/>
                        </a:rPr>
                        <a:t>Loan origination streamlining: 21-45 days → &lt;7 days (personal), &lt;30 days (home)</a:t>
                      </a:r>
                    </a:p>
                    <a:p>
                      <a:r>
                        <a:rPr sz="800" b="0">
                          <a:latin typeface="Century Gothic"/>
                        </a:rPr>
                        <a:t>Card issuance acceleration: 14-30 days → &lt;5 days</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285750" lvl="0" marL="285750" marR="0" rtl="0" algn="l">
                        <a:spcBef>
                          <a:spcPts val="0"/>
                        </a:spcBef>
                        <a:spcAft>
                          <a:spcPts val="0"/>
                        </a:spcAft>
                        <a:buClr>
                          <a:schemeClr val="dk1"/>
                        </a:buClr>
                        <a:buSzPts val="800"/>
                        <a:buFont typeface="Arial"/>
                        <a:buChar char="•"/>
                      </a:pPr>
                      <a:r>
                        <a:rPr sz="800">
                          <a:latin typeface="Century Gothic"/>
                        </a:rPr>
                        <a:t>Digital dropoff reduction from 40-60% to &lt;20%</a:t>
                      </a:r>
                      <a:endParaRPr/>
                    </a:p>
                    <a:p>
                      <a:r>
                        <a:rPr sz="800">
                          <a:latin typeface="Century Gothic"/>
                        </a:rPr>
                        <a:t>Faster time-to-first-transaction increasing product activation rates</a:t>
                      </a:r>
                    </a:p>
                    <a:p>
                      <a:r>
                        <a:rPr sz="800">
                          <a:latin typeface="Century Gothic"/>
                        </a:rPr>
                        <a:t>Reduced onboarding cost through digital-first channel steering</a:t>
                      </a:r>
                    </a:p>
                    <a:p>
                      <a:r>
                        <a:rPr sz="800">
                          <a:latin typeface="Century Gothic"/>
                        </a:rPr>
                        <a:t>Competitive parity with fintechs on onboarding speed (SadaPay: minutes)</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rowSpan="3">
                  <a:txBody>
                    <a:bodyPr/>
                    <a:lstStyle/>
                    <a:p>
                      <a:pPr indent="0" lvl="0" marL="0" marR="0" rtl="0" algn="ctr">
                        <a:lnSpc>
                          <a:spcPct val="100000"/>
                        </a:lnSpc>
                        <a:spcBef>
                          <a:spcPts val="0"/>
                        </a:spcBef>
                        <a:spcAft>
                          <a:spcPts val="0"/>
                        </a:spcAft>
                        <a:buClr>
                          <a:schemeClr val="dk1"/>
                        </a:buClr>
                        <a:buSzPts val="800"/>
                        <a:buFont typeface="Century Gothic"/>
                        <a:buNone/>
                      </a:pPr>
                      <a:r>
                        <a:rPr b="0" lang="en-GB" sz="800">
                          <a:solidFill>
                            <a:schemeClr val="dk1"/>
                          </a:solidFill>
                        </a:rPr>
                        <a:t>2025-2027</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hMerge="1">
                  <a:txBody>
                    <a:bodyPr/>
                    <a:p/>
                  </a:txBody>
                </a:tc>
              </a:tr>
              <a:tr h="243275">
                <a:tc gridSpan="2">
                  <a:txBody>
                    <a:bodyPr/>
                    <a:lstStyle/>
                    <a:p>
                      <a:pPr indent="0" lvl="0" marL="0" marR="0" rtl="0" algn="ctr">
                        <a:spcBef>
                          <a:spcPts val="0"/>
                        </a:spcBef>
                        <a:spcAft>
                          <a:spcPts val="0"/>
                        </a:spcAft>
                        <a:buNone/>
                      </a:pPr>
                      <a:r>
                        <a:rPr b="1" lang="en-GB" sz="800">
                          <a:solidFill>
                            <a:schemeClr val="dk1"/>
                          </a:solidFill>
                        </a:rPr>
                        <a:t>Medium</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xBody>
                    <a:bodyPr/>
                    <a:p/>
                  </a:txBody>
                </a:tc>
                <a:tc vMerge="1">
                  <a:txBody>
                    <a:bodyPr/>
                    <a:p/>
                  </a:txBody>
                </a:tc>
                <a:tc gridSpan="2" vMerge="1">
                  <a:txBody>
                    <a:bodyPr/>
                    <a:p/>
                  </a:txBody>
                </a:tc>
                <a:tc hMerge="1" vMerge="1">
                  <a:txBody>
                    <a:bodyPr/>
                    <a:p/>
                  </a:txBody>
                </a:tc>
              </a:tr>
              <a:tr h="243275">
                <a:tc gridSpan="2">
                  <a:txBody>
                    <a:bodyPr/>
                    <a:lstStyle/>
                    <a:p>
                      <a:pPr indent="0" lvl="0" marL="0" marR="0" rtl="0" algn="ctr">
                        <a:spcBef>
                          <a:spcPts val="0"/>
                        </a:spcBef>
                        <a:spcAft>
                          <a:spcPts val="0"/>
                        </a:spcAft>
                        <a:buNone/>
                      </a:pPr>
                      <a:r>
                        <a:rPr b="1" lang="en-GB" sz="800">
                          <a:solidFill>
                            <a:schemeClr val="dk1"/>
                          </a:solidFill>
                        </a:rPr>
                        <a:t>Low</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xBody>
                    <a:bodyPr/>
                    <a:p/>
                  </a:txBody>
                </a:tc>
                <a:tc vMerge="1">
                  <a:txBody>
                    <a:bodyPr/>
                    <a:p/>
                  </a:txBody>
                </a:tc>
                <a:tc gridSpan="2" vMerge="1">
                  <a:txBody>
                    <a:bodyPr/>
                    <a:p/>
                  </a:txBody>
                </a:tc>
                <a:tc hMerge="1" vMerge="1">
                  <a:txBody>
                    <a:bodyPr/>
                    <a:p/>
                  </a:txBody>
                </a:tc>
              </a:tr>
            </a:tbl>
          </a:graphicData>
        </a:graphic>
      </p:graphicFrame>
      <p:grpSp>
        <p:nvGrpSpPr>
          <p:cNvPr id="6756" name="Google Shape;6756;p380"/>
          <p:cNvGrpSpPr/>
          <p:nvPr/>
        </p:nvGrpSpPr>
        <p:grpSpPr>
          <a:xfrm>
            <a:off x="469900" y="3819680"/>
            <a:ext cx="8455025" cy="732866"/>
            <a:chOff x="211138" y="3972860"/>
            <a:chExt cx="8713787" cy="642437"/>
          </a:xfrm>
        </p:grpSpPr>
        <p:sp>
          <p:nvSpPr>
            <p:cNvPr id="6757" name="Google Shape;6757;p380"/>
            <p:cNvSpPr/>
            <p:nvPr/>
          </p:nvSpPr>
          <p:spPr>
            <a:xfrm>
              <a:off x="211138" y="3972860"/>
              <a:ext cx="8713787" cy="642437"/>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6758" name="Google Shape;6758;p380"/>
            <p:cNvSpPr/>
            <p:nvPr/>
          </p:nvSpPr>
          <p:spPr>
            <a:xfrm>
              <a:off x="3692726" y="3982349"/>
              <a:ext cx="1753883" cy="632948"/>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grpSp>
        <p:nvGrpSpPr>
          <p:cNvPr id="6759" name="Google Shape;6759;p380"/>
          <p:cNvGrpSpPr/>
          <p:nvPr/>
        </p:nvGrpSpPr>
        <p:grpSpPr>
          <a:xfrm>
            <a:off x="7971865" y="980278"/>
            <a:ext cx="949325" cy="2867825"/>
            <a:chOff x="7941888" y="1062037"/>
            <a:chExt cx="983037" cy="2695575"/>
          </a:xfrm>
        </p:grpSpPr>
        <p:sp>
          <p:nvSpPr>
            <p:cNvPr id="6760" name="Google Shape;6760;p380"/>
            <p:cNvSpPr/>
            <p:nvPr/>
          </p:nvSpPr>
          <p:spPr>
            <a:xfrm>
              <a:off x="7941889" y="1062037"/>
              <a:ext cx="983036" cy="2695575"/>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6761" name="Google Shape;6761;p380"/>
            <p:cNvSpPr/>
            <p:nvPr/>
          </p:nvSpPr>
          <p:spPr>
            <a:xfrm>
              <a:off x="7941888" y="2052586"/>
              <a:ext cx="983037" cy="714476"/>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sp>
        <p:nvSpPr>
          <p:cNvPr id="6762" name="Google Shape;6762;p380"/>
          <p:cNvSpPr txBox="1"/>
          <p:nvPr>
            <p:ph type="title"/>
          </p:nvPr>
        </p:nvSpPr>
        <p:spPr>
          <a:xfrm>
            <a:off x="457200" y="173736"/>
            <a:ext cx="8229600" cy="704088"/>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Improve Product Onboarding</a:t>
            </a:r>
            <a:endParaRPr/>
          </a:p>
        </p:txBody>
      </p:sp>
      <p:sp>
        <p:nvSpPr>
          <p:cNvPr id="6763" name="Google Shape;6763;p380">
            <a:hlinkClick action="ppaction://hlinksldjump" r:id="rId3"/>
          </p:cNvPr>
          <p:cNvSpPr/>
          <p:nvPr/>
        </p:nvSpPr>
        <p:spPr>
          <a:xfrm>
            <a:off x="6487285" y="-189267"/>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Product Introduction</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8" name="Shape 6768"/>
        <p:cNvGrpSpPr/>
        <p:nvPr/>
      </p:nvGrpSpPr>
      <p:grpSpPr>
        <a:xfrm>
          <a:off x="0" y="0"/>
          <a:ext cx="0" cy="0"/>
          <a:chOff x="0" y="0"/>
          <a:chExt cx="0" cy="0"/>
        </a:xfrm>
      </p:grpSpPr>
      <p:pic>
        <p:nvPicPr>
          <p:cNvPr descr="RET-1015-L.jpg" id="6769" name="Google Shape;6769;p381"/>
          <p:cNvPicPr preferRelativeResize="0"/>
          <p:nvPr/>
        </p:nvPicPr>
        <p:blipFill rotWithShape="1">
          <a:blip r:embed="rId3">
            <a:alphaModFix/>
          </a:blip>
          <a:srcRect b="0" l="0" r="0" t="0"/>
          <a:stretch/>
        </p:blipFill>
        <p:spPr>
          <a:xfrm>
            <a:off x="5538789" y="0"/>
            <a:ext cx="5453062" cy="5143500"/>
          </a:xfrm>
          <a:prstGeom prst="rect">
            <a:avLst/>
          </a:prstGeom>
          <a:noFill/>
          <a:ln>
            <a:noFill/>
          </a:ln>
        </p:spPr>
      </p:pic>
      <p:pic>
        <p:nvPicPr>
          <p:cNvPr descr="Black Laptop Computer Turned on" id="6770" name="Google Shape;6770;p381"/>
          <p:cNvPicPr preferRelativeResize="0"/>
          <p:nvPr/>
        </p:nvPicPr>
        <p:blipFill rotWithShape="1">
          <a:blip r:embed="rId4">
            <a:alphaModFix/>
          </a:blip>
          <a:srcRect b="0" l="0" r="0" t="0"/>
          <a:stretch/>
        </p:blipFill>
        <p:spPr>
          <a:xfrm>
            <a:off x="10191751" y="-2638424"/>
            <a:ext cx="4652962" cy="5143499"/>
          </a:xfrm>
          <a:prstGeom prst="rect">
            <a:avLst/>
          </a:prstGeom>
          <a:noFill/>
          <a:ln>
            <a:noFill/>
          </a:ln>
        </p:spPr>
      </p:pic>
      <p:sp>
        <p:nvSpPr>
          <p:cNvPr id="6771" name="Google Shape;6771;p381"/>
          <p:cNvSpPr txBox="1"/>
          <p:nvPr>
            <p:ph type="title"/>
          </p:nvPr>
        </p:nvSpPr>
        <p:spPr>
          <a:xfrm>
            <a:off x="466725" y="3747"/>
            <a:ext cx="5087938" cy="617601"/>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Price and Promotion</a:t>
            </a:r>
            <a:endParaRPr/>
          </a:p>
        </p:txBody>
      </p:sp>
      <p:sp>
        <p:nvSpPr>
          <p:cNvPr id="6772" name="Google Shape;6772;p381"/>
          <p:cNvSpPr txBox="1"/>
          <p:nvPr>
            <p:ph idx="1" type="body"/>
          </p:nvPr>
        </p:nvSpPr>
        <p:spPr>
          <a:xfrm>
            <a:off x="449263" y="2201863"/>
            <a:ext cx="4866449" cy="2652712"/>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0079DB"/>
              </a:buClr>
              <a:buSzPts val="1800"/>
              <a:buNone/>
            </a:pPr>
            <a:r>
              <a:rPr lang="en-GB">
                <a:solidFill>
                  <a:srgbClr val="0079DB"/>
                </a:solidFill>
              </a:rPr>
              <a:t>Why is it important?</a:t>
            </a:r>
            <a:endParaRPr b="1">
              <a:solidFill>
                <a:schemeClr val="accent1"/>
              </a:solidFill>
            </a:endParaRPr>
          </a:p>
          <a:p>
            <a:pPr indent="-231775" lvl="1" marL="231775" rtl="0" algn="l">
              <a:lnSpc>
                <a:spcPct val="100000"/>
              </a:lnSpc>
              <a:spcBef>
                <a:spcPts val="200"/>
              </a:spcBef>
              <a:spcAft>
                <a:spcPts val="0"/>
              </a:spcAft>
              <a:buClr>
                <a:schemeClr val="dk1"/>
              </a:buClr>
              <a:buSzPts val="1400"/>
              <a:buChar char="•"/>
            </a:pPr>
            <a:r>
              <a:rPr lang="en-GB" sz="1400"/>
              <a:t>Product Managers, Category Managers and Merchants must be able to verify that pricing rules or promotions are working as planned</a:t>
            </a:r>
            <a:endParaRPr/>
          </a:p>
          <a:p>
            <a:pPr indent="-231775" lvl="1" marL="231775" rtl="0" algn="l">
              <a:lnSpc>
                <a:spcPct val="100000"/>
              </a:lnSpc>
              <a:spcBef>
                <a:spcPts val="600"/>
              </a:spcBef>
              <a:spcAft>
                <a:spcPts val="0"/>
              </a:spcAft>
              <a:buClr>
                <a:schemeClr val="dk1"/>
              </a:buClr>
              <a:buSzPts val="1400"/>
              <a:buChar char="•"/>
            </a:pPr>
            <a:r>
              <a:rPr lang="en-GB"/>
              <a:t>Price competitiveness can lead to downward spiraling margins. Predicting outcomes is key.</a:t>
            </a:r>
            <a:endParaRPr/>
          </a:p>
          <a:p>
            <a:pPr indent="-231775" lvl="1" marL="231775" rtl="0" algn="l">
              <a:lnSpc>
                <a:spcPct val="100000"/>
              </a:lnSpc>
              <a:spcBef>
                <a:spcPts val="600"/>
              </a:spcBef>
              <a:spcAft>
                <a:spcPts val="0"/>
              </a:spcAft>
              <a:buClr>
                <a:schemeClr val="dk1"/>
              </a:buClr>
              <a:buSzPts val="1400"/>
              <a:buChar char="•"/>
            </a:pPr>
            <a:r>
              <a:rPr lang="en-GB"/>
              <a:t>Reactive, s</a:t>
            </a:r>
            <a:r>
              <a:rPr lang="en-GB" sz="1400"/>
              <a:t>hort-term decisions on price can dilute long-term price strategy effectiveness</a:t>
            </a:r>
            <a:endParaRPr/>
          </a:p>
          <a:p>
            <a:pPr indent="-231775" lvl="1" marL="231775" rtl="0" algn="l">
              <a:lnSpc>
                <a:spcPct val="100000"/>
              </a:lnSpc>
              <a:spcBef>
                <a:spcPts val="600"/>
              </a:spcBef>
              <a:spcAft>
                <a:spcPts val="0"/>
              </a:spcAft>
              <a:buClr>
                <a:schemeClr val="dk1"/>
              </a:buClr>
              <a:buSzPts val="1400"/>
              <a:buChar char="•"/>
            </a:pPr>
            <a:r>
              <a:rPr lang="en-GB" sz="1400"/>
              <a:t>Insight into price and promotions effectiveness is needed to improve day-to-day decisions</a:t>
            </a:r>
            <a:endParaRPr/>
          </a:p>
        </p:txBody>
      </p:sp>
      <p:sp>
        <p:nvSpPr>
          <p:cNvPr id="6773" name="Google Shape;6773;p381"/>
          <p:cNvSpPr txBox="1"/>
          <p:nvPr>
            <p:ph idx="2" type="body"/>
          </p:nvPr>
        </p:nvSpPr>
        <p:spPr>
          <a:xfrm>
            <a:off x="449262" y="904312"/>
            <a:ext cx="6622097" cy="1029264"/>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chemeClr val="lt1"/>
              </a:buClr>
              <a:buSzPts val="1800"/>
              <a:buNone/>
            </a:pPr>
            <a:r>
              <a:t/>
            </a:r>
            <a:endParaRPr/>
          </a:p>
        </p:txBody>
      </p:sp>
      <p:sp>
        <p:nvSpPr>
          <p:cNvPr id="6774" name="Google Shape;6774;p381"/>
          <p:cNvSpPr/>
          <p:nvPr/>
        </p:nvSpPr>
        <p:spPr>
          <a:xfrm>
            <a:off x="1" y="769691"/>
            <a:ext cx="7205662" cy="1160709"/>
          </a:xfrm>
          <a:prstGeom prst="rect">
            <a:avLst/>
          </a:prstGeom>
          <a:solidFill>
            <a:srgbClr val="005AA4"/>
          </a:solidFill>
          <a:ln>
            <a:noFill/>
          </a:ln>
          <a:effectLst>
            <a:outerShdw blurRad="50800" rotWithShape="0" algn="tl" dir="2700000" dist="38100">
              <a:srgbClr val="000000">
                <a:alpha val="40000"/>
              </a:srgbClr>
            </a:outerShdw>
          </a:effectLst>
        </p:spPr>
        <p:txBody>
          <a:bodyPr anchorCtr="0" anchor="ctr" bIns="91425" lIns="91425" spcFirstLastPara="1" rIns="91425" wrap="square" tIns="91425">
            <a:noAutofit/>
          </a:bodyPr>
          <a:lstStyle/>
          <a:p>
            <a:pPr indent="0" lvl="1" marL="406400" marR="0" rtl="0" algn="l">
              <a:spcBef>
                <a:spcPts val="0"/>
              </a:spcBef>
              <a:spcAft>
                <a:spcPts val="0"/>
              </a:spcAft>
              <a:buNone/>
            </a:pPr>
            <a:r>
              <a:rPr b="0" i="0" lang="en-GB" sz="1400" u="none" cap="none" strike="noStrike">
                <a:solidFill>
                  <a:schemeClr val="lt1"/>
                </a:solidFill>
                <a:latin typeface="Century Gothic"/>
                <a:ea typeface="Century Gothic"/>
                <a:cs typeface="Century Gothic"/>
                <a:sym typeface="Century Gothic"/>
              </a:rPr>
              <a:t>Delivering price and promotions that are meaningful to your customers are the two most important levers a business can pull.   Price and promotion decisions are complicated due to fierce competition, growth from online channels and increased price transparency.</a:t>
            </a:r>
            <a:endParaRPr b="0" i="0" sz="1400" u="none" cap="none" strike="noStrike">
              <a:solidFill>
                <a:schemeClr val="lt1"/>
              </a:solidFill>
              <a:latin typeface="Century Gothic"/>
              <a:ea typeface="Century Gothic"/>
              <a:cs typeface="Century Gothic"/>
              <a:sym typeface="Century Gothic"/>
            </a:endParaRPr>
          </a:p>
        </p:txBody>
      </p:sp>
      <p:sp>
        <p:nvSpPr>
          <p:cNvPr id="6775" name="Google Shape;6775;p381">
            <a:hlinkClick action="ppaction://hlinksldjump" r:id="rId5"/>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Price and Promotion</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0" name="Shape 6780"/>
        <p:cNvGrpSpPr/>
        <p:nvPr/>
      </p:nvGrpSpPr>
      <p:grpSpPr>
        <a:xfrm>
          <a:off x="0" y="0"/>
          <a:ext cx="0" cy="0"/>
          <a:chOff x="0" y="0"/>
          <a:chExt cx="0" cy="0"/>
        </a:xfrm>
      </p:grpSpPr>
      <p:sp>
        <p:nvSpPr>
          <p:cNvPr id="6781" name="Google Shape;6781;p382"/>
          <p:cNvSpPr/>
          <p:nvPr/>
        </p:nvSpPr>
        <p:spPr>
          <a:xfrm>
            <a:off x="7772401" y="-368299"/>
            <a:ext cx="1503273" cy="5054600"/>
          </a:xfrm>
          <a:prstGeom prst="roundRect">
            <a:avLst>
              <a:gd fmla="val 3493" name="adj"/>
            </a:avLst>
          </a:prstGeom>
          <a:solidFill>
            <a:srgbClr val="FFFFFF"/>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6782" name="Google Shape;6782;p382"/>
          <p:cNvSpPr txBox="1"/>
          <p:nvPr>
            <p:ph idx="1" type="body"/>
          </p:nvPr>
        </p:nvSpPr>
        <p:spPr>
          <a:xfrm>
            <a:off x="467360" y="784796"/>
            <a:ext cx="4830354" cy="3344033"/>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0079DB"/>
              </a:buClr>
              <a:buSzPts val="1800"/>
              <a:buNone/>
            </a:pPr>
            <a:r>
              <a:rPr lang="en-GB">
                <a:solidFill>
                  <a:srgbClr val="0079DB"/>
                </a:solidFill>
              </a:rPr>
              <a:t>How – Capabilities</a:t>
            </a:r>
            <a:endParaRPr b="1">
              <a:solidFill>
                <a:schemeClr val="accent1"/>
              </a:solidFill>
            </a:endParaRPr>
          </a:p>
          <a:p>
            <a:pPr indent="-169863" lvl="0" marL="169863" rtl="0" algn="l">
              <a:lnSpc>
                <a:spcPct val="95000"/>
              </a:lnSpc>
              <a:spcBef>
                <a:spcPts val="800"/>
              </a:spcBef>
              <a:spcAft>
                <a:spcPts val="0"/>
              </a:spcAft>
              <a:buClr>
                <a:schemeClr val="dk1"/>
              </a:buClr>
              <a:buSzPts val="1400"/>
              <a:buChar char="•"/>
            </a:pPr>
            <a:r>
              <a:rPr b="1" lang="en-GB" sz="1400"/>
              <a:t>Analyze competitor pricing </a:t>
            </a:r>
            <a:r>
              <a:rPr lang="en-GB" sz="1400"/>
              <a:t>to develop pricing scenarios to optimize product, category or service sales and profit</a:t>
            </a:r>
            <a:endParaRPr/>
          </a:p>
          <a:p>
            <a:pPr indent="-169863" lvl="0" marL="169863" rtl="0" algn="l">
              <a:lnSpc>
                <a:spcPct val="95000"/>
              </a:lnSpc>
              <a:spcBef>
                <a:spcPts val="600"/>
              </a:spcBef>
              <a:spcAft>
                <a:spcPts val="0"/>
              </a:spcAft>
              <a:buClr>
                <a:schemeClr val="dk1"/>
              </a:buClr>
              <a:buSzPts val="1400"/>
              <a:buChar char="•"/>
            </a:pPr>
            <a:r>
              <a:rPr b="1" lang="en-GB" sz="1400"/>
              <a:t>Manage Product Lifecycle Pricing </a:t>
            </a:r>
            <a:r>
              <a:rPr lang="en-GB" sz="1400"/>
              <a:t>to proactively set/adjust prices  to maximize profit during all  life stages of a product</a:t>
            </a:r>
            <a:endParaRPr/>
          </a:p>
          <a:p>
            <a:pPr indent="-169863" lvl="0" marL="169863" rtl="0" algn="l">
              <a:lnSpc>
                <a:spcPct val="95000"/>
              </a:lnSpc>
              <a:spcBef>
                <a:spcPts val="600"/>
              </a:spcBef>
              <a:spcAft>
                <a:spcPts val="0"/>
              </a:spcAft>
              <a:buClr>
                <a:schemeClr val="dk1"/>
              </a:buClr>
              <a:buSzPts val="1400"/>
              <a:buChar char="•"/>
            </a:pPr>
            <a:r>
              <a:rPr b="1" lang="en-GB" sz="1400"/>
              <a:t>Manage Dynamic Pricing </a:t>
            </a:r>
            <a:r>
              <a:rPr lang="en-GB" sz="1400"/>
              <a:t>to reactively adjust prices based on resource availability to shape demand and manage yield in right/near real time. </a:t>
            </a:r>
            <a:endParaRPr/>
          </a:p>
          <a:p>
            <a:pPr indent="-169863" lvl="0" marL="169863" rtl="0" algn="l">
              <a:lnSpc>
                <a:spcPct val="95000"/>
              </a:lnSpc>
              <a:spcBef>
                <a:spcPts val="600"/>
              </a:spcBef>
              <a:spcAft>
                <a:spcPts val="0"/>
              </a:spcAft>
              <a:buClr>
                <a:schemeClr val="dk1"/>
              </a:buClr>
              <a:buSzPts val="1400"/>
              <a:buChar char="•"/>
            </a:pPr>
            <a:r>
              <a:rPr b="1" lang="en-GB" sz="1400"/>
              <a:t>Manage Promotional Offers </a:t>
            </a:r>
            <a:r>
              <a:rPr lang="en-GB" sz="1400"/>
              <a:t>to model promotional offers (prices, bundles, etc.)  to predict impact on sales to support the promotions planning process</a:t>
            </a:r>
            <a:endParaRPr/>
          </a:p>
          <a:p>
            <a:pPr indent="-169863" lvl="0" marL="169863" rtl="0" algn="l">
              <a:lnSpc>
                <a:spcPct val="95000"/>
              </a:lnSpc>
              <a:spcBef>
                <a:spcPts val="600"/>
              </a:spcBef>
              <a:spcAft>
                <a:spcPts val="0"/>
              </a:spcAft>
              <a:buClr>
                <a:schemeClr val="dk1"/>
              </a:buClr>
              <a:buSzPts val="1400"/>
              <a:buChar char="•"/>
            </a:pPr>
            <a:r>
              <a:rPr b="1" lang="en-GB" sz="1400"/>
              <a:t>Measure Promotional Effectiveness </a:t>
            </a:r>
            <a:r>
              <a:rPr lang="en-GB" sz="1400"/>
              <a:t>to assess the impact of a promotion on the sales of promoted products, categories,  affinity products and customer behavior</a:t>
            </a:r>
            <a:endParaRPr sz="1400"/>
          </a:p>
        </p:txBody>
      </p:sp>
      <p:sp>
        <p:nvSpPr>
          <p:cNvPr id="6783" name="Google Shape;6783;p382"/>
          <p:cNvSpPr txBox="1"/>
          <p:nvPr>
            <p:ph type="title"/>
          </p:nvPr>
        </p:nvSpPr>
        <p:spPr>
          <a:xfrm>
            <a:off x="468355" y="231423"/>
            <a:ext cx="5435240" cy="390877"/>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Price and Promotion</a:t>
            </a:r>
            <a:endParaRPr/>
          </a:p>
        </p:txBody>
      </p:sp>
      <p:pic>
        <p:nvPicPr>
          <p:cNvPr descr="BIZ-1047-L.jpg" id="6784" name="Google Shape;6784;p382"/>
          <p:cNvPicPr preferRelativeResize="0"/>
          <p:nvPr/>
        </p:nvPicPr>
        <p:blipFill rotWithShape="1">
          <a:blip r:embed="rId3">
            <a:alphaModFix/>
          </a:blip>
          <a:srcRect b="0" l="-8656" r="-8655" t="0"/>
          <a:stretch/>
        </p:blipFill>
        <p:spPr>
          <a:xfrm>
            <a:off x="5376024" y="967316"/>
            <a:ext cx="4282325" cy="2433589"/>
          </a:xfrm>
          <a:prstGeom prst="rect">
            <a:avLst/>
          </a:prstGeom>
          <a:noFill/>
          <a:ln>
            <a:noFill/>
          </a:ln>
        </p:spPr>
      </p:pic>
      <p:sp>
        <p:nvSpPr>
          <p:cNvPr id="6785" name="Google Shape;6785;p382">
            <a:hlinkClick action="ppaction://hlinksldjump" r:id="rId4"/>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Price and Promotion</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90" name="Shape 6790"/>
        <p:cNvGrpSpPr/>
        <p:nvPr/>
      </p:nvGrpSpPr>
      <p:grpSpPr>
        <a:xfrm>
          <a:off x="0" y="0"/>
          <a:ext cx="0" cy="0"/>
          <a:chOff x="0" y="0"/>
          <a:chExt cx="0" cy="0"/>
        </a:xfrm>
      </p:grpSpPr>
      <p:cxnSp>
        <p:nvCxnSpPr>
          <p:cNvPr id="6791" name="Google Shape;6791;p383"/>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graphicFrame>
        <p:nvGraphicFramePr>
          <p:cNvPr id="6792" name="Google Shape;6792;p383"/>
          <p:cNvGraphicFramePr/>
          <p:nvPr/>
        </p:nvGraphicFramePr>
        <p:xfrm>
          <a:off x="567993" y="832962"/>
          <a:ext cx="3000000" cy="3000000"/>
        </p:xfrm>
        <a:graphic>
          <a:graphicData uri="http://schemas.openxmlformats.org/drawingml/2006/table">
            <a:tbl>
              <a:tblPr bandRow="1" firstRow="1">
                <a:noFill/>
                <a:tableStyleId>{D098BFCB-6916-41F2-A2A5-0DF0D5139B6F}</a:tableStyleId>
              </a:tblPr>
              <a:tblGrid>
                <a:gridCol w="3995550"/>
                <a:gridCol w="220125"/>
                <a:gridCol w="4292600"/>
              </a:tblGrid>
              <a:tr h="216000">
                <a:tc>
                  <a:txBody>
                    <a:bodyPr/>
                    <a:lstStyle/>
                    <a:p>
                      <a:pPr indent="0" lvl="0" marL="0" marR="0" rtl="0" algn="l">
                        <a:spcBef>
                          <a:spcPts val="0"/>
                        </a:spcBef>
                        <a:spcAft>
                          <a:spcPts val="0"/>
                        </a:spcAft>
                        <a:buNone/>
                      </a:pPr>
                      <a:r>
                        <a:rPr b="1" lang="en-GB" sz="1400">
                          <a:solidFill>
                            <a:schemeClr val="dk2"/>
                          </a:solidFill>
                        </a:rPr>
                        <a:t>Business Objectives</a:t>
                      </a:r>
                      <a:endParaRPr b="1" sz="1400">
                        <a:solidFill>
                          <a:schemeClr val="dk2"/>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Clr>
                          <a:schemeClr val="dk1"/>
                        </a:buClr>
                        <a:buSzPts val="900"/>
                        <a:buFont typeface="Arial"/>
                        <a:buNone/>
                      </a:pPr>
                      <a:r>
                        <a:rPr b="1" lang="en-GB" sz="900">
                          <a:solidFill>
                            <a:schemeClr val="dk1"/>
                          </a:solidFill>
                        </a:rPr>
                        <a:t>Collect and analyze competitive prices to determine need to reset prices of key products, categories and services based upon pricing strategy. Understand and simulate the impact of price adjustments to sales and profit</a:t>
                      </a:r>
                      <a:endParaRPr b="1" sz="900">
                        <a:solidFill>
                          <a:schemeClr val="dk1"/>
                        </a:solidFill>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Simulate</a:t>
                      </a:r>
                      <a:r>
                        <a:rPr b="0" lang="en-GB" sz="900">
                          <a:solidFill>
                            <a:schemeClr val="dk1"/>
                          </a:solidFill>
                        </a:rPr>
                        <a:t> pricing alternatives</a:t>
                      </a:r>
                      <a:endParaRPr b="0" sz="900">
                        <a:solidFill>
                          <a:schemeClr val="dk1"/>
                        </a:solidFill>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Apply price</a:t>
                      </a:r>
                      <a:r>
                        <a:rPr b="0" lang="en-GB" sz="900">
                          <a:solidFill>
                            <a:schemeClr val="dk1"/>
                          </a:solidFill>
                        </a:rPr>
                        <a:t> elasticity assumptions to evaluate pricing strategy scenarios and compare predicted revenue outcome options</a:t>
                      </a:r>
                      <a:endParaRPr b="0" sz="900">
                        <a:solidFill>
                          <a:schemeClr val="dk1"/>
                        </a:solidFill>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Compare own product</a:t>
                      </a:r>
                      <a:r>
                        <a:rPr b="0" lang="en-GB" sz="900">
                          <a:solidFill>
                            <a:schemeClr val="dk1"/>
                          </a:solidFill>
                        </a:rPr>
                        <a:t> or service portfolio (product portfolio) pricing on the market to competitor pricing and detect weak competitive position and/or cannibalization</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Recommend changes to pricing strategy</a:t>
                      </a:r>
                      <a:endParaRPr b="0" sz="900">
                        <a:solidFill>
                          <a:schemeClr val="dk1"/>
                        </a:solidFill>
                      </a:endParaRPr>
                    </a:p>
                    <a:p>
                      <a:pPr indent="-114300" lvl="0" marL="171450" marR="0" rtl="0" algn="l">
                        <a:lnSpc>
                          <a:spcPct val="100000"/>
                        </a:lnSpc>
                        <a:spcBef>
                          <a:spcPts val="0"/>
                        </a:spcBef>
                        <a:spcAft>
                          <a:spcPts val="0"/>
                        </a:spcAft>
                        <a:buClr>
                          <a:schemeClr val="dk1"/>
                        </a:buClr>
                        <a:buSzPts val="900"/>
                        <a:buFont typeface="Arial"/>
                        <a:buNone/>
                      </a:pPr>
                      <a:r>
                        <a:t/>
                      </a:r>
                      <a:endParaRPr b="0" sz="900">
                        <a:solidFill>
                          <a:schemeClr val="dk1"/>
                        </a:solidFill>
                      </a:endParaRPr>
                    </a:p>
                    <a:p>
                      <a:r>
                        <a:rPr sz="800" i="1">
                          <a:solidFill>
                            <a:srgbClr val="800080"/>
                          </a:solidFill>
                        </a:rPr>
                        <a:t>Modern Analytics: Revenue decomposition analytics, yield curve impact analysis, fee optimization, product-level revenue attribution, predictive revenue forecasting</a:t>
                      </a:r>
                    </a:p>
                    <a:p>
                      <a:r>
                        <a:rPr sz="900"/>
                        <a:t/>
                      </a:r>
                    </a:p>
                    <a:p>
                      <a:r>
                        <a:rPr sz="900"/>
                        <a:t>Monitor competitive pricing: deposit rates (SBP publishes), lending rates (KIBOR + spreads)</a:t>
                      </a:r>
                    </a:p>
                    <a:p>
                      <a:r>
                        <a:rPr sz="900"/>
                        <a:t>Track card fees (annual, late payment, FX markup), trade finance pricing (LC commission rates)</a:t>
                      </a:r>
                    </a:p>
                    <a:p>
                      <a:r>
                        <a:rPr sz="900"/>
                        <a:t>Digital transaction fees (RAAST/IBFT charges), account maintenance fees</a:t>
                      </a:r>
                    </a:p>
                    <a:p>
                      <a:r>
                        <a:rPr sz="900"/>
                        <a:t>Pakistan-specific: SBP minimum deposit rate creates floor; KIBOR creates lending benchmark</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xBody>
                    <a:bodyPr/>
                    <a:p/>
                  </a:txBody>
                </a:tc>
                <a:tc vMerge="1">
                  <a:txBody>
                    <a:bodyPr/>
                    <a:p/>
                  </a:txBody>
                </a:tc>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p>
                      <a:r>
                        <a:rPr sz="800" b="1">
                          <a:solidFill>
                            <a:srgbClr val="006699"/>
                          </a:solidFill>
                        </a:rPr>
                        <a:t>FSDM: Revenue_Line, Interest_Income, Fee_Income, Commission_Income, FX_Income, Investment_Income, Product_Revenue</a:t>
                      </a:r>
                    </a:p>
                    <a:p>
                      <a:r>
                        <a:rPr sz="800" i="1">
                          <a:solidFill>
                            <a:srgbClr val="008040"/>
                          </a:solidFill>
                        </a:rPr>
                        <a:t>Pakistan: NII driven by KIBOR spreads, fee income (remittance/trade/cards), FX income, investment portfolio (T-bills/PIBs/sukuk), Islamic income (profit on financing)</a:t>
                      </a: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Pricing business rules relevant for the product/service portfolio</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Detailed product data profiles</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Detail Sales and Service Usage historical data (telco and financial services) matching the product/service     </a:t>
                      </a:r>
                      <a:endParaRPr sz="900">
                        <a:solidFill>
                          <a:schemeClr val="dk1"/>
                        </a:solidFill>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Competitior price data including history</a:t>
                      </a:r>
                      <a:endParaRPr sz="900">
                        <a:solidFill>
                          <a:schemeClr val="dk1"/>
                        </a:solidFill>
                      </a:endParaRPr>
                    </a:p>
                    <a:p>
                      <a:pPr indent="-122238" lvl="0" marL="179388" marR="0" rtl="0" algn="l">
                        <a:spcBef>
                          <a:spcPts val="0"/>
                        </a:spcBef>
                        <a:spcAft>
                          <a:spcPts val="0"/>
                        </a:spcAft>
                        <a:buClr>
                          <a:schemeClr val="dk1"/>
                        </a:buClr>
                        <a:buSzPts val="900"/>
                        <a:buFont typeface="Arial"/>
                        <a:buNone/>
                      </a:pPr>
                      <a:r>
                        <a:t/>
                      </a:r>
                      <a:endParaRPr sz="900">
                        <a:solidFill>
                          <a:schemeClr val="dk1"/>
                        </a:solidFill>
                      </a:endParaRPr>
                    </a:p>
                    <a:p>
                      <a:pPr indent="0" lvl="0" marL="0" marR="0" rtl="0" algn="l">
                        <a:spcBef>
                          <a:spcPts val="0"/>
                        </a:spcBef>
                        <a:spcAft>
                          <a:spcPts val="0"/>
                        </a:spcAft>
                        <a:buClr>
                          <a:schemeClr val="dk1"/>
                        </a:buClr>
                        <a:buSzPts val="900"/>
                        <a:buFont typeface="Arial"/>
                        <a:buNone/>
                      </a:pPr>
                      <a:r>
                        <a:rPr b="1" lang="en-GB" sz="900">
                          <a:solidFill>
                            <a:schemeClr val="dk1"/>
                          </a:solidFill>
                        </a:rPr>
                        <a:t>Solution / Analytics</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Pricing simulation</a:t>
                      </a:r>
                      <a:endParaRPr sz="900">
                        <a:solidFill>
                          <a:schemeClr val="dk1"/>
                        </a:solidFill>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Pricing elasticity predictive models</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Competitor  pricing predictive analytics</a:t>
                      </a:r>
                      <a:endParaRPr sz="900">
                        <a:solidFill>
                          <a:schemeClr val="dk1"/>
                        </a:solidFill>
                      </a:endParaRPr>
                    </a:p>
                    <a:p>
                      <a:pPr indent="0" lvl="0" marL="0" marR="0" rtl="0" algn="l">
                        <a:spcBef>
                          <a:spcPts val="0"/>
                        </a:spcBef>
                        <a:spcAft>
                          <a:spcPts val="0"/>
                        </a:spcAft>
                        <a:buClr>
                          <a:schemeClr val="dk1"/>
                        </a:buClr>
                        <a:buSzPts val="900"/>
                        <a:buFont typeface="Arial"/>
                        <a:buNone/>
                      </a:pPr>
                      <a:r>
                        <a:t/>
                      </a:r>
                      <a:endParaRPr sz="900">
                        <a:solidFill>
                          <a:schemeClr val="dk1"/>
                        </a:solidFill>
                      </a:endParaRPr>
                    </a:p>
                    <a:p>
                      <a:r>
                        <a:rPr sz="800" b="1">
                          <a:solidFill>
                            <a:srgbClr val="006699"/>
                          </a:solidFill>
                        </a:rPr>
                        <a:t>FSDM: Revenue_Line, Interest_Income, Fee_Income, Commission_Income, FX_Income, Investment_Income, Product_Revenue</a:t>
                      </a:r>
                    </a:p>
                    <a:p>
                      <a:r>
                        <a:rPr sz="800" i="1">
                          <a:solidFill>
                            <a:srgbClr val="008040"/>
                          </a:solidFill>
                        </a:rPr>
                        <a:t>Pakistan: NII driven by KIBOR spreads, fee income (remittance/trade/cards), FX income, investment portfolio (T-bills/PIBs/sukuk), Islamic income (profit on financing)</a:t>
                      </a:r>
                    </a:p>
                    <a:p>
                      <a:r>
                        <a:rPr sz="900"/>
                        <a:t/>
                      </a:r>
                    </a:p>
                    <a:p>
                      <a:r>
                        <a:rPr sz="900"/>
                        <a:t>SBP published rate data, competitor rate sheets (publicly available)</a:t>
                      </a:r>
                    </a:p>
                    <a:p>
                      <a:r>
                        <a:rPr sz="900"/>
                        <a:t>KIBOR curves, card fee comparison across peers</a:t>
                      </a:r>
                    </a:p>
                    <a:p>
                      <a:r>
                        <a:rPr sz="900"/>
                        <a:t>Customer rate sensitivity data from FSDM</a:t>
                      </a:r>
                    </a:p>
                    <a:p>
                      <a:r>
                        <a:rPr sz="900"/>
                        <a:t>Digital banking fee comparison (JazzCash, Easypaisa, SadaPay, NayaPay)</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Maximized revenue of the product/service portfolio in competitive situation</a:t>
                      </a:r>
                      <a:endParaRPr sz="900">
                        <a:solidFill>
                          <a:schemeClr val="dk1"/>
                        </a:solidFill>
                        <a:latin typeface="Century Gothic"/>
                        <a:ea typeface="Century Gothic"/>
                        <a:cs typeface="Century Gothic"/>
                        <a:sym typeface="Century Gothic"/>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customer price perception</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Timely response to pricing competition on the market</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Conscious balancing between conflicting business targets, such as market share, revenue market share, average revenue per user and EBITDA (Telco)</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r>
                        <a:rPr sz="900">
                          <a:latin typeface="Century Gothic"/>
                        </a:rPr>
                        <a:t/>
                      </a:r>
                    </a:p>
                    <a:p>
                      <a:r>
                        <a:rPr sz="900">
                          <a:latin typeface="Century Gothic"/>
                        </a:rPr>
                        <a:t>Competitive pricing dashboard updated daily for deposit and lending rates</a:t>
                      </a:r>
                    </a:p>
                    <a:p>
                      <a:r>
                        <a:rPr sz="900">
                          <a:latin typeface="Century Gothic"/>
                        </a:rPr>
                        <a:t>Fee optimization opportunity identification across product portfolio</a:t>
                      </a:r>
                    </a:p>
                    <a:p>
                      <a:r>
                        <a:rPr sz="900">
                          <a:latin typeface="Century Gothic"/>
                        </a:rPr>
                        <a:t>Market share impact analysis from pricing changes</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6793" name="Google Shape;6793;p383"/>
          <p:cNvSpPr txBox="1"/>
          <p:nvPr>
            <p:ph type="title"/>
          </p:nvPr>
        </p:nvSpPr>
        <p:spPr>
          <a:xfrm>
            <a:off x="457200" y="173736"/>
            <a:ext cx="8229600" cy="704088"/>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Analyze Competitive Pricing</a:t>
            </a:r>
            <a:endParaRPr/>
          </a:p>
        </p:txBody>
      </p:sp>
      <p:grpSp>
        <p:nvGrpSpPr>
          <p:cNvPr id="6794" name="Google Shape;6794;p383"/>
          <p:cNvGrpSpPr/>
          <p:nvPr/>
        </p:nvGrpSpPr>
        <p:grpSpPr>
          <a:xfrm>
            <a:off x="7717533" y="4360377"/>
            <a:ext cx="1058348" cy="347375"/>
            <a:chOff x="7651698" y="4287227"/>
            <a:chExt cx="1058348" cy="347375"/>
          </a:xfrm>
        </p:grpSpPr>
        <p:grpSp>
          <p:nvGrpSpPr>
            <p:cNvPr id="6795" name="Google Shape;6795;p383"/>
            <p:cNvGrpSpPr/>
            <p:nvPr/>
          </p:nvGrpSpPr>
          <p:grpSpPr>
            <a:xfrm>
              <a:off x="7714163" y="4337598"/>
              <a:ext cx="995883" cy="297004"/>
              <a:chOff x="7711013" y="3986494"/>
              <a:chExt cx="995883" cy="297004"/>
            </a:xfrm>
          </p:grpSpPr>
          <p:sp>
            <p:nvSpPr>
              <p:cNvPr id="6796" name="Google Shape;6796;p383"/>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6797" name="Google Shape;6797;p383"/>
              <p:cNvGrpSpPr/>
              <p:nvPr/>
            </p:nvGrpSpPr>
            <p:grpSpPr>
              <a:xfrm>
                <a:off x="7711013" y="4002615"/>
                <a:ext cx="281520" cy="241973"/>
                <a:chOff x="5652748" y="4066000"/>
                <a:chExt cx="906498" cy="747974"/>
              </a:xfrm>
            </p:grpSpPr>
            <p:sp>
              <p:nvSpPr>
                <p:cNvPr id="6798" name="Google Shape;6798;p383"/>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6799" name="Google Shape;6799;p383"/>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6800" name="Google Shape;6800;p383"/>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6801" name="Google Shape;6801;p383">
              <a:hlinkClick action="ppaction://hlinksldjump" r:id="rId3"/>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pic>
        <p:nvPicPr>
          <p:cNvPr descr="Kick Chess Piece Standing" id="6802" name="Google Shape;6802;p383"/>
          <p:cNvPicPr preferRelativeResize="0"/>
          <p:nvPr/>
        </p:nvPicPr>
        <p:blipFill rotWithShape="1">
          <a:blip r:embed="rId4">
            <a:alphaModFix/>
          </a:blip>
          <a:srcRect b="0" l="0" r="0" t="0"/>
          <a:stretch/>
        </p:blipFill>
        <p:spPr>
          <a:xfrm>
            <a:off x="5538788" y="803275"/>
            <a:ext cx="2818342" cy="1876896"/>
          </a:xfrm>
          <a:prstGeom prst="rect">
            <a:avLst/>
          </a:prstGeom>
          <a:noFill/>
          <a:ln>
            <a:noFill/>
          </a:ln>
        </p:spPr>
      </p:pic>
      <p:sp>
        <p:nvSpPr>
          <p:cNvPr id="6803" name="Google Shape;6803;p383">
            <a:hlinkClick action="ppaction://hlinksldjump" r:id="rId5"/>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Price and Promotion</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8" name="Shape 6808"/>
        <p:cNvGrpSpPr/>
        <p:nvPr/>
      </p:nvGrpSpPr>
      <p:grpSpPr>
        <a:xfrm>
          <a:off x="0" y="0"/>
          <a:ext cx="0" cy="0"/>
          <a:chOff x="0" y="0"/>
          <a:chExt cx="0" cy="0"/>
        </a:xfrm>
      </p:grpSpPr>
      <p:graphicFrame>
        <p:nvGraphicFramePr>
          <p:cNvPr id="6809" name="Google Shape;6809;p384"/>
          <p:cNvGraphicFramePr/>
          <p:nvPr/>
        </p:nvGraphicFramePr>
        <p:xfrm>
          <a:off x="469899" y="789217"/>
          <a:ext cx="3000000" cy="3000000"/>
        </p:xfrm>
        <a:graphic>
          <a:graphicData uri="http://schemas.openxmlformats.org/drawingml/2006/table">
            <a:tbl>
              <a:tblPr bandRow="1" firstRow="1">
                <a:noFill/>
                <a:tableStyleId>{D098BFCB-6916-41F2-A2A5-0DF0D5139B6F}</a:tableStyleId>
              </a:tblPr>
              <a:tblGrid>
                <a:gridCol w="130325"/>
                <a:gridCol w="556275"/>
                <a:gridCol w="367500"/>
                <a:gridCol w="3170075"/>
                <a:gridCol w="3276050"/>
                <a:gridCol w="477150"/>
                <a:gridCol w="477150"/>
              </a:tblGrid>
              <a:tr h="180850">
                <a:tc gridSpan="3">
                  <a:txBody>
                    <a:bodyPr/>
                    <a:lstStyle/>
                    <a:p>
                      <a:pPr indent="0" lvl="0" marL="0" marR="0" rtl="0" algn="ctr">
                        <a:spcBef>
                          <a:spcPts val="0"/>
                        </a:spcBef>
                        <a:spcAft>
                          <a:spcPts val="0"/>
                        </a:spcAft>
                        <a:buNone/>
                      </a:pPr>
                      <a:r>
                        <a:rPr b="1" lang="en-GB" sz="1200">
                          <a:solidFill>
                            <a:schemeClr val="dk2"/>
                          </a:solidFill>
                        </a:rPr>
                        <a:t>Level</a:t>
                      </a:r>
                      <a:endParaRPr b="1" sz="12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hMerge="1">
                  <a:txBody>
                    <a:bodyPr/>
                    <a:p/>
                  </a:txBody>
                </a:tc>
                <a:tc gridSpan="2">
                  <a:txBody>
                    <a:bodyPr/>
                    <a:lstStyle/>
                    <a:p>
                      <a:pPr indent="0" lvl="0" marL="0" marR="0" rtl="0" algn="ctr">
                        <a:lnSpc>
                          <a:spcPct val="100000"/>
                        </a:lnSpc>
                        <a:spcBef>
                          <a:spcPts val="0"/>
                        </a:spcBef>
                        <a:spcAft>
                          <a:spcPts val="0"/>
                        </a:spcAft>
                        <a:buClr>
                          <a:schemeClr val="dk2"/>
                        </a:buClr>
                        <a:buSzPts val="1200"/>
                        <a:buFont typeface="Century Gothic"/>
                        <a:buNone/>
                      </a:pPr>
                      <a:r>
                        <a:rPr b="1" lang="en-GB" sz="1200">
                          <a:solidFill>
                            <a:schemeClr val="dk2"/>
                          </a:solidFill>
                        </a:rPr>
                        <a:t>Maturity Statement</a:t>
                      </a:r>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rPr b="1" lang="en-GB" sz="800">
                          <a:solidFill>
                            <a:schemeClr val="dk2"/>
                          </a:solidFill>
                        </a:rPr>
                        <a:t>Current</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rPr b="1" lang="en-GB" sz="800">
                          <a:solidFill>
                            <a:schemeClr val="dk2"/>
                          </a:solidFill>
                        </a:rPr>
                        <a:t>Desired</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3385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06C1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Leading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Pricing optimized by proactive actions based on competitor move prediction in a deep granularized market view, providing right time response to competitive pricing changes. Predictive analytics on expected competitor pricing moves.</a:t>
                      </a:r>
                      <a:endParaRPr b="0" sz="900">
                        <a:solidFill>
                          <a:schemeClr val="dk1"/>
                        </a:solidFill>
                        <a:latin typeface="Century Gothic"/>
                        <a:ea typeface="Century Gothic"/>
                        <a:cs typeface="Century Gothic"/>
                        <a:sym typeface="Century Gothic"/>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3385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F7513"/>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Innovating</a:t>
                      </a:r>
                      <a:endParaRPr/>
                    </a:p>
                    <a:p>
                      <a:pPr indent="0" lvl="0" marL="0" marR="0" rtl="0" algn="ctr">
                        <a:spcBef>
                          <a:spcPts val="0"/>
                        </a:spcBef>
                        <a:spcAft>
                          <a:spcPts val="0"/>
                        </a:spcAft>
                        <a:buNone/>
                      </a:pPr>
                      <a:r>
                        <a:t/>
                      </a:r>
                      <a:endParaRPr b="1" sz="1000">
                        <a:solidFill>
                          <a:schemeClr val="dk2"/>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Competitve pricing optimizing for driving future service usage habits/purchasing habits to maximize revenues  on deep granularity market view. Predictive analytics supports modeling future usage habit pattern insights for pricing.</a:t>
                      </a:r>
                      <a:endParaRPr b="0" sz="900">
                        <a:solidFill>
                          <a:schemeClr val="dk1"/>
                        </a:solidFill>
                        <a:latin typeface="Century Gothic"/>
                        <a:ea typeface="Century Gothic"/>
                        <a:cs typeface="Century Gothic"/>
                        <a:sym typeface="Century Gothic"/>
                      </a:endParaRPr>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3385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C891C"/>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Practicing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Competitive price considering not only competiton prices but substitute produc prices. </a:t>
                      </a:r>
                      <a:endParaRPr/>
                    </a:p>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Service usage patterns recognized to match competitve pricing shchemes</a:t>
                      </a:r>
                      <a:endParaRPr b="0" sz="900">
                        <a:solidFill>
                          <a:schemeClr val="dk1"/>
                        </a:solidFill>
                        <a:latin typeface="Century Gothic"/>
                        <a:ea typeface="Century Gothic"/>
                        <a:cs typeface="Century Gothic"/>
                        <a:sym typeface="Century Gothic"/>
                      </a:endParaRPr>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lnSpc>
                          <a:spcPct val="100000"/>
                        </a:lnSpc>
                        <a:spcBef>
                          <a:spcPts val="0"/>
                        </a:spcBef>
                        <a:spcAft>
                          <a:spcPts val="0"/>
                        </a:spcAft>
                        <a:buClr>
                          <a:schemeClr val="dk1"/>
                        </a:buClr>
                        <a:buSzPts val="1400"/>
                        <a:buFont typeface="Century Gothic"/>
                        <a:buNone/>
                      </a:pPr>
                      <a:r>
                        <a:t/>
                      </a:r>
                      <a:endParaRPr sz="1400">
                        <a:solidFill>
                          <a:schemeClr val="dk1"/>
                        </a:solidFill>
                        <a:latin typeface="Noto Sans Symbols"/>
                        <a:ea typeface="Noto Sans Symbols"/>
                        <a:cs typeface="Noto Sans Symbols"/>
                        <a:sym typeface="Noto Sans Symbols"/>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3385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E9B4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Developing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Pricing optimization  toward competitors on improved granularity of local market position, reactive to recognized competitive price position changes</a:t>
                      </a:r>
                      <a:endParaRPr b="0" sz="900">
                        <a:solidFill>
                          <a:schemeClr val="dk1"/>
                        </a:solidFill>
                        <a:latin typeface="Century Gothic"/>
                        <a:ea typeface="Century Gothic"/>
                        <a:cs typeface="Century Gothic"/>
                        <a:sym typeface="Century Gothic"/>
                      </a:endParaRPr>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3385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F1AE65"/>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Emerging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Pricing optimizing for revenue maximization based on comparison of competitor prices on the market</a:t>
                      </a:r>
                      <a:endParaRPr b="0" sz="900">
                        <a:solidFill>
                          <a:schemeClr val="dk1"/>
                        </a:solidFill>
                        <a:latin typeface="Century Gothic"/>
                        <a:ea typeface="Century Gothic"/>
                        <a:cs typeface="Century Gothic"/>
                        <a:sym typeface="Century Gothic"/>
                      </a:endParaRPr>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178750">
                <a:tc gridSpan="3">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Priority</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hMerge="1">
                  <a:txBody>
                    <a:bodyPr/>
                    <a:p/>
                  </a:txBody>
                </a:tc>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Key areas for improvement</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Benefits from uplift</a:t>
                      </a:r>
                      <a:endParaRPr b="1" sz="1000">
                        <a:solidFill>
                          <a:schemeClr val="dk2"/>
                        </a:solidFill>
                        <a:latin typeface="Century Gothic"/>
                        <a:ea typeface="Century Gothic"/>
                        <a:cs typeface="Century Gothic"/>
                        <a:sym typeface="Century Gothic"/>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a:txBody>
                    <a:bodyPr/>
                    <a:lstStyle/>
                    <a:p>
                      <a:pPr indent="0" lvl="0" marL="0" marR="0" rtl="0" algn="ctr">
                        <a:spcBef>
                          <a:spcPts val="0"/>
                        </a:spcBef>
                        <a:spcAft>
                          <a:spcPts val="0"/>
                        </a:spcAft>
                        <a:buNone/>
                      </a:pPr>
                      <a:r>
                        <a:rPr b="1" lang="en-GB" sz="1000">
                          <a:solidFill>
                            <a:schemeClr val="dk2"/>
                          </a:solidFill>
                        </a:rPr>
                        <a:t>Timeframe</a:t>
                      </a:r>
                      <a:endParaRPr b="1" sz="1000">
                        <a:solidFill>
                          <a:schemeClr val="dk2"/>
                        </a:solidFill>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r>
              <a:tr h="243275">
                <a:tc gridSpan="2">
                  <a:txBody>
                    <a:bodyPr/>
                    <a:lstStyle/>
                    <a:p>
                      <a:pPr indent="0" lvl="0" marL="0" marR="0" rtl="0" algn="ctr">
                        <a:spcBef>
                          <a:spcPts val="0"/>
                        </a:spcBef>
                        <a:spcAft>
                          <a:spcPts val="0"/>
                        </a:spcAft>
                        <a:buNone/>
                      </a:pPr>
                      <a:r>
                        <a:rPr b="1" lang="en-GB" sz="800">
                          <a:solidFill>
                            <a:schemeClr val="dk1"/>
                          </a:solidFill>
                        </a:rPr>
                        <a:t>High</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rPr lang="en-GB" sz="1000">
                          <a:solidFill>
                            <a:schemeClr val="dk1"/>
                          </a:solidFill>
                          <a:latin typeface="Noto Sans Symbols"/>
                          <a:ea typeface="Noto Sans Symbols"/>
                          <a:cs typeface="Noto Sans Symbols"/>
                          <a:sym typeface="Noto Sans Symbols"/>
                        </a:rPr>
                        <a:t>✔</a:t>
                      </a:r>
                      <a:endParaRPr b="1" sz="10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0" lvl="0" marL="0" marR="0" rtl="0" algn="l">
                        <a:lnSpc>
                          <a:spcPct val="100000"/>
                        </a:lnSpc>
                        <a:spcBef>
                          <a:spcPts val="0"/>
                        </a:spcBef>
                        <a:spcAft>
                          <a:spcPts val="0"/>
                        </a:spcAft>
                        <a:buClr>
                          <a:schemeClr val="dk1"/>
                        </a:buClr>
                        <a:buSzPts val="800"/>
                        <a:buFont typeface="Arial"/>
                        <a:buNone/>
                      </a:pPr>
                      <a:r>
                        <a:rPr sz="800" b="0">
                          <a:latin typeface="Century Gothic"/>
                        </a:rPr>
                        <a:t>Pakistan priority improvements:</a:t>
                      </a:r>
                      <a:endParaRPr/>
                    </a:p>
                    <a:p>
                      <a:r>
                        <a:rPr sz="800" b="0">
                          <a:latin typeface="Century Gothic"/>
                        </a:rPr>
                        <a:t>Real-time competitive pricing dashboard: deposits, lending, cards, trade finance</a:t>
                      </a:r>
                    </a:p>
                    <a:p>
                      <a:r>
                        <a:rPr sz="800" b="0">
                          <a:latin typeface="Century Gothic"/>
                        </a:rPr>
                        <a:t>SBP rate data integration for deposit floor monitoring</a:t>
                      </a:r>
                    </a:p>
                    <a:p>
                      <a:r>
                        <a:rPr sz="800" b="0">
                          <a:latin typeface="Century Gothic"/>
                        </a:rPr>
                        <a:t>KIBOR curve analytics for lending spread optimization</a:t>
                      </a:r>
                    </a:p>
                    <a:p>
                      <a:r>
                        <a:rPr sz="800" b="0">
                          <a:latin typeface="Century Gothic"/>
                        </a:rPr>
                        <a:t>Digital banking fee benchmarking (RAAST, IBFT, mobile wallet fees)</a:t>
                      </a:r>
                    </a:p>
                    <a:p>
                      <a:r>
                        <a:rPr sz="800" b="0">
                          <a:latin typeface="Century Gothic"/>
                        </a:rPr>
                        <a:t>Cross-product pricing correlation analysis</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285750" lvl="0" marL="285750" marR="0" rtl="0" algn="l">
                        <a:spcBef>
                          <a:spcPts val="0"/>
                        </a:spcBef>
                        <a:spcAft>
                          <a:spcPts val="0"/>
                        </a:spcAft>
                        <a:buClr>
                          <a:schemeClr val="dk1"/>
                        </a:buClr>
                        <a:buSzPts val="800"/>
                        <a:buFont typeface="Arial"/>
                        <a:buChar char="•"/>
                      </a:pPr>
                      <a:r>
                        <a:rPr sz="800">
                          <a:latin typeface="Century Gothic"/>
                        </a:rPr>
                        <a:t>Daily competitive intelligence on pricing across all product categories</a:t>
                      </a:r>
                      <a:endParaRPr/>
                    </a:p>
                    <a:p>
                      <a:r>
                        <a:rPr sz="800">
                          <a:latin typeface="Century Gothic"/>
                        </a:rPr>
                        <a:t>Optimized deposit gathering cost through rate-vs-volume analytics</a:t>
                      </a:r>
                    </a:p>
                    <a:p>
                      <a:r>
                        <a:rPr sz="800">
                          <a:latin typeface="Century Gothic"/>
                        </a:rPr>
                        <a:t>Lending spread optimization maximizing NII within competitive constraints</a:t>
                      </a:r>
                    </a:p>
                    <a:p>
                      <a:r>
                        <a:rPr sz="800">
                          <a:latin typeface="Century Gothic"/>
                        </a:rPr>
                        <a:t>Fee income optimization from card and digital product pricing</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rowSpan="3">
                  <a:txBody>
                    <a:bodyPr/>
                    <a:lstStyle/>
                    <a:p>
                      <a:pPr indent="0" lvl="0" marL="0" marR="0" rtl="0" algn="ctr">
                        <a:lnSpc>
                          <a:spcPct val="100000"/>
                        </a:lnSpc>
                        <a:spcBef>
                          <a:spcPts val="0"/>
                        </a:spcBef>
                        <a:spcAft>
                          <a:spcPts val="0"/>
                        </a:spcAft>
                        <a:buClr>
                          <a:schemeClr val="dk1"/>
                        </a:buClr>
                        <a:buSzPts val="800"/>
                        <a:buFont typeface="Century Gothic"/>
                        <a:buNone/>
                      </a:pPr>
                      <a:r>
                        <a:rPr b="0" lang="en-GB" sz="800">
                          <a:solidFill>
                            <a:schemeClr val="dk1"/>
                          </a:solidFill>
                        </a:rPr>
                        <a:t>2025-2027</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hMerge="1">
                  <a:txBody>
                    <a:bodyPr/>
                    <a:p/>
                  </a:txBody>
                </a:tc>
              </a:tr>
              <a:tr h="243275">
                <a:tc gridSpan="2">
                  <a:txBody>
                    <a:bodyPr/>
                    <a:lstStyle/>
                    <a:p>
                      <a:pPr indent="0" lvl="0" marL="0" marR="0" rtl="0" algn="ctr">
                        <a:spcBef>
                          <a:spcPts val="0"/>
                        </a:spcBef>
                        <a:spcAft>
                          <a:spcPts val="0"/>
                        </a:spcAft>
                        <a:buNone/>
                      </a:pPr>
                      <a:r>
                        <a:rPr b="1" lang="en-GB" sz="800">
                          <a:solidFill>
                            <a:schemeClr val="dk1"/>
                          </a:solidFill>
                        </a:rPr>
                        <a:t>Medium</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xBody>
                    <a:bodyPr/>
                    <a:p/>
                  </a:txBody>
                </a:tc>
                <a:tc vMerge="1">
                  <a:txBody>
                    <a:bodyPr/>
                    <a:p/>
                  </a:txBody>
                </a:tc>
                <a:tc gridSpan="2" vMerge="1">
                  <a:txBody>
                    <a:bodyPr/>
                    <a:p/>
                  </a:txBody>
                </a:tc>
                <a:tc hMerge="1" vMerge="1">
                  <a:txBody>
                    <a:bodyPr/>
                    <a:p/>
                  </a:txBody>
                </a:tc>
              </a:tr>
              <a:tr h="243275">
                <a:tc gridSpan="2">
                  <a:txBody>
                    <a:bodyPr/>
                    <a:lstStyle/>
                    <a:p>
                      <a:pPr indent="0" lvl="0" marL="0" marR="0" rtl="0" algn="ctr">
                        <a:spcBef>
                          <a:spcPts val="0"/>
                        </a:spcBef>
                        <a:spcAft>
                          <a:spcPts val="0"/>
                        </a:spcAft>
                        <a:buNone/>
                      </a:pPr>
                      <a:r>
                        <a:rPr b="1" lang="en-GB" sz="800">
                          <a:solidFill>
                            <a:schemeClr val="dk1"/>
                          </a:solidFill>
                        </a:rPr>
                        <a:t>Low</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xBody>
                    <a:bodyPr/>
                    <a:p/>
                  </a:txBody>
                </a:tc>
                <a:tc vMerge="1">
                  <a:txBody>
                    <a:bodyPr/>
                    <a:p/>
                  </a:txBody>
                </a:tc>
                <a:tc gridSpan="2" vMerge="1">
                  <a:txBody>
                    <a:bodyPr/>
                    <a:p/>
                  </a:txBody>
                </a:tc>
                <a:tc hMerge="1" vMerge="1">
                  <a:txBody>
                    <a:bodyPr/>
                    <a:p/>
                  </a:txBody>
                </a:tc>
              </a:tr>
            </a:tbl>
          </a:graphicData>
        </a:graphic>
      </p:graphicFrame>
      <p:grpSp>
        <p:nvGrpSpPr>
          <p:cNvPr id="6810" name="Google Shape;6810;p384"/>
          <p:cNvGrpSpPr/>
          <p:nvPr/>
        </p:nvGrpSpPr>
        <p:grpSpPr>
          <a:xfrm>
            <a:off x="466165" y="3624946"/>
            <a:ext cx="8455025" cy="989387"/>
            <a:chOff x="211138" y="3972860"/>
            <a:chExt cx="8713787" cy="642437"/>
          </a:xfrm>
        </p:grpSpPr>
        <p:sp>
          <p:nvSpPr>
            <p:cNvPr id="6811" name="Google Shape;6811;p384"/>
            <p:cNvSpPr/>
            <p:nvPr/>
          </p:nvSpPr>
          <p:spPr>
            <a:xfrm>
              <a:off x="211138" y="3972860"/>
              <a:ext cx="8713787" cy="642437"/>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6812" name="Google Shape;6812;p384"/>
            <p:cNvSpPr/>
            <p:nvPr/>
          </p:nvSpPr>
          <p:spPr>
            <a:xfrm>
              <a:off x="3692726" y="3982349"/>
              <a:ext cx="1753883" cy="632948"/>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grpSp>
        <p:nvGrpSpPr>
          <p:cNvPr id="6813" name="Google Shape;6813;p384"/>
          <p:cNvGrpSpPr/>
          <p:nvPr/>
        </p:nvGrpSpPr>
        <p:grpSpPr>
          <a:xfrm>
            <a:off x="7971865" y="980278"/>
            <a:ext cx="949325" cy="2867825"/>
            <a:chOff x="7941888" y="1062037"/>
            <a:chExt cx="983037" cy="2695575"/>
          </a:xfrm>
        </p:grpSpPr>
        <p:sp>
          <p:nvSpPr>
            <p:cNvPr id="6814" name="Google Shape;6814;p384"/>
            <p:cNvSpPr/>
            <p:nvPr/>
          </p:nvSpPr>
          <p:spPr>
            <a:xfrm>
              <a:off x="7941889" y="1062037"/>
              <a:ext cx="983036" cy="2695575"/>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6815" name="Google Shape;6815;p384"/>
            <p:cNvSpPr/>
            <p:nvPr/>
          </p:nvSpPr>
          <p:spPr>
            <a:xfrm>
              <a:off x="7941888" y="2052586"/>
              <a:ext cx="983037" cy="714476"/>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sp>
        <p:nvSpPr>
          <p:cNvPr id="6816" name="Google Shape;6816;p384"/>
          <p:cNvSpPr txBox="1"/>
          <p:nvPr>
            <p:ph type="title"/>
          </p:nvPr>
        </p:nvSpPr>
        <p:spPr>
          <a:xfrm>
            <a:off x="457200" y="173736"/>
            <a:ext cx="8229600" cy="704088"/>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Analyze Competitive Pricing</a:t>
            </a:r>
            <a:endParaRPr/>
          </a:p>
        </p:txBody>
      </p:sp>
      <p:sp>
        <p:nvSpPr>
          <p:cNvPr id="6817" name="Google Shape;6817;p384">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Price and Promotion</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2" name="Shape 6822"/>
        <p:cNvGrpSpPr/>
        <p:nvPr/>
      </p:nvGrpSpPr>
      <p:grpSpPr>
        <a:xfrm>
          <a:off x="0" y="0"/>
          <a:ext cx="0" cy="0"/>
          <a:chOff x="0" y="0"/>
          <a:chExt cx="0" cy="0"/>
        </a:xfrm>
      </p:grpSpPr>
      <p:cxnSp>
        <p:nvCxnSpPr>
          <p:cNvPr id="6823" name="Google Shape;6823;p385"/>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graphicFrame>
        <p:nvGraphicFramePr>
          <p:cNvPr id="6824" name="Google Shape;6824;p385"/>
          <p:cNvGraphicFramePr/>
          <p:nvPr/>
        </p:nvGraphicFramePr>
        <p:xfrm>
          <a:off x="414866" y="86518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b="1" sz="1400">
                        <a:solidFill>
                          <a:schemeClr val="dk2"/>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lnSpc>
                          <a:spcPct val="100000"/>
                        </a:lnSpc>
                        <a:spcBef>
                          <a:spcPts val="0"/>
                        </a:spcBef>
                        <a:spcAft>
                          <a:spcPts val="0"/>
                        </a:spcAft>
                        <a:buClr>
                          <a:schemeClr val="dk1"/>
                        </a:buClr>
                        <a:buSzPts val="900"/>
                        <a:buFont typeface="Arial"/>
                        <a:buNone/>
                      </a:pPr>
                      <a:r>
                        <a:rPr b="1" lang="en-GB" sz="900">
                          <a:solidFill>
                            <a:schemeClr val="dk1"/>
                          </a:solidFill>
                        </a:rPr>
                        <a:t>Reactively adjust prices based on resource availability to shape demand and manage yield in right/near real time. Prices may fluctuate based on time of day,  space and usage. </a:t>
                      </a:r>
                      <a:endParaRPr b="1" sz="900">
                        <a:solidFill>
                          <a:schemeClr val="dk1"/>
                        </a:solidFill>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rPr>
                        <a:t>Apply</a:t>
                      </a:r>
                      <a:r>
                        <a:rPr b="0" lang="en-GB" sz="900">
                          <a:solidFill>
                            <a:schemeClr val="dk1"/>
                          </a:solidFill>
                        </a:rPr>
                        <a:t> p</a:t>
                      </a:r>
                      <a:r>
                        <a:rPr b="0" lang="en-GB" sz="900">
                          <a:solidFill>
                            <a:schemeClr val="dk1"/>
                          </a:solidFill>
                        </a:rPr>
                        <a:t>rioritized</a:t>
                      </a:r>
                      <a:r>
                        <a:rPr b="0" lang="en-GB" sz="900">
                          <a:solidFill>
                            <a:schemeClr val="dk1"/>
                          </a:solidFill>
                        </a:rPr>
                        <a:t> pricing business rules based on strategic directions and vallue targets</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rPr>
                        <a:t>Utilize pricing to impact product pipeline turn-over, product strategy or customer strategy</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rPr>
                        <a:t>Improve timely relevance of applied pricing shcemes to changing business performance objectives</a:t>
                      </a:r>
                      <a:endParaRPr b="0" sz="900">
                        <a:solidFill>
                          <a:schemeClr val="dk1"/>
                        </a:solidFill>
                      </a:endParaRPr>
                    </a:p>
                    <a:p>
                      <a:r>
                        <a:rPr sz="900"/>
                        <a:t/>
                      </a:r>
                    </a:p>
                    <a:p>
                      <a:r>
                        <a:rPr sz="900"/>
                        <a:t>Dynamic pricing in Pakistan banking: adjust deposit rates for large depositors (relationship pricing)</a:t>
                      </a:r>
                    </a:p>
                    <a:p>
                      <a:r>
                        <a:rPr sz="900"/>
                        <a:t>Risk-based lending: KIBOR + variable risk premium based on ECIB/internal rating</a:t>
                      </a:r>
                    </a:p>
                    <a:p>
                      <a:r>
                        <a:rPr sz="900"/>
                        <a:t>Promotional card rates: balance transfer offers, spend-based fee waivers</a:t>
                      </a:r>
                    </a:p>
                    <a:p>
                      <a:r>
                        <a:rPr sz="900"/>
                        <a:t>Constraints: SBP minimum deposit rate, KIBOR-linked lending floors, SBP credit card rate caps (under discussion)</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xBody>
                    <a:bodyPr/>
                    <a:p/>
                  </a:txBody>
                </a:tc>
                <a:tc vMerge="1">
                  <a:txBody>
                    <a:bodyPr/>
                    <a:p/>
                  </a:txBody>
                </a:tc>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p>
                      <a:r>
                        <a:rPr sz="800" b="1">
                          <a:solidFill>
                            <a:srgbClr val="006699"/>
                          </a:solidFill>
                        </a:rPr>
                        <a:t>FSDM: Revenue_Line, Interest_Income, Fee_Income, Commission_Income, FX_Income, Investment_Income, Product_Revenue</a:t>
                      </a:r>
                    </a:p>
                    <a:p>
                      <a:r>
                        <a:rPr sz="800" i="1">
                          <a:solidFill>
                            <a:srgbClr val="008040"/>
                          </a:solidFill>
                        </a:rPr>
                        <a:t>Pakistan: NII driven by KIBOR spreads, fee income (remittance/trade/cards), FX income, investment portfolio (T-bills/PIBs/sukuk), Islamic income (profit on financing)</a:t>
                      </a: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Pricing business rules relevant for the product/service portfolio</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Pricing flexibility assumptions</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Detailed product data profiles</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Detail Sales and Service Usage historical data (telco and financial services) matching the product/service     </a:t>
                      </a:r>
                      <a:endParaRPr/>
                    </a:p>
                    <a:p>
                      <a:pPr indent="-122238" lvl="0" marL="179388" marR="0" rtl="0" algn="l">
                        <a:spcBef>
                          <a:spcPts val="0"/>
                        </a:spcBef>
                        <a:spcAft>
                          <a:spcPts val="0"/>
                        </a:spcAft>
                        <a:buClr>
                          <a:schemeClr val="dk1"/>
                        </a:buClr>
                        <a:buSzPts val="900"/>
                        <a:buFont typeface="Arial"/>
                        <a:buNone/>
                      </a:pPr>
                      <a:r>
                        <a:t/>
                      </a:r>
                      <a:endParaRPr sz="900">
                        <a:solidFill>
                          <a:schemeClr val="dk1"/>
                        </a:solidFill>
                      </a:endParaRPr>
                    </a:p>
                    <a:p>
                      <a:pPr indent="0" lvl="0" marL="0" marR="0" rtl="0" algn="l">
                        <a:spcBef>
                          <a:spcPts val="0"/>
                        </a:spcBef>
                        <a:spcAft>
                          <a:spcPts val="0"/>
                        </a:spcAft>
                        <a:buClr>
                          <a:schemeClr val="dk1"/>
                        </a:buClr>
                        <a:buSzPts val="900"/>
                        <a:buFont typeface="Arial"/>
                        <a:buNone/>
                      </a:pPr>
                      <a:r>
                        <a:rPr b="1" lang="en-GB" sz="900">
                          <a:solidFill>
                            <a:schemeClr val="dk1"/>
                          </a:solidFill>
                        </a:rPr>
                        <a:t>Solution / Analytics</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Pricing simulation</a:t>
                      </a:r>
                      <a:endParaRPr sz="900">
                        <a:solidFill>
                          <a:schemeClr val="dk1"/>
                        </a:solidFill>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Pricing flexibility predictive models (input)</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Product graph (input) to identify bridge products (retail)</a:t>
                      </a:r>
                      <a:endParaRPr sz="900">
                        <a:solidFill>
                          <a:schemeClr val="dk1"/>
                        </a:solidFill>
                      </a:endParaRPr>
                    </a:p>
                    <a:p>
                      <a:pPr indent="0" lvl="0" marL="0" marR="0" rtl="0" algn="l">
                        <a:spcBef>
                          <a:spcPts val="0"/>
                        </a:spcBef>
                        <a:spcAft>
                          <a:spcPts val="0"/>
                        </a:spcAft>
                        <a:buClr>
                          <a:schemeClr val="dk1"/>
                        </a:buClr>
                        <a:buSzPts val="900"/>
                        <a:buFont typeface="Arial"/>
                        <a:buNone/>
                      </a:pPr>
                      <a:r>
                        <a:t/>
                      </a:r>
                      <a:endParaRPr sz="900">
                        <a:solidFill>
                          <a:schemeClr val="dk1"/>
                        </a:solidFill>
                      </a:endParaRPr>
                    </a:p>
                    <a:p>
                      <a:r>
                        <a:rPr sz="800" b="1">
                          <a:solidFill>
                            <a:srgbClr val="006699"/>
                          </a:solidFill>
                        </a:rPr>
                        <a:t>FSDM: Revenue_Line, Interest_Income, Fee_Income, Commission_Income, FX_Income, Investment_Income, Product_Revenue</a:t>
                      </a:r>
                    </a:p>
                    <a:p>
                      <a:r>
                        <a:rPr sz="800" i="1">
                          <a:solidFill>
                            <a:srgbClr val="008040"/>
                          </a:solidFill>
                        </a:rPr>
                        <a:t>Pakistan: NII driven by KIBOR spreads, fee income (remittance/trade/cards), FX income, investment portfolio (T-bills/PIBs/sukuk), Islamic income (profit on financing)</a:t>
                      </a:r>
                    </a:p>
                    <a:p>
                      <a:r>
                        <a:rPr sz="900"/>
                        <a:t/>
                      </a:r>
                    </a:p>
                    <a:p>
                      <a:r>
                        <a:rPr sz="900"/>
                        <a:t>Customer deposit balance and tenor data from FSDM</a:t>
                      </a:r>
                    </a:p>
                    <a:p>
                      <a:r>
                        <a:rPr sz="900"/>
                        <a:t>ECIB credit bureau scores, internal risk ratings</a:t>
                      </a:r>
                    </a:p>
                    <a:p>
                      <a:r>
                        <a:rPr sz="900"/>
                        <a:t>Transaction and spending pattern data for card pricing</a:t>
                      </a:r>
                    </a:p>
                    <a:p>
                      <a:r>
                        <a:rPr sz="900"/>
                        <a:t>Competitor pricing intelligence and market elasticity data</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Maximized revenue of the product/service portfolio over a time interwal or available stock/resources</a:t>
                      </a:r>
                      <a:endParaRPr sz="900">
                        <a:solidFill>
                          <a:schemeClr val="dk1"/>
                        </a:solidFill>
                        <a:latin typeface="Century Gothic"/>
                        <a:ea typeface="Century Gothic"/>
                        <a:cs typeface="Century Gothic"/>
                        <a:sym typeface="Century Gothic"/>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customer price perception</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penetration growth for strategic products or product introduction</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Conscious balancing between conflicting business targets, such as market share, revenue market share, average revenue per user and EBITDA for Telco industry</a:t>
                      </a:r>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r>
                        <a:rPr sz="900">
                          <a:latin typeface="Century Gothic"/>
                        </a:rPr>
                        <a:t/>
                      </a:r>
                    </a:p>
                    <a:p>
                      <a:r>
                        <a:rPr sz="900">
                          <a:latin typeface="Century Gothic"/>
                        </a:rPr>
                        <a:t>Optimize NII by dynamically adjusting deposit gathering cost vs. lending margin</a:t>
                      </a:r>
                    </a:p>
                    <a:p>
                      <a:r>
                        <a:rPr sz="900">
                          <a:latin typeface="Century Gothic"/>
                        </a:rPr>
                        <a:t>Retain large depositors through competitive relationship pricing while protecting margin</a:t>
                      </a:r>
                    </a:p>
                    <a:p>
                      <a:r>
                        <a:rPr sz="900">
                          <a:latin typeface="Century Gothic"/>
                        </a:rPr>
                        <a:t>Risk-adjusted lending pricing maximizing risk-return trade-off</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6825" name="Google Shape;6825;p385"/>
          <p:cNvSpPr txBox="1"/>
          <p:nvPr>
            <p:ph type="title"/>
          </p:nvPr>
        </p:nvSpPr>
        <p:spPr>
          <a:xfrm>
            <a:off x="457200" y="173736"/>
            <a:ext cx="8229600" cy="704088"/>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Manage Dynamic Pricing</a:t>
            </a:r>
            <a:endParaRPr/>
          </a:p>
        </p:txBody>
      </p:sp>
      <p:pic>
        <p:nvPicPr>
          <p:cNvPr descr="Person Using Black And White Smartphone and Holding Blue Card" id="6826" name="Google Shape;6826;p385"/>
          <p:cNvPicPr preferRelativeResize="0"/>
          <p:nvPr/>
        </p:nvPicPr>
        <p:blipFill rotWithShape="1">
          <a:blip r:embed="rId3">
            <a:alphaModFix/>
          </a:blip>
          <a:srcRect b="0" l="0" r="0" t="0"/>
          <a:stretch/>
        </p:blipFill>
        <p:spPr>
          <a:xfrm>
            <a:off x="5538788" y="613889"/>
            <a:ext cx="2979930" cy="1986620"/>
          </a:xfrm>
          <a:prstGeom prst="rect">
            <a:avLst/>
          </a:prstGeom>
          <a:noFill/>
          <a:ln>
            <a:noFill/>
          </a:ln>
        </p:spPr>
      </p:pic>
      <p:sp>
        <p:nvSpPr>
          <p:cNvPr id="6827" name="Google Shape;6827;p385">
            <a:hlinkClick action="ppaction://hlinksldjump" r:id="rId4"/>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Price and Promotion</a:t>
            </a:r>
            <a:endParaRPr sz="750">
              <a:solidFill>
                <a:schemeClr val="lt1"/>
              </a:solidFill>
              <a:latin typeface="Century Gothic"/>
              <a:ea typeface="Century Gothic"/>
              <a:cs typeface="Century Gothic"/>
              <a:sym typeface="Century Gothic"/>
            </a:endParaRPr>
          </a:p>
        </p:txBody>
      </p:sp>
      <p:grpSp>
        <p:nvGrpSpPr>
          <p:cNvPr id="6828" name="Google Shape;6828;p385"/>
          <p:cNvGrpSpPr/>
          <p:nvPr/>
        </p:nvGrpSpPr>
        <p:grpSpPr>
          <a:xfrm>
            <a:off x="7717533" y="4360377"/>
            <a:ext cx="1058348" cy="347375"/>
            <a:chOff x="7651698" y="4287227"/>
            <a:chExt cx="1058348" cy="347375"/>
          </a:xfrm>
        </p:grpSpPr>
        <p:grpSp>
          <p:nvGrpSpPr>
            <p:cNvPr id="6829" name="Google Shape;6829;p385"/>
            <p:cNvGrpSpPr/>
            <p:nvPr/>
          </p:nvGrpSpPr>
          <p:grpSpPr>
            <a:xfrm>
              <a:off x="7714163" y="4337598"/>
              <a:ext cx="995883" cy="297004"/>
              <a:chOff x="7711013" y="3986494"/>
              <a:chExt cx="995883" cy="297004"/>
            </a:xfrm>
          </p:grpSpPr>
          <p:sp>
            <p:nvSpPr>
              <p:cNvPr id="6830" name="Google Shape;6830;p385"/>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6831" name="Google Shape;6831;p385"/>
              <p:cNvGrpSpPr/>
              <p:nvPr/>
            </p:nvGrpSpPr>
            <p:grpSpPr>
              <a:xfrm>
                <a:off x="7711013" y="4002615"/>
                <a:ext cx="281520" cy="241973"/>
                <a:chOff x="5652748" y="4066000"/>
                <a:chExt cx="906498" cy="747974"/>
              </a:xfrm>
            </p:grpSpPr>
            <p:sp>
              <p:nvSpPr>
                <p:cNvPr id="6832" name="Google Shape;6832;p385"/>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6833" name="Google Shape;6833;p385"/>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6834" name="Google Shape;6834;p385"/>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6835" name="Google Shape;6835;p385">
              <a:hlinkClick action="ppaction://hlinksldjump" r:id="rId5"/>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0" name="Shape 6840"/>
        <p:cNvGrpSpPr/>
        <p:nvPr/>
      </p:nvGrpSpPr>
      <p:grpSpPr>
        <a:xfrm>
          <a:off x="0" y="0"/>
          <a:ext cx="0" cy="0"/>
          <a:chOff x="0" y="0"/>
          <a:chExt cx="0" cy="0"/>
        </a:xfrm>
      </p:grpSpPr>
      <p:graphicFrame>
        <p:nvGraphicFramePr>
          <p:cNvPr id="6841" name="Google Shape;6841;p386"/>
          <p:cNvGraphicFramePr/>
          <p:nvPr/>
        </p:nvGraphicFramePr>
        <p:xfrm>
          <a:off x="469899" y="789217"/>
          <a:ext cx="3000000" cy="3000000"/>
        </p:xfrm>
        <a:graphic>
          <a:graphicData uri="http://schemas.openxmlformats.org/drawingml/2006/table">
            <a:tbl>
              <a:tblPr bandRow="1" firstRow="1">
                <a:noFill/>
                <a:tableStyleId>{D098BFCB-6916-41F2-A2A5-0DF0D5139B6F}</a:tableStyleId>
              </a:tblPr>
              <a:tblGrid>
                <a:gridCol w="130325"/>
                <a:gridCol w="556275"/>
                <a:gridCol w="367500"/>
                <a:gridCol w="3170075"/>
                <a:gridCol w="3276050"/>
                <a:gridCol w="477150"/>
                <a:gridCol w="477150"/>
              </a:tblGrid>
              <a:tr h="180850">
                <a:tc gridSpan="3">
                  <a:txBody>
                    <a:bodyPr/>
                    <a:lstStyle/>
                    <a:p>
                      <a:pPr indent="0" lvl="0" marL="0" marR="0" rtl="0" algn="ctr">
                        <a:spcBef>
                          <a:spcPts val="0"/>
                        </a:spcBef>
                        <a:spcAft>
                          <a:spcPts val="0"/>
                        </a:spcAft>
                        <a:buNone/>
                      </a:pPr>
                      <a:r>
                        <a:rPr b="1" lang="en-GB" sz="1200">
                          <a:solidFill>
                            <a:schemeClr val="dk2"/>
                          </a:solidFill>
                        </a:rPr>
                        <a:t>Level</a:t>
                      </a:r>
                      <a:endParaRPr b="1" sz="12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hMerge="1">
                  <a:txBody>
                    <a:bodyPr/>
                    <a:p/>
                  </a:txBody>
                </a:tc>
                <a:tc gridSpan="2">
                  <a:txBody>
                    <a:bodyPr/>
                    <a:lstStyle/>
                    <a:p>
                      <a:pPr indent="0" lvl="0" marL="0" marR="0" rtl="0" algn="ctr">
                        <a:lnSpc>
                          <a:spcPct val="100000"/>
                        </a:lnSpc>
                        <a:spcBef>
                          <a:spcPts val="0"/>
                        </a:spcBef>
                        <a:spcAft>
                          <a:spcPts val="0"/>
                        </a:spcAft>
                        <a:buClr>
                          <a:schemeClr val="dk2"/>
                        </a:buClr>
                        <a:buSzPts val="1200"/>
                        <a:buFont typeface="Century Gothic"/>
                        <a:buNone/>
                      </a:pPr>
                      <a:r>
                        <a:rPr b="1" lang="en-GB" sz="1200">
                          <a:solidFill>
                            <a:schemeClr val="dk2"/>
                          </a:solidFill>
                        </a:rPr>
                        <a:t>Maturity Statement</a:t>
                      </a:r>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rPr b="1" lang="en-GB" sz="800">
                          <a:solidFill>
                            <a:schemeClr val="dk2"/>
                          </a:solidFill>
                        </a:rPr>
                        <a:t>Current</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rPr b="1" lang="en-GB" sz="800">
                          <a:solidFill>
                            <a:schemeClr val="dk2"/>
                          </a:solidFill>
                        </a:rPr>
                        <a:t>Desired</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4616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06C1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Leading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Pricing business rules evaluated/prioritzed across more dynamic price options at the right time for the purchase transaction. Different product product portfolios may apply different dynamic pricing rule priorization at the time of purchase transaction. </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3385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F7513"/>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Innovating</a:t>
                      </a:r>
                      <a:endParaRPr/>
                    </a:p>
                    <a:p>
                      <a:pPr indent="0" lvl="0" marL="0" marR="0" rtl="0" algn="ctr">
                        <a:spcBef>
                          <a:spcPts val="0"/>
                        </a:spcBef>
                        <a:spcAft>
                          <a:spcPts val="0"/>
                        </a:spcAft>
                        <a:buNone/>
                      </a:pPr>
                      <a:r>
                        <a:t/>
                      </a:r>
                      <a:endParaRPr b="1" sz="1000">
                        <a:solidFill>
                          <a:schemeClr val="dk2"/>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Actual and relevant pricing available at the right time for customer interaction, applying one or two  pricing schemes across the entire product portfolio using actual values of product attributes to calculate individual  price (or individual discount)  for the purchase event. Selected attributes may fall into different categories such as:</a:t>
                      </a:r>
                      <a:endParaRPr/>
                    </a:p>
                    <a:p>
                      <a:pPr indent="-171450" lvl="1" marL="628650" marR="0" rtl="0" algn="l">
                        <a:lnSpc>
                          <a:spcPct val="100000"/>
                        </a:lnSpc>
                        <a:spcBef>
                          <a:spcPts val="0"/>
                        </a:spcBef>
                        <a:spcAft>
                          <a:spcPts val="0"/>
                        </a:spcAft>
                        <a:buClr>
                          <a:schemeClr val="dk1"/>
                        </a:buClr>
                        <a:buSzPts val="800"/>
                        <a:buFont typeface="Arial"/>
                        <a:buChar char="•"/>
                      </a:pPr>
                      <a:r>
                        <a:rPr b="0" lang="en-GB" sz="800" u="none" cap="none" strike="noStrike">
                          <a:solidFill>
                            <a:schemeClr val="dk1"/>
                          </a:solidFill>
                          <a:latin typeface="Century Gothic"/>
                          <a:ea typeface="Century Gothic"/>
                          <a:cs typeface="Century Gothic"/>
                          <a:sym typeface="Century Gothic"/>
                        </a:rPr>
                        <a:t>Seasonality, order lead time, Time of day</a:t>
                      </a:r>
                      <a:endParaRPr/>
                    </a:p>
                    <a:p>
                      <a:pPr indent="-171450" lvl="1" marL="628650" marR="0" rtl="0" algn="l">
                        <a:lnSpc>
                          <a:spcPct val="100000"/>
                        </a:lnSpc>
                        <a:spcBef>
                          <a:spcPts val="0"/>
                        </a:spcBef>
                        <a:spcAft>
                          <a:spcPts val="0"/>
                        </a:spcAft>
                        <a:buClr>
                          <a:schemeClr val="dk1"/>
                        </a:buClr>
                        <a:buSzPts val="800"/>
                        <a:buFont typeface="Arial"/>
                        <a:buChar char="•"/>
                      </a:pPr>
                      <a:r>
                        <a:rPr b="0" lang="en-GB" sz="800" u="none" cap="none" strike="noStrike">
                          <a:solidFill>
                            <a:schemeClr val="dk1"/>
                          </a:solidFill>
                          <a:latin typeface="Century Gothic"/>
                          <a:ea typeface="Century Gothic"/>
                          <a:cs typeface="Century Gothic"/>
                          <a:sym typeface="Century Gothic"/>
                        </a:rPr>
                        <a:t>Location of customer/ branch/digital channel</a:t>
                      </a:r>
                      <a:endParaRPr/>
                    </a:p>
                    <a:p>
                      <a:pPr indent="-171450" lvl="1" marL="628650" marR="0" rtl="0" algn="l">
                        <a:lnSpc>
                          <a:spcPct val="100000"/>
                        </a:lnSpc>
                        <a:spcBef>
                          <a:spcPts val="0"/>
                        </a:spcBef>
                        <a:spcAft>
                          <a:spcPts val="0"/>
                        </a:spcAft>
                        <a:buClr>
                          <a:schemeClr val="dk1"/>
                        </a:buClr>
                        <a:buSzPts val="800"/>
                        <a:buFont typeface="Arial"/>
                        <a:buChar char="•"/>
                      </a:pPr>
                      <a:r>
                        <a:rPr b="0" lang="en-GB" sz="800" u="none" cap="none" strike="noStrike">
                          <a:solidFill>
                            <a:schemeClr val="dk1"/>
                          </a:solidFill>
                          <a:latin typeface="Century Gothic"/>
                          <a:ea typeface="Century Gothic"/>
                          <a:cs typeface="Century Gothic"/>
                          <a:sym typeface="Century Gothic"/>
                        </a:rPr>
                        <a:t>available stock, strategic product categorization, end-of-life, bridge products  etc</a:t>
                      </a:r>
                      <a:endParaRPr/>
                    </a:p>
                    <a:p>
                      <a:pPr indent="-171450" lvl="1" marL="628650" marR="0" rtl="0" algn="l">
                        <a:lnSpc>
                          <a:spcPct val="100000"/>
                        </a:lnSpc>
                        <a:spcBef>
                          <a:spcPts val="0"/>
                        </a:spcBef>
                        <a:spcAft>
                          <a:spcPts val="0"/>
                        </a:spcAft>
                        <a:buClr>
                          <a:schemeClr val="dk1"/>
                        </a:buClr>
                        <a:buSzPts val="800"/>
                        <a:buFont typeface="Arial"/>
                        <a:buChar char="•"/>
                      </a:pPr>
                      <a:r>
                        <a:rPr b="0" lang="en-GB" sz="800" u="none" cap="none" strike="noStrike">
                          <a:solidFill>
                            <a:schemeClr val="dk1"/>
                          </a:solidFill>
                          <a:latin typeface="Century Gothic"/>
                          <a:ea typeface="Century Gothic"/>
                          <a:cs typeface="Century Gothic"/>
                          <a:sym typeface="Century Gothic"/>
                        </a:rPr>
                        <a:t>Customer Loyalty scheme etc</a:t>
                      </a:r>
                      <a:endParaRPr b="0" sz="800" u="none" cap="none" strike="noStrike">
                        <a:solidFill>
                          <a:schemeClr val="dk1"/>
                        </a:solidFill>
                        <a:latin typeface="Century Gothic"/>
                        <a:ea typeface="Century Gothic"/>
                        <a:cs typeface="Century Gothic"/>
                        <a:sym typeface="Century Gothic"/>
                      </a:endParaRPr>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3385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C891C"/>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Practicing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Pricing scheme updates  (daily) are driven by business rules representing product strategy, customer strategy, product pipeline product sunset rules etc. Business rules representing internal  business events, business trends and predictions (such as estimated sales).</a:t>
                      </a:r>
                      <a:endParaRPr b="0" sz="900">
                        <a:solidFill>
                          <a:schemeClr val="dk1"/>
                        </a:solidFill>
                        <a:latin typeface="Century Gothic"/>
                        <a:ea typeface="Century Gothic"/>
                        <a:cs typeface="Century Gothic"/>
                        <a:sym typeface="Century Gothic"/>
                      </a:endParaRPr>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lnSpc>
                          <a:spcPct val="100000"/>
                        </a:lnSpc>
                        <a:spcBef>
                          <a:spcPts val="0"/>
                        </a:spcBef>
                        <a:spcAft>
                          <a:spcPts val="0"/>
                        </a:spcAft>
                        <a:buClr>
                          <a:schemeClr val="dk1"/>
                        </a:buClr>
                        <a:buSzPts val="1400"/>
                        <a:buFont typeface="Century Gothic"/>
                        <a:buNone/>
                      </a:pPr>
                      <a:r>
                        <a:t/>
                      </a:r>
                      <a:endParaRPr sz="1400">
                        <a:solidFill>
                          <a:schemeClr val="dk1"/>
                        </a:solidFill>
                        <a:latin typeface="Noto Sans Symbols"/>
                        <a:ea typeface="Noto Sans Symbols"/>
                        <a:cs typeface="Noto Sans Symbols"/>
                        <a:sym typeface="Noto Sans Symbols"/>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3157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E9B4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Developing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Pricing scheme updated daily based on stock, sales target and customer information (internal information, but extended range of internal data domains)</a:t>
                      </a:r>
                      <a:endParaRPr b="0" sz="900">
                        <a:solidFill>
                          <a:schemeClr val="dk1"/>
                        </a:solidFill>
                        <a:latin typeface="Century Gothic"/>
                        <a:ea typeface="Century Gothic"/>
                        <a:cs typeface="Century Gothic"/>
                        <a:sym typeface="Century Gothic"/>
                      </a:endParaRPr>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3385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F1AE65"/>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Emerging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Pricing scheme update monthly /weekly based on product pipeline  and sales target information (internal information)</a:t>
                      </a:r>
                      <a:endParaRPr b="0" sz="900">
                        <a:solidFill>
                          <a:schemeClr val="dk1"/>
                        </a:solidFill>
                        <a:latin typeface="Century Gothic"/>
                        <a:ea typeface="Century Gothic"/>
                        <a:cs typeface="Century Gothic"/>
                        <a:sym typeface="Century Gothic"/>
                      </a:endParaRPr>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178750">
                <a:tc gridSpan="3">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Priority</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hMerge="1">
                  <a:txBody>
                    <a:bodyPr/>
                    <a:p/>
                  </a:txBody>
                </a:tc>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Key areas for improvement</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Benefits from uplift</a:t>
                      </a:r>
                      <a:endParaRPr b="1" sz="1000">
                        <a:solidFill>
                          <a:schemeClr val="dk2"/>
                        </a:solidFill>
                        <a:latin typeface="Century Gothic"/>
                        <a:ea typeface="Century Gothic"/>
                        <a:cs typeface="Century Gothic"/>
                        <a:sym typeface="Century Gothic"/>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a:txBody>
                    <a:bodyPr/>
                    <a:lstStyle/>
                    <a:p>
                      <a:pPr indent="0" lvl="0" marL="0" marR="0" rtl="0" algn="ctr">
                        <a:spcBef>
                          <a:spcPts val="0"/>
                        </a:spcBef>
                        <a:spcAft>
                          <a:spcPts val="0"/>
                        </a:spcAft>
                        <a:buNone/>
                      </a:pPr>
                      <a:r>
                        <a:rPr b="1" lang="en-GB" sz="1000">
                          <a:solidFill>
                            <a:schemeClr val="dk2"/>
                          </a:solidFill>
                        </a:rPr>
                        <a:t>Timeframe</a:t>
                      </a:r>
                      <a:endParaRPr b="1" sz="1000">
                        <a:solidFill>
                          <a:schemeClr val="dk2"/>
                        </a:solidFill>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r>
              <a:tr h="243275">
                <a:tc gridSpan="2">
                  <a:txBody>
                    <a:bodyPr/>
                    <a:lstStyle/>
                    <a:p>
                      <a:pPr indent="0" lvl="0" marL="0" marR="0" rtl="0" algn="ctr">
                        <a:spcBef>
                          <a:spcPts val="0"/>
                        </a:spcBef>
                        <a:spcAft>
                          <a:spcPts val="0"/>
                        </a:spcAft>
                        <a:buNone/>
                      </a:pPr>
                      <a:r>
                        <a:rPr b="1" lang="en-GB" sz="800">
                          <a:solidFill>
                            <a:schemeClr val="dk1"/>
                          </a:solidFill>
                        </a:rPr>
                        <a:t>High</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rPr lang="en-GB" sz="1000">
                          <a:solidFill>
                            <a:schemeClr val="dk1"/>
                          </a:solidFill>
                          <a:latin typeface="Noto Sans Symbols"/>
                          <a:ea typeface="Noto Sans Symbols"/>
                          <a:cs typeface="Noto Sans Symbols"/>
                          <a:sym typeface="Noto Sans Symbols"/>
                        </a:rPr>
                        <a:t>✔</a:t>
                      </a:r>
                      <a:endParaRPr b="1" sz="10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0" lvl="0" marL="0" marR="0" rtl="0" algn="l">
                        <a:lnSpc>
                          <a:spcPct val="100000"/>
                        </a:lnSpc>
                        <a:spcBef>
                          <a:spcPts val="0"/>
                        </a:spcBef>
                        <a:spcAft>
                          <a:spcPts val="0"/>
                        </a:spcAft>
                        <a:buClr>
                          <a:schemeClr val="dk1"/>
                        </a:buClr>
                        <a:buSzPts val="800"/>
                        <a:buFont typeface="Arial"/>
                        <a:buNone/>
                      </a:pPr>
                      <a:r>
                        <a:rPr sz="800" b="0">
                          <a:latin typeface="Century Gothic"/>
                        </a:rPr>
                        <a:t>Pakistan priority improvements:</a:t>
                      </a:r>
                      <a:endParaRPr/>
                    </a:p>
                    <a:p>
                      <a:r>
                        <a:rPr sz="800" b="0">
                          <a:latin typeface="Century Gothic"/>
                        </a:rPr>
                        <a:t>Relationship-based deposit pricing for large depositors (tiered rate engine)</a:t>
                      </a:r>
                    </a:p>
                    <a:p>
                      <a:r>
                        <a:rPr sz="800" b="0">
                          <a:latin typeface="Century Gothic"/>
                        </a:rPr>
                        <a:t>Risk-adjusted lending pricing: KIBOR + variable premium per ECIB/internal rating</a:t>
                      </a:r>
                    </a:p>
                    <a:p>
                      <a:r>
                        <a:rPr sz="800" b="0">
                          <a:latin typeface="Century Gothic"/>
                        </a:rPr>
                        <a:t>Card promotional pricing automation (balance transfer, spend rewards)</a:t>
                      </a:r>
                    </a:p>
                    <a:p>
                      <a:r>
                        <a:rPr sz="800" b="0">
                          <a:latin typeface="Century Gothic"/>
                        </a:rPr>
                        <a:t>SBP constraint management: minimum deposit rates, lending caps</a:t>
                      </a:r>
                    </a:p>
                    <a:p>
                      <a:r>
                        <a:rPr sz="800" b="0">
                          <a:latin typeface="Century Gothic"/>
                        </a:rPr>
                        <a:t>Real-time pricing authority delegation to branch/RM level</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285750" lvl="0" marL="285750" marR="0" rtl="0" algn="l">
                        <a:spcBef>
                          <a:spcPts val="0"/>
                        </a:spcBef>
                        <a:spcAft>
                          <a:spcPts val="0"/>
                        </a:spcAft>
                        <a:buClr>
                          <a:schemeClr val="dk1"/>
                        </a:buClr>
                        <a:buSzPts val="800"/>
                        <a:buFont typeface="Arial"/>
                        <a:buChar char="•"/>
                      </a:pPr>
                      <a:r>
                        <a:rPr sz="800">
                          <a:latin typeface="Century Gothic"/>
                        </a:rPr>
                        <a:t>NII optimization through dynamic deposit cost management</a:t>
                      </a:r>
                      <a:endParaRPr/>
                    </a:p>
                    <a:p>
                      <a:r>
                        <a:rPr sz="800">
                          <a:latin typeface="Century Gothic"/>
                        </a:rPr>
                        <a:t>Large depositor retention through competitive relationship pricing</a:t>
                      </a:r>
                    </a:p>
                    <a:p>
                      <a:r>
                        <a:rPr sz="800">
                          <a:latin typeface="Century Gothic"/>
                        </a:rPr>
                        <a:t>Risk-return optimization on lending portfolio</a:t>
                      </a:r>
                    </a:p>
                    <a:p>
                      <a:r>
                        <a:rPr sz="800">
                          <a:latin typeface="Century Gothic"/>
                        </a:rPr>
                        <a:t>Automated compliance with SBP pricing constraints</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rowSpan="3">
                  <a:txBody>
                    <a:bodyPr/>
                    <a:lstStyle/>
                    <a:p>
                      <a:pPr indent="0" lvl="0" marL="0" marR="0" rtl="0" algn="ctr">
                        <a:lnSpc>
                          <a:spcPct val="100000"/>
                        </a:lnSpc>
                        <a:spcBef>
                          <a:spcPts val="0"/>
                        </a:spcBef>
                        <a:spcAft>
                          <a:spcPts val="0"/>
                        </a:spcAft>
                        <a:buClr>
                          <a:schemeClr val="dk1"/>
                        </a:buClr>
                        <a:buSzPts val="800"/>
                        <a:buFont typeface="Century Gothic"/>
                        <a:buNone/>
                      </a:pPr>
                      <a:r>
                        <a:rPr b="0" lang="en-GB" sz="800">
                          <a:solidFill>
                            <a:schemeClr val="dk1"/>
                          </a:solidFill>
                        </a:rPr>
                        <a:t>2025-2027</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hMerge="1">
                  <a:txBody>
                    <a:bodyPr/>
                    <a:p/>
                  </a:txBody>
                </a:tc>
              </a:tr>
              <a:tr h="243275">
                <a:tc gridSpan="2">
                  <a:txBody>
                    <a:bodyPr/>
                    <a:lstStyle/>
                    <a:p>
                      <a:pPr indent="0" lvl="0" marL="0" marR="0" rtl="0" algn="ctr">
                        <a:spcBef>
                          <a:spcPts val="0"/>
                        </a:spcBef>
                        <a:spcAft>
                          <a:spcPts val="0"/>
                        </a:spcAft>
                        <a:buNone/>
                      </a:pPr>
                      <a:r>
                        <a:rPr b="1" lang="en-GB" sz="800">
                          <a:solidFill>
                            <a:schemeClr val="dk1"/>
                          </a:solidFill>
                        </a:rPr>
                        <a:t>Medium</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xBody>
                    <a:bodyPr/>
                    <a:p/>
                  </a:txBody>
                </a:tc>
                <a:tc vMerge="1">
                  <a:txBody>
                    <a:bodyPr/>
                    <a:p/>
                  </a:txBody>
                </a:tc>
                <a:tc gridSpan="2" vMerge="1">
                  <a:txBody>
                    <a:bodyPr/>
                    <a:p/>
                  </a:txBody>
                </a:tc>
                <a:tc hMerge="1" vMerge="1">
                  <a:txBody>
                    <a:bodyPr/>
                    <a:p/>
                  </a:txBody>
                </a:tc>
              </a:tr>
              <a:tr h="243275">
                <a:tc gridSpan="2">
                  <a:txBody>
                    <a:bodyPr/>
                    <a:lstStyle/>
                    <a:p>
                      <a:pPr indent="0" lvl="0" marL="0" marR="0" rtl="0" algn="ctr">
                        <a:spcBef>
                          <a:spcPts val="0"/>
                        </a:spcBef>
                        <a:spcAft>
                          <a:spcPts val="0"/>
                        </a:spcAft>
                        <a:buNone/>
                      </a:pPr>
                      <a:r>
                        <a:rPr b="1" lang="en-GB" sz="800">
                          <a:solidFill>
                            <a:schemeClr val="dk1"/>
                          </a:solidFill>
                        </a:rPr>
                        <a:t>Low</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xBody>
                    <a:bodyPr/>
                    <a:p/>
                  </a:txBody>
                </a:tc>
                <a:tc vMerge="1">
                  <a:txBody>
                    <a:bodyPr/>
                    <a:p/>
                  </a:txBody>
                </a:tc>
                <a:tc gridSpan="2" vMerge="1">
                  <a:txBody>
                    <a:bodyPr/>
                    <a:p/>
                  </a:txBody>
                </a:tc>
                <a:tc hMerge="1" vMerge="1">
                  <a:txBody>
                    <a:bodyPr/>
                    <a:p/>
                  </a:txBody>
                </a:tc>
              </a:tr>
            </a:tbl>
          </a:graphicData>
        </a:graphic>
      </p:graphicFrame>
      <p:grpSp>
        <p:nvGrpSpPr>
          <p:cNvPr id="6842" name="Google Shape;6842;p386"/>
          <p:cNvGrpSpPr/>
          <p:nvPr/>
        </p:nvGrpSpPr>
        <p:grpSpPr>
          <a:xfrm>
            <a:off x="466165" y="3848103"/>
            <a:ext cx="8455025" cy="859364"/>
            <a:chOff x="211138" y="3972860"/>
            <a:chExt cx="8713787" cy="642437"/>
          </a:xfrm>
        </p:grpSpPr>
        <p:sp>
          <p:nvSpPr>
            <p:cNvPr id="6843" name="Google Shape;6843;p386"/>
            <p:cNvSpPr/>
            <p:nvPr/>
          </p:nvSpPr>
          <p:spPr>
            <a:xfrm>
              <a:off x="211138" y="3972860"/>
              <a:ext cx="8713787" cy="642437"/>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6844" name="Google Shape;6844;p386"/>
            <p:cNvSpPr/>
            <p:nvPr/>
          </p:nvSpPr>
          <p:spPr>
            <a:xfrm>
              <a:off x="3692726" y="3982349"/>
              <a:ext cx="1753883" cy="632948"/>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grpSp>
        <p:nvGrpSpPr>
          <p:cNvPr id="6845" name="Google Shape;6845;p386"/>
          <p:cNvGrpSpPr/>
          <p:nvPr/>
        </p:nvGrpSpPr>
        <p:grpSpPr>
          <a:xfrm>
            <a:off x="7971865" y="980278"/>
            <a:ext cx="949325" cy="2867825"/>
            <a:chOff x="7941888" y="1062037"/>
            <a:chExt cx="983037" cy="2695575"/>
          </a:xfrm>
        </p:grpSpPr>
        <p:sp>
          <p:nvSpPr>
            <p:cNvPr id="6846" name="Google Shape;6846;p386"/>
            <p:cNvSpPr/>
            <p:nvPr/>
          </p:nvSpPr>
          <p:spPr>
            <a:xfrm>
              <a:off x="7941889" y="1062037"/>
              <a:ext cx="983036" cy="2695575"/>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6847" name="Google Shape;6847;p386"/>
            <p:cNvSpPr/>
            <p:nvPr/>
          </p:nvSpPr>
          <p:spPr>
            <a:xfrm>
              <a:off x="7941888" y="2052586"/>
              <a:ext cx="983037" cy="714476"/>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sp>
        <p:nvSpPr>
          <p:cNvPr id="6848" name="Google Shape;6848;p386"/>
          <p:cNvSpPr txBox="1"/>
          <p:nvPr>
            <p:ph type="title"/>
          </p:nvPr>
        </p:nvSpPr>
        <p:spPr>
          <a:xfrm>
            <a:off x="457200" y="173736"/>
            <a:ext cx="8229600" cy="704088"/>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Manage Dynamic Pricing</a:t>
            </a:r>
            <a:endParaRPr/>
          </a:p>
        </p:txBody>
      </p:sp>
      <p:sp>
        <p:nvSpPr>
          <p:cNvPr id="6849" name="Google Shape;6849;p386">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Price and Promotion</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4" name="Shape 6854"/>
        <p:cNvGrpSpPr/>
        <p:nvPr/>
      </p:nvGrpSpPr>
      <p:grpSpPr>
        <a:xfrm>
          <a:off x="0" y="0"/>
          <a:ext cx="0" cy="0"/>
          <a:chOff x="0" y="0"/>
          <a:chExt cx="0" cy="0"/>
        </a:xfrm>
      </p:grpSpPr>
      <p:pic>
        <p:nvPicPr>
          <p:cNvPr descr="Free stock photo of can, litter, coca cola, waste" id="6855" name="Google Shape;6855;p387"/>
          <p:cNvPicPr preferRelativeResize="0"/>
          <p:nvPr/>
        </p:nvPicPr>
        <p:blipFill rotWithShape="1">
          <a:blip r:embed="rId3">
            <a:alphaModFix/>
          </a:blip>
          <a:srcRect b="0" l="37522" r="-4190" t="0"/>
          <a:stretch/>
        </p:blipFill>
        <p:spPr>
          <a:xfrm>
            <a:off x="5472112" y="11112"/>
            <a:ext cx="3919538" cy="5113337"/>
          </a:xfrm>
          <a:prstGeom prst="rect">
            <a:avLst/>
          </a:prstGeom>
          <a:noFill/>
          <a:ln>
            <a:noFill/>
          </a:ln>
        </p:spPr>
      </p:pic>
      <p:sp>
        <p:nvSpPr>
          <p:cNvPr id="6856" name="Google Shape;6856;p387"/>
          <p:cNvSpPr txBox="1"/>
          <p:nvPr>
            <p:ph type="title"/>
          </p:nvPr>
        </p:nvSpPr>
        <p:spPr>
          <a:xfrm>
            <a:off x="466725" y="3747"/>
            <a:ext cx="5087938" cy="617601"/>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Product End-of-Life</a:t>
            </a:r>
            <a:endParaRPr/>
          </a:p>
        </p:txBody>
      </p:sp>
      <p:sp>
        <p:nvSpPr>
          <p:cNvPr id="6857" name="Google Shape;6857;p387"/>
          <p:cNvSpPr txBox="1"/>
          <p:nvPr>
            <p:ph idx="1" type="body"/>
          </p:nvPr>
        </p:nvSpPr>
        <p:spPr>
          <a:xfrm>
            <a:off x="449263" y="2201863"/>
            <a:ext cx="4866449" cy="2652712"/>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0079DB"/>
              </a:buClr>
              <a:buSzPts val="1800"/>
              <a:buNone/>
            </a:pPr>
            <a:r>
              <a:rPr lang="en-GB">
                <a:solidFill>
                  <a:srgbClr val="0079DB"/>
                </a:solidFill>
              </a:rPr>
              <a:t>Why is it important?</a:t>
            </a:r>
            <a:endParaRPr b="1">
              <a:solidFill>
                <a:schemeClr val="accent1"/>
              </a:solidFill>
            </a:endParaRPr>
          </a:p>
          <a:p>
            <a:pPr indent="-231775" lvl="1" marL="231775" rtl="0" algn="l">
              <a:lnSpc>
                <a:spcPct val="100000"/>
              </a:lnSpc>
              <a:spcBef>
                <a:spcPts val="200"/>
              </a:spcBef>
              <a:spcAft>
                <a:spcPts val="0"/>
              </a:spcAft>
              <a:buClr>
                <a:schemeClr val="dk1"/>
              </a:buClr>
              <a:buSzPts val="1300"/>
              <a:buChar char="•"/>
            </a:pPr>
            <a:r>
              <a:rPr lang="en-GB" sz="1300"/>
              <a:t>Products progressing to  the end of the product  life cycle may  require resources to be maintained and operated. Resource use optimization might free up scarce organizational resources for more strategic products/services</a:t>
            </a:r>
            <a:endParaRPr/>
          </a:p>
          <a:p>
            <a:pPr indent="-231775" lvl="1" marL="231775" rtl="0" algn="l">
              <a:lnSpc>
                <a:spcPct val="100000"/>
              </a:lnSpc>
              <a:spcBef>
                <a:spcPts val="600"/>
              </a:spcBef>
              <a:spcAft>
                <a:spcPts val="0"/>
              </a:spcAft>
              <a:buClr>
                <a:schemeClr val="dk1"/>
              </a:buClr>
              <a:buSzPts val="1300"/>
              <a:buChar char="•"/>
            </a:pPr>
            <a:r>
              <a:rPr lang="en-GB" sz="1300"/>
              <a:t>Proactively planning  for product closure helps to reduce cost and avoid risks of negative customer experience or  customer dissatisfaction </a:t>
            </a:r>
            <a:endParaRPr/>
          </a:p>
          <a:p>
            <a:pPr indent="-231775" lvl="1" marL="231775" rtl="0" algn="l">
              <a:lnSpc>
                <a:spcPct val="100000"/>
              </a:lnSpc>
              <a:spcBef>
                <a:spcPts val="600"/>
              </a:spcBef>
              <a:spcAft>
                <a:spcPts val="0"/>
              </a:spcAft>
              <a:buClr>
                <a:schemeClr val="dk1"/>
              </a:buClr>
              <a:buSzPts val="1300"/>
              <a:buChar char="•"/>
            </a:pPr>
            <a:r>
              <a:rPr lang="en-GB" sz="1300"/>
              <a:t>A product’s exit typically qualifies as a critical risk for the organization</a:t>
            </a:r>
            <a:endParaRPr sz="1300"/>
          </a:p>
        </p:txBody>
      </p:sp>
      <p:sp>
        <p:nvSpPr>
          <p:cNvPr id="6858" name="Google Shape;6858;p387"/>
          <p:cNvSpPr txBox="1"/>
          <p:nvPr>
            <p:ph idx="2" type="body"/>
          </p:nvPr>
        </p:nvSpPr>
        <p:spPr>
          <a:xfrm>
            <a:off x="449262" y="904312"/>
            <a:ext cx="6622097" cy="1029264"/>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chemeClr val="lt1"/>
              </a:buClr>
              <a:buSzPts val="1800"/>
              <a:buNone/>
            </a:pPr>
            <a:r>
              <a:t/>
            </a:r>
            <a:endParaRPr/>
          </a:p>
        </p:txBody>
      </p:sp>
      <p:sp>
        <p:nvSpPr>
          <p:cNvPr id="6859" name="Google Shape;6859;p387"/>
          <p:cNvSpPr/>
          <p:nvPr/>
        </p:nvSpPr>
        <p:spPr>
          <a:xfrm>
            <a:off x="1" y="769691"/>
            <a:ext cx="7205662" cy="1160709"/>
          </a:xfrm>
          <a:prstGeom prst="rect">
            <a:avLst/>
          </a:prstGeom>
          <a:solidFill>
            <a:srgbClr val="005AA4"/>
          </a:solidFill>
          <a:ln>
            <a:noFill/>
          </a:ln>
          <a:effectLst>
            <a:outerShdw blurRad="50800" rotWithShape="0" algn="tl" dir="2700000" dist="38100">
              <a:srgbClr val="000000">
                <a:alpha val="40000"/>
              </a:srgbClr>
            </a:outerShdw>
          </a:effectLst>
        </p:spPr>
        <p:txBody>
          <a:bodyPr anchorCtr="0" anchor="ctr" bIns="91425" lIns="91425" spcFirstLastPara="1" rIns="91425" wrap="square" tIns="91425">
            <a:noAutofit/>
          </a:bodyPr>
          <a:lstStyle/>
          <a:p>
            <a:pPr indent="0" lvl="1" marL="406400" marR="0" rtl="0" algn="l">
              <a:spcBef>
                <a:spcPts val="0"/>
              </a:spcBef>
              <a:spcAft>
                <a:spcPts val="0"/>
              </a:spcAft>
              <a:buNone/>
            </a:pPr>
            <a:r>
              <a:rPr b="0" i="0" lang="en-GB" sz="1400" u="none" cap="none" strike="noStrike">
                <a:solidFill>
                  <a:schemeClr val="lt1"/>
                </a:solidFill>
                <a:latin typeface="Century Gothic"/>
                <a:ea typeface="Century Gothic"/>
                <a:cs typeface="Century Gothic"/>
                <a:sym typeface="Century Gothic"/>
              </a:rPr>
              <a:t>The process of evaluating products for removal from product or service portfolio or from active sales based on analytical insights.</a:t>
            </a:r>
            <a:endParaRPr b="0" i="0" sz="1400" u="none" cap="none" strike="noStrike">
              <a:solidFill>
                <a:schemeClr val="lt1"/>
              </a:solidFill>
              <a:latin typeface="Century Gothic"/>
              <a:ea typeface="Century Gothic"/>
              <a:cs typeface="Century Gothic"/>
              <a:sym typeface="Century Gothic"/>
            </a:endParaRPr>
          </a:p>
        </p:txBody>
      </p:sp>
      <p:sp>
        <p:nvSpPr>
          <p:cNvPr id="6860" name="Google Shape;6860;p387">
            <a:hlinkClick action="ppaction://hlinksldjump" r:id="rId4"/>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Product End of Life</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5" name="Shape 6865"/>
        <p:cNvGrpSpPr/>
        <p:nvPr/>
      </p:nvGrpSpPr>
      <p:grpSpPr>
        <a:xfrm>
          <a:off x="0" y="0"/>
          <a:ext cx="0" cy="0"/>
          <a:chOff x="0" y="0"/>
          <a:chExt cx="0" cy="0"/>
        </a:xfrm>
      </p:grpSpPr>
      <p:sp>
        <p:nvSpPr>
          <p:cNvPr id="6866" name="Google Shape;6866;p388"/>
          <p:cNvSpPr/>
          <p:nvPr/>
        </p:nvSpPr>
        <p:spPr>
          <a:xfrm>
            <a:off x="7772401" y="-368299"/>
            <a:ext cx="1503273" cy="5054600"/>
          </a:xfrm>
          <a:prstGeom prst="roundRect">
            <a:avLst>
              <a:gd fmla="val 3493" name="adj"/>
            </a:avLst>
          </a:prstGeom>
          <a:solidFill>
            <a:srgbClr val="FFFFFF"/>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6867" name="Google Shape;6867;p388"/>
          <p:cNvSpPr txBox="1"/>
          <p:nvPr>
            <p:ph idx="1" type="body"/>
          </p:nvPr>
        </p:nvSpPr>
        <p:spPr>
          <a:xfrm>
            <a:off x="467360" y="852530"/>
            <a:ext cx="4830354" cy="3344033"/>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0079DB"/>
              </a:buClr>
              <a:buSzPts val="1800"/>
              <a:buNone/>
            </a:pPr>
            <a:r>
              <a:rPr lang="en-GB">
                <a:solidFill>
                  <a:srgbClr val="0079DB"/>
                </a:solidFill>
              </a:rPr>
              <a:t>How – Capabilities</a:t>
            </a:r>
            <a:endParaRPr b="1">
              <a:solidFill>
                <a:schemeClr val="accent1"/>
              </a:solidFill>
            </a:endParaRPr>
          </a:p>
          <a:p>
            <a:pPr indent="-74613" lvl="0" marL="169863" rtl="0" algn="l">
              <a:lnSpc>
                <a:spcPct val="95000"/>
              </a:lnSpc>
              <a:spcBef>
                <a:spcPts val="800"/>
              </a:spcBef>
              <a:spcAft>
                <a:spcPts val="0"/>
              </a:spcAft>
              <a:buClr>
                <a:schemeClr val="dk1"/>
              </a:buClr>
              <a:buSzPts val="1500"/>
              <a:buNone/>
            </a:pPr>
            <a:r>
              <a:t/>
            </a:r>
            <a:endParaRPr b="1" sz="1500"/>
          </a:p>
          <a:p>
            <a:pPr indent="-169863" lvl="0" marL="169863" rtl="0" algn="l">
              <a:lnSpc>
                <a:spcPct val="95000"/>
              </a:lnSpc>
              <a:spcBef>
                <a:spcPts val="600"/>
              </a:spcBef>
              <a:spcAft>
                <a:spcPts val="0"/>
              </a:spcAft>
              <a:buClr>
                <a:schemeClr val="dk1"/>
              </a:buClr>
              <a:buSzPts val="1500"/>
              <a:buChar char="•"/>
            </a:pPr>
            <a:r>
              <a:rPr b="1" lang="en-GB" sz="1500"/>
              <a:t>Support Product Clearance </a:t>
            </a:r>
            <a:r>
              <a:rPr lang="en-GB" sz="1500"/>
              <a:t>by modeling price reductions or retired services scenarios. Focus on costs, revenue, portfolio health and organizational resource impact</a:t>
            </a:r>
            <a:endParaRPr/>
          </a:p>
          <a:p>
            <a:pPr indent="-169863" lvl="0" marL="169863" rtl="0" algn="l">
              <a:lnSpc>
                <a:spcPct val="100000"/>
              </a:lnSpc>
              <a:spcBef>
                <a:spcPts val="600"/>
              </a:spcBef>
              <a:spcAft>
                <a:spcPts val="0"/>
              </a:spcAft>
              <a:buClr>
                <a:schemeClr val="dk1"/>
              </a:buClr>
              <a:buSzPts val="1500"/>
              <a:buChar char="•"/>
            </a:pPr>
            <a:r>
              <a:rPr b="1" lang="en-GB" sz="1500"/>
              <a:t>Analyze impacts of migrating old products to new products </a:t>
            </a:r>
            <a:r>
              <a:rPr lang="en-GB" sz="1500"/>
              <a:t>including usage patterns, customer satisfaction, opportunity cost and sensitivity to economic impacts</a:t>
            </a:r>
            <a:endParaRPr/>
          </a:p>
          <a:p>
            <a:pPr indent="-169863" lvl="0" marL="169863" rtl="0" algn="l">
              <a:lnSpc>
                <a:spcPct val="95000"/>
              </a:lnSpc>
              <a:spcBef>
                <a:spcPts val="600"/>
              </a:spcBef>
              <a:spcAft>
                <a:spcPts val="0"/>
              </a:spcAft>
              <a:buClr>
                <a:schemeClr val="dk1"/>
              </a:buClr>
              <a:buSzPts val="1500"/>
              <a:buChar char="•"/>
            </a:pPr>
            <a:r>
              <a:rPr b="1" lang="en-GB" sz="1500"/>
              <a:t>Liquidate short-life goods </a:t>
            </a:r>
            <a:r>
              <a:rPr lang="en-GB" sz="1500"/>
              <a:t>using intraday sales by location, reducing waste. </a:t>
            </a:r>
            <a:endParaRPr/>
          </a:p>
          <a:p>
            <a:pPr indent="-169863" lvl="0" marL="169863" rtl="0" algn="l">
              <a:lnSpc>
                <a:spcPct val="95000"/>
              </a:lnSpc>
              <a:spcBef>
                <a:spcPts val="600"/>
              </a:spcBef>
              <a:spcAft>
                <a:spcPts val="0"/>
              </a:spcAft>
              <a:buClr>
                <a:schemeClr val="dk1"/>
              </a:buClr>
              <a:buSzPts val="1500"/>
              <a:buChar char="•"/>
            </a:pPr>
            <a:r>
              <a:rPr b="1" lang="en-GB" sz="1500"/>
              <a:t>Support product recalls </a:t>
            </a:r>
            <a:r>
              <a:rPr lang="en-GB" sz="1500"/>
              <a:t>using customer purchase history</a:t>
            </a:r>
            <a:endParaRPr/>
          </a:p>
          <a:p>
            <a:pPr indent="-68263" lvl="0" marL="169863" rtl="0" algn="l">
              <a:lnSpc>
                <a:spcPct val="95000"/>
              </a:lnSpc>
              <a:spcBef>
                <a:spcPts val="600"/>
              </a:spcBef>
              <a:spcAft>
                <a:spcPts val="0"/>
              </a:spcAft>
              <a:buClr>
                <a:schemeClr val="dk1"/>
              </a:buClr>
              <a:buSzPts val="1600"/>
              <a:buNone/>
            </a:pPr>
            <a:r>
              <a:t/>
            </a:r>
            <a:endParaRPr sz="1600"/>
          </a:p>
          <a:p>
            <a:pPr indent="-68263" lvl="0" marL="169863" rtl="0" algn="l">
              <a:lnSpc>
                <a:spcPct val="95000"/>
              </a:lnSpc>
              <a:spcBef>
                <a:spcPts val="600"/>
              </a:spcBef>
              <a:spcAft>
                <a:spcPts val="0"/>
              </a:spcAft>
              <a:buClr>
                <a:schemeClr val="dk1"/>
              </a:buClr>
              <a:buSzPts val="1600"/>
              <a:buNone/>
            </a:pPr>
            <a:r>
              <a:t/>
            </a:r>
            <a:endParaRPr sz="1600"/>
          </a:p>
        </p:txBody>
      </p:sp>
      <p:sp>
        <p:nvSpPr>
          <p:cNvPr id="6868" name="Google Shape;6868;p388"/>
          <p:cNvSpPr txBox="1"/>
          <p:nvPr>
            <p:ph type="title"/>
          </p:nvPr>
        </p:nvSpPr>
        <p:spPr>
          <a:xfrm>
            <a:off x="468355" y="240948"/>
            <a:ext cx="5435240" cy="704088"/>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Product End-of-Life</a:t>
            </a:r>
            <a:br>
              <a:rPr lang="en-GB"/>
            </a:br>
            <a:endParaRPr/>
          </a:p>
        </p:txBody>
      </p:sp>
      <p:pic>
        <p:nvPicPr>
          <p:cNvPr descr="BIZ-1044-L.jpg" id="6869" name="Google Shape;6869;p388"/>
          <p:cNvPicPr preferRelativeResize="0"/>
          <p:nvPr/>
        </p:nvPicPr>
        <p:blipFill rotWithShape="1">
          <a:blip r:embed="rId3">
            <a:alphaModFix/>
          </a:blip>
          <a:srcRect b="0" l="-8656" r="-8655" t="0"/>
          <a:stretch/>
        </p:blipFill>
        <p:spPr>
          <a:xfrm>
            <a:off x="5276850" y="1212851"/>
            <a:ext cx="4362450" cy="2146544"/>
          </a:xfrm>
          <a:prstGeom prst="rect">
            <a:avLst/>
          </a:prstGeom>
          <a:noFill/>
          <a:ln>
            <a:noFill/>
          </a:ln>
        </p:spPr>
      </p:pic>
      <p:sp>
        <p:nvSpPr>
          <p:cNvPr id="6870" name="Google Shape;6870;p388">
            <a:hlinkClick action="ppaction://hlinksldjump" r:id="rId4"/>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Product End of Life</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5" name="Shape 6875"/>
        <p:cNvGrpSpPr/>
        <p:nvPr/>
      </p:nvGrpSpPr>
      <p:grpSpPr>
        <a:xfrm>
          <a:off x="0" y="0"/>
          <a:ext cx="0" cy="0"/>
          <a:chOff x="0" y="0"/>
          <a:chExt cx="0" cy="0"/>
        </a:xfrm>
      </p:grpSpPr>
      <p:cxnSp>
        <p:nvCxnSpPr>
          <p:cNvPr id="6876" name="Google Shape;6876;p389"/>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graphicFrame>
        <p:nvGraphicFramePr>
          <p:cNvPr id="6877" name="Google Shape;6877;p389"/>
          <p:cNvGraphicFramePr/>
          <p:nvPr/>
        </p:nvGraphicFramePr>
        <p:xfrm>
          <a:off x="414866" y="822655"/>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b="1" sz="1400">
                        <a:solidFill>
                          <a:schemeClr val="dk2"/>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Identification and prioritization of products to be decommissioned</a:t>
                      </a:r>
                      <a:r>
                        <a:rPr b="1" lang="en-GB" sz="900">
                          <a:solidFill>
                            <a:schemeClr val="dk1"/>
                          </a:solidFill>
                        </a:rPr>
                        <a:t> and migrated to selected new products, optimizing customer value and business benefit</a:t>
                      </a:r>
                      <a:endParaRPr b="1" sz="900">
                        <a:solidFill>
                          <a:schemeClr val="dk1"/>
                        </a:solidFill>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Systematically determine which products</a:t>
                      </a:r>
                      <a:r>
                        <a:rPr b="0" lang="en-GB" sz="900">
                          <a:solidFill>
                            <a:schemeClr val="dk1"/>
                          </a:solidFill>
                        </a:rPr>
                        <a:t> that should be decommissioned and in which </a:t>
                      </a:r>
                      <a:r>
                        <a:rPr b="0" lang="en-GB" sz="900">
                          <a:solidFill>
                            <a:schemeClr val="dk1"/>
                          </a:solidFill>
                          <a:latin typeface="Century Gothic"/>
                          <a:ea typeface="Century Gothic"/>
                          <a:cs typeface="Century Gothic"/>
                          <a:sym typeface="Century Gothic"/>
                        </a:rPr>
                        <a:t>order based on established metrics, KPI’s and analytics</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rPr>
                        <a:t>Prioritization of new products recommended to which customer based on current </a:t>
                      </a:r>
                      <a:r>
                        <a:rPr b="0" lang="en-GB" sz="900">
                          <a:solidFill>
                            <a:schemeClr val="dk1"/>
                          </a:solidFill>
                          <a:latin typeface="Century Gothic"/>
                          <a:ea typeface="Century Gothic"/>
                          <a:cs typeface="Century Gothic"/>
                          <a:sym typeface="Century Gothic"/>
                        </a:rPr>
                        <a:t>product and customer insight</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Understanding customer impact of recommended migration</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Understanding system/platform impact of recommended migration</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Understanding business impact </a:t>
                      </a:r>
                      <a:r>
                        <a:rPr b="0" lang="en-GB" sz="900">
                          <a:solidFill>
                            <a:schemeClr val="dk1"/>
                          </a:solidFill>
                        </a:rPr>
                        <a:t>of recommended migration</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rPr>
                        <a:t>Determination of need of promotional </a:t>
                      </a:r>
                      <a:r>
                        <a:rPr b="0" lang="en-GB" sz="900">
                          <a:solidFill>
                            <a:schemeClr val="dk1"/>
                          </a:solidFill>
                          <a:latin typeface="Century Gothic"/>
                          <a:ea typeface="Century Gothic"/>
                          <a:cs typeface="Century Gothic"/>
                          <a:sym typeface="Century Gothic"/>
                        </a:rPr>
                        <a:t>offer for seamless migration process to minimize potential service issues</a:t>
                      </a:r>
                      <a:endParaRPr/>
                    </a:p>
                    <a:p>
                      <a:pPr indent="-114300" lvl="0" marL="171450" marR="0" rtl="0" algn="l">
                        <a:lnSpc>
                          <a:spcPct val="100000"/>
                        </a:lnSpc>
                        <a:spcBef>
                          <a:spcPts val="0"/>
                        </a:spcBef>
                        <a:spcAft>
                          <a:spcPts val="0"/>
                        </a:spcAft>
                        <a:buClr>
                          <a:schemeClr val="dk1"/>
                        </a:buClr>
                        <a:buSzPts val="900"/>
                        <a:buFont typeface="Arial"/>
                        <a:buNone/>
                      </a:pPr>
                      <a:r>
                        <a:t/>
                      </a:r>
                      <a:endParaRPr b="0" sz="900">
                        <a:solidFill>
                          <a:schemeClr val="dk1"/>
                        </a:solidFill>
                      </a:endParaRPr>
                    </a:p>
                    <a:p>
                      <a:r>
                        <a:rPr sz="900"/>
                        <a:t/>
                      </a:r>
                    </a:p>
                    <a:p>
                      <a:r>
                        <a:rPr sz="900"/>
                        <a:t>Sunset legacy products: old savings schemes, discontinued FD tenors</a:t>
                      </a:r>
                    </a:p>
                    <a:p>
                      <a:r>
                        <a:rPr sz="900"/>
                        <a:t>Migrate customers from conventional to Islamic products (growing demand)</a:t>
                      </a:r>
                    </a:p>
                    <a:p>
                      <a:r>
                        <a:rPr sz="900"/>
                        <a:t>Consolidate product variants across merged entities (200+ variants → 50-80)</a:t>
                      </a:r>
                    </a:p>
                    <a:p>
                      <a:r>
                        <a:rPr sz="900"/>
                        <a:t>Regulatory sunset: SBP discontinued products require customer migration</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xBody>
                    <a:bodyPr/>
                    <a:p/>
                  </a:txBody>
                </a:tc>
                <a:tc vMerge="1">
                  <a:txBody>
                    <a:bodyPr/>
                    <a:p/>
                  </a:txBody>
                </a:tc>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p>
                      <a:r>
                        <a:rPr sz="800" b="1">
                          <a:solidFill>
                            <a:srgbClr val="006699"/>
                          </a:solidFill>
                        </a:rPr>
                        <a:t>FSDM: Customer_Journey, Interaction_Event, Channel_Session, Service_Request, Process_Step, Wait_Time_Metric</a:t>
                      </a:r>
                    </a:p>
                    <a:p>
                      <a:r>
                        <a:rPr sz="800" i="1">
                          <a:solidFill>
                            <a:srgbClr val="008040"/>
                          </a:solidFill>
                        </a:rPr>
                        <a:t>Pakistan: Branch queue management, ATM uptime correlation, mobile app crash analytics, RAAST transaction experience, complaint resolution SLA tracking per SBP guidelines</a:t>
                      </a: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9388" lvl="0" marL="179388" marR="0" rtl="0" algn="l">
                        <a:lnSpc>
                          <a:spcPct val="95000"/>
                        </a:lnSpc>
                        <a:spcBef>
                          <a:spcPts val="0"/>
                        </a:spcBef>
                        <a:spcAft>
                          <a:spcPts val="0"/>
                        </a:spcAft>
                        <a:buClr>
                          <a:schemeClr val="dk1"/>
                        </a:buClr>
                        <a:buSzPts val="850"/>
                        <a:buFont typeface="Arial"/>
                        <a:buChar char="•"/>
                      </a:pPr>
                      <a:r>
                        <a:rPr lang="en-GB" sz="850">
                          <a:solidFill>
                            <a:schemeClr val="dk1"/>
                          </a:solidFill>
                        </a:rPr>
                        <a:t>Customer product ownership</a:t>
                      </a:r>
                      <a:endParaRPr/>
                    </a:p>
                    <a:p>
                      <a:pPr indent="-179388" lvl="0" marL="179388" marR="0" rtl="0" algn="l">
                        <a:lnSpc>
                          <a:spcPct val="95000"/>
                        </a:lnSpc>
                        <a:spcBef>
                          <a:spcPts val="0"/>
                        </a:spcBef>
                        <a:spcAft>
                          <a:spcPts val="0"/>
                        </a:spcAft>
                        <a:buClr>
                          <a:schemeClr val="dk1"/>
                        </a:buClr>
                        <a:buSzPts val="850"/>
                        <a:buFont typeface="Arial"/>
                        <a:buChar char="•"/>
                      </a:pPr>
                      <a:r>
                        <a:rPr lang="en-GB" sz="850">
                          <a:solidFill>
                            <a:schemeClr val="dk1"/>
                          </a:solidFill>
                        </a:rPr>
                        <a:t>Behavioral data (product utilization)</a:t>
                      </a:r>
                      <a:endParaRPr/>
                    </a:p>
                    <a:p>
                      <a:pPr indent="-179388" lvl="0" marL="179388" marR="0" rtl="0" algn="l">
                        <a:lnSpc>
                          <a:spcPct val="95000"/>
                        </a:lnSpc>
                        <a:spcBef>
                          <a:spcPts val="0"/>
                        </a:spcBef>
                        <a:spcAft>
                          <a:spcPts val="0"/>
                        </a:spcAft>
                        <a:buClr>
                          <a:schemeClr val="dk1"/>
                        </a:buClr>
                        <a:buSzPts val="850"/>
                        <a:buFont typeface="Arial"/>
                        <a:buChar char="•"/>
                      </a:pPr>
                      <a:r>
                        <a:rPr lang="en-GB" sz="850">
                          <a:solidFill>
                            <a:schemeClr val="dk1"/>
                          </a:solidFill>
                        </a:rPr>
                        <a:t>Customer profitability</a:t>
                      </a:r>
                      <a:endParaRPr sz="850">
                        <a:solidFill>
                          <a:srgbClr val="FF0000"/>
                        </a:solidFill>
                      </a:endParaRPr>
                    </a:p>
                    <a:p>
                      <a:pPr indent="-179388" lvl="0" marL="179388" marR="0" rtl="0" algn="l">
                        <a:lnSpc>
                          <a:spcPct val="95000"/>
                        </a:lnSpc>
                        <a:spcBef>
                          <a:spcPts val="0"/>
                        </a:spcBef>
                        <a:spcAft>
                          <a:spcPts val="0"/>
                        </a:spcAft>
                        <a:buClr>
                          <a:schemeClr val="dk1"/>
                        </a:buClr>
                        <a:buSzPts val="850"/>
                        <a:buFont typeface="Arial"/>
                        <a:buChar char="•"/>
                      </a:pPr>
                      <a:r>
                        <a:rPr lang="en-GB" sz="850">
                          <a:solidFill>
                            <a:schemeClr val="dk1"/>
                          </a:solidFill>
                        </a:rPr>
                        <a:t>Product transactions</a:t>
                      </a:r>
                      <a:endParaRPr/>
                    </a:p>
                    <a:p>
                      <a:pPr indent="-179388" lvl="0" marL="179388" marR="0" rtl="0" algn="l">
                        <a:lnSpc>
                          <a:spcPct val="95000"/>
                        </a:lnSpc>
                        <a:spcBef>
                          <a:spcPts val="0"/>
                        </a:spcBef>
                        <a:spcAft>
                          <a:spcPts val="0"/>
                        </a:spcAft>
                        <a:buClr>
                          <a:schemeClr val="dk1"/>
                        </a:buClr>
                        <a:buSzPts val="850"/>
                        <a:buFont typeface="Arial"/>
                        <a:buChar char="•"/>
                      </a:pPr>
                      <a:r>
                        <a:rPr lang="en-GB" sz="850">
                          <a:solidFill>
                            <a:schemeClr val="dk1"/>
                          </a:solidFill>
                          <a:latin typeface="Century Gothic"/>
                          <a:ea typeface="Century Gothic"/>
                          <a:cs typeface="Century Gothic"/>
                          <a:sym typeface="Century Gothic"/>
                        </a:rPr>
                        <a:t>Product profitability - associated </a:t>
                      </a:r>
                      <a:r>
                        <a:rPr lang="en-GB" sz="850">
                          <a:solidFill>
                            <a:schemeClr val="dk1"/>
                          </a:solidFill>
                        </a:rPr>
                        <a:t>revenue and cost</a:t>
                      </a:r>
                      <a:endParaRPr/>
                    </a:p>
                    <a:p>
                      <a:pPr indent="-179388" lvl="0" marL="179388" marR="0" rtl="0" algn="l">
                        <a:lnSpc>
                          <a:spcPct val="95000"/>
                        </a:lnSpc>
                        <a:spcBef>
                          <a:spcPts val="0"/>
                        </a:spcBef>
                        <a:spcAft>
                          <a:spcPts val="0"/>
                        </a:spcAft>
                        <a:buClr>
                          <a:schemeClr val="dk1"/>
                        </a:buClr>
                        <a:buSzPts val="850"/>
                        <a:buFont typeface="Arial"/>
                        <a:buChar char="•"/>
                      </a:pPr>
                      <a:r>
                        <a:rPr lang="en-GB" sz="850">
                          <a:solidFill>
                            <a:schemeClr val="dk1"/>
                          </a:solidFill>
                        </a:rPr>
                        <a:t>NPS or customer satisfaction data</a:t>
                      </a:r>
                      <a:endParaRPr/>
                    </a:p>
                    <a:p>
                      <a:pPr indent="0" lvl="0" marL="0" marR="0" rtl="0" algn="l">
                        <a:spcBef>
                          <a:spcPts val="0"/>
                        </a:spcBef>
                        <a:spcAft>
                          <a:spcPts val="0"/>
                        </a:spcAft>
                        <a:buClr>
                          <a:schemeClr val="dk1"/>
                        </a:buClr>
                        <a:buSzPts val="900"/>
                        <a:buFont typeface="Arial"/>
                        <a:buNone/>
                      </a:pPr>
                      <a:r>
                        <a:rPr b="1" lang="en-GB" sz="900">
                          <a:solidFill>
                            <a:schemeClr val="dk1"/>
                          </a:solidFill>
                        </a:rPr>
                        <a:t>Solution / Analytics</a:t>
                      </a:r>
                      <a:endParaRPr/>
                    </a:p>
                    <a:p>
                      <a:pPr indent="-179388" lvl="0" marL="179388" marR="0" rtl="0" algn="l">
                        <a:lnSpc>
                          <a:spcPct val="95000"/>
                        </a:lnSpc>
                        <a:spcBef>
                          <a:spcPts val="0"/>
                        </a:spcBef>
                        <a:spcAft>
                          <a:spcPts val="0"/>
                        </a:spcAft>
                        <a:buClr>
                          <a:schemeClr val="dk1"/>
                        </a:buClr>
                        <a:buSzPts val="850"/>
                        <a:buFont typeface="Arial"/>
                        <a:buChar char="•"/>
                      </a:pPr>
                      <a:r>
                        <a:rPr lang="en-GB" sz="850">
                          <a:solidFill>
                            <a:schemeClr val="dk1"/>
                          </a:solidFill>
                        </a:rPr>
                        <a:t>Customer behavior analytics</a:t>
                      </a:r>
                      <a:endParaRPr/>
                    </a:p>
                    <a:p>
                      <a:pPr indent="-179388" lvl="0" marL="179388" marR="0" rtl="0" algn="l">
                        <a:lnSpc>
                          <a:spcPct val="95000"/>
                        </a:lnSpc>
                        <a:spcBef>
                          <a:spcPts val="0"/>
                        </a:spcBef>
                        <a:spcAft>
                          <a:spcPts val="0"/>
                        </a:spcAft>
                        <a:buClr>
                          <a:schemeClr val="dk1"/>
                        </a:buClr>
                        <a:buSzPts val="850"/>
                        <a:buFont typeface="Arial"/>
                        <a:buChar char="•"/>
                      </a:pPr>
                      <a:r>
                        <a:rPr lang="en-GB" sz="850">
                          <a:solidFill>
                            <a:schemeClr val="dk1"/>
                          </a:solidFill>
                        </a:rPr>
                        <a:t>Affinity analysis</a:t>
                      </a:r>
                      <a:endParaRPr/>
                    </a:p>
                    <a:p>
                      <a:pPr indent="-179388" lvl="0" marL="179388" marR="0" rtl="0" algn="l">
                        <a:lnSpc>
                          <a:spcPct val="95000"/>
                        </a:lnSpc>
                        <a:spcBef>
                          <a:spcPts val="0"/>
                        </a:spcBef>
                        <a:spcAft>
                          <a:spcPts val="0"/>
                        </a:spcAft>
                        <a:buClr>
                          <a:schemeClr val="dk1"/>
                        </a:buClr>
                        <a:buSzPts val="850"/>
                        <a:buFont typeface="Arial"/>
                        <a:buChar char="•"/>
                      </a:pPr>
                      <a:r>
                        <a:rPr lang="en-GB" sz="850">
                          <a:solidFill>
                            <a:schemeClr val="dk1"/>
                          </a:solidFill>
                        </a:rPr>
                        <a:t>Value segmentation</a:t>
                      </a:r>
                      <a:endParaRPr/>
                    </a:p>
                    <a:p>
                      <a:pPr indent="-179388" lvl="0" marL="179388" marR="0" rtl="0" algn="l">
                        <a:lnSpc>
                          <a:spcPct val="95000"/>
                        </a:lnSpc>
                        <a:spcBef>
                          <a:spcPts val="0"/>
                        </a:spcBef>
                        <a:spcAft>
                          <a:spcPts val="0"/>
                        </a:spcAft>
                        <a:buClr>
                          <a:schemeClr val="dk1"/>
                        </a:buClr>
                        <a:buSzPts val="850"/>
                        <a:buFont typeface="Arial"/>
                        <a:buChar char="•"/>
                      </a:pPr>
                      <a:r>
                        <a:rPr lang="en-GB" sz="850">
                          <a:solidFill>
                            <a:schemeClr val="dk1"/>
                          </a:solidFill>
                        </a:rPr>
                        <a:t>Customer experience analytics</a:t>
                      </a:r>
                      <a:endParaRPr/>
                    </a:p>
                    <a:p>
                      <a:r>
                        <a:rPr sz="800" b="1">
                          <a:solidFill>
                            <a:srgbClr val="006699"/>
                          </a:solidFill>
                        </a:rPr>
                        <a:t>FSDM: Customer_Journey, Interaction_Event, Channel_Session, Service_Request, Process_Step, Wait_Time_Metric</a:t>
                      </a:r>
                    </a:p>
                    <a:p>
                      <a:r>
                        <a:rPr sz="800" i="1">
                          <a:solidFill>
                            <a:srgbClr val="008040"/>
                          </a:solidFill>
                        </a:rPr>
                        <a:t>Pakistan: Branch queue management, ATM uptime correlation, mobile app crash analytics, RAAST transaction experience, complaint resolution SLA tracking per SBP guidelines</a:t>
                      </a:r>
                    </a:p>
                    <a:p>
                      <a:r>
                        <a:rPr sz="900"/>
                        <a:t/>
                      </a:r>
                    </a:p>
                    <a:p>
                      <a:r>
                        <a:rPr sz="900"/>
                        <a:t>Product-level balance and customer data from FSDM</a:t>
                      </a:r>
                    </a:p>
                    <a:p>
                      <a:r>
                        <a:rPr sz="900"/>
                        <a:t>Customer communication preference, channel usage data</a:t>
                      </a:r>
                    </a:p>
                    <a:p>
                      <a:r>
                        <a:rPr sz="900"/>
                        <a:t>Product switching history, customer satisfaction scores</a:t>
                      </a:r>
                    </a:p>
                    <a:p>
                      <a:r>
                        <a:rPr sz="900"/>
                        <a:t>Regulatory timeline data for mandated product changes</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spcBef>
                          <a:spcPts val="0"/>
                        </a:spcBef>
                        <a:spcAft>
                          <a:spcPts val="0"/>
                        </a:spcAft>
                        <a:buClr>
                          <a:schemeClr val="dk1"/>
                        </a:buClr>
                        <a:buSzPts val="900"/>
                        <a:buFont typeface="Arial"/>
                        <a:buChar char="•"/>
                      </a:pPr>
                      <a:r>
                        <a:rPr b="0" lang="en-GB" sz="900">
                          <a:solidFill>
                            <a:schemeClr val="dk1"/>
                          </a:solidFill>
                        </a:rPr>
                        <a:t>Reduced cost of maintaining product</a:t>
                      </a:r>
                      <a:r>
                        <a:rPr b="0" lang="en-GB" sz="900">
                          <a:solidFill>
                            <a:schemeClr val="dk1"/>
                          </a:solidFill>
                        </a:rPr>
                        <a:t> portfolio</a:t>
                      </a:r>
                      <a:endParaRPr/>
                    </a:p>
                    <a:p>
                      <a:pPr indent="-171450" lvl="0" marL="171450" marR="0" rtl="0" algn="l">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Reduced complexity in product portfolio</a:t>
                      </a:r>
                      <a:endParaRPr/>
                    </a:p>
                    <a:p>
                      <a:pPr indent="-171450" lvl="0" marL="171450" marR="0" rtl="0" algn="l">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Optimized portfolio mix for improved profitability</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Reduced complexity in event of product platform migration/decommissioning</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customer experience, based on better support</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Increased relevance to customer</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Reduced product closure rate</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Increased customer lifetime value (CLV)</a:t>
                      </a:r>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r>
                        <a:rPr sz="900"/>
                        <a:t/>
                      </a:r>
                    </a:p>
                    <a:p>
                      <a:r>
                        <a:rPr sz="900"/>
                        <a:t>Smooth migration preserving customer relationships, minimal attrition during sunset</a:t>
                      </a:r>
                    </a:p>
                    <a:p>
                      <a:r>
                        <a:rPr sz="900"/>
                        <a:t>Optimized product portfolio: fewer variants, lower operational complexity</a:t>
                      </a:r>
                    </a:p>
                    <a:p>
                      <a:r>
                        <a:rPr sz="900"/>
                        <a:t>Proactive conventional → Islamic migration for willing customers</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6878" name="Google Shape;6878;p389"/>
          <p:cNvSpPr txBox="1"/>
          <p:nvPr>
            <p:ph type="title"/>
          </p:nvPr>
        </p:nvSpPr>
        <p:spPr>
          <a:xfrm>
            <a:off x="457200" y="173736"/>
            <a:ext cx="8229600" cy="704088"/>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Determine Product Migration</a:t>
            </a:r>
            <a:endParaRPr/>
          </a:p>
        </p:txBody>
      </p:sp>
      <p:pic>
        <p:nvPicPr>
          <p:cNvPr descr="BIZ-1062-L.jpg" id="6879" name="Google Shape;6879;p389"/>
          <p:cNvPicPr preferRelativeResize="0"/>
          <p:nvPr/>
        </p:nvPicPr>
        <p:blipFill rotWithShape="1">
          <a:blip r:embed="rId3">
            <a:alphaModFix/>
          </a:blip>
          <a:srcRect b="0" l="-8656" r="-8655" t="0"/>
          <a:stretch/>
        </p:blipFill>
        <p:spPr>
          <a:xfrm>
            <a:off x="5182131" y="797425"/>
            <a:ext cx="3430238" cy="1949360"/>
          </a:xfrm>
          <a:prstGeom prst="rect">
            <a:avLst/>
          </a:prstGeom>
          <a:noFill/>
          <a:ln>
            <a:noFill/>
          </a:ln>
        </p:spPr>
      </p:pic>
      <p:sp>
        <p:nvSpPr>
          <p:cNvPr id="6880" name="Google Shape;6880;p389">
            <a:hlinkClick action="ppaction://hlinksldjump" r:id="rId4"/>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Product End of Life</a:t>
            </a:r>
            <a:endParaRPr sz="750">
              <a:solidFill>
                <a:schemeClr val="lt1"/>
              </a:solidFill>
              <a:latin typeface="Century Gothic"/>
              <a:ea typeface="Century Gothic"/>
              <a:cs typeface="Century Gothic"/>
              <a:sym typeface="Century Gothic"/>
            </a:endParaRPr>
          </a:p>
        </p:txBody>
      </p:sp>
      <p:grpSp>
        <p:nvGrpSpPr>
          <p:cNvPr id="6881" name="Google Shape;6881;p389"/>
          <p:cNvGrpSpPr/>
          <p:nvPr/>
        </p:nvGrpSpPr>
        <p:grpSpPr>
          <a:xfrm>
            <a:off x="7717533" y="4360377"/>
            <a:ext cx="1058348" cy="347375"/>
            <a:chOff x="7651698" y="4287227"/>
            <a:chExt cx="1058348" cy="347375"/>
          </a:xfrm>
        </p:grpSpPr>
        <p:grpSp>
          <p:nvGrpSpPr>
            <p:cNvPr id="6882" name="Google Shape;6882;p389"/>
            <p:cNvGrpSpPr/>
            <p:nvPr/>
          </p:nvGrpSpPr>
          <p:grpSpPr>
            <a:xfrm>
              <a:off x="7714163" y="4337598"/>
              <a:ext cx="995883" cy="297004"/>
              <a:chOff x="7711013" y="3986494"/>
              <a:chExt cx="995883" cy="297004"/>
            </a:xfrm>
          </p:grpSpPr>
          <p:sp>
            <p:nvSpPr>
              <p:cNvPr id="6883" name="Google Shape;6883;p389"/>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6884" name="Google Shape;6884;p389"/>
              <p:cNvGrpSpPr/>
              <p:nvPr/>
            </p:nvGrpSpPr>
            <p:grpSpPr>
              <a:xfrm>
                <a:off x="7711013" y="4002615"/>
                <a:ext cx="281520" cy="241973"/>
                <a:chOff x="5652748" y="4066000"/>
                <a:chExt cx="906498" cy="747974"/>
              </a:xfrm>
            </p:grpSpPr>
            <p:sp>
              <p:nvSpPr>
                <p:cNvPr id="6885" name="Google Shape;6885;p389"/>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6886" name="Google Shape;6886;p389"/>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6887" name="Google Shape;6887;p389"/>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6888" name="Google Shape;6888;p389">
              <a:hlinkClick action="ppaction://hlinksldjump" r:id="rId5"/>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93" name="Shape 6893"/>
        <p:cNvGrpSpPr/>
        <p:nvPr/>
      </p:nvGrpSpPr>
      <p:grpSpPr>
        <a:xfrm>
          <a:off x="0" y="0"/>
          <a:ext cx="0" cy="0"/>
          <a:chOff x="0" y="0"/>
          <a:chExt cx="0" cy="0"/>
        </a:xfrm>
      </p:grpSpPr>
      <p:graphicFrame>
        <p:nvGraphicFramePr>
          <p:cNvPr id="6894" name="Google Shape;6894;p390"/>
          <p:cNvGraphicFramePr/>
          <p:nvPr/>
        </p:nvGraphicFramePr>
        <p:xfrm>
          <a:off x="469899" y="789217"/>
          <a:ext cx="3000000" cy="3000000"/>
        </p:xfrm>
        <a:graphic>
          <a:graphicData uri="http://schemas.openxmlformats.org/drawingml/2006/table">
            <a:tbl>
              <a:tblPr bandRow="1" firstRow="1">
                <a:noFill/>
                <a:tableStyleId>{D098BFCB-6916-41F2-A2A5-0DF0D5139B6F}</a:tableStyleId>
              </a:tblPr>
              <a:tblGrid>
                <a:gridCol w="130325"/>
                <a:gridCol w="556275"/>
                <a:gridCol w="367500"/>
                <a:gridCol w="3170075"/>
                <a:gridCol w="3276050"/>
                <a:gridCol w="477150"/>
                <a:gridCol w="477150"/>
              </a:tblGrid>
              <a:tr h="180850">
                <a:tc gridSpan="3">
                  <a:txBody>
                    <a:bodyPr/>
                    <a:lstStyle/>
                    <a:p>
                      <a:pPr indent="0" lvl="0" marL="0" marR="0" rtl="0" algn="ctr">
                        <a:spcBef>
                          <a:spcPts val="0"/>
                        </a:spcBef>
                        <a:spcAft>
                          <a:spcPts val="0"/>
                        </a:spcAft>
                        <a:buNone/>
                      </a:pPr>
                      <a:r>
                        <a:rPr b="1" lang="en-GB" sz="1200">
                          <a:solidFill>
                            <a:schemeClr val="dk2"/>
                          </a:solidFill>
                        </a:rPr>
                        <a:t>Level</a:t>
                      </a:r>
                      <a:endParaRPr b="1" sz="12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hMerge="1">
                  <a:txBody>
                    <a:bodyPr/>
                    <a:p/>
                  </a:txBody>
                </a:tc>
                <a:tc gridSpan="2">
                  <a:txBody>
                    <a:bodyPr/>
                    <a:lstStyle/>
                    <a:p>
                      <a:pPr indent="0" lvl="0" marL="0" marR="0" rtl="0" algn="ctr">
                        <a:lnSpc>
                          <a:spcPct val="100000"/>
                        </a:lnSpc>
                        <a:spcBef>
                          <a:spcPts val="0"/>
                        </a:spcBef>
                        <a:spcAft>
                          <a:spcPts val="0"/>
                        </a:spcAft>
                        <a:buClr>
                          <a:schemeClr val="dk2"/>
                        </a:buClr>
                        <a:buSzPts val="1200"/>
                        <a:buFont typeface="Century Gothic"/>
                        <a:buNone/>
                      </a:pPr>
                      <a:r>
                        <a:rPr b="1" lang="en-GB" sz="1200">
                          <a:solidFill>
                            <a:schemeClr val="dk2"/>
                          </a:solidFill>
                        </a:rPr>
                        <a:t>Maturity Statement</a:t>
                      </a:r>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rPr b="1" lang="en-GB" sz="800">
                          <a:solidFill>
                            <a:schemeClr val="dk2"/>
                          </a:solidFill>
                        </a:rPr>
                        <a:t>Current</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rPr b="1" lang="en-GB" sz="800">
                          <a:solidFill>
                            <a:schemeClr val="dk2"/>
                          </a:solidFill>
                        </a:rPr>
                        <a:t>Desired</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3385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06C1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Leading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Application of advanced analytical techniques to determine products for decommissioning as well as recommended new product, based on extensive customer insight and customer influential impact on customer base value.  Analytics also inform about timing of recommended migration. Full understanding of customer and business impact, including predicted indirect impact.</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3385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F7513"/>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Innovating</a:t>
                      </a:r>
                      <a:endParaRPr/>
                    </a:p>
                    <a:p>
                      <a:pPr indent="0" lvl="0" marL="0" marR="0" rtl="0" algn="ctr">
                        <a:spcBef>
                          <a:spcPts val="0"/>
                        </a:spcBef>
                        <a:spcAft>
                          <a:spcPts val="0"/>
                        </a:spcAft>
                        <a:buNone/>
                      </a:pPr>
                      <a:r>
                        <a:t/>
                      </a:r>
                      <a:endParaRPr b="1" sz="1000">
                        <a:solidFill>
                          <a:schemeClr val="dk2"/>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Application of analytical techniques to determine products for decommissioning as well as recommended new product, based on customer value , customer satisfaction and customer behavior. Significant understanding of costs and complexity associated with the product. Good understanding of customer and business impact.</a:t>
                      </a:r>
                      <a:endParaRPr/>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3385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C891C"/>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Practicing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Basic application of analytical techniques to determine products for decommissioning as well as recommended new product, based on product utilization and product portfolio ownerships. Initial understanding of costs associated with the product. </a:t>
                      </a:r>
                      <a:endParaRPr/>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lnSpc>
                          <a:spcPct val="100000"/>
                        </a:lnSpc>
                        <a:spcBef>
                          <a:spcPts val="0"/>
                        </a:spcBef>
                        <a:spcAft>
                          <a:spcPts val="0"/>
                        </a:spcAft>
                        <a:buClr>
                          <a:schemeClr val="dk1"/>
                        </a:buClr>
                        <a:buSzPts val="1400"/>
                        <a:buFont typeface="Century Gothic"/>
                        <a:buNone/>
                      </a:pPr>
                      <a:r>
                        <a:t/>
                      </a:r>
                      <a:endParaRPr sz="1400">
                        <a:solidFill>
                          <a:schemeClr val="dk1"/>
                        </a:solidFill>
                        <a:latin typeface="Noto Sans Symbols"/>
                        <a:ea typeface="Noto Sans Symbols"/>
                        <a:cs typeface="Noto Sans Symbols"/>
                        <a:sym typeface="Noto Sans Symbols"/>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3385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E9B4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Developing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Determine products for decommissioning based on number of customers owning the product or general sales volumes, as well as some insight on product utilization. Migrate to products based on current new product sales targets and product attributes to meet customer utilization needs. Basic understanding of customer and business impact</a:t>
                      </a:r>
                      <a:endParaRPr/>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3385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F1AE65"/>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Emerging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Determine products for decommissioning based on number of customers owning the product or general sales volumes. Migrate to products based on current new product sales targets. Little or no understanding of customer and business impact</a:t>
                      </a:r>
                      <a:endParaRPr/>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178750">
                <a:tc gridSpan="3">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Priority</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hMerge="1">
                  <a:txBody>
                    <a:bodyPr/>
                    <a:p/>
                  </a:txBody>
                </a:tc>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Key areas for improvement</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Benefits from uplift</a:t>
                      </a:r>
                      <a:endParaRPr b="1" sz="1000">
                        <a:solidFill>
                          <a:schemeClr val="dk2"/>
                        </a:solidFill>
                        <a:latin typeface="Century Gothic"/>
                        <a:ea typeface="Century Gothic"/>
                        <a:cs typeface="Century Gothic"/>
                        <a:sym typeface="Century Gothic"/>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a:txBody>
                    <a:bodyPr/>
                    <a:lstStyle/>
                    <a:p>
                      <a:pPr indent="0" lvl="0" marL="0" marR="0" rtl="0" algn="ctr">
                        <a:spcBef>
                          <a:spcPts val="0"/>
                        </a:spcBef>
                        <a:spcAft>
                          <a:spcPts val="0"/>
                        </a:spcAft>
                        <a:buNone/>
                      </a:pPr>
                      <a:r>
                        <a:rPr b="1" lang="en-GB" sz="1000">
                          <a:solidFill>
                            <a:schemeClr val="dk2"/>
                          </a:solidFill>
                        </a:rPr>
                        <a:t>Timeframe</a:t>
                      </a:r>
                      <a:endParaRPr b="1" sz="1000">
                        <a:solidFill>
                          <a:schemeClr val="dk2"/>
                        </a:solidFill>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r>
              <a:tr h="243275">
                <a:tc gridSpan="2">
                  <a:txBody>
                    <a:bodyPr/>
                    <a:lstStyle/>
                    <a:p>
                      <a:pPr indent="0" lvl="0" marL="0" marR="0" rtl="0" algn="ctr">
                        <a:spcBef>
                          <a:spcPts val="0"/>
                        </a:spcBef>
                        <a:spcAft>
                          <a:spcPts val="0"/>
                        </a:spcAft>
                        <a:buNone/>
                      </a:pPr>
                      <a:r>
                        <a:rPr b="1" lang="en-GB" sz="800">
                          <a:solidFill>
                            <a:schemeClr val="dk1"/>
                          </a:solidFill>
                        </a:rPr>
                        <a:t>High</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rPr lang="en-GB" sz="1000">
                          <a:solidFill>
                            <a:schemeClr val="dk1"/>
                          </a:solidFill>
                          <a:latin typeface="Noto Sans Symbols"/>
                          <a:ea typeface="Noto Sans Symbols"/>
                          <a:cs typeface="Noto Sans Symbols"/>
                          <a:sym typeface="Noto Sans Symbols"/>
                        </a:rPr>
                        <a:t>✔</a:t>
                      </a:r>
                      <a:endParaRPr b="1" sz="10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0" lvl="0" marL="0" marR="0" rtl="0" algn="l">
                        <a:lnSpc>
                          <a:spcPct val="100000"/>
                        </a:lnSpc>
                        <a:spcBef>
                          <a:spcPts val="0"/>
                        </a:spcBef>
                        <a:spcAft>
                          <a:spcPts val="0"/>
                        </a:spcAft>
                        <a:buClr>
                          <a:schemeClr val="dk1"/>
                        </a:buClr>
                        <a:buSzPts val="800"/>
                        <a:buFont typeface="Arial"/>
                        <a:buNone/>
                      </a:pPr>
                      <a:r>
                        <a:rPr sz="800" b="0">
                          <a:latin typeface="Century Gothic"/>
                        </a:rPr>
                        <a:t>Pakistan priority improvements:</a:t>
                      </a:r>
                      <a:endParaRPr/>
                    </a:p>
                    <a:p>
                      <a:r>
                        <a:rPr sz="800" b="0">
                          <a:latin typeface="Century Gothic"/>
                        </a:rPr>
                        <a:t>Legacy product sunset methodology with customer communication plan</a:t>
                      </a:r>
                    </a:p>
                    <a:p>
                      <a:r>
                        <a:rPr sz="800" b="0">
                          <a:latin typeface="Century Gothic"/>
                        </a:rPr>
                        <a:t>Post-merger product rationalization framework (200+ → 50-80 variants)</a:t>
                      </a:r>
                    </a:p>
                    <a:p>
                      <a:r>
                        <a:rPr sz="800" b="0">
                          <a:latin typeface="Century Gothic"/>
                        </a:rPr>
                        <a:t>Conventional → Islamic product migration for willing customers</a:t>
                      </a:r>
                    </a:p>
                    <a:p>
                      <a:r>
                        <a:rPr sz="800" b="0">
                          <a:latin typeface="Century Gothic"/>
                        </a:rPr>
                        <a:t>Branch → digital product migration for eligible customers</a:t>
                      </a:r>
                    </a:p>
                    <a:p>
                      <a:r>
                        <a:rPr sz="800" b="0">
                          <a:latin typeface="Century Gothic"/>
                        </a:rPr>
                        <a:t>SBP-mandated product change management (regulatory sunset)</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285750" lvl="0" marL="285750" marR="0" rtl="0" algn="l">
                        <a:spcBef>
                          <a:spcPts val="0"/>
                        </a:spcBef>
                        <a:spcAft>
                          <a:spcPts val="0"/>
                        </a:spcAft>
                        <a:buClr>
                          <a:schemeClr val="dk1"/>
                        </a:buClr>
                        <a:buSzPts val="800"/>
                        <a:buFont typeface="Arial"/>
                        <a:buChar char="•"/>
                      </a:pPr>
                      <a:r>
                        <a:rPr sz="800">
                          <a:latin typeface="Century Gothic"/>
                        </a:rPr>
                        <a:t>Minimal customer attrition during product sunset (target &lt;5% loss)</a:t>
                      </a:r>
                      <a:endParaRPr/>
                    </a:p>
                    <a:p>
                      <a:r>
                        <a:rPr sz="800">
                          <a:latin typeface="Century Gothic"/>
                        </a:rPr>
                        <a:t>Optimized product portfolio reducing operational complexity</a:t>
                      </a:r>
                    </a:p>
                    <a:p>
                      <a:r>
                        <a:rPr sz="800">
                          <a:latin typeface="Century Gothic"/>
                        </a:rPr>
                        <a:t>Proactive Islamic migration capturing growing demand segment</a:t>
                      </a:r>
                    </a:p>
                    <a:p>
                      <a:r>
                        <a:rPr sz="800">
                          <a:latin typeface="Century Gothic"/>
                        </a:rPr>
                        <a:t>Regulatory compliance for SBP-mandated product changes</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rowSpan="3">
                  <a:txBody>
                    <a:bodyPr/>
                    <a:lstStyle/>
                    <a:p>
                      <a:pPr indent="0" lvl="0" marL="0" marR="0" rtl="0" algn="ctr">
                        <a:lnSpc>
                          <a:spcPct val="100000"/>
                        </a:lnSpc>
                        <a:spcBef>
                          <a:spcPts val="0"/>
                        </a:spcBef>
                        <a:spcAft>
                          <a:spcPts val="0"/>
                        </a:spcAft>
                        <a:buClr>
                          <a:schemeClr val="dk1"/>
                        </a:buClr>
                        <a:buSzPts val="800"/>
                        <a:buFont typeface="Century Gothic"/>
                        <a:buNone/>
                      </a:pPr>
                      <a:r>
                        <a:rPr b="0" lang="en-GB" sz="800">
                          <a:solidFill>
                            <a:schemeClr val="dk1"/>
                          </a:solidFill>
                        </a:rPr>
                        <a:t>2025-2027</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hMerge="1">
                  <a:txBody>
                    <a:bodyPr/>
                    <a:p/>
                  </a:txBody>
                </a:tc>
              </a:tr>
              <a:tr h="243275">
                <a:tc gridSpan="2">
                  <a:txBody>
                    <a:bodyPr/>
                    <a:lstStyle/>
                    <a:p>
                      <a:pPr indent="0" lvl="0" marL="0" marR="0" rtl="0" algn="ctr">
                        <a:spcBef>
                          <a:spcPts val="0"/>
                        </a:spcBef>
                        <a:spcAft>
                          <a:spcPts val="0"/>
                        </a:spcAft>
                        <a:buNone/>
                      </a:pPr>
                      <a:r>
                        <a:rPr b="1" lang="en-GB" sz="800">
                          <a:solidFill>
                            <a:schemeClr val="dk1"/>
                          </a:solidFill>
                        </a:rPr>
                        <a:t>Medium</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xBody>
                    <a:bodyPr/>
                    <a:p/>
                  </a:txBody>
                </a:tc>
                <a:tc vMerge="1">
                  <a:txBody>
                    <a:bodyPr/>
                    <a:p/>
                  </a:txBody>
                </a:tc>
                <a:tc gridSpan="2" vMerge="1">
                  <a:txBody>
                    <a:bodyPr/>
                    <a:p/>
                  </a:txBody>
                </a:tc>
                <a:tc hMerge="1" vMerge="1">
                  <a:txBody>
                    <a:bodyPr/>
                    <a:p/>
                  </a:txBody>
                </a:tc>
              </a:tr>
              <a:tr h="243275">
                <a:tc gridSpan="2">
                  <a:txBody>
                    <a:bodyPr/>
                    <a:lstStyle/>
                    <a:p>
                      <a:pPr indent="0" lvl="0" marL="0" marR="0" rtl="0" algn="ctr">
                        <a:spcBef>
                          <a:spcPts val="0"/>
                        </a:spcBef>
                        <a:spcAft>
                          <a:spcPts val="0"/>
                        </a:spcAft>
                        <a:buNone/>
                      </a:pPr>
                      <a:r>
                        <a:rPr b="1" lang="en-GB" sz="800">
                          <a:solidFill>
                            <a:schemeClr val="dk1"/>
                          </a:solidFill>
                        </a:rPr>
                        <a:t>Low</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xBody>
                    <a:bodyPr/>
                    <a:p/>
                  </a:txBody>
                </a:tc>
                <a:tc vMerge="1">
                  <a:txBody>
                    <a:bodyPr/>
                    <a:p/>
                  </a:txBody>
                </a:tc>
                <a:tc gridSpan="2" vMerge="1">
                  <a:txBody>
                    <a:bodyPr/>
                    <a:p/>
                  </a:txBody>
                </a:tc>
                <a:tc hMerge="1" vMerge="1">
                  <a:txBody>
                    <a:bodyPr/>
                    <a:p/>
                  </a:txBody>
                </a:tc>
              </a:tr>
            </a:tbl>
          </a:graphicData>
        </a:graphic>
      </p:graphicFrame>
      <p:grpSp>
        <p:nvGrpSpPr>
          <p:cNvPr id="6895" name="Google Shape;6895;p390"/>
          <p:cNvGrpSpPr/>
          <p:nvPr/>
        </p:nvGrpSpPr>
        <p:grpSpPr>
          <a:xfrm>
            <a:off x="469900" y="3848103"/>
            <a:ext cx="8455025" cy="732866"/>
            <a:chOff x="211138" y="3972860"/>
            <a:chExt cx="8713787" cy="642437"/>
          </a:xfrm>
        </p:grpSpPr>
        <p:sp>
          <p:nvSpPr>
            <p:cNvPr id="6896" name="Google Shape;6896;p390"/>
            <p:cNvSpPr/>
            <p:nvPr/>
          </p:nvSpPr>
          <p:spPr>
            <a:xfrm>
              <a:off x="211138" y="3972860"/>
              <a:ext cx="8713787" cy="642437"/>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6897" name="Google Shape;6897;p390"/>
            <p:cNvSpPr/>
            <p:nvPr/>
          </p:nvSpPr>
          <p:spPr>
            <a:xfrm>
              <a:off x="3692726" y="3982349"/>
              <a:ext cx="1753883" cy="632948"/>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grpSp>
        <p:nvGrpSpPr>
          <p:cNvPr id="6898" name="Google Shape;6898;p390"/>
          <p:cNvGrpSpPr/>
          <p:nvPr/>
        </p:nvGrpSpPr>
        <p:grpSpPr>
          <a:xfrm>
            <a:off x="7971865" y="980278"/>
            <a:ext cx="949325" cy="2867825"/>
            <a:chOff x="7941888" y="1062037"/>
            <a:chExt cx="983037" cy="2695575"/>
          </a:xfrm>
        </p:grpSpPr>
        <p:sp>
          <p:nvSpPr>
            <p:cNvPr id="6899" name="Google Shape;6899;p390"/>
            <p:cNvSpPr/>
            <p:nvPr/>
          </p:nvSpPr>
          <p:spPr>
            <a:xfrm>
              <a:off x="7941889" y="1062037"/>
              <a:ext cx="983036" cy="2695575"/>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6900" name="Google Shape;6900;p390"/>
            <p:cNvSpPr/>
            <p:nvPr/>
          </p:nvSpPr>
          <p:spPr>
            <a:xfrm>
              <a:off x="7941888" y="2052586"/>
              <a:ext cx="983037" cy="714476"/>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sp>
        <p:nvSpPr>
          <p:cNvPr id="6901" name="Google Shape;6901;p390"/>
          <p:cNvSpPr txBox="1"/>
          <p:nvPr>
            <p:ph type="title"/>
          </p:nvPr>
        </p:nvSpPr>
        <p:spPr>
          <a:xfrm>
            <a:off x="457200" y="173736"/>
            <a:ext cx="8229600" cy="704088"/>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Determine Product Migration</a:t>
            </a:r>
            <a:endParaRPr/>
          </a:p>
        </p:txBody>
      </p:sp>
      <p:sp>
        <p:nvSpPr>
          <p:cNvPr id="6902" name="Google Shape;6902;p390">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Product End of Life</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7" name="Shape 6907"/>
        <p:cNvGrpSpPr/>
        <p:nvPr/>
      </p:nvGrpSpPr>
      <p:grpSpPr>
        <a:xfrm>
          <a:off x="0" y="0"/>
          <a:ext cx="0" cy="0"/>
          <a:chOff x="0" y="0"/>
          <a:chExt cx="0" cy="0"/>
        </a:xfrm>
      </p:grpSpPr>
      <p:pic>
        <p:nvPicPr>
          <p:cNvPr descr="Black Laptop Computer Turned on" id="6908" name="Google Shape;6908;p391"/>
          <p:cNvPicPr preferRelativeResize="0"/>
          <p:nvPr/>
        </p:nvPicPr>
        <p:blipFill rotWithShape="1">
          <a:blip r:embed="rId3">
            <a:alphaModFix/>
          </a:blip>
          <a:srcRect b="0" l="0" r="0" t="0"/>
          <a:stretch/>
        </p:blipFill>
        <p:spPr>
          <a:xfrm>
            <a:off x="5538789" y="-66675"/>
            <a:ext cx="4652962" cy="5210175"/>
          </a:xfrm>
          <a:prstGeom prst="rect">
            <a:avLst/>
          </a:prstGeom>
          <a:noFill/>
          <a:ln>
            <a:noFill/>
          </a:ln>
        </p:spPr>
      </p:pic>
      <p:sp>
        <p:nvSpPr>
          <p:cNvPr id="6909" name="Google Shape;6909;p391"/>
          <p:cNvSpPr txBox="1"/>
          <p:nvPr>
            <p:ph type="title"/>
          </p:nvPr>
        </p:nvSpPr>
        <p:spPr>
          <a:xfrm>
            <a:off x="466725" y="3747"/>
            <a:ext cx="5087938" cy="617601"/>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Product Performance</a:t>
            </a:r>
            <a:endParaRPr/>
          </a:p>
        </p:txBody>
      </p:sp>
      <p:sp>
        <p:nvSpPr>
          <p:cNvPr id="6910" name="Google Shape;6910;p391"/>
          <p:cNvSpPr txBox="1"/>
          <p:nvPr>
            <p:ph idx="1" type="body"/>
          </p:nvPr>
        </p:nvSpPr>
        <p:spPr>
          <a:xfrm>
            <a:off x="449263" y="2201863"/>
            <a:ext cx="4866449" cy="2652712"/>
          </a:xfrm>
          <a:prstGeom prst="rect">
            <a:avLst/>
          </a:prstGeom>
          <a:noFill/>
          <a:ln>
            <a:noFill/>
          </a:ln>
        </p:spPr>
        <p:txBody>
          <a:bodyPr anchorCtr="0" anchor="t" bIns="0" lIns="0" spcFirstLastPara="1" rIns="0" wrap="square" tIns="0">
            <a:noAutofit/>
          </a:bodyPr>
          <a:lstStyle/>
          <a:p>
            <a:pPr indent="0" lvl="0" marL="0" rtl="0" algn="just">
              <a:lnSpc>
                <a:spcPct val="110000"/>
              </a:lnSpc>
              <a:spcBef>
                <a:spcPts val="0"/>
              </a:spcBef>
              <a:spcAft>
                <a:spcPts val="0"/>
              </a:spcAft>
              <a:buClr>
                <a:srgbClr val="0079DB"/>
              </a:buClr>
              <a:buSzPts val="1800"/>
              <a:buNone/>
            </a:pPr>
            <a:r>
              <a:rPr lang="en-GB">
                <a:solidFill>
                  <a:srgbClr val="0079DB"/>
                </a:solidFill>
              </a:rPr>
              <a:t>Why is it important?</a:t>
            </a:r>
            <a:endParaRPr b="1">
              <a:solidFill>
                <a:schemeClr val="accent1"/>
              </a:solidFill>
            </a:endParaRPr>
          </a:p>
          <a:p>
            <a:pPr indent="-231775" lvl="1" marL="231775" rtl="0" algn="l">
              <a:lnSpc>
                <a:spcPct val="100000"/>
              </a:lnSpc>
              <a:spcBef>
                <a:spcPts val="200"/>
              </a:spcBef>
              <a:spcAft>
                <a:spcPts val="0"/>
              </a:spcAft>
              <a:buClr>
                <a:schemeClr val="dk1"/>
              </a:buClr>
              <a:buSzPts val="1300"/>
              <a:buChar char="•"/>
            </a:pPr>
            <a:r>
              <a:rPr lang="en-GB" sz="1300"/>
              <a:t>Tracking and measuring leads to control and eventually improvement</a:t>
            </a:r>
            <a:endParaRPr/>
          </a:p>
          <a:p>
            <a:pPr indent="-231775" lvl="1" marL="231775" rtl="0" algn="l">
              <a:lnSpc>
                <a:spcPct val="100000"/>
              </a:lnSpc>
              <a:spcBef>
                <a:spcPts val="600"/>
              </a:spcBef>
              <a:spcAft>
                <a:spcPts val="0"/>
              </a:spcAft>
              <a:buClr>
                <a:schemeClr val="dk1"/>
              </a:buClr>
              <a:buSzPts val="1300"/>
              <a:buChar char="•"/>
            </a:pPr>
            <a:r>
              <a:rPr lang="en-GB" sz="1300"/>
              <a:t>Provides a foundation for incoming revenue, profitability and market share growth aligned with the product vision</a:t>
            </a:r>
            <a:endParaRPr/>
          </a:p>
          <a:p>
            <a:pPr indent="-231775" lvl="1" marL="231775" rtl="0" algn="l">
              <a:lnSpc>
                <a:spcPct val="100000"/>
              </a:lnSpc>
              <a:spcBef>
                <a:spcPts val="600"/>
              </a:spcBef>
              <a:spcAft>
                <a:spcPts val="0"/>
              </a:spcAft>
              <a:buClr>
                <a:schemeClr val="dk1"/>
              </a:buClr>
              <a:buSzPts val="1300"/>
              <a:buChar char="•"/>
            </a:pPr>
            <a:r>
              <a:rPr lang="en-GB" sz="1300"/>
              <a:t>Ability to identify strengths and weaknesses of the product to institute replication/ corrective measures. Used to drive strategic roadmap for innovation, improved features and services</a:t>
            </a:r>
            <a:endParaRPr/>
          </a:p>
          <a:p>
            <a:pPr indent="-231775" lvl="1" marL="231775" rtl="0" algn="l">
              <a:lnSpc>
                <a:spcPct val="100000"/>
              </a:lnSpc>
              <a:spcBef>
                <a:spcPts val="600"/>
              </a:spcBef>
              <a:spcAft>
                <a:spcPts val="0"/>
              </a:spcAft>
              <a:buClr>
                <a:schemeClr val="dk1"/>
              </a:buClr>
              <a:buSzPts val="1300"/>
              <a:buChar char="•"/>
            </a:pPr>
            <a:r>
              <a:rPr lang="en-GB" sz="1300"/>
              <a:t>Measures business actions against identifiable and quantifiable improvements over time</a:t>
            </a:r>
            <a:endParaRPr/>
          </a:p>
        </p:txBody>
      </p:sp>
      <p:sp>
        <p:nvSpPr>
          <p:cNvPr id="6911" name="Google Shape;6911;p391"/>
          <p:cNvSpPr txBox="1"/>
          <p:nvPr>
            <p:ph idx="2" type="body"/>
          </p:nvPr>
        </p:nvSpPr>
        <p:spPr>
          <a:xfrm>
            <a:off x="449262" y="904312"/>
            <a:ext cx="6622097" cy="1029264"/>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chemeClr val="lt1"/>
              </a:buClr>
              <a:buSzPts val="1800"/>
              <a:buNone/>
            </a:pPr>
            <a:r>
              <a:t/>
            </a:r>
            <a:endParaRPr/>
          </a:p>
        </p:txBody>
      </p:sp>
      <p:sp>
        <p:nvSpPr>
          <p:cNvPr id="6912" name="Google Shape;6912;p391"/>
          <p:cNvSpPr/>
          <p:nvPr/>
        </p:nvSpPr>
        <p:spPr>
          <a:xfrm>
            <a:off x="1" y="769691"/>
            <a:ext cx="7205662" cy="1160709"/>
          </a:xfrm>
          <a:prstGeom prst="rect">
            <a:avLst/>
          </a:prstGeom>
          <a:solidFill>
            <a:srgbClr val="005AA4"/>
          </a:solidFill>
          <a:ln>
            <a:noFill/>
          </a:ln>
          <a:effectLst>
            <a:outerShdw blurRad="50800" rotWithShape="0" algn="tl" dir="2700000" dist="38100">
              <a:srgbClr val="000000">
                <a:alpha val="40000"/>
              </a:srgbClr>
            </a:outerShdw>
          </a:effectLst>
        </p:spPr>
        <p:txBody>
          <a:bodyPr anchorCtr="0" anchor="ctr" bIns="91425" lIns="91425" spcFirstLastPara="1" rIns="91425" wrap="square" tIns="91425">
            <a:noAutofit/>
          </a:bodyPr>
          <a:lstStyle/>
          <a:p>
            <a:pPr indent="0" lvl="1" marL="406400" marR="0" rtl="0" algn="just">
              <a:spcBef>
                <a:spcPts val="0"/>
              </a:spcBef>
              <a:spcAft>
                <a:spcPts val="0"/>
              </a:spcAft>
              <a:buNone/>
            </a:pPr>
            <a:r>
              <a:rPr b="0" i="0" lang="en-GB" sz="1400" u="none" cap="none" strike="noStrike">
                <a:solidFill>
                  <a:srgbClr val="FFFFFF"/>
                </a:solidFill>
                <a:latin typeface="Century Gothic"/>
                <a:ea typeface="Century Gothic"/>
                <a:cs typeface="Century Gothic"/>
                <a:sym typeface="Century Gothic"/>
              </a:rPr>
              <a:t>The strategic process of tracking and analyzing product health and performance against pre-defined metrics.  Managers must measure profitability, effectiveness, efficiency, sales, fulfillment, viability of product proposition and all related dimensions pertaining to any specific product</a:t>
            </a:r>
            <a:endParaRPr/>
          </a:p>
        </p:txBody>
      </p:sp>
      <p:sp>
        <p:nvSpPr>
          <p:cNvPr id="6913" name="Google Shape;6913;p391">
            <a:hlinkClick action="ppaction://hlinksldjump" r:id="rId4"/>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Product Performance</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8" name="Shape 6918"/>
        <p:cNvGrpSpPr/>
        <p:nvPr/>
      </p:nvGrpSpPr>
      <p:grpSpPr>
        <a:xfrm>
          <a:off x="0" y="0"/>
          <a:ext cx="0" cy="0"/>
          <a:chOff x="0" y="0"/>
          <a:chExt cx="0" cy="0"/>
        </a:xfrm>
      </p:grpSpPr>
      <p:sp>
        <p:nvSpPr>
          <p:cNvPr id="6919" name="Google Shape;6919;p392"/>
          <p:cNvSpPr/>
          <p:nvPr/>
        </p:nvSpPr>
        <p:spPr>
          <a:xfrm>
            <a:off x="7772401" y="-368299"/>
            <a:ext cx="1503273" cy="5054600"/>
          </a:xfrm>
          <a:prstGeom prst="roundRect">
            <a:avLst>
              <a:gd fmla="val 3493" name="adj"/>
            </a:avLst>
          </a:prstGeom>
          <a:solidFill>
            <a:srgbClr val="FFFFFF"/>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6920" name="Google Shape;6920;p392"/>
          <p:cNvSpPr txBox="1"/>
          <p:nvPr>
            <p:ph idx="1" type="body"/>
          </p:nvPr>
        </p:nvSpPr>
        <p:spPr>
          <a:xfrm>
            <a:off x="270933" y="604172"/>
            <a:ext cx="5452534" cy="4520985"/>
          </a:xfrm>
          <a:prstGeom prst="rect">
            <a:avLst/>
          </a:prstGeom>
          <a:noFill/>
          <a:ln>
            <a:noFill/>
          </a:ln>
        </p:spPr>
        <p:txBody>
          <a:bodyPr anchorCtr="0" anchor="t" bIns="0" lIns="0" spcFirstLastPara="1" rIns="0" wrap="square" tIns="0">
            <a:noAutofit/>
          </a:bodyPr>
          <a:lstStyle/>
          <a:p>
            <a:pPr indent="0" lvl="0" marL="0" rtl="0" algn="just">
              <a:lnSpc>
                <a:spcPct val="110000"/>
              </a:lnSpc>
              <a:spcBef>
                <a:spcPts val="0"/>
              </a:spcBef>
              <a:spcAft>
                <a:spcPts val="0"/>
              </a:spcAft>
              <a:buClr>
                <a:srgbClr val="0079DB"/>
              </a:buClr>
              <a:buSzPts val="1800"/>
              <a:buNone/>
            </a:pPr>
            <a:r>
              <a:rPr lang="en-GB">
                <a:solidFill>
                  <a:srgbClr val="0079DB"/>
                </a:solidFill>
              </a:rPr>
              <a:t>How - Capabilities</a:t>
            </a:r>
            <a:endParaRPr>
              <a:solidFill>
                <a:schemeClr val="accent1"/>
              </a:solidFill>
            </a:endParaRPr>
          </a:p>
          <a:p>
            <a:pPr indent="-169863" lvl="0" marL="169863" rtl="0" algn="just">
              <a:lnSpc>
                <a:spcPct val="95000"/>
              </a:lnSpc>
              <a:spcBef>
                <a:spcPts val="800"/>
              </a:spcBef>
              <a:spcAft>
                <a:spcPts val="0"/>
              </a:spcAft>
              <a:buClr>
                <a:schemeClr val="dk1"/>
              </a:buClr>
              <a:buSzPts val="1100"/>
              <a:buChar char="•"/>
            </a:pPr>
            <a:r>
              <a:rPr b="1" lang="en-GB" sz="1100"/>
              <a:t>Analyze  market basket and affinity </a:t>
            </a:r>
            <a:r>
              <a:rPr lang="en-GB" sz="1100"/>
              <a:t>by leveraging transaction level data to develop insights into customer behavior, shopping missions and affinity to support product portfolio, placement, pricing, and promotions.  </a:t>
            </a:r>
            <a:endParaRPr/>
          </a:p>
          <a:p>
            <a:pPr indent="-169863" lvl="0" marL="169863" rtl="0" algn="just">
              <a:lnSpc>
                <a:spcPct val="95000"/>
              </a:lnSpc>
              <a:spcBef>
                <a:spcPts val="600"/>
              </a:spcBef>
              <a:spcAft>
                <a:spcPts val="0"/>
              </a:spcAft>
              <a:buClr>
                <a:schemeClr val="dk1"/>
              </a:buClr>
              <a:buSzPts val="1100"/>
              <a:buChar char="•"/>
            </a:pPr>
            <a:r>
              <a:rPr b="1" lang="en-GB" sz="1100"/>
              <a:t>Analyze cross channel performance </a:t>
            </a:r>
            <a:r>
              <a:rPr lang="en-GB" sz="1100"/>
              <a:t>by tracking and integrating cross channel sales, margin, risk exposure and product capacity  performance to achieve a holistic view of products</a:t>
            </a:r>
            <a:endParaRPr/>
          </a:p>
          <a:p>
            <a:pPr indent="-169863" lvl="0" marL="169863" rtl="0" algn="just">
              <a:lnSpc>
                <a:spcPct val="95000"/>
              </a:lnSpc>
              <a:spcBef>
                <a:spcPts val="600"/>
              </a:spcBef>
              <a:spcAft>
                <a:spcPts val="0"/>
              </a:spcAft>
              <a:buClr>
                <a:schemeClr val="dk1"/>
              </a:buClr>
              <a:buSzPts val="1100"/>
              <a:buChar char="•"/>
            </a:pPr>
            <a:r>
              <a:rPr b="1" lang="en-GB" sz="1100"/>
              <a:t>Optimizing “Open to Buy” (OTB</a:t>
            </a:r>
            <a:r>
              <a:rPr lang="en-GB" sz="1100"/>
              <a:t>) to predict outcome at various points in time</a:t>
            </a:r>
            <a:endParaRPr/>
          </a:p>
          <a:p>
            <a:pPr indent="-169863" lvl="0" marL="169863" rtl="0" algn="just">
              <a:lnSpc>
                <a:spcPct val="95000"/>
              </a:lnSpc>
              <a:spcBef>
                <a:spcPts val="600"/>
              </a:spcBef>
              <a:spcAft>
                <a:spcPts val="0"/>
              </a:spcAft>
              <a:buClr>
                <a:schemeClr val="dk1"/>
              </a:buClr>
              <a:buSzPts val="1100"/>
              <a:buChar char="•"/>
            </a:pPr>
            <a:r>
              <a:rPr b="1" lang="en-GB" sz="1100"/>
              <a:t>Product benchmarking </a:t>
            </a:r>
            <a:r>
              <a:rPr lang="en-GB" sz="1100"/>
              <a:t>via comparison of portfolio against internal and external references, to identify gaps and potential enhancements</a:t>
            </a:r>
            <a:endParaRPr/>
          </a:p>
          <a:p>
            <a:pPr indent="-169863" lvl="0" marL="169863" rtl="0" algn="just">
              <a:lnSpc>
                <a:spcPct val="95000"/>
              </a:lnSpc>
              <a:spcBef>
                <a:spcPts val="600"/>
              </a:spcBef>
              <a:spcAft>
                <a:spcPts val="0"/>
              </a:spcAft>
              <a:buClr>
                <a:schemeClr val="dk1"/>
              </a:buClr>
              <a:buSzPts val="1100"/>
              <a:buChar char="•"/>
            </a:pPr>
            <a:r>
              <a:rPr b="1" lang="en-GB" sz="1100"/>
              <a:t>Product profitability </a:t>
            </a:r>
            <a:r>
              <a:rPr lang="en-GB" sz="1100"/>
              <a:t>through quantification of all Operating, Product,  Revenue and Risk costs to calculate true profitability of an item or account over time.  Includes insights into NPV </a:t>
            </a:r>
            <a:endParaRPr/>
          </a:p>
          <a:p>
            <a:pPr indent="-169863" lvl="0" marL="169863" rtl="0" algn="just">
              <a:lnSpc>
                <a:spcPct val="95000"/>
              </a:lnSpc>
              <a:spcBef>
                <a:spcPts val="600"/>
              </a:spcBef>
              <a:spcAft>
                <a:spcPts val="0"/>
              </a:spcAft>
              <a:buClr>
                <a:schemeClr val="dk1"/>
              </a:buClr>
              <a:buSzPts val="1100"/>
              <a:buChar char="•"/>
            </a:pPr>
            <a:r>
              <a:rPr b="1" lang="en-GB" sz="1100"/>
              <a:t>Behavioral segmentation </a:t>
            </a:r>
            <a:r>
              <a:rPr lang="en-GB" sz="1100"/>
              <a:t>through insights or patterns derived from detailed data of customers' product and service usage.  Used to promote pricing, range, promotions etc.</a:t>
            </a:r>
            <a:endParaRPr/>
          </a:p>
          <a:p>
            <a:pPr indent="-169863" lvl="0" marL="169863" rtl="0" algn="just">
              <a:lnSpc>
                <a:spcPct val="95000"/>
              </a:lnSpc>
              <a:spcBef>
                <a:spcPts val="600"/>
              </a:spcBef>
              <a:spcAft>
                <a:spcPts val="0"/>
              </a:spcAft>
              <a:buClr>
                <a:schemeClr val="dk1"/>
              </a:buClr>
              <a:buSzPts val="1100"/>
              <a:buChar char="•"/>
            </a:pPr>
            <a:r>
              <a:rPr b="1" lang="en-GB" sz="1100"/>
              <a:t>Product/ service retention </a:t>
            </a:r>
            <a:r>
              <a:rPr lang="en-GB" sz="1100"/>
              <a:t>via utilization of analytics to predict products that are likely to support continued use by customers or to be dropped by customers. </a:t>
            </a:r>
            <a:endParaRPr/>
          </a:p>
          <a:p>
            <a:pPr indent="-169863" lvl="0" marL="169863" rtl="0" algn="just">
              <a:lnSpc>
                <a:spcPct val="95000"/>
              </a:lnSpc>
              <a:spcBef>
                <a:spcPts val="600"/>
              </a:spcBef>
              <a:spcAft>
                <a:spcPts val="0"/>
              </a:spcAft>
              <a:buClr>
                <a:schemeClr val="dk1"/>
              </a:buClr>
              <a:buSzPts val="1100"/>
              <a:buChar char="•"/>
            </a:pPr>
            <a:r>
              <a:rPr b="1" lang="en-GB" sz="1100"/>
              <a:t>Warranty analytics</a:t>
            </a:r>
            <a:r>
              <a:rPr lang="en-GB" sz="1100"/>
              <a:t> for Captive Insurance to track insurance claims to adjust underwriting algorithms to minimize loss. Track by industry, region, commercial broker, etc.</a:t>
            </a:r>
            <a:endParaRPr/>
          </a:p>
          <a:p>
            <a:pPr indent="-100013" lvl="0" marL="169863" rtl="0" algn="just">
              <a:lnSpc>
                <a:spcPct val="95000"/>
              </a:lnSpc>
              <a:spcBef>
                <a:spcPts val="600"/>
              </a:spcBef>
              <a:spcAft>
                <a:spcPts val="0"/>
              </a:spcAft>
              <a:buClr>
                <a:schemeClr val="dk1"/>
              </a:buClr>
              <a:buSzPts val="1100"/>
              <a:buNone/>
            </a:pPr>
            <a:r>
              <a:t/>
            </a:r>
            <a:endParaRPr sz="1100"/>
          </a:p>
        </p:txBody>
      </p:sp>
      <p:sp>
        <p:nvSpPr>
          <p:cNvPr id="6921" name="Google Shape;6921;p392"/>
          <p:cNvSpPr txBox="1"/>
          <p:nvPr>
            <p:ph type="title"/>
          </p:nvPr>
        </p:nvSpPr>
        <p:spPr>
          <a:xfrm>
            <a:off x="468355" y="240948"/>
            <a:ext cx="5435240" cy="704088"/>
          </a:xfrm>
          <a:prstGeom prst="rect">
            <a:avLst/>
          </a:prstGeom>
          <a:noFill/>
          <a:ln>
            <a:noFill/>
          </a:ln>
        </p:spPr>
        <p:txBody>
          <a:bodyPr anchorCtr="0" anchor="b"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Product Performance</a:t>
            </a:r>
            <a:br>
              <a:rPr lang="en-GB"/>
            </a:br>
            <a:endParaRPr/>
          </a:p>
        </p:txBody>
      </p:sp>
      <p:pic>
        <p:nvPicPr>
          <p:cNvPr descr="BIZ-1046-L.jpg" id="6922" name="Google Shape;6922;p392"/>
          <p:cNvPicPr preferRelativeResize="0"/>
          <p:nvPr/>
        </p:nvPicPr>
        <p:blipFill rotWithShape="1">
          <a:blip r:embed="rId3">
            <a:alphaModFix/>
          </a:blip>
          <a:srcRect b="0" l="-9335" r="-9335" t="0"/>
          <a:stretch/>
        </p:blipFill>
        <p:spPr>
          <a:xfrm>
            <a:off x="5538787" y="967317"/>
            <a:ext cx="4217229" cy="2396596"/>
          </a:xfrm>
          <a:prstGeom prst="rect">
            <a:avLst/>
          </a:prstGeom>
          <a:noFill/>
          <a:ln>
            <a:noFill/>
          </a:ln>
        </p:spPr>
      </p:pic>
      <p:sp>
        <p:nvSpPr>
          <p:cNvPr id="6923" name="Google Shape;6923;p392">
            <a:hlinkClick action="ppaction://hlinksldjump" r:id="rId4"/>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Product Performance</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8" name="Shape 6928"/>
        <p:cNvGrpSpPr/>
        <p:nvPr/>
      </p:nvGrpSpPr>
      <p:grpSpPr>
        <a:xfrm>
          <a:off x="0" y="0"/>
          <a:ext cx="0" cy="0"/>
          <a:chOff x="0" y="0"/>
          <a:chExt cx="0" cy="0"/>
        </a:xfrm>
      </p:grpSpPr>
      <p:cxnSp>
        <p:nvCxnSpPr>
          <p:cNvPr id="6929" name="Google Shape;6929;p393"/>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sp>
        <p:nvSpPr>
          <p:cNvPr id="6930" name="Google Shape;6930;p393"/>
          <p:cNvSpPr txBox="1"/>
          <p:nvPr>
            <p:ph type="title"/>
          </p:nvPr>
        </p:nvSpPr>
        <p:spPr>
          <a:xfrm>
            <a:off x="457200" y="173736"/>
            <a:ext cx="8229600" cy="704088"/>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Analyze Cross Channel Performance</a:t>
            </a:r>
            <a:endParaRPr/>
          </a:p>
        </p:txBody>
      </p:sp>
      <p:graphicFrame>
        <p:nvGraphicFramePr>
          <p:cNvPr id="6931" name="Google Shape;6931;p393"/>
          <p:cNvGraphicFramePr/>
          <p:nvPr/>
        </p:nvGraphicFramePr>
        <p:xfrm>
          <a:off x="414866" y="774875"/>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07575">
                <a:tc>
                  <a:txBody>
                    <a:bodyPr/>
                    <a:lstStyle/>
                    <a:p>
                      <a:pPr indent="0" lvl="0" marL="0" marR="0" rtl="0" algn="l">
                        <a:spcBef>
                          <a:spcPts val="0"/>
                        </a:spcBef>
                        <a:spcAft>
                          <a:spcPts val="0"/>
                        </a:spcAft>
                        <a:buNone/>
                      </a:pPr>
                      <a:r>
                        <a:rPr b="1" lang="en-GB" sz="1400">
                          <a:solidFill>
                            <a:schemeClr val="dk2"/>
                          </a:solidFill>
                        </a:rPr>
                        <a:t>Business Objectives</a:t>
                      </a:r>
                      <a:endParaRPr b="1" sz="1400">
                        <a:solidFill>
                          <a:schemeClr val="dk2"/>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23775">
                <a:tc>
                  <a:txBody>
                    <a:bodyPr/>
                    <a:lstStyle/>
                    <a:p>
                      <a:pPr indent="0" lvl="0" marL="0" marR="0" rtl="0" algn="l">
                        <a:lnSpc>
                          <a:spcPct val="100000"/>
                        </a:lnSpc>
                        <a:spcBef>
                          <a:spcPts val="0"/>
                        </a:spcBef>
                        <a:spcAft>
                          <a:spcPts val="0"/>
                        </a:spcAft>
                        <a:buClr>
                          <a:srgbClr val="3C3C3B"/>
                        </a:buClr>
                        <a:buSzPts val="900"/>
                        <a:buFont typeface="Century Gothic"/>
                        <a:buNone/>
                      </a:pPr>
                      <a:r>
                        <a:rPr b="1" i="0" lang="en-GB" sz="900" u="none" cap="none" strike="noStrike">
                          <a:solidFill>
                            <a:srgbClr val="3C3C3B"/>
                          </a:solidFill>
                          <a:latin typeface="Century Gothic"/>
                          <a:ea typeface="Century Gothic"/>
                          <a:cs typeface="Century Gothic"/>
                          <a:sym typeface="Century Gothic"/>
                        </a:rPr>
                        <a:t>Organizational capability to integrate cross channel performance covering multiple business lines across financial, risk, customer engagement and operational dimensions to achieve a holistic view of products</a:t>
                      </a:r>
                      <a:endParaRPr/>
                    </a:p>
                    <a:p>
                      <a:pPr indent="-171450" lvl="0" marL="171450" marR="0" rtl="0" algn="l">
                        <a:lnSpc>
                          <a:spcPct val="100000"/>
                        </a:lnSpc>
                        <a:spcBef>
                          <a:spcPts val="0"/>
                        </a:spcBef>
                        <a:spcAft>
                          <a:spcPts val="0"/>
                        </a:spcAft>
                        <a:buClr>
                          <a:srgbClr val="3C3C3B"/>
                        </a:buClr>
                        <a:buSzPts val="900"/>
                        <a:buFont typeface="Arial"/>
                        <a:buChar char="•"/>
                      </a:pPr>
                      <a:r>
                        <a:rPr b="0" i="0" lang="en-GB" sz="900" u="none" cap="none" strike="noStrike">
                          <a:solidFill>
                            <a:srgbClr val="3C3C3B"/>
                          </a:solidFill>
                          <a:latin typeface="Century Gothic"/>
                          <a:ea typeface="Century Gothic"/>
                          <a:cs typeface="Century Gothic"/>
                          <a:sym typeface="Century Gothic"/>
                        </a:rPr>
                        <a:t>Integrate chronological data of all product dynamics across available </a:t>
                      </a:r>
                      <a:r>
                        <a:rPr b="0" i="0" lang="en-GB" sz="900" u="none" cap="none" strike="noStrike">
                          <a:solidFill>
                            <a:schemeClr val="dk1"/>
                          </a:solidFill>
                          <a:latin typeface="Century Gothic"/>
                          <a:ea typeface="Century Gothic"/>
                          <a:cs typeface="Century Gothic"/>
                          <a:sym typeface="Century Gothic"/>
                        </a:rPr>
                        <a:t>products across all channels to understand product and buying patterns throughout product life cycle </a:t>
                      </a:r>
                      <a:endParaRPr/>
                    </a:p>
                    <a:p>
                      <a:pPr indent="-171450" lvl="0" marL="171450" marR="0" rtl="0" algn="l">
                        <a:lnSpc>
                          <a:spcPct val="100000"/>
                        </a:lnSpc>
                        <a:spcBef>
                          <a:spcPts val="0"/>
                        </a:spcBef>
                        <a:spcAft>
                          <a:spcPts val="0"/>
                        </a:spcAft>
                        <a:buClr>
                          <a:srgbClr val="3C3C3B"/>
                        </a:buClr>
                        <a:buSzPts val="900"/>
                        <a:buFont typeface="Arial"/>
                        <a:buChar char="•"/>
                      </a:pPr>
                      <a:r>
                        <a:rPr b="0" i="0" lang="en-GB" sz="900" u="none" cap="none" strike="noStrike">
                          <a:solidFill>
                            <a:srgbClr val="3C3C3B"/>
                          </a:solidFill>
                          <a:latin typeface="Century Gothic"/>
                          <a:ea typeface="Century Gothic"/>
                          <a:cs typeface="Century Gothic"/>
                          <a:sym typeface="Century Gothic"/>
                        </a:rPr>
                        <a:t>Understand cross product behavior across </a:t>
                      </a:r>
                      <a:r>
                        <a:rPr b="0" i="0" lang="en-GB" sz="900" u="none" cap="none" strike="noStrike">
                          <a:solidFill>
                            <a:schemeClr val="dk1"/>
                          </a:solidFill>
                          <a:latin typeface="Century Gothic"/>
                          <a:ea typeface="Century Gothic"/>
                          <a:cs typeface="Century Gothic"/>
                          <a:sym typeface="Century Gothic"/>
                        </a:rPr>
                        <a:t>all</a:t>
                      </a:r>
                      <a:r>
                        <a:rPr b="0" i="0" lang="en-GB" sz="900" u="none" cap="none" strike="noStrike">
                          <a:solidFill>
                            <a:srgbClr val="3C3C3B"/>
                          </a:solidFill>
                          <a:latin typeface="Century Gothic"/>
                          <a:ea typeface="Century Gothic"/>
                          <a:cs typeface="Century Gothic"/>
                          <a:sym typeface="Century Gothic"/>
                        </a:rPr>
                        <a:t> channels to enhance product profitability</a:t>
                      </a:r>
                      <a:r>
                        <a:rPr b="0" i="0" lang="en-GB" sz="900" u="none" cap="none" strike="sngStrike">
                          <a:solidFill>
                            <a:srgbClr val="FF0000"/>
                          </a:solidFill>
                          <a:latin typeface="Century Gothic"/>
                          <a:ea typeface="Century Gothic"/>
                          <a:cs typeface="Century Gothic"/>
                          <a:sym typeface="Century Gothic"/>
                        </a:rPr>
                        <a:t> </a:t>
                      </a:r>
                      <a:endParaRPr/>
                    </a:p>
                    <a:p>
                      <a:pPr indent="-171450" lvl="0" marL="171450" marR="0" rtl="0" algn="l">
                        <a:lnSpc>
                          <a:spcPct val="100000"/>
                        </a:lnSpc>
                        <a:spcBef>
                          <a:spcPts val="0"/>
                        </a:spcBef>
                        <a:spcAft>
                          <a:spcPts val="0"/>
                        </a:spcAft>
                        <a:buClr>
                          <a:srgbClr val="3C3C3B"/>
                        </a:buClr>
                        <a:buSzPts val="900"/>
                        <a:buFont typeface="Arial"/>
                        <a:buChar char="•"/>
                      </a:pPr>
                      <a:r>
                        <a:rPr b="0" i="0" lang="en-GB" sz="900" u="none" cap="none" strike="noStrike">
                          <a:solidFill>
                            <a:srgbClr val="3C3C3B"/>
                          </a:solidFill>
                          <a:latin typeface="Century Gothic"/>
                          <a:ea typeface="Century Gothic"/>
                          <a:cs typeface="Century Gothic"/>
                          <a:sym typeface="Century Gothic"/>
                        </a:rPr>
                        <a:t>Determine disparity of channel sophistication and efficiencies between multiple product lines </a:t>
                      </a:r>
                      <a:endParaRPr b="0" i="0" sz="900" u="none" cap="none" strike="noStrike">
                        <a:solidFill>
                          <a:srgbClr val="FF0000"/>
                        </a:solidFill>
                        <a:latin typeface="Century Gothic"/>
                        <a:ea typeface="Century Gothic"/>
                        <a:cs typeface="Century Gothic"/>
                        <a:sym typeface="Century Gothic"/>
                      </a:endParaRPr>
                    </a:p>
                    <a:p>
                      <a:pPr indent="-171450" lvl="0" marL="171450" marR="0" rtl="0" algn="l">
                        <a:lnSpc>
                          <a:spcPct val="100000"/>
                        </a:lnSpc>
                        <a:spcBef>
                          <a:spcPts val="0"/>
                        </a:spcBef>
                        <a:spcAft>
                          <a:spcPts val="0"/>
                        </a:spcAft>
                        <a:buClr>
                          <a:srgbClr val="3C3C3B"/>
                        </a:buClr>
                        <a:buSzPts val="900"/>
                        <a:buFont typeface="Arial"/>
                        <a:buChar char="•"/>
                      </a:pPr>
                      <a:r>
                        <a:rPr b="0" i="0" lang="en-GB" sz="900" u="none" cap="none" strike="noStrike">
                          <a:solidFill>
                            <a:srgbClr val="3C3C3B"/>
                          </a:solidFill>
                          <a:latin typeface="Century Gothic"/>
                          <a:ea typeface="Century Gothic"/>
                          <a:cs typeface="Century Gothic"/>
                          <a:sym typeface="Century Gothic"/>
                        </a:rPr>
                        <a:t>Enable overview of sales patterns across multiple systems </a:t>
                      </a:r>
                      <a:endParaRPr b="0" i="0" sz="900" u="none" cap="none" strike="sngStrike">
                        <a:solidFill>
                          <a:srgbClr val="FF0000"/>
                        </a:solidFill>
                        <a:latin typeface="Century Gothic"/>
                        <a:ea typeface="Century Gothic"/>
                        <a:cs typeface="Century Gothic"/>
                        <a:sym typeface="Century Gothic"/>
                      </a:endParaRPr>
                    </a:p>
                    <a:p>
                      <a:r>
                        <a:rPr sz="900">
                          <a:latin typeface="Century Gothic"/>
                        </a:rPr>
                        <a:t/>
                      </a:r>
                    </a:p>
                    <a:p>
                      <a:r>
                        <a:rPr sz="900">
                          <a:latin typeface="Century Gothic"/>
                        </a:rPr>
                        <a:t>Track product sales and usage across all Pakistan banking channels</a:t>
                      </a:r>
                    </a:p>
                    <a:p>
                      <a:r>
                        <a:rPr sz="900">
                          <a:latin typeface="Century Gothic"/>
                        </a:rPr>
                        <a:t>Branch (16,000+), ATM (16,000+), mobile app, internet banking, USSD, call center, agent network, RAAST</a:t>
                      </a:r>
                    </a:p>
                    <a:p>
                      <a:r>
                        <a:rPr sz="900">
                          <a:latin typeface="Century Gothic"/>
                        </a:rPr>
                        <a:t>Key insight: which products sell best on which channels?</a:t>
                      </a:r>
                    </a:p>
                    <a:p>
                      <a:r>
                        <a:rPr sz="900">
                          <a:latin typeface="Century Gothic"/>
                        </a:rPr>
                        <a:t>Personal loans: 80% via branch but digital origination growing; CASA opens increasingly digital</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xBody>
                    <a:bodyPr/>
                    <a:p/>
                  </a:txBody>
                </a:tc>
                <a:tc vMerge="1">
                  <a:txBody>
                    <a:bodyPr/>
                    <a:p/>
                  </a:txBody>
                </a:tc>
              </a:tr>
              <a:tr h="207575">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p>
                      <a:r>
                        <a:rPr sz="800" b="1">
                          <a:solidFill>
                            <a:srgbClr val="006699"/>
                          </a:solidFill>
                        </a:rPr>
                        <a:t>FSDM: Prospect, Application, Lead, Campaign_Response, Acquisition_Channel, Conversion_Event, Lead_Score</a:t>
                      </a:r>
                    </a:p>
                    <a:p>
                      <a:r>
                        <a:rPr sz="800" i="1">
                          <a:solidFill>
                            <a:srgbClr val="008040"/>
                          </a:solidFill>
                        </a:rPr>
                        <a:t>Pakistan: Asaan Digital Account opening, biometric verification (NADRA), CNIC-based pre-approval, branchless banking (JazzCash/Easypaisa partnerships), university/employer batch onboarding</a:t>
                      </a: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129675">
                <a:tc>
                  <a:txBody>
                    <a:bodyPr/>
                    <a:lstStyle/>
                    <a:p>
                      <a:pPr indent="0" lvl="0" marL="0" marR="0" rtl="0" algn="l">
                        <a:lnSpc>
                          <a:spcPct val="100000"/>
                        </a:lnSpc>
                        <a:spcBef>
                          <a:spcPts val="0"/>
                        </a:spcBef>
                        <a:spcAft>
                          <a:spcPts val="0"/>
                        </a:spcAft>
                        <a:buClr>
                          <a:srgbClr val="3C3C3B"/>
                        </a:buClr>
                        <a:buSzPts val="900"/>
                        <a:buFont typeface="Century Gothic"/>
                        <a:buNone/>
                      </a:pPr>
                      <a:r>
                        <a:rPr b="1" i="0" lang="en-GB" sz="900" u="none" cap="none" strike="noStrike">
                          <a:solidFill>
                            <a:srgbClr val="3C3C3B"/>
                          </a:solidFill>
                          <a:latin typeface="Century Gothic"/>
                          <a:ea typeface="Century Gothic"/>
                          <a:cs typeface="Century Gothic"/>
                          <a:sym typeface="Century Gothic"/>
                        </a:rPr>
                        <a:t>Data</a:t>
                      </a:r>
                      <a:endParaRPr/>
                    </a:p>
                    <a:p>
                      <a:pPr indent="-179388" lvl="0" marL="179388" marR="0" rtl="0" algn="l">
                        <a:lnSpc>
                          <a:spcPct val="100000"/>
                        </a:lnSpc>
                        <a:spcBef>
                          <a:spcPts val="0"/>
                        </a:spcBef>
                        <a:spcAft>
                          <a:spcPts val="0"/>
                        </a:spcAft>
                        <a:buClr>
                          <a:srgbClr val="3C3C3B"/>
                        </a:buClr>
                        <a:buSzPts val="900"/>
                        <a:buFont typeface="Arial"/>
                        <a:buChar char="•"/>
                      </a:pPr>
                      <a:r>
                        <a:rPr b="0" i="0" lang="en-GB" sz="900" u="none" cap="none" strike="noStrike">
                          <a:solidFill>
                            <a:srgbClr val="3C3C3B"/>
                          </a:solidFill>
                          <a:latin typeface="Century Gothic"/>
                          <a:ea typeface="Century Gothic"/>
                          <a:cs typeface="Century Gothic"/>
                          <a:sym typeface="Century Gothic"/>
                        </a:rPr>
                        <a:t>Detailed customer and product data profiles</a:t>
                      </a:r>
                      <a:endParaRPr/>
                    </a:p>
                    <a:p>
                      <a:pPr indent="-179388" lvl="0" marL="179388" marR="0" rtl="0" algn="l">
                        <a:lnSpc>
                          <a:spcPct val="100000"/>
                        </a:lnSpc>
                        <a:spcBef>
                          <a:spcPts val="0"/>
                        </a:spcBef>
                        <a:spcAft>
                          <a:spcPts val="0"/>
                        </a:spcAft>
                        <a:buClr>
                          <a:srgbClr val="3C3C3B"/>
                        </a:buClr>
                        <a:buSzPts val="900"/>
                        <a:buFont typeface="Arial"/>
                        <a:buChar char="•"/>
                      </a:pPr>
                      <a:r>
                        <a:rPr b="0" i="0" lang="en-GB" sz="900" u="none" cap="none" strike="noStrike">
                          <a:solidFill>
                            <a:srgbClr val="3C3C3B"/>
                          </a:solidFill>
                          <a:latin typeface="Century Gothic"/>
                          <a:ea typeface="Century Gothic"/>
                          <a:cs typeface="Century Gothic"/>
                          <a:sym typeface="Century Gothic"/>
                        </a:rPr>
                        <a:t>Acquisition/ subscription, product basket mix and channel </a:t>
                      </a:r>
                      <a:r>
                        <a:rPr b="0" i="0" lang="en-GB" sz="900" u="none" cap="none" strike="sngStrike">
                          <a:solidFill>
                            <a:srgbClr val="FF0000"/>
                          </a:solidFill>
                          <a:latin typeface="Century Gothic"/>
                          <a:ea typeface="Century Gothic"/>
                          <a:cs typeface="Century Gothic"/>
                          <a:sym typeface="Century Gothic"/>
                        </a:rPr>
                        <a:t> </a:t>
                      </a:r>
                      <a:r>
                        <a:rPr b="0" i="0" lang="en-GB" sz="900" u="none" cap="none" strike="noStrike">
                          <a:solidFill>
                            <a:schemeClr val="dk1"/>
                          </a:solidFill>
                          <a:latin typeface="Century Gothic"/>
                          <a:ea typeface="Century Gothic"/>
                          <a:cs typeface="Century Gothic"/>
                          <a:sym typeface="Century Gothic"/>
                        </a:rPr>
                        <a:t>interactions</a:t>
                      </a:r>
                      <a:endParaRPr/>
                    </a:p>
                    <a:p>
                      <a:pPr indent="-179388" lvl="0" marL="179388" marR="0" rtl="0" algn="l">
                        <a:lnSpc>
                          <a:spcPct val="100000"/>
                        </a:lnSpc>
                        <a:spcBef>
                          <a:spcPts val="0"/>
                        </a:spcBef>
                        <a:spcAft>
                          <a:spcPts val="0"/>
                        </a:spcAft>
                        <a:buClr>
                          <a:srgbClr val="3C3C3B"/>
                        </a:buClr>
                        <a:buSzPts val="900"/>
                        <a:buFont typeface="Arial"/>
                        <a:buChar char="•"/>
                      </a:pPr>
                      <a:r>
                        <a:rPr b="0" i="0" lang="en-GB" sz="900" u="none" cap="none" strike="noStrike">
                          <a:solidFill>
                            <a:srgbClr val="3C3C3B"/>
                          </a:solidFill>
                          <a:latin typeface="Century Gothic"/>
                          <a:ea typeface="Century Gothic"/>
                          <a:cs typeface="Century Gothic"/>
                          <a:sym typeface="Century Gothic"/>
                        </a:rPr>
                        <a:t>Fulfillment and underwriting data, line/ plan action information, product capacity data, risk mitigation etc.. </a:t>
                      </a:r>
                      <a:endParaRPr b="0" i="0" sz="900" u="none" cap="none" strike="noStrike">
                        <a:solidFill>
                          <a:srgbClr val="FF0000"/>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3C3C3B"/>
                        </a:buClr>
                        <a:buSzPts val="900"/>
                        <a:buFont typeface="Arial"/>
                        <a:buNone/>
                      </a:pPr>
                      <a:r>
                        <a:rPr b="1" i="0" lang="en-GB" sz="900" u="none" cap="none" strike="noStrike">
                          <a:solidFill>
                            <a:srgbClr val="3C3C3B"/>
                          </a:solidFill>
                          <a:latin typeface="Century Gothic"/>
                          <a:ea typeface="Century Gothic"/>
                          <a:cs typeface="Century Gothic"/>
                          <a:sym typeface="Century Gothic"/>
                        </a:rPr>
                        <a:t>Analytics</a:t>
                      </a:r>
                      <a:endParaRPr/>
                    </a:p>
                    <a:p>
                      <a:pPr indent="-179388" lvl="0" marL="179388" marR="0" rtl="0" algn="l">
                        <a:lnSpc>
                          <a:spcPct val="100000"/>
                        </a:lnSpc>
                        <a:spcBef>
                          <a:spcPts val="0"/>
                        </a:spcBef>
                        <a:spcAft>
                          <a:spcPts val="0"/>
                        </a:spcAft>
                        <a:buClr>
                          <a:srgbClr val="3C3C3B"/>
                        </a:buClr>
                        <a:buSzPts val="900"/>
                        <a:buFont typeface="Arial"/>
                        <a:buChar char="•"/>
                      </a:pPr>
                      <a:r>
                        <a:rPr b="0" i="0" lang="en-GB" sz="900" u="none" cap="none" strike="noStrike">
                          <a:solidFill>
                            <a:srgbClr val="3C3C3B"/>
                          </a:solidFill>
                          <a:latin typeface="Century Gothic"/>
                          <a:ea typeface="Century Gothic"/>
                          <a:cs typeface="Century Gothic"/>
                          <a:sym typeface="Century Gothic"/>
                        </a:rPr>
                        <a:t>Traditional (e.g. profiling, regression) and modern (advanced) analytical techniques (e.g. Pathing, Graphing etc. etc.) that uncovers profile of channel performance and its impact on products (sales, profitability, return rates, fulfillment etc..)</a:t>
                      </a:r>
                      <a:endParaRPr/>
                    </a:p>
                    <a:p>
                      <a:pPr indent="-179388" lvl="0" marL="179388" marR="0" rtl="0" algn="l">
                        <a:lnSpc>
                          <a:spcPct val="100000"/>
                        </a:lnSpc>
                        <a:spcBef>
                          <a:spcPts val="0"/>
                        </a:spcBef>
                        <a:spcAft>
                          <a:spcPts val="0"/>
                        </a:spcAft>
                        <a:buClr>
                          <a:srgbClr val="3C3C3B"/>
                        </a:buClr>
                        <a:buSzPts val="900"/>
                        <a:buFont typeface="Arial"/>
                        <a:buChar char="•"/>
                      </a:pPr>
                      <a:r>
                        <a:rPr b="0" i="0" lang="en-GB" sz="900" u="none" cap="none" strike="noStrike">
                          <a:solidFill>
                            <a:srgbClr val="3C3C3B"/>
                          </a:solidFill>
                          <a:latin typeface="Century Gothic"/>
                          <a:ea typeface="Century Gothic"/>
                          <a:cs typeface="Century Gothic"/>
                          <a:sym typeface="Century Gothic"/>
                        </a:rPr>
                        <a:t>Automated analytical applications</a:t>
                      </a:r>
                      <a:endParaRPr sz="900" strike="sngStrike">
                        <a:solidFill>
                          <a:srgbClr val="FF0000"/>
                        </a:solidFill>
                      </a:endParaRPr>
                    </a:p>
                    <a:p>
                      <a:r>
                        <a:rPr sz="800" b="1">
                          <a:solidFill>
                            <a:srgbClr val="006699"/>
                          </a:solidFill>
                        </a:rPr>
                        <a:t>FSDM: Prospect, Application, Lead, Campaign_Response, Acquisition_Channel, Conversion_Event, Lead_Score</a:t>
                      </a:r>
                    </a:p>
                    <a:p>
                      <a:r>
                        <a:rPr sz="800" i="1">
                          <a:solidFill>
                            <a:srgbClr val="008040"/>
                          </a:solidFill>
                        </a:rPr>
                        <a:t>Pakistan: Asaan Digital Account opening, biometric verification (NADRA), CNIC-based pre-approval, branchless banking (JazzCash/Easypaisa partnerships), university/employer batch onboarding</a:t>
                      </a:r>
                    </a:p>
                    <a:p>
                      <a:r>
                        <a:rPr sz="900">
                          <a:latin typeface="Century Gothic"/>
                        </a:rPr>
                        <a:t/>
                      </a:r>
                    </a:p>
                    <a:p>
                      <a:r>
                        <a:rPr sz="900">
                          <a:latin typeface="Century Gothic"/>
                        </a:rPr>
                        <a:t>FSDM transaction data by channel, product sales by channel</a:t>
                      </a:r>
                    </a:p>
                    <a:p>
                      <a:r>
                        <a:rPr sz="900">
                          <a:latin typeface="Century Gothic"/>
                        </a:rPr>
                        <a:t>Mobile app product funnel data, branch sales register</a:t>
                      </a:r>
                    </a:p>
                    <a:p>
                      <a:r>
                        <a:rPr sz="900">
                          <a:latin typeface="Century Gothic"/>
                        </a:rPr>
                        <a:t>Agent banking transaction data, RAAST/IBFT channel data</a:t>
                      </a:r>
                    </a:p>
                    <a:p>
                      <a:r>
                        <a:rPr sz="900">
                          <a:latin typeface="Century Gothic"/>
                        </a:rPr>
                        <a:t>Channel cost-to-serve data for profitability by channel</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just">
                        <a:lnSpc>
                          <a:spcPct val="100000"/>
                        </a:lnSpc>
                        <a:spcBef>
                          <a:spcPts val="0"/>
                        </a:spcBef>
                        <a:spcAft>
                          <a:spcPts val="0"/>
                        </a:spcAft>
                        <a:buClr>
                          <a:srgbClr val="3C3C3B"/>
                        </a:buClr>
                        <a:buSzPts val="900"/>
                        <a:buFont typeface="Arial"/>
                        <a:buChar char="•"/>
                      </a:pPr>
                      <a:r>
                        <a:rPr b="0" i="0" lang="en-GB" sz="900" u="none" cap="none" strike="noStrike">
                          <a:solidFill>
                            <a:srgbClr val="3C3C3B"/>
                          </a:solidFill>
                          <a:latin typeface="Century Gothic"/>
                          <a:ea typeface="Century Gothic"/>
                          <a:cs typeface="Century Gothic"/>
                          <a:sym typeface="Century Gothic"/>
                        </a:rPr>
                        <a:t>Identification of opportunities for product bundling, cross-selling, up-selling and product wraps</a:t>
                      </a:r>
                      <a:endParaRPr/>
                    </a:p>
                    <a:p>
                      <a:pPr indent="-171450" lvl="0" marL="171450" marR="0" rtl="0" algn="just">
                        <a:lnSpc>
                          <a:spcPct val="100000"/>
                        </a:lnSpc>
                        <a:spcBef>
                          <a:spcPts val="0"/>
                        </a:spcBef>
                        <a:spcAft>
                          <a:spcPts val="0"/>
                        </a:spcAft>
                        <a:buClr>
                          <a:srgbClr val="3C3C3B"/>
                        </a:buClr>
                        <a:buSzPts val="900"/>
                        <a:buFont typeface="Arial"/>
                        <a:buChar char="•"/>
                      </a:pPr>
                      <a:r>
                        <a:rPr b="0" i="0" lang="en-GB" sz="900" u="none" cap="none" strike="noStrike">
                          <a:solidFill>
                            <a:srgbClr val="3C3C3B"/>
                          </a:solidFill>
                          <a:latin typeface="Century Gothic"/>
                          <a:ea typeface="Century Gothic"/>
                          <a:cs typeface="Century Gothic"/>
                          <a:sym typeface="Century Gothic"/>
                        </a:rPr>
                        <a:t>Enhanced operational efficiency </a:t>
                      </a:r>
                      <a:endParaRPr b="0" i="0" sz="900" u="none" cap="none" strike="sngStrike">
                        <a:solidFill>
                          <a:srgbClr val="FF0000"/>
                        </a:solidFill>
                        <a:latin typeface="Century Gothic"/>
                        <a:ea typeface="Century Gothic"/>
                        <a:cs typeface="Century Gothic"/>
                        <a:sym typeface="Century Gothic"/>
                      </a:endParaRPr>
                    </a:p>
                    <a:p>
                      <a:pPr indent="-171450" lvl="0" marL="171450" marR="0" rtl="0" algn="just">
                        <a:lnSpc>
                          <a:spcPct val="100000"/>
                        </a:lnSpc>
                        <a:spcBef>
                          <a:spcPts val="0"/>
                        </a:spcBef>
                        <a:spcAft>
                          <a:spcPts val="0"/>
                        </a:spcAft>
                        <a:buClr>
                          <a:srgbClr val="3C3C3B"/>
                        </a:buClr>
                        <a:buSzPts val="900"/>
                        <a:buFont typeface="Arial"/>
                        <a:buChar char="•"/>
                      </a:pPr>
                      <a:r>
                        <a:rPr b="0" i="0" lang="en-GB" sz="900" u="none" cap="none" strike="noStrike">
                          <a:solidFill>
                            <a:srgbClr val="3C3C3B"/>
                          </a:solidFill>
                          <a:latin typeface="Century Gothic"/>
                          <a:ea typeface="Century Gothic"/>
                          <a:cs typeface="Century Gothic"/>
                          <a:sym typeface="Century Gothic"/>
                        </a:rPr>
                        <a:t>Enhanced risk management through understanding of channel behavior and consequential impact to other products</a:t>
                      </a:r>
                      <a:endParaRPr/>
                    </a:p>
                    <a:p>
                      <a:pPr indent="-171450" lvl="0" marL="171450" marR="0" rtl="0" algn="just">
                        <a:lnSpc>
                          <a:spcPct val="100000"/>
                        </a:lnSpc>
                        <a:spcBef>
                          <a:spcPts val="0"/>
                        </a:spcBef>
                        <a:spcAft>
                          <a:spcPts val="0"/>
                        </a:spcAft>
                        <a:buClr>
                          <a:schemeClr val="dk1"/>
                        </a:buClr>
                        <a:buSzPts val="900"/>
                        <a:buFont typeface="Arial"/>
                        <a:buChar char="•"/>
                      </a:pPr>
                      <a:r>
                        <a:rPr b="0" i="0" lang="en-GB" sz="900" u="none" cap="none" strike="noStrike">
                          <a:solidFill>
                            <a:schemeClr val="dk1"/>
                          </a:solidFill>
                          <a:latin typeface="Century Gothic"/>
                          <a:ea typeface="Century Gothic"/>
                          <a:cs typeface="Century Gothic"/>
                          <a:sym typeface="Century Gothic"/>
                        </a:rPr>
                        <a:t>Improved </a:t>
                      </a:r>
                      <a:r>
                        <a:rPr b="0" i="0" lang="en-GB" sz="900" u="none" cap="none" strike="noStrike">
                          <a:solidFill>
                            <a:srgbClr val="3C3C3B"/>
                          </a:solidFill>
                          <a:latin typeface="Century Gothic"/>
                          <a:ea typeface="Century Gothic"/>
                          <a:cs typeface="Century Gothic"/>
                          <a:sym typeface="Century Gothic"/>
                        </a:rPr>
                        <a:t>management of capital and resource allocation towards specific channels   </a:t>
                      </a:r>
                      <a:endParaRPr/>
                    </a:p>
                    <a:p>
                      <a:pPr indent="-171450" lvl="0" marL="171450" marR="0" rtl="0" algn="just">
                        <a:lnSpc>
                          <a:spcPct val="100000"/>
                        </a:lnSpc>
                        <a:spcBef>
                          <a:spcPts val="0"/>
                        </a:spcBef>
                        <a:spcAft>
                          <a:spcPts val="0"/>
                        </a:spcAft>
                        <a:buClr>
                          <a:srgbClr val="3C3C3B"/>
                        </a:buClr>
                        <a:buSzPts val="900"/>
                        <a:buFont typeface="Arial"/>
                        <a:buChar char="•"/>
                      </a:pPr>
                      <a:r>
                        <a:rPr b="0" i="0" lang="en-GB" sz="900" u="none" cap="none" strike="noStrike">
                          <a:solidFill>
                            <a:srgbClr val="3C3C3B"/>
                          </a:solidFill>
                          <a:latin typeface="Century Gothic"/>
                          <a:ea typeface="Century Gothic"/>
                          <a:cs typeface="Century Gothic"/>
                          <a:sym typeface="Century Gothic"/>
                        </a:rPr>
                        <a:t>Holistic and coordinated management of product positioning and engagement strategies across channels</a:t>
                      </a:r>
                      <a:endParaRPr/>
                    </a:p>
                    <a:p>
                      <a:pPr indent="-171450" lvl="0" marL="171450" marR="0" rtl="0" algn="l">
                        <a:lnSpc>
                          <a:spcPct val="100000"/>
                        </a:lnSpc>
                        <a:spcBef>
                          <a:spcPts val="0"/>
                        </a:spcBef>
                        <a:spcAft>
                          <a:spcPts val="0"/>
                        </a:spcAft>
                        <a:buClr>
                          <a:schemeClr val="dk1"/>
                        </a:buClr>
                        <a:buSzPts val="900"/>
                        <a:buFont typeface="Arial"/>
                        <a:buChar char="•"/>
                      </a:pPr>
                      <a:r>
                        <a:rPr b="0" i="0" lang="en-GB" sz="900" u="none" cap="none" strike="noStrike">
                          <a:solidFill>
                            <a:schemeClr val="dk1"/>
                          </a:solidFill>
                          <a:latin typeface="Century Gothic"/>
                          <a:ea typeface="Century Gothic"/>
                          <a:cs typeface="Century Gothic"/>
                          <a:sym typeface="Century Gothic"/>
                        </a:rPr>
                        <a:t>Identified and shared best practice between</a:t>
                      </a:r>
                      <a:br>
                        <a:rPr b="0" i="0" lang="en-GB" sz="900" u="none" cap="none" strike="noStrike">
                          <a:solidFill>
                            <a:schemeClr val="dk1"/>
                          </a:solidFill>
                          <a:latin typeface="Century Gothic"/>
                          <a:ea typeface="Century Gothic"/>
                          <a:cs typeface="Century Gothic"/>
                          <a:sym typeface="Century Gothic"/>
                        </a:rPr>
                      </a:br>
                      <a:r>
                        <a:rPr b="0" i="0" lang="en-GB" sz="900" u="none" cap="none" strike="noStrike">
                          <a:solidFill>
                            <a:schemeClr val="dk1"/>
                          </a:solidFill>
                          <a:latin typeface="Century Gothic"/>
                          <a:ea typeface="Century Gothic"/>
                          <a:cs typeface="Century Gothic"/>
                          <a:sym typeface="Century Gothic"/>
                        </a:rPr>
                        <a:t> channels, related to products</a:t>
                      </a:r>
                      <a:endParaRPr sz="900">
                        <a:solidFill>
                          <a:schemeClr val="dk1"/>
                        </a:solidFill>
                        <a:latin typeface="Century Gothic"/>
                        <a:ea typeface="Century Gothic"/>
                        <a:cs typeface="Century Gothic"/>
                        <a:sym typeface="Century Gothic"/>
                      </a:endParaRPr>
                    </a:p>
                    <a:p>
                      <a:r>
                        <a:rPr sz="900">
                          <a:latin typeface="Century Gothic"/>
                        </a:rPr>
                        <a:t/>
                      </a:r>
                    </a:p>
                    <a:p>
                      <a:r>
                        <a:rPr sz="900">
                          <a:latin typeface="Century Gothic"/>
                        </a:rPr>
                        <a:t>Channel-optimized product distribution strategy</a:t>
                      </a:r>
                    </a:p>
                    <a:p>
                      <a:r>
                        <a:rPr sz="900">
                          <a:latin typeface="Century Gothic"/>
                        </a:rPr>
                        <a:t>Digital migration roadmap: identify products ready for digital-first distribution</a:t>
                      </a:r>
                    </a:p>
                    <a:p>
                      <a:r>
                        <a:rPr sz="900">
                          <a:latin typeface="Century Gothic"/>
                        </a:rPr>
                        <a:t>Channel ROI by product — cost-to-serve optimization</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pic>
        <p:nvPicPr>
          <p:cNvPr id="6932" name="Google Shape;6932;p393"/>
          <p:cNvPicPr preferRelativeResize="0"/>
          <p:nvPr/>
        </p:nvPicPr>
        <p:blipFill rotWithShape="1">
          <a:blip r:embed="rId3">
            <a:alphaModFix/>
          </a:blip>
          <a:srcRect b="0" l="0" r="0" t="0"/>
          <a:stretch/>
        </p:blipFill>
        <p:spPr>
          <a:xfrm>
            <a:off x="5538788" y="603250"/>
            <a:ext cx="2727760" cy="1901825"/>
          </a:xfrm>
          <a:prstGeom prst="rect">
            <a:avLst/>
          </a:prstGeom>
          <a:noFill/>
          <a:ln>
            <a:noFill/>
          </a:ln>
        </p:spPr>
      </p:pic>
      <p:sp>
        <p:nvSpPr>
          <p:cNvPr id="6933" name="Google Shape;6933;p393">
            <a:hlinkClick action="ppaction://hlinksldjump" r:id="rId4"/>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Product Performance</a:t>
            </a:r>
            <a:endParaRPr sz="750">
              <a:solidFill>
                <a:schemeClr val="lt1"/>
              </a:solidFill>
              <a:latin typeface="Century Gothic"/>
              <a:ea typeface="Century Gothic"/>
              <a:cs typeface="Century Gothic"/>
              <a:sym typeface="Century Gothic"/>
            </a:endParaRPr>
          </a:p>
        </p:txBody>
      </p:sp>
      <p:grpSp>
        <p:nvGrpSpPr>
          <p:cNvPr id="6934" name="Google Shape;6934;p393"/>
          <p:cNvGrpSpPr/>
          <p:nvPr/>
        </p:nvGrpSpPr>
        <p:grpSpPr>
          <a:xfrm>
            <a:off x="7717533" y="4360377"/>
            <a:ext cx="1058348" cy="347375"/>
            <a:chOff x="7651698" y="4287227"/>
            <a:chExt cx="1058348" cy="347375"/>
          </a:xfrm>
        </p:grpSpPr>
        <p:grpSp>
          <p:nvGrpSpPr>
            <p:cNvPr id="6935" name="Google Shape;6935;p393"/>
            <p:cNvGrpSpPr/>
            <p:nvPr/>
          </p:nvGrpSpPr>
          <p:grpSpPr>
            <a:xfrm>
              <a:off x="7714163" y="4337598"/>
              <a:ext cx="995883" cy="297004"/>
              <a:chOff x="7711013" y="3986494"/>
              <a:chExt cx="995883" cy="297004"/>
            </a:xfrm>
          </p:grpSpPr>
          <p:sp>
            <p:nvSpPr>
              <p:cNvPr id="6936" name="Google Shape;6936;p393"/>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6937" name="Google Shape;6937;p393"/>
              <p:cNvGrpSpPr/>
              <p:nvPr/>
            </p:nvGrpSpPr>
            <p:grpSpPr>
              <a:xfrm>
                <a:off x="7711013" y="4002615"/>
                <a:ext cx="281520" cy="241973"/>
                <a:chOff x="5652748" y="4066000"/>
                <a:chExt cx="906498" cy="747974"/>
              </a:xfrm>
            </p:grpSpPr>
            <p:sp>
              <p:nvSpPr>
                <p:cNvPr id="6938" name="Google Shape;6938;p393"/>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6939" name="Google Shape;6939;p393"/>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6940" name="Google Shape;6940;p393"/>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6941" name="Google Shape;6941;p393">
              <a:hlinkClick action="ppaction://hlinksldjump" r:id="rId5"/>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6" name="Shape 6946"/>
        <p:cNvGrpSpPr/>
        <p:nvPr/>
      </p:nvGrpSpPr>
      <p:grpSpPr>
        <a:xfrm>
          <a:off x="0" y="0"/>
          <a:ext cx="0" cy="0"/>
          <a:chOff x="0" y="0"/>
          <a:chExt cx="0" cy="0"/>
        </a:xfrm>
      </p:grpSpPr>
      <p:graphicFrame>
        <p:nvGraphicFramePr>
          <p:cNvPr id="6947" name="Google Shape;6947;p394"/>
          <p:cNvGraphicFramePr/>
          <p:nvPr/>
        </p:nvGraphicFramePr>
        <p:xfrm>
          <a:off x="469899" y="789217"/>
          <a:ext cx="3000000" cy="3000000"/>
        </p:xfrm>
        <a:graphic>
          <a:graphicData uri="http://schemas.openxmlformats.org/drawingml/2006/table">
            <a:tbl>
              <a:tblPr bandRow="1" firstRow="1">
                <a:noFill/>
                <a:tableStyleId>{D098BFCB-6916-41F2-A2A5-0DF0D5139B6F}</a:tableStyleId>
              </a:tblPr>
              <a:tblGrid>
                <a:gridCol w="130325"/>
                <a:gridCol w="556275"/>
                <a:gridCol w="367500"/>
                <a:gridCol w="3170075"/>
                <a:gridCol w="3276050"/>
                <a:gridCol w="477150"/>
                <a:gridCol w="477150"/>
              </a:tblGrid>
              <a:tr h="180850">
                <a:tc gridSpan="3">
                  <a:txBody>
                    <a:bodyPr/>
                    <a:lstStyle/>
                    <a:p>
                      <a:pPr indent="0" lvl="0" marL="0" marR="0" rtl="0" algn="ctr">
                        <a:spcBef>
                          <a:spcPts val="0"/>
                        </a:spcBef>
                        <a:spcAft>
                          <a:spcPts val="0"/>
                        </a:spcAft>
                        <a:buNone/>
                      </a:pPr>
                      <a:r>
                        <a:rPr b="1" lang="en-GB" sz="1200">
                          <a:solidFill>
                            <a:schemeClr val="dk2"/>
                          </a:solidFill>
                        </a:rPr>
                        <a:t>Level</a:t>
                      </a:r>
                      <a:endParaRPr b="1" sz="12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hMerge="1">
                  <a:txBody>
                    <a:bodyPr/>
                    <a:p/>
                  </a:txBody>
                </a:tc>
                <a:tc gridSpan="2">
                  <a:txBody>
                    <a:bodyPr/>
                    <a:lstStyle/>
                    <a:p>
                      <a:pPr indent="0" lvl="0" marL="0" marR="0" rtl="0" algn="ctr">
                        <a:lnSpc>
                          <a:spcPct val="100000"/>
                        </a:lnSpc>
                        <a:spcBef>
                          <a:spcPts val="0"/>
                        </a:spcBef>
                        <a:spcAft>
                          <a:spcPts val="0"/>
                        </a:spcAft>
                        <a:buClr>
                          <a:schemeClr val="dk2"/>
                        </a:buClr>
                        <a:buSzPts val="1200"/>
                        <a:buFont typeface="Century Gothic"/>
                        <a:buNone/>
                      </a:pPr>
                      <a:r>
                        <a:rPr b="1" lang="en-GB" sz="1200">
                          <a:solidFill>
                            <a:schemeClr val="dk2"/>
                          </a:solidFill>
                        </a:rPr>
                        <a:t>Maturity Statement</a:t>
                      </a:r>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rPr b="1" lang="en-GB" sz="800">
                          <a:solidFill>
                            <a:schemeClr val="dk2"/>
                          </a:solidFill>
                        </a:rPr>
                        <a:t>Current</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rPr b="1" lang="en-GB" sz="800">
                          <a:solidFill>
                            <a:schemeClr val="dk2"/>
                          </a:solidFill>
                        </a:rPr>
                        <a:t>Desired</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3385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06C1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Leading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just">
                        <a:lnSpc>
                          <a:spcPct val="100000"/>
                        </a:lnSpc>
                        <a:spcBef>
                          <a:spcPts val="0"/>
                        </a:spcBef>
                        <a:spcAft>
                          <a:spcPts val="0"/>
                        </a:spcAft>
                        <a:buClr>
                          <a:schemeClr val="dk1"/>
                        </a:buClr>
                        <a:buSzPts val="700"/>
                        <a:buFont typeface="Century Gothic"/>
                        <a:buNone/>
                      </a:pPr>
                      <a:r>
                        <a:rPr b="0" lang="en-GB" sz="700">
                          <a:solidFill>
                            <a:schemeClr val="dk1"/>
                          </a:solidFill>
                          <a:latin typeface="Century Gothic"/>
                          <a:ea typeface="Century Gothic"/>
                          <a:cs typeface="Century Gothic"/>
                          <a:sym typeface="Century Gothic"/>
                        </a:rPr>
                        <a:t>Fully automated analytics used to track multiple products across multiple channels. Messages coordinated across all channels in a sequential, logical and consistent manner. Customer channel preferences are embedded in all product and service strategies. Extensive use of channel mix and capacity optimization techniques Contact strategy and acquisition activities adapted to customer preference based on logical channel rules. Common channel tracking enabling acquisition from one locality and returns through another  or seamless product capacity fulfillment from multiple warehouses across different branch, brand or geographic location </a:t>
                      </a:r>
                      <a:endParaRPr b="0" sz="700">
                        <a:solidFill>
                          <a:srgbClr val="FF0000"/>
                        </a:solidFill>
                        <a:latin typeface="Century Gothic"/>
                        <a:ea typeface="Century Gothic"/>
                        <a:cs typeface="Century Gothic"/>
                        <a:sym typeface="Century Gothic"/>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3385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F7513"/>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Innovating</a:t>
                      </a:r>
                      <a:endParaRPr/>
                    </a:p>
                    <a:p>
                      <a:pPr indent="0" lvl="0" marL="0" marR="0" rtl="0" algn="ctr">
                        <a:spcBef>
                          <a:spcPts val="0"/>
                        </a:spcBef>
                        <a:spcAft>
                          <a:spcPts val="0"/>
                        </a:spcAft>
                        <a:buNone/>
                      </a:pPr>
                      <a:r>
                        <a:t/>
                      </a:r>
                      <a:endParaRPr b="1" sz="1000">
                        <a:solidFill>
                          <a:schemeClr val="dk2"/>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just">
                        <a:lnSpc>
                          <a:spcPct val="100000"/>
                        </a:lnSpc>
                        <a:spcBef>
                          <a:spcPts val="0"/>
                        </a:spcBef>
                        <a:spcAft>
                          <a:spcPts val="0"/>
                        </a:spcAft>
                        <a:buClr>
                          <a:schemeClr val="dk1"/>
                        </a:buClr>
                        <a:buSzPts val="700"/>
                        <a:buFont typeface="Century Gothic"/>
                        <a:buNone/>
                      </a:pPr>
                      <a:r>
                        <a:rPr b="0" lang="en-GB" sz="700">
                          <a:solidFill>
                            <a:schemeClr val="dk1"/>
                          </a:solidFill>
                          <a:latin typeface="Century Gothic"/>
                          <a:ea typeface="Century Gothic"/>
                          <a:cs typeface="Century Gothic"/>
                          <a:sym typeface="Century Gothic"/>
                        </a:rPr>
                        <a:t>Data analytics used to manage channel performance. Delivery and utilization is consistent with pre-defined metrics and business triggers.  Financial data is integrated with non-financial data to provide comprehensive reporting and analytic capabilities. Multi channel integration between web and static channels (in- and out-bound), sales force automation applications used with tracking capabilities. Extensive business rules used to manage channel delivery. KPI’s covering sales, customer satisfaction, product capacity levels  and operational efficiency are embedded</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3385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C891C"/>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Practicing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just">
                        <a:lnSpc>
                          <a:spcPct val="100000"/>
                        </a:lnSpc>
                        <a:spcBef>
                          <a:spcPts val="0"/>
                        </a:spcBef>
                        <a:spcAft>
                          <a:spcPts val="0"/>
                        </a:spcAft>
                        <a:buClr>
                          <a:schemeClr val="dk1"/>
                        </a:buClr>
                        <a:buSzPts val="700"/>
                        <a:buFont typeface="Century Gothic"/>
                        <a:buNone/>
                      </a:pPr>
                      <a:r>
                        <a:rPr b="0" lang="en-GB" sz="700">
                          <a:solidFill>
                            <a:schemeClr val="dk1"/>
                          </a:solidFill>
                          <a:latin typeface="Century Gothic"/>
                          <a:ea typeface="Century Gothic"/>
                          <a:cs typeface="Century Gothic"/>
                          <a:sym typeface="Century Gothic"/>
                        </a:rPr>
                        <a:t>Multi-channel delivery and performance tracking. Organization defines and creates standard metrics for enterprise analysis.  Scorecards are built integrating results across business functions including limited non-financial data. Sporadic levels of automation. Little understanding of customer’s channel preference and limited resource optimization. Some integration of results across business functions. Gradual improvement in product ID’s to enable easy tracking of product capacity across acquiring channels and originating warehouses</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lnSpc>
                          <a:spcPct val="100000"/>
                        </a:lnSpc>
                        <a:spcBef>
                          <a:spcPts val="0"/>
                        </a:spcBef>
                        <a:spcAft>
                          <a:spcPts val="0"/>
                        </a:spcAft>
                        <a:buClr>
                          <a:schemeClr val="dk1"/>
                        </a:buClr>
                        <a:buSzPts val="1400"/>
                        <a:buFont typeface="Century Gothic"/>
                        <a:buNone/>
                      </a:pPr>
                      <a:r>
                        <a:t/>
                      </a:r>
                      <a:endParaRPr sz="1400">
                        <a:solidFill>
                          <a:schemeClr val="dk1"/>
                        </a:solidFill>
                        <a:latin typeface="Noto Sans Symbols"/>
                        <a:ea typeface="Noto Sans Symbols"/>
                        <a:cs typeface="Noto Sans Symbols"/>
                        <a:sym typeface="Noto Sans Symbols"/>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428475">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E9B4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Developing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just">
                        <a:lnSpc>
                          <a:spcPct val="100000"/>
                        </a:lnSpc>
                        <a:spcBef>
                          <a:spcPts val="0"/>
                        </a:spcBef>
                        <a:spcAft>
                          <a:spcPts val="0"/>
                        </a:spcAft>
                        <a:buClr>
                          <a:schemeClr val="dk1"/>
                        </a:buClr>
                        <a:buSzPts val="700"/>
                        <a:buFont typeface="Century Gothic"/>
                        <a:buNone/>
                      </a:pPr>
                      <a:r>
                        <a:rPr b="0" lang="en-GB" sz="700">
                          <a:solidFill>
                            <a:schemeClr val="dk1"/>
                          </a:solidFill>
                          <a:latin typeface="Century Gothic"/>
                          <a:ea typeface="Century Gothic"/>
                          <a:cs typeface="Century Gothic"/>
                          <a:sym typeface="Century Gothic"/>
                        </a:rPr>
                        <a:t>Channel management is entirely ad hoc, cross-channel delivery for acquisition activities not available. Organization is focused on driving costs out of the channel processes and maximizing individual sales.  Detailed transactional and financial information is typically not available immediately. Multi channel coordination typically sporadic or non-existent, Cross-channel cooperation improving but manual </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3385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F1AE65"/>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Emerging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just">
                        <a:lnSpc>
                          <a:spcPct val="100000"/>
                        </a:lnSpc>
                        <a:spcBef>
                          <a:spcPts val="0"/>
                        </a:spcBef>
                        <a:spcAft>
                          <a:spcPts val="0"/>
                        </a:spcAft>
                        <a:buClr>
                          <a:schemeClr val="dk1"/>
                        </a:buClr>
                        <a:buSzPts val="700"/>
                        <a:buFont typeface="Century Gothic"/>
                        <a:buNone/>
                      </a:pPr>
                      <a:r>
                        <a:rPr b="0" lang="en-GB" sz="700">
                          <a:solidFill>
                            <a:schemeClr val="dk1"/>
                          </a:solidFill>
                          <a:latin typeface="Century Gothic"/>
                          <a:ea typeface="Century Gothic"/>
                          <a:cs typeface="Century Gothic"/>
                          <a:sym typeface="Century Gothic"/>
                        </a:rPr>
                        <a:t>Basic channels tracked. Channel data typically siloed with little or no integration of functional matrices. Inventory typically housed within different warehouses with no consistent tracking of product codes/ numbers. Little or no campaign tracking capability that allows for response tracking across products. Most channels owned by different business units are not coordinated. Little or no automation at any level</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178750">
                <a:tc gridSpan="3">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Priority</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hMerge="1">
                  <a:txBody>
                    <a:bodyPr/>
                    <a:p/>
                  </a:txBody>
                </a:tc>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Key areas for improvement</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Benefits from uplift</a:t>
                      </a:r>
                      <a:endParaRPr b="1" sz="1000">
                        <a:solidFill>
                          <a:schemeClr val="dk2"/>
                        </a:solidFill>
                        <a:latin typeface="Century Gothic"/>
                        <a:ea typeface="Century Gothic"/>
                        <a:cs typeface="Century Gothic"/>
                        <a:sym typeface="Century Gothic"/>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a:txBody>
                    <a:bodyPr/>
                    <a:lstStyle/>
                    <a:p>
                      <a:pPr indent="0" lvl="0" marL="0" marR="0" rtl="0" algn="ctr">
                        <a:spcBef>
                          <a:spcPts val="0"/>
                        </a:spcBef>
                        <a:spcAft>
                          <a:spcPts val="0"/>
                        </a:spcAft>
                        <a:buNone/>
                      </a:pPr>
                      <a:r>
                        <a:rPr b="1" lang="en-GB" sz="1000">
                          <a:solidFill>
                            <a:schemeClr val="dk2"/>
                          </a:solidFill>
                        </a:rPr>
                        <a:t>Timeframe</a:t>
                      </a:r>
                      <a:endParaRPr b="1" sz="1000">
                        <a:solidFill>
                          <a:schemeClr val="dk2"/>
                        </a:solidFill>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r>
              <a:tr h="243275">
                <a:tc gridSpan="2">
                  <a:txBody>
                    <a:bodyPr/>
                    <a:lstStyle/>
                    <a:p>
                      <a:pPr indent="0" lvl="0" marL="0" marR="0" rtl="0" algn="ctr">
                        <a:spcBef>
                          <a:spcPts val="0"/>
                        </a:spcBef>
                        <a:spcAft>
                          <a:spcPts val="0"/>
                        </a:spcAft>
                        <a:buNone/>
                      </a:pPr>
                      <a:r>
                        <a:rPr b="1" lang="en-GB" sz="800">
                          <a:solidFill>
                            <a:schemeClr val="dk1"/>
                          </a:solidFill>
                        </a:rPr>
                        <a:t>High</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rPr lang="en-GB" sz="1000">
                          <a:solidFill>
                            <a:schemeClr val="dk1"/>
                          </a:solidFill>
                          <a:latin typeface="Noto Sans Symbols"/>
                          <a:ea typeface="Noto Sans Symbols"/>
                          <a:cs typeface="Noto Sans Symbols"/>
                          <a:sym typeface="Noto Sans Symbols"/>
                        </a:rPr>
                        <a:t>✔</a:t>
                      </a:r>
                      <a:endParaRPr b="1" sz="10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0" lvl="0" marL="0" marR="0" rtl="0" algn="l">
                        <a:lnSpc>
                          <a:spcPct val="100000"/>
                        </a:lnSpc>
                        <a:spcBef>
                          <a:spcPts val="0"/>
                        </a:spcBef>
                        <a:spcAft>
                          <a:spcPts val="0"/>
                        </a:spcAft>
                        <a:buClr>
                          <a:schemeClr val="dk1"/>
                        </a:buClr>
                        <a:buSzPts val="800"/>
                        <a:buFont typeface="Arial"/>
                        <a:buNone/>
                      </a:pPr>
                      <a:r>
                        <a:rPr sz="800" b="0">
                          <a:latin typeface="Century Gothic"/>
                        </a:rPr>
                        <a:t>Pakistan priority improvements:</a:t>
                      </a:r>
                      <a:endParaRPr/>
                    </a:p>
                    <a:p>
                      <a:r>
                        <a:rPr sz="800" b="0">
                          <a:latin typeface="Century Gothic"/>
                        </a:rPr>
                        <a:t>Cross-channel product performance dashboard: branch, ATM, mobile, internet, agent, RAAST</a:t>
                      </a:r>
                    </a:p>
                    <a:p>
                      <a:r>
                        <a:rPr sz="800" b="0">
                          <a:latin typeface="Century Gothic"/>
                        </a:rPr>
                        <a:t>Channel-product affinity analytics (which products sell best where)</a:t>
                      </a:r>
                    </a:p>
                    <a:p>
                      <a:r>
                        <a:rPr sz="800" b="0">
                          <a:latin typeface="Century Gothic"/>
                        </a:rPr>
                        <a:t>Digital migration tracking for traditionally branch-based products</a:t>
                      </a:r>
                    </a:p>
                    <a:p>
                      <a:r>
                        <a:rPr sz="800" b="0">
                          <a:latin typeface="Century Gothic"/>
                        </a:rPr>
                        <a:t>Agent banking product performance monitoring (branchless banking)</a:t>
                      </a:r>
                    </a:p>
                    <a:p>
                      <a:r>
                        <a:rPr sz="800" b="0">
                          <a:latin typeface="Century Gothic"/>
                        </a:rPr>
                        <a:t>Channel cost-to-serve integration for product distribution ROI</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285750" lvl="0" marL="285750" marR="0" rtl="0" algn="l">
                        <a:spcBef>
                          <a:spcPts val="0"/>
                        </a:spcBef>
                        <a:spcAft>
                          <a:spcPts val="0"/>
                        </a:spcAft>
                        <a:buClr>
                          <a:schemeClr val="dk1"/>
                        </a:buClr>
                        <a:buSzPts val="800"/>
                        <a:buFont typeface="Arial"/>
                        <a:buChar char="•"/>
                      </a:pPr>
                      <a:r>
                        <a:rPr sz="800">
                          <a:latin typeface="Century Gothic"/>
                        </a:rPr>
                        <a:t>Optimized product distribution across 8+ banking channels</a:t>
                      </a:r>
                      <a:endParaRPr/>
                    </a:p>
                    <a:p>
                      <a:r>
                        <a:rPr sz="800">
                          <a:latin typeface="Century Gothic"/>
                        </a:rPr>
                        <a:t>Digital migration acceleration reducing branch dependency</a:t>
                      </a:r>
                    </a:p>
                    <a:p>
                      <a:r>
                        <a:rPr sz="800">
                          <a:latin typeface="Century Gothic"/>
                        </a:rPr>
                        <a:t>Channel-specific product promotion effectiveness measurement</a:t>
                      </a:r>
                    </a:p>
                    <a:p>
                      <a:r>
                        <a:rPr sz="800">
                          <a:latin typeface="Century Gothic"/>
                        </a:rPr>
                        <a:t>Agent banking expansion guided by product performance data</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rowSpan="3">
                  <a:txBody>
                    <a:bodyPr/>
                    <a:lstStyle/>
                    <a:p>
                      <a:pPr indent="0" lvl="0" marL="0" marR="0" rtl="0" algn="ctr">
                        <a:lnSpc>
                          <a:spcPct val="100000"/>
                        </a:lnSpc>
                        <a:spcBef>
                          <a:spcPts val="0"/>
                        </a:spcBef>
                        <a:spcAft>
                          <a:spcPts val="0"/>
                        </a:spcAft>
                        <a:buClr>
                          <a:schemeClr val="dk1"/>
                        </a:buClr>
                        <a:buSzPts val="800"/>
                        <a:buFont typeface="Century Gothic"/>
                        <a:buNone/>
                      </a:pPr>
                      <a:r>
                        <a:rPr b="0" lang="en-GB" sz="800">
                          <a:solidFill>
                            <a:schemeClr val="dk1"/>
                          </a:solidFill>
                        </a:rPr>
                        <a:t>2025-2027</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hMerge="1">
                  <a:txBody>
                    <a:bodyPr/>
                    <a:p/>
                  </a:txBody>
                </a:tc>
              </a:tr>
              <a:tr h="243275">
                <a:tc gridSpan="2">
                  <a:txBody>
                    <a:bodyPr/>
                    <a:lstStyle/>
                    <a:p>
                      <a:pPr indent="0" lvl="0" marL="0" marR="0" rtl="0" algn="ctr">
                        <a:spcBef>
                          <a:spcPts val="0"/>
                        </a:spcBef>
                        <a:spcAft>
                          <a:spcPts val="0"/>
                        </a:spcAft>
                        <a:buNone/>
                      </a:pPr>
                      <a:r>
                        <a:rPr b="1" lang="en-GB" sz="800">
                          <a:solidFill>
                            <a:schemeClr val="dk1"/>
                          </a:solidFill>
                        </a:rPr>
                        <a:t>Medium</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xBody>
                    <a:bodyPr/>
                    <a:p/>
                  </a:txBody>
                </a:tc>
                <a:tc vMerge="1">
                  <a:txBody>
                    <a:bodyPr/>
                    <a:p/>
                  </a:txBody>
                </a:tc>
                <a:tc gridSpan="2" vMerge="1">
                  <a:txBody>
                    <a:bodyPr/>
                    <a:p/>
                  </a:txBody>
                </a:tc>
                <a:tc hMerge="1" vMerge="1">
                  <a:txBody>
                    <a:bodyPr/>
                    <a:p/>
                  </a:txBody>
                </a:tc>
              </a:tr>
              <a:tr h="243275">
                <a:tc gridSpan="2">
                  <a:txBody>
                    <a:bodyPr/>
                    <a:lstStyle/>
                    <a:p>
                      <a:pPr indent="0" lvl="0" marL="0" marR="0" rtl="0" algn="ctr">
                        <a:spcBef>
                          <a:spcPts val="0"/>
                        </a:spcBef>
                        <a:spcAft>
                          <a:spcPts val="0"/>
                        </a:spcAft>
                        <a:buNone/>
                      </a:pPr>
                      <a:r>
                        <a:rPr b="1" lang="en-GB" sz="800">
                          <a:solidFill>
                            <a:schemeClr val="dk1"/>
                          </a:solidFill>
                        </a:rPr>
                        <a:t>Low</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xBody>
                    <a:bodyPr/>
                    <a:p/>
                  </a:txBody>
                </a:tc>
                <a:tc vMerge="1">
                  <a:txBody>
                    <a:bodyPr/>
                    <a:p/>
                  </a:txBody>
                </a:tc>
                <a:tc gridSpan="2" vMerge="1">
                  <a:txBody>
                    <a:bodyPr/>
                    <a:p/>
                  </a:txBody>
                </a:tc>
                <a:tc hMerge="1" vMerge="1">
                  <a:txBody>
                    <a:bodyPr/>
                    <a:p/>
                  </a:txBody>
                </a:tc>
              </a:tr>
            </a:tbl>
          </a:graphicData>
        </a:graphic>
      </p:graphicFrame>
      <p:grpSp>
        <p:nvGrpSpPr>
          <p:cNvPr id="6948" name="Google Shape;6948;p394"/>
          <p:cNvGrpSpPr/>
          <p:nvPr/>
        </p:nvGrpSpPr>
        <p:grpSpPr>
          <a:xfrm>
            <a:off x="7971865" y="980278"/>
            <a:ext cx="949325" cy="2867825"/>
            <a:chOff x="7941888" y="1062037"/>
            <a:chExt cx="983037" cy="2695575"/>
          </a:xfrm>
        </p:grpSpPr>
        <p:sp>
          <p:nvSpPr>
            <p:cNvPr id="6949" name="Google Shape;6949;p394"/>
            <p:cNvSpPr/>
            <p:nvPr/>
          </p:nvSpPr>
          <p:spPr>
            <a:xfrm>
              <a:off x="7941889" y="1062037"/>
              <a:ext cx="983036" cy="2695575"/>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rgbClr val="3C3C3B"/>
                </a:solidFill>
                <a:latin typeface="Century Gothic"/>
                <a:ea typeface="Century Gothic"/>
                <a:cs typeface="Century Gothic"/>
                <a:sym typeface="Century Gothic"/>
              </a:endParaRPr>
            </a:p>
          </p:txBody>
        </p:sp>
        <p:sp>
          <p:nvSpPr>
            <p:cNvPr id="6950" name="Google Shape;6950;p394"/>
            <p:cNvSpPr/>
            <p:nvPr/>
          </p:nvSpPr>
          <p:spPr>
            <a:xfrm>
              <a:off x="7941888" y="2052586"/>
              <a:ext cx="983037" cy="714476"/>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rgbClr val="3C3C3B"/>
                  </a:solidFill>
                  <a:latin typeface="Century Gothic"/>
                  <a:ea typeface="Century Gothic"/>
                  <a:cs typeface="Century Gothic"/>
                  <a:sym typeface="Century Gothic"/>
                </a:rPr>
                <a:t/>
              </a:r>
              <a:endParaRPr/>
            </a:p>
            <a:p>
              <a:pPr indent="0" lvl="0" marL="0" marR="0" rtl="0" algn="ctr">
                <a:spcBef>
                  <a:spcPts val="0"/>
                </a:spcBef>
                <a:spcAft>
                  <a:spcPts val="0"/>
                </a:spcAft>
                <a:buNone/>
              </a:pPr>
              <a:r>
                <a:rPr lang="en-GB" sz="800">
                  <a:solidFill>
                    <a:srgbClr val="3C3C3B"/>
                  </a:solidFill>
                  <a:latin typeface="Century Gothic"/>
                  <a:ea typeface="Century Gothic"/>
                  <a:cs typeface="Century Gothic"/>
                  <a:sym typeface="Century Gothic"/>
                </a:rPr>
                <a:t/>
              </a:r>
              <a:endParaRPr/>
            </a:p>
          </p:txBody>
        </p:sp>
      </p:grpSp>
      <p:sp>
        <p:nvSpPr>
          <p:cNvPr id="6951" name="Google Shape;6951;p394"/>
          <p:cNvSpPr txBox="1"/>
          <p:nvPr>
            <p:ph type="title"/>
          </p:nvPr>
        </p:nvSpPr>
        <p:spPr>
          <a:xfrm>
            <a:off x="457200" y="173736"/>
            <a:ext cx="8229600" cy="704088"/>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Analyze Cross Channel Performance</a:t>
            </a:r>
            <a:endParaRPr/>
          </a:p>
        </p:txBody>
      </p:sp>
      <p:sp>
        <p:nvSpPr>
          <p:cNvPr id="6952" name="Google Shape;6952;p394">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Product Performance</a:t>
            </a:r>
            <a:endParaRPr sz="750">
              <a:solidFill>
                <a:schemeClr val="lt1"/>
              </a:solidFill>
              <a:latin typeface="Century Gothic"/>
              <a:ea typeface="Century Gothic"/>
              <a:cs typeface="Century Gothic"/>
              <a:sym typeface="Century Gothic"/>
            </a:endParaRPr>
          </a:p>
        </p:txBody>
      </p:sp>
      <p:grpSp>
        <p:nvGrpSpPr>
          <p:cNvPr id="6953" name="Google Shape;6953;p394"/>
          <p:cNvGrpSpPr/>
          <p:nvPr/>
        </p:nvGrpSpPr>
        <p:grpSpPr>
          <a:xfrm>
            <a:off x="469900" y="3799132"/>
            <a:ext cx="8455025" cy="732866"/>
            <a:chOff x="211138" y="3972860"/>
            <a:chExt cx="8713787" cy="642437"/>
          </a:xfrm>
        </p:grpSpPr>
        <p:sp>
          <p:nvSpPr>
            <p:cNvPr id="6954" name="Google Shape;6954;p394"/>
            <p:cNvSpPr/>
            <p:nvPr/>
          </p:nvSpPr>
          <p:spPr>
            <a:xfrm>
              <a:off x="211138" y="3972860"/>
              <a:ext cx="8713787" cy="642437"/>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6955" name="Google Shape;6955;p394"/>
            <p:cNvSpPr/>
            <p:nvPr/>
          </p:nvSpPr>
          <p:spPr>
            <a:xfrm>
              <a:off x="3692726" y="3982349"/>
              <a:ext cx="1753883" cy="632948"/>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0" name="Shape 6960"/>
        <p:cNvGrpSpPr/>
        <p:nvPr/>
      </p:nvGrpSpPr>
      <p:grpSpPr>
        <a:xfrm>
          <a:off x="0" y="0"/>
          <a:ext cx="0" cy="0"/>
          <a:chOff x="0" y="0"/>
          <a:chExt cx="0" cy="0"/>
        </a:xfrm>
      </p:grpSpPr>
      <p:cxnSp>
        <p:nvCxnSpPr>
          <p:cNvPr id="6961" name="Google Shape;6961;p395"/>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graphicFrame>
        <p:nvGraphicFramePr>
          <p:cNvPr id="6962" name="Google Shape;6962;p395"/>
          <p:cNvGraphicFramePr/>
          <p:nvPr/>
        </p:nvGraphicFramePr>
        <p:xfrm>
          <a:off x="539574" y="837142"/>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b="1" sz="1400">
                        <a:solidFill>
                          <a:schemeClr val="dk2"/>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Comparing a portfolio against an internal or external reference, to identify gaps and potential enhancements</a:t>
                      </a:r>
                      <a:endParaRPr/>
                    </a:p>
                    <a:p>
                      <a:pPr indent="-90488" lvl="0" marL="90488" marR="0" rtl="0" algn="l">
                        <a:spcBef>
                          <a:spcPts val="0"/>
                        </a:spcBef>
                        <a:spcAft>
                          <a:spcPts val="0"/>
                        </a:spcAft>
                        <a:buClr>
                          <a:schemeClr val="dk1"/>
                        </a:buClr>
                        <a:buSzPts val="900"/>
                        <a:buFont typeface="Arial"/>
                        <a:buChar char="•"/>
                      </a:pPr>
                      <a:r>
                        <a:rPr b="0" i="0" lang="en-GB" sz="900">
                          <a:solidFill>
                            <a:schemeClr val="dk1"/>
                          </a:solidFill>
                          <a:latin typeface="Century Gothic"/>
                          <a:ea typeface="Century Gothic"/>
                          <a:cs typeface="Century Gothic"/>
                          <a:sym typeface="Century Gothic"/>
                        </a:rPr>
                        <a:t>To improve product</a:t>
                      </a:r>
                      <a:r>
                        <a:rPr b="0" i="0" lang="en-GB" sz="900">
                          <a:solidFill>
                            <a:schemeClr val="dk1"/>
                          </a:solidFill>
                          <a:latin typeface="Century Gothic"/>
                          <a:ea typeface="Century Gothic"/>
                          <a:cs typeface="Century Gothic"/>
                          <a:sym typeface="Century Gothic"/>
                        </a:rPr>
                        <a:t> </a:t>
                      </a:r>
                      <a:r>
                        <a:rPr b="0" i="0" lang="en-GB" sz="900">
                          <a:solidFill>
                            <a:schemeClr val="dk1"/>
                          </a:solidFill>
                          <a:latin typeface="Century Gothic"/>
                          <a:ea typeface="Century Gothic"/>
                          <a:cs typeface="Century Gothic"/>
                          <a:sym typeface="Century Gothic"/>
                        </a:rPr>
                        <a:t>performance by identifying and applying best demonstrated practices.</a:t>
                      </a:r>
                      <a:endParaRPr/>
                    </a:p>
                    <a:p>
                      <a:pPr indent="-90488" lvl="0" marL="90488" marR="0" rtl="0" algn="l">
                        <a:spcBef>
                          <a:spcPts val="0"/>
                        </a:spcBef>
                        <a:spcAft>
                          <a:spcPts val="0"/>
                        </a:spcAft>
                        <a:buClr>
                          <a:schemeClr val="dk1"/>
                        </a:buClr>
                        <a:buSzPts val="900"/>
                        <a:buFont typeface="Arial"/>
                        <a:buChar char="•"/>
                      </a:pPr>
                      <a:r>
                        <a:rPr b="0" i="0" lang="en-GB" sz="900">
                          <a:solidFill>
                            <a:schemeClr val="dk1"/>
                          </a:solidFill>
                          <a:latin typeface="Century Gothic"/>
                          <a:ea typeface="Century Gothic"/>
                          <a:cs typeface="Century Gothic"/>
                          <a:sym typeface="Century Gothic"/>
                        </a:rPr>
                        <a:t>Compare the performance of products and services externally with those of competitors and best-in-class companies and internally with other operations within own firms that perform similar activities.</a:t>
                      </a:r>
                      <a:endParaRPr/>
                    </a:p>
                    <a:p>
                      <a:pPr indent="-90488" lvl="0" marL="90488" marR="0" rtl="0" algn="l">
                        <a:spcBef>
                          <a:spcPts val="0"/>
                        </a:spcBef>
                        <a:spcAft>
                          <a:spcPts val="0"/>
                        </a:spcAft>
                        <a:buClr>
                          <a:schemeClr val="dk1"/>
                        </a:buClr>
                        <a:buSzPts val="900"/>
                        <a:buFont typeface="Arial"/>
                        <a:buChar char="•"/>
                      </a:pPr>
                      <a:r>
                        <a:rPr b="0" i="0" lang="en-GB" sz="900">
                          <a:solidFill>
                            <a:schemeClr val="dk1"/>
                          </a:solidFill>
                          <a:latin typeface="Century Gothic"/>
                          <a:ea typeface="Century Gothic"/>
                          <a:cs typeface="Century Gothic"/>
                          <a:sym typeface="Century Gothic"/>
                        </a:rPr>
                        <a:t>Find examples of superior performance and understand the processes and practices that drive the difference.</a:t>
                      </a:r>
                      <a:endParaRPr/>
                    </a:p>
                    <a:p>
                      <a:pPr indent="-90488" lvl="0" marL="90488" marR="0" rtl="0" algn="l">
                        <a:spcBef>
                          <a:spcPts val="0"/>
                        </a:spcBef>
                        <a:spcAft>
                          <a:spcPts val="0"/>
                        </a:spcAft>
                        <a:buClr>
                          <a:schemeClr val="dk1"/>
                        </a:buClr>
                        <a:buSzPts val="900"/>
                        <a:buFont typeface="Arial"/>
                        <a:buChar char="•"/>
                      </a:pPr>
                      <a:r>
                        <a:rPr b="0" i="0" lang="en-GB" sz="900">
                          <a:solidFill>
                            <a:schemeClr val="dk1"/>
                          </a:solidFill>
                          <a:latin typeface="Century Gothic"/>
                          <a:ea typeface="Century Gothic"/>
                          <a:cs typeface="Century Gothic"/>
                          <a:sym typeface="Century Gothic"/>
                        </a:rPr>
                        <a:t>Improve performance by tailoring and incorporating best practice into own operations, typically by innovating, not imitating.</a:t>
                      </a:r>
                      <a:endParaRPr b="0" sz="900">
                        <a:solidFill>
                          <a:schemeClr val="dk1"/>
                        </a:solidFill>
                        <a:latin typeface="Century Gothic"/>
                        <a:ea typeface="Century Gothic"/>
                        <a:cs typeface="Century Gothic"/>
                        <a:sym typeface="Century Gothic"/>
                      </a:endParaRPr>
                    </a:p>
                    <a:p>
                      <a:r>
                        <a:rPr sz="900"/>
                        <a:t/>
                      </a:r>
                    </a:p>
                    <a:p>
                      <a:r>
                        <a:rPr sz="900"/>
                        <a:t>Benchmark Pakistan banking products against SBP published industry data</a:t>
                      </a:r>
                    </a:p>
                    <a:p>
                      <a:r>
                        <a:rPr sz="900"/>
                        <a:t>Peer group performance (top 5/10 banks), international benchmarks (Gulf, SE Asian banks)</a:t>
                      </a:r>
                    </a:p>
                    <a:p>
                      <a:r>
                        <a:rPr sz="900"/>
                        <a:t>Key product benchmarks: CASA ratio (~47%), card activation rate, loan-to-deposit ratio</a:t>
                      </a:r>
                    </a:p>
                    <a:p>
                      <a:r>
                        <a:rPr sz="900"/>
                        <a:t>Fee income per product, digital adoption rate, products per customer (1.8 vs 4-6 global)</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xBody>
                    <a:bodyPr/>
                    <a:p/>
                  </a:txBody>
                </a:tc>
                <a:tc vMerge="1">
                  <a:txBody>
                    <a:bodyPr/>
                    <a:p/>
                  </a:txBody>
                </a:tc>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p>
                      <a:r>
                        <a:rPr sz="800" b="1">
                          <a:solidFill>
                            <a:srgbClr val="006699"/>
                          </a:solidFill>
                        </a:rPr>
                        <a:t>FSDM: Sales_Metric, Product_Sales, Channel_Sales, Branch_Sales, Target_Achievement, Pipeline_Report</a:t>
                      </a:r>
                    </a:p>
                    <a:p>
                      <a:r>
                        <a:rPr sz="800" i="1">
                          <a:solidFill>
                            <a:srgbClr val="008040"/>
                          </a:solidFill>
                        </a:rPr>
                        <a:t>Pakistan: Branch sales dashboards, product-wise sales (deposits/advances/cards/remittances), region-wise performance, Islamic banking sales, digital channel sales tracking</a:t>
                      </a: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90488" lvl="0" marL="90488" marR="0" rtl="0" algn="l">
                        <a:spcBef>
                          <a:spcPts val="0"/>
                        </a:spcBef>
                        <a:spcAft>
                          <a:spcPts val="0"/>
                        </a:spcAft>
                        <a:buClr>
                          <a:schemeClr val="dk1"/>
                        </a:buClr>
                        <a:buSzPts val="900"/>
                        <a:buFont typeface="Arial"/>
                        <a:buChar char="•"/>
                      </a:pPr>
                      <a:r>
                        <a:rPr lang="en-GB" sz="900">
                          <a:solidFill>
                            <a:schemeClr val="dk1"/>
                          </a:solidFill>
                        </a:rPr>
                        <a:t>For a chosen product or service, detailed data covering all key performance metrics.</a:t>
                      </a:r>
                      <a:endParaRPr/>
                    </a:p>
                    <a:p>
                      <a:pPr indent="-90488" lvl="0" marL="90488" marR="0" rtl="0" algn="l">
                        <a:spcBef>
                          <a:spcPts val="0"/>
                        </a:spcBef>
                        <a:spcAft>
                          <a:spcPts val="0"/>
                        </a:spcAft>
                        <a:buClr>
                          <a:schemeClr val="dk1"/>
                        </a:buClr>
                        <a:buSzPts val="900"/>
                        <a:buFont typeface="Arial"/>
                        <a:buChar char="•"/>
                      </a:pPr>
                      <a:r>
                        <a:rPr lang="en-GB" sz="900">
                          <a:solidFill>
                            <a:schemeClr val="dk1"/>
                          </a:solidFill>
                        </a:rPr>
                        <a:t>Linked to financial performance and product strategy.</a:t>
                      </a:r>
                      <a:endParaRPr/>
                    </a:p>
                    <a:p>
                      <a:pPr indent="-90488" lvl="0" marL="90488" marR="0" rtl="0" algn="l">
                        <a:spcBef>
                          <a:spcPts val="0"/>
                        </a:spcBef>
                        <a:spcAft>
                          <a:spcPts val="0"/>
                        </a:spcAft>
                        <a:buClr>
                          <a:schemeClr val="dk1"/>
                        </a:buClr>
                        <a:buSzPts val="900"/>
                        <a:buFont typeface="Arial"/>
                        <a:buChar char="•"/>
                      </a:pPr>
                      <a:r>
                        <a:rPr lang="en-GB" sz="900">
                          <a:solidFill>
                            <a:schemeClr val="dk1"/>
                          </a:solidFill>
                        </a:rPr>
                        <a:t>Identify best in class companies to be benchmarked (competitors, different industry or internal).</a:t>
                      </a:r>
                      <a:endParaRPr/>
                    </a:p>
                    <a:p>
                      <a:pPr indent="0" lvl="0" marL="0" marR="0" rtl="0" algn="l">
                        <a:spcBef>
                          <a:spcPts val="0"/>
                        </a:spcBef>
                        <a:spcAft>
                          <a:spcPts val="0"/>
                        </a:spcAft>
                        <a:buClr>
                          <a:schemeClr val="dk1"/>
                        </a:buClr>
                        <a:buSzPts val="900"/>
                        <a:buFont typeface="Arial"/>
                        <a:buNone/>
                      </a:pPr>
                      <a:r>
                        <a:rPr b="1" lang="en-GB" sz="900">
                          <a:solidFill>
                            <a:schemeClr val="dk1"/>
                          </a:solidFill>
                        </a:rPr>
                        <a:t>Solution / Analytics</a:t>
                      </a:r>
                      <a:endParaRPr/>
                    </a:p>
                    <a:p>
                      <a:pPr indent="-90488" lvl="0" marL="90488" marR="0" rtl="0" algn="l">
                        <a:spcBef>
                          <a:spcPts val="0"/>
                        </a:spcBef>
                        <a:spcAft>
                          <a:spcPts val="0"/>
                        </a:spcAft>
                        <a:buClr>
                          <a:schemeClr val="dk1"/>
                        </a:buClr>
                        <a:buSzPts val="900"/>
                        <a:buFont typeface="Arial"/>
                        <a:buChar char="•"/>
                      </a:pPr>
                      <a:r>
                        <a:rPr lang="en-GB" sz="900">
                          <a:solidFill>
                            <a:schemeClr val="dk1"/>
                          </a:solidFill>
                        </a:rPr>
                        <a:t>Dashboards and regular MI showing trends over time and adherence to product tolerance levels.</a:t>
                      </a:r>
                      <a:endParaRPr/>
                    </a:p>
                    <a:p>
                      <a:pPr indent="-90488" lvl="0" marL="90488" marR="0" rtl="0" algn="l">
                        <a:spcBef>
                          <a:spcPts val="0"/>
                        </a:spcBef>
                        <a:spcAft>
                          <a:spcPts val="0"/>
                        </a:spcAft>
                        <a:buClr>
                          <a:schemeClr val="dk1"/>
                        </a:buClr>
                        <a:buSzPts val="900"/>
                        <a:buFont typeface="Arial"/>
                        <a:buChar char="•"/>
                      </a:pPr>
                      <a:r>
                        <a:rPr lang="en-GB" sz="900">
                          <a:solidFill>
                            <a:schemeClr val="dk1"/>
                          </a:solidFill>
                        </a:rPr>
                        <a:t>Exception reporting.</a:t>
                      </a:r>
                      <a:endParaRPr/>
                    </a:p>
                    <a:p>
                      <a:pPr indent="-90488" lvl="0" marL="90488" marR="0" rtl="0" algn="l">
                        <a:spcBef>
                          <a:spcPts val="0"/>
                        </a:spcBef>
                        <a:spcAft>
                          <a:spcPts val="0"/>
                        </a:spcAft>
                        <a:buClr>
                          <a:schemeClr val="dk1"/>
                        </a:buClr>
                        <a:buSzPts val="900"/>
                        <a:buFont typeface="Arial"/>
                        <a:buChar char="•"/>
                      </a:pPr>
                      <a:r>
                        <a:rPr lang="en-GB" sz="900">
                          <a:solidFill>
                            <a:schemeClr val="dk1"/>
                          </a:solidFill>
                        </a:rPr>
                        <a:t>Self service analytics to drill down by key dimensions.</a:t>
                      </a:r>
                      <a:endParaRPr/>
                    </a:p>
                    <a:p>
                      <a:pPr indent="-90488" lvl="0" marL="90488" marR="0" rtl="0" algn="l">
                        <a:spcBef>
                          <a:spcPts val="0"/>
                        </a:spcBef>
                        <a:spcAft>
                          <a:spcPts val="0"/>
                        </a:spcAft>
                        <a:buClr>
                          <a:schemeClr val="dk1"/>
                        </a:buClr>
                        <a:buSzPts val="900"/>
                        <a:buFont typeface="Arial"/>
                        <a:buChar char="•"/>
                      </a:pPr>
                      <a:r>
                        <a:rPr lang="en-GB" sz="900">
                          <a:solidFill>
                            <a:schemeClr val="dk1"/>
                          </a:solidFill>
                        </a:rPr>
                        <a:t>Correlation and regression analysis between key performance metrics and overall sales, profit, margin, retention etc.</a:t>
                      </a:r>
                      <a:endParaRPr/>
                    </a:p>
                    <a:p>
                      <a:pPr indent="-90488" lvl="0" marL="90488" marR="0" rtl="0" algn="l">
                        <a:spcBef>
                          <a:spcPts val="0"/>
                        </a:spcBef>
                        <a:spcAft>
                          <a:spcPts val="0"/>
                        </a:spcAft>
                        <a:buClr>
                          <a:schemeClr val="dk1"/>
                        </a:buClr>
                        <a:buSzPts val="900"/>
                        <a:buFont typeface="Arial"/>
                        <a:buChar char="•"/>
                      </a:pPr>
                      <a:r>
                        <a:rPr lang="en-GB" sz="900">
                          <a:solidFill>
                            <a:schemeClr val="dk1"/>
                          </a:solidFill>
                        </a:rPr>
                        <a:t>New variables for predictive modeling (e.g. attrition modeling).</a:t>
                      </a:r>
                      <a:endParaRPr sz="900">
                        <a:solidFill>
                          <a:schemeClr val="dk1"/>
                        </a:solidFill>
                      </a:endParaRPr>
                    </a:p>
                    <a:p>
                      <a:pPr indent="-122238" lvl="0" marL="179388" marR="0" rtl="0" algn="l">
                        <a:spcBef>
                          <a:spcPts val="0"/>
                        </a:spcBef>
                        <a:spcAft>
                          <a:spcPts val="0"/>
                        </a:spcAft>
                        <a:buClr>
                          <a:schemeClr val="dk1"/>
                        </a:buClr>
                        <a:buSzPts val="900"/>
                        <a:buFont typeface="Arial"/>
                        <a:buNone/>
                      </a:pPr>
                      <a:r>
                        <a:t/>
                      </a:r>
                      <a:endParaRPr sz="900">
                        <a:solidFill>
                          <a:schemeClr val="dk1"/>
                        </a:solidFill>
                      </a:endParaRPr>
                    </a:p>
                    <a:p>
                      <a:r>
                        <a:rPr sz="800" b="1">
                          <a:solidFill>
                            <a:srgbClr val="006699"/>
                          </a:solidFill>
                        </a:rPr>
                        <a:t>FSDM: Sales_Metric, Product_Sales, Channel_Sales, Branch_Sales, Target_Achievement, Pipeline_Report</a:t>
                      </a:r>
                    </a:p>
                    <a:p>
                      <a:r>
                        <a:rPr sz="800" i="1">
                          <a:solidFill>
                            <a:srgbClr val="008040"/>
                          </a:solidFill>
                        </a:rPr>
                        <a:t>Pakistan: Branch sales dashboards, product-wise sales (deposits/advances/cards/remittances), region-wise performance, Islamic banking sales, digital channel sales tracking</a:t>
                      </a:r>
                    </a:p>
                    <a:p>
                      <a:r>
                        <a:rPr sz="900"/>
                        <a:t/>
                      </a:r>
                    </a:p>
                    <a:p>
                      <a:r>
                        <a:rPr sz="900"/>
                        <a:t>SBP statistical bulletins, annual reports of peer banks</a:t>
                      </a:r>
                    </a:p>
                    <a:p>
                      <a:r>
                        <a:rPr sz="900"/>
                        <a:t>Industry surveys (PBA), FSDM internal product performance data</a:t>
                      </a:r>
                    </a:p>
                    <a:p>
                      <a:r>
                        <a:rPr sz="900"/>
                        <a:t>International benchmarking data (Gulf banks, SE Asian banks)</a:t>
                      </a:r>
                    </a:p>
                    <a:p>
                      <a:r>
                        <a:rPr sz="900"/>
                        <a:t>Digital banking benchmarks from fintech competitors</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90488" lvl="0" marL="90488" marR="0" rtl="0" algn="l">
                        <a:lnSpc>
                          <a:spcPct val="100000"/>
                        </a:lnSpc>
                        <a:spcBef>
                          <a:spcPts val="0"/>
                        </a:spcBef>
                        <a:spcAft>
                          <a:spcPts val="0"/>
                        </a:spcAft>
                        <a:buClr>
                          <a:schemeClr val="dk1"/>
                        </a:buClr>
                        <a:buSzPts val="900"/>
                        <a:buFont typeface="Arial"/>
                        <a:buChar char="•"/>
                      </a:pPr>
                      <a:r>
                        <a:rPr b="1" i="0" lang="en-GB" sz="900"/>
                        <a:t>Improve performance </a:t>
                      </a:r>
                      <a:r>
                        <a:rPr i="0" lang="en-GB" sz="900"/>
                        <a:t>– benchmarking i</a:t>
                      </a:r>
                      <a:r>
                        <a:rPr b="0" i="0" lang="en-GB" sz="900">
                          <a:solidFill>
                            <a:schemeClr val="dk1"/>
                          </a:solidFill>
                          <a:latin typeface="Century Gothic"/>
                          <a:ea typeface="Century Gothic"/>
                          <a:cs typeface="Century Gothic"/>
                          <a:sym typeface="Century Gothic"/>
                        </a:rPr>
                        <a:t>dentifies methods of improving market share, operational efficiency and product design.</a:t>
                      </a:r>
                      <a:endParaRPr b="0" i="0" sz="900">
                        <a:solidFill>
                          <a:schemeClr val="dk1"/>
                        </a:solidFill>
                        <a:latin typeface="Century Gothic"/>
                        <a:ea typeface="Century Gothic"/>
                        <a:cs typeface="Century Gothic"/>
                        <a:sym typeface="Century Gothic"/>
                      </a:endParaRPr>
                    </a:p>
                    <a:p>
                      <a:pPr indent="-90488" lvl="0" marL="90488" marR="0" rtl="0" algn="l">
                        <a:lnSpc>
                          <a:spcPct val="100000"/>
                        </a:lnSpc>
                        <a:spcBef>
                          <a:spcPts val="0"/>
                        </a:spcBef>
                        <a:spcAft>
                          <a:spcPts val="0"/>
                        </a:spcAft>
                        <a:buClr>
                          <a:schemeClr val="dk1"/>
                        </a:buClr>
                        <a:buSzPts val="900"/>
                        <a:buFont typeface="Arial"/>
                        <a:buChar char="•"/>
                      </a:pPr>
                      <a:r>
                        <a:rPr b="0" i="0" lang="en-GB" sz="900">
                          <a:solidFill>
                            <a:schemeClr val="dk1"/>
                          </a:solidFill>
                          <a:latin typeface="Century Gothic"/>
                          <a:ea typeface="Century Gothic"/>
                          <a:cs typeface="Century Gothic"/>
                          <a:sym typeface="Century Gothic"/>
                        </a:rPr>
                        <a:t>Understand relative </a:t>
                      </a:r>
                      <a:r>
                        <a:rPr b="1" i="0" lang="en-GB" sz="900">
                          <a:solidFill>
                            <a:schemeClr val="dk1"/>
                          </a:solidFill>
                          <a:latin typeface="Century Gothic"/>
                          <a:ea typeface="Century Gothic"/>
                          <a:cs typeface="Century Gothic"/>
                          <a:sym typeface="Century Gothic"/>
                        </a:rPr>
                        <a:t>cost position </a:t>
                      </a:r>
                      <a:r>
                        <a:rPr b="0" i="0" lang="en-GB" sz="900">
                          <a:solidFill>
                            <a:schemeClr val="dk1"/>
                          </a:solidFill>
                          <a:latin typeface="Century Gothic"/>
                          <a:ea typeface="Century Gothic"/>
                          <a:cs typeface="Century Gothic"/>
                          <a:sym typeface="Century Gothic"/>
                        </a:rPr>
                        <a:t>- benchmarking reveals a company's relative cost position and identifies opportunities for improvement.</a:t>
                      </a:r>
                      <a:endParaRPr/>
                    </a:p>
                    <a:p>
                      <a:pPr indent="-90488" lvl="0" marL="90488" marR="0" rtl="0" algn="l">
                        <a:lnSpc>
                          <a:spcPct val="100000"/>
                        </a:lnSpc>
                        <a:spcBef>
                          <a:spcPts val="0"/>
                        </a:spcBef>
                        <a:spcAft>
                          <a:spcPts val="0"/>
                        </a:spcAft>
                        <a:buClr>
                          <a:schemeClr val="dk1"/>
                        </a:buClr>
                        <a:buSzPts val="900"/>
                        <a:buFont typeface="Arial"/>
                        <a:buChar char="•"/>
                      </a:pPr>
                      <a:r>
                        <a:rPr b="0" i="0" lang="en-GB" sz="900">
                          <a:solidFill>
                            <a:schemeClr val="dk1"/>
                          </a:solidFill>
                          <a:latin typeface="Century Gothic"/>
                          <a:ea typeface="Century Gothic"/>
                          <a:cs typeface="Century Gothic"/>
                          <a:sym typeface="Century Gothic"/>
                        </a:rPr>
                        <a:t>Gain </a:t>
                      </a:r>
                      <a:r>
                        <a:rPr b="1" i="0" lang="en-GB" sz="900">
                          <a:solidFill>
                            <a:schemeClr val="dk1"/>
                          </a:solidFill>
                          <a:latin typeface="Century Gothic"/>
                          <a:ea typeface="Century Gothic"/>
                          <a:cs typeface="Century Gothic"/>
                          <a:sym typeface="Century Gothic"/>
                        </a:rPr>
                        <a:t>strategic advantage</a:t>
                      </a:r>
                      <a:r>
                        <a:rPr b="1" i="0" lang="en-GB" sz="900">
                          <a:solidFill>
                            <a:schemeClr val="dk1"/>
                          </a:solidFill>
                          <a:latin typeface="Century Gothic"/>
                          <a:ea typeface="Century Gothic"/>
                          <a:cs typeface="Century Gothic"/>
                          <a:sym typeface="Century Gothic"/>
                        </a:rPr>
                        <a:t> </a:t>
                      </a:r>
                      <a:r>
                        <a:rPr b="0" i="0" lang="en-GB" sz="900">
                          <a:solidFill>
                            <a:schemeClr val="dk1"/>
                          </a:solidFill>
                          <a:latin typeface="Century Gothic"/>
                          <a:ea typeface="Century Gothic"/>
                          <a:cs typeface="Century Gothic"/>
                          <a:sym typeface="Century Gothic"/>
                        </a:rPr>
                        <a:t>- </a:t>
                      </a:r>
                      <a:r>
                        <a:rPr b="0" i="0" lang="en-GB" sz="900">
                          <a:solidFill>
                            <a:schemeClr val="dk1"/>
                          </a:solidFill>
                          <a:latin typeface="Century Gothic"/>
                          <a:ea typeface="Century Gothic"/>
                          <a:cs typeface="Century Gothic"/>
                          <a:sym typeface="Century Gothic"/>
                        </a:rPr>
                        <a:t>benchmarking helps companies focus on capabilities critical to building strategic advantage.</a:t>
                      </a:r>
                      <a:endParaRPr/>
                    </a:p>
                    <a:p>
                      <a:pPr indent="-90488" lvl="0" marL="90488" marR="0" rtl="0" algn="l">
                        <a:lnSpc>
                          <a:spcPct val="100000"/>
                        </a:lnSpc>
                        <a:spcBef>
                          <a:spcPts val="0"/>
                        </a:spcBef>
                        <a:spcAft>
                          <a:spcPts val="0"/>
                        </a:spcAft>
                        <a:buClr>
                          <a:schemeClr val="dk1"/>
                        </a:buClr>
                        <a:buSzPts val="900"/>
                        <a:buFont typeface="Arial"/>
                        <a:buChar char="•"/>
                      </a:pPr>
                      <a:r>
                        <a:rPr b="0" i="0" lang="en-GB" sz="900">
                          <a:solidFill>
                            <a:schemeClr val="dk1"/>
                          </a:solidFill>
                          <a:latin typeface="Century Gothic"/>
                          <a:ea typeface="Century Gothic"/>
                          <a:cs typeface="Century Gothic"/>
                          <a:sym typeface="Century Gothic"/>
                        </a:rPr>
                        <a:t>Increase the rate of </a:t>
                      </a:r>
                      <a:r>
                        <a:rPr b="1" i="0" lang="en-GB" sz="900">
                          <a:solidFill>
                            <a:schemeClr val="dk1"/>
                          </a:solidFill>
                          <a:latin typeface="Century Gothic"/>
                          <a:ea typeface="Century Gothic"/>
                          <a:cs typeface="Century Gothic"/>
                          <a:sym typeface="Century Gothic"/>
                        </a:rPr>
                        <a:t>organisational learning </a:t>
                      </a:r>
                      <a:r>
                        <a:rPr b="0" i="0" lang="en-GB" sz="900">
                          <a:solidFill>
                            <a:schemeClr val="dk1"/>
                          </a:solidFill>
                          <a:latin typeface="Century Gothic"/>
                          <a:ea typeface="Century Gothic"/>
                          <a:cs typeface="Century Gothic"/>
                          <a:sym typeface="Century Gothic"/>
                        </a:rPr>
                        <a:t>- benchmarking brings new ideas into the company and facilitates experience sharing.</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r>
                        <a:rPr sz="900"/>
                        <a:t/>
                      </a:r>
                    </a:p>
                    <a:p>
                      <a:r>
                        <a:rPr sz="900"/>
                        <a:t>Product performance scorecard vs. industry benchmarks</a:t>
                      </a:r>
                    </a:p>
                    <a:p>
                      <a:r>
                        <a:rPr sz="900"/>
                        <a:t>Gap analysis: identify underperforming products vs. peers</a:t>
                      </a:r>
                    </a:p>
                    <a:p>
                      <a:r>
                        <a:rPr sz="900"/>
                        <a:t>Actionable improvement targets for each product category</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6963" name="Google Shape;6963;p395"/>
          <p:cNvSpPr txBox="1"/>
          <p:nvPr>
            <p:ph type="title"/>
          </p:nvPr>
        </p:nvSpPr>
        <p:spPr>
          <a:xfrm>
            <a:off x="465138" y="298831"/>
            <a:ext cx="8229600" cy="704088"/>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Compare to Product Benchmarks</a:t>
            </a:r>
            <a:endParaRPr/>
          </a:p>
        </p:txBody>
      </p:sp>
      <p:pic>
        <p:nvPicPr>
          <p:cNvPr descr="BIZ-1042-L.jpg" id="6964" name="Google Shape;6964;p395"/>
          <p:cNvPicPr preferRelativeResize="0"/>
          <p:nvPr/>
        </p:nvPicPr>
        <p:blipFill rotWithShape="1">
          <a:blip r:embed="rId3">
            <a:alphaModFix/>
          </a:blip>
          <a:srcRect b="0" l="-8792" r="-8791" t="0"/>
          <a:stretch/>
        </p:blipFill>
        <p:spPr>
          <a:xfrm>
            <a:off x="5367314" y="803275"/>
            <a:ext cx="2994614" cy="1701800"/>
          </a:xfrm>
          <a:prstGeom prst="rect">
            <a:avLst/>
          </a:prstGeom>
          <a:noFill/>
          <a:ln>
            <a:noFill/>
          </a:ln>
        </p:spPr>
      </p:pic>
      <p:sp>
        <p:nvSpPr>
          <p:cNvPr id="6965" name="Google Shape;6965;p395">
            <a:hlinkClick action="ppaction://hlinksldjump" r:id="rId4"/>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Product Performance</a:t>
            </a:r>
            <a:endParaRPr sz="750">
              <a:solidFill>
                <a:schemeClr val="lt1"/>
              </a:solidFill>
              <a:latin typeface="Century Gothic"/>
              <a:ea typeface="Century Gothic"/>
              <a:cs typeface="Century Gothic"/>
              <a:sym typeface="Century Gothic"/>
            </a:endParaRPr>
          </a:p>
        </p:txBody>
      </p:sp>
      <p:grpSp>
        <p:nvGrpSpPr>
          <p:cNvPr id="6966" name="Google Shape;6966;p395"/>
          <p:cNvGrpSpPr/>
          <p:nvPr/>
        </p:nvGrpSpPr>
        <p:grpSpPr>
          <a:xfrm>
            <a:off x="7717533" y="4360377"/>
            <a:ext cx="1058348" cy="347375"/>
            <a:chOff x="7651698" y="4287227"/>
            <a:chExt cx="1058348" cy="347375"/>
          </a:xfrm>
        </p:grpSpPr>
        <p:grpSp>
          <p:nvGrpSpPr>
            <p:cNvPr id="6967" name="Google Shape;6967;p395"/>
            <p:cNvGrpSpPr/>
            <p:nvPr/>
          </p:nvGrpSpPr>
          <p:grpSpPr>
            <a:xfrm>
              <a:off x="7714163" y="4337598"/>
              <a:ext cx="995883" cy="297004"/>
              <a:chOff x="7711013" y="3986494"/>
              <a:chExt cx="995883" cy="297004"/>
            </a:xfrm>
          </p:grpSpPr>
          <p:sp>
            <p:nvSpPr>
              <p:cNvPr id="6968" name="Google Shape;6968;p395"/>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6969" name="Google Shape;6969;p395"/>
              <p:cNvGrpSpPr/>
              <p:nvPr/>
            </p:nvGrpSpPr>
            <p:grpSpPr>
              <a:xfrm>
                <a:off x="7711013" y="4002615"/>
                <a:ext cx="281520" cy="241973"/>
                <a:chOff x="5652748" y="4066000"/>
                <a:chExt cx="906498" cy="747974"/>
              </a:xfrm>
            </p:grpSpPr>
            <p:sp>
              <p:nvSpPr>
                <p:cNvPr id="6970" name="Google Shape;6970;p395"/>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6971" name="Google Shape;6971;p395"/>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6972" name="Google Shape;6972;p395"/>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6973" name="Google Shape;6973;p395">
              <a:hlinkClick action="ppaction://hlinksldjump" r:id="rId5"/>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8" name="Shape 6978"/>
        <p:cNvGrpSpPr/>
        <p:nvPr/>
      </p:nvGrpSpPr>
      <p:grpSpPr>
        <a:xfrm>
          <a:off x="0" y="0"/>
          <a:ext cx="0" cy="0"/>
          <a:chOff x="0" y="0"/>
          <a:chExt cx="0" cy="0"/>
        </a:xfrm>
      </p:grpSpPr>
      <p:graphicFrame>
        <p:nvGraphicFramePr>
          <p:cNvPr id="6979" name="Google Shape;6979;p396"/>
          <p:cNvGraphicFramePr/>
          <p:nvPr/>
        </p:nvGraphicFramePr>
        <p:xfrm>
          <a:off x="469899" y="789217"/>
          <a:ext cx="3000000" cy="3000000"/>
        </p:xfrm>
        <a:graphic>
          <a:graphicData uri="http://schemas.openxmlformats.org/drawingml/2006/table">
            <a:tbl>
              <a:tblPr bandRow="1" firstRow="1">
                <a:noFill/>
                <a:tableStyleId>{D098BFCB-6916-41F2-A2A5-0DF0D5139B6F}</a:tableStyleId>
              </a:tblPr>
              <a:tblGrid>
                <a:gridCol w="130325"/>
                <a:gridCol w="556275"/>
                <a:gridCol w="367500"/>
                <a:gridCol w="3170075"/>
                <a:gridCol w="3276050"/>
                <a:gridCol w="477150"/>
                <a:gridCol w="477150"/>
              </a:tblGrid>
              <a:tr h="180850">
                <a:tc gridSpan="3">
                  <a:txBody>
                    <a:bodyPr/>
                    <a:lstStyle/>
                    <a:p>
                      <a:pPr indent="0" lvl="0" marL="0" marR="0" rtl="0" algn="ctr">
                        <a:spcBef>
                          <a:spcPts val="0"/>
                        </a:spcBef>
                        <a:spcAft>
                          <a:spcPts val="0"/>
                        </a:spcAft>
                        <a:buNone/>
                      </a:pPr>
                      <a:r>
                        <a:rPr b="1" lang="en-GB" sz="1200">
                          <a:solidFill>
                            <a:schemeClr val="dk2"/>
                          </a:solidFill>
                        </a:rPr>
                        <a:t>Level</a:t>
                      </a:r>
                      <a:endParaRPr b="1" sz="12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hMerge="1">
                  <a:txBody>
                    <a:bodyPr/>
                    <a:p/>
                  </a:txBody>
                </a:tc>
                <a:tc gridSpan="2">
                  <a:txBody>
                    <a:bodyPr/>
                    <a:lstStyle/>
                    <a:p>
                      <a:pPr indent="0" lvl="0" marL="0" marR="0" rtl="0" algn="ctr">
                        <a:lnSpc>
                          <a:spcPct val="100000"/>
                        </a:lnSpc>
                        <a:spcBef>
                          <a:spcPts val="0"/>
                        </a:spcBef>
                        <a:spcAft>
                          <a:spcPts val="0"/>
                        </a:spcAft>
                        <a:buClr>
                          <a:schemeClr val="dk2"/>
                        </a:buClr>
                        <a:buSzPts val="1200"/>
                        <a:buFont typeface="Century Gothic"/>
                        <a:buNone/>
                      </a:pPr>
                      <a:r>
                        <a:rPr b="1" lang="en-GB" sz="1200">
                          <a:solidFill>
                            <a:schemeClr val="dk2"/>
                          </a:solidFill>
                        </a:rPr>
                        <a:t>Maturity Statement</a:t>
                      </a:r>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rPr b="1" lang="en-GB" sz="800">
                          <a:solidFill>
                            <a:schemeClr val="dk2"/>
                          </a:solidFill>
                        </a:rPr>
                        <a:t>Current</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rPr b="1" lang="en-GB" sz="800">
                          <a:solidFill>
                            <a:schemeClr val="dk2"/>
                          </a:solidFill>
                        </a:rPr>
                        <a:t>Desired</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3385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06C1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Leading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spcBef>
                          <a:spcPts val="0"/>
                        </a:spcBef>
                        <a:spcAft>
                          <a:spcPts val="0"/>
                        </a:spcAft>
                        <a:buNone/>
                      </a:pPr>
                      <a:r>
                        <a:rPr lang="en-GB" sz="900"/>
                        <a:t>Primary mission of the business to achieve operational excellence with benchmarking taking a strategic role in driving business innovation. Numerous mechanisms to generate active feedback to improve products and services.</a:t>
                      </a:r>
                      <a:endParaRPr sz="900"/>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3385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F7513"/>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Innovating</a:t>
                      </a:r>
                      <a:endParaRPr/>
                    </a:p>
                    <a:p>
                      <a:pPr indent="0" lvl="0" marL="0" marR="0" rtl="0" algn="ctr">
                        <a:spcBef>
                          <a:spcPts val="0"/>
                        </a:spcBef>
                        <a:spcAft>
                          <a:spcPts val="0"/>
                        </a:spcAft>
                        <a:buNone/>
                      </a:pPr>
                      <a:r>
                        <a:t/>
                      </a:r>
                      <a:endParaRPr b="1" sz="1000">
                        <a:solidFill>
                          <a:schemeClr val="dk2"/>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spcBef>
                          <a:spcPts val="0"/>
                        </a:spcBef>
                        <a:spcAft>
                          <a:spcPts val="0"/>
                        </a:spcAft>
                        <a:buNone/>
                      </a:pPr>
                      <a:r>
                        <a:rPr lang="en-GB" sz="900"/>
                        <a:t>Significant effort invested</a:t>
                      </a:r>
                      <a:r>
                        <a:rPr lang="en-GB" sz="900"/>
                        <a:t> across the product lifecycle for tracking and managing KPIs with feedback actively considered and acted upon.</a:t>
                      </a:r>
                      <a:endParaRPr sz="900"/>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3385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C891C"/>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Practicing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spcBef>
                          <a:spcPts val="0"/>
                        </a:spcBef>
                        <a:spcAft>
                          <a:spcPts val="0"/>
                        </a:spcAft>
                        <a:buNone/>
                      </a:pPr>
                      <a:r>
                        <a:rPr lang="en-GB" sz="900"/>
                        <a:t>Proactive</a:t>
                      </a:r>
                      <a:r>
                        <a:rPr lang="en-GB" sz="900"/>
                        <a:t> and c</a:t>
                      </a:r>
                      <a:r>
                        <a:rPr lang="en-GB" sz="900"/>
                        <a:t>ontinuous feedback on significant KPIs across the product and channel range.</a:t>
                      </a:r>
                      <a:endParaRPr sz="900"/>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lnSpc>
                          <a:spcPct val="100000"/>
                        </a:lnSpc>
                        <a:spcBef>
                          <a:spcPts val="0"/>
                        </a:spcBef>
                        <a:spcAft>
                          <a:spcPts val="0"/>
                        </a:spcAft>
                        <a:buClr>
                          <a:schemeClr val="dk1"/>
                        </a:buClr>
                        <a:buSzPts val="1400"/>
                        <a:buFont typeface="Century Gothic"/>
                        <a:buNone/>
                      </a:pPr>
                      <a:r>
                        <a:t/>
                      </a:r>
                      <a:endParaRPr sz="1400">
                        <a:solidFill>
                          <a:schemeClr val="dk1"/>
                        </a:solidFill>
                        <a:latin typeface="Noto Sans Symbols"/>
                        <a:ea typeface="Noto Sans Symbols"/>
                        <a:cs typeface="Noto Sans Symbols"/>
                        <a:sym typeface="Noto Sans Symbols"/>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3385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E9B4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Developing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spcBef>
                          <a:spcPts val="0"/>
                        </a:spcBef>
                        <a:spcAft>
                          <a:spcPts val="0"/>
                        </a:spcAft>
                        <a:buNone/>
                      </a:pPr>
                      <a:r>
                        <a:rPr lang="en-GB" sz="900"/>
                        <a:t>Ad-hoc collection of feedback from the marketplace to inform product design and change. Typically to solve known issues and dealing with daily or regular processes and tasks.</a:t>
                      </a:r>
                      <a:endParaRPr sz="900"/>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3385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F1AE65"/>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Emerging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spcBef>
                          <a:spcPts val="0"/>
                        </a:spcBef>
                        <a:spcAft>
                          <a:spcPts val="0"/>
                        </a:spcAft>
                        <a:buNone/>
                      </a:pPr>
                      <a:r>
                        <a:rPr lang="en-GB" sz="900"/>
                        <a:t>Products and services are benchmarked against internal metrics</a:t>
                      </a:r>
                      <a:r>
                        <a:rPr lang="en-GB" sz="900"/>
                        <a:t> </a:t>
                      </a:r>
                      <a:r>
                        <a:rPr lang="en-GB" sz="900"/>
                        <a:t>with no formal mechanisms to identify feedback</a:t>
                      </a:r>
                      <a:r>
                        <a:rPr lang="en-GB" sz="900"/>
                        <a:t> from the marketplace.</a:t>
                      </a:r>
                      <a:endParaRPr sz="900"/>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178750">
                <a:tc gridSpan="3">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Priority</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hMerge="1">
                  <a:txBody>
                    <a:bodyPr/>
                    <a:p/>
                  </a:txBody>
                </a:tc>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Key areas for improvement</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Benefits from uplift</a:t>
                      </a:r>
                      <a:endParaRPr b="1" sz="1000">
                        <a:solidFill>
                          <a:schemeClr val="dk2"/>
                        </a:solidFill>
                        <a:latin typeface="Century Gothic"/>
                        <a:ea typeface="Century Gothic"/>
                        <a:cs typeface="Century Gothic"/>
                        <a:sym typeface="Century Gothic"/>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a:txBody>
                    <a:bodyPr/>
                    <a:lstStyle/>
                    <a:p>
                      <a:pPr indent="0" lvl="0" marL="0" marR="0" rtl="0" algn="ctr">
                        <a:spcBef>
                          <a:spcPts val="0"/>
                        </a:spcBef>
                        <a:spcAft>
                          <a:spcPts val="0"/>
                        </a:spcAft>
                        <a:buNone/>
                      </a:pPr>
                      <a:r>
                        <a:rPr b="1" lang="en-GB" sz="1000">
                          <a:solidFill>
                            <a:schemeClr val="dk2"/>
                          </a:solidFill>
                        </a:rPr>
                        <a:t>Timeframe</a:t>
                      </a:r>
                      <a:endParaRPr b="1" sz="1000">
                        <a:solidFill>
                          <a:schemeClr val="dk2"/>
                        </a:solidFill>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r>
              <a:tr h="243275">
                <a:tc gridSpan="2">
                  <a:txBody>
                    <a:bodyPr/>
                    <a:lstStyle/>
                    <a:p>
                      <a:pPr indent="0" lvl="0" marL="0" marR="0" rtl="0" algn="ctr">
                        <a:spcBef>
                          <a:spcPts val="0"/>
                        </a:spcBef>
                        <a:spcAft>
                          <a:spcPts val="0"/>
                        </a:spcAft>
                        <a:buNone/>
                      </a:pPr>
                      <a:r>
                        <a:rPr b="1" lang="en-GB" sz="800">
                          <a:solidFill>
                            <a:schemeClr val="dk1"/>
                          </a:solidFill>
                        </a:rPr>
                        <a:t>High</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rPr lang="en-GB" sz="1000">
                          <a:solidFill>
                            <a:schemeClr val="dk1"/>
                          </a:solidFill>
                          <a:latin typeface="Noto Sans Symbols"/>
                          <a:ea typeface="Noto Sans Symbols"/>
                          <a:cs typeface="Noto Sans Symbols"/>
                          <a:sym typeface="Noto Sans Symbols"/>
                        </a:rPr>
                        <a:t>✔</a:t>
                      </a:r>
                      <a:endParaRPr b="1" sz="10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0" lvl="0" marL="0" marR="0" rtl="0" algn="l">
                        <a:lnSpc>
                          <a:spcPct val="100000"/>
                        </a:lnSpc>
                        <a:spcBef>
                          <a:spcPts val="0"/>
                        </a:spcBef>
                        <a:spcAft>
                          <a:spcPts val="0"/>
                        </a:spcAft>
                        <a:buClr>
                          <a:schemeClr val="dk1"/>
                        </a:buClr>
                        <a:buSzPts val="800"/>
                        <a:buFont typeface="Arial"/>
                        <a:buNone/>
                      </a:pPr>
                      <a:r>
                        <a:rPr sz="800" b="0">
                          <a:latin typeface="Century Gothic"/>
                        </a:rPr>
                        <a:t>Pakistan priority improvements:</a:t>
                      </a:r>
                      <a:endParaRPr/>
                    </a:p>
                    <a:p>
                      <a:r>
                        <a:rPr sz="800" b="0">
                          <a:latin typeface="Century Gothic"/>
                        </a:rPr>
                        <a:t>SBP industry data integration for automated product benchmarking</a:t>
                      </a:r>
                    </a:p>
                    <a:p>
                      <a:r>
                        <a:rPr sz="800" b="0">
                          <a:latin typeface="Century Gothic"/>
                        </a:rPr>
                        <a:t>Peer group comparison (top 5/10 banks) across all product categories</a:t>
                      </a:r>
                    </a:p>
                    <a:p>
                      <a:r>
                        <a:rPr sz="800" b="0">
                          <a:latin typeface="Century Gothic"/>
                        </a:rPr>
                        <a:t>International benchmarking: Gulf, SE Asian, global digital banks</a:t>
                      </a:r>
                    </a:p>
                    <a:p>
                      <a:r>
                        <a:rPr sz="800" b="0">
                          <a:latin typeface="Century Gothic"/>
                        </a:rPr>
                        <a:t>Fintech competitor benchmarking (JazzCash, Easypaisa, SadaPay, NayaPay)</a:t>
                      </a:r>
                    </a:p>
                    <a:p>
                      <a:r>
                        <a:rPr sz="800" b="0">
                          <a:latin typeface="Century Gothic"/>
                        </a:rPr>
                        <a:t>CASA ratio, card activation, digital adoption, products per customer benchmarks</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285750" lvl="0" marL="285750" marR="0" rtl="0" algn="l">
                        <a:spcBef>
                          <a:spcPts val="0"/>
                        </a:spcBef>
                        <a:spcAft>
                          <a:spcPts val="0"/>
                        </a:spcAft>
                        <a:buClr>
                          <a:schemeClr val="dk1"/>
                        </a:buClr>
                        <a:buSzPts val="800"/>
                        <a:buFont typeface="Arial"/>
                        <a:buChar char="•"/>
                      </a:pPr>
                      <a:r>
                        <a:rPr sz="800">
                          <a:latin typeface="Century Gothic"/>
                        </a:rPr>
                        <a:t>Automated product performance scorecard vs. industry benchmarks</a:t>
                      </a:r>
                      <a:endParaRPr/>
                    </a:p>
                    <a:p>
                      <a:r>
                        <a:rPr sz="800">
                          <a:latin typeface="Century Gothic"/>
                        </a:rPr>
                        <a:t>Identified underperformance gaps with actionable improvement targets</a:t>
                      </a:r>
                    </a:p>
                    <a:p>
                      <a:r>
                        <a:rPr sz="800">
                          <a:latin typeface="Century Gothic"/>
                        </a:rPr>
                        <a:t>Competitive positioning clarity across all product categories</a:t>
                      </a:r>
                    </a:p>
                    <a:p>
                      <a:r>
                        <a:rPr sz="800">
                          <a:latin typeface="Century Gothic"/>
                        </a:rPr>
                        <a:t>Board-ready benchmark reports supporting strategic product decisions</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rowSpan="3">
                  <a:txBody>
                    <a:bodyPr/>
                    <a:lstStyle/>
                    <a:p>
                      <a:pPr indent="0" lvl="0" marL="0" marR="0" rtl="0" algn="ctr">
                        <a:lnSpc>
                          <a:spcPct val="100000"/>
                        </a:lnSpc>
                        <a:spcBef>
                          <a:spcPts val="0"/>
                        </a:spcBef>
                        <a:spcAft>
                          <a:spcPts val="0"/>
                        </a:spcAft>
                        <a:buClr>
                          <a:schemeClr val="dk1"/>
                        </a:buClr>
                        <a:buSzPts val="800"/>
                        <a:buFont typeface="Century Gothic"/>
                        <a:buNone/>
                      </a:pPr>
                      <a:r>
                        <a:rPr b="0" lang="en-GB" sz="800">
                          <a:solidFill>
                            <a:schemeClr val="dk1"/>
                          </a:solidFill>
                        </a:rPr>
                        <a:t>2025-2027</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hMerge="1">
                  <a:txBody>
                    <a:bodyPr/>
                    <a:p/>
                  </a:txBody>
                </a:tc>
              </a:tr>
              <a:tr h="243275">
                <a:tc gridSpan="2">
                  <a:txBody>
                    <a:bodyPr/>
                    <a:lstStyle/>
                    <a:p>
                      <a:pPr indent="0" lvl="0" marL="0" marR="0" rtl="0" algn="ctr">
                        <a:spcBef>
                          <a:spcPts val="0"/>
                        </a:spcBef>
                        <a:spcAft>
                          <a:spcPts val="0"/>
                        </a:spcAft>
                        <a:buNone/>
                      </a:pPr>
                      <a:r>
                        <a:rPr b="1" lang="en-GB" sz="800">
                          <a:solidFill>
                            <a:schemeClr val="dk1"/>
                          </a:solidFill>
                        </a:rPr>
                        <a:t>Medium</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xBody>
                    <a:bodyPr/>
                    <a:p/>
                  </a:txBody>
                </a:tc>
                <a:tc vMerge="1">
                  <a:txBody>
                    <a:bodyPr/>
                    <a:p/>
                  </a:txBody>
                </a:tc>
                <a:tc gridSpan="2" vMerge="1">
                  <a:txBody>
                    <a:bodyPr/>
                    <a:p/>
                  </a:txBody>
                </a:tc>
                <a:tc hMerge="1" vMerge="1">
                  <a:txBody>
                    <a:bodyPr/>
                    <a:p/>
                  </a:txBody>
                </a:tc>
              </a:tr>
              <a:tr h="243275">
                <a:tc gridSpan="2">
                  <a:txBody>
                    <a:bodyPr/>
                    <a:lstStyle/>
                    <a:p>
                      <a:pPr indent="0" lvl="0" marL="0" marR="0" rtl="0" algn="ctr">
                        <a:spcBef>
                          <a:spcPts val="0"/>
                        </a:spcBef>
                        <a:spcAft>
                          <a:spcPts val="0"/>
                        </a:spcAft>
                        <a:buNone/>
                      </a:pPr>
                      <a:r>
                        <a:rPr b="1" lang="en-GB" sz="800">
                          <a:solidFill>
                            <a:schemeClr val="dk1"/>
                          </a:solidFill>
                        </a:rPr>
                        <a:t>Low</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xBody>
                    <a:bodyPr/>
                    <a:p/>
                  </a:txBody>
                </a:tc>
                <a:tc vMerge="1">
                  <a:txBody>
                    <a:bodyPr/>
                    <a:p/>
                  </a:txBody>
                </a:tc>
                <a:tc gridSpan="2" vMerge="1">
                  <a:txBody>
                    <a:bodyPr/>
                    <a:p/>
                  </a:txBody>
                </a:tc>
                <a:tc hMerge="1" vMerge="1">
                  <a:txBody>
                    <a:bodyPr/>
                    <a:p/>
                  </a:txBody>
                </a:tc>
              </a:tr>
            </a:tbl>
          </a:graphicData>
        </a:graphic>
      </p:graphicFrame>
      <p:grpSp>
        <p:nvGrpSpPr>
          <p:cNvPr id="6980" name="Google Shape;6980;p396"/>
          <p:cNvGrpSpPr/>
          <p:nvPr/>
        </p:nvGrpSpPr>
        <p:grpSpPr>
          <a:xfrm>
            <a:off x="469900" y="3819680"/>
            <a:ext cx="8455025" cy="732866"/>
            <a:chOff x="211138" y="3972860"/>
            <a:chExt cx="8713787" cy="642437"/>
          </a:xfrm>
        </p:grpSpPr>
        <p:sp>
          <p:nvSpPr>
            <p:cNvPr id="6981" name="Google Shape;6981;p396"/>
            <p:cNvSpPr/>
            <p:nvPr/>
          </p:nvSpPr>
          <p:spPr>
            <a:xfrm>
              <a:off x="211138" y="3972860"/>
              <a:ext cx="8713787" cy="642437"/>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6982" name="Google Shape;6982;p396"/>
            <p:cNvSpPr/>
            <p:nvPr/>
          </p:nvSpPr>
          <p:spPr>
            <a:xfrm>
              <a:off x="3692726" y="3982349"/>
              <a:ext cx="1753883" cy="632948"/>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grpSp>
        <p:nvGrpSpPr>
          <p:cNvPr id="6983" name="Google Shape;6983;p396"/>
          <p:cNvGrpSpPr/>
          <p:nvPr/>
        </p:nvGrpSpPr>
        <p:grpSpPr>
          <a:xfrm>
            <a:off x="7971865" y="980278"/>
            <a:ext cx="949325" cy="2867825"/>
            <a:chOff x="7941888" y="1062037"/>
            <a:chExt cx="983037" cy="2695575"/>
          </a:xfrm>
        </p:grpSpPr>
        <p:sp>
          <p:nvSpPr>
            <p:cNvPr id="6984" name="Google Shape;6984;p396"/>
            <p:cNvSpPr/>
            <p:nvPr/>
          </p:nvSpPr>
          <p:spPr>
            <a:xfrm>
              <a:off x="7941889" y="1062037"/>
              <a:ext cx="983036" cy="2695575"/>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6985" name="Google Shape;6985;p396"/>
            <p:cNvSpPr/>
            <p:nvPr/>
          </p:nvSpPr>
          <p:spPr>
            <a:xfrm>
              <a:off x="7941888" y="2052586"/>
              <a:ext cx="983037" cy="714476"/>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sp>
        <p:nvSpPr>
          <p:cNvPr id="6986" name="Google Shape;6986;p396"/>
          <p:cNvSpPr txBox="1"/>
          <p:nvPr>
            <p:ph type="title"/>
          </p:nvPr>
        </p:nvSpPr>
        <p:spPr>
          <a:xfrm>
            <a:off x="457200" y="173736"/>
            <a:ext cx="8229600" cy="704088"/>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Compare to Product Benchmarks</a:t>
            </a:r>
            <a:endParaRPr/>
          </a:p>
        </p:txBody>
      </p:sp>
      <p:sp>
        <p:nvSpPr>
          <p:cNvPr id="6987" name="Google Shape;6987;p396">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Product Performance</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2" name="Shape 6992"/>
        <p:cNvGrpSpPr/>
        <p:nvPr/>
      </p:nvGrpSpPr>
      <p:grpSpPr>
        <a:xfrm>
          <a:off x="0" y="0"/>
          <a:ext cx="0" cy="0"/>
          <a:chOff x="0" y="0"/>
          <a:chExt cx="0" cy="0"/>
        </a:xfrm>
      </p:grpSpPr>
      <p:cxnSp>
        <p:nvCxnSpPr>
          <p:cNvPr id="6993" name="Google Shape;6993;p397"/>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graphicFrame>
        <p:nvGraphicFramePr>
          <p:cNvPr id="6994" name="Google Shape;6994;p397"/>
          <p:cNvGraphicFramePr/>
          <p:nvPr/>
        </p:nvGraphicFramePr>
        <p:xfrm>
          <a:off x="494418" y="823650"/>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b="1" sz="1400">
                        <a:solidFill>
                          <a:schemeClr val="dk2"/>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lnSpc>
                          <a:spcPct val="100000"/>
                        </a:lnSpc>
                        <a:spcBef>
                          <a:spcPts val="0"/>
                        </a:spcBef>
                        <a:spcAft>
                          <a:spcPts val="0"/>
                        </a:spcAft>
                        <a:buClr>
                          <a:schemeClr val="dk1"/>
                        </a:buClr>
                        <a:buSzPts val="900"/>
                        <a:buFont typeface="Arial"/>
                        <a:buNone/>
                      </a:pPr>
                      <a:r>
                        <a:rPr b="1" lang="en-GB" sz="900">
                          <a:solidFill>
                            <a:schemeClr val="dk1"/>
                          </a:solidFill>
                        </a:rPr>
                        <a:t>Quantifying all product and services (P&amp;S) revenue, cost and risks to calculate the true profitability over time.</a:t>
                      </a:r>
                      <a:r>
                        <a:rPr b="0" lang="en-GB" sz="900">
                          <a:solidFill>
                            <a:schemeClr val="dk1"/>
                          </a:solidFill>
                        </a:rPr>
                        <a:t> </a:t>
                      </a:r>
                      <a:endParaRPr/>
                    </a:p>
                    <a:p>
                      <a:pPr indent="-87313" lvl="0" marL="87313" marR="0" rtl="0" algn="l">
                        <a:spcBef>
                          <a:spcPts val="0"/>
                        </a:spcBef>
                        <a:spcAft>
                          <a:spcPts val="0"/>
                        </a:spcAft>
                        <a:buClr>
                          <a:schemeClr val="dk1"/>
                        </a:buClr>
                        <a:buSzPts val="900"/>
                        <a:buFont typeface="Arial"/>
                        <a:buChar char="•"/>
                      </a:pPr>
                      <a:r>
                        <a:rPr b="0" lang="en-GB" sz="900">
                          <a:solidFill>
                            <a:schemeClr val="dk1"/>
                          </a:solidFill>
                        </a:rPr>
                        <a:t>Calculate product and segment Net Present Value (NPV)</a:t>
                      </a:r>
                      <a:r>
                        <a:rPr b="0" lang="en-GB" sz="900">
                          <a:solidFill>
                            <a:schemeClr val="dk1"/>
                          </a:solidFill>
                        </a:rPr>
                        <a:t> by understanding contribution of revenue, cost and risk.</a:t>
                      </a:r>
                      <a:endParaRPr b="0" sz="900">
                        <a:solidFill>
                          <a:schemeClr val="dk1"/>
                        </a:solidFill>
                      </a:endParaRPr>
                    </a:p>
                    <a:p>
                      <a:pPr indent="-87313" lvl="0" marL="87313" marR="0" rtl="0" algn="l">
                        <a:spcBef>
                          <a:spcPts val="0"/>
                        </a:spcBef>
                        <a:spcAft>
                          <a:spcPts val="0"/>
                        </a:spcAft>
                        <a:buClr>
                          <a:schemeClr val="dk1"/>
                        </a:buClr>
                        <a:buSzPts val="900"/>
                        <a:buFont typeface="Arial"/>
                        <a:buChar char="•"/>
                      </a:pPr>
                      <a:r>
                        <a:rPr b="0" lang="en-GB" sz="900">
                          <a:solidFill>
                            <a:schemeClr val="dk1"/>
                          </a:solidFill>
                        </a:rPr>
                        <a:t>Understand key drivers of profitability and calculate current and lifetime values.</a:t>
                      </a:r>
                      <a:endParaRPr/>
                    </a:p>
                    <a:p>
                      <a:pPr indent="-87313" lvl="0" marL="87313" marR="0" rtl="0" algn="l">
                        <a:spcBef>
                          <a:spcPts val="0"/>
                        </a:spcBef>
                        <a:spcAft>
                          <a:spcPts val="0"/>
                        </a:spcAft>
                        <a:buClr>
                          <a:schemeClr val="dk1"/>
                        </a:buClr>
                        <a:buSzPts val="900"/>
                        <a:buFont typeface="Arial"/>
                        <a:buChar char="•"/>
                      </a:pPr>
                      <a:r>
                        <a:rPr b="0" lang="en-GB" sz="900">
                          <a:solidFill>
                            <a:schemeClr val="dk1"/>
                          </a:solidFill>
                        </a:rPr>
                        <a:t>Develop robust and automated processes which produces</a:t>
                      </a:r>
                      <a:r>
                        <a:rPr b="0" lang="en-GB" sz="900">
                          <a:solidFill>
                            <a:schemeClr val="dk1"/>
                          </a:solidFill>
                        </a:rPr>
                        <a:t> results quickly.</a:t>
                      </a:r>
                      <a:endParaRPr/>
                    </a:p>
                    <a:p>
                      <a:pPr indent="-87313" lvl="0" marL="87313" marR="0" rtl="0" algn="l">
                        <a:spcBef>
                          <a:spcPts val="0"/>
                        </a:spcBef>
                        <a:spcAft>
                          <a:spcPts val="0"/>
                        </a:spcAft>
                        <a:buClr>
                          <a:schemeClr val="dk1"/>
                        </a:buClr>
                        <a:buSzPts val="900"/>
                        <a:buFont typeface="Arial"/>
                        <a:buChar char="•"/>
                      </a:pPr>
                      <a:r>
                        <a:rPr b="0" lang="en-GB" sz="900">
                          <a:solidFill>
                            <a:schemeClr val="dk1"/>
                          </a:solidFill>
                        </a:rPr>
                        <a:t>Reconciliation with Finance General Ledger.</a:t>
                      </a:r>
                      <a:endParaRPr/>
                    </a:p>
                    <a:p>
                      <a:pPr indent="-87313" lvl="0" marL="87313" marR="0" rtl="0" algn="l">
                        <a:spcBef>
                          <a:spcPts val="0"/>
                        </a:spcBef>
                        <a:spcAft>
                          <a:spcPts val="0"/>
                        </a:spcAft>
                        <a:buClr>
                          <a:schemeClr val="dk1"/>
                        </a:buClr>
                        <a:buSzPts val="900"/>
                        <a:buFont typeface="Arial"/>
                        <a:buChar char="•"/>
                      </a:pPr>
                      <a:r>
                        <a:rPr b="0" lang="en-GB" sz="900">
                          <a:solidFill>
                            <a:schemeClr val="dk1"/>
                          </a:solidFill>
                        </a:rPr>
                        <a:t>Track and monitor improvements in current profitability and future profitability projections, and incrementally improve models.</a:t>
                      </a:r>
                      <a:endParaRPr/>
                    </a:p>
                    <a:p>
                      <a:pPr indent="-87313" lvl="0" marL="87313" marR="0" rtl="0" algn="l">
                        <a:spcBef>
                          <a:spcPts val="0"/>
                        </a:spcBef>
                        <a:spcAft>
                          <a:spcPts val="0"/>
                        </a:spcAft>
                        <a:buClr>
                          <a:schemeClr val="dk1"/>
                        </a:buClr>
                        <a:buSzPts val="900"/>
                        <a:buFont typeface="Arial"/>
                        <a:buChar char="•"/>
                      </a:pPr>
                      <a:r>
                        <a:rPr b="0" lang="en-GB" sz="900">
                          <a:solidFill>
                            <a:schemeClr val="dk1"/>
                          </a:solidFill>
                        </a:rPr>
                        <a:t>Develop a set of product treatments to grow value.</a:t>
                      </a:r>
                      <a:endParaRPr/>
                    </a:p>
                    <a:p>
                      <a:pPr indent="-87313" lvl="0" marL="87313" marR="0" rtl="0" algn="l">
                        <a:spcBef>
                          <a:spcPts val="0"/>
                        </a:spcBef>
                        <a:spcAft>
                          <a:spcPts val="0"/>
                        </a:spcAft>
                        <a:buClr>
                          <a:schemeClr val="dk1"/>
                        </a:buClr>
                        <a:buSzPts val="900"/>
                        <a:buFont typeface="Arial"/>
                        <a:buChar char="•"/>
                      </a:pPr>
                      <a:r>
                        <a:rPr b="0" lang="en-GB" sz="900">
                          <a:solidFill>
                            <a:schemeClr val="dk1"/>
                          </a:solidFill>
                        </a:rPr>
                        <a:t>Monitor effectiveness of product strategy.</a:t>
                      </a:r>
                      <a:endParaRPr/>
                    </a:p>
                    <a:p>
                      <a:r>
                        <a:rPr sz="900"/>
                        <a:t/>
                      </a:r>
                    </a:p>
                    <a:p>
                      <a:r>
                        <a:rPr sz="900"/>
                        <a:t>Calculate true profitability: FTP-adjusted NII + fee income - direct costs - ABC-allocated costs - IFRS 9 provision</a:t>
                      </a:r>
                    </a:p>
                    <a:p>
                      <a:r>
                        <a:rPr sz="900"/>
                        <a:t>Cross-reference with File 08-09 Profitability Analytics — product profitability is one dimension</a:t>
                      </a:r>
                    </a:p>
                    <a:p>
                      <a:r>
                        <a:rPr sz="900"/>
                        <a:t>Pakistan insight: some 'popular' products may be unprofitable (basic savings PKR 100 min, free debit cards)</a:t>
                      </a:r>
                    </a:p>
                    <a:p>
                      <a:r>
                        <a:rPr sz="900"/>
                        <a:t>Analytics identifies cross-subsidy flows between product lines</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xBody>
                    <a:bodyPr/>
                    <a:p/>
                  </a:txBody>
                </a:tc>
                <a:tc vMerge="1">
                  <a:txBody>
                    <a:bodyPr/>
                    <a:p/>
                  </a:txBody>
                </a:tc>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p>
                      <a:r>
                        <a:rPr sz="800" b="1">
                          <a:solidFill>
                            <a:srgbClr val="006699"/>
                          </a:solidFill>
                        </a:rPr>
                        <a:t>FSDM: Retention_Score, Attrition_Risk, Customer_Value_Trend, Product_Holding_Change, Balance_Decline, Interaction_Frequency_Change</a:t>
                      </a:r>
                    </a:p>
                    <a:p>
                      <a:r>
                        <a:rPr sz="800" i="1">
                          <a:solidFill>
                            <a:srgbClr val="008040"/>
                          </a:solidFill>
                        </a:rPr>
                        <a:t>Pakistan: Deposit rate competition response, salary account switching, competitor mobile banking migration, Islamic banking conversion, government employee transfer-related product closure rate</a:t>
                      </a: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Detailed output from current profitability models.</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Customer, product and channel transaction data to calculate revenue, costs and risks.</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Detailed activity based costing data, including Cost of Funds.</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Product metadata (e.g. interest rates specifications).</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Propensity models (e.g. to buy, attrite, price elasticity)</a:t>
                      </a:r>
                      <a:endParaRPr/>
                    </a:p>
                    <a:p>
                      <a:pPr indent="0" lvl="0" marL="0" marR="0" rtl="0" algn="l">
                        <a:spcBef>
                          <a:spcPts val="0"/>
                        </a:spcBef>
                        <a:spcAft>
                          <a:spcPts val="0"/>
                        </a:spcAft>
                        <a:buClr>
                          <a:schemeClr val="dk1"/>
                        </a:buClr>
                        <a:buSzPts val="900"/>
                        <a:buFont typeface="Arial"/>
                        <a:buNone/>
                      </a:pPr>
                      <a:r>
                        <a:rPr b="1" lang="en-GB" sz="900">
                          <a:solidFill>
                            <a:schemeClr val="dk1"/>
                          </a:solidFill>
                        </a:rPr>
                        <a:t>Solution / Analytics</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Componentized analytical process to calculate profitability from atomic 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Monitor profitability over time</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Ability to drill in individual product profitability</a:t>
                      </a:r>
                      <a:endParaRPr/>
                    </a:p>
                    <a:p>
                      <a:r>
                        <a:rPr sz="800" b="1">
                          <a:solidFill>
                            <a:srgbClr val="006699"/>
                          </a:solidFill>
                        </a:rPr>
                        <a:t>FSDM: Retention_Score, Attrition_Risk, Customer_Value_Trend, Product_Holding_Change, Balance_Decline, Interaction_Frequency_Change</a:t>
                      </a:r>
                    </a:p>
                    <a:p>
                      <a:r>
                        <a:rPr sz="800" i="1">
                          <a:solidFill>
                            <a:srgbClr val="008040"/>
                          </a:solidFill>
                        </a:rPr>
                        <a:t>Pakistan: Deposit rate competition response, salary account switching, competitor mobile banking migration, Islamic banking conversion, government employee transfer-related product closure rate</a:t>
                      </a:r>
                    </a:p>
                    <a:p>
                      <a:r>
                        <a:rPr sz="900"/>
                        <a:t/>
                      </a:r>
                    </a:p>
                    <a:p>
                      <a:r>
                        <a:rPr sz="900"/>
                        <a:t>FSDM Customer Profitability Engine output aggregated to product level</a:t>
                      </a:r>
                    </a:p>
                    <a:p>
                      <a:r>
                        <a:rPr sz="900"/>
                        <a:t>FTP rates by product, ABC unit costs by product</a:t>
                      </a:r>
                    </a:p>
                    <a:p>
                      <a:r>
                        <a:rPr sz="900"/>
                        <a:t>IFRS 9 provision allocation by product category</a:t>
                      </a:r>
                    </a:p>
                    <a:p>
                      <a:r>
                        <a:rPr sz="900"/>
                        <a:t>Revenue and cost data: NII, fee income, interchange, operating costs</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Overall, increased profit per product.</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Drive product development to create more profitable propositions.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Identify products with the greatest potential for profitable future business.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Ability to effectively target retention spend and activities.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Identify and make profitable product recommendations quickly and easily.</a:t>
                      </a:r>
                      <a:endParaRPr/>
                    </a:p>
                    <a:p>
                      <a:r>
                        <a:rPr sz="900">
                          <a:latin typeface="Century Gothic"/>
                        </a:rPr>
                        <a:t/>
                      </a:r>
                    </a:p>
                    <a:p>
                      <a:r>
                        <a:rPr sz="900">
                          <a:latin typeface="Century Gothic"/>
                        </a:rPr>
                        <a:t>True product-level profitability revealing cross-subsidy flows</a:t>
                      </a:r>
                    </a:p>
                    <a:p>
                      <a:r>
                        <a:rPr sz="900">
                          <a:latin typeface="Century Gothic"/>
                        </a:rPr>
                        <a:t>Identify bottom 10% unprofitable products for repricing or sunset</a:t>
                      </a:r>
                    </a:p>
                    <a:p>
                      <a:r>
                        <a:rPr sz="900">
                          <a:latin typeface="Century Gothic"/>
                        </a:rPr>
                        <a:t>Product pricing optimization based on true cost-to-serve</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6995" name="Google Shape;6995;p397"/>
          <p:cNvSpPr txBox="1"/>
          <p:nvPr>
            <p:ph type="title"/>
          </p:nvPr>
        </p:nvSpPr>
        <p:spPr>
          <a:xfrm>
            <a:off x="457200" y="173736"/>
            <a:ext cx="8229600" cy="704088"/>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Manage Product Profitability</a:t>
            </a:r>
            <a:endParaRPr/>
          </a:p>
        </p:txBody>
      </p:sp>
      <p:pic>
        <p:nvPicPr>
          <p:cNvPr descr="BIZ-1059-L.jpg" id="6996" name="Google Shape;6996;p397"/>
          <p:cNvPicPr preferRelativeResize="0"/>
          <p:nvPr/>
        </p:nvPicPr>
        <p:blipFill rotWithShape="1">
          <a:blip r:embed="rId3">
            <a:alphaModFix/>
          </a:blip>
          <a:srcRect b="0" l="-8792" r="-8791" t="0"/>
          <a:stretch/>
        </p:blipFill>
        <p:spPr>
          <a:xfrm>
            <a:off x="5271467" y="603250"/>
            <a:ext cx="3381996" cy="1921944"/>
          </a:xfrm>
          <a:prstGeom prst="rect">
            <a:avLst/>
          </a:prstGeom>
          <a:noFill/>
          <a:ln>
            <a:noFill/>
          </a:ln>
        </p:spPr>
      </p:pic>
      <p:sp>
        <p:nvSpPr>
          <p:cNvPr id="6997" name="Google Shape;6997;p397">
            <a:hlinkClick action="ppaction://hlinksldjump" r:id="rId4"/>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Product Performance</a:t>
            </a:r>
            <a:endParaRPr sz="750">
              <a:solidFill>
                <a:schemeClr val="lt1"/>
              </a:solidFill>
              <a:latin typeface="Century Gothic"/>
              <a:ea typeface="Century Gothic"/>
              <a:cs typeface="Century Gothic"/>
              <a:sym typeface="Century Gothic"/>
            </a:endParaRPr>
          </a:p>
        </p:txBody>
      </p:sp>
      <p:grpSp>
        <p:nvGrpSpPr>
          <p:cNvPr id="6998" name="Google Shape;6998;p397"/>
          <p:cNvGrpSpPr/>
          <p:nvPr/>
        </p:nvGrpSpPr>
        <p:grpSpPr>
          <a:xfrm>
            <a:off x="7717533" y="4360377"/>
            <a:ext cx="1058348" cy="347375"/>
            <a:chOff x="7651698" y="4287227"/>
            <a:chExt cx="1058348" cy="347375"/>
          </a:xfrm>
        </p:grpSpPr>
        <p:grpSp>
          <p:nvGrpSpPr>
            <p:cNvPr id="6999" name="Google Shape;6999;p397"/>
            <p:cNvGrpSpPr/>
            <p:nvPr/>
          </p:nvGrpSpPr>
          <p:grpSpPr>
            <a:xfrm>
              <a:off x="7714163" y="4337598"/>
              <a:ext cx="995883" cy="297004"/>
              <a:chOff x="7711013" y="3986494"/>
              <a:chExt cx="995883" cy="297004"/>
            </a:xfrm>
          </p:grpSpPr>
          <p:sp>
            <p:nvSpPr>
              <p:cNvPr id="7000" name="Google Shape;7000;p397"/>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7001" name="Google Shape;7001;p397"/>
              <p:cNvGrpSpPr/>
              <p:nvPr/>
            </p:nvGrpSpPr>
            <p:grpSpPr>
              <a:xfrm>
                <a:off x="7711013" y="4002615"/>
                <a:ext cx="281520" cy="241973"/>
                <a:chOff x="5652748" y="4066000"/>
                <a:chExt cx="906498" cy="747974"/>
              </a:xfrm>
            </p:grpSpPr>
            <p:sp>
              <p:nvSpPr>
                <p:cNvPr id="7002" name="Google Shape;7002;p397"/>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7003" name="Google Shape;7003;p397"/>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7004" name="Google Shape;7004;p397"/>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7005" name="Google Shape;7005;p397">
              <a:hlinkClick action="ppaction://hlinksldjump" r:id="rId5"/>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0" name="Shape 7010"/>
        <p:cNvGrpSpPr/>
        <p:nvPr/>
      </p:nvGrpSpPr>
      <p:grpSpPr>
        <a:xfrm>
          <a:off x="0" y="0"/>
          <a:ext cx="0" cy="0"/>
          <a:chOff x="0" y="0"/>
          <a:chExt cx="0" cy="0"/>
        </a:xfrm>
      </p:grpSpPr>
      <p:graphicFrame>
        <p:nvGraphicFramePr>
          <p:cNvPr id="7011" name="Google Shape;7011;p398"/>
          <p:cNvGraphicFramePr/>
          <p:nvPr/>
        </p:nvGraphicFramePr>
        <p:xfrm>
          <a:off x="469899" y="789217"/>
          <a:ext cx="3000000" cy="3000000"/>
        </p:xfrm>
        <a:graphic>
          <a:graphicData uri="http://schemas.openxmlformats.org/drawingml/2006/table">
            <a:tbl>
              <a:tblPr bandRow="1" firstRow="1">
                <a:noFill/>
                <a:tableStyleId>{D098BFCB-6916-41F2-A2A5-0DF0D5139B6F}</a:tableStyleId>
              </a:tblPr>
              <a:tblGrid>
                <a:gridCol w="130325"/>
                <a:gridCol w="556275"/>
                <a:gridCol w="367500"/>
                <a:gridCol w="3170075"/>
                <a:gridCol w="3276050"/>
                <a:gridCol w="477150"/>
                <a:gridCol w="477150"/>
              </a:tblGrid>
              <a:tr h="180850">
                <a:tc gridSpan="3">
                  <a:txBody>
                    <a:bodyPr/>
                    <a:lstStyle/>
                    <a:p>
                      <a:pPr indent="0" lvl="0" marL="0" marR="0" rtl="0" algn="ctr">
                        <a:spcBef>
                          <a:spcPts val="0"/>
                        </a:spcBef>
                        <a:spcAft>
                          <a:spcPts val="0"/>
                        </a:spcAft>
                        <a:buNone/>
                      </a:pPr>
                      <a:r>
                        <a:rPr b="1" lang="en-GB" sz="1200">
                          <a:solidFill>
                            <a:schemeClr val="dk2"/>
                          </a:solidFill>
                        </a:rPr>
                        <a:t>Level</a:t>
                      </a:r>
                      <a:endParaRPr b="1" sz="12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hMerge="1">
                  <a:txBody>
                    <a:bodyPr/>
                    <a:p/>
                  </a:txBody>
                </a:tc>
                <a:tc gridSpan="2">
                  <a:txBody>
                    <a:bodyPr/>
                    <a:lstStyle/>
                    <a:p>
                      <a:pPr indent="0" lvl="0" marL="0" marR="0" rtl="0" algn="ctr">
                        <a:lnSpc>
                          <a:spcPct val="100000"/>
                        </a:lnSpc>
                        <a:spcBef>
                          <a:spcPts val="0"/>
                        </a:spcBef>
                        <a:spcAft>
                          <a:spcPts val="0"/>
                        </a:spcAft>
                        <a:buClr>
                          <a:schemeClr val="dk2"/>
                        </a:buClr>
                        <a:buSzPts val="1200"/>
                        <a:buFont typeface="Century Gothic"/>
                        <a:buNone/>
                      </a:pPr>
                      <a:r>
                        <a:rPr b="1" lang="en-GB" sz="1200">
                          <a:solidFill>
                            <a:schemeClr val="dk2"/>
                          </a:solidFill>
                        </a:rPr>
                        <a:t>Maturity Statement</a:t>
                      </a:r>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rPr b="1" lang="en-GB" sz="800">
                          <a:solidFill>
                            <a:schemeClr val="dk2"/>
                          </a:solidFill>
                        </a:rPr>
                        <a:t>Current</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rPr b="1" lang="en-GB" sz="800">
                          <a:solidFill>
                            <a:schemeClr val="dk2"/>
                          </a:solidFill>
                        </a:rPr>
                        <a:t>Desired</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3385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06C1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Leading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Full and automated future / lifetime value model for individual products which includes comprehensive coverage of:</a:t>
                      </a:r>
                      <a:endParaRPr/>
                    </a:p>
                    <a:p>
                      <a:pPr indent="-87313" lvl="0" marL="87313" marR="0" rtl="0" algn="l">
                        <a:lnSpc>
                          <a:spcPct val="100000"/>
                        </a:lnSpc>
                        <a:spcBef>
                          <a:spcPts val="0"/>
                        </a:spcBef>
                        <a:spcAft>
                          <a:spcPts val="0"/>
                        </a:spcAft>
                        <a:buClr>
                          <a:schemeClr val="dk1"/>
                        </a:buClr>
                        <a:buSzPts val="800"/>
                        <a:buFont typeface="Arial"/>
                        <a:buChar char="•"/>
                      </a:pPr>
                      <a:r>
                        <a:rPr b="0" lang="en-GB" sz="800">
                          <a:solidFill>
                            <a:schemeClr val="dk1"/>
                          </a:solidFill>
                          <a:latin typeface="Century Gothic"/>
                          <a:ea typeface="Century Gothic"/>
                          <a:cs typeface="Century Gothic"/>
                          <a:sym typeface="Century Gothic"/>
                        </a:rPr>
                        <a:t>Projected cash flows from existing product holdings.</a:t>
                      </a:r>
                      <a:endParaRPr/>
                    </a:p>
                    <a:p>
                      <a:pPr indent="-87313" lvl="0" marL="87313" marR="0" rtl="0" algn="l">
                        <a:lnSpc>
                          <a:spcPct val="100000"/>
                        </a:lnSpc>
                        <a:spcBef>
                          <a:spcPts val="0"/>
                        </a:spcBef>
                        <a:spcAft>
                          <a:spcPts val="0"/>
                        </a:spcAft>
                        <a:buClr>
                          <a:schemeClr val="dk1"/>
                        </a:buClr>
                        <a:buSzPts val="800"/>
                        <a:buFont typeface="Arial"/>
                        <a:buChar char="•"/>
                      </a:pPr>
                      <a:r>
                        <a:rPr b="0" lang="en-GB" sz="800">
                          <a:solidFill>
                            <a:schemeClr val="dk1"/>
                          </a:solidFill>
                          <a:latin typeface="Century Gothic"/>
                          <a:ea typeface="Century Gothic"/>
                          <a:cs typeface="Century Gothic"/>
                          <a:sym typeface="Century Gothic"/>
                        </a:rPr>
                        <a:t>Attrition models for existing product holdings.</a:t>
                      </a:r>
                      <a:endParaRPr/>
                    </a:p>
                    <a:p>
                      <a:pPr indent="-87313" lvl="0" marL="87313" marR="0" rtl="0" algn="l">
                        <a:lnSpc>
                          <a:spcPct val="100000"/>
                        </a:lnSpc>
                        <a:spcBef>
                          <a:spcPts val="0"/>
                        </a:spcBef>
                        <a:spcAft>
                          <a:spcPts val="0"/>
                        </a:spcAft>
                        <a:buClr>
                          <a:schemeClr val="dk1"/>
                        </a:buClr>
                        <a:buSzPts val="800"/>
                        <a:buFont typeface="Arial"/>
                        <a:buChar char="•"/>
                      </a:pPr>
                      <a:r>
                        <a:rPr b="0" lang="en-GB" sz="800">
                          <a:solidFill>
                            <a:schemeClr val="dk1"/>
                          </a:solidFill>
                          <a:latin typeface="Century Gothic"/>
                          <a:ea typeface="Century Gothic"/>
                          <a:cs typeface="Century Gothic"/>
                          <a:sym typeface="Century Gothic"/>
                        </a:rPr>
                        <a:t>Propensity to buy models for new products.</a:t>
                      </a:r>
                      <a:endParaRPr/>
                    </a:p>
                    <a:p>
                      <a:pPr indent="-87313" lvl="0" marL="87313" marR="0" rtl="0" algn="l">
                        <a:lnSpc>
                          <a:spcPct val="100000"/>
                        </a:lnSpc>
                        <a:spcBef>
                          <a:spcPts val="0"/>
                        </a:spcBef>
                        <a:spcAft>
                          <a:spcPts val="0"/>
                        </a:spcAft>
                        <a:buClr>
                          <a:schemeClr val="dk1"/>
                        </a:buClr>
                        <a:buSzPts val="800"/>
                        <a:buFont typeface="Arial"/>
                        <a:buChar char="•"/>
                      </a:pPr>
                      <a:r>
                        <a:rPr b="0" lang="en-GB" sz="800">
                          <a:solidFill>
                            <a:schemeClr val="dk1"/>
                          </a:solidFill>
                          <a:latin typeface="Century Gothic"/>
                          <a:ea typeface="Century Gothic"/>
                          <a:cs typeface="Century Gothic"/>
                          <a:sym typeface="Century Gothic"/>
                        </a:rPr>
                        <a:t>Behavioral usage models for non-contractual products.</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3385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F7513"/>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Innovating</a:t>
                      </a:r>
                      <a:endParaRPr/>
                    </a:p>
                    <a:p>
                      <a:pPr indent="0" lvl="0" marL="0" marR="0" rtl="0" algn="ctr">
                        <a:spcBef>
                          <a:spcPts val="0"/>
                        </a:spcBef>
                        <a:spcAft>
                          <a:spcPts val="0"/>
                        </a:spcAft>
                        <a:buNone/>
                      </a:pPr>
                      <a:r>
                        <a:t/>
                      </a:r>
                      <a:endParaRPr b="1" sz="1000">
                        <a:solidFill>
                          <a:schemeClr val="dk2"/>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Automated propensity models for some key products used to enhance product strategy with attrition models for existing product holdings, and propensity to buy models for new products.</a:t>
                      </a:r>
                      <a:endParaRPr/>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3385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C891C"/>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Practicing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spcBef>
                          <a:spcPts val="0"/>
                        </a:spcBef>
                        <a:spcAft>
                          <a:spcPts val="0"/>
                        </a:spcAft>
                        <a:buNone/>
                      </a:pPr>
                      <a:r>
                        <a:rPr b="0" lang="en-GB" sz="800">
                          <a:solidFill>
                            <a:schemeClr val="dk1"/>
                          </a:solidFill>
                          <a:latin typeface="Century Gothic"/>
                          <a:ea typeface="Century Gothic"/>
                          <a:cs typeface="Century Gothic"/>
                          <a:sym typeface="Century Gothic"/>
                        </a:rPr>
                        <a:t>Basic product-level NPV model for existing product holdings only.</a:t>
                      </a:r>
                      <a:endParaRPr sz="800"/>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lnSpc>
                          <a:spcPct val="100000"/>
                        </a:lnSpc>
                        <a:spcBef>
                          <a:spcPts val="0"/>
                        </a:spcBef>
                        <a:spcAft>
                          <a:spcPts val="0"/>
                        </a:spcAft>
                        <a:buClr>
                          <a:schemeClr val="dk1"/>
                        </a:buClr>
                        <a:buSzPts val="1400"/>
                        <a:buFont typeface="Century Gothic"/>
                        <a:buNone/>
                      </a:pPr>
                      <a:r>
                        <a:t/>
                      </a:r>
                      <a:endParaRPr sz="1400">
                        <a:solidFill>
                          <a:schemeClr val="dk1"/>
                        </a:solidFill>
                        <a:latin typeface="Noto Sans Symbols"/>
                        <a:ea typeface="Noto Sans Symbols"/>
                        <a:cs typeface="Noto Sans Symbols"/>
                        <a:sym typeface="Noto Sans Symbols"/>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3385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E9B4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Developing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Basic Excel-based NPV models for key products/segments using summarised results from current/historic profit model.</a:t>
                      </a:r>
                      <a:endParaRPr/>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3385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F1AE65"/>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Emerging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Basic NPV profitability models built in Excel using summarized data calculated on an ad-hoc basis.</a:t>
                      </a:r>
                      <a:endParaRPr/>
                    </a:p>
                    <a:p>
                      <a:pPr indent="0" lvl="0" marL="0" marR="0" rtl="0" algn="l">
                        <a:spcBef>
                          <a:spcPts val="0"/>
                        </a:spcBef>
                        <a:spcAft>
                          <a:spcPts val="0"/>
                        </a:spcAft>
                        <a:buNone/>
                      </a:pPr>
                      <a:r>
                        <a:t/>
                      </a:r>
                      <a:endParaRPr sz="800"/>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178750">
                <a:tc gridSpan="3">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Priority</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hMerge="1">
                  <a:txBody>
                    <a:bodyPr/>
                    <a:p/>
                  </a:txBody>
                </a:tc>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Key areas for improvement</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Benefits from uplift</a:t>
                      </a:r>
                      <a:endParaRPr b="1" sz="1000">
                        <a:solidFill>
                          <a:schemeClr val="dk2"/>
                        </a:solidFill>
                        <a:latin typeface="Century Gothic"/>
                        <a:ea typeface="Century Gothic"/>
                        <a:cs typeface="Century Gothic"/>
                        <a:sym typeface="Century Gothic"/>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a:txBody>
                    <a:bodyPr/>
                    <a:lstStyle/>
                    <a:p>
                      <a:pPr indent="0" lvl="0" marL="0" marR="0" rtl="0" algn="ctr">
                        <a:spcBef>
                          <a:spcPts val="0"/>
                        </a:spcBef>
                        <a:spcAft>
                          <a:spcPts val="0"/>
                        </a:spcAft>
                        <a:buNone/>
                      </a:pPr>
                      <a:r>
                        <a:rPr b="1" lang="en-GB" sz="1000">
                          <a:solidFill>
                            <a:schemeClr val="dk2"/>
                          </a:solidFill>
                        </a:rPr>
                        <a:t>Timeframe</a:t>
                      </a:r>
                      <a:endParaRPr b="1" sz="1000">
                        <a:solidFill>
                          <a:schemeClr val="dk2"/>
                        </a:solidFill>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r>
              <a:tr h="243275">
                <a:tc gridSpan="2">
                  <a:txBody>
                    <a:bodyPr/>
                    <a:lstStyle/>
                    <a:p>
                      <a:pPr indent="0" lvl="0" marL="0" marR="0" rtl="0" algn="ctr">
                        <a:spcBef>
                          <a:spcPts val="0"/>
                        </a:spcBef>
                        <a:spcAft>
                          <a:spcPts val="0"/>
                        </a:spcAft>
                        <a:buNone/>
                      </a:pPr>
                      <a:r>
                        <a:rPr b="1" lang="en-GB" sz="800">
                          <a:solidFill>
                            <a:schemeClr val="dk1"/>
                          </a:solidFill>
                        </a:rPr>
                        <a:t>High</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rPr lang="en-GB" sz="1000">
                          <a:solidFill>
                            <a:schemeClr val="dk1"/>
                          </a:solidFill>
                          <a:latin typeface="Noto Sans Symbols"/>
                          <a:ea typeface="Noto Sans Symbols"/>
                          <a:cs typeface="Noto Sans Symbols"/>
                          <a:sym typeface="Noto Sans Symbols"/>
                        </a:rPr>
                        <a:t>✔</a:t>
                      </a:r>
                      <a:endParaRPr b="1" sz="10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0" lvl="0" marL="0" marR="0" rtl="0" algn="l">
                        <a:lnSpc>
                          <a:spcPct val="100000"/>
                        </a:lnSpc>
                        <a:spcBef>
                          <a:spcPts val="0"/>
                        </a:spcBef>
                        <a:spcAft>
                          <a:spcPts val="0"/>
                        </a:spcAft>
                        <a:buClr>
                          <a:schemeClr val="dk1"/>
                        </a:buClr>
                        <a:buSzPts val="800"/>
                        <a:buFont typeface="Arial"/>
                        <a:buNone/>
                      </a:pPr>
                      <a:r>
                        <a:rPr sz="800" b="0">
                          <a:latin typeface="Century Gothic"/>
                        </a:rPr>
                        <a:t>Pakistan priority improvements:</a:t>
                      </a:r>
                      <a:endParaRPr/>
                    </a:p>
                    <a:p>
                      <a:r>
                        <a:rPr sz="800" b="0">
                          <a:latin typeface="Century Gothic"/>
                        </a:rPr>
                        <a:t>True product profitability: FTP-adjusted NII + fees - direct costs - ABC costs - IFRS 9 provision</a:t>
                      </a:r>
                    </a:p>
                    <a:p>
                      <a:r>
                        <a:rPr sz="800" b="0">
                          <a:latin typeface="Century Gothic"/>
                        </a:rPr>
                        <a:t>Cross-subsidy flow identification between product lines</a:t>
                      </a:r>
                    </a:p>
                    <a:p>
                      <a:r>
                        <a:rPr sz="800" b="0">
                          <a:latin typeface="Century Gothic"/>
                        </a:rPr>
                        <a:t>Islamic product profitability parity analysis (Islamic vs. conventional)</a:t>
                      </a:r>
                    </a:p>
                    <a:p>
                      <a:r>
                        <a:rPr sz="800" b="0">
                          <a:latin typeface="Century Gothic"/>
                        </a:rPr>
                        <a:t>Digital product profitability measurement (very low cost-to-serve)</a:t>
                      </a:r>
                    </a:p>
                    <a:p>
                      <a:r>
                        <a:rPr sz="800" b="0">
                          <a:latin typeface="Century Gothic"/>
                        </a:rPr>
                        <a:t>Integration with File 08-09 multi-dimensional profitability model</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285750" lvl="0" marL="285750" marR="0" rtl="0" algn="l">
                        <a:spcBef>
                          <a:spcPts val="0"/>
                        </a:spcBef>
                        <a:spcAft>
                          <a:spcPts val="0"/>
                        </a:spcAft>
                        <a:buClr>
                          <a:schemeClr val="dk1"/>
                        </a:buClr>
                        <a:buSzPts val="800"/>
                        <a:buFont typeface="Arial"/>
                        <a:buChar char="•"/>
                      </a:pPr>
                      <a:r>
                        <a:rPr sz="800">
                          <a:latin typeface="Century Gothic"/>
                        </a:rPr>
                        <a:t>True product P&amp;L revealing hidden unprofitable products</a:t>
                      </a:r>
                      <a:endParaRPr/>
                    </a:p>
                    <a:p>
                      <a:r>
                        <a:rPr sz="800">
                          <a:latin typeface="Century Gothic"/>
                        </a:rPr>
                        <a:t>Informed product pricing decisions based on actual cost-to-serve</a:t>
                      </a:r>
                    </a:p>
                    <a:p>
                      <a:r>
                        <a:rPr sz="800">
                          <a:latin typeface="Century Gothic"/>
                        </a:rPr>
                        <a:t>Product portfolio optimization reducing cross-subsidy leakage</a:t>
                      </a:r>
                    </a:p>
                    <a:p>
                      <a:r>
                        <a:rPr sz="800">
                          <a:latin typeface="Century Gothic"/>
                        </a:rPr>
                        <a:t>Board-level product profitability visibility for strategic decisions</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rowSpan="3">
                  <a:txBody>
                    <a:bodyPr/>
                    <a:lstStyle/>
                    <a:p>
                      <a:pPr indent="0" lvl="0" marL="0" marR="0" rtl="0" algn="ctr">
                        <a:lnSpc>
                          <a:spcPct val="100000"/>
                        </a:lnSpc>
                        <a:spcBef>
                          <a:spcPts val="0"/>
                        </a:spcBef>
                        <a:spcAft>
                          <a:spcPts val="0"/>
                        </a:spcAft>
                        <a:buClr>
                          <a:schemeClr val="dk1"/>
                        </a:buClr>
                        <a:buSzPts val="800"/>
                        <a:buFont typeface="Century Gothic"/>
                        <a:buNone/>
                      </a:pPr>
                      <a:r>
                        <a:rPr b="0" lang="en-GB" sz="800">
                          <a:solidFill>
                            <a:schemeClr val="dk1"/>
                          </a:solidFill>
                        </a:rPr>
                        <a:t>2025-2027</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hMerge="1">
                  <a:txBody>
                    <a:bodyPr/>
                    <a:p/>
                  </a:txBody>
                </a:tc>
              </a:tr>
              <a:tr h="243275">
                <a:tc gridSpan="2">
                  <a:txBody>
                    <a:bodyPr/>
                    <a:lstStyle/>
                    <a:p>
                      <a:pPr indent="0" lvl="0" marL="0" marR="0" rtl="0" algn="ctr">
                        <a:spcBef>
                          <a:spcPts val="0"/>
                        </a:spcBef>
                        <a:spcAft>
                          <a:spcPts val="0"/>
                        </a:spcAft>
                        <a:buNone/>
                      </a:pPr>
                      <a:r>
                        <a:rPr b="1" lang="en-GB" sz="800">
                          <a:solidFill>
                            <a:schemeClr val="dk1"/>
                          </a:solidFill>
                        </a:rPr>
                        <a:t>Medium</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xBody>
                    <a:bodyPr/>
                    <a:p/>
                  </a:txBody>
                </a:tc>
                <a:tc vMerge="1">
                  <a:txBody>
                    <a:bodyPr/>
                    <a:p/>
                  </a:txBody>
                </a:tc>
                <a:tc gridSpan="2" vMerge="1">
                  <a:txBody>
                    <a:bodyPr/>
                    <a:p/>
                  </a:txBody>
                </a:tc>
                <a:tc hMerge="1" vMerge="1">
                  <a:txBody>
                    <a:bodyPr/>
                    <a:p/>
                  </a:txBody>
                </a:tc>
              </a:tr>
              <a:tr h="243275">
                <a:tc gridSpan="2">
                  <a:txBody>
                    <a:bodyPr/>
                    <a:lstStyle/>
                    <a:p>
                      <a:pPr indent="0" lvl="0" marL="0" marR="0" rtl="0" algn="ctr">
                        <a:spcBef>
                          <a:spcPts val="0"/>
                        </a:spcBef>
                        <a:spcAft>
                          <a:spcPts val="0"/>
                        </a:spcAft>
                        <a:buNone/>
                      </a:pPr>
                      <a:r>
                        <a:rPr b="1" lang="en-GB" sz="800">
                          <a:solidFill>
                            <a:schemeClr val="dk1"/>
                          </a:solidFill>
                        </a:rPr>
                        <a:t>Low</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xBody>
                    <a:bodyPr/>
                    <a:p/>
                  </a:txBody>
                </a:tc>
                <a:tc vMerge="1">
                  <a:txBody>
                    <a:bodyPr/>
                    <a:p/>
                  </a:txBody>
                </a:tc>
                <a:tc gridSpan="2" vMerge="1">
                  <a:txBody>
                    <a:bodyPr/>
                    <a:p/>
                  </a:txBody>
                </a:tc>
                <a:tc hMerge="1" vMerge="1">
                  <a:txBody>
                    <a:bodyPr/>
                    <a:p/>
                  </a:txBody>
                </a:tc>
              </a:tr>
            </a:tbl>
          </a:graphicData>
        </a:graphic>
      </p:graphicFrame>
      <p:grpSp>
        <p:nvGrpSpPr>
          <p:cNvPr id="7012" name="Google Shape;7012;p398"/>
          <p:cNvGrpSpPr/>
          <p:nvPr/>
        </p:nvGrpSpPr>
        <p:grpSpPr>
          <a:xfrm>
            <a:off x="469900" y="3973792"/>
            <a:ext cx="8455025" cy="732866"/>
            <a:chOff x="211138" y="3972860"/>
            <a:chExt cx="8713787" cy="642437"/>
          </a:xfrm>
        </p:grpSpPr>
        <p:sp>
          <p:nvSpPr>
            <p:cNvPr id="7013" name="Google Shape;7013;p398"/>
            <p:cNvSpPr/>
            <p:nvPr/>
          </p:nvSpPr>
          <p:spPr>
            <a:xfrm>
              <a:off x="211138" y="3972860"/>
              <a:ext cx="8713787" cy="642437"/>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7014" name="Google Shape;7014;p398"/>
            <p:cNvSpPr/>
            <p:nvPr/>
          </p:nvSpPr>
          <p:spPr>
            <a:xfrm>
              <a:off x="3692726" y="3982349"/>
              <a:ext cx="1753883" cy="632948"/>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grpSp>
        <p:nvGrpSpPr>
          <p:cNvPr id="7015" name="Google Shape;7015;p398"/>
          <p:cNvGrpSpPr/>
          <p:nvPr/>
        </p:nvGrpSpPr>
        <p:grpSpPr>
          <a:xfrm>
            <a:off x="7971865" y="980278"/>
            <a:ext cx="949325" cy="3004339"/>
            <a:chOff x="7941888" y="1062037"/>
            <a:chExt cx="983037" cy="2695575"/>
          </a:xfrm>
        </p:grpSpPr>
        <p:sp>
          <p:nvSpPr>
            <p:cNvPr id="7016" name="Google Shape;7016;p398"/>
            <p:cNvSpPr/>
            <p:nvPr/>
          </p:nvSpPr>
          <p:spPr>
            <a:xfrm>
              <a:off x="7941889" y="1062037"/>
              <a:ext cx="983036" cy="2695575"/>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7017" name="Google Shape;7017;p398"/>
            <p:cNvSpPr/>
            <p:nvPr/>
          </p:nvSpPr>
          <p:spPr>
            <a:xfrm>
              <a:off x="7941888" y="2052586"/>
              <a:ext cx="983037" cy="714476"/>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sp>
        <p:nvSpPr>
          <p:cNvPr id="7018" name="Google Shape;7018;p398"/>
          <p:cNvSpPr txBox="1"/>
          <p:nvPr>
            <p:ph type="title"/>
          </p:nvPr>
        </p:nvSpPr>
        <p:spPr>
          <a:xfrm>
            <a:off x="457200" y="173736"/>
            <a:ext cx="8229600" cy="704088"/>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Manage Product Profitability</a:t>
            </a:r>
            <a:endParaRPr/>
          </a:p>
        </p:txBody>
      </p:sp>
      <p:sp>
        <p:nvSpPr>
          <p:cNvPr id="7019" name="Google Shape;7019;p398">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Product Performance</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4" name="Shape 7024"/>
        <p:cNvGrpSpPr/>
        <p:nvPr/>
      </p:nvGrpSpPr>
      <p:grpSpPr>
        <a:xfrm>
          <a:off x="0" y="0"/>
          <a:ext cx="0" cy="0"/>
          <a:chOff x="0" y="0"/>
          <a:chExt cx="0" cy="0"/>
        </a:xfrm>
      </p:grpSpPr>
      <p:graphicFrame>
        <p:nvGraphicFramePr>
          <p:cNvPr id="7025" name="Google Shape;7025;p399"/>
          <p:cNvGraphicFramePr/>
          <p:nvPr/>
        </p:nvGraphicFramePr>
        <p:xfrm>
          <a:off x="493889" y="842609"/>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b="1" sz="1400">
                        <a:solidFill>
                          <a:schemeClr val="dk2"/>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Determine and leverage insights or patterns derived from detailed data of customers' products and services (P&amp;S) usage to design and evolve products and promote pricing, range, promotions.</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Understand current customers and customers’ preferences &amp; priorities for products and services to find new opportunities for product design or change or find new ways to promote consumption or usage</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Infer customer behavioral personas as reflected by their purchase and usage patterns</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Develop, offer and track improved products and interaction approaches  to increase revenue and/or reduce cost-to-serve.</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Feed into modeling for product profitability and forecasting.</a:t>
                      </a:r>
                      <a:endParaRPr/>
                    </a:p>
                    <a:p>
                      <a:r>
                        <a:rPr sz="900"/>
                        <a:t/>
                      </a:r>
                    </a:p>
                    <a:p>
                      <a:r>
                        <a:rPr sz="900"/>
                        <a:t>Segment by product usage: heavy transactors (high RAAST/ATM), savers (FD-focused), borrowers (multiple lending)</a:t>
                      </a:r>
                    </a:p>
                    <a:p>
                      <a:r>
                        <a:rPr sz="900"/>
                        <a:t>Digital-first (mobile app primary), branch-loyal (branch-only), dormant (no activity 90+ days)</a:t>
                      </a:r>
                    </a:p>
                    <a:p>
                      <a:r>
                        <a:rPr sz="900"/>
                        <a:t>Islamic preference segmentation: Islamic-only vs. mixed vs. conventional-only customers</a:t>
                      </a:r>
                    </a:p>
                    <a:p>
                      <a:r>
                        <a:rPr sz="900"/>
                        <a:t>Product affinity segmentation: which product combinations predict high lifetime value?</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xBody>
                    <a:bodyPr/>
                    <a:p/>
                  </a:txBody>
                </a:tc>
                <a:tc vMerge="1">
                  <a:txBody>
                    <a:bodyPr/>
                    <a:p/>
                  </a:txBody>
                </a:tc>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p>
                      <a:r>
                        <a:rPr sz="800" b="1">
                          <a:solidFill>
                            <a:srgbClr val="006699"/>
                          </a:solidFill>
                        </a:rPr>
                        <a:t>FSDM: Party_Event, Event_Type, Event_Trigger, Behavioral_Event, Life_Event, Financial_Event</a:t>
                      </a:r>
                    </a:p>
                    <a:p>
                      <a:r>
                        <a:rPr sz="800" i="1">
                          <a:solidFill>
                            <a:srgbClr val="008040"/>
                          </a:solidFill>
                        </a:rPr>
                        <a:t>Pakistan: Salary credit events, utility payment patterns, Eid/Ramadan spending spikes, tax filing season triggers, CNIC expiry alerts, maturity renewal events</a:t>
                      </a: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Usage and purchase transactions granular data over time and space</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Online and offline interactions, call patterns, recency and frequency of purchase data, types of use</a:t>
                      </a:r>
                      <a:endParaRPr/>
                    </a:p>
                    <a:p>
                      <a:pPr indent="-179388" lvl="0" marL="179388" marR="0" rtl="0" algn="l">
                        <a:lnSpc>
                          <a:spcPct val="100000"/>
                        </a:lnSpc>
                        <a:spcBef>
                          <a:spcPts val="0"/>
                        </a:spcBef>
                        <a:spcAft>
                          <a:spcPts val="0"/>
                        </a:spcAft>
                        <a:buClr>
                          <a:schemeClr val="dk1"/>
                        </a:buClr>
                        <a:buSzPts val="900"/>
                        <a:buFont typeface="Arial"/>
                        <a:buChar char="•"/>
                      </a:pPr>
                      <a:r>
                        <a:rPr lang="en-GB" sz="900">
                          <a:solidFill>
                            <a:schemeClr val="dk1"/>
                          </a:solidFill>
                        </a:rPr>
                        <a:t>Customer demographics and segmentation and Customer/product 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Social media data </a:t>
                      </a:r>
                      <a:endParaRPr/>
                    </a:p>
                    <a:p>
                      <a:pPr indent="0" lvl="0" marL="0" marR="0" rtl="0" algn="l">
                        <a:spcBef>
                          <a:spcPts val="0"/>
                        </a:spcBef>
                        <a:spcAft>
                          <a:spcPts val="0"/>
                        </a:spcAft>
                        <a:buClr>
                          <a:schemeClr val="dk1"/>
                        </a:buClr>
                        <a:buSzPts val="900"/>
                        <a:buFont typeface="Arial"/>
                        <a:buNone/>
                      </a:pPr>
                      <a:r>
                        <a:rPr b="1" lang="en-GB" sz="900">
                          <a:solidFill>
                            <a:schemeClr val="dk1"/>
                          </a:solidFill>
                        </a:rPr>
                        <a:t>Analytics</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Variety of traditional (e.g. profiling, regression, clustering) to identify how the customer currently interacts with the product or.</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Multi-genre analytic techniques  including: Historical trends, pathing, market basket analysis, Sequence analysis, R&amp;F analysis, etc.</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Include external on-line events to determine global trends and sentiment towards a certain set of P&amp;Ss</a:t>
                      </a:r>
                      <a:endParaRPr/>
                    </a:p>
                    <a:p>
                      <a:r>
                        <a:rPr sz="800" b="1">
                          <a:solidFill>
                            <a:srgbClr val="006699"/>
                          </a:solidFill>
                        </a:rPr>
                        <a:t>FSDM: Party_Event, Event_Type, Event_Trigger, Behavioral_Event, Life_Event, Financial_Event</a:t>
                      </a:r>
                    </a:p>
                    <a:p>
                      <a:r>
                        <a:rPr sz="800" i="1">
                          <a:solidFill>
                            <a:srgbClr val="008040"/>
                          </a:solidFill>
                        </a:rPr>
                        <a:t>Pakistan: Salary credit events, utility payment patterns, Eid/Ramadan spending spikes, tax filing season triggers, CNIC expiry alerts, maturity renewal events</a:t>
                      </a:r>
                    </a:p>
                    <a:p>
                      <a:r>
                        <a:rPr sz="900"/>
                        <a:t/>
                      </a:r>
                    </a:p>
                    <a:p>
                      <a:r>
                        <a:rPr sz="900"/>
                        <a:t>FSDM transaction data, product holding data, channel usage data</a:t>
                      </a:r>
                    </a:p>
                    <a:p>
                      <a:r>
                        <a:rPr sz="900"/>
                        <a:t>Islamic/conventional preference flag, mobile app engagement metrics</a:t>
                      </a:r>
                    </a:p>
                    <a:p>
                      <a:r>
                        <a:rPr sz="900"/>
                        <a:t>Product switching history, cross-sell acceptance/rejection data</a:t>
                      </a:r>
                    </a:p>
                    <a:p>
                      <a:r>
                        <a:rPr sz="900"/>
                        <a:t>Demographic data linked to product usage patterns</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 design and evolution of P&amp;S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Discover opportunities for new products to cover customers’ and customers’ unfulfillled needs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Detect local emerging trends in segments of the market or customer base and be the first to answer with P&amp;Ss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Create a more data-based product strategy and clearer understanding of the product life-cycle</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Ability to identify </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Identify potentially valuable segments and invest for growth</a:t>
                      </a:r>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r>
                        <a:rPr sz="900">
                          <a:latin typeface="Century Gothic"/>
                        </a:rPr>
                        <a:t/>
                      </a:r>
                    </a:p>
                    <a:p>
                      <a:r>
                        <a:rPr sz="900">
                          <a:latin typeface="Century Gothic"/>
                        </a:rPr>
                        <a:t>Behavioral segments driving targeted product recommendations</a:t>
                      </a:r>
                    </a:p>
                    <a:p>
                      <a:r>
                        <a:rPr sz="900">
                          <a:latin typeface="Century Gothic"/>
                        </a:rPr>
                        <a:t>Islamic product opportunity sizing by customer segment</a:t>
                      </a:r>
                    </a:p>
                    <a:p>
                      <a:r>
                        <a:rPr sz="900">
                          <a:latin typeface="Century Gothic"/>
                        </a:rPr>
                        <a:t>Product bundle optimization: right product combinations for each segment</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cxnSp>
        <p:nvCxnSpPr>
          <p:cNvPr id="7026" name="Google Shape;7026;p399"/>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sp>
        <p:nvSpPr>
          <p:cNvPr id="7027" name="Google Shape;7027;p399"/>
          <p:cNvSpPr txBox="1"/>
          <p:nvPr>
            <p:ph type="title"/>
          </p:nvPr>
        </p:nvSpPr>
        <p:spPr>
          <a:xfrm>
            <a:off x="457200" y="173736"/>
            <a:ext cx="8229600" cy="704088"/>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Produce Behavioral Segmentations</a:t>
            </a:r>
            <a:endParaRPr/>
          </a:p>
        </p:txBody>
      </p:sp>
      <p:pic>
        <p:nvPicPr>
          <p:cNvPr descr="RET-1009-L.jpg" id="7028" name="Google Shape;7028;p399"/>
          <p:cNvPicPr preferRelativeResize="0"/>
          <p:nvPr/>
        </p:nvPicPr>
        <p:blipFill rotWithShape="1">
          <a:blip r:embed="rId3">
            <a:alphaModFix/>
          </a:blip>
          <a:srcRect b="0" l="0" r="0" t="0"/>
          <a:stretch/>
        </p:blipFill>
        <p:spPr>
          <a:xfrm>
            <a:off x="5538789" y="603251"/>
            <a:ext cx="2871786" cy="1924858"/>
          </a:xfrm>
          <a:prstGeom prst="rect">
            <a:avLst/>
          </a:prstGeom>
          <a:noFill/>
          <a:ln>
            <a:noFill/>
          </a:ln>
        </p:spPr>
      </p:pic>
      <p:sp>
        <p:nvSpPr>
          <p:cNvPr id="7029" name="Google Shape;7029;p399">
            <a:hlinkClick action="ppaction://hlinksldjump" r:id="rId4"/>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Product Performance</a:t>
            </a:r>
            <a:endParaRPr sz="750">
              <a:solidFill>
                <a:schemeClr val="lt1"/>
              </a:solidFill>
              <a:latin typeface="Century Gothic"/>
              <a:ea typeface="Century Gothic"/>
              <a:cs typeface="Century Gothic"/>
              <a:sym typeface="Century Gothic"/>
            </a:endParaRPr>
          </a:p>
        </p:txBody>
      </p:sp>
      <p:grpSp>
        <p:nvGrpSpPr>
          <p:cNvPr id="7030" name="Google Shape;7030;p399"/>
          <p:cNvGrpSpPr/>
          <p:nvPr/>
        </p:nvGrpSpPr>
        <p:grpSpPr>
          <a:xfrm>
            <a:off x="7717533" y="4360377"/>
            <a:ext cx="1058348" cy="347375"/>
            <a:chOff x="7651698" y="4287227"/>
            <a:chExt cx="1058348" cy="347375"/>
          </a:xfrm>
        </p:grpSpPr>
        <p:grpSp>
          <p:nvGrpSpPr>
            <p:cNvPr id="7031" name="Google Shape;7031;p399"/>
            <p:cNvGrpSpPr/>
            <p:nvPr/>
          </p:nvGrpSpPr>
          <p:grpSpPr>
            <a:xfrm>
              <a:off x="7714163" y="4337598"/>
              <a:ext cx="995883" cy="297004"/>
              <a:chOff x="7711013" y="3986494"/>
              <a:chExt cx="995883" cy="297004"/>
            </a:xfrm>
          </p:grpSpPr>
          <p:sp>
            <p:nvSpPr>
              <p:cNvPr id="7032" name="Google Shape;7032;p399"/>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7033" name="Google Shape;7033;p399"/>
              <p:cNvGrpSpPr/>
              <p:nvPr/>
            </p:nvGrpSpPr>
            <p:grpSpPr>
              <a:xfrm>
                <a:off x="7711013" y="4002615"/>
                <a:ext cx="281520" cy="241973"/>
                <a:chOff x="5652748" y="4066000"/>
                <a:chExt cx="906498" cy="747974"/>
              </a:xfrm>
            </p:grpSpPr>
            <p:sp>
              <p:nvSpPr>
                <p:cNvPr id="7034" name="Google Shape;7034;p399"/>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7035" name="Google Shape;7035;p399"/>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7036" name="Google Shape;7036;p399"/>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7037" name="Google Shape;7037;p399">
              <a:hlinkClick action="ppaction://hlinksldjump" r:id="rId5"/>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2" name="Shape 7042"/>
        <p:cNvGrpSpPr/>
        <p:nvPr/>
      </p:nvGrpSpPr>
      <p:grpSpPr>
        <a:xfrm>
          <a:off x="0" y="0"/>
          <a:ext cx="0" cy="0"/>
          <a:chOff x="0" y="0"/>
          <a:chExt cx="0" cy="0"/>
        </a:xfrm>
      </p:grpSpPr>
      <p:graphicFrame>
        <p:nvGraphicFramePr>
          <p:cNvPr id="7043" name="Google Shape;7043;p400"/>
          <p:cNvGraphicFramePr/>
          <p:nvPr/>
        </p:nvGraphicFramePr>
        <p:xfrm>
          <a:off x="469899" y="789217"/>
          <a:ext cx="3000000" cy="3000000"/>
        </p:xfrm>
        <a:graphic>
          <a:graphicData uri="http://schemas.openxmlformats.org/drawingml/2006/table">
            <a:tbl>
              <a:tblPr bandRow="1" firstRow="1">
                <a:noFill/>
                <a:tableStyleId>{D098BFCB-6916-41F2-A2A5-0DF0D5139B6F}</a:tableStyleId>
              </a:tblPr>
              <a:tblGrid>
                <a:gridCol w="130325"/>
                <a:gridCol w="556275"/>
                <a:gridCol w="367500"/>
                <a:gridCol w="3170075"/>
                <a:gridCol w="3276050"/>
                <a:gridCol w="477150"/>
                <a:gridCol w="477150"/>
              </a:tblGrid>
              <a:tr h="180850">
                <a:tc gridSpan="3">
                  <a:txBody>
                    <a:bodyPr/>
                    <a:lstStyle/>
                    <a:p>
                      <a:pPr indent="0" lvl="0" marL="0" marR="0" rtl="0" algn="ctr">
                        <a:spcBef>
                          <a:spcPts val="0"/>
                        </a:spcBef>
                        <a:spcAft>
                          <a:spcPts val="0"/>
                        </a:spcAft>
                        <a:buNone/>
                      </a:pPr>
                      <a:r>
                        <a:rPr b="1" lang="en-GB" sz="1200">
                          <a:solidFill>
                            <a:schemeClr val="dk2"/>
                          </a:solidFill>
                        </a:rPr>
                        <a:t>Level</a:t>
                      </a:r>
                      <a:endParaRPr b="1" sz="12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hMerge="1">
                  <a:txBody>
                    <a:bodyPr/>
                    <a:p/>
                  </a:txBody>
                </a:tc>
                <a:tc gridSpan="2">
                  <a:txBody>
                    <a:bodyPr/>
                    <a:lstStyle/>
                    <a:p>
                      <a:pPr indent="0" lvl="0" marL="0" marR="0" rtl="0" algn="ctr">
                        <a:lnSpc>
                          <a:spcPct val="100000"/>
                        </a:lnSpc>
                        <a:spcBef>
                          <a:spcPts val="0"/>
                        </a:spcBef>
                        <a:spcAft>
                          <a:spcPts val="0"/>
                        </a:spcAft>
                        <a:buClr>
                          <a:schemeClr val="dk2"/>
                        </a:buClr>
                        <a:buSzPts val="1200"/>
                        <a:buFont typeface="Century Gothic"/>
                        <a:buNone/>
                      </a:pPr>
                      <a:r>
                        <a:rPr b="1" lang="en-GB" sz="1200">
                          <a:solidFill>
                            <a:schemeClr val="dk2"/>
                          </a:solidFill>
                        </a:rPr>
                        <a:t>Maturity Statement</a:t>
                      </a:r>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rPr b="1" lang="en-GB" sz="800">
                          <a:solidFill>
                            <a:schemeClr val="dk2"/>
                          </a:solidFill>
                        </a:rPr>
                        <a:t>Current</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rPr b="1" lang="en-GB" sz="800">
                          <a:solidFill>
                            <a:schemeClr val="dk2"/>
                          </a:solidFill>
                        </a:rPr>
                        <a:t>Desired</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06C1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Leading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Predict and influence customer consumption and usage behaviors based on high-dimensional customer behavioral segments and prediction of emerging segments to drive product strategy, design, evolution and lifecycle. Base existing product strategy and operation on customer centric analytics and segmentations that feed back into product design and lifecycle. Measure performance on existing customer segments</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03725">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F7513"/>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Innovating</a:t>
                      </a:r>
                      <a:endParaRPr/>
                    </a:p>
                    <a:p>
                      <a:pPr indent="0" lvl="0" marL="0" marR="0" rtl="0" algn="ctr">
                        <a:spcBef>
                          <a:spcPts val="0"/>
                        </a:spcBef>
                        <a:spcAft>
                          <a:spcPts val="0"/>
                        </a:spcAft>
                        <a:buNone/>
                      </a:pPr>
                      <a:r>
                        <a:t/>
                      </a:r>
                      <a:endParaRPr b="1" sz="1000">
                        <a:solidFill>
                          <a:schemeClr val="dk2"/>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Base existing product strategy and operation on customer centric analytics and segmentations that feed back into product design and lifecycle. Design P&amp;Ss and promotions for specific usage/consumption segments and customer/customer segments. Routinely go through existing data to detect new P&amp;S opportunities.</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C891C"/>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Practicing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Design some specific P&amp;Ss and promotions for specific usage/consumption segments and customer/customer segments.</a:t>
                      </a:r>
                      <a:endParaRPr/>
                    </a:p>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Use of market and customer survey techniques, competitive information and internal usage/consumption patterns and segments to design and evolve individual P&amp;S. Measure performance on those segments. </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lnSpc>
                          <a:spcPct val="100000"/>
                        </a:lnSpc>
                        <a:spcBef>
                          <a:spcPts val="0"/>
                        </a:spcBef>
                        <a:spcAft>
                          <a:spcPts val="0"/>
                        </a:spcAft>
                        <a:buClr>
                          <a:schemeClr val="dk1"/>
                        </a:buClr>
                        <a:buSzPts val="1400"/>
                        <a:buFont typeface="Century Gothic"/>
                        <a:buNone/>
                      </a:pPr>
                      <a:r>
                        <a:t/>
                      </a:r>
                      <a:endParaRPr sz="1400">
                        <a:solidFill>
                          <a:schemeClr val="dk1"/>
                        </a:solidFill>
                        <a:latin typeface="Noto Sans Symbols"/>
                        <a:ea typeface="Noto Sans Symbols"/>
                        <a:cs typeface="Noto Sans Symbols"/>
                        <a:sym typeface="Noto Sans Symbols"/>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E9B4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Developing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Mainly use of market and customer survey techniques, and competitive information to design and evolve individual P&amp;S with no deep consideration of broader customer/customer behaviors and groups. Customise P&amp;S according to simple consumption/usage segments and measure performance in those segments. </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03725">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F1AE65"/>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Emerging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Measure product consumption and usage of individual products pushed into the market to determine simple purchase and usage low-dimensional segments using some market research to understand customer needs but not infer them from data.</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178750">
                <a:tc gridSpan="3">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Priority</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hMerge="1">
                  <a:txBody>
                    <a:bodyPr/>
                    <a:p/>
                  </a:txBody>
                </a:tc>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Key areas for improvement</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Benefits from uplift</a:t>
                      </a:r>
                      <a:endParaRPr b="1" sz="1000">
                        <a:solidFill>
                          <a:schemeClr val="dk2"/>
                        </a:solidFill>
                        <a:latin typeface="Century Gothic"/>
                        <a:ea typeface="Century Gothic"/>
                        <a:cs typeface="Century Gothic"/>
                        <a:sym typeface="Century Gothic"/>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a:txBody>
                    <a:bodyPr/>
                    <a:lstStyle/>
                    <a:p>
                      <a:pPr indent="0" lvl="0" marL="0" marR="0" rtl="0" algn="ctr">
                        <a:spcBef>
                          <a:spcPts val="0"/>
                        </a:spcBef>
                        <a:spcAft>
                          <a:spcPts val="0"/>
                        </a:spcAft>
                        <a:buNone/>
                      </a:pPr>
                      <a:r>
                        <a:rPr b="1" lang="en-GB" sz="1000">
                          <a:solidFill>
                            <a:schemeClr val="dk2"/>
                          </a:solidFill>
                        </a:rPr>
                        <a:t>Timeframe</a:t>
                      </a:r>
                      <a:endParaRPr b="1" sz="1000">
                        <a:solidFill>
                          <a:schemeClr val="dk2"/>
                        </a:solidFill>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r>
              <a:tr h="243275">
                <a:tc gridSpan="2">
                  <a:txBody>
                    <a:bodyPr/>
                    <a:lstStyle/>
                    <a:p>
                      <a:pPr indent="0" lvl="0" marL="0" marR="0" rtl="0" algn="ctr">
                        <a:spcBef>
                          <a:spcPts val="0"/>
                        </a:spcBef>
                        <a:spcAft>
                          <a:spcPts val="0"/>
                        </a:spcAft>
                        <a:buNone/>
                      </a:pPr>
                      <a:r>
                        <a:rPr b="1" lang="en-GB" sz="800">
                          <a:solidFill>
                            <a:schemeClr val="dk1"/>
                          </a:solidFill>
                        </a:rPr>
                        <a:t>High</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rPr lang="en-GB" sz="1000">
                          <a:solidFill>
                            <a:schemeClr val="dk1"/>
                          </a:solidFill>
                          <a:latin typeface="Noto Sans Symbols"/>
                          <a:ea typeface="Noto Sans Symbols"/>
                          <a:cs typeface="Noto Sans Symbols"/>
                          <a:sym typeface="Noto Sans Symbols"/>
                        </a:rPr>
                        <a:t>✔</a:t>
                      </a:r>
                      <a:endParaRPr b="1" sz="10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0" lvl="0" marL="0" marR="0" rtl="0" algn="l">
                        <a:lnSpc>
                          <a:spcPct val="100000"/>
                        </a:lnSpc>
                        <a:spcBef>
                          <a:spcPts val="0"/>
                        </a:spcBef>
                        <a:spcAft>
                          <a:spcPts val="0"/>
                        </a:spcAft>
                        <a:buClr>
                          <a:schemeClr val="dk1"/>
                        </a:buClr>
                        <a:buSzPts val="800"/>
                        <a:buFont typeface="Arial"/>
                        <a:buNone/>
                      </a:pPr>
                      <a:r>
                        <a:rPr sz="800" b="0">
                          <a:latin typeface="Century Gothic"/>
                        </a:rPr>
                        <a:t>Pakistan priority improvements:</a:t>
                      </a:r>
                      <a:endParaRPr/>
                    </a:p>
                    <a:p>
                      <a:r>
                        <a:rPr sz="800" b="0">
                          <a:latin typeface="Century Gothic"/>
                        </a:rPr>
                        <a:t>Product usage behavioral segmentation: transactors, savers, borrowers, digital-first, dormant</a:t>
                      </a:r>
                    </a:p>
                    <a:p>
                      <a:r>
                        <a:rPr sz="800" b="0">
                          <a:latin typeface="Century Gothic"/>
                        </a:rPr>
                        <a:t>Islamic preference segmentation for targeted product offers</a:t>
                      </a:r>
                    </a:p>
                    <a:p>
                      <a:r>
                        <a:rPr sz="800" b="0">
                          <a:latin typeface="Century Gothic"/>
                        </a:rPr>
                        <a:t>Product affinity modeling: which product combinations predict high LTV</a:t>
                      </a:r>
                    </a:p>
                    <a:p>
                      <a:r>
                        <a:rPr sz="800" b="0">
                          <a:latin typeface="Century Gothic"/>
                        </a:rPr>
                        <a:t>RAAST/digital behavioral signals for segment identification</a:t>
                      </a:r>
                    </a:p>
                    <a:p>
                      <a:r>
                        <a:rPr sz="800" b="0">
                          <a:latin typeface="Century Gothic"/>
                        </a:rPr>
                        <a:t>Youth segment product preferences (60% under 30)</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285750" lvl="0" marL="285750" marR="0" rtl="0" algn="l">
                        <a:spcBef>
                          <a:spcPts val="0"/>
                        </a:spcBef>
                        <a:spcAft>
                          <a:spcPts val="0"/>
                        </a:spcAft>
                        <a:buClr>
                          <a:schemeClr val="dk1"/>
                        </a:buClr>
                        <a:buSzPts val="800"/>
                        <a:buFont typeface="Arial"/>
                        <a:buChar char="•"/>
                      </a:pPr>
                      <a:r>
                        <a:rPr sz="800">
                          <a:latin typeface="Century Gothic"/>
                        </a:rPr>
                        <a:t>Targeted product recommendations by behavioral segment</a:t>
                      </a:r>
                      <a:endParaRPr/>
                    </a:p>
                    <a:p>
                      <a:r>
                        <a:rPr sz="800">
                          <a:latin typeface="Century Gothic"/>
                        </a:rPr>
                        <a:t>Islamic product cross-sell opportunity sizing</a:t>
                      </a:r>
                    </a:p>
                    <a:p>
                      <a:r>
                        <a:rPr sz="800">
                          <a:latin typeface="Century Gothic"/>
                        </a:rPr>
                        <a:t>Optimized product bundles increasing products per customer from 1.8</a:t>
                      </a:r>
                    </a:p>
                    <a:p>
                      <a:r>
                        <a:rPr sz="800">
                          <a:latin typeface="Century Gothic"/>
                        </a:rPr>
                        <a:t>Digital-first segment identification for fintech-competitive offers</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rowSpan="3">
                  <a:txBody>
                    <a:bodyPr/>
                    <a:lstStyle/>
                    <a:p>
                      <a:pPr indent="0" lvl="0" marL="0" marR="0" rtl="0" algn="ctr">
                        <a:lnSpc>
                          <a:spcPct val="100000"/>
                        </a:lnSpc>
                        <a:spcBef>
                          <a:spcPts val="0"/>
                        </a:spcBef>
                        <a:spcAft>
                          <a:spcPts val="0"/>
                        </a:spcAft>
                        <a:buClr>
                          <a:schemeClr val="dk1"/>
                        </a:buClr>
                        <a:buSzPts val="800"/>
                        <a:buFont typeface="Century Gothic"/>
                        <a:buNone/>
                      </a:pPr>
                      <a:r>
                        <a:rPr b="0" lang="en-GB" sz="800">
                          <a:solidFill>
                            <a:schemeClr val="dk1"/>
                          </a:solidFill>
                        </a:rPr>
                        <a:t>2025-2026</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hMerge="1">
                  <a:txBody>
                    <a:bodyPr/>
                    <a:p/>
                  </a:txBody>
                </a:tc>
              </a:tr>
              <a:tr h="243275">
                <a:tc gridSpan="2">
                  <a:txBody>
                    <a:bodyPr/>
                    <a:lstStyle/>
                    <a:p>
                      <a:pPr indent="0" lvl="0" marL="0" marR="0" rtl="0" algn="ctr">
                        <a:spcBef>
                          <a:spcPts val="0"/>
                        </a:spcBef>
                        <a:spcAft>
                          <a:spcPts val="0"/>
                        </a:spcAft>
                        <a:buNone/>
                      </a:pPr>
                      <a:r>
                        <a:rPr b="1" lang="en-GB" sz="800">
                          <a:solidFill>
                            <a:schemeClr val="dk1"/>
                          </a:solidFill>
                        </a:rPr>
                        <a:t>Medium</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xBody>
                    <a:bodyPr/>
                    <a:p/>
                  </a:txBody>
                </a:tc>
                <a:tc vMerge="1">
                  <a:txBody>
                    <a:bodyPr/>
                    <a:p/>
                  </a:txBody>
                </a:tc>
                <a:tc gridSpan="2" vMerge="1">
                  <a:txBody>
                    <a:bodyPr/>
                    <a:p/>
                  </a:txBody>
                </a:tc>
                <a:tc hMerge="1" vMerge="1">
                  <a:txBody>
                    <a:bodyPr/>
                    <a:p/>
                  </a:txBody>
                </a:tc>
              </a:tr>
              <a:tr h="243275">
                <a:tc gridSpan="2">
                  <a:txBody>
                    <a:bodyPr/>
                    <a:lstStyle/>
                    <a:p>
                      <a:pPr indent="0" lvl="0" marL="0" marR="0" rtl="0" algn="ctr">
                        <a:spcBef>
                          <a:spcPts val="0"/>
                        </a:spcBef>
                        <a:spcAft>
                          <a:spcPts val="0"/>
                        </a:spcAft>
                        <a:buNone/>
                      </a:pPr>
                      <a:r>
                        <a:rPr b="1" lang="en-GB" sz="800">
                          <a:solidFill>
                            <a:schemeClr val="dk1"/>
                          </a:solidFill>
                        </a:rPr>
                        <a:t>Low</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xBody>
                    <a:bodyPr/>
                    <a:p/>
                  </a:txBody>
                </a:tc>
                <a:tc vMerge="1">
                  <a:txBody>
                    <a:bodyPr/>
                    <a:p/>
                  </a:txBody>
                </a:tc>
                <a:tc gridSpan="2" vMerge="1">
                  <a:txBody>
                    <a:bodyPr/>
                    <a:p/>
                  </a:txBody>
                </a:tc>
                <a:tc hMerge="1" vMerge="1">
                  <a:txBody>
                    <a:bodyPr/>
                    <a:p/>
                  </a:txBody>
                </a:tc>
              </a:tr>
            </a:tbl>
          </a:graphicData>
        </a:graphic>
      </p:graphicFrame>
      <p:grpSp>
        <p:nvGrpSpPr>
          <p:cNvPr id="7044" name="Google Shape;7044;p400"/>
          <p:cNvGrpSpPr/>
          <p:nvPr/>
        </p:nvGrpSpPr>
        <p:grpSpPr>
          <a:xfrm>
            <a:off x="469900" y="3829411"/>
            <a:ext cx="8455025" cy="722041"/>
            <a:chOff x="211138" y="3982349"/>
            <a:chExt cx="8713787" cy="632948"/>
          </a:xfrm>
        </p:grpSpPr>
        <p:sp>
          <p:nvSpPr>
            <p:cNvPr id="7045" name="Google Shape;7045;p400"/>
            <p:cNvSpPr/>
            <p:nvPr/>
          </p:nvSpPr>
          <p:spPr>
            <a:xfrm>
              <a:off x="211138" y="3997419"/>
              <a:ext cx="8713787" cy="617878"/>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7046" name="Google Shape;7046;p400"/>
            <p:cNvSpPr/>
            <p:nvPr/>
          </p:nvSpPr>
          <p:spPr>
            <a:xfrm>
              <a:off x="3692726" y="3982349"/>
              <a:ext cx="1753883" cy="632948"/>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grpSp>
        <p:nvGrpSpPr>
          <p:cNvPr id="7047" name="Google Shape;7047;p400"/>
          <p:cNvGrpSpPr/>
          <p:nvPr/>
        </p:nvGrpSpPr>
        <p:grpSpPr>
          <a:xfrm>
            <a:off x="7971865" y="980278"/>
            <a:ext cx="949325" cy="2867825"/>
            <a:chOff x="7941888" y="1062037"/>
            <a:chExt cx="983037" cy="2695575"/>
          </a:xfrm>
        </p:grpSpPr>
        <p:sp>
          <p:nvSpPr>
            <p:cNvPr id="7048" name="Google Shape;7048;p400"/>
            <p:cNvSpPr/>
            <p:nvPr/>
          </p:nvSpPr>
          <p:spPr>
            <a:xfrm>
              <a:off x="7941889" y="1062037"/>
              <a:ext cx="983036" cy="2695575"/>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7049" name="Google Shape;7049;p400"/>
            <p:cNvSpPr/>
            <p:nvPr/>
          </p:nvSpPr>
          <p:spPr>
            <a:xfrm>
              <a:off x="7941888" y="2052586"/>
              <a:ext cx="983037" cy="714476"/>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sp>
        <p:nvSpPr>
          <p:cNvPr id="7050" name="Google Shape;7050;p400"/>
          <p:cNvSpPr txBox="1"/>
          <p:nvPr>
            <p:ph type="title"/>
          </p:nvPr>
        </p:nvSpPr>
        <p:spPr>
          <a:xfrm>
            <a:off x="457200" y="173736"/>
            <a:ext cx="8229600" cy="704088"/>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Produce Behavioral Segmentations</a:t>
            </a:r>
            <a:endParaRPr/>
          </a:p>
        </p:txBody>
      </p:sp>
      <p:sp>
        <p:nvSpPr>
          <p:cNvPr id="7051" name="Google Shape;7051;p400">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Product Performance</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56" name="Shape 7056"/>
        <p:cNvGrpSpPr/>
        <p:nvPr/>
      </p:nvGrpSpPr>
      <p:grpSpPr>
        <a:xfrm>
          <a:off x="0" y="0"/>
          <a:ext cx="0" cy="0"/>
          <a:chOff x="0" y="0"/>
          <a:chExt cx="0" cy="0"/>
        </a:xfrm>
      </p:grpSpPr>
      <p:cxnSp>
        <p:nvCxnSpPr>
          <p:cNvPr id="7057" name="Google Shape;7057;p401"/>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sp>
        <p:nvSpPr>
          <p:cNvPr id="7058" name="Google Shape;7058;p401"/>
          <p:cNvSpPr txBox="1"/>
          <p:nvPr>
            <p:ph type="title"/>
          </p:nvPr>
        </p:nvSpPr>
        <p:spPr>
          <a:xfrm>
            <a:off x="457200" y="173736"/>
            <a:ext cx="8229600" cy="704088"/>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Predict Product/Service Retention</a:t>
            </a:r>
            <a:endParaRPr/>
          </a:p>
        </p:txBody>
      </p:sp>
      <p:graphicFrame>
        <p:nvGraphicFramePr>
          <p:cNvPr id="7059" name="Google Shape;7059;p401"/>
          <p:cNvGraphicFramePr/>
          <p:nvPr/>
        </p:nvGraphicFramePr>
        <p:xfrm>
          <a:off x="493890" y="838460"/>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b="1" sz="1400">
                        <a:solidFill>
                          <a:schemeClr val="dk2"/>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lnSpc>
                          <a:spcPct val="100000"/>
                        </a:lnSpc>
                        <a:spcBef>
                          <a:spcPts val="0"/>
                        </a:spcBef>
                        <a:spcAft>
                          <a:spcPts val="0"/>
                        </a:spcAft>
                        <a:buClr>
                          <a:srgbClr val="3C3C3B"/>
                        </a:buClr>
                        <a:buSzPts val="900"/>
                        <a:buFont typeface="Century Gothic"/>
                        <a:buNone/>
                      </a:pPr>
                      <a:r>
                        <a:rPr b="1" lang="en-GB" sz="900">
                          <a:solidFill>
                            <a:schemeClr val="dk1"/>
                          </a:solidFill>
                        </a:rPr>
                        <a:t>Using analytics to predict products that are likely to support continued use by customers or to be dropped by customers. </a:t>
                      </a:r>
                      <a:endParaRPr/>
                    </a:p>
                    <a:p>
                      <a:pPr indent="-114300" lvl="0" marL="114300" marR="0" rtl="0" algn="l">
                        <a:lnSpc>
                          <a:spcPct val="100000"/>
                        </a:lnSpc>
                        <a:spcBef>
                          <a:spcPts val="300"/>
                        </a:spcBef>
                        <a:spcAft>
                          <a:spcPts val="0"/>
                        </a:spcAft>
                        <a:buClr>
                          <a:srgbClr val="3C3C3B"/>
                        </a:buClr>
                        <a:buSzPts val="900"/>
                        <a:buFont typeface="Arial"/>
                        <a:buChar char="•"/>
                      </a:pPr>
                      <a:r>
                        <a:rPr lang="en-GB" sz="900">
                          <a:solidFill>
                            <a:srgbClr val="3C3C3B"/>
                          </a:solidFill>
                        </a:rPr>
                        <a:t>Extend</a:t>
                      </a:r>
                      <a:r>
                        <a:rPr lang="en-GB" sz="900">
                          <a:solidFill>
                            <a:srgbClr val="3C3C3B"/>
                          </a:solidFill>
                        </a:rPr>
                        <a:t> product (and customer) lifespan and increase lifetime value.</a:t>
                      </a:r>
                      <a:endParaRPr/>
                    </a:p>
                    <a:p>
                      <a:pPr indent="-119063" lvl="0" marL="119063" marR="0" rtl="0" algn="l">
                        <a:lnSpc>
                          <a:spcPct val="100000"/>
                        </a:lnSpc>
                        <a:spcBef>
                          <a:spcPts val="300"/>
                        </a:spcBef>
                        <a:spcAft>
                          <a:spcPts val="0"/>
                        </a:spcAft>
                        <a:buClr>
                          <a:srgbClr val="3C3C3B"/>
                        </a:buClr>
                        <a:buSzPts val="900"/>
                        <a:buFont typeface="Arial"/>
                        <a:buChar char="•"/>
                      </a:pPr>
                      <a:r>
                        <a:rPr lang="en-GB" sz="900">
                          <a:solidFill>
                            <a:srgbClr val="3C3C3B"/>
                          </a:solidFill>
                        </a:rPr>
                        <a:t>Understand the lifecycle of products to define appropriate actions</a:t>
                      </a:r>
                      <a:endParaRPr/>
                    </a:p>
                    <a:p>
                      <a:pPr indent="-119063" lvl="0" marL="119063" marR="0" rtl="0" algn="l">
                        <a:spcBef>
                          <a:spcPts val="300"/>
                        </a:spcBef>
                        <a:spcAft>
                          <a:spcPts val="0"/>
                        </a:spcAft>
                        <a:buClr>
                          <a:srgbClr val="3C3C3B"/>
                        </a:buClr>
                        <a:buSzPts val="900"/>
                        <a:buFont typeface="Arial"/>
                        <a:buChar char="•"/>
                      </a:pPr>
                      <a:r>
                        <a:rPr lang="en-GB" sz="900">
                          <a:solidFill>
                            <a:srgbClr val="3C3C3B"/>
                          </a:solidFill>
                        </a:rPr>
                        <a:t>Develop retention triggers to prompt proactive customer contact by understanding how</a:t>
                      </a:r>
                      <a:r>
                        <a:rPr lang="en-GB" sz="900">
                          <a:solidFill>
                            <a:srgbClr val="3C3C3B"/>
                          </a:solidFill>
                        </a:rPr>
                        <a:t> to identify indicators of a declining product </a:t>
                      </a:r>
                      <a:endParaRPr/>
                    </a:p>
                    <a:p>
                      <a:pPr indent="-119063" lvl="0" marL="119063" marR="0" rtl="0" algn="l">
                        <a:lnSpc>
                          <a:spcPct val="100000"/>
                        </a:lnSpc>
                        <a:spcBef>
                          <a:spcPts val="300"/>
                        </a:spcBef>
                        <a:spcAft>
                          <a:spcPts val="0"/>
                        </a:spcAft>
                        <a:buClr>
                          <a:srgbClr val="3C3C3B"/>
                        </a:buClr>
                        <a:buSzPts val="900"/>
                        <a:buFont typeface="Arial"/>
                        <a:buChar char="•"/>
                      </a:pPr>
                      <a:r>
                        <a:rPr lang="en-GB" sz="900">
                          <a:solidFill>
                            <a:srgbClr val="3C3C3B"/>
                          </a:solidFill>
                        </a:rPr>
                        <a:t>Build data-driven, value-based retention strategies for different products</a:t>
                      </a:r>
                      <a:endParaRPr/>
                    </a:p>
                    <a:p>
                      <a:pPr indent="-119063" lvl="0" marL="119063" marR="0" rtl="0" algn="l">
                        <a:spcBef>
                          <a:spcPts val="300"/>
                        </a:spcBef>
                        <a:spcAft>
                          <a:spcPts val="0"/>
                        </a:spcAft>
                        <a:buClr>
                          <a:srgbClr val="3C3C3B"/>
                        </a:buClr>
                        <a:buSzPts val="900"/>
                        <a:buFont typeface="Arial"/>
                        <a:buChar char="•"/>
                      </a:pPr>
                      <a:r>
                        <a:rPr lang="en-GB" sz="900">
                          <a:solidFill>
                            <a:srgbClr val="3C3C3B"/>
                          </a:solidFill>
                        </a:rPr>
                        <a:t>Improve revenue &amp; earnings</a:t>
                      </a:r>
                      <a:endParaRPr/>
                    </a:p>
                    <a:p>
                      <a:r>
                        <a:rPr sz="900"/>
                        <a:t/>
                      </a:r>
                    </a:p>
                    <a:p>
                      <a:r>
                        <a:rPr sz="900"/>
                        <a:t>Predict which products each customer is likely to close: FD non-renewal, CASA closure, card cancellation</a:t>
                      </a:r>
                    </a:p>
                    <a:p>
                      <a:r>
                        <a:rPr sz="900"/>
                        <a:t>Pakistan-specific: salary account switching is highest product-level churn risk</a:t>
                      </a:r>
                    </a:p>
                    <a:p>
                      <a:r>
                        <a:rPr sz="900"/>
                        <a:t>When employer switches bank, entire product bundle at risk (salary + CASA + card + loan)</a:t>
                      </a:r>
                    </a:p>
                    <a:p>
                      <a:r>
                        <a:rPr sz="900"/>
                        <a:t>Loan prepayment prediction: refinancing at competitors offering lower KIBOR spreads</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xBody>
                    <a:bodyPr/>
                    <a:p/>
                  </a:txBody>
                </a:tc>
                <a:tc vMerge="1">
                  <a:txBody>
                    <a:bodyPr/>
                    <a:p/>
                  </a:txBody>
                </a:tc>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p>
                      <a:r>
                        <a:rPr sz="800" b="1">
                          <a:solidFill>
                            <a:srgbClr val="006699"/>
                          </a:solidFill>
                        </a:rPr>
                        <a:t>FSDM: Customer_Journey, Interaction_Event, Channel_Session, Service_Request, Process_Step, Wait_Time_Metric</a:t>
                      </a:r>
                    </a:p>
                    <a:p>
                      <a:r>
                        <a:rPr sz="800" i="1">
                          <a:solidFill>
                            <a:srgbClr val="008040"/>
                          </a:solidFill>
                        </a:rPr>
                        <a:t>Pakistan: Branch queue management, ATM uptime correlation, mobile app crash analytics, RAAST transaction experience, complaint resolution SLA tracking per SBP guidelines</a:t>
                      </a: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Customer product holdings</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Product lifetime value and profitability</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Customer interaction 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Service and product usage incl. transactions / activity / balances</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3</a:t>
                      </a:r>
                      <a:r>
                        <a:rPr baseline="30000" lang="en-GB" sz="900">
                          <a:solidFill>
                            <a:schemeClr val="dk1"/>
                          </a:solidFill>
                        </a:rPr>
                        <a:t>rd</a:t>
                      </a:r>
                      <a:r>
                        <a:rPr lang="en-GB" sz="900">
                          <a:solidFill>
                            <a:schemeClr val="dk1"/>
                          </a:solidFill>
                        </a:rPr>
                        <a:t> Party market research</a:t>
                      </a:r>
                      <a:endParaRPr/>
                    </a:p>
                    <a:p>
                      <a:pPr indent="0" lvl="0" marL="0" marR="0" rtl="0" algn="l">
                        <a:spcBef>
                          <a:spcPts val="0"/>
                        </a:spcBef>
                        <a:spcAft>
                          <a:spcPts val="0"/>
                        </a:spcAft>
                        <a:buClr>
                          <a:schemeClr val="dk1"/>
                        </a:buClr>
                        <a:buSzPts val="900"/>
                        <a:buFont typeface="Arial"/>
                        <a:buNone/>
                      </a:pPr>
                      <a:r>
                        <a:t/>
                      </a:r>
                      <a:endParaRPr b="1" sz="900">
                        <a:solidFill>
                          <a:schemeClr val="dk1"/>
                        </a:solidFill>
                      </a:endParaRPr>
                    </a:p>
                    <a:p>
                      <a:pPr indent="0" lvl="0" marL="0" marR="0" rtl="0" algn="l">
                        <a:spcBef>
                          <a:spcPts val="0"/>
                        </a:spcBef>
                        <a:spcAft>
                          <a:spcPts val="0"/>
                        </a:spcAft>
                        <a:buClr>
                          <a:schemeClr val="dk1"/>
                        </a:buClr>
                        <a:buSzPts val="900"/>
                        <a:buFont typeface="Arial"/>
                        <a:buNone/>
                      </a:pPr>
                      <a:r>
                        <a:rPr b="1" lang="en-GB" sz="900">
                          <a:solidFill>
                            <a:schemeClr val="dk1"/>
                          </a:solidFill>
                        </a:rPr>
                        <a:t>Analytics</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Regression analysis to build product closure rate models</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Path analysis to determine paths to product closure rate / loss </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Clustering and value Segmentation</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Affinity analysis</a:t>
                      </a:r>
                      <a:endParaRPr sz="900">
                        <a:solidFill>
                          <a:schemeClr val="dk1"/>
                        </a:solidFill>
                      </a:endParaRPr>
                    </a:p>
                    <a:p>
                      <a:r>
                        <a:rPr sz="800" b="1">
                          <a:solidFill>
                            <a:srgbClr val="006699"/>
                          </a:solidFill>
                        </a:rPr>
                        <a:t>FSDM: Customer_Journey, Interaction_Event, Channel_Session, Service_Request, Process_Step, Wait_Time_Metric</a:t>
                      </a:r>
                    </a:p>
                    <a:p>
                      <a:r>
                        <a:rPr sz="800" i="1">
                          <a:solidFill>
                            <a:srgbClr val="008040"/>
                          </a:solidFill>
                        </a:rPr>
                        <a:t>Pakistan: Branch queue management, ATM uptime correlation, mobile app crash analytics, RAAST transaction experience, complaint resolution SLA tracking per SBP guidelines</a:t>
                      </a:r>
                    </a:p>
                    <a:p>
                      <a:r>
                        <a:rPr sz="900"/>
                        <a:t/>
                      </a:r>
                    </a:p>
                    <a:p>
                      <a:r>
                        <a:rPr sz="900"/>
                        <a:t>FSDM: product tenure, balance trend, transaction frequency change</a:t>
                      </a:r>
                    </a:p>
                    <a:p>
                      <a:r>
                        <a:rPr sz="900"/>
                        <a:t>Salary credit continuity monitoring, competitor rate data</a:t>
                      </a:r>
                    </a:p>
                    <a:p>
                      <a:r>
                        <a:rPr sz="900"/>
                        <a:t>Customer life event indicators, ECIB inquiry frequency (rate shopping signal)</a:t>
                      </a:r>
                    </a:p>
                    <a:p>
                      <a:r>
                        <a:rPr sz="900"/>
                        <a:t>Product usage decline patterns: ATM/POS decline, mobile app inactivity</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lang="en-GB" sz="900" strike="noStrike">
                          <a:solidFill>
                            <a:schemeClr val="dk1"/>
                          </a:solidFill>
                          <a:latin typeface="Century Gothic"/>
                          <a:ea typeface="Century Gothic"/>
                          <a:cs typeface="Century Gothic"/>
                          <a:sym typeface="Century Gothic"/>
                        </a:rPr>
                        <a:t>Reduced product closure rate and improved </a:t>
                      </a:r>
                      <a:r>
                        <a:rPr lang="en-GB" sz="900">
                          <a:solidFill>
                            <a:schemeClr val="dk1"/>
                          </a:solidFill>
                          <a:latin typeface="Century Gothic"/>
                          <a:ea typeface="Century Gothic"/>
                          <a:cs typeface="Century Gothic"/>
                          <a:sym typeface="Century Gothic"/>
                        </a:rPr>
                        <a:t>brand loyalty, and referrals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Minimized profit erosion, including reduced costs on win back or reactivation activity</a:t>
                      </a:r>
                      <a:endParaRPr sz="900">
                        <a:solidFill>
                          <a:schemeClr val="dk1"/>
                        </a:solidFill>
                        <a:latin typeface="Century Gothic"/>
                        <a:ea typeface="Century Gothic"/>
                        <a:cs typeface="Century Gothic"/>
                        <a:sym typeface="Century Gothic"/>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Better customer experience and lower cost to serve</a:t>
                      </a:r>
                      <a:endParaRPr/>
                    </a:p>
                    <a:p>
                      <a:pPr indent="-171450" lvl="0" marL="171450" marR="0" rtl="0" algn="l">
                        <a:lnSpc>
                          <a:spcPct val="100000"/>
                        </a:lnSpc>
                        <a:spcBef>
                          <a:spcPts val="0"/>
                        </a:spcBef>
                        <a:spcAft>
                          <a:spcPts val="0"/>
                        </a:spcAft>
                        <a:buClr>
                          <a:schemeClr val="dk1"/>
                        </a:buClr>
                        <a:buSzPts val="900"/>
                        <a:buFont typeface="Arial"/>
                        <a:buChar char="•"/>
                      </a:pPr>
                      <a:r>
                        <a:rPr lang="en-GB" sz="900"/>
                        <a:t>Reduced</a:t>
                      </a:r>
                      <a:r>
                        <a:rPr lang="en-GB" sz="900"/>
                        <a:t> costs of new product development due to more efficient management of existing product portfolio</a:t>
                      </a:r>
                      <a:endParaRPr sz="900"/>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Enhanced operational efficiency and profitability</a:t>
                      </a:r>
                      <a:endParaRPr sz="900">
                        <a:solidFill>
                          <a:schemeClr val="dk1"/>
                        </a:solidFill>
                        <a:latin typeface="Century Gothic"/>
                        <a:ea typeface="Century Gothic"/>
                        <a:cs typeface="Century Gothic"/>
                        <a:sym typeface="Century Gothic"/>
                      </a:endParaRPr>
                    </a:p>
                    <a:p>
                      <a:r>
                        <a:rPr sz="900">
                          <a:latin typeface="Century Gothic"/>
                        </a:rPr>
                        <a:t/>
                      </a:r>
                    </a:p>
                    <a:p>
                      <a:r>
                        <a:rPr sz="900">
                          <a:latin typeface="Century Gothic"/>
                        </a:rPr>
                        <a:t>Product retention alerts 30 days before closure</a:t>
                      </a:r>
                    </a:p>
                    <a:p>
                      <a:r>
                        <a:rPr sz="900">
                          <a:latin typeface="Century Gothic"/>
                        </a:rPr>
                        <a:t>Targeted retention offers by product type (rate match, fee waiver, upgrade)</a:t>
                      </a:r>
                    </a:p>
                    <a:p>
                      <a:r>
                        <a:rPr sz="900">
                          <a:latin typeface="Century Gothic"/>
                        </a:rPr>
                        <a:t>Salary account switching early warning system</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pic>
        <p:nvPicPr>
          <p:cNvPr id="7060" name="Google Shape;7060;p401"/>
          <p:cNvPicPr preferRelativeResize="0"/>
          <p:nvPr/>
        </p:nvPicPr>
        <p:blipFill rotWithShape="1">
          <a:blip r:embed="rId3">
            <a:alphaModFix/>
          </a:blip>
          <a:srcRect b="0" l="0" r="0" t="0"/>
          <a:stretch/>
        </p:blipFill>
        <p:spPr>
          <a:xfrm>
            <a:off x="5521229" y="603249"/>
            <a:ext cx="2787533" cy="1901825"/>
          </a:xfrm>
          <a:prstGeom prst="rect">
            <a:avLst/>
          </a:prstGeom>
          <a:noFill/>
          <a:ln>
            <a:noFill/>
          </a:ln>
        </p:spPr>
      </p:pic>
      <p:sp>
        <p:nvSpPr>
          <p:cNvPr id="7061" name="Google Shape;7061;p401">
            <a:hlinkClick action="ppaction://hlinksldjump" r:id="rId4"/>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Product Performance</a:t>
            </a:r>
            <a:endParaRPr sz="750">
              <a:solidFill>
                <a:schemeClr val="lt1"/>
              </a:solidFill>
              <a:latin typeface="Century Gothic"/>
              <a:ea typeface="Century Gothic"/>
              <a:cs typeface="Century Gothic"/>
              <a:sym typeface="Century Gothic"/>
            </a:endParaRPr>
          </a:p>
        </p:txBody>
      </p:sp>
      <p:grpSp>
        <p:nvGrpSpPr>
          <p:cNvPr id="7062" name="Google Shape;7062;p401"/>
          <p:cNvGrpSpPr/>
          <p:nvPr/>
        </p:nvGrpSpPr>
        <p:grpSpPr>
          <a:xfrm>
            <a:off x="7717533" y="4360377"/>
            <a:ext cx="1058348" cy="347375"/>
            <a:chOff x="7651698" y="4287227"/>
            <a:chExt cx="1058348" cy="347375"/>
          </a:xfrm>
        </p:grpSpPr>
        <p:grpSp>
          <p:nvGrpSpPr>
            <p:cNvPr id="7063" name="Google Shape;7063;p401"/>
            <p:cNvGrpSpPr/>
            <p:nvPr/>
          </p:nvGrpSpPr>
          <p:grpSpPr>
            <a:xfrm>
              <a:off x="7714163" y="4337598"/>
              <a:ext cx="995883" cy="297004"/>
              <a:chOff x="7711013" y="3986494"/>
              <a:chExt cx="995883" cy="297004"/>
            </a:xfrm>
          </p:grpSpPr>
          <p:sp>
            <p:nvSpPr>
              <p:cNvPr id="7064" name="Google Shape;7064;p401"/>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7065" name="Google Shape;7065;p401"/>
              <p:cNvGrpSpPr/>
              <p:nvPr/>
            </p:nvGrpSpPr>
            <p:grpSpPr>
              <a:xfrm>
                <a:off x="7711013" y="4002615"/>
                <a:ext cx="281520" cy="241973"/>
                <a:chOff x="5652748" y="4066000"/>
                <a:chExt cx="906498" cy="747974"/>
              </a:xfrm>
            </p:grpSpPr>
            <p:sp>
              <p:nvSpPr>
                <p:cNvPr id="7066" name="Google Shape;7066;p401"/>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7067" name="Google Shape;7067;p401"/>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7068" name="Google Shape;7068;p401"/>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7069" name="Google Shape;7069;p401">
              <a:hlinkClick action="ppaction://hlinksldjump" r:id="rId5"/>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4" name="Shape 7074"/>
        <p:cNvGrpSpPr/>
        <p:nvPr/>
      </p:nvGrpSpPr>
      <p:grpSpPr>
        <a:xfrm>
          <a:off x="0" y="0"/>
          <a:ext cx="0" cy="0"/>
          <a:chOff x="0" y="0"/>
          <a:chExt cx="0" cy="0"/>
        </a:xfrm>
      </p:grpSpPr>
      <p:graphicFrame>
        <p:nvGraphicFramePr>
          <p:cNvPr id="7075" name="Google Shape;7075;p402"/>
          <p:cNvGraphicFramePr/>
          <p:nvPr/>
        </p:nvGraphicFramePr>
        <p:xfrm>
          <a:off x="469899" y="789217"/>
          <a:ext cx="3000000" cy="3000000"/>
        </p:xfrm>
        <a:graphic>
          <a:graphicData uri="http://schemas.openxmlformats.org/drawingml/2006/table">
            <a:tbl>
              <a:tblPr bandRow="1" firstRow="1">
                <a:noFill/>
                <a:tableStyleId>{D098BFCB-6916-41F2-A2A5-0DF0D5139B6F}</a:tableStyleId>
              </a:tblPr>
              <a:tblGrid>
                <a:gridCol w="130325"/>
                <a:gridCol w="556275"/>
                <a:gridCol w="367500"/>
                <a:gridCol w="3170075"/>
                <a:gridCol w="3276050"/>
                <a:gridCol w="477150"/>
                <a:gridCol w="477150"/>
              </a:tblGrid>
              <a:tr h="180850">
                <a:tc gridSpan="3">
                  <a:txBody>
                    <a:bodyPr/>
                    <a:lstStyle/>
                    <a:p>
                      <a:pPr indent="0" lvl="0" marL="0" marR="0" rtl="0" algn="ctr">
                        <a:spcBef>
                          <a:spcPts val="0"/>
                        </a:spcBef>
                        <a:spcAft>
                          <a:spcPts val="0"/>
                        </a:spcAft>
                        <a:buNone/>
                      </a:pPr>
                      <a:r>
                        <a:rPr b="1" lang="en-GB" sz="1200">
                          <a:solidFill>
                            <a:schemeClr val="dk2"/>
                          </a:solidFill>
                        </a:rPr>
                        <a:t>Level</a:t>
                      </a:r>
                      <a:endParaRPr b="1" sz="12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hMerge="1">
                  <a:txBody>
                    <a:bodyPr/>
                    <a:p/>
                  </a:txBody>
                </a:tc>
                <a:tc gridSpan="2">
                  <a:txBody>
                    <a:bodyPr/>
                    <a:lstStyle/>
                    <a:p>
                      <a:pPr indent="0" lvl="0" marL="0" marR="0" rtl="0" algn="ctr">
                        <a:lnSpc>
                          <a:spcPct val="100000"/>
                        </a:lnSpc>
                        <a:spcBef>
                          <a:spcPts val="0"/>
                        </a:spcBef>
                        <a:spcAft>
                          <a:spcPts val="0"/>
                        </a:spcAft>
                        <a:buClr>
                          <a:schemeClr val="dk2"/>
                        </a:buClr>
                        <a:buSzPts val="1200"/>
                        <a:buFont typeface="Century Gothic"/>
                        <a:buNone/>
                      </a:pPr>
                      <a:r>
                        <a:rPr b="1" lang="en-GB" sz="1200">
                          <a:solidFill>
                            <a:schemeClr val="dk2"/>
                          </a:solidFill>
                        </a:rPr>
                        <a:t>Maturity Statement</a:t>
                      </a:r>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rPr b="1" lang="en-GB" sz="800">
                          <a:solidFill>
                            <a:schemeClr val="dk2"/>
                          </a:solidFill>
                        </a:rPr>
                        <a:t>Current</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rPr b="1" lang="en-GB" sz="800">
                          <a:solidFill>
                            <a:schemeClr val="dk2"/>
                          </a:solidFill>
                        </a:rPr>
                        <a:t>Desired</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06C1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Leading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Streamline results into company strategy and processes automatically or make decisions to change business process based on insights. Cross channel Next Best Action (NBA) based on complex product closure rate-value analytics running automatically driven by context and real-time triggers.</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03725">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F7513"/>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Innovating</a:t>
                      </a:r>
                      <a:endParaRPr/>
                    </a:p>
                    <a:p>
                      <a:pPr indent="0" lvl="0" marL="0" marR="0" rtl="0" algn="ctr">
                        <a:spcBef>
                          <a:spcPts val="0"/>
                        </a:spcBef>
                        <a:spcAft>
                          <a:spcPts val="0"/>
                        </a:spcAft>
                        <a:buNone/>
                      </a:pPr>
                      <a:r>
                        <a:t/>
                      </a:r>
                      <a:endParaRPr b="1" sz="1000">
                        <a:solidFill>
                          <a:schemeClr val="dk2"/>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Product or service revenue retention campaigns executed on a daily basis using lifecycle knowledge including decline in usage, decline in product holding or reduced activity. Social network analysis (SNA) feeds influential relationships into retention model.</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C891C"/>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Practicing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Retention model calculates customer segmentation based on product utilization which is used for weekly proactive retention campaigns. Single company understanding of product product closure rate level definitions. Product affinity feeds into retention model.</a:t>
                      </a:r>
                      <a:endParaRPr/>
                    </a:p>
                    <a:p>
                      <a:pPr indent="0" lvl="0" marL="0" marR="0" rtl="0" algn="l">
                        <a:lnSpc>
                          <a:spcPct val="100000"/>
                        </a:lnSpc>
                        <a:spcBef>
                          <a:spcPts val="0"/>
                        </a:spcBef>
                        <a:spcAft>
                          <a:spcPts val="0"/>
                        </a:spcAft>
                        <a:buClr>
                          <a:schemeClr val="dk1"/>
                        </a:buClr>
                        <a:buSzPts val="800"/>
                        <a:buFont typeface="Century Gothic"/>
                        <a:buNone/>
                      </a:pPr>
                      <a:r>
                        <a:t/>
                      </a:r>
                      <a:endParaRPr b="0" sz="800">
                        <a:solidFill>
                          <a:schemeClr val="dk1"/>
                        </a:solidFill>
                        <a:latin typeface="Century Gothic"/>
                        <a:ea typeface="Century Gothic"/>
                        <a:cs typeface="Century Gothic"/>
                        <a:sym typeface="Century Gothic"/>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lnSpc>
                          <a:spcPct val="100000"/>
                        </a:lnSpc>
                        <a:spcBef>
                          <a:spcPts val="0"/>
                        </a:spcBef>
                        <a:spcAft>
                          <a:spcPts val="0"/>
                        </a:spcAft>
                        <a:buClr>
                          <a:schemeClr val="dk1"/>
                        </a:buClr>
                        <a:buSzPts val="1400"/>
                        <a:buFont typeface="Century Gothic"/>
                        <a:buNone/>
                      </a:pPr>
                      <a:r>
                        <a:t/>
                      </a:r>
                      <a:endParaRPr sz="1400">
                        <a:solidFill>
                          <a:schemeClr val="dk1"/>
                        </a:solidFill>
                        <a:latin typeface="Noto Sans Symbols"/>
                        <a:ea typeface="Noto Sans Symbols"/>
                        <a:cs typeface="Noto Sans Symbols"/>
                        <a:sym typeface="Noto Sans Symbols"/>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E9B4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Developing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Identification of different product retention/product closure rate scenarios and key data correlating to produce retention models. Analytics used to drive the development of treatment strategies to address retention issues. Small number of retention campaigns run on monthly batch cycle.</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03725">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F1AE65"/>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Emerging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Basic events and measures calculated for use in ad-hoc product retention activity.</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178750">
                <a:tc gridSpan="3">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Priority</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hMerge="1">
                  <a:txBody>
                    <a:bodyPr/>
                    <a:p/>
                  </a:txBody>
                </a:tc>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Key areas for improvement</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Benefits from uplift</a:t>
                      </a:r>
                      <a:endParaRPr b="1" sz="1000">
                        <a:solidFill>
                          <a:schemeClr val="dk2"/>
                        </a:solidFill>
                        <a:latin typeface="Century Gothic"/>
                        <a:ea typeface="Century Gothic"/>
                        <a:cs typeface="Century Gothic"/>
                        <a:sym typeface="Century Gothic"/>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a:txBody>
                    <a:bodyPr/>
                    <a:lstStyle/>
                    <a:p>
                      <a:pPr indent="0" lvl="0" marL="0" marR="0" rtl="0" algn="ctr">
                        <a:spcBef>
                          <a:spcPts val="0"/>
                        </a:spcBef>
                        <a:spcAft>
                          <a:spcPts val="0"/>
                        </a:spcAft>
                        <a:buNone/>
                      </a:pPr>
                      <a:r>
                        <a:rPr b="1" lang="en-GB" sz="1000">
                          <a:solidFill>
                            <a:schemeClr val="dk2"/>
                          </a:solidFill>
                        </a:rPr>
                        <a:t>Timeframe</a:t>
                      </a:r>
                      <a:endParaRPr b="1" sz="1000">
                        <a:solidFill>
                          <a:schemeClr val="dk2"/>
                        </a:solidFill>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r>
              <a:tr h="243275">
                <a:tc gridSpan="2">
                  <a:txBody>
                    <a:bodyPr/>
                    <a:lstStyle/>
                    <a:p>
                      <a:pPr indent="0" lvl="0" marL="0" marR="0" rtl="0" algn="ctr">
                        <a:spcBef>
                          <a:spcPts val="0"/>
                        </a:spcBef>
                        <a:spcAft>
                          <a:spcPts val="0"/>
                        </a:spcAft>
                        <a:buNone/>
                      </a:pPr>
                      <a:r>
                        <a:rPr b="1" lang="en-GB" sz="800">
                          <a:solidFill>
                            <a:schemeClr val="dk1"/>
                          </a:solidFill>
                        </a:rPr>
                        <a:t>High</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ctr">
                        <a:spcBef>
                          <a:spcPts val="0"/>
                        </a:spcBef>
                        <a:spcAft>
                          <a:spcPts val="0"/>
                        </a:spcAft>
                        <a:buNone/>
                      </a:pPr>
                      <a:r>
                        <a:rPr lang="en-GB" sz="1000">
                          <a:solidFill>
                            <a:schemeClr val="dk1"/>
                          </a:solidFill>
                          <a:latin typeface="Noto Sans Symbols"/>
                          <a:ea typeface="Noto Sans Symbols"/>
                          <a:cs typeface="Noto Sans Symbols"/>
                          <a:sym typeface="Noto Sans Symbols"/>
                        </a:rPr>
                        <a:t>✔</a:t>
                      </a:r>
                      <a:endParaRPr b="1" sz="10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0" lvl="0" marL="0" marR="0" rtl="0" algn="l">
                        <a:lnSpc>
                          <a:spcPct val="100000"/>
                        </a:lnSpc>
                        <a:spcBef>
                          <a:spcPts val="0"/>
                        </a:spcBef>
                        <a:spcAft>
                          <a:spcPts val="0"/>
                        </a:spcAft>
                        <a:buClr>
                          <a:schemeClr val="dk1"/>
                        </a:buClr>
                        <a:buSzPts val="800"/>
                        <a:buFont typeface="Arial"/>
                        <a:buNone/>
                      </a:pPr>
                      <a:r>
                        <a:rPr sz="800" b="0">
                          <a:latin typeface="Century Gothic"/>
                        </a:rPr>
                        <a:t>Pakistan priority improvements:</a:t>
                      </a:r>
                      <a:endParaRPr/>
                    </a:p>
                    <a:p>
                      <a:r>
                        <a:rPr sz="800" b="0">
                          <a:latin typeface="Century Gothic"/>
                        </a:rPr>
                        <a:t>Product closure prediction: FD non-renewal, CASA closure, card cancellation, loan prepayment</a:t>
                      </a:r>
                    </a:p>
                    <a:p>
                      <a:r>
                        <a:rPr sz="800" b="0">
                          <a:latin typeface="Century Gothic"/>
                        </a:rPr>
                        <a:t>Salary account switching early warning system</a:t>
                      </a:r>
                    </a:p>
                    <a:p>
                      <a:r>
                        <a:rPr sz="800" b="0">
                          <a:latin typeface="Century Gothic"/>
                        </a:rPr>
                        <a:t>Rate shopping detection via ECIB inquiry frequency monitoring</a:t>
                      </a:r>
                    </a:p>
                    <a:p>
                      <a:r>
                        <a:rPr sz="800" b="0">
                          <a:latin typeface="Century Gothic"/>
                        </a:rPr>
                        <a:t>Product usage decline pattern recognition</a:t>
                      </a:r>
                    </a:p>
                    <a:p>
                      <a:r>
                        <a:rPr sz="800" b="0">
                          <a:latin typeface="Century Gothic"/>
                        </a:rPr>
                        <a:t>Competitor product launch impact assessment on retention</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285750" lvl="0" marL="285750" marR="0" rtl="0" algn="l">
                        <a:spcBef>
                          <a:spcPts val="0"/>
                        </a:spcBef>
                        <a:spcAft>
                          <a:spcPts val="0"/>
                        </a:spcAft>
                        <a:buClr>
                          <a:schemeClr val="dk1"/>
                        </a:buClr>
                        <a:buSzPts val="800"/>
                        <a:buFont typeface="Arial"/>
                        <a:buChar char="•"/>
                      </a:pPr>
                      <a:r>
                        <a:rPr sz="800">
                          <a:latin typeface="Century Gothic"/>
                        </a:rPr>
                        <a:t>Product retention alerts 30 days before closure</a:t>
                      </a:r>
                      <a:endParaRPr/>
                    </a:p>
                    <a:p>
                      <a:r>
                        <a:rPr sz="800">
                          <a:latin typeface="Century Gothic"/>
                        </a:rPr>
                        <a:t>Targeted retention offers by product type (rate match, fee waiver, upgrade)</a:t>
                      </a:r>
                    </a:p>
                    <a:p>
                      <a:r>
                        <a:rPr sz="800">
                          <a:latin typeface="Century Gothic"/>
                        </a:rPr>
                        <a:t>Salary account switching prevention saving entire product bundles</a:t>
                      </a:r>
                    </a:p>
                    <a:p>
                      <a:r>
                        <a:rPr sz="800">
                          <a:latin typeface="Century Gothic"/>
                        </a:rPr>
                        <a:t>Reduced product attrition by 15-25% through proactive intervention</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rowSpan="3">
                  <a:txBody>
                    <a:bodyPr/>
                    <a:lstStyle/>
                    <a:p>
                      <a:pPr indent="0" lvl="0" marL="0" marR="0" rtl="0" algn="ctr">
                        <a:lnSpc>
                          <a:spcPct val="100000"/>
                        </a:lnSpc>
                        <a:spcBef>
                          <a:spcPts val="0"/>
                        </a:spcBef>
                        <a:spcAft>
                          <a:spcPts val="0"/>
                        </a:spcAft>
                        <a:buClr>
                          <a:schemeClr val="dk1"/>
                        </a:buClr>
                        <a:buSzPts val="800"/>
                        <a:buFont typeface="Century Gothic"/>
                        <a:buNone/>
                      </a:pPr>
                      <a:r>
                        <a:rPr b="0" lang="en-GB" sz="800">
                          <a:solidFill>
                            <a:schemeClr val="dk1"/>
                          </a:solidFill>
                        </a:rPr>
                        <a:t>2025-2027</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hMerge="1">
                  <a:txBody>
                    <a:bodyPr/>
                    <a:p/>
                  </a:txBody>
                </a:tc>
              </a:tr>
              <a:tr h="243275">
                <a:tc gridSpan="2">
                  <a:txBody>
                    <a:bodyPr/>
                    <a:lstStyle/>
                    <a:p>
                      <a:pPr indent="0" lvl="0" marL="0" marR="0" rtl="0" algn="ctr">
                        <a:spcBef>
                          <a:spcPts val="0"/>
                        </a:spcBef>
                        <a:spcAft>
                          <a:spcPts val="0"/>
                        </a:spcAft>
                        <a:buNone/>
                      </a:pPr>
                      <a:r>
                        <a:rPr b="1" lang="en-GB" sz="800">
                          <a:solidFill>
                            <a:schemeClr val="dk1"/>
                          </a:solidFill>
                        </a:rPr>
                        <a:t>Medium</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xBody>
                    <a:bodyPr/>
                    <a:p/>
                  </a:txBody>
                </a:tc>
                <a:tc vMerge="1">
                  <a:txBody>
                    <a:bodyPr/>
                    <a:p/>
                  </a:txBody>
                </a:tc>
                <a:tc gridSpan="2" vMerge="1">
                  <a:txBody>
                    <a:bodyPr/>
                    <a:p/>
                  </a:txBody>
                </a:tc>
                <a:tc hMerge="1" vMerge="1">
                  <a:txBody>
                    <a:bodyPr/>
                    <a:p/>
                  </a:txBody>
                </a:tc>
              </a:tr>
              <a:tr h="243275">
                <a:tc gridSpan="2">
                  <a:txBody>
                    <a:bodyPr/>
                    <a:lstStyle/>
                    <a:p>
                      <a:pPr indent="0" lvl="0" marL="0" marR="0" rtl="0" algn="ctr">
                        <a:spcBef>
                          <a:spcPts val="0"/>
                        </a:spcBef>
                        <a:spcAft>
                          <a:spcPts val="0"/>
                        </a:spcAft>
                        <a:buNone/>
                      </a:pPr>
                      <a:r>
                        <a:rPr b="1" lang="en-GB" sz="800">
                          <a:solidFill>
                            <a:schemeClr val="dk1"/>
                          </a:solidFill>
                        </a:rPr>
                        <a:t>Low</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xBody>
                    <a:bodyPr/>
                    <a:p/>
                  </a:txBody>
                </a:tc>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xBody>
                    <a:bodyPr/>
                    <a:p/>
                  </a:txBody>
                </a:tc>
                <a:tc vMerge="1">
                  <a:txBody>
                    <a:bodyPr/>
                    <a:p/>
                  </a:txBody>
                </a:tc>
                <a:tc gridSpan="2" vMerge="1">
                  <a:txBody>
                    <a:bodyPr/>
                    <a:p/>
                  </a:txBody>
                </a:tc>
                <a:tc hMerge="1" vMerge="1">
                  <a:txBody>
                    <a:bodyPr/>
                    <a:p/>
                  </a:txBody>
                </a:tc>
              </a:tr>
            </a:tbl>
          </a:graphicData>
        </a:graphic>
      </p:graphicFrame>
      <p:grpSp>
        <p:nvGrpSpPr>
          <p:cNvPr id="7076" name="Google Shape;7076;p402"/>
          <p:cNvGrpSpPr/>
          <p:nvPr/>
        </p:nvGrpSpPr>
        <p:grpSpPr>
          <a:xfrm>
            <a:off x="7971865" y="980278"/>
            <a:ext cx="949325" cy="2867825"/>
            <a:chOff x="7941888" y="1062037"/>
            <a:chExt cx="983037" cy="2695575"/>
          </a:xfrm>
        </p:grpSpPr>
        <p:sp>
          <p:nvSpPr>
            <p:cNvPr id="7077" name="Google Shape;7077;p402"/>
            <p:cNvSpPr/>
            <p:nvPr/>
          </p:nvSpPr>
          <p:spPr>
            <a:xfrm>
              <a:off x="7941889" y="1062037"/>
              <a:ext cx="983036" cy="2695575"/>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7078" name="Google Shape;7078;p402"/>
            <p:cNvSpPr/>
            <p:nvPr/>
          </p:nvSpPr>
          <p:spPr>
            <a:xfrm>
              <a:off x="7941888" y="2052586"/>
              <a:ext cx="983037" cy="714476"/>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sp>
        <p:nvSpPr>
          <p:cNvPr id="7079" name="Google Shape;7079;p402"/>
          <p:cNvSpPr txBox="1"/>
          <p:nvPr>
            <p:ph type="title"/>
          </p:nvPr>
        </p:nvSpPr>
        <p:spPr>
          <a:xfrm>
            <a:off x="457200" y="173736"/>
            <a:ext cx="8229600" cy="704088"/>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Predict Product/Service Retention</a:t>
            </a:r>
            <a:endParaRPr/>
          </a:p>
        </p:txBody>
      </p:sp>
      <p:sp>
        <p:nvSpPr>
          <p:cNvPr id="7080" name="Google Shape;7080;p402">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Product Performance</a:t>
            </a:r>
            <a:endParaRPr sz="750">
              <a:solidFill>
                <a:schemeClr val="lt1"/>
              </a:solidFill>
              <a:latin typeface="Century Gothic"/>
              <a:ea typeface="Century Gothic"/>
              <a:cs typeface="Century Gothic"/>
              <a:sym typeface="Century Gothic"/>
            </a:endParaRPr>
          </a:p>
        </p:txBody>
      </p:sp>
      <p:grpSp>
        <p:nvGrpSpPr>
          <p:cNvPr id="7081" name="Google Shape;7081;p402"/>
          <p:cNvGrpSpPr/>
          <p:nvPr/>
        </p:nvGrpSpPr>
        <p:grpSpPr>
          <a:xfrm>
            <a:off x="469900" y="3819680"/>
            <a:ext cx="8455025" cy="732866"/>
            <a:chOff x="211138" y="3972860"/>
            <a:chExt cx="8713787" cy="642437"/>
          </a:xfrm>
        </p:grpSpPr>
        <p:sp>
          <p:nvSpPr>
            <p:cNvPr id="7082" name="Google Shape;7082;p402"/>
            <p:cNvSpPr/>
            <p:nvPr/>
          </p:nvSpPr>
          <p:spPr>
            <a:xfrm>
              <a:off x="211138" y="3972860"/>
              <a:ext cx="8713787" cy="642437"/>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7083" name="Google Shape;7083;p402"/>
            <p:cNvSpPr/>
            <p:nvPr/>
          </p:nvSpPr>
          <p:spPr>
            <a:xfrm>
              <a:off x="3692726" y="3982349"/>
              <a:ext cx="1753883" cy="632948"/>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Box 2"/>
          <p:cNvSpPr txBox="1"/>
          <p:nvPr/>
        </p:nvSpPr>
        <p:spPr>
          <a:xfrm>
            <a:off x="400000" y="900000"/>
            <a:ext cx="8300000" cy="3800000"/>
          </a:xfrm>
          <a:prstGeom prst="rect">
            <a:avLst/>
          </a:prstGeom>
          <a:noFill/>
        </p:spPr>
        <p:txBody>
          <a:bodyPr wrap="square">
            <a:spAutoFit/>
          </a:bodyPr>
          <a:lstStyle/>
          <a:p>
            <a:r>
              <a:rPr sz="1600" b="1">
                <a:solidFill>
                  <a:srgbClr val="003366"/>
                </a:solidFill>
              </a:rPr>
              <a:t>Product Management — At a Glance</a:t>
            </a:r>
          </a:p>
          <a:p/>
          <a:p>
            <a:r>
              <a:rPr sz="800">
                <a:latin typeface="Consolas"/>
              </a:rPr>
              <a:t>                                  Global          South Asia &amp; ME    Pakistan</a:t>
            </a:r>
          </a:p>
          <a:p>
            <a:r>
              <a:rPr sz="800">
                <a:latin typeface="Consolas"/>
              </a:rPr>
              <a:t>───────────────────────────────────────────────────────────────────────────────</a:t>
            </a:r>
          </a:p>
          <a:p>
            <a:r>
              <a:rPr sz="800">
                <a:latin typeface="Consolas"/>
              </a:rPr>
              <a:t>Products per customer             4-6 top banks   2-3                1.8 (massive opportunity)</a:t>
            </a:r>
          </a:p>
          <a:p>
            <a:r>
              <a:rPr sz="800">
                <a:latin typeface="Consolas"/>
              </a:rPr>
              <a:t>Product profitability analytics   70%+ large banks 30-40%            &lt;15%</a:t>
            </a:r>
          </a:p>
          <a:p>
            <a:r>
              <a:rPr sz="800">
                <a:latin typeface="Consolas"/>
              </a:rPr>
              <a:t>Dynamic pricing capability        50%+ digital    15-25%             &lt;10%</a:t>
            </a:r>
          </a:p>
          <a:p>
            <a:r>
              <a:rPr sz="800">
                <a:latin typeface="Consolas"/>
              </a:rPr>
              <a:t>Product A/B testing               Standard digital 15-20%            &lt;5%</a:t>
            </a:r>
          </a:p>
          <a:p>
            <a:r>
              <a:rPr sz="800">
                <a:latin typeface="Consolas"/>
              </a:rPr>
              <a:t>Product lifecycle analytics       60% large banks 25-30%             &lt;15%</a:t>
            </a:r>
          </a:p>
          <a:p>
            <a:r>
              <a:rPr sz="800">
                <a:latin typeface="Consolas"/>
              </a:rPr>
              <a:t>Islamic product suite             N/A (where appl) Growing           Required (25%+ deposits)</a:t>
            </a:r>
          </a:p>
          <a:p>
            <a:r>
              <a:rPr sz="800">
                <a:latin typeface="Consolas"/>
              </a:rPr>
              <a:t>Digital product launch speed      2-4 weeks       4-8 weeks          8-16 weeks (SBP + IT)</a:t>
            </a:r>
          </a:p>
          <a:p>
            <a:r>
              <a:rPr sz="800">
                <a:latin typeface="Consolas"/>
              </a:rPr>
              <a:t>───────────────────────────────────────────────────────────────────────────────</a:t>
            </a:r>
          </a:p>
          <a:p/>
          <a:p>
            <a:r>
              <a:rPr sz="800" b="1">
                <a:solidFill>
                  <a:srgbClr val="006699"/>
                </a:solidFill>
              </a:rPr>
              <a:t>BVF Sub-capabilities: 12 across 6 sub-domains | FSDM: Product, Agreement, Party, Transaction, Channel, Pricing
BACR: ~60 questions | Maturity: Developing → Innovating
Products: CASA, Term Deposits, Personal Loans, Home Finance, Auto Finance, Credit Cards, Debit Cards,
Trade Finance (LC/LG/SBLC), Islamic (Murabaha, Ijarah, Diminishing Musharaka, Musharaka, Wakalah, Takaful)</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Box 2"/>
          <p:cNvSpPr txBox="1"/>
          <p:nvPr/>
        </p:nvSpPr>
        <p:spPr>
          <a:xfrm>
            <a:off x="400000" y="850000"/>
            <a:ext cx="8300000" cy="4200000"/>
          </a:xfrm>
          <a:prstGeom prst="rect">
            <a:avLst/>
          </a:prstGeom>
          <a:noFill/>
        </p:spPr>
        <p:txBody>
          <a:bodyPr wrap="square">
            <a:spAutoFit/>
          </a:bodyPr>
          <a:lstStyle/>
          <a:p>
            <a:r>
              <a:rPr sz="1100" b="1">
                <a:solidFill>
                  <a:srgbClr val="003366"/>
                </a:solidFill>
              </a:rPr>
              <a:t>Product Portfolio (Typical Large Pakistan Bank)</a:t>
            </a:r>
          </a:p>
          <a:p>
            <a:r>
              <a:rPr sz="900" b="1">
                <a:solidFill>
                  <a:srgbClr val="003366"/>
                </a:solidFill>
              </a:rPr>
              <a:t>DEPOSIT PRODUCTS</a:t>
            </a:r>
          </a:p>
          <a:p>
            <a:r>
              <a:rPr sz="800"/>
              <a:t>  Current Account (zero interest, CASA), Savings Account (SBP min ~11-13%)</a:t>
            </a:r>
          </a:p>
          <a:p>
            <a:r>
              <a:rPr sz="800"/>
              <a:t>  Fixed Deposit (3M-5Y), Foreign Currency Account, Roshan Digital Account</a:t>
            </a:r>
          </a:p>
          <a:p>
            <a:r>
              <a:rPr sz="800"/>
              <a:t>  Basic Banking Account, Islamic: Mudaraba Savings, Mudaraba Term Deposit, Wakalah Pool</a:t>
            </a:r>
          </a:p>
          <a:p>
            <a:r>
              <a:rPr sz="900" b="1">
                <a:solidFill>
                  <a:srgbClr val="003366"/>
                </a:solidFill>
              </a:rPr>
              <a:t>LENDING PRODUCTS</a:t>
            </a:r>
          </a:p>
          <a:p>
            <a:r>
              <a:rPr sz="800"/>
              <a:t>  Corporate: Working capital, term finance, project finance, trade finance (LC/LG/SBLC)</a:t>
            </a:r>
          </a:p>
          <a:p>
            <a:r>
              <a:rPr sz="800"/>
              <a:t>  Consumer: Personal loan, home finance, auto finance, credit card revolving</a:t>
            </a:r>
          </a:p>
          <a:p>
            <a:r>
              <a:rPr sz="800"/>
              <a:t>  SME/Agri: Running finance, crop/livestock finance</a:t>
            </a:r>
          </a:p>
          <a:p>
            <a:r>
              <a:rPr sz="800"/>
              <a:t>  Islamic: Murabaha, Ijarah (auto/home), Diminishing Musharaka, Running Musharaka</a:t>
            </a:r>
          </a:p>
          <a:p>
            <a:r>
              <a:rPr sz="900" b="1">
                <a:solidFill>
                  <a:srgbClr val="003366"/>
                </a:solidFill>
              </a:rPr>
              <a:t>CARD &amp; DIGITAL</a:t>
            </a:r>
          </a:p>
          <a:p>
            <a:r>
              <a:rPr sz="800"/>
              <a:t>  Debit (30M+ cards), Credit (3M+ cards), Prepaid (travel, remittance, payroll)</a:t>
            </a:r>
          </a:p>
          <a:p>
            <a:r>
              <a:rPr sz="800"/>
              <a:t>  Mobile banking, Internet banking, RAAST P2P/P2M, QR payments, Agent banking</a:t>
            </a:r>
          </a:p>
          <a:p/>
          <a:p>
            <a:r>
              <a:rPr sz="1100" b="1">
                <a:solidFill>
                  <a:srgbClr val="003366"/>
                </a:solidFill>
              </a:rPr>
              <a:t>Key Challenges</a:t>
            </a:r>
          </a:p>
          <a:p>
            <a:r>
              <a:rPr sz="800"/>
              <a:t>  Products per customer: 1.8 (vs. 4-6 global benchmark)</a:t>
            </a:r>
          </a:p>
          <a:p>
            <a:r>
              <a:rPr sz="800"/>
              <a:t>  SBP product approval: New products require NOC — 4-8 weeks to launch</a:t>
            </a:r>
          </a:p>
          <a:p>
            <a:r>
              <a:rPr sz="800"/>
              <a:t>  Islamic product complexity: Shariah board + SBP approval = dual gate</a:t>
            </a:r>
          </a:p>
          <a:p>
            <a:r>
              <a:rPr sz="800"/>
              <a:t>  Pricing rigidity: Deposit rates (SBP minimum), lending (KIBOR), card rates (SBP caps)</a:t>
            </a:r>
          </a:p>
          <a:p>
            <a:r>
              <a:rPr sz="800"/>
              <a:t>  Cross-sell: &lt;5% response rate on product campaigns</a:t>
            </a:r>
          </a:p>
          <a:p>
            <a:r>
              <a:rPr sz="800"/>
              <a:t>  Product cannibalization: Digital products cannibalizing branch products (unmanaged)</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Box 2"/>
          <p:cNvSpPr txBox="1"/>
          <p:nvPr/>
        </p:nvSpPr>
        <p:spPr>
          <a:xfrm>
            <a:off x="400000" y="850000"/>
            <a:ext cx="8300000" cy="3900000"/>
          </a:xfrm>
          <a:prstGeom prst="rect">
            <a:avLst/>
          </a:prstGeom>
          <a:noFill/>
        </p:spPr>
        <p:txBody>
          <a:bodyPr wrap="square">
            <a:spAutoFit/>
          </a:bodyPr>
          <a:lstStyle/>
          <a:p>
            <a:r>
              <a:rPr sz="1600" b="1">
                <a:solidFill>
                  <a:srgbClr val="003366"/>
                </a:solidFill>
              </a:rPr>
              <a:t>Implementation Roadmap</a:t>
            </a:r>
          </a:p>
          <a:p/>
          <a:p>
            <a:r>
              <a:rPr sz="1100" b="1">
                <a:solidFill>
                  <a:srgbClr val="006633"/>
                </a:solidFill>
              </a:rPr>
              <a:t>Phase 1: Product Intelligence Foundation (0-6 months) — PKR 40-80M</a:t>
            </a:r>
          </a:p>
          <a:p>
            <a:r>
              <a:rPr sz="900"/>
              <a:t>  Product profitability analytics (from FSDM Customer Profitability Engine)</a:t>
            </a:r>
          </a:p>
          <a:p>
            <a:r>
              <a:rPr sz="900"/>
              <a:t>  Product performance dashboard (sales, balances, revenue, cost by product)</a:t>
            </a:r>
          </a:p>
          <a:p>
            <a:r>
              <a:rPr sz="900"/>
              <a:t>  Cross-channel product sales tracking</a:t>
            </a:r>
          </a:p>
          <a:p>
            <a:r>
              <a:rPr sz="900"/>
              <a:t>  Product benchmark analysis (vs. industry averages from SBP data)</a:t>
            </a:r>
          </a:p>
          <a:p>
            <a:r>
              <a:rPr sz="900"/>
              <a:t>  Quick Win: Identify bottom 10% unprofitable products</a:t>
            </a:r>
          </a:p>
          <a:p/>
          <a:p>
            <a:r>
              <a:rPr sz="1100" b="1">
                <a:solidFill>
                  <a:srgbClr val="003399"/>
                </a:solidFill>
              </a:rPr>
              <a:t>Phase 2: Product Optimization (6-18 months) — PKR 80-150M</a:t>
            </a:r>
          </a:p>
          <a:p>
            <a:r>
              <a:rPr sz="900"/>
              <a:t>  Competitive pricing analytics (deposit rates, lending spreads, card fees)</a:t>
            </a:r>
          </a:p>
          <a:p>
            <a:r>
              <a:rPr sz="900"/>
              <a:t>  Product onboarding journey optimization (reduce dropoff from 40-60% to &lt;20%)</a:t>
            </a:r>
          </a:p>
          <a:p>
            <a:r>
              <a:rPr sz="900"/>
              <a:t>  Cross-sell propensity models by product affinity</a:t>
            </a:r>
          </a:p>
          <a:p>
            <a:r>
              <a:rPr sz="900"/>
              <a:t>  Islamic product performance parity analysis (Islamic vs. conventional)</a:t>
            </a:r>
          </a:p>
          <a:p>
            <a:r>
              <a:rPr sz="900"/>
              <a:t>  Expected: Increase products/customer from 1.8 to 2.5</a:t>
            </a:r>
          </a:p>
          <a:p/>
          <a:p>
            <a:r>
              <a:rPr sz="1100" b="1">
                <a:solidFill>
                  <a:srgbClr val="990033"/>
                </a:solidFill>
              </a:rPr>
              <a:t>Phase 3: Advanced Product Management (18-36 months) — PKR 120-250M</a:t>
            </a:r>
          </a:p>
          <a:p>
            <a:r>
              <a:rPr sz="900"/>
              <a:t>  Dynamic pricing engine (risk-adjusted lending, competitive deposit pricing)</a:t>
            </a:r>
          </a:p>
          <a:p>
            <a:r>
              <a:rPr sz="900"/>
              <a:t>  A/B testing framework for product features and pricing</a:t>
            </a:r>
          </a:p>
          <a:p>
            <a:r>
              <a:rPr sz="900"/>
              <a:t>  Product lifecycle management (launch → growth → maturity → sunset)</a:t>
            </a:r>
          </a:p>
          <a:p>
            <a:r>
              <a:rPr sz="900"/>
              <a:t>  Predictive product retention (which customers will close which products?)</a:t>
            </a:r>
          </a:p>
          <a:p>
            <a:r>
              <a:rPr sz="900"/>
              <a:t>  Real-time product recommendations integrated with all channels</a:t>
            </a:r>
          </a:p>
          <a:p>
            <a:r>
              <a:rPr sz="900"/>
              <a:t>  Expected: 15-25% improvement in product revenue per customer</a:t>
            </a:r>
          </a:p>
          <a:p/>
          <a:p>
            <a:r>
              <a:rPr sz="1000" b="1">
                <a:solidFill>
                  <a:srgbClr val="003366"/>
                </a:solidFill>
              </a:rPr>
              <a:t>Total 3-Year Investment: PKR 240-480M (~USD 0.9-1.7M) | Annual Value: PKR 15-25B</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Teradata">
      <a:dk1>
        <a:srgbClr val="000000"/>
      </a:dk1>
      <a:lt1>
        <a:srgbClr val="FFFFFF"/>
      </a:lt1>
      <a:dk2>
        <a:srgbClr val="0079DB"/>
      </a:dk2>
      <a:lt2>
        <a:srgbClr val="D8D8D8"/>
      </a:lt2>
      <a:accent1>
        <a:srgbClr val="D56D23"/>
      </a:accent1>
      <a:accent2>
        <a:srgbClr val="BBBCBE"/>
      </a:accent2>
      <a:accent3>
        <a:srgbClr val="5F6062"/>
      </a:accent3>
      <a:accent4>
        <a:srgbClr val="0088A8"/>
      </a:accent4>
      <a:accent5>
        <a:srgbClr val="703092"/>
      </a:accent5>
      <a:accent6>
        <a:srgbClr val="CD391F"/>
      </a:accent6>
      <a:hlink>
        <a:srgbClr val="0079DB"/>
      </a:hlink>
      <a:folHlink>
        <a:srgbClr val="7030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TDC_PPT_16-9_1014-lite">
  <a:themeElements>
    <a:clrScheme name="TeradataPPT2014">
      <a:dk1>
        <a:srgbClr val="3C3C3B"/>
      </a:dk1>
      <a:lt1>
        <a:srgbClr val="FFFFFF"/>
      </a:lt1>
      <a:dk2>
        <a:srgbClr val="0079DB"/>
      </a:dk2>
      <a:lt2>
        <a:srgbClr val="D8D8D8"/>
      </a:lt2>
      <a:accent1>
        <a:srgbClr val="EC881D"/>
      </a:accent1>
      <a:accent2>
        <a:srgbClr val="0079DB"/>
      </a:accent2>
      <a:accent3>
        <a:srgbClr val="CD391F"/>
      </a:accent3>
      <a:accent4>
        <a:srgbClr val="0088A8"/>
      </a:accent4>
      <a:accent5>
        <a:srgbClr val="703092"/>
      </a:accent5>
      <a:accent6>
        <a:srgbClr val="5F6062"/>
      </a:accent6>
      <a:hlink>
        <a:srgbClr val="0079DB"/>
      </a:hlink>
      <a:folHlink>
        <a:srgbClr val="7030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