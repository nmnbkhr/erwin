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438" r:id="rId189"/>
    <p:sldId id="439" r:id="rId190"/>
    <p:sldId id="440" r:id="rId191"/>
    <p:sldId id="441" r:id="rId192"/>
    <p:sldId id="442" r:id="rId193"/>
    <p:sldId id="443" r:id="rId194"/>
    <p:sldId id="444" r:id="rId195"/>
    <p:sldId id="445" r:id="rId196"/>
    <p:sldId id="446" r:id="rId197"/>
    <p:sldId id="447" r:id="rId198"/>
    <p:sldId id="448" r:id="rId199"/>
    <p:sldId id="449" r:id="rId200"/>
    <p:sldId id="450" r:id="rId201"/>
    <p:sldId id="451" r:id="rId202"/>
    <p:sldId id="452" r:id="rId203"/>
    <p:sldId id="453" r:id="rId204"/>
    <p:sldId id="454" r:id="rId205"/>
    <p:sldId id="455" r:id="rId206"/>
    <p:sldId id="456" r:id="rId207"/>
    <p:sldId id="457" r:id="rId208"/>
    <p:sldId id="458" r:id="rId209"/>
    <p:sldId id="459" r:id="rId210"/>
    <p:sldId id="460" r:id="rId211"/>
    <p:sldId id="461" r:id="rId212"/>
    <p:sldId id="462" r:id="rId213"/>
    <p:sldId id="463" r:id="rId214"/>
    <p:sldId id="464" r:id="rId215"/>
    <p:sldId id="465" r:id="rId216"/>
    <p:sldId id="466" r:id="rId217"/>
    <p:sldId id="467" r:id="rId218"/>
    <p:sldId id="468" r:id="rId219"/>
    <p:sldId id="469" r:id="rId220"/>
    <p:sldId id="470" r:id="rId221"/>
    <p:sldId id="471" r:id="rId222"/>
    <p:sldId id="472" r:id="rId223"/>
    <p:sldId id="473" r:id="rId224"/>
    <p:sldId id="474" r:id="rId225"/>
    <p:sldId id="475" r:id="rId226"/>
    <p:sldId id="476" r:id="rId227"/>
    <p:sldId id="477" r:id="rId228"/>
    <p:sldId id="478" r:id="rId229"/>
    <p:sldId id="479" r:id="rId230"/>
    <p:sldId id="480" r:id="rId231"/>
    <p:sldId id="481" r:id="rId232"/>
    <p:sldId id="482" r:id="rId233"/>
    <p:sldId id="483" r:id="rId234"/>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189" Type="http://schemas.openxmlformats.org/officeDocument/2006/relationships/slide" Target="slides/slide183.xml"/><Relationship Id="rId190" Type="http://schemas.openxmlformats.org/officeDocument/2006/relationships/slide" Target="slides/slide184.xml"/><Relationship Id="rId191" Type="http://schemas.openxmlformats.org/officeDocument/2006/relationships/slide" Target="slides/slide185.xml"/><Relationship Id="rId192" Type="http://schemas.openxmlformats.org/officeDocument/2006/relationships/slide" Target="slides/slide186.xml"/><Relationship Id="rId193" Type="http://schemas.openxmlformats.org/officeDocument/2006/relationships/slide" Target="slides/slide187.xml"/><Relationship Id="rId194" Type="http://schemas.openxmlformats.org/officeDocument/2006/relationships/slide" Target="slides/slide188.xml"/><Relationship Id="rId195" Type="http://schemas.openxmlformats.org/officeDocument/2006/relationships/slide" Target="slides/slide189.xml"/><Relationship Id="rId196" Type="http://schemas.openxmlformats.org/officeDocument/2006/relationships/slide" Target="slides/slide190.xml"/><Relationship Id="rId197" Type="http://schemas.openxmlformats.org/officeDocument/2006/relationships/slide" Target="slides/slide191.xml"/><Relationship Id="rId198" Type="http://schemas.openxmlformats.org/officeDocument/2006/relationships/slide" Target="slides/slide192.xml"/><Relationship Id="rId199" Type="http://schemas.openxmlformats.org/officeDocument/2006/relationships/slide" Target="slides/slide193.xml"/><Relationship Id="rId200" Type="http://schemas.openxmlformats.org/officeDocument/2006/relationships/slide" Target="slides/slide194.xml"/><Relationship Id="rId201" Type="http://schemas.openxmlformats.org/officeDocument/2006/relationships/slide" Target="slides/slide195.xml"/><Relationship Id="rId202" Type="http://schemas.openxmlformats.org/officeDocument/2006/relationships/slide" Target="slides/slide196.xml"/><Relationship Id="rId203" Type="http://schemas.openxmlformats.org/officeDocument/2006/relationships/slide" Target="slides/slide197.xml"/><Relationship Id="rId204" Type="http://schemas.openxmlformats.org/officeDocument/2006/relationships/slide" Target="slides/slide198.xml"/><Relationship Id="rId205" Type="http://schemas.openxmlformats.org/officeDocument/2006/relationships/slide" Target="slides/slide199.xml"/><Relationship Id="rId206" Type="http://schemas.openxmlformats.org/officeDocument/2006/relationships/slide" Target="slides/slide200.xml"/><Relationship Id="rId207" Type="http://schemas.openxmlformats.org/officeDocument/2006/relationships/slide" Target="slides/slide201.xml"/><Relationship Id="rId208" Type="http://schemas.openxmlformats.org/officeDocument/2006/relationships/slide" Target="slides/slide202.xml"/><Relationship Id="rId209" Type="http://schemas.openxmlformats.org/officeDocument/2006/relationships/slide" Target="slides/slide203.xml"/><Relationship Id="rId210" Type="http://schemas.openxmlformats.org/officeDocument/2006/relationships/slide" Target="slides/slide204.xml"/><Relationship Id="rId211" Type="http://schemas.openxmlformats.org/officeDocument/2006/relationships/slide" Target="slides/slide205.xml"/><Relationship Id="rId212" Type="http://schemas.openxmlformats.org/officeDocument/2006/relationships/slide" Target="slides/slide206.xml"/><Relationship Id="rId213" Type="http://schemas.openxmlformats.org/officeDocument/2006/relationships/slide" Target="slides/slide207.xml"/><Relationship Id="rId214" Type="http://schemas.openxmlformats.org/officeDocument/2006/relationships/slide" Target="slides/slide208.xml"/><Relationship Id="rId215" Type="http://schemas.openxmlformats.org/officeDocument/2006/relationships/slide" Target="slides/slide209.xml"/><Relationship Id="rId216" Type="http://schemas.openxmlformats.org/officeDocument/2006/relationships/slide" Target="slides/slide210.xml"/><Relationship Id="rId217" Type="http://schemas.openxmlformats.org/officeDocument/2006/relationships/slide" Target="slides/slide211.xml"/><Relationship Id="rId218" Type="http://schemas.openxmlformats.org/officeDocument/2006/relationships/slide" Target="slides/slide212.xml"/><Relationship Id="rId219" Type="http://schemas.openxmlformats.org/officeDocument/2006/relationships/slide" Target="slides/slide213.xml"/><Relationship Id="rId220" Type="http://schemas.openxmlformats.org/officeDocument/2006/relationships/slide" Target="slides/slide214.xml"/><Relationship Id="rId221" Type="http://schemas.openxmlformats.org/officeDocument/2006/relationships/slide" Target="slides/slide215.xml"/><Relationship Id="rId222" Type="http://schemas.openxmlformats.org/officeDocument/2006/relationships/slide" Target="slides/slide216.xml"/><Relationship Id="rId223" Type="http://schemas.openxmlformats.org/officeDocument/2006/relationships/slide" Target="slides/slide217.xml"/><Relationship Id="rId224" Type="http://schemas.openxmlformats.org/officeDocument/2006/relationships/slide" Target="slides/slide218.xml"/><Relationship Id="rId225" Type="http://schemas.openxmlformats.org/officeDocument/2006/relationships/slide" Target="slides/slide219.xml"/><Relationship Id="rId226" Type="http://schemas.openxmlformats.org/officeDocument/2006/relationships/slide" Target="slides/slide220.xml"/><Relationship Id="rId227" Type="http://schemas.openxmlformats.org/officeDocument/2006/relationships/slide" Target="slides/slide221.xml"/><Relationship Id="rId228" Type="http://schemas.openxmlformats.org/officeDocument/2006/relationships/slide" Target="slides/slide222.xml"/><Relationship Id="rId229" Type="http://schemas.openxmlformats.org/officeDocument/2006/relationships/slide" Target="slides/slide223.xml"/><Relationship Id="rId230" Type="http://schemas.openxmlformats.org/officeDocument/2006/relationships/slide" Target="slides/slide224.xml"/><Relationship Id="rId231" Type="http://schemas.openxmlformats.org/officeDocument/2006/relationships/slide" Target="slides/slide225.xml"/><Relationship Id="rId232" Type="http://schemas.openxmlformats.org/officeDocument/2006/relationships/slide" Target="slides/slide226.xml"/><Relationship Id="rId233" Type="http://schemas.openxmlformats.org/officeDocument/2006/relationships/slide" Target="slides/slide227.xml"/><Relationship Id="rId234" Type="http://schemas.openxmlformats.org/officeDocument/2006/relationships/slide" Target="slides/slide228.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96" name="Shape 4196"/>
        <p:cNvGrpSpPr/>
        <p:nvPr/>
      </p:nvGrpSpPr>
      <p:grpSpPr>
        <a:xfrm>
          <a:off x="0" y="0"/>
          <a:ext cx="0" cy="0"/>
          <a:chOff x="0" y="0"/>
          <a:chExt cx="0" cy="0"/>
        </a:xfrm>
      </p:grpSpPr>
      <p:sp>
        <p:nvSpPr>
          <p:cNvPr id="4197" name="Google Shape;4197;p1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98" name="Google Shape;4198;p1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99" name="Google Shape;4199;p1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17" name="Shape 4217"/>
        <p:cNvGrpSpPr/>
        <p:nvPr/>
      </p:nvGrpSpPr>
      <p:grpSpPr>
        <a:xfrm>
          <a:off x="0" y="0"/>
          <a:ext cx="0" cy="0"/>
          <a:chOff x="0" y="0"/>
          <a:chExt cx="0" cy="0"/>
        </a:xfrm>
      </p:grpSpPr>
      <p:sp>
        <p:nvSpPr>
          <p:cNvPr id="4218" name="Google Shape;4218;p19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19" name="Google Shape;4219;p1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26" name="Shape 4226"/>
        <p:cNvGrpSpPr/>
        <p:nvPr/>
      </p:nvGrpSpPr>
      <p:grpSpPr>
        <a:xfrm>
          <a:off x="0" y="0"/>
          <a:ext cx="0" cy="0"/>
          <a:chOff x="0" y="0"/>
          <a:chExt cx="0" cy="0"/>
        </a:xfrm>
      </p:grpSpPr>
      <p:sp>
        <p:nvSpPr>
          <p:cNvPr id="4227" name="Google Shape;4227;p1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28" name="Google Shape;4228;p1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35" name="Shape 4235"/>
        <p:cNvGrpSpPr/>
        <p:nvPr/>
      </p:nvGrpSpPr>
      <p:grpSpPr>
        <a:xfrm>
          <a:off x="0" y="0"/>
          <a:ext cx="0" cy="0"/>
          <a:chOff x="0" y="0"/>
          <a:chExt cx="0" cy="0"/>
        </a:xfrm>
      </p:grpSpPr>
      <p:sp>
        <p:nvSpPr>
          <p:cNvPr id="4236" name="Google Shape;4236;p19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37" name="Google Shape;4237;p1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4" name="Shape 4244"/>
        <p:cNvGrpSpPr/>
        <p:nvPr/>
      </p:nvGrpSpPr>
      <p:grpSpPr>
        <a:xfrm>
          <a:off x="0" y="0"/>
          <a:ext cx="0" cy="0"/>
          <a:chOff x="0" y="0"/>
          <a:chExt cx="0" cy="0"/>
        </a:xfrm>
      </p:grpSpPr>
      <p:sp>
        <p:nvSpPr>
          <p:cNvPr id="4245" name="Google Shape;4245;p19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46" name="Google Shape;4246;p1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6" name="Shape 4276"/>
        <p:cNvGrpSpPr/>
        <p:nvPr/>
      </p:nvGrpSpPr>
      <p:grpSpPr>
        <a:xfrm>
          <a:off x="0" y="0"/>
          <a:ext cx="0" cy="0"/>
          <a:chOff x="0" y="0"/>
          <a:chExt cx="0" cy="0"/>
        </a:xfrm>
      </p:grpSpPr>
      <p:sp>
        <p:nvSpPr>
          <p:cNvPr id="4277" name="Google Shape;4277;p198: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78" name="Google Shape;4278;p1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90" name="Shape 4290"/>
        <p:cNvGrpSpPr/>
        <p:nvPr/>
      </p:nvGrpSpPr>
      <p:grpSpPr>
        <a:xfrm>
          <a:off x="0" y="0"/>
          <a:ext cx="0" cy="0"/>
          <a:chOff x="0" y="0"/>
          <a:chExt cx="0" cy="0"/>
        </a:xfrm>
      </p:grpSpPr>
      <p:sp>
        <p:nvSpPr>
          <p:cNvPr id="4291" name="Google Shape;4291;p2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292" name="Google Shape;4292;p2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293" name="Google Shape;4293;p20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11" name="Shape 4311"/>
        <p:cNvGrpSpPr/>
        <p:nvPr/>
      </p:nvGrpSpPr>
      <p:grpSpPr>
        <a:xfrm>
          <a:off x="0" y="0"/>
          <a:ext cx="0" cy="0"/>
          <a:chOff x="0" y="0"/>
          <a:chExt cx="0" cy="0"/>
        </a:xfrm>
      </p:grpSpPr>
      <p:sp>
        <p:nvSpPr>
          <p:cNvPr id="4312" name="Google Shape;4312;p2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313" name="Google Shape;4313;p2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20" name="Shape 4320"/>
        <p:cNvGrpSpPr/>
        <p:nvPr/>
      </p:nvGrpSpPr>
      <p:grpSpPr>
        <a:xfrm>
          <a:off x="0" y="0"/>
          <a:ext cx="0" cy="0"/>
          <a:chOff x="0" y="0"/>
          <a:chExt cx="0" cy="0"/>
        </a:xfrm>
      </p:grpSpPr>
      <p:sp>
        <p:nvSpPr>
          <p:cNvPr id="4321" name="Google Shape;4321;p20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322" name="Google Shape;4322;p2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29" name="Shape 4329"/>
        <p:cNvGrpSpPr/>
        <p:nvPr/>
      </p:nvGrpSpPr>
      <p:grpSpPr>
        <a:xfrm>
          <a:off x="0" y="0"/>
          <a:ext cx="0" cy="0"/>
          <a:chOff x="0" y="0"/>
          <a:chExt cx="0" cy="0"/>
        </a:xfrm>
      </p:grpSpPr>
      <p:sp>
        <p:nvSpPr>
          <p:cNvPr id="4330" name="Google Shape;4330;p20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331" name="Google Shape;4331;p2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66" name="Shape 4366"/>
        <p:cNvGrpSpPr/>
        <p:nvPr/>
      </p:nvGrpSpPr>
      <p:grpSpPr>
        <a:xfrm>
          <a:off x="0" y="0"/>
          <a:ext cx="0" cy="0"/>
          <a:chOff x="0" y="0"/>
          <a:chExt cx="0" cy="0"/>
        </a:xfrm>
      </p:grpSpPr>
      <p:sp>
        <p:nvSpPr>
          <p:cNvPr id="4367" name="Google Shape;4367;p2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68" name="Google Shape;4368;p2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69" name="Google Shape;4369;p2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98" name="Shape 4398"/>
        <p:cNvGrpSpPr/>
        <p:nvPr/>
      </p:nvGrpSpPr>
      <p:grpSpPr>
        <a:xfrm>
          <a:off x="0" y="0"/>
          <a:ext cx="0" cy="0"/>
          <a:chOff x="0" y="0"/>
          <a:chExt cx="0" cy="0"/>
        </a:xfrm>
      </p:grpSpPr>
      <p:sp>
        <p:nvSpPr>
          <p:cNvPr id="4399" name="Google Shape;4399;p2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00" name="Google Shape;4400;p2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01" name="Google Shape;4401;p2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30" name="Shape 4430"/>
        <p:cNvGrpSpPr/>
        <p:nvPr/>
      </p:nvGrpSpPr>
      <p:grpSpPr>
        <a:xfrm>
          <a:off x="0" y="0"/>
          <a:ext cx="0" cy="0"/>
          <a:chOff x="0" y="0"/>
          <a:chExt cx="0" cy="0"/>
        </a:xfrm>
      </p:grpSpPr>
      <p:sp>
        <p:nvSpPr>
          <p:cNvPr id="4431" name="Google Shape;4431;p2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32" name="Google Shape;4432;p2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33" name="Google Shape;4433;p2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62" name="Shape 4462"/>
        <p:cNvGrpSpPr/>
        <p:nvPr/>
      </p:nvGrpSpPr>
      <p:grpSpPr>
        <a:xfrm>
          <a:off x="0" y="0"/>
          <a:ext cx="0" cy="0"/>
          <a:chOff x="0" y="0"/>
          <a:chExt cx="0" cy="0"/>
        </a:xfrm>
      </p:grpSpPr>
      <p:sp>
        <p:nvSpPr>
          <p:cNvPr id="4463" name="Google Shape;4463;p2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64" name="Google Shape;4464;p2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65" name="Google Shape;4465;p2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94" name="Shape 4494"/>
        <p:cNvGrpSpPr/>
        <p:nvPr/>
      </p:nvGrpSpPr>
      <p:grpSpPr>
        <a:xfrm>
          <a:off x="0" y="0"/>
          <a:ext cx="0" cy="0"/>
          <a:chOff x="0" y="0"/>
          <a:chExt cx="0" cy="0"/>
        </a:xfrm>
      </p:grpSpPr>
      <p:sp>
        <p:nvSpPr>
          <p:cNvPr id="4495" name="Google Shape;4495;p2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96" name="Google Shape;4496;p2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97" name="Google Shape;4497;p2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26" name="Shape 4526"/>
        <p:cNvGrpSpPr/>
        <p:nvPr/>
      </p:nvGrpSpPr>
      <p:grpSpPr>
        <a:xfrm>
          <a:off x="0" y="0"/>
          <a:ext cx="0" cy="0"/>
          <a:chOff x="0" y="0"/>
          <a:chExt cx="0" cy="0"/>
        </a:xfrm>
      </p:grpSpPr>
      <p:sp>
        <p:nvSpPr>
          <p:cNvPr id="4527" name="Google Shape;4527;p2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28" name="Google Shape;4528;p2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29" name="Google Shape;4529;p2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58" name="Shape 4558"/>
        <p:cNvGrpSpPr/>
        <p:nvPr/>
      </p:nvGrpSpPr>
      <p:grpSpPr>
        <a:xfrm>
          <a:off x="0" y="0"/>
          <a:ext cx="0" cy="0"/>
          <a:chOff x="0" y="0"/>
          <a:chExt cx="0" cy="0"/>
        </a:xfrm>
      </p:grpSpPr>
      <p:sp>
        <p:nvSpPr>
          <p:cNvPr id="4559" name="Google Shape;4559;p2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60" name="Google Shape;4560;p2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61" name="Google Shape;4561;p2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90" name="Shape 4590"/>
        <p:cNvGrpSpPr/>
        <p:nvPr/>
      </p:nvGrpSpPr>
      <p:grpSpPr>
        <a:xfrm>
          <a:off x="0" y="0"/>
          <a:ext cx="0" cy="0"/>
          <a:chOff x="0" y="0"/>
          <a:chExt cx="0" cy="0"/>
        </a:xfrm>
      </p:grpSpPr>
      <p:sp>
        <p:nvSpPr>
          <p:cNvPr id="4591" name="Google Shape;4591;p21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92" name="Google Shape;4592;p2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93" name="Google Shape;4593;p2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22" name="Shape 4622"/>
        <p:cNvGrpSpPr/>
        <p:nvPr/>
      </p:nvGrpSpPr>
      <p:grpSpPr>
        <a:xfrm>
          <a:off x="0" y="0"/>
          <a:ext cx="0" cy="0"/>
          <a:chOff x="0" y="0"/>
          <a:chExt cx="0" cy="0"/>
        </a:xfrm>
      </p:grpSpPr>
      <p:sp>
        <p:nvSpPr>
          <p:cNvPr id="4623" name="Google Shape;4623;p22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24" name="Google Shape;4624;p2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25" name="Google Shape;4625;p2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54" name="Shape 4654"/>
        <p:cNvGrpSpPr/>
        <p:nvPr/>
      </p:nvGrpSpPr>
      <p:grpSpPr>
        <a:xfrm>
          <a:off x="0" y="0"/>
          <a:ext cx="0" cy="0"/>
          <a:chOff x="0" y="0"/>
          <a:chExt cx="0" cy="0"/>
        </a:xfrm>
      </p:grpSpPr>
      <p:sp>
        <p:nvSpPr>
          <p:cNvPr id="4655" name="Google Shape;4655;p22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56" name="Google Shape;4656;p2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57" name="Google Shape;4657;p2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77" name="Shape 4677"/>
        <p:cNvGrpSpPr/>
        <p:nvPr/>
      </p:nvGrpSpPr>
      <p:grpSpPr>
        <a:xfrm>
          <a:off x="0" y="0"/>
          <a:ext cx="0" cy="0"/>
          <a:chOff x="0" y="0"/>
          <a:chExt cx="0" cy="0"/>
        </a:xfrm>
      </p:grpSpPr>
      <p:sp>
        <p:nvSpPr>
          <p:cNvPr id="4678" name="Google Shape;4678;p2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679" name="Google Shape;4679;p2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680" name="Google Shape;4680;p2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98" name="Shape 4698"/>
        <p:cNvGrpSpPr/>
        <p:nvPr/>
      </p:nvGrpSpPr>
      <p:grpSpPr>
        <a:xfrm>
          <a:off x="0" y="0"/>
          <a:ext cx="0" cy="0"/>
          <a:chOff x="0" y="0"/>
          <a:chExt cx="0" cy="0"/>
        </a:xfrm>
      </p:grpSpPr>
      <p:sp>
        <p:nvSpPr>
          <p:cNvPr id="4699" name="Google Shape;4699;p2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700" name="Google Shape;4700;p2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7" name="Shape 4707"/>
        <p:cNvGrpSpPr/>
        <p:nvPr/>
      </p:nvGrpSpPr>
      <p:grpSpPr>
        <a:xfrm>
          <a:off x="0" y="0"/>
          <a:ext cx="0" cy="0"/>
          <a:chOff x="0" y="0"/>
          <a:chExt cx="0" cy="0"/>
        </a:xfrm>
      </p:grpSpPr>
      <p:sp>
        <p:nvSpPr>
          <p:cNvPr id="4708" name="Google Shape;4708;p22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709" name="Google Shape;4709;p2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6" name="Shape 4716"/>
        <p:cNvGrpSpPr/>
        <p:nvPr/>
      </p:nvGrpSpPr>
      <p:grpSpPr>
        <a:xfrm>
          <a:off x="0" y="0"/>
          <a:ext cx="0" cy="0"/>
          <a:chOff x="0" y="0"/>
          <a:chExt cx="0" cy="0"/>
        </a:xfrm>
      </p:grpSpPr>
      <p:sp>
        <p:nvSpPr>
          <p:cNvPr id="4717" name="Google Shape;4717;p228: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718" name="Google Shape;4718;p2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2.xml"/><Relationship Id="rId3" Type="http://schemas.openxmlformats.org/officeDocument/2006/relationships/slide" Target="slide183.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3.xml"/><Relationship Id="rId3" Type="http://schemas.openxmlformats.org/officeDocument/2006/relationships/image" Target="../media/image36.jpg"/><Relationship Id="rId4" Type="http://schemas.openxmlformats.org/officeDocument/2006/relationships/slide" Target="slide183.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4.xml"/><Relationship Id="rId3" Type="http://schemas.openxmlformats.org/officeDocument/2006/relationships/image" Target="../media/image37.jpg"/><Relationship Id="rId4" Type="http://schemas.openxmlformats.org/officeDocument/2006/relationships/slide" Target="slide183.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5.xml"/><Relationship Id="rId3" Type="http://schemas.openxmlformats.org/officeDocument/2006/relationships/image" Target="../media/image32.png"/><Relationship Id="rId4" Type="http://schemas.openxmlformats.org/officeDocument/2006/relationships/slide" Target="slide183.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6.xml"/><Relationship Id="rId3"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8.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0.xml"/><Relationship Id="rId3" Type="http://schemas.openxmlformats.org/officeDocument/2006/relationships/image" Target="../media/image34.jpg"/><Relationship Id="rId4" Type="http://schemas.openxmlformats.org/officeDocument/2006/relationships/slide" Target="slide184.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1.xml"/><Relationship Id="rId3" Type="http://schemas.openxmlformats.org/officeDocument/2006/relationships/image" Target="../media/image36.jpg"/><Relationship Id="rId4" Type="http://schemas.openxmlformats.org/officeDocument/2006/relationships/slide" Target="slide184.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2.xml"/><Relationship Id="rId3" Type="http://schemas.openxmlformats.org/officeDocument/2006/relationships/image" Target="../media/image36.jpg"/><Relationship Id="rId4" Type="http://schemas.openxmlformats.org/officeDocument/2006/relationships/slide" Target="slide184.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3.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05.xml"/><Relationship Id="rId3"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07.xml"/><Relationship Id="rId3" Type="http://schemas.openxmlformats.org/officeDocument/2006/relationships/slide" Target="slide184.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09.xml"/><Relationship Id="rId3" Type="http://schemas.openxmlformats.org/officeDocument/2006/relationships/slide" Target="slide184.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11.xml"/><Relationship Id="rId3" Type="http://schemas.openxmlformats.org/officeDocument/2006/relationships/slide" Target="slide184.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13.xml"/><Relationship Id="rId3" Type="http://schemas.openxmlformats.org/officeDocument/2006/relationships/slide" Target="slide184.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15.xml"/><Relationship Id="rId3" Type="http://schemas.openxmlformats.org/officeDocument/2006/relationships/slide" Target="slide184.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17.xml"/><Relationship Id="rId3" Type="http://schemas.openxmlformats.org/officeDocument/2006/relationships/slide" Target="slide184.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19.xml"/><Relationship Id="rId3" Type="http://schemas.openxmlformats.org/officeDocument/2006/relationships/slide" Target="slide184.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21.xml"/><Relationship Id="rId3" Type="http://schemas.openxmlformats.org/officeDocument/2006/relationships/slide" Target="slide184.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23.xml"/><Relationship Id="rId3" Type="http://schemas.openxmlformats.org/officeDocument/2006/relationships/slide" Target="slide184.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5.xml"/><Relationship Id="rId3" Type="http://schemas.openxmlformats.org/officeDocument/2006/relationships/image" Target="../media/image38.png"/><Relationship Id="rId4" Type="http://schemas.openxmlformats.org/officeDocument/2006/relationships/slide" Target="slide185.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6.xml"/><Relationship Id="rId3" Type="http://schemas.openxmlformats.org/officeDocument/2006/relationships/image" Target="../media/image36.jpg"/><Relationship Id="rId4" Type="http://schemas.openxmlformats.org/officeDocument/2006/relationships/slide" Target="slide185.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7.xml"/><Relationship Id="rId3" Type="http://schemas.openxmlformats.org/officeDocument/2006/relationships/image" Target="../media/image36.jpg"/><Relationship Id="rId4" Type="http://schemas.openxmlformats.org/officeDocument/2006/relationships/slide" Target="slide185.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8.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00" name="Shape 4200"/>
        <p:cNvGrpSpPr/>
        <p:nvPr/>
      </p:nvGrpSpPr>
      <p:grpSpPr>
        <a:xfrm>
          <a:off x="0" y="0"/>
          <a:ext cx="0" cy="0"/>
          <a:chOff x="0" y="0"/>
          <a:chExt cx="0" cy="0"/>
        </a:xfrm>
      </p:grpSpPr>
      <p:sp>
        <p:nvSpPr>
          <p:cNvPr id="4201" name="Google Shape;4201;p222"/>
          <p:cNvSpPr/>
          <p:nvPr/>
        </p:nvSpPr>
        <p:spPr>
          <a:xfrm>
            <a:off x="7772400" y="-368299"/>
            <a:ext cx="1653702"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202" name="Google Shape;4202;p222"/>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 Challenges</a:t>
            </a:r>
            <a:endParaRPr/>
          </a:p>
        </p:txBody>
      </p:sp>
      <p:sp>
        <p:nvSpPr>
          <p:cNvPr id="4203" name="Google Shape;4203;p222"/>
          <p:cNvSpPr/>
          <p:nvPr/>
        </p:nvSpPr>
        <p:spPr>
          <a:xfrm>
            <a:off x="3638108" y="3867511"/>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1100">
                <a:solidFill>
                  <a:schemeClr val="dk1"/>
                </a:solidFill>
                <a:latin typeface="Century Gothic"/>
                <a:ea typeface="Century Gothic"/>
                <a:cs typeface="Century Gothic"/>
                <a:sym typeface="Century Gothic"/>
              </a:rPr>
              <a:t>Financial auditing requirements are leading to more strict internal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controls for financial reporting and increased importance of</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data accuracy</a:t>
            </a:r>
            <a:endParaRPr/>
          </a:p>
        </p:txBody>
      </p:sp>
      <p:sp>
        <p:nvSpPr>
          <p:cNvPr id="4204" name="Google Shape;4204;p222"/>
          <p:cNvSpPr/>
          <p:nvPr/>
        </p:nvSpPr>
        <p:spPr>
          <a:xfrm>
            <a:off x="3638108" y="3170398"/>
            <a:ext cx="5069957" cy="680400"/>
          </a:xfrm>
          <a:prstGeom prst="rect">
            <a:avLst/>
          </a:prstGeom>
          <a:solidFill>
            <a:schemeClr val="lt2"/>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1100">
                <a:solidFill>
                  <a:srgbClr val="3C3C3B"/>
                </a:solidFill>
                <a:latin typeface="Century Gothic"/>
                <a:ea typeface="Century Gothic"/>
                <a:cs typeface="Century Gothic"/>
                <a:sym typeface="Century Gothic"/>
              </a:rPr>
              <a:t>A lack of capacity and appropriate tools to deliver financial results and support the financial reporting requirements of the business departments driving a need for improved data availability and self service analytics </a:t>
            </a:r>
            <a:endParaRPr/>
          </a:p>
        </p:txBody>
      </p:sp>
      <p:sp>
        <p:nvSpPr>
          <p:cNvPr id="4205" name="Google Shape;4205;p222"/>
          <p:cNvSpPr/>
          <p:nvPr/>
        </p:nvSpPr>
        <p:spPr>
          <a:xfrm>
            <a:off x="532958" y="3867511"/>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4206" name="Google Shape;4206;p222"/>
          <p:cNvSpPr/>
          <p:nvPr/>
        </p:nvSpPr>
        <p:spPr>
          <a:xfrm>
            <a:off x="3638108" y="2468312"/>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1100">
                <a:solidFill>
                  <a:srgbClr val="3C3C3B"/>
                </a:solidFill>
                <a:latin typeface="Century Gothic"/>
                <a:ea typeface="Century Gothic"/>
                <a:cs typeface="Century Gothic"/>
                <a:sym typeface="Century Gothic"/>
              </a:rPr>
              <a:t>Providing clear and accessible financial information to business departments, project managers and local and regional directors</a:t>
            </a:r>
            <a:endParaRPr/>
          </a:p>
        </p:txBody>
      </p:sp>
      <p:sp>
        <p:nvSpPr>
          <p:cNvPr id="4207" name="Google Shape;4207;p222"/>
          <p:cNvSpPr/>
          <p:nvPr/>
        </p:nvSpPr>
        <p:spPr>
          <a:xfrm>
            <a:off x="532958" y="2468313"/>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4208" name="Google Shape;4208;p222"/>
          <p:cNvSpPr/>
          <p:nvPr/>
        </p:nvSpPr>
        <p:spPr>
          <a:xfrm>
            <a:off x="456757" y="2468313"/>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Communication</a:t>
            </a:r>
            <a:endParaRPr/>
          </a:p>
        </p:txBody>
      </p:sp>
      <p:sp>
        <p:nvSpPr>
          <p:cNvPr id="4209" name="Google Shape;4209;p222"/>
          <p:cNvSpPr/>
          <p:nvPr/>
        </p:nvSpPr>
        <p:spPr>
          <a:xfrm>
            <a:off x="3638107" y="1764056"/>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1100">
                <a:solidFill>
                  <a:srgbClr val="3C3C3B"/>
                </a:solidFill>
                <a:latin typeface="Century Gothic"/>
                <a:ea typeface="Century Gothic"/>
                <a:cs typeface="Century Gothic"/>
                <a:sym typeface="Century Gothic"/>
              </a:rPr>
              <a:t>Financial managers have to have the ability to provide accurate, credible usable and timely financial and risk information to key decision makers</a:t>
            </a:r>
            <a:endParaRPr sz="1100">
              <a:solidFill>
                <a:srgbClr val="3C3C3B"/>
              </a:solidFill>
              <a:latin typeface="Century Gothic"/>
              <a:ea typeface="Century Gothic"/>
              <a:cs typeface="Century Gothic"/>
              <a:sym typeface="Century Gothic"/>
            </a:endParaRPr>
          </a:p>
        </p:txBody>
      </p:sp>
      <p:sp>
        <p:nvSpPr>
          <p:cNvPr id="4210" name="Google Shape;4210;p222"/>
          <p:cNvSpPr/>
          <p:nvPr/>
        </p:nvSpPr>
        <p:spPr>
          <a:xfrm>
            <a:off x="532957" y="1764057"/>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4211" name="Google Shape;4211;p222"/>
          <p:cNvSpPr/>
          <p:nvPr/>
        </p:nvSpPr>
        <p:spPr>
          <a:xfrm>
            <a:off x="456757" y="1764057"/>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Delivering credible information</a:t>
            </a:r>
            <a:endParaRPr/>
          </a:p>
        </p:txBody>
      </p:sp>
      <p:sp>
        <p:nvSpPr>
          <p:cNvPr id="4212" name="Google Shape;4212;p222"/>
          <p:cNvSpPr/>
          <p:nvPr/>
        </p:nvSpPr>
        <p:spPr>
          <a:xfrm>
            <a:off x="456757" y="3867511"/>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Compliance concerns</a:t>
            </a:r>
            <a:endParaRPr/>
          </a:p>
        </p:txBody>
      </p:sp>
      <p:sp>
        <p:nvSpPr>
          <p:cNvPr id="4213" name="Google Shape;4213;p222"/>
          <p:cNvSpPr/>
          <p:nvPr/>
        </p:nvSpPr>
        <p:spPr>
          <a:xfrm>
            <a:off x="532958" y="3170399"/>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4214" name="Google Shape;4214;p222"/>
          <p:cNvSpPr/>
          <p:nvPr/>
        </p:nvSpPr>
        <p:spPr>
          <a:xfrm>
            <a:off x="456757" y="3170399"/>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Capacity and Capability</a:t>
            </a:r>
            <a:endParaRPr/>
          </a:p>
        </p:txBody>
      </p:sp>
      <p:sp>
        <p:nvSpPr>
          <p:cNvPr id="4215" name="Google Shape;4215;p222"/>
          <p:cNvSpPr/>
          <p:nvPr/>
        </p:nvSpPr>
        <p:spPr>
          <a:xfrm>
            <a:off x="456757" y="1011610"/>
            <a:ext cx="8251308"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Keeping current with financial standards, regulatory and compliance reporting, and business information needs and doing it all quickly, efficiently and a low cost.</a:t>
            </a:r>
            <a:endParaRPr sz="1200">
              <a:solidFill>
                <a:srgbClr val="FFFFFF"/>
              </a:solidFill>
              <a:latin typeface="Century Gothic"/>
              <a:ea typeface="Century Gothic"/>
              <a:cs typeface="Century Gothic"/>
              <a:sym typeface="Century Gothic"/>
            </a:endParaRPr>
          </a:p>
        </p:txBody>
      </p:sp>
      <p:sp>
        <p:nvSpPr>
          <p:cNvPr id="4216" name="Google Shape;4216;p222">
            <a:hlinkClick action="ppaction://hlinksldjump" r:id="rId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20" name="Shape 4220"/>
        <p:cNvGrpSpPr/>
        <p:nvPr/>
      </p:nvGrpSpPr>
      <p:grpSpPr>
        <a:xfrm>
          <a:off x="0" y="0"/>
          <a:ext cx="0" cy="0"/>
          <a:chOff x="0" y="0"/>
          <a:chExt cx="0" cy="0"/>
        </a:xfrm>
      </p:grpSpPr>
      <p:sp>
        <p:nvSpPr>
          <p:cNvPr id="4221" name="Google Shape;4221;p223"/>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222" name="Google Shape;4222;p223"/>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Challenges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Lack of insight amongst business unites and / or functional departments around business drivers, key performance metrics and strategic initiatives</a:t>
            </a:r>
            <a:endParaRPr/>
          </a:p>
          <a:p>
            <a:pPr indent="-169863" lvl="0" marL="169863" rtl="0" algn="l">
              <a:lnSpc>
                <a:spcPct val="95000"/>
              </a:lnSpc>
              <a:spcBef>
                <a:spcPts val="600"/>
              </a:spcBef>
              <a:spcAft>
                <a:spcPts val="0"/>
              </a:spcAft>
              <a:buClr>
                <a:schemeClr val="dk1"/>
              </a:buClr>
              <a:buSzPts val="1400"/>
              <a:buChar char="•"/>
            </a:pPr>
            <a:r>
              <a:rPr lang="en-GB" sz="1400"/>
              <a:t>Difficulty in data acquisition capabilities and data quality leads to more time spent in data management versus providing value driven analytics</a:t>
            </a:r>
            <a:endParaRPr/>
          </a:p>
          <a:p>
            <a:pPr indent="-169863" lvl="0" marL="169863" rtl="0" algn="l">
              <a:lnSpc>
                <a:spcPct val="95000"/>
              </a:lnSpc>
              <a:spcBef>
                <a:spcPts val="600"/>
              </a:spcBef>
              <a:spcAft>
                <a:spcPts val="0"/>
              </a:spcAft>
              <a:buClr>
                <a:schemeClr val="dk1"/>
              </a:buClr>
              <a:buSzPts val="1400"/>
              <a:buChar char="•"/>
            </a:pPr>
            <a:r>
              <a:rPr lang="en-GB" sz="1400"/>
              <a:t>Insufficient detail of data results in difficulty in reconciling or tracing back to the source system</a:t>
            </a:r>
            <a:endParaRPr/>
          </a:p>
          <a:p>
            <a:pPr indent="-169863" lvl="0" marL="169863" rtl="0" algn="l">
              <a:lnSpc>
                <a:spcPct val="95000"/>
              </a:lnSpc>
              <a:spcBef>
                <a:spcPts val="600"/>
              </a:spcBef>
              <a:spcAft>
                <a:spcPts val="0"/>
              </a:spcAft>
              <a:buClr>
                <a:schemeClr val="dk1"/>
              </a:buClr>
              <a:buSzPts val="1400"/>
              <a:buChar char="•"/>
            </a:pPr>
            <a:r>
              <a:rPr lang="en-GB" sz="1400"/>
              <a:t>Underdeveloped took-kit and solutions for reporting and ad-hoc analytics</a:t>
            </a:r>
            <a:endParaRPr/>
          </a:p>
          <a:p>
            <a:pPr indent="-169863" lvl="0" marL="169863" rtl="0" algn="l">
              <a:lnSpc>
                <a:spcPct val="95000"/>
              </a:lnSpc>
              <a:spcBef>
                <a:spcPts val="600"/>
              </a:spcBef>
              <a:spcAft>
                <a:spcPts val="0"/>
              </a:spcAft>
              <a:buClr>
                <a:schemeClr val="dk1"/>
              </a:buClr>
              <a:buSzPts val="1400"/>
              <a:buChar char="•"/>
            </a:pPr>
            <a:r>
              <a:rPr lang="en-GB" sz="1400"/>
              <a:t>Reliance on IT for data access leads to issues with timeliness and scalability issues</a:t>
            </a:r>
            <a:endParaRPr/>
          </a:p>
        </p:txBody>
      </p:sp>
      <p:sp>
        <p:nvSpPr>
          <p:cNvPr id="4223" name="Google Shape;4223;p223"/>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pic>
        <p:nvPicPr>
          <p:cNvPr id="4224" name="Google Shape;4224;p223"/>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4225" name="Google Shape;4225;p223">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29" name="Shape 4229"/>
        <p:cNvGrpSpPr/>
        <p:nvPr/>
      </p:nvGrpSpPr>
      <p:grpSpPr>
        <a:xfrm>
          <a:off x="0" y="0"/>
          <a:ext cx="0" cy="0"/>
          <a:chOff x="0" y="0"/>
          <a:chExt cx="0" cy="0"/>
        </a:xfrm>
      </p:grpSpPr>
      <p:sp>
        <p:nvSpPr>
          <p:cNvPr id="4230" name="Google Shape;4230;p224"/>
          <p:cNvSpPr/>
          <p:nvPr/>
        </p:nvSpPr>
        <p:spPr>
          <a:xfrm>
            <a:off x="7772400" y="-368299"/>
            <a:ext cx="1653702"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231" name="Google Shape;4231;p224"/>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sp>
        <p:nvSpPr>
          <p:cNvPr id="4232" name="Google Shape;4232;p224"/>
          <p:cNvSpPr txBox="1"/>
          <p:nvPr>
            <p:ph idx="4294967295" type="body"/>
          </p:nvPr>
        </p:nvSpPr>
        <p:spPr>
          <a:xfrm>
            <a:off x="281359" y="1122553"/>
            <a:ext cx="4844955" cy="3672000"/>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solidFill>
                  <a:schemeClr val="dk2"/>
                </a:solidFill>
              </a:rPr>
              <a:t>   Are You Able To…</a:t>
            </a:r>
            <a:endParaRPr/>
          </a:p>
          <a:p>
            <a:pPr indent="-228600" lvl="1" marL="457200" rtl="0" algn="l">
              <a:lnSpc>
                <a:spcPct val="95000"/>
              </a:lnSpc>
              <a:spcBef>
                <a:spcPts val="200"/>
              </a:spcBef>
              <a:spcAft>
                <a:spcPts val="0"/>
              </a:spcAft>
              <a:buClr>
                <a:schemeClr val="dk1"/>
              </a:buClr>
              <a:buSzPts val="1350"/>
              <a:buChar char="–"/>
            </a:pPr>
            <a:r>
              <a:rPr lang="en-GB" sz="1350"/>
              <a:t>Analyze a product’s overall profitability across all customers and channels?</a:t>
            </a:r>
            <a:endParaRPr/>
          </a:p>
          <a:p>
            <a:pPr indent="-228600" lvl="1" marL="457200" rtl="0" algn="l">
              <a:lnSpc>
                <a:spcPct val="95000"/>
              </a:lnSpc>
              <a:spcBef>
                <a:spcPts val="300"/>
              </a:spcBef>
              <a:spcAft>
                <a:spcPts val="0"/>
              </a:spcAft>
              <a:buClr>
                <a:schemeClr val="dk1"/>
              </a:buClr>
              <a:buSzPts val="1350"/>
              <a:buChar char="–"/>
            </a:pPr>
            <a:r>
              <a:rPr lang="en-GB" sz="1350"/>
              <a:t>Drill-down to view multiple dimension of profitability?</a:t>
            </a:r>
            <a:endParaRPr/>
          </a:p>
          <a:p>
            <a:pPr indent="-228600" lvl="1" marL="457200" rtl="0" algn="l">
              <a:lnSpc>
                <a:spcPct val="95000"/>
              </a:lnSpc>
              <a:spcBef>
                <a:spcPts val="300"/>
              </a:spcBef>
              <a:spcAft>
                <a:spcPts val="0"/>
              </a:spcAft>
              <a:buClr>
                <a:schemeClr val="dk1"/>
              </a:buClr>
              <a:buSzPts val="1350"/>
              <a:buChar char="–"/>
            </a:pPr>
            <a:r>
              <a:rPr lang="en-GB" sz="1350"/>
              <a:t>Reduce time for Closing the Books?</a:t>
            </a:r>
            <a:endParaRPr sz="1350"/>
          </a:p>
          <a:p>
            <a:pPr indent="-228600" lvl="1" marL="457200" rtl="0" algn="l">
              <a:lnSpc>
                <a:spcPct val="95000"/>
              </a:lnSpc>
              <a:spcBef>
                <a:spcPts val="300"/>
              </a:spcBef>
              <a:spcAft>
                <a:spcPts val="0"/>
              </a:spcAft>
              <a:buClr>
                <a:schemeClr val="dk1"/>
              </a:buClr>
              <a:buSzPts val="1350"/>
              <a:buChar char="–"/>
            </a:pPr>
            <a:r>
              <a:rPr lang="en-GB" sz="1350"/>
              <a:t>Improve your controlling capabilities via the use of combined ERP and non-ERP data?</a:t>
            </a:r>
            <a:endParaRPr sz="1350"/>
          </a:p>
          <a:p>
            <a:pPr indent="-228600" lvl="1" marL="457200" rtl="0" algn="l">
              <a:lnSpc>
                <a:spcPct val="95000"/>
              </a:lnSpc>
              <a:spcBef>
                <a:spcPts val="300"/>
              </a:spcBef>
              <a:spcAft>
                <a:spcPts val="0"/>
              </a:spcAft>
              <a:buClr>
                <a:schemeClr val="dk1"/>
              </a:buClr>
              <a:buSzPts val="1350"/>
              <a:buChar char="–"/>
            </a:pPr>
            <a:r>
              <a:rPr lang="en-GB" sz="1350"/>
              <a:t>Perform advanced Margin analysis, including specifying Activity Discounts per Category and Supplier etc.?</a:t>
            </a:r>
            <a:endParaRPr sz="1350"/>
          </a:p>
          <a:p>
            <a:pPr indent="-228600" lvl="1" marL="457200" rtl="0" algn="l">
              <a:lnSpc>
                <a:spcPct val="95000"/>
              </a:lnSpc>
              <a:spcBef>
                <a:spcPts val="300"/>
              </a:spcBef>
              <a:spcAft>
                <a:spcPts val="0"/>
              </a:spcAft>
              <a:buClr>
                <a:schemeClr val="dk1"/>
              </a:buClr>
              <a:buSzPts val="1350"/>
              <a:buChar char="–"/>
            </a:pPr>
            <a:r>
              <a:rPr lang="en-GB" sz="1350"/>
              <a:t>Optimize Forecasting and improve output accuracy?</a:t>
            </a:r>
            <a:endParaRPr sz="1350"/>
          </a:p>
          <a:p>
            <a:pPr indent="-228600" lvl="1" marL="457200" rtl="0" algn="l">
              <a:lnSpc>
                <a:spcPct val="95000"/>
              </a:lnSpc>
              <a:spcBef>
                <a:spcPts val="300"/>
              </a:spcBef>
              <a:spcAft>
                <a:spcPts val="0"/>
              </a:spcAft>
              <a:buClr>
                <a:schemeClr val="dk1"/>
              </a:buClr>
              <a:buSzPts val="1350"/>
              <a:buChar char="–"/>
            </a:pPr>
            <a:r>
              <a:rPr lang="en-GB" sz="1350"/>
              <a:t>Analyze the supply chain costs per activity /event?</a:t>
            </a:r>
            <a:endParaRPr sz="1350"/>
          </a:p>
          <a:p>
            <a:pPr indent="-228600" lvl="1" marL="457200" rtl="0" algn="l">
              <a:lnSpc>
                <a:spcPct val="95000"/>
              </a:lnSpc>
              <a:spcBef>
                <a:spcPts val="300"/>
              </a:spcBef>
              <a:spcAft>
                <a:spcPts val="0"/>
              </a:spcAft>
              <a:buClr>
                <a:schemeClr val="dk1"/>
              </a:buClr>
              <a:buSzPts val="1350"/>
              <a:buChar char="–"/>
            </a:pPr>
            <a:r>
              <a:rPr lang="en-GB" sz="1350"/>
              <a:t>Reduce the Cost of the Finance Department (less manual work and less need for Excel/individual applications)?</a:t>
            </a:r>
            <a:endParaRPr/>
          </a:p>
        </p:txBody>
      </p:sp>
      <p:pic>
        <p:nvPicPr>
          <p:cNvPr id="4233" name="Google Shape;4233;p224"/>
          <p:cNvPicPr preferRelativeResize="0"/>
          <p:nvPr/>
        </p:nvPicPr>
        <p:blipFill rotWithShape="1">
          <a:blip r:embed="rId3">
            <a:alphaModFix/>
          </a:blip>
          <a:srcRect b="0" l="0" r="19512" t="0"/>
          <a:stretch/>
        </p:blipFill>
        <p:spPr>
          <a:xfrm>
            <a:off x="5971785" y="637944"/>
            <a:ext cx="2675387" cy="3654935"/>
          </a:xfrm>
          <a:prstGeom prst="rect">
            <a:avLst/>
          </a:prstGeom>
          <a:noFill/>
          <a:ln>
            <a:noFill/>
          </a:ln>
        </p:spPr>
      </p:pic>
      <p:sp>
        <p:nvSpPr>
          <p:cNvPr id="4234" name="Google Shape;4234;p224">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38" name="Shape 4238"/>
        <p:cNvGrpSpPr/>
        <p:nvPr/>
      </p:nvGrpSpPr>
      <p:grpSpPr>
        <a:xfrm>
          <a:off x="0" y="0"/>
          <a:ext cx="0" cy="0"/>
          <a:chOff x="0" y="0"/>
          <a:chExt cx="0" cy="0"/>
        </a:xfrm>
      </p:grpSpPr>
      <p:sp>
        <p:nvSpPr>
          <p:cNvPr id="4239" name="Google Shape;4239;p225"/>
          <p:cNvSpPr/>
          <p:nvPr/>
        </p:nvSpPr>
        <p:spPr>
          <a:xfrm>
            <a:off x="7772400" y="-368299"/>
            <a:ext cx="1653702"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id="4240" name="Google Shape;4240;p225"/>
          <p:cNvPicPr preferRelativeResize="0"/>
          <p:nvPr/>
        </p:nvPicPr>
        <p:blipFill rotWithShape="1">
          <a:blip r:embed="rId3">
            <a:alphaModFix/>
          </a:blip>
          <a:srcRect b="0" l="0" r="0" t="0"/>
          <a:stretch/>
        </p:blipFill>
        <p:spPr>
          <a:xfrm>
            <a:off x="5971785" y="637943"/>
            <a:ext cx="2675387" cy="3787461"/>
          </a:xfrm>
          <a:prstGeom prst="rect">
            <a:avLst/>
          </a:prstGeom>
          <a:noFill/>
          <a:ln>
            <a:noFill/>
          </a:ln>
        </p:spPr>
      </p:pic>
      <p:sp>
        <p:nvSpPr>
          <p:cNvPr id="4241" name="Google Shape;4241;p225"/>
          <p:cNvSpPr txBox="1"/>
          <p:nvPr>
            <p:ph idx="1" type="body"/>
          </p:nvPr>
        </p:nvSpPr>
        <p:spPr>
          <a:xfrm>
            <a:off x="467360" y="1182730"/>
            <a:ext cx="436394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110000"/>
              </a:lnSpc>
              <a:spcBef>
                <a:spcPts val="800"/>
              </a:spcBef>
              <a:spcAft>
                <a:spcPts val="0"/>
              </a:spcAft>
              <a:buClr>
                <a:schemeClr val="dk1"/>
              </a:buClr>
              <a:buSzPts val="1400"/>
              <a:buChar char="•"/>
            </a:pPr>
            <a:r>
              <a:rPr lang="en-GB" sz="1400"/>
              <a:t>By establishing a data foundation for the Finance Function based on integrated and detailed ERP and non-ERP data, then the organisation will:</a:t>
            </a:r>
            <a:endParaRPr sz="1400"/>
          </a:p>
          <a:p>
            <a:pPr indent="-185737" lvl="2" marL="361950" rtl="0" algn="l">
              <a:lnSpc>
                <a:spcPct val="110000"/>
              </a:lnSpc>
              <a:spcBef>
                <a:spcPts val="200"/>
              </a:spcBef>
              <a:spcAft>
                <a:spcPts val="0"/>
              </a:spcAft>
              <a:buClr>
                <a:schemeClr val="dk1"/>
              </a:buClr>
              <a:buSzPts val="1400"/>
              <a:buChar char="-"/>
            </a:pPr>
            <a:r>
              <a:rPr lang="en-GB"/>
              <a:t>Increase their analytical capabilities </a:t>
            </a:r>
            <a:br>
              <a:rPr lang="en-GB"/>
            </a:br>
            <a:r>
              <a:rPr lang="en-GB"/>
              <a:t>(by having many more dimensions and attributes for analytics)</a:t>
            </a:r>
            <a:endParaRPr/>
          </a:p>
          <a:p>
            <a:pPr indent="-185737" lvl="2" marL="361950" rtl="0" algn="l">
              <a:lnSpc>
                <a:spcPct val="110000"/>
              </a:lnSpc>
              <a:spcBef>
                <a:spcPts val="0"/>
              </a:spcBef>
              <a:spcAft>
                <a:spcPts val="0"/>
              </a:spcAft>
              <a:buClr>
                <a:schemeClr val="dk1"/>
              </a:buClr>
              <a:buSzPts val="1400"/>
              <a:buChar char="-"/>
            </a:pPr>
            <a:r>
              <a:rPr lang="en-GB"/>
              <a:t>Reduce the Cost-to-Serve (as the need </a:t>
            </a:r>
            <a:br>
              <a:rPr lang="en-GB"/>
            </a:br>
            <a:r>
              <a:rPr lang="en-GB"/>
              <a:t>for manual data massaging will be significantly minimized)</a:t>
            </a:r>
            <a:endParaRPr/>
          </a:p>
          <a:p>
            <a:pPr indent="-185737" lvl="2" marL="361950" rtl="0" algn="l">
              <a:lnSpc>
                <a:spcPct val="110000"/>
              </a:lnSpc>
              <a:spcBef>
                <a:spcPts val="0"/>
              </a:spcBef>
              <a:spcAft>
                <a:spcPts val="0"/>
              </a:spcAft>
              <a:buClr>
                <a:schemeClr val="dk1"/>
              </a:buClr>
              <a:buSzPts val="1400"/>
              <a:buChar char="-"/>
            </a:pPr>
            <a:r>
              <a:rPr lang="en-GB"/>
              <a:t>Close the Books faster (and thereby move away for historical analyses to forward looking activities)</a:t>
            </a:r>
            <a:endParaRPr/>
          </a:p>
        </p:txBody>
      </p:sp>
      <p:sp>
        <p:nvSpPr>
          <p:cNvPr id="4242" name="Google Shape;4242;p22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sp>
        <p:nvSpPr>
          <p:cNvPr id="4243" name="Google Shape;4243;p22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47" name="Shape 4247"/>
        <p:cNvGrpSpPr/>
        <p:nvPr/>
      </p:nvGrpSpPr>
      <p:grpSpPr>
        <a:xfrm>
          <a:off x="0" y="0"/>
          <a:ext cx="0" cy="0"/>
          <a:chOff x="0" y="0"/>
          <a:chExt cx="0" cy="0"/>
        </a:xfrm>
      </p:grpSpPr>
      <p:sp>
        <p:nvSpPr>
          <p:cNvPr id="4248" name="Google Shape;4248;p226"/>
          <p:cNvSpPr/>
          <p:nvPr/>
        </p:nvSpPr>
        <p:spPr>
          <a:xfrm>
            <a:off x="7772400" y="-368299"/>
            <a:ext cx="1653702"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249" name="Google Shape;4249;p226"/>
          <p:cNvSpPr/>
          <p:nvPr/>
        </p:nvSpPr>
        <p:spPr>
          <a:xfrm>
            <a:off x="2736757" y="2342819"/>
            <a:ext cx="5971308" cy="464884"/>
          </a:xfrm>
          <a:prstGeom prst="rect">
            <a:avLst/>
          </a:prstGeom>
          <a:solidFill>
            <a:schemeClr val="lt2"/>
          </a:solidFill>
          <a:ln>
            <a:noFill/>
          </a:ln>
        </p:spPr>
        <p:txBody>
          <a:bodyPr anchorCtr="0" anchor="ctr" bIns="91425" lIns="36000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Ensuring that regulatory and compliance reports are delivered on time in the most efficient way reduces risk and frees up resources to focus on value-generating activities.</a:t>
            </a:r>
            <a:endParaRPr sz="1000">
              <a:solidFill>
                <a:schemeClr val="dk1"/>
              </a:solidFill>
              <a:latin typeface="Century Gothic"/>
              <a:ea typeface="Century Gothic"/>
              <a:cs typeface="Century Gothic"/>
              <a:sym typeface="Century Gothic"/>
            </a:endParaRPr>
          </a:p>
        </p:txBody>
      </p:sp>
      <p:sp>
        <p:nvSpPr>
          <p:cNvPr id="4250" name="Google Shape;4250;p226"/>
          <p:cNvSpPr/>
          <p:nvPr/>
        </p:nvSpPr>
        <p:spPr>
          <a:xfrm>
            <a:off x="2736757" y="2922888"/>
            <a:ext cx="5971308" cy="464884"/>
          </a:xfrm>
          <a:prstGeom prst="rect">
            <a:avLst/>
          </a:prstGeom>
          <a:solidFill>
            <a:schemeClr val="lt2"/>
          </a:solidFill>
          <a:ln>
            <a:noFill/>
          </a:ln>
        </p:spPr>
        <p:txBody>
          <a:bodyPr anchorCtr="0" anchor="ctr" bIns="91425" lIns="36000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Ensures that spend is justified and has a measurable  ROI impact and maintains margin</a:t>
            </a:r>
            <a:endParaRPr sz="1000">
              <a:solidFill>
                <a:schemeClr val="dk1"/>
              </a:solidFill>
              <a:latin typeface="Century Gothic"/>
              <a:ea typeface="Century Gothic"/>
              <a:cs typeface="Century Gothic"/>
              <a:sym typeface="Century Gothic"/>
            </a:endParaRPr>
          </a:p>
        </p:txBody>
      </p:sp>
      <p:sp>
        <p:nvSpPr>
          <p:cNvPr id="4251" name="Google Shape;4251;p226"/>
          <p:cNvSpPr/>
          <p:nvPr/>
        </p:nvSpPr>
        <p:spPr>
          <a:xfrm>
            <a:off x="2736757" y="3502957"/>
            <a:ext cx="5971308" cy="464884"/>
          </a:xfrm>
          <a:prstGeom prst="rect">
            <a:avLst/>
          </a:prstGeom>
          <a:solidFill>
            <a:schemeClr val="lt2"/>
          </a:solidFill>
          <a:ln>
            <a:noFill/>
          </a:ln>
        </p:spPr>
        <p:txBody>
          <a:bodyPr anchorCtr="0" anchor="ctr" bIns="91425" lIns="36000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Having a centralized view of spend, and managing budgets allows books to be closed earlier and cashflow optimised</a:t>
            </a:r>
            <a:endParaRPr sz="1000">
              <a:solidFill>
                <a:schemeClr val="dk1"/>
              </a:solidFill>
              <a:latin typeface="Century Gothic"/>
              <a:ea typeface="Century Gothic"/>
              <a:cs typeface="Century Gothic"/>
              <a:sym typeface="Century Gothic"/>
            </a:endParaRPr>
          </a:p>
        </p:txBody>
      </p:sp>
      <p:sp>
        <p:nvSpPr>
          <p:cNvPr id="4252" name="Google Shape;4252;p226"/>
          <p:cNvSpPr/>
          <p:nvPr/>
        </p:nvSpPr>
        <p:spPr>
          <a:xfrm>
            <a:off x="2736757" y="4083027"/>
            <a:ext cx="5971308" cy="464884"/>
          </a:xfrm>
          <a:prstGeom prst="rect">
            <a:avLst/>
          </a:prstGeom>
          <a:solidFill>
            <a:schemeClr val="lt2"/>
          </a:solidFill>
          <a:ln>
            <a:noFill/>
          </a:ln>
        </p:spPr>
        <p:txBody>
          <a:bodyPr anchorCtr="0" anchor="ctr" bIns="91425" lIns="36000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Provide powerful views for  all departments to understand their full finance lifecycle from budgeting to expenses enables accurate planning and effective management</a:t>
            </a:r>
            <a:endParaRPr sz="1000">
              <a:solidFill>
                <a:schemeClr val="dk1"/>
              </a:solidFill>
              <a:latin typeface="Century Gothic"/>
              <a:ea typeface="Century Gothic"/>
              <a:cs typeface="Century Gothic"/>
              <a:sym typeface="Century Gothic"/>
            </a:endParaRPr>
          </a:p>
        </p:txBody>
      </p:sp>
      <p:sp>
        <p:nvSpPr>
          <p:cNvPr id="4253" name="Google Shape;4253;p226"/>
          <p:cNvSpPr/>
          <p:nvPr/>
        </p:nvSpPr>
        <p:spPr>
          <a:xfrm>
            <a:off x="2736757" y="1762750"/>
            <a:ext cx="5971308" cy="464884"/>
          </a:xfrm>
          <a:prstGeom prst="rect">
            <a:avLst/>
          </a:prstGeom>
          <a:solidFill>
            <a:schemeClr val="lt2"/>
          </a:solidFill>
          <a:ln>
            <a:noFill/>
          </a:ln>
        </p:spPr>
        <p:txBody>
          <a:bodyPr anchorCtr="0" anchor="ctr" bIns="91425" lIns="36000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By delivering detailed financial and performance management information and KPIs management at all levels has a full understanding of their performance and challenges</a:t>
            </a:r>
            <a:endParaRPr sz="1000">
              <a:solidFill>
                <a:schemeClr val="dk1"/>
              </a:solidFill>
              <a:latin typeface="Century Gothic"/>
              <a:ea typeface="Century Gothic"/>
              <a:cs typeface="Century Gothic"/>
              <a:sym typeface="Century Gothic"/>
            </a:endParaRPr>
          </a:p>
        </p:txBody>
      </p:sp>
      <p:sp>
        <p:nvSpPr>
          <p:cNvPr id="4254" name="Google Shape;4254;p226"/>
          <p:cNvSpPr/>
          <p:nvPr/>
        </p:nvSpPr>
        <p:spPr>
          <a:xfrm>
            <a:off x="536133" y="2342820"/>
            <a:ext cx="2422146" cy="464884"/>
          </a:xfrm>
          <a:prstGeom prst="homePlate">
            <a:avLst>
              <a:gd fmla="val 23856" name="adj"/>
            </a:avLst>
          </a:prstGeom>
          <a:solidFill>
            <a:schemeClr val="lt1"/>
          </a:solidFill>
          <a:ln>
            <a:noFill/>
          </a:ln>
        </p:spPr>
        <p:txBody>
          <a:bodyPr anchorCtr="0" anchor="ctr" bIns="91425" lIns="108000" spcFirstLastPara="1" rIns="108000" wrap="square" tIns="91425">
            <a:noAutofit/>
          </a:bodyPr>
          <a:lstStyle/>
          <a:p>
            <a:pPr indent="0" lvl="0" marL="0" marR="0" rtl="0" algn="l">
              <a:spcBef>
                <a:spcPts val="0"/>
              </a:spcBef>
              <a:spcAft>
                <a:spcPts val="0"/>
              </a:spcAft>
              <a:buNone/>
            </a:pPr>
            <a:r>
              <a:t/>
            </a:r>
            <a:endParaRPr b="1" sz="1200">
              <a:solidFill>
                <a:schemeClr val="lt1"/>
              </a:solidFill>
              <a:latin typeface="Century Gothic"/>
              <a:ea typeface="Century Gothic"/>
              <a:cs typeface="Century Gothic"/>
              <a:sym typeface="Century Gothic"/>
            </a:endParaRPr>
          </a:p>
        </p:txBody>
      </p:sp>
      <p:sp>
        <p:nvSpPr>
          <p:cNvPr id="4255" name="Google Shape;4255;p226"/>
          <p:cNvSpPr/>
          <p:nvPr/>
        </p:nvSpPr>
        <p:spPr>
          <a:xfrm>
            <a:off x="528195" y="2922890"/>
            <a:ext cx="2427441" cy="464884"/>
          </a:xfrm>
          <a:prstGeom prst="homePlate">
            <a:avLst>
              <a:gd fmla="val 23856" name="adj"/>
            </a:avLst>
          </a:prstGeom>
          <a:solidFill>
            <a:schemeClr val="lt1"/>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t/>
            </a:r>
            <a:endParaRPr b="1" sz="1200">
              <a:solidFill>
                <a:schemeClr val="lt1"/>
              </a:solidFill>
              <a:latin typeface="Century Gothic"/>
              <a:ea typeface="Century Gothic"/>
              <a:cs typeface="Century Gothic"/>
              <a:sym typeface="Century Gothic"/>
            </a:endParaRPr>
          </a:p>
        </p:txBody>
      </p:sp>
      <p:sp>
        <p:nvSpPr>
          <p:cNvPr id="4256" name="Google Shape;4256;p226"/>
          <p:cNvSpPr/>
          <p:nvPr/>
        </p:nvSpPr>
        <p:spPr>
          <a:xfrm>
            <a:off x="528195" y="3502960"/>
            <a:ext cx="2427441" cy="464884"/>
          </a:xfrm>
          <a:prstGeom prst="homePlate">
            <a:avLst>
              <a:gd fmla="val 23856" name="adj"/>
            </a:avLst>
          </a:prstGeom>
          <a:solidFill>
            <a:schemeClr val="lt1"/>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t/>
            </a:r>
            <a:endParaRPr b="1" sz="1200">
              <a:solidFill>
                <a:schemeClr val="lt1"/>
              </a:solidFill>
              <a:latin typeface="Century Gothic"/>
              <a:ea typeface="Century Gothic"/>
              <a:cs typeface="Century Gothic"/>
              <a:sym typeface="Century Gothic"/>
            </a:endParaRPr>
          </a:p>
        </p:txBody>
      </p:sp>
      <p:sp>
        <p:nvSpPr>
          <p:cNvPr id="4257" name="Google Shape;4257;p226"/>
          <p:cNvSpPr/>
          <p:nvPr/>
        </p:nvSpPr>
        <p:spPr>
          <a:xfrm>
            <a:off x="528196" y="4083028"/>
            <a:ext cx="2427440" cy="464884"/>
          </a:xfrm>
          <a:prstGeom prst="homePlate">
            <a:avLst>
              <a:gd fmla="val 23856" name="adj"/>
            </a:avLst>
          </a:prstGeom>
          <a:solidFill>
            <a:schemeClr val="lt1"/>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t/>
            </a:r>
            <a:endParaRPr b="1" sz="1200">
              <a:solidFill>
                <a:schemeClr val="lt1"/>
              </a:solidFill>
              <a:latin typeface="Century Gothic"/>
              <a:ea typeface="Century Gothic"/>
              <a:cs typeface="Century Gothic"/>
              <a:sym typeface="Century Gothic"/>
            </a:endParaRPr>
          </a:p>
        </p:txBody>
      </p:sp>
      <p:sp>
        <p:nvSpPr>
          <p:cNvPr id="4258" name="Google Shape;4258;p226"/>
          <p:cNvSpPr/>
          <p:nvPr/>
        </p:nvSpPr>
        <p:spPr>
          <a:xfrm>
            <a:off x="536133" y="1762750"/>
            <a:ext cx="2422146" cy="464884"/>
          </a:xfrm>
          <a:prstGeom prst="homePlate">
            <a:avLst>
              <a:gd fmla="val 23856" name="adj"/>
            </a:avLst>
          </a:prstGeom>
          <a:solidFill>
            <a:schemeClr val="lt1"/>
          </a:solidFill>
          <a:ln>
            <a:noFill/>
          </a:ln>
        </p:spPr>
        <p:txBody>
          <a:bodyPr anchorCtr="0" anchor="ctr" bIns="91425" lIns="108000" spcFirstLastPara="1" rIns="108000" wrap="square" tIns="91425">
            <a:noAutofit/>
          </a:bodyPr>
          <a:lstStyle/>
          <a:p>
            <a:pPr indent="0" lvl="0" marL="0" marR="0" rtl="0" algn="l">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4259" name="Google Shape;4259;p226"/>
          <p:cNvSpPr txBox="1"/>
          <p:nvPr>
            <p:ph type="title"/>
          </p:nvPr>
        </p:nvSpPr>
        <p:spPr>
          <a:xfrm>
            <a:off x="477879" y="-384527"/>
            <a:ext cx="6579691"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Value of Finance &amp; Performance</a:t>
            </a:r>
            <a:br>
              <a:rPr lang="en-GB"/>
            </a:br>
            <a:r>
              <a:rPr lang="en-GB"/>
              <a:t>Management</a:t>
            </a:r>
            <a:endParaRPr/>
          </a:p>
        </p:txBody>
      </p:sp>
      <p:sp>
        <p:nvSpPr>
          <p:cNvPr id="4260" name="Google Shape;4260;p226"/>
          <p:cNvSpPr/>
          <p:nvPr/>
        </p:nvSpPr>
        <p:spPr>
          <a:xfrm>
            <a:off x="481013" y="2342819"/>
            <a:ext cx="2422146" cy="464884"/>
          </a:xfrm>
          <a:prstGeom prst="homePlate">
            <a:avLst>
              <a:gd fmla="val 23856" name="adj"/>
            </a:avLst>
          </a:prstGeom>
          <a:solidFill>
            <a:srgbClr val="EC881D"/>
          </a:solidFill>
          <a:ln>
            <a:noFill/>
          </a:ln>
        </p:spPr>
        <p:txBody>
          <a:bodyPr anchorCtr="0" anchor="ctr" bIns="91425" lIns="108000" spcFirstLastPara="1" rIns="1080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Compliance</a:t>
            </a:r>
            <a:endParaRPr b="1" sz="1200">
              <a:solidFill>
                <a:schemeClr val="lt1"/>
              </a:solidFill>
              <a:latin typeface="Century Gothic"/>
              <a:ea typeface="Century Gothic"/>
              <a:cs typeface="Century Gothic"/>
              <a:sym typeface="Century Gothic"/>
            </a:endParaRPr>
          </a:p>
        </p:txBody>
      </p:sp>
      <p:sp>
        <p:nvSpPr>
          <p:cNvPr id="4261" name="Google Shape;4261;p226"/>
          <p:cNvSpPr/>
          <p:nvPr/>
        </p:nvSpPr>
        <p:spPr>
          <a:xfrm>
            <a:off x="473075" y="2922889"/>
            <a:ext cx="2427441" cy="464884"/>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ROI driven</a:t>
            </a:r>
            <a:endParaRPr b="1" sz="1200">
              <a:solidFill>
                <a:schemeClr val="lt1"/>
              </a:solidFill>
              <a:latin typeface="Century Gothic"/>
              <a:ea typeface="Century Gothic"/>
              <a:cs typeface="Century Gothic"/>
              <a:sym typeface="Century Gothic"/>
            </a:endParaRPr>
          </a:p>
        </p:txBody>
      </p:sp>
      <p:sp>
        <p:nvSpPr>
          <p:cNvPr id="4262" name="Google Shape;4262;p226"/>
          <p:cNvSpPr/>
          <p:nvPr/>
        </p:nvSpPr>
        <p:spPr>
          <a:xfrm>
            <a:off x="473075" y="3502959"/>
            <a:ext cx="2427441" cy="464884"/>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Speed</a:t>
            </a:r>
            <a:endParaRPr b="1" sz="1200">
              <a:solidFill>
                <a:schemeClr val="lt1"/>
              </a:solidFill>
              <a:latin typeface="Century Gothic"/>
              <a:ea typeface="Century Gothic"/>
              <a:cs typeface="Century Gothic"/>
              <a:sym typeface="Century Gothic"/>
            </a:endParaRPr>
          </a:p>
        </p:txBody>
      </p:sp>
      <p:sp>
        <p:nvSpPr>
          <p:cNvPr id="4263" name="Google Shape;4263;p226"/>
          <p:cNvSpPr/>
          <p:nvPr/>
        </p:nvSpPr>
        <p:spPr>
          <a:xfrm>
            <a:off x="473076" y="4083027"/>
            <a:ext cx="2427440" cy="464884"/>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Comprehensive </a:t>
            </a:r>
            <a:br>
              <a:rPr b="1" lang="en-GB" sz="1200">
                <a:solidFill>
                  <a:schemeClr val="lt1"/>
                </a:solidFill>
                <a:latin typeface="Century Gothic"/>
                <a:ea typeface="Century Gothic"/>
                <a:cs typeface="Century Gothic"/>
                <a:sym typeface="Century Gothic"/>
              </a:rPr>
            </a:br>
            <a:r>
              <a:rPr b="1" lang="en-GB" sz="1200">
                <a:solidFill>
                  <a:schemeClr val="lt1"/>
                </a:solidFill>
                <a:latin typeface="Century Gothic"/>
                <a:ea typeface="Century Gothic"/>
                <a:cs typeface="Century Gothic"/>
                <a:sym typeface="Century Gothic"/>
              </a:rPr>
              <a:t>Spend Management</a:t>
            </a:r>
            <a:endParaRPr b="1" sz="1200">
              <a:solidFill>
                <a:schemeClr val="lt1"/>
              </a:solidFill>
              <a:latin typeface="Century Gothic"/>
              <a:ea typeface="Century Gothic"/>
              <a:cs typeface="Century Gothic"/>
              <a:sym typeface="Century Gothic"/>
            </a:endParaRPr>
          </a:p>
        </p:txBody>
      </p:sp>
      <p:sp>
        <p:nvSpPr>
          <p:cNvPr id="4264" name="Google Shape;4264;p226"/>
          <p:cNvSpPr/>
          <p:nvPr/>
        </p:nvSpPr>
        <p:spPr>
          <a:xfrm>
            <a:off x="481013" y="1762749"/>
            <a:ext cx="2422146" cy="464884"/>
          </a:xfrm>
          <a:prstGeom prst="homePlate">
            <a:avLst>
              <a:gd fmla="val 23856" name="adj"/>
            </a:avLst>
          </a:prstGeom>
          <a:solidFill>
            <a:srgbClr val="EC881D"/>
          </a:solidFill>
          <a:ln>
            <a:noFill/>
          </a:ln>
        </p:spPr>
        <p:txBody>
          <a:bodyPr anchorCtr="0" anchor="ctr" bIns="91425" lIns="108000" spcFirstLastPara="1" rIns="108000" wrap="square" tIns="91425">
            <a:noAutofit/>
          </a:bodyPr>
          <a:lstStyle/>
          <a:p>
            <a:pPr indent="0" lvl="0" marL="0" marR="0" rtl="0" algn="l">
              <a:spcBef>
                <a:spcPts val="0"/>
              </a:spcBef>
              <a:spcAft>
                <a:spcPts val="0"/>
              </a:spcAft>
              <a:buNone/>
            </a:pPr>
            <a:r>
              <a:rPr b="1" lang="en-GB" sz="1200">
                <a:solidFill>
                  <a:schemeClr val="lt1"/>
                </a:solidFill>
                <a:latin typeface="Century Gothic"/>
                <a:ea typeface="Century Gothic"/>
                <a:cs typeface="Century Gothic"/>
                <a:sym typeface="Century Gothic"/>
              </a:rPr>
              <a:t>Clarity and transparency</a:t>
            </a:r>
            <a:endParaRPr b="1" sz="1200">
              <a:solidFill>
                <a:srgbClr val="FFFFFF"/>
              </a:solidFill>
              <a:latin typeface="Century Gothic"/>
              <a:ea typeface="Century Gothic"/>
              <a:cs typeface="Century Gothic"/>
              <a:sym typeface="Century Gothic"/>
            </a:endParaRPr>
          </a:p>
        </p:txBody>
      </p:sp>
      <p:sp>
        <p:nvSpPr>
          <p:cNvPr id="4265" name="Google Shape;4265;p226"/>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1200">
                <a:solidFill>
                  <a:srgbClr val="FFFFFF"/>
                </a:solidFill>
                <a:latin typeface="Century Gothic"/>
                <a:ea typeface="Century Gothic"/>
                <a:cs typeface="Century Gothic"/>
                <a:sym typeface="Century Gothic"/>
              </a:rPr>
              <a:t>A well-delivered Finance function does much more than closing the books. The information, insights and direction which they provide delivers real value to the organisation and helps to drive revenue, improve efficiency, reduce costs, and drive performance.</a:t>
            </a:r>
            <a:endParaRPr sz="1200">
              <a:solidFill>
                <a:srgbClr val="FFFFFF"/>
              </a:solidFill>
              <a:latin typeface="Century Gothic"/>
              <a:ea typeface="Century Gothic"/>
              <a:cs typeface="Century Gothic"/>
              <a:sym typeface="Century Gothic"/>
            </a:endParaRPr>
          </a:p>
        </p:txBody>
      </p:sp>
      <p:sp>
        <p:nvSpPr>
          <p:cNvPr id="4266" name="Google Shape;4266;p226">
            <a:hlinkClick action="ppaction://hlinksldjump" r:id="rId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9" name="Shape 4279"/>
        <p:cNvGrpSpPr/>
        <p:nvPr/>
      </p:nvGrpSpPr>
      <p:grpSpPr>
        <a:xfrm>
          <a:off x="0" y="0"/>
          <a:ext cx="0" cy="0"/>
          <a:chOff x="0" y="0"/>
          <a:chExt cx="0" cy="0"/>
        </a:xfrm>
      </p:grpSpPr>
      <p:sp>
        <p:nvSpPr>
          <p:cNvPr id="4280" name="Google Shape;4280;p228"/>
          <p:cNvSpPr txBox="1"/>
          <p:nvPr>
            <p:ph idx="1" type="body"/>
          </p:nvPr>
        </p:nvSpPr>
        <p:spPr>
          <a:xfrm>
            <a:off x="0" y="2168451"/>
            <a:ext cx="9144000" cy="806631"/>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Finance and Performance Management</a:t>
            </a:r>
            <a:br>
              <a:rPr lang="en-GB"/>
            </a:br>
            <a:r>
              <a:rPr lang="en-GB"/>
              <a:t>Capabilities</a:t>
            </a:r>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94" name="Shape 4294"/>
        <p:cNvGrpSpPr/>
        <p:nvPr/>
      </p:nvGrpSpPr>
      <p:grpSpPr>
        <a:xfrm>
          <a:off x="0" y="0"/>
          <a:ext cx="0" cy="0"/>
          <a:chOff x="0" y="0"/>
          <a:chExt cx="0" cy="0"/>
        </a:xfrm>
      </p:grpSpPr>
      <p:pic>
        <p:nvPicPr>
          <p:cNvPr descr="RS920_BIZ-1070-H-2.jpg" id="4295" name="Google Shape;4295;p230"/>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96" name="Google Shape;4296;p230"/>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r>
              <a:rPr lang="en-GB"/>
              <a:t>Business Challenges</a:t>
            </a:r>
            <a:endParaRPr/>
          </a:p>
        </p:txBody>
      </p:sp>
      <p:sp>
        <p:nvSpPr>
          <p:cNvPr id="4297" name="Google Shape;4297;p23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98" name="Google Shape;4298;p230"/>
          <p:cNvSpPr/>
          <p:nvPr/>
        </p:nvSpPr>
        <p:spPr>
          <a:xfrm>
            <a:off x="475559" y="1076925"/>
            <a:ext cx="8264697" cy="838769"/>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 </a:t>
            </a:r>
            <a:r>
              <a:rPr lang="en-GB" sz="1200">
                <a:solidFill>
                  <a:srgbClr val="FFFFFF"/>
                </a:solidFill>
                <a:latin typeface="Century Gothic"/>
                <a:ea typeface="Century Gothic"/>
                <a:cs typeface="Century Gothic"/>
                <a:sym typeface="Century Gothic"/>
              </a:rPr>
              <a:t>Optimize the accounting process to ensure that accurate financial information is available on a timely basis and is reconcilable and traceable to the source data </a:t>
            </a:r>
            <a:endParaRPr/>
          </a:p>
        </p:txBody>
      </p:sp>
      <p:sp>
        <p:nvSpPr>
          <p:cNvPr id="4299" name="Google Shape;4299;p230"/>
          <p:cNvSpPr/>
          <p:nvPr/>
        </p:nvSpPr>
        <p:spPr>
          <a:xfrm>
            <a:off x="3670300" y="4066286"/>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The CFO is tasked with ensuring that the financial data is accurate and reliable.   In order to accomplish this, strict data governance and compliance measurements must be implemented to guarantee the regulatory rules are followed.</a:t>
            </a:r>
            <a:endParaRPr/>
          </a:p>
        </p:txBody>
      </p:sp>
      <p:sp>
        <p:nvSpPr>
          <p:cNvPr id="4300" name="Google Shape;4300;p230"/>
          <p:cNvSpPr/>
          <p:nvPr/>
        </p:nvSpPr>
        <p:spPr>
          <a:xfrm>
            <a:off x="3670300" y="3369173"/>
            <a:ext cx="5069957" cy="680400"/>
          </a:xfrm>
          <a:prstGeom prst="rect">
            <a:avLst/>
          </a:prstGeom>
          <a:solidFill>
            <a:schemeClr val="lt2"/>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1000">
                <a:solidFill>
                  <a:srgbClr val="3C3C3B"/>
                </a:solidFill>
                <a:latin typeface="Century Gothic"/>
                <a:ea typeface="Century Gothic"/>
                <a:cs typeface="Century Gothic"/>
                <a:sym typeface="Century Gothic"/>
              </a:rPr>
              <a:t>Visibility into the financial performance of the business is a critical component for making better business decisions.  The finance group must provide the most useful KPI’s and measurements to  monitor and improve business performance.</a:t>
            </a:r>
            <a:endParaRPr/>
          </a:p>
        </p:txBody>
      </p:sp>
      <p:sp>
        <p:nvSpPr>
          <p:cNvPr id="4301" name="Google Shape;4301;p230"/>
          <p:cNvSpPr/>
          <p:nvPr/>
        </p:nvSpPr>
        <p:spPr>
          <a:xfrm>
            <a:off x="565150" y="4066286"/>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4302" name="Google Shape;4302;p230"/>
          <p:cNvSpPr/>
          <p:nvPr/>
        </p:nvSpPr>
        <p:spPr>
          <a:xfrm>
            <a:off x="3670300" y="2667087"/>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1000">
                <a:solidFill>
                  <a:srgbClr val="3C3C3B"/>
                </a:solidFill>
                <a:latin typeface="Century Gothic"/>
                <a:ea typeface="Century Gothic"/>
                <a:cs typeface="Century Gothic"/>
                <a:sym typeface="Century Gothic"/>
              </a:rPr>
              <a:t>Business leaders are relying on the finance group to provide financially sound strategic insights their strategic planning process.  They rely on the finance team to be knowledgeable not only about the financial data, but also about the business process for their functional areas.</a:t>
            </a:r>
            <a:endParaRPr/>
          </a:p>
        </p:txBody>
      </p:sp>
      <p:sp>
        <p:nvSpPr>
          <p:cNvPr id="4303" name="Google Shape;4303;p230"/>
          <p:cNvSpPr/>
          <p:nvPr/>
        </p:nvSpPr>
        <p:spPr>
          <a:xfrm>
            <a:off x="565150" y="2667088"/>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4304" name="Google Shape;4304;p230"/>
          <p:cNvSpPr/>
          <p:nvPr/>
        </p:nvSpPr>
        <p:spPr>
          <a:xfrm>
            <a:off x="488950" y="2667088"/>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Provide Strategic Inputs into Enterprise Strategy</a:t>
            </a:r>
            <a:endParaRPr/>
          </a:p>
        </p:txBody>
      </p:sp>
      <p:sp>
        <p:nvSpPr>
          <p:cNvPr id="4305" name="Google Shape;4305;p230"/>
          <p:cNvSpPr/>
          <p:nvPr/>
        </p:nvSpPr>
        <p:spPr>
          <a:xfrm>
            <a:off x="3670299" y="1962831"/>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Functional leaders are demanding more frequent access to financial data to justify their decision making process.  This requires accurate financial detailed data be available to the business users on a timely basis.</a:t>
            </a:r>
            <a:endParaRPr sz="1000">
              <a:solidFill>
                <a:srgbClr val="3C3C3B"/>
              </a:solidFill>
              <a:latin typeface="Century Gothic"/>
              <a:ea typeface="Century Gothic"/>
              <a:cs typeface="Century Gothic"/>
              <a:sym typeface="Century Gothic"/>
            </a:endParaRPr>
          </a:p>
        </p:txBody>
      </p:sp>
      <p:sp>
        <p:nvSpPr>
          <p:cNvPr id="4306" name="Google Shape;4306;p230"/>
          <p:cNvSpPr/>
          <p:nvPr/>
        </p:nvSpPr>
        <p:spPr>
          <a:xfrm>
            <a:off x="565149" y="1962832"/>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4307" name="Google Shape;4307;p230"/>
          <p:cNvSpPr/>
          <p:nvPr/>
        </p:nvSpPr>
        <p:spPr>
          <a:xfrm>
            <a:off x="488949" y="1962832"/>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Improved Decision Making</a:t>
            </a:r>
            <a:endParaRPr/>
          </a:p>
        </p:txBody>
      </p:sp>
      <p:sp>
        <p:nvSpPr>
          <p:cNvPr id="4308" name="Google Shape;4308;p230"/>
          <p:cNvSpPr/>
          <p:nvPr/>
        </p:nvSpPr>
        <p:spPr>
          <a:xfrm>
            <a:off x="488950" y="4066286"/>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Manage Data Governance and Compliance</a:t>
            </a:r>
            <a:endParaRPr/>
          </a:p>
        </p:txBody>
      </p:sp>
      <p:sp>
        <p:nvSpPr>
          <p:cNvPr id="4309" name="Google Shape;4309;p230"/>
          <p:cNvSpPr/>
          <p:nvPr/>
        </p:nvSpPr>
        <p:spPr>
          <a:xfrm>
            <a:off x="565150" y="3369174"/>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4310" name="Google Shape;4310;p230"/>
          <p:cNvSpPr/>
          <p:nvPr/>
        </p:nvSpPr>
        <p:spPr>
          <a:xfrm>
            <a:off x="488950" y="3369174"/>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Measure and Monitor Business Performance</a:t>
            </a:r>
            <a:endParaRPr/>
          </a:p>
        </p:txBody>
      </p:sp>
    </p:spTree>
  </p:cSld>
  <p:clrMapOvr>
    <a:masterClrMapping/>
  </p:clrMapOvr>
</p:sld>
</file>

<file path=ppt/slides/slide2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14" name="Shape 4314"/>
        <p:cNvGrpSpPr/>
        <p:nvPr/>
      </p:nvGrpSpPr>
      <p:grpSpPr>
        <a:xfrm>
          <a:off x="0" y="0"/>
          <a:ext cx="0" cy="0"/>
          <a:chOff x="0" y="0"/>
          <a:chExt cx="0" cy="0"/>
        </a:xfrm>
      </p:grpSpPr>
      <p:sp>
        <p:nvSpPr>
          <p:cNvPr id="4315" name="Google Shape;4315;p2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endParaRPr/>
          </a:p>
        </p:txBody>
      </p:sp>
      <p:sp>
        <p:nvSpPr>
          <p:cNvPr id="4316" name="Google Shape;4316;p231"/>
          <p:cNvSpPr txBox="1"/>
          <p:nvPr>
            <p:ph idx="4294967295" type="body"/>
          </p:nvPr>
        </p:nvSpPr>
        <p:spPr>
          <a:xfrm>
            <a:off x="288393" y="997338"/>
            <a:ext cx="4831307" cy="3672000"/>
          </a:xfrm>
          <a:prstGeom prst="rect">
            <a:avLst/>
          </a:prstGeom>
          <a:noFill/>
          <a:ln>
            <a:noFill/>
          </a:ln>
        </p:spPr>
        <p:txBody>
          <a:bodyPr anchorCtr="0" anchor="t" bIns="0" lIns="0" spcFirstLastPara="1" rIns="0" wrap="square" tIns="0">
            <a:noAutofit/>
          </a:bodyPr>
          <a:lstStyle/>
          <a:p>
            <a:pPr indent="0" lvl="0" marL="0" rtl="0" algn="l">
              <a:lnSpc>
                <a:spcPct val="100000"/>
              </a:lnSpc>
              <a:spcBef>
                <a:spcPts val="0"/>
              </a:spcBef>
              <a:spcAft>
                <a:spcPts val="0"/>
              </a:spcAft>
              <a:buClr>
                <a:schemeClr val="dk1"/>
              </a:buClr>
              <a:buSzPts val="1600"/>
              <a:buNone/>
            </a:pPr>
            <a:r>
              <a:rPr b="1" lang="en-GB" sz="1600"/>
              <a:t>   </a:t>
            </a:r>
            <a:r>
              <a:rPr lang="en-GB">
                <a:solidFill>
                  <a:schemeClr val="dk2"/>
                </a:solidFill>
              </a:rPr>
              <a:t>Are You Able To…</a:t>
            </a:r>
            <a:br>
              <a:rPr lang="en-GB">
                <a:solidFill>
                  <a:schemeClr val="dk2"/>
                </a:solidFill>
              </a:rPr>
            </a:br>
            <a:endParaRPr>
              <a:solidFill>
                <a:schemeClr val="dk2"/>
              </a:solidFill>
            </a:endParaRPr>
          </a:p>
          <a:p>
            <a:pPr indent="-228600" lvl="1" marL="457200" rtl="0" algn="l">
              <a:lnSpc>
                <a:spcPct val="100000"/>
              </a:lnSpc>
              <a:spcBef>
                <a:spcPts val="0"/>
              </a:spcBef>
              <a:spcAft>
                <a:spcPts val="0"/>
              </a:spcAft>
              <a:buClr>
                <a:schemeClr val="dk1"/>
              </a:buClr>
              <a:buSzPts val="1400"/>
              <a:buChar char="–"/>
            </a:pPr>
            <a:r>
              <a:rPr lang="en-GB" sz="1400"/>
              <a:t>Close your books in a timely fashion which meets your business requirements and SLAs?</a:t>
            </a:r>
            <a:endParaRPr/>
          </a:p>
          <a:p>
            <a:pPr indent="-228600" lvl="1" marL="457200" rtl="0" algn="l">
              <a:lnSpc>
                <a:spcPct val="100000"/>
              </a:lnSpc>
              <a:spcBef>
                <a:spcPts val="600"/>
              </a:spcBef>
              <a:spcAft>
                <a:spcPts val="0"/>
              </a:spcAft>
              <a:buClr>
                <a:schemeClr val="dk1"/>
              </a:buClr>
              <a:buSzPts val="1400"/>
              <a:buChar char="–"/>
            </a:pPr>
            <a:r>
              <a:rPr lang="en-GB" sz="1400"/>
              <a:t>Reconcile your general ledger and sub ledger data at a detail level?</a:t>
            </a:r>
            <a:endParaRPr/>
          </a:p>
          <a:p>
            <a:pPr indent="-228600" lvl="1" marL="457200" rtl="0" algn="l">
              <a:lnSpc>
                <a:spcPct val="100000"/>
              </a:lnSpc>
              <a:spcBef>
                <a:spcPts val="600"/>
              </a:spcBef>
              <a:spcAft>
                <a:spcPts val="0"/>
              </a:spcAft>
              <a:buClr>
                <a:schemeClr val="dk1"/>
              </a:buClr>
              <a:buSzPts val="1400"/>
              <a:buChar char="–"/>
            </a:pPr>
            <a:r>
              <a:rPr lang="en-GB" sz="1400"/>
              <a:t>Have transparency into your non-ERP data and how it is tied to your financial results?</a:t>
            </a:r>
            <a:endParaRPr/>
          </a:p>
          <a:p>
            <a:pPr indent="-228600" lvl="1" marL="457200" rtl="0" algn="l">
              <a:lnSpc>
                <a:spcPct val="100000"/>
              </a:lnSpc>
              <a:spcBef>
                <a:spcPts val="600"/>
              </a:spcBef>
              <a:spcAft>
                <a:spcPts val="0"/>
              </a:spcAft>
              <a:buClr>
                <a:schemeClr val="dk1"/>
              </a:buClr>
              <a:buSzPts val="1400"/>
              <a:buChar char="–"/>
            </a:pPr>
            <a:r>
              <a:rPr lang="en-GB" sz="1400"/>
              <a:t>Consolidate multiple countries, businesses and legal entities that may have differing ERP systems in a timely fashion that is traceable back to the source?</a:t>
            </a:r>
            <a:endParaRPr/>
          </a:p>
          <a:p>
            <a:pPr indent="-228600" lvl="1" marL="457200" rtl="0" algn="l">
              <a:lnSpc>
                <a:spcPct val="100000"/>
              </a:lnSpc>
              <a:spcBef>
                <a:spcPts val="600"/>
              </a:spcBef>
              <a:spcAft>
                <a:spcPts val="0"/>
              </a:spcAft>
              <a:buClr>
                <a:schemeClr val="dk1"/>
              </a:buClr>
              <a:buSzPts val="1400"/>
              <a:buChar char="–"/>
            </a:pPr>
            <a:r>
              <a:rPr lang="en-GB" sz="1400"/>
              <a:t>Actively manage your Accounts Payable and Accounts Receivable to maximise your cash position?</a:t>
            </a:r>
            <a:endParaRPr/>
          </a:p>
        </p:txBody>
      </p:sp>
      <p:sp>
        <p:nvSpPr>
          <p:cNvPr id="4317" name="Google Shape;4317;p231"/>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id="4318" name="Google Shape;4318;p231"/>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4319" name="Google Shape;4319;p2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23" name="Shape 4323"/>
        <p:cNvGrpSpPr/>
        <p:nvPr/>
      </p:nvGrpSpPr>
      <p:grpSpPr>
        <a:xfrm>
          <a:off x="0" y="0"/>
          <a:ext cx="0" cy="0"/>
          <a:chOff x="0" y="0"/>
          <a:chExt cx="0" cy="0"/>
        </a:xfrm>
      </p:grpSpPr>
      <p:sp>
        <p:nvSpPr>
          <p:cNvPr id="4324" name="Google Shape;4324;p232"/>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id="4325" name="Google Shape;4325;p232"/>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4326" name="Google Shape;4326;p232"/>
          <p:cNvSpPr txBox="1"/>
          <p:nvPr>
            <p:ph idx="1" type="body"/>
          </p:nvPr>
        </p:nvSpPr>
        <p:spPr>
          <a:xfrm>
            <a:off x="467360" y="11827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br>
              <a:rPr lang="en-GB">
                <a:solidFill>
                  <a:srgbClr val="0079DB"/>
                </a:solidFill>
              </a:rPr>
            </a:br>
            <a:endParaRPr b="1">
              <a:solidFill>
                <a:schemeClr val="accent1"/>
              </a:solidFill>
            </a:endParaRPr>
          </a:p>
          <a:p>
            <a:pPr indent="-169863" lvl="0" marL="169863" rtl="0" algn="l">
              <a:lnSpc>
                <a:spcPct val="100000"/>
              </a:lnSpc>
              <a:spcBef>
                <a:spcPts val="200"/>
              </a:spcBef>
              <a:spcAft>
                <a:spcPts val="0"/>
              </a:spcAft>
              <a:buClr>
                <a:schemeClr val="dk1"/>
              </a:buClr>
              <a:buSzPts val="1400"/>
              <a:buChar char="•"/>
            </a:pPr>
            <a:r>
              <a:rPr lang="en-GB" sz="1400"/>
              <a:t>Billing and account receivable analytics</a:t>
            </a:r>
            <a:endParaRPr/>
          </a:p>
          <a:p>
            <a:pPr indent="-169863" lvl="0" marL="169863" rtl="0" algn="l">
              <a:lnSpc>
                <a:spcPct val="100000"/>
              </a:lnSpc>
              <a:spcBef>
                <a:spcPts val="600"/>
              </a:spcBef>
              <a:spcAft>
                <a:spcPts val="0"/>
              </a:spcAft>
              <a:buClr>
                <a:schemeClr val="dk1"/>
              </a:buClr>
              <a:buSzPts val="1400"/>
              <a:buChar char="•"/>
            </a:pPr>
            <a:r>
              <a:rPr lang="en-GB" sz="1400"/>
              <a:t>Procurement and payment analytics</a:t>
            </a:r>
            <a:endParaRPr/>
          </a:p>
          <a:p>
            <a:pPr indent="-169863" lvl="0" marL="169863" rtl="0" algn="l">
              <a:lnSpc>
                <a:spcPct val="100000"/>
              </a:lnSpc>
              <a:spcBef>
                <a:spcPts val="600"/>
              </a:spcBef>
              <a:spcAft>
                <a:spcPts val="0"/>
              </a:spcAft>
              <a:buClr>
                <a:schemeClr val="dk1"/>
              </a:buClr>
              <a:buSzPts val="1400"/>
              <a:buChar char="•"/>
            </a:pPr>
            <a:r>
              <a:rPr lang="en-GB" sz="1400"/>
              <a:t>Accounting hub for sub-ledger accounting</a:t>
            </a:r>
            <a:endParaRPr/>
          </a:p>
          <a:p>
            <a:pPr indent="-169863" lvl="0" marL="169863" rtl="0" algn="l">
              <a:lnSpc>
                <a:spcPct val="100000"/>
              </a:lnSpc>
              <a:spcBef>
                <a:spcPts val="600"/>
              </a:spcBef>
              <a:spcAft>
                <a:spcPts val="0"/>
              </a:spcAft>
              <a:buClr>
                <a:schemeClr val="dk1"/>
              </a:buClr>
              <a:buSzPts val="1400"/>
              <a:buChar char="•"/>
            </a:pPr>
            <a:r>
              <a:rPr lang="en-GB" sz="1400"/>
              <a:t>Fixed asset utilization optimization</a:t>
            </a:r>
            <a:endParaRPr/>
          </a:p>
          <a:p>
            <a:pPr indent="-169863" lvl="0" marL="169863" rtl="0" algn="l">
              <a:lnSpc>
                <a:spcPct val="100000"/>
              </a:lnSpc>
              <a:spcBef>
                <a:spcPts val="600"/>
              </a:spcBef>
              <a:spcAft>
                <a:spcPts val="0"/>
              </a:spcAft>
              <a:buClr>
                <a:schemeClr val="dk1"/>
              </a:buClr>
              <a:buSzPts val="1400"/>
              <a:buChar char="•"/>
            </a:pPr>
            <a:r>
              <a:rPr lang="en-GB" sz="1400"/>
              <a:t>Reserve analytics</a:t>
            </a:r>
            <a:endParaRPr sz="1400"/>
          </a:p>
          <a:p>
            <a:pPr indent="-169863" lvl="0" marL="169863" rtl="0" algn="l">
              <a:lnSpc>
                <a:spcPct val="100000"/>
              </a:lnSpc>
              <a:spcBef>
                <a:spcPts val="600"/>
              </a:spcBef>
              <a:spcAft>
                <a:spcPts val="0"/>
              </a:spcAft>
              <a:buClr>
                <a:schemeClr val="dk1"/>
              </a:buClr>
              <a:buSzPts val="1400"/>
              <a:buChar char="•"/>
            </a:pPr>
            <a:r>
              <a:rPr lang="en-GB" sz="1400"/>
              <a:t>Reconciliation validation and adjustment reporting</a:t>
            </a:r>
            <a:endParaRPr/>
          </a:p>
          <a:p>
            <a:pPr indent="-169863" lvl="0" marL="169863" rtl="0" algn="l">
              <a:lnSpc>
                <a:spcPct val="100000"/>
              </a:lnSpc>
              <a:spcBef>
                <a:spcPts val="600"/>
              </a:spcBef>
              <a:spcAft>
                <a:spcPts val="0"/>
              </a:spcAft>
              <a:buClr>
                <a:schemeClr val="dk1"/>
              </a:buClr>
              <a:buSzPts val="1400"/>
              <a:buChar char="•"/>
            </a:pPr>
            <a:r>
              <a:rPr lang="en-GB" sz="1400"/>
              <a:t>Financial consolidation and reporting </a:t>
            </a:r>
            <a:endParaRPr/>
          </a:p>
        </p:txBody>
      </p:sp>
      <p:sp>
        <p:nvSpPr>
          <p:cNvPr id="4327" name="Google Shape;4327;p23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endParaRPr/>
          </a:p>
        </p:txBody>
      </p:sp>
      <p:sp>
        <p:nvSpPr>
          <p:cNvPr id="4328" name="Google Shape;4328;p23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32" name="Shape 4332"/>
        <p:cNvGrpSpPr/>
        <p:nvPr/>
      </p:nvGrpSpPr>
      <p:grpSpPr>
        <a:xfrm>
          <a:off x="0" y="0"/>
          <a:ext cx="0" cy="0"/>
          <a:chOff x="0" y="0"/>
          <a:chExt cx="0" cy="0"/>
        </a:xfrm>
      </p:grpSpPr>
      <p:pic>
        <p:nvPicPr>
          <p:cNvPr descr="RS920_BIZ-1070-H-2.jpg" id="4333" name="Google Shape;4333;p233"/>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334" name="Google Shape;4334;p233"/>
          <p:cNvSpPr txBox="1"/>
          <p:nvPr>
            <p:ph type="title"/>
          </p:nvPr>
        </p:nvSpPr>
        <p:spPr>
          <a:xfrm>
            <a:off x="477880" y="-384527"/>
            <a:ext cx="553684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Value of Accounting</a:t>
            </a:r>
            <a:br>
              <a:rPr lang="en-GB"/>
            </a:br>
            <a:r>
              <a:rPr lang="en-GB"/>
              <a:t>Operations and Close</a:t>
            </a:r>
            <a:endParaRPr/>
          </a:p>
        </p:txBody>
      </p:sp>
      <p:grpSp>
        <p:nvGrpSpPr>
          <p:cNvPr id="4335" name="Google Shape;4335;p233"/>
          <p:cNvGrpSpPr/>
          <p:nvPr/>
        </p:nvGrpSpPr>
        <p:grpSpPr>
          <a:xfrm>
            <a:off x="488950" y="1276350"/>
            <a:ext cx="5808183" cy="720000"/>
            <a:chOff x="462442" y="1276350"/>
            <a:chExt cx="5808183" cy="597600"/>
          </a:xfrm>
        </p:grpSpPr>
        <p:sp>
          <p:nvSpPr>
            <p:cNvPr id="4336" name="Google Shape;4336;p233"/>
            <p:cNvSpPr/>
            <p:nvPr/>
          </p:nvSpPr>
          <p:spPr>
            <a:xfrm>
              <a:off x="2600325" y="1276350"/>
              <a:ext cx="3670300"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Reduce OPEX by consolidating and simplifying Finance IT architectures.  Optimize cash flow by improving working capital</a:t>
              </a:r>
              <a:endParaRPr/>
            </a:p>
          </p:txBody>
        </p:sp>
        <p:sp>
          <p:nvSpPr>
            <p:cNvPr id="4337" name="Google Shape;4337;p233"/>
            <p:cNvSpPr/>
            <p:nvPr/>
          </p:nvSpPr>
          <p:spPr>
            <a:xfrm>
              <a:off x="462442" y="1276350"/>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Reduce Enterprise Cost</a:t>
              </a:r>
              <a:endParaRPr/>
            </a:p>
          </p:txBody>
        </p:sp>
      </p:grpSp>
      <p:grpSp>
        <p:nvGrpSpPr>
          <p:cNvPr id="4338" name="Google Shape;4338;p233"/>
          <p:cNvGrpSpPr/>
          <p:nvPr/>
        </p:nvGrpSpPr>
        <p:grpSpPr>
          <a:xfrm>
            <a:off x="488950" y="2035038"/>
            <a:ext cx="5808440" cy="720000"/>
            <a:chOff x="462442" y="1955625"/>
            <a:chExt cx="5808440" cy="597600"/>
          </a:xfrm>
        </p:grpSpPr>
        <p:sp>
          <p:nvSpPr>
            <p:cNvPr id="4339" name="Google Shape;4339;p233"/>
            <p:cNvSpPr/>
            <p:nvPr/>
          </p:nvSpPr>
          <p:spPr>
            <a:xfrm>
              <a:off x="2565974" y="1955625"/>
              <a:ext cx="3704908"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Reconcile and link financial results (GL) to operational drivers and transactional level  revenue and cost detail .  Enhance visibility and timeliness to reduce earnings volatility </a:t>
              </a:r>
              <a:endParaRPr/>
            </a:p>
          </p:txBody>
        </p:sp>
        <p:sp>
          <p:nvSpPr>
            <p:cNvPr id="4340" name="Google Shape;4340;p233"/>
            <p:cNvSpPr/>
            <p:nvPr/>
          </p:nvSpPr>
          <p:spPr>
            <a:xfrm>
              <a:off x="462442" y="1955625"/>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Provide Greater Transparency </a:t>
              </a:r>
              <a:endParaRPr/>
            </a:p>
          </p:txBody>
        </p:sp>
      </p:grpSp>
      <p:grpSp>
        <p:nvGrpSpPr>
          <p:cNvPr id="4341" name="Google Shape;4341;p233"/>
          <p:cNvGrpSpPr/>
          <p:nvPr/>
        </p:nvGrpSpPr>
        <p:grpSpPr>
          <a:xfrm>
            <a:off x="488950" y="2793726"/>
            <a:ext cx="5800246" cy="720000"/>
            <a:chOff x="462442" y="2631411"/>
            <a:chExt cx="5800246" cy="597600"/>
          </a:xfrm>
        </p:grpSpPr>
        <p:sp>
          <p:nvSpPr>
            <p:cNvPr id="4342" name="Google Shape;4342;p233"/>
            <p:cNvSpPr/>
            <p:nvPr/>
          </p:nvSpPr>
          <p:spPr>
            <a:xfrm>
              <a:off x="2557780" y="2631411"/>
              <a:ext cx="3704908"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Adapting to market changes – Early insights into leading indicators.  Clear, aligned performance metrics to drive accountability</a:t>
              </a:r>
              <a:endParaRPr/>
            </a:p>
          </p:txBody>
        </p:sp>
        <p:sp>
          <p:nvSpPr>
            <p:cNvPr id="4343" name="Google Shape;4343;p233"/>
            <p:cNvSpPr/>
            <p:nvPr/>
          </p:nvSpPr>
          <p:spPr>
            <a:xfrm>
              <a:off x="462442" y="2631411"/>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Make Faster, Better Decisions</a:t>
              </a:r>
              <a:endParaRPr/>
            </a:p>
          </p:txBody>
        </p:sp>
      </p:grpSp>
      <p:grpSp>
        <p:nvGrpSpPr>
          <p:cNvPr id="4344" name="Google Shape;4344;p233"/>
          <p:cNvGrpSpPr/>
          <p:nvPr/>
        </p:nvGrpSpPr>
        <p:grpSpPr>
          <a:xfrm>
            <a:off x="488950" y="3552414"/>
            <a:ext cx="5800246" cy="720000"/>
            <a:chOff x="462442" y="3299050"/>
            <a:chExt cx="5800246" cy="597600"/>
          </a:xfrm>
        </p:grpSpPr>
        <p:sp>
          <p:nvSpPr>
            <p:cNvPr id="4345" name="Google Shape;4345;p233"/>
            <p:cNvSpPr/>
            <p:nvPr/>
          </p:nvSpPr>
          <p:spPr>
            <a:xfrm>
              <a:off x="2557780" y="3299050"/>
              <a:ext cx="3704908"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Financial data is reliable, accurate, auditable, and traceable back to the source.  Less time is spent on data quality and more time spent on analyzing.</a:t>
              </a:r>
              <a:endParaRPr sz="1000">
                <a:solidFill>
                  <a:schemeClr val="dk1"/>
                </a:solidFill>
                <a:latin typeface="Century Gothic"/>
                <a:ea typeface="Century Gothic"/>
                <a:cs typeface="Century Gothic"/>
                <a:sym typeface="Century Gothic"/>
              </a:endParaRPr>
            </a:p>
          </p:txBody>
        </p:sp>
        <p:sp>
          <p:nvSpPr>
            <p:cNvPr id="4346" name="Google Shape;4346;p233"/>
            <p:cNvSpPr/>
            <p:nvPr/>
          </p:nvSpPr>
          <p:spPr>
            <a:xfrm>
              <a:off x="462442" y="3299050"/>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Data quality and consistency</a:t>
              </a:r>
              <a:endParaRPr b="1" sz="1200">
                <a:solidFill>
                  <a:srgbClr val="FFFFFF"/>
                </a:solidFill>
                <a:latin typeface="Century Gothic"/>
                <a:ea typeface="Century Gothic"/>
                <a:cs typeface="Century Gothic"/>
                <a:sym typeface="Century Gothic"/>
              </a:endParaRPr>
            </a:p>
          </p:txBody>
        </p:sp>
      </p:grpSp>
      <p:sp>
        <p:nvSpPr>
          <p:cNvPr id="4347" name="Google Shape;4347;p233">
            <a:hlinkClick action="ppaction://hlinksldjump" r:id="rId4"/>
          </p:cNvPr>
          <p:cNvSpPr/>
          <p:nvPr/>
        </p:nvSpPr>
        <p:spPr>
          <a:xfrm>
            <a:off x="6515100" y="-185868"/>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70" name="Shape 4370"/>
        <p:cNvGrpSpPr/>
        <p:nvPr/>
      </p:nvGrpSpPr>
      <p:grpSpPr>
        <a:xfrm>
          <a:off x="0" y="0"/>
          <a:ext cx="0" cy="0"/>
          <a:chOff x="0" y="0"/>
          <a:chExt cx="0" cy="0"/>
        </a:xfrm>
      </p:grpSpPr>
      <p:graphicFrame>
        <p:nvGraphicFramePr>
          <p:cNvPr id="4371" name="Google Shape;4371;p235"/>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Billing processes are automated using granular and timely data. Billing terms and conditions are automatically applied. Detailed information available in real-time to describe historic and current payment status. Future payment terms are set based on analysis of historic behaviour and/or 3</a:t>
                      </a:r>
                      <a:r>
                        <a:rPr b="0" baseline="30000" lang="en-GB" sz="800">
                          <a:solidFill>
                            <a:schemeClr val="dk1"/>
                          </a:solidFill>
                          <a:latin typeface="Century Gothic"/>
                          <a:ea typeface="Century Gothic"/>
                          <a:cs typeface="Century Gothic"/>
                          <a:sym typeface="Century Gothic"/>
                        </a:rPr>
                        <a:t>rd</a:t>
                      </a:r>
                      <a:r>
                        <a:rPr b="0" lang="en-GB" sz="800">
                          <a:solidFill>
                            <a:schemeClr val="dk1"/>
                          </a:solidFill>
                          <a:latin typeface="Century Gothic"/>
                          <a:ea typeface="Century Gothic"/>
                          <a:cs typeface="Century Gothic"/>
                          <a:sym typeface="Century Gothic"/>
                        </a:rPr>
                        <a:t> party payment data. Automated collections decisioning, communications and actions based on predictive collections models &amp; rules.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Billing processes are automated using granular and timely data. Billing terms and conditions are automatically applied. Detailed information available in real-time to describe historic and current payment status . Future payment terms are set based on analysis of historic behaviour. Collection workflow based on simple rules.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Billing and Collection processes are automated, and based on data sourced from an integrated data repository. Billing terms and conditions are automatically applied. Detailed historic AR reporting is available, and basic AR scorecard has been developed.</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Billing and Collections processes are partly automated, but still based on disparate data sourcing. Basic AR reporting (e.g. top 10%) is available.</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Billing and Collections processes are complex, subject to manual intervention, and disparate manual data collection, reconciliation, reporting and analysis.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372" name="Google Shape;4372;p235"/>
          <p:cNvGrpSpPr/>
          <p:nvPr/>
        </p:nvGrpSpPr>
        <p:grpSpPr>
          <a:xfrm>
            <a:off x="469900" y="3819680"/>
            <a:ext cx="8455025" cy="732866"/>
            <a:chOff x="211138" y="3972860"/>
            <a:chExt cx="8713787" cy="642437"/>
          </a:xfrm>
        </p:grpSpPr>
        <p:sp>
          <p:nvSpPr>
            <p:cNvPr id="4373" name="Google Shape;4373;p235"/>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374" name="Google Shape;4374;p235"/>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4375" name="Google Shape;4375;p235"/>
          <p:cNvGrpSpPr/>
          <p:nvPr/>
        </p:nvGrpSpPr>
        <p:grpSpPr>
          <a:xfrm>
            <a:off x="7971865" y="980278"/>
            <a:ext cx="949325" cy="2867825"/>
            <a:chOff x="7941888" y="1062037"/>
            <a:chExt cx="983037" cy="2695575"/>
          </a:xfrm>
        </p:grpSpPr>
        <p:sp>
          <p:nvSpPr>
            <p:cNvPr id="4376" name="Google Shape;4376;p235"/>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377" name="Google Shape;4377;p235"/>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4378" name="Google Shape;4378;p235"/>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a:solidFill>
                <a:schemeClr val="accent6"/>
              </a:solidFill>
            </a:endParaRPr>
          </a:p>
        </p:txBody>
      </p:sp>
      <p:sp>
        <p:nvSpPr>
          <p:cNvPr id="4379" name="Google Shape;4379;p2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02" name="Shape 4402"/>
        <p:cNvGrpSpPr/>
        <p:nvPr/>
      </p:nvGrpSpPr>
      <p:grpSpPr>
        <a:xfrm>
          <a:off x="0" y="0"/>
          <a:ext cx="0" cy="0"/>
          <a:chOff x="0" y="0"/>
          <a:chExt cx="0" cy="0"/>
        </a:xfrm>
      </p:grpSpPr>
      <p:graphicFrame>
        <p:nvGraphicFramePr>
          <p:cNvPr id="4403" name="Google Shape;4403;p23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The Group has an integrated data warehouse, where all purchasing data and accounts payable data are available and updated real-time or daily. Pre-defined and ad hoc analyses can be done whenever needed. Everything is based on common definitions.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Purchasing and AP data is linked either in an ERP solution or data warehouse. Detailed analyses of Supplier performance and Supplier conditions are done on a regular basis – typically following the Closing, Budget &amp; Planning and/or the season for renegotiations (with Suppliers)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Purchasing and AP data is linked in an ERP solution – but do not have the ability to work with data at the most granular data. Analyses are done on a regular basis, but still requires a lot of manual effort to prepare. Global view of Supplier performance and conditions are </a:t>
                      </a:r>
                      <a:r>
                        <a:rPr b="0" lang="en-GB" sz="900" u="none">
                          <a:solidFill>
                            <a:schemeClr val="dk1"/>
                          </a:solidFill>
                          <a:latin typeface="Century Gothic"/>
                          <a:ea typeface="Century Gothic"/>
                          <a:cs typeface="Century Gothic"/>
                          <a:sym typeface="Century Gothic"/>
                        </a:rPr>
                        <a:t>still</a:t>
                      </a:r>
                      <a:r>
                        <a:rPr b="0" lang="en-GB" sz="900">
                          <a:solidFill>
                            <a:schemeClr val="dk1"/>
                          </a:solidFill>
                          <a:latin typeface="Century Gothic"/>
                          <a:ea typeface="Century Gothic"/>
                          <a:cs typeface="Century Gothic"/>
                          <a:sym typeface="Century Gothic"/>
                        </a:rPr>
                        <a:t> limited as common definitions are not consistently used.</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Country ERP solutions have integrated Purchasing and Accounts Payable modules – but it is only possible to analyse Suppliers performance at an aggregated level. Analysis is manually intensive.</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link between Purchase Orders and Invoices. Analyses are done based on aggregated data extracts for limited periods and prepared in Excel files. Analyses are manual and time consuming and only done periodically. </a:t>
                      </a:r>
                      <a:endParaRPr b="0" sz="900" strike="sngStrike">
                        <a:solidFill>
                          <a:srgbClr val="FF0000"/>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404" name="Google Shape;4404;p237"/>
          <p:cNvGrpSpPr/>
          <p:nvPr/>
        </p:nvGrpSpPr>
        <p:grpSpPr>
          <a:xfrm>
            <a:off x="469900" y="3819680"/>
            <a:ext cx="8455025" cy="732866"/>
            <a:chOff x="211138" y="3972860"/>
            <a:chExt cx="8713787" cy="642437"/>
          </a:xfrm>
        </p:grpSpPr>
        <p:sp>
          <p:nvSpPr>
            <p:cNvPr id="4405" name="Google Shape;4405;p23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406" name="Google Shape;4406;p23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4407" name="Google Shape;4407;p237"/>
          <p:cNvGrpSpPr/>
          <p:nvPr/>
        </p:nvGrpSpPr>
        <p:grpSpPr>
          <a:xfrm>
            <a:off x="7971865" y="980278"/>
            <a:ext cx="949325" cy="2867825"/>
            <a:chOff x="7941888" y="1062037"/>
            <a:chExt cx="983037" cy="2695575"/>
          </a:xfrm>
        </p:grpSpPr>
        <p:sp>
          <p:nvSpPr>
            <p:cNvPr id="4408" name="Google Shape;4408;p23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409" name="Google Shape;4409;p23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4410" name="Google Shape;4410;p23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a:solidFill>
                <a:schemeClr val="accent6"/>
              </a:solidFill>
            </a:endParaRPr>
          </a:p>
        </p:txBody>
      </p:sp>
      <p:sp>
        <p:nvSpPr>
          <p:cNvPr id="4411" name="Google Shape;4411;p2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34" name="Shape 4434"/>
        <p:cNvGrpSpPr/>
        <p:nvPr/>
      </p:nvGrpSpPr>
      <p:grpSpPr>
        <a:xfrm>
          <a:off x="0" y="0"/>
          <a:ext cx="0" cy="0"/>
          <a:chOff x="0" y="0"/>
          <a:chExt cx="0" cy="0"/>
        </a:xfrm>
      </p:grpSpPr>
      <p:graphicFrame>
        <p:nvGraphicFramePr>
          <p:cNvPr id="4435" name="Google Shape;4435;p23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The Accounting Hub covers all operational systems and lines of business. Detailed accounting sub-ledger data is  generated and  integrated into the Data Warehouse  for those operational systems. All manual adjustments are originated in the sub-ledger and workflow approved.  Aggregated postings are passed to the GL.</a:t>
                      </a:r>
                      <a:endParaRPr/>
                    </a:p>
                  </a:txBody>
                  <a:tcPr marT="18000" marB="18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An Accounting Hub solution is used for selected operational systems covering less complex requirements. Detailed accounting sub-ledger data is  generated and  integrated into the Data Warehouse for those operational systems, and the aggregated postings are passed to the GL.  Manual adjustments for these systems are originated in the sub-ledger and aggregated to the GL.</a:t>
                      </a:r>
                      <a:endParaRPr/>
                    </a:p>
                  </a:txBody>
                  <a:tcPr marT="18000" marB="18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Financial Accounting processes are hard-coded into individual operational systems. Summary level data is passed to GL. The majority of account-level accounting data is available in the Data Warehouse and the reconciliation between the GL and Data Warehouse is significantly automated.  Manual Adjustments are only captured in the GL.</a:t>
                      </a:r>
                      <a:endParaRPr/>
                    </a:p>
                  </a:txBody>
                  <a:tcPr marT="18000" marB="18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Financial Accounting processes are hard-coded into individual operational systems. Summary level data is passed to GL, but some account-level accounting data is available (e.g. interest accruals) to feed the Data Warehouse.</a:t>
                      </a:r>
                      <a:endParaRPr b="0" sz="900">
                        <a:solidFill>
                          <a:schemeClr val="dk1"/>
                        </a:solidFill>
                        <a:latin typeface="Century Gothic"/>
                        <a:ea typeface="Century Gothic"/>
                        <a:cs typeface="Century Gothic"/>
                        <a:sym typeface="Century Gothic"/>
                      </a:endParaRPr>
                    </a:p>
                  </a:txBody>
                  <a:tcPr marT="18000" marB="18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Financial Accounting Processes  are either manually created or hard-coded into individual operational systems. Summary-level accounting data only passed to GL. No detailed accounting data is passed to the Data Warehouse.</a:t>
                      </a:r>
                      <a:endParaRPr/>
                    </a:p>
                  </a:txBody>
                  <a:tcPr marT="18000" marB="18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436" name="Google Shape;4436;p239"/>
          <p:cNvGrpSpPr/>
          <p:nvPr/>
        </p:nvGrpSpPr>
        <p:grpSpPr>
          <a:xfrm>
            <a:off x="7971865" y="980278"/>
            <a:ext cx="949325" cy="2867825"/>
            <a:chOff x="7941888" y="1062037"/>
            <a:chExt cx="983037" cy="2695575"/>
          </a:xfrm>
        </p:grpSpPr>
        <p:sp>
          <p:nvSpPr>
            <p:cNvPr id="4437" name="Google Shape;4437;p23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438" name="Google Shape;4438;p23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4439" name="Google Shape;4439;p23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a:solidFill>
                <a:schemeClr val="accent6"/>
              </a:solidFill>
            </a:endParaRPr>
          </a:p>
        </p:txBody>
      </p:sp>
      <p:sp>
        <p:nvSpPr>
          <p:cNvPr id="4440" name="Google Shape;4440;p2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grpSp>
        <p:nvGrpSpPr>
          <p:cNvPr id="4441" name="Google Shape;4441;p239"/>
          <p:cNvGrpSpPr/>
          <p:nvPr/>
        </p:nvGrpSpPr>
        <p:grpSpPr>
          <a:xfrm>
            <a:off x="469900" y="3838730"/>
            <a:ext cx="8455025" cy="732866"/>
            <a:chOff x="211138" y="3972860"/>
            <a:chExt cx="8713787" cy="642437"/>
          </a:xfrm>
        </p:grpSpPr>
        <p:sp>
          <p:nvSpPr>
            <p:cNvPr id="4442" name="Google Shape;4442;p23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443" name="Google Shape;4443;p23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66" name="Shape 4466"/>
        <p:cNvGrpSpPr/>
        <p:nvPr/>
      </p:nvGrpSpPr>
      <p:grpSpPr>
        <a:xfrm>
          <a:off x="0" y="0"/>
          <a:ext cx="0" cy="0"/>
          <a:chOff x="0" y="0"/>
          <a:chExt cx="0" cy="0"/>
        </a:xfrm>
      </p:grpSpPr>
      <p:graphicFrame>
        <p:nvGraphicFramePr>
          <p:cNvPr id="4467" name="Google Shape;4467;p241"/>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Fair Value and Hedge Accounting is delivered as part of an integrated Accounting Hub solution. Rules-based calculation and accounting functionality enables Fair Value and Hedge Accounting to be performed on a largely automated basis, including detailed audit trail.  Analytical toolset supports hedge optimisation analytics.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Fair Value &amp; Hedge Accounting is performed on a somewhat automated basis using a dedicated application, which sources  all of the required data from a single integrated source.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Fair Value &amp; Hedge Accounting is performed using a dedicated application, which sources data from a single integrated source.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Fair Value &amp; Hedge Accounting is performed using a dedicated application which sources data directly from disparate sources.</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Fair Value &amp; Hedge Accounting processes are manually-intensive and utilise disparate sources of data which are subject to validation and integration effort.</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468" name="Google Shape;4468;p241"/>
          <p:cNvGrpSpPr/>
          <p:nvPr/>
        </p:nvGrpSpPr>
        <p:grpSpPr>
          <a:xfrm>
            <a:off x="469900" y="3819680"/>
            <a:ext cx="8455025" cy="732866"/>
            <a:chOff x="211138" y="3972860"/>
            <a:chExt cx="8713787" cy="642437"/>
          </a:xfrm>
        </p:grpSpPr>
        <p:sp>
          <p:nvSpPr>
            <p:cNvPr id="4469" name="Google Shape;4469;p24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470" name="Google Shape;4470;p24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4471" name="Google Shape;4471;p241"/>
          <p:cNvGrpSpPr/>
          <p:nvPr/>
        </p:nvGrpSpPr>
        <p:grpSpPr>
          <a:xfrm>
            <a:off x="7971865" y="980278"/>
            <a:ext cx="949325" cy="2867825"/>
            <a:chOff x="7941888" y="1062037"/>
            <a:chExt cx="983037" cy="2695575"/>
          </a:xfrm>
        </p:grpSpPr>
        <p:sp>
          <p:nvSpPr>
            <p:cNvPr id="4472" name="Google Shape;4472;p24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473" name="Google Shape;4473;p24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4474" name="Google Shape;4474;p241"/>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a:solidFill>
                <a:schemeClr val="accent6"/>
              </a:solidFill>
            </a:endParaRPr>
          </a:p>
        </p:txBody>
      </p:sp>
      <p:sp>
        <p:nvSpPr>
          <p:cNvPr id="4475" name="Google Shape;4475;p2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8" name="Shape 4498"/>
        <p:cNvGrpSpPr/>
        <p:nvPr/>
      </p:nvGrpSpPr>
      <p:grpSpPr>
        <a:xfrm>
          <a:off x="0" y="0"/>
          <a:ext cx="0" cy="0"/>
          <a:chOff x="0" y="0"/>
          <a:chExt cx="0" cy="0"/>
        </a:xfrm>
      </p:grpSpPr>
      <p:graphicFrame>
        <p:nvGraphicFramePr>
          <p:cNvPr id="4499" name="Google Shape;4499;p243"/>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Asset valuations are based on sophisticated statistical and analytical models and meets all relevant accounting standards. Granular, integrated and up-to-date data is available with minimal manual effort, and a rules-based Accounting Hub is used to perform calculations, apply Accounting rules, and create accounting entries. Any manual intervention is managed using workflow functionality.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Asset valuations are based on statistical and analytical models and meets all relevant accounting standards. Data used is mostly available from an integrated source. The process, including identification of impairments and creation of accounting entries, is mostly automated, but often hard-coded. Any manual intervention is managed using workflow functionality.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Asset valuations are mostly calculated on a granular basis, and mostly use data from an integrated source. Manual effort to source, validate and integrate data is much reduced. Accounting calculations and rules are mostly hard-coded.</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Asset valuations are calculated on a mix of aggregate and granular basis. Some integrated data is used, however much is still obtained from disparate sources. Manual effort to source, validate and integrate data is still significant.</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Asset valuations are calculated on a aggregate basis using manually-intensive processes. Data is obtained from disparate sources and is subject to manual  validation and integration effort.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500" name="Google Shape;4500;p243"/>
          <p:cNvGrpSpPr/>
          <p:nvPr/>
        </p:nvGrpSpPr>
        <p:grpSpPr>
          <a:xfrm>
            <a:off x="469900" y="3850502"/>
            <a:ext cx="8455025" cy="732866"/>
            <a:chOff x="211138" y="3972860"/>
            <a:chExt cx="8713787" cy="642437"/>
          </a:xfrm>
        </p:grpSpPr>
        <p:sp>
          <p:nvSpPr>
            <p:cNvPr id="4501" name="Google Shape;4501;p24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502" name="Google Shape;4502;p24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4503" name="Google Shape;4503;p243"/>
          <p:cNvGrpSpPr/>
          <p:nvPr/>
        </p:nvGrpSpPr>
        <p:grpSpPr>
          <a:xfrm>
            <a:off x="7971865" y="980278"/>
            <a:ext cx="949325" cy="2867825"/>
            <a:chOff x="7941888" y="1062037"/>
            <a:chExt cx="983037" cy="2695575"/>
          </a:xfrm>
        </p:grpSpPr>
        <p:sp>
          <p:nvSpPr>
            <p:cNvPr id="4504" name="Google Shape;4504;p24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505" name="Google Shape;4505;p24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4506" name="Google Shape;4506;p243"/>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a:solidFill>
                <a:schemeClr val="accent6"/>
              </a:solidFill>
            </a:endParaRPr>
          </a:p>
        </p:txBody>
      </p:sp>
      <p:sp>
        <p:nvSpPr>
          <p:cNvPr id="4507" name="Google Shape;4507;p2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30" name="Shape 4530"/>
        <p:cNvGrpSpPr/>
        <p:nvPr/>
      </p:nvGrpSpPr>
      <p:grpSpPr>
        <a:xfrm>
          <a:off x="0" y="0"/>
          <a:ext cx="0" cy="0"/>
          <a:chOff x="0" y="0"/>
          <a:chExt cx="0" cy="0"/>
        </a:xfrm>
      </p:grpSpPr>
      <p:graphicFrame>
        <p:nvGraphicFramePr>
          <p:cNvPr id="4531" name="Google Shape;4531;p245"/>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780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9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Reserves use advanced statistically-derived and/or advanced analytical models based on granular historic and unstructured data, sourced from an integrated data repository. Models are executed on an automated basis, proven to be historically accurate, and resulting accounting and reporting is delivered on a timely basis.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9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Reserves are calculated using more advanced statistical models based on granular historic data.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Introduction of statistical techniques to more accurate calculate reserves balances using granular data</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9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Reserves are calculated using basic statistical models based on granular historic data.</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Automation of processes leveraging integrated data.</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9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Introduction of basic statistical models to set reserves. Data is still obtained and integrated manually from multiple sources.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9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Reserves are set based on average historic loss  or redemption rates. Data is manually sourced and integrated using desktop tools (e.g. Excel / Access).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4025">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395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395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39500">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532" name="Google Shape;4532;p245"/>
          <p:cNvGrpSpPr/>
          <p:nvPr/>
        </p:nvGrpSpPr>
        <p:grpSpPr>
          <a:xfrm>
            <a:off x="469900" y="3838730"/>
            <a:ext cx="8455025" cy="732866"/>
            <a:chOff x="211138" y="3972860"/>
            <a:chExt cx="8713787" cy="642437"/>
          </a:xfrm>
        </p:grpSpPr>
        <p:sp>
          <p:nvSpPr>
            <p:cNvPr id="4533" name="Google Shape;4533;p245"/>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534" name="Google Shape;4534;p245"/>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4535" name="Google Shape;4535;p245"/>
          <p:cNvGrpSpPr/>
          <p:nvPr/>
        </p:nvGrpSpPr>
        <p:grpSpPr>
          <a:xfrm>
            <a:off x="7971865" y="980278"/>
            <a:ext cx="949325" cy="2867825"/>
            <a:chOff x="7941888" y="1062037"/>
            <a:chExt cx="983037" cy="2695575"/>
          </a:xfrm>
        </p:grpSpPr>
        <p:sp>
          <p:nvSpPr>
            <p:cNvPr id="4536" name="Google Shape;4536;p245"/>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537" name="Google Shape;4537;p245"/>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4538" name="Google Shape;4538;p245"/>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a:solidFill>
                <a:schemeClr val="accent6"/>
              </a:solidFill>
            </a:endParaRPr>
          </a:p>
        </p:txBody>
      </p:sp>
      <p:sp>
        <p:nvSpPr>
          <p:cNvPr id="4539" name="Google Shape;4539;p2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62" name="Shape 4562"/>
        <p:cNvGrpSpPr/>
        <p:nvPr/>
      </p:nvGrpSpPr>
      <p:grpSpPr>
        <a:xfrm>
          <a:off x="0" y="0"/>
          <a:ext cx="0" cy="0"/>
          <a:chOff x="0" y="0"/>
          <a:chExt cx="0" cy="0"/>
        </a:xfrm>
      </p:grpSpPr>
      <p:graphicFrame>
        <p:nvGraphicFramePr>
          <p:cNvPr id="4563" name="Google Shape;4563;p24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An Accounting Hub approach is used to deliver granular financial accounting, including tax calculations, and also tax aggregation and posting to the GL. Rules-based functionality enables tax rules to be maintained and updated easily. Tax return data can be produced on a largely automated basis with full drill-down and audit trail is available.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Tax management is undertaken using a largely automated dedicated solution, which sources the majority of the required data from a single integrated and validated source. Tax optimisation and planning is delivered using this same source of data.</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Tax Management is performed using a dedicated solution which sources data directly from disparate General Ledger / ERP and other operational systems.</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Tax Management is still performed using desktop-based applications (e.g. Excel, Access) however some automation of data sourcing from disparate General Ledger / ERP and other operational systems has been introduced.</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Tax Management is performed manually (e.g. Excel / Access) using feeds of data from disparate General Ledger / ERP and other operational systems. Substantial manual effort is required.</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564" name="Google Shape;4564;p247"/>
          <p:cNvGrpSpPr/>
          <p:nvPr/>
        </p:nvGrpSpPr>
        <p:grpSpPr>
          <a:xfrm>
            <a:off x="469900" y="3829205"/>
            <a:ext cx="8455025" cy="732866"/>
            <a:chOff x="211138" y="3972860"/>
            <a:chExt cx="8713787" cy="642437"/>
          </a:xfrm>
        </p:grpSpPr>
        <p:sp>
          <p:nvSpPr>
            <p:cNvPr id="4565" name="Google Shape;4565;p24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566" name="Google Shape;4566;p24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4567" name="Google Shape;4567;p247"/>
          <p:cNvGrpSpPr/>
          <p:nvPr/>
        </p:nvGrpSpPr>
        <p:grpSpPr>
          <a:xfrm>
            <a:off x="7971865" y="980278"/>
            <a:ext cx="949325" cy="2867825"/>
            <a:chOff x="7941888" y="1062037"/>
            <a:chExt cx="983037" cy="2695575"/>
          </a:xfrm>
        </p:grpSpPr>
        <p:sp>
          <p:nvSpPr>
            <p:cNvPr id="4568" name="Google Shape;4568;p24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569" name="Google Shape;4569;p24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4570" name="Google Shape;4570;p24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a:solidFill>
                <a:schemeClr val="accent6"/>
              </a:solidFill>
            </a:endParaRPr>
          </a:p>
        </p:txBody>
      </p:sp>
      <p:sp>
        <p:nvSpPr>
          <p:cNvPr id="4571" name="Google Shape;4571;p2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94" name="Shape 4594"/>
        <p:cNvGrpSpPr/>
        <p:nvPr/>
      </p:nvGrpSpPr>
      <p:grpSpPr>
        <a:xfrm>
          <a:off x="0" y="0"/>
          <a:ext cx="0" cy="0"/>
          <a:chOff x="0" y="0"/>
          <a:chExt cx="0" cy="0"/>
        </a:xfrm>
      </p:grpSpPr>
      <p:graphicFrame>
        <p:nvGraphicFramePr>
          <p:cNvPr id="4595" name="Google Shape;4595;p24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Reconciliation, Validation and Adjustments are centralised and automated, with well-defined and documented responsibilities. A best-in-class tool or solution is used, with exceptions requiring action being delivered via workflow functionality. Adjustments are integrated into both financial systems and data warehouse/analytical systems.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Reconciliation, Validation and Adjustments are centralised, with well-defined and documented responsibilities and processes. A dedicated tool or solution is used to perform these processes on a largely automated basis against data which is largely available from a single source.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 dedicated tool or solution is used to perform Reconciliation &amp; Validation on a largely automated basis against data which is largely available from a single source. Adjustments are still primarily applied manually.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Reconciliation and Validation are subject to some centralisation, with some use of common tools and processes.  However the underlying data upon which they operate is still fragmented, and needs to be sourced directly. Adjustments  are applied manually.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Reconciliation, Validation and Adjustment processes are fragmented and distributed widely across the organisation. They are largely manual, and involve extensive use of reports and spreadsheets.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596" name="Google Shape;4596;p249"/>
          <p:cNvGrpSpPr/>
          <p:nvPr/>
        </p:nvGrpSpPr>
        <p:grpSpPr>
          <a:xfrm>
            <a:off x="469900" y="3819680"/>
            <a:ext cx="8455025" cy="732866"/>
            <a:chOff x="211138" y="3972860"/>
            <a:chExt cx="8713787" cy="642437"/>
          </a:xfrm>
        </p:grpSpPr>
        <p:sp>
          <p:nvSpPr>
            <p:cNvPr id="4597" name="Google Shape;4597;p24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598" name="Google Shape;4598;p24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4599" name="Google Shape;4599;p249"/>
          <p:cNvGrpSpPr/>
          <p:nvPr/>
        </p:nvGrpSpPr>
        <p:grpSpPr>
          <a:xfrm>
            <a:off x="7971865" y="980278"/>
            <a:ext cx="949325" cy="2867825"/>
            <a:chOff x="7941888" y="1062037"/>
            <a:chExt cx="983037" cy="2695575"/>
          </a:xfrm>
        </p:grpSpPr>
        <p:sp>
          <p:nvSpPr>
            <p:cNvPr id="4600" name="Google Shape;4600;p24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601" name="Google Shape;4601;p24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4602" name="Google Shape;4602;p24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a:solidFill>
                <a:schemeClr val="accent6"/>
              </a:solidFill>
            </a:endParaRPr>
          </a:p>
        </p:txBody>
      </p:sp>
      <p:sp>
        <p:nvSpPr>
          <p:cNvPr id="4603" name="Google Shape;4603;p2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26" name="Shape 4626"/>
        <p:cNvGrpSpPr/>
        <p:nvPr/>
      </p:nvGrpSpPr>
      <p:grpSpPr>
        <a:xfrm>
          <a:off x="0" y="0"/>
          <a:ext cx="0" cy="0"/>
          <a:chOff x="0" y="0"/>
          <a:chExt cx="0" cy="0"/>
        </a:xfrm>
      </p:grpSpPr>
      <p:graphicFrame>
        <p:nvGraphicFramePr>
          <p:cNvPr id="4627" name="Google Shape;4627;p251"/>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 best of breed Financial Consolidation solution is used, delivering an extremely fast financial consolidation process. Rules and mappings are maintained by financial analysts, requiring minimal IT development and maintenance. Financial information is fully integrated, and drill-down is available from summary to detail.</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Financial Consolidation is delivered using a dedicated consolidation tool which sources the required GL / ERP data from an integrated data repository. The financial close process has been accelerated, however the ability to drill-down is limited to the summary-level legal entity financial data.</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Financial Consolidation is delivered using a dedicated consolidation tool, however data is still sourced from disparate GL / ERP systems. Some improvements have been made to the speed of financial close.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Financial Consolidation is still performed using desktop-based applications (e.g. Excel, Access) however some automation of data sourcing from disparate General Ledger / ERP and other operational systems has been introduced. The financial close process is still time-consuming.</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Financial Consolidation is performed using desktop-based applications (e.g. Excel, Access), and relies on substantial manual effort to source, collate, map and integrate financial data. The financial close process is slow and top-line adjustments are only visible in the consolidated records.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628" name="Google Shape;4628;p251"/>
          <p:cNvGrpSpPr/>
          <p:nvPr/>
        </p:nvGrpSpPr>
        <p:grpSpPr>
          <a:xfrm>
            <a:off x="469900" y="3819680"/>
            <a:ext cx="8455025" cy="732866"/>
            <a:chOff x="211138" y="3972860"/>
            <a:chExt cx="8713787" cy="642437"/>
          </a:xfrm>
        </p:grpSpPr>
        <p:sp>
          <p:nvSpPr>
            <p:cNvPr id="4629" name="Google Shape;4629;p25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630" name="Google Shape;4630;p25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4631" name="Google Shape;4631;p251"/>
          <p:cNvGrpSpPr/>
          <p:nvPr/>
        </p:nvGrpSpPr>
        <p:grpSpPr>
          <a:xfrm>
            <a:off x="7971865" y="980278"/>
            <a:ext cx="949325" cy="2867825"/>
            <a:chOff x="7941888" y="1062037"/>
            <a:chExt cx="983037" cy="2695575"/>
          </a:xfrm>
        </p:grpSpPr>
        <p:sp>
          <p:nvSpPr>
            <p:cNvPr id="4632" name="Google Shape;4632;p25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633" name="Google Shape;4633;p25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4634" name="Google Shape;4634;p251"/>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a:solidFill>
                <a:schemeClr val="accent6"/>
              </a:solidFill>
            </a:endParaRPr>
          </a:p>
        </p:txBody>
      </p:sp>
      <p:sp>
        <p:nvSpPr>
          <p:cNvPr id="4635" name="Google Shape;4635;p2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58" name="Shape 4658"/>
        <p:cNvGrpSpPr/>
        <p:nvPr/>
      </p:nvGrpSpPr>
      <p:grpSpPr>
        <a:xfrm>
          <a:off x="0" y="0"/>
          <a:ext cx="0" cy="0"/>
          <a:chOff x="0" y="0"/>
          <a:chExt cx="0" cy="0"/>
        </a:xfrm>
      </p:grpSpPr>
      <p:graphicFrame>
        <p:nvGraphicFramePr>
          <p:cNvPr id="4659" name="Google Shape;4659;p253"/>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An Accounting Hub is  used to deliver the granular financial reporting capability. Functional and segment-level P&amp;Ls are delivered easily by the use of segments which are resident in the sub ledgers. The reporting segments are now maintained in the sub-ledgers with the appropriate drill-down capabilities.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Both the ERP / GL, sub-ledgers and operational systems are fed into an integrated warehouse with the links between the GL and Sub GL and other Operating Systems established. These transactions are reported out of the warehouse using a BI tool.</a:t>
                      </a:r>
                      <a:endParaRPr b="0" sz="900" u="sng">
                        <a:solidFill>
                          <a:srgbClr val="FF0000"/>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Functional P&amp;Ls are automated and produced  using a BI tool which sources data directly from disparate General Ledger / ERP and other operational systems. Manual processes have been substantially reduced. Ability to drill from summary-level P&amp;L to detail is limited by granularity of data sourcing.</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Functional P&amp;Ls are manually produced using feeds from disparate General Ledger / ERP. Substantial manual effort is required. BI tools are deployed but with limited capability to provide drill downs from summary-level P&amp;L to detailed data.</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lang="en-GB" sz="900"/>
                        <a:t>Functional P&amp;L  production</a:t>
                      </a:r>
                      <a:r>
                        <a:rPr lang="en-GB" sz="900"/>
                        <a:t> is laborious and difficult. Reporting is almost exclusively done through Excel. Design and customisation of GL / ERP systems requires use of multiple segments resulting in a ‘thick’ GL, with high maintenance costs and poor performance.</a:t>
                      </a:r>
                      <a:r>
                        <a:rPr b="0" lang="en-GB" sz="900">
                          <a:solidFill>
                            <a:schemeClr val="dk1"/>
                          </a:solidFill>
                          <a:latin typeface="Century Gothic"/>
                          <a:ea typeface="Century Gothic"/>
                          <a:cs typeface="Century Gothic"/>
                          <a:sym typeface="Century Gothic"/>
                        </a:rPr>
                        <a:t> Minimal ability to drill from summary-level P&amp;L to detailed data.</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4660" name="Google Shape;4660;p253"/>
          <p:cNvGrpSpPr/>
          <p:nvPr/>
        </p:nvGrpSpPr>
        <p:grpSpPr>
          <a:xfrm>
            <a:off x="469900" y="3819680"/>
            <a:ext cx="8455025" cy="732866"/>
            <a:chOff x="211138" y="3972860"/>
            <a:chExt cx="8713787" cy="642437"/>
          </a:xfrm>
        </p:grpSpPr>
        <p:sp>
          <p:nvSpPr>
            <p:cNvPr id="4661" name="Google Shape;4661;p25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662" name="Google Shape;4662;p25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4663" name="Google Shape;4663;p253"/>
          <p:cNvGrpSpPr/>
          <p:nvPr/>
        </p:nvGrpSpPr>
        <p:grpSpPr>
          <a:xfrm>
            <a:off x="7971865" y="980278"/>
            <a:ext cx="949325" cy="2867825"/>
            <a:chOff x="7941888" y="1062037"/>
            <a:chExt cx="983037" cy="2695575"/>
          </a:xfrm>
        </p:grpSpPr>
        <p:sp>
          <p:nvSpPr>
            <p:cNvPr id="4664" name="Google Shape;4664;p25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4665" name="Google Shape;4665;p25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4666" name="Google Shape;4666;p253"/>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a:solidFill>
                <a:schemeClr val="accent6"/>
              </a:solidFill>
            </a:endParaRPr>
          </a:p>
        </p:txBody>
      </p:sp>
      <p:sp>
        <p:nvSpPr>
          <p:cNvPr id="4667" name="Google Shape;4667;p2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81" name="Shape 4681"/>
        <p:cNvGrpSpPr/>
        <p:nvPr/>
      </p:nvGrpSpPr>
      <p:grpSpPr>
        <a:xfrm>
          <a:off x="0" y="0"/>
          <a:ext cx="0" cy="0"/>
          <a:chOff x="0" y="0"/>
          <a:chExt cx="0" cy="0"/>
        </a:xfrm>
      </p:grpSpPr>
      <p:pic>
        <p:nvPicPr>
          <p:cNvPr id="4682" name="Google Shape;4682;p255"/>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83" name="Google Shape;4683;p255"/>
          <p:cNvSpPr txBox="1"/>
          <p:nvPr>
            <p:ph type="title"/>
          </p:nvPr>
        </p:nvSpPr>
        <p:spPr>
          <a:xfrm>
            <a:off x="477880" y="248617"/>
            <a:ext cx="8401960" cy="630857"/>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 - Challenges</a:t>
            </a:r>
            <a:endParaRPr/>
          </a:p>
        </p:txBody>
      </p:sp>
      <p:sp>
        <p:nvSpPr>
          <p:cNvPr id="4684" name="Google Shape;4684;p2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
        <p:nvSpPr>
          <p:cNvPr id="4685" name="Google Shape;4685;p255"/>
          <p:cNvSpPr/>
          <p:nvPr/>
        </p:nvSpPr>
        <p:spPr>
          <a:xfrm>
            <a:off x="475559" y="1076925"/>
            <a:ext cx="8264697" cy="838769"/>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chemeClr val="lt1"/>
                </a:solidFill>
                <a:latin typeface="Century Gothic"/>
                <a:ea typeface="Century Gothic"/>
                <a:cs typeface="Century Gothic"/>
                <a:sym typeface="Century Gothic"/>
              </a:rPr>
              <a:t>Overall challenge: </a:t>
            </a:r>
            <a:r>
              <a:rPr lang="en-GB" sz="1400">
                <a:solidFill>
                  <a:schemeClr val="lt1"/>
                </a:solidFill>
                <a:latin typeface="Century Gothic"/>
                <a:ea typeface="Century Gothic"/>
                <a:cs typeface="Century Gothic"/>
                <a:sym typeface="Century Gothic"/>
              </a:rPr>
              <a:t>Huge attention on the Output from both internal and External stakeholders. The processes are often time-consuming and manual, with lack of common definitions and business rules.</a:t>
            </a:r>
            <a:endParaRPr/>
          </a:p>
        </p:txBody>
      </p:sp>
      <p:sp>
        <p:nvSpPr>
          <p:cNvPr id="4686" name="Google Shape;4686;p255"/>
          <p:cNvSpPr/>
          <p:nvPr/>
        </p:nvSpPr>
        <p:spPr>
          <a:xfrm>
            <a:off x="3670300" y="4066286"/>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900">
                <a:solidFill>
                  <a:schemeClr val="dk1"/>
                </a:solidFill>
                <a:latin typeface="Century Gothic"/>
                <a:ea typeface="Century Gothic"/>
                <a:cs typeface="Century Gothic"/>
                <a:sym typeface="Century Gothic"/>
              </a:rPr>
              <a:t>Efficient EPM processes enables the finance function to spend less time on preparing and analyzing historical performance versus forward-looking activities such as modeling, budget &amp; planning and forecasting coming periods performance. Potentially improves data quality and output accuracy.</a:t>
            </a:r>
            <a:endParaRPr/>
          </a:p>
        </p:txBody>
      </p:sp>
      <p:sp>
        <p:nvSpPr>
          <p:cNvPr id="4687" name="Google Shape;4687;p255"/>
          <p:cNvSpPr/>
          <p:nvPr/>
        </p:nvSpPr>
        <p:spPr>
          <a:xfrm>
            <a:off x="3670300" y="3369173"/>
            <a:ext cx="5069957" cy="680400"/>
          </a:xfrm>
          <a:prstGeom prst="rect">
            <a:avLst/>
          </a:prstGeom>
          <a:solidFill>
            <a:schemeClr val="lt2"/>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900">
                <a:solidFill>
                  <a:srgbClr val="3C3C3B"/>
                </a:solidFill>
                <a:latin typeface="Century Gothic"/>
                <a:ea typeface="Century Gothic"/>
                <a:cs typeface="Century Gothic"/>
                <a:sym typeface="Century Gothic"/>
              </a:rPr>
              <a:t>Efficient EPM processes include embedded process management capabilities, which automatically do checks of data as well as approvals/rejections, when reporting/budgeting data are forwarded to next manager level. Potentially reduces auditing effort.</a:t>
            </a:r>
            <a:endParaRPr/>
          </a:p>
        </p:txBody>
      </p:sp>
      <p:sp>
        <p:nvSpPr>
          <p:cNvPr id="4688" name="Google Shape;4688;p255"/>
          <p:cNvSpPr/>
          <p:nvPr/>
        </p:nvSpPr>
        <p:spPr>
          <a:xfrm>
            <a:off x="565150" y="4066286"/>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4689" name="Google Shape;4689;p255"/>
          <p:cNvSpPr/>
          <p:nvPr/>
        </p:nvSpPr>
        <p:spPr>
          <a:xfrm>
            <a:off x="3670300" y="2667087"/>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900">
                <a:solidFill>
                  <a:srgbClr val="3C3C3B"/>
                </a:solidFill>
                <a:latin typeface="Century Gothic"/>
                <a:ea typeface="Century Gothic"/>
                <a:cs typeface="Century Gothic"/>
                <a:sym typeface="Century Gothic"/>
              </a:rPr>
              <a:t>Efficient EPM processes reduces the need for individual data massaging, because  the EPM process are based on the same data definitions, business dimensions and business rules. This shortens reporting and budgeting cycles and free up time for analytical activities.</a:t>
            </a:r>
            <a:endParaRPr/>
          </a:p>
        </p:txBody>
      </p:sp>
      <p:sp>
        <p:nvSpPr>
          <p:cNvPr id="4690" name="Google Shape;4690;p255"/>
          <p:cNvSpPr/>
          <p:nvPr/>
        </p:nvSpPr>
        <p:spPr>
          <a:xfrm>
            <a:off x="565150" y="2667088"/>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4691" name="Google Shape;4691;p255"/>
          <p:cNvSpPr/>
          <p:nvPr/>
        </p:nvSpPr>
        <p:spPr>
          <a:xfrm>
            <a:off x="488950" y="2667088"/>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More efficient financial processes </a:t>
            </a:r>
            <a:endParaRPr/>
          </a:p>
        </p:txBody>
      </p:sp>
      <p:sp>
        <p:nvSpPr>
          <p:cNvPr id="4692" name="Google Shape;4692;p255"/>
          <p:cNvSpPr/>
          <p:nvPr/>
        </p:nvSpPr>
        <p:spPr>
          <a:xfrm>
            <a:off x="3670299" y="1962831"/>
            <a:ext cx="5069957" cy="680400"/>
          </a:xfrm>
          <a:prstGeom prst="rect">
            <a:avLst/>
          </a:prstGeom>
          <a:solidFill>
            <a:srgbClr val="D8D8D8"/>
          </a:solidFill>
          <a:ln>
            <a:noFill/>
          </a:ln>
        </p:spPr>
        <p:txBody>
          <a:bodyPr anchorCtr="0" anchor="ctr" bIns="91425" lIns="432000" spcFirstLastPara="1" rIns="91425" wrap="square" tIns="90000">
            <a:noAutofit/>
          </a:bodyPr>
          <a:lstStyle/>
          <a:p>
            <a:pPr indent="0" lvl="0" marL="0" marR="0" rtl="0" algn="l">
              <a:spcBef>
                <a:spcPts val="0"/>
              </a:spcBef>
              <a:spcAft>
                <a:spcPts val="0"/>
              </a:spcAft>
              <a:buNone/>
            </a:pPr>
            <a:r>
              <a:rPr lang="en-GB" sz="900">
                <a:solidFill>
                  <a:schemeClr val="dk1"/>
                </a:solidFill>
                <a:latin typeface="Century Gothic"/>
                <a:ea typeface="Century Gothic"/>
                <a:cs typeface="Century Gothic"/>
                <a:sym typeface="Century Gothic"/>
              </a:rPr>
              <a:t>Efficient EPM processes are aligned with Strategic Objectives of the organization, which ensures relevant KPIs are defined also including accountability.</a:t>
            </a:r>
            <a:endParaRPr/>
          </a:p>
          <a:p>
            <a:pPr indent="0" lvl="0" marL="0" marR="0" rtl="0" algn="l">
              <a:spcBef>
                <a:spcPts val="0"/>
              </a:spcBef>
              <a:spcAft>
                <a:spcPts val="0"/>
              </a:spcAft>
              <a:buNone/>
            </a:pPr>
            <a:r>
              <a:rPr lang="en-GB" sz="900">
                <a:solidFill>
                  <a:srgbClr val="3C3C3B"/>
                </a:solidFill>
                <a:latin typeface="Century Gothic"/>
                <a:ea typeface="Century Gothic"/>
                <a:cs typeface="Century Gothic"/>
                <a:sym typeface="Century Gothic"/>
              </a:rPr>
              <a:t>The organization gains faster insight about how the organization are progressing according to Strategy as well as how employees perform.</a:t>
            </a:r>
            <a:endParaRPr/>
          </a:p>
        </p:txBody>
      </p:sp>
      <p:sp>
        <p:nvSpPr>
          <p:cNvPr id="4693" name="Google Shape;4693;p255"/>
          <p:cNvSpPr/>
          <p:nvPr/>
        </p:nvSpPr>
        <p:spPr>
          <a:xfrm>
            <a:off x="565149" y="1962832"/>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4694" name="Google Shape;4694;p255"/>
          <p:cNvSpPr/>
          <p:nvPr/>
        </p:nvSpPr>
        <p:spPr>
          <a:xfrm>
            <a:off x="488949" y="1962832"/>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Aligning decisions to objectives and strategy</a:t>
            </a:r>
            <a:endParaRPr/>
          </a:p>
        </p:txBody>
      </p:sp>
      <p:sp>
        <p:nvSpPr>
          <p:cNvPr id="4695" name="Google Shape;4695;p255"/>
          <p:cNvSpPr/>
          <p:nvPr/>
        </p:nvSpPr>
        <p:spPr>
          <a:xfrm>
            <a:off x="488950" y="4066286"/>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More forward-looking activities </a:t>
            </a:r>
            <a:endParaRPr/>
          </a:p>
        </p:txBody>
      </p:sp>
      <p:sp>
        <p:nvSpPr>
          <p:cNvPr id="4696" name="Google Shape;4696;p255"/>
          <p:cNvSpPr/>
          <p:nvPr/>
        </p:nvSpPr>
        <p:spPr>
          <a:xfrm>
            <a:off x="565150" y="3369174"/>
            <a:ext cx="3417247" cy="680400"/>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4697" name="Google Shape;4697;p255"/>
          <p:cNvSpPr/>
          <p:nvPr/>
        </p:nvSpPr>
        <p:spPr>
          <a:xfrm>
            <a:off x="488950" y="3369174"/>
            <a:ext cx="3417247" cy="680400"/>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Improved control and transparency</a:t>
            </a:r>
            <a:endParaRPr/>
          </a:p>
        </p:txBody>
      </p:sp>
    </p:spTree>
  </p:cSld>
  <p:clrMapOvr>
    <a:masterClrMapping/>
  </p:clrMapOvr>
</p:sld>
</file>

<file path=ppt/slides/slide2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01" name="Shape 4701"/>
        <p:cNvGrpSpPr/>
        <p:nvPr/>
      </p:nvGrpSpPr>
      <p:grpSpPr>
        <a:xfrm>
          <a:off x="0" y="0"/>
          <a:ext cx="0" cy="0"/>
          <a:chOff x="0" y="0"/>
          <a:chExt cx="0" cy="0"/>
        </a:xfrm>
      </p:grpSpPr>
      <p:sp>
        <p:nvSpPr>
          <p:cNvPr id="4702" name="Google Shape;4702;p25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703" name="Google Shape;4703;p256"/>
          <p:cNvSpPr txBox="1"/>
          <p:nvPr>
            <p:ph idx="4294967295" type="body"/>
          </p:nvPr>
        </p:nvSpPr>
        <p:spPr>
          <a:xfrm>
            <a:off x="288393" y="997338"/>
            <a:ext cx="5100036" cy="3672000"/>
          </a:xfrm>
          <a:prstGeom prst="rect">
            <a:avLst/>
          </a:prstGeom>
          <a:noFill/>
          <a:ln>
            <a:noFill/>
          </a:ln>
        </p:spPr>
        <p:txBody>
          <a:bodyPr anchorCtr="0" anchor="t" bIns="0" lIns="0" spcFirstLastPara="1" rIns="0" wrap="square" tIns="0">
            <a:noAutofit/>
          </a:bodyPr>
          <a:lstStyle/>
          <a:p>
            <a:pPr indent="0" lvl="0" marL="0" rtl="0" algn="l">
              <a:lnSpc>
                <a:spcPct val="100000"/>
              </a:lnSpc>
              <a:spcBef>
                <a:spcPts val="0"/>
              </a:spcBef>
              <a:spcAft>
                <a:spcPts val="0"/>
              </a:spcAft>
              <a:buClr>
                <a:schemeClr val="dk1"/>
              </a:buClr>
              <a:buSzPts val="1600"/>
              <a:buNone/>
            </a:pPr>
            <a:r>
              <a:rPr b="1" lang="en-GB" sz="1600"/>
              <a:t>   </a:t>
            </a:r>
            <a:r>
              <a:rPr lang="en-GB">
                <a:solidFill>
                  <a:schemeClr val="dk2"/>
                </a:solidFill>
              </a:rPr>
              <a:t>Are You Able To…</a:t>
            </a:r>
            <a:endParaRPr sz="1400"/>
          </a:p>
          <a:p>
            <a:pPr indent="-228600" lvl="1" marL="457200" rtl="0" algn="l">
              <a:lnSpc>
                <a:spcPct val="100000"/>
              </a:lnSpc>
              <a:spcBef>
                <a:spcPts val="0"/>
              </a:spcBef>
              <a:spcAft>
                <a:spcPts val="0"/>
              </a:spcAft>
              <a:buClr>
                <a:schemeClr val="dk1"/>
              </a:buClr>
              <a:buSzPts val="1400"/>
              <a:buChar char="–"/>
            </a:pPr>
            <a:r>
              <a:rPr lang="en-GB" sz="1400"/>
              <a:t>Do consolidation and financial reporting in three days?</a:t>
            </a:r>
            <a:endParaRPr/>
          </a:p>
          <a:p>
            <a:pPr indent="-228600" lvl="1" marL="457200" rtl="0" algn="l">
              <a:lnSpc>
                <a:spcPct val="100000"/>
              </a:lnSpc>
              <a:spcBef>
                <a:spcPts val="300"/>
              </a:spcBef>
              <a:spcAft>
                <a:spcPts val="0"/>
              </a:spcAft>
              <a:buClr>
                <a:schemeClr val="dk1"/>
              </a:buClr>
              <a:buSzPts val="1400"/>
              <a:buChar char="–"/>
            </a:pPr>
            <a:r>
              <a:rPr lang="en-GB" sz="1400"/>
              <a:t>Analyze Group P&amp;L as well as Entity P&amp;L’s without gathering and preparing new data?</a:t>
            </a:r>
            <a:endParaRPr/>
          </a:p>
          <a:p>
            <a:pPr indent="-228600" lvl="1" marL="457200" rtl="0" algn="l">
              <a:lnSpc>
                <a:spcPct val="100000"/>
              </a:lnSpc>
              <a:spcBef>
                <a:spcPts val="300"/>
              </a:spcBef>
              <a:spcAft>
                <a:spcPts val="0"/>
              </a:spcAft>
              <a:buClr>
                <a:schemeClr val="dk1"/>
              </a:buClr>
              <a:buSzPts val="1400"/>
              <a:buChar char="–"/>
            </a:pPr>
            <a:r>
              <a:rPr lang="en-GB" sz="1400"/>
              <a:t>Measure performance against strategic objectives?</a:t>
            </a:r>
            <a:endParaRPr/>
          </a:p>
          <a:p>
            <a:pPr indent="-228600" lvl="1" marL="457200" rtl="0" algn="l">
              <a:lnSpc>
                <a:spcPct val="100000"/>
              </a:lnSpc>
              <a:spcBef>
                <a:spcPts val="300"/>
              </a:spcBef>
              <a:spcAft>
                <a:spcPts val="0"/>
              </a:spcAft>
              <a:buClr>
                <a:schemeClr val="dk1"/>
              </a:buClr>
              <a:buSzPts val="1400"/>
              <a:buChar char="–"/>
            </a:pPr>
            <a:r>
              <a:rPr lang="en-GB" sz="1400"/>
              <a:t>Understand variances between Actual data and budgeted/forecasted data without gathering and preparing new data?</a:t>
            </a:r>
            <a:endParaRPr/>
          </a:p>
          <a:p>
            <a:pPr indent="-228600" lvl="1" marL="457200" rtl="0" algn="l">
              <a:lnSpc>
                <a:spcPct val="100000"/>
              </a:lnSpc>
              <a:spcBef>
                <a:spcPts val="300"/>
              </a:spcBef>
              <a:spcAft>
                <a:spcPts val="0"/>
              </a:spcAft>
              <a:buClr>
                <a:schemeClr val="dk1"/>
              </a:buClr>
              <a:buSzPts val="1400"/>
              <a:buChar char="–"/>
            </a:pPr>
            <a:r>
              <a:rPr lang="en-GB" sz="1400"/>
              <a:t>Prepare your templates etc. for the upcoming budgeting cycle within two days?</a:t>
            </a:r>
            <a:endParaRPr/>
          </a:p>
          <a:p>
            <a:pPr indent="-228600" lvl="1" marL="457200" rtl="0" algn="l">
              <a:lnSpc>
                <a:spcPct val="100000"/>
              </a:lnSpc>
              <a:spcBef>
                <a:spcPts val="300"/>
              </a:spcBef>
              <a:spcAft>
                <a:spcPts val="0"/>
              </a:spcAft>
              <a:buClr>
                <a:schemeClr val="dk1"/>
              </a:buClr>
              <a:buSzPts val="1400"/>
              <a:buChar char="–"/>
            </a:pPr>
            <a:r>
              <a:rPr lang="en-GB" sz="1400"/>
              <a:t>Do Rolling Forecasts throughout the financial year?</a:t>
            </a:r>
            <a:endParaRPr/>
          </a:p>
          <a:p>
            <a:pPr indent="-228600" lvl="1" marL="457200" rtl="0" algn="l">
              <a:lnSpc>
                <a:spcPct val="100000"/>
              </a:lnSpc>
              <a:spcBef>
                <a:spcPts val="300"/>
              </a:spcBef>
              <a:spcAft>
                <a:spcPts val="0"/>
              </a:spcAft>
              <a:buClr>
                <a:schemeClr val="dk1"/>
              </a:buClr>
              <a:buSzPts val="1400"/>
              <a:buChar char="–"/>
            </a:pPr>
            <a:r>
              <a:rPr lang="en-GB" sz="1400"/>
              <a:t>Manage the full EPM process with only one person?</a:t>
            </a:r>
            <a:endParaRPr/>
          </a:p>
          <a:p>
            <a:pPr indent="-228600" lvl="1" marL="457200" rtl="0" algn="l">
              <a:lnSpc>
                <a:spcPct val="100000"/>
              </a:lnSpc>
              <a:spcBef>
                <a:spcPts val="300"/>
              </a:spcBef>
              <a:spcAft>
                <a:spcPts val="0"/>
              </a:spcAft>
              <a:buClr>
                <a:schemeClr val="dk1"/>
              </a:buClr>
              <a:buSzPts val="1400"/>
              <a:buChar char="–"/>
            </a:pPr>
            <a:r>
              <a:rPr lang="en-GB" sz="1400"/>
              <a:t>Easily update Reports/Dashboards with new business dimensions and/or updated hierarchies?</a:t>
            </a:r>
            <a:endParaRPr/>
          </a:p>
        </p:txBody>
      </p:sp>
      <p:sp>
        <p:nvSpPr>
          <p:cNvPr id="4704" name="Google Shape;4704;p256"/>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id="4705" name="Google Shape;4705;p256"/>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4706" name="Google Shape;4706;p25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10" name="Shape 4710"/>
        <p:cNvGrpSpPr/>
        <p:nvPr/>
      </p:nvGrpSpPr>
      <p:grpSpPr>
        <a:xfrm>
          <a:off x="0" y="0"/>
          <a:ext cx="0" cy="0"/>
          <a:chOff x="0" y="0"/>
          <a:chExt cx="0" cy="0"/>
        </a:xfrm>
      </p:grpSpPr>
      <p:sp>
        <p:nvSpPr>
          <p:cNvPr id="4711" name="Google Shape;4711;p257"/>
          <p:cNvSpPr txBox="1"/>
          <p:nvPr>
            <p:ph idx="1" type="body"/>
          </p:nvPr>
        </p:nvSpPr>
        <p:spPr>
          <a:xfrm>
            <a:off x="467360" y="878361"/>
            <a:ext cx="4784456" cy="364840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300"/>
              <a:buChar char="•"/>
            </a:pPr>
            <a:r>
              <a:rPr lang="en-GB" sz="1300"/>
              <a:t>Gathering all G/L data from all ERP solutions</a:t>
            </a:r>
            <a:endParaRPr/>
          </a:p>
          <a:p>
            <a:pPr indent="-169863" lvl="0" marL="169863" rtl="0" algn="l">
              <a:lnSpc>
                <a:spcPct val="95000"/>
              </a:lnSpc>
              <a:spcBef>
                <a:spcPts val="600"/>
              </a:spcBef>
              <a:spcAft>
                <a:spcPts val="0"/>
              </a:spcAft>
              <a:buClr>
                <a:schemeClr val="dk1"/>
              </a:buClr>
              <a:buSzPts val="1300"/>
              <a:buChar char="•"/>
            </a:pPr>
            <a:r>
              <a:rPr lang="en-GB" sz="1300"/>
              <a:t>Align to a commonly defined CoA / business analysis structure</a:t>
            </a:r>
            <a:endParaRPr/>
          </a:p>
          <a:p>
            <a:pPr indent="-169863" lvl="0" marL="169863" rtl="0" algn="l">
              <a:lnSpc>
                <a:spcPct val="95000"/>
              </a:lnSpc>
              <a:spcBef>
                <a:spcPts val="600"/>
              </a:spcBef>
              <a:spcAft>
                <a:spcPts val="0"/>
              </a:spcAft>
              <a:buClr>
                <a:schemeClr val="dk1"/>
              </a:buClr>
              <a:buSzPts val="1300"/>
              <a:buChar char="•"/>
            </a:pPr>
            <a:r>
              <a:rPr lang="en-GB" sz="1300"/>
              <a:t>Align other relevant business dimensions (i.e. organization, segments, products etc.)</a:t>
            </a:r>
            <a:endParaRPr/>
          </a:p>
          <a:p>
            <a:pPr indent="-169863" lvl="0" marL="169863" rtl="0" algn="l">
              <a:lnSpc>
                <a:spcPct val="95000"/>
              </a:lnSpc>
              <a:spcBef>
                <a:spcPts val="600"/>
              </a:spcBef>
              <a:spcAft>
                <a:spcPts val="0"/>
              </a:spcAft>
              <a:buClr>
                <a:schemeClr val="dk1"/>
              </a:buClr>
              <a:buSzPts val="1300"/>
              <a:buChar char="•"/>
            </a:pPr>
            <a:r>
              <a:rPr lang="en-GB" sz="1300"/>
              <a:t>Use a dedicated EPM tool to manage the legal consolidations, process management, exchange rate calc’s, common budget assumptions, web forms etc.</a:t>
            </a:r>
            <a:endParaRPr/>
          </a:p>
          <a:p>
            <a:pPr indent="-169863" lvl="0" marL="169863" rtl="0" algn="l">
              <a:lnSpc>
                <a:spcPct val="95000"/>
              </a:lnSpc>
              <a:spcBef>
                <a:spcPts val="600"/>
              </a:spcBef>
              <a:spcAft>
                <a:spcPts val="0"/>
              </a:spcAft>
              <a:buClr>
                <a:schemeClr val="dk1"/>
              </a:buClr>
              <a:buSzPts val="1300"/>
              <a:buChar char="•"/>
            </a:pPr>
            <a:r>
              <a:rPr lang="en-GB" sz="1300"/>
              <a:t>When EPM process are done – load data back to data warehouse to ensure “one-version” of data</a:t>
            </a:r>
            <a:endParaRPr/>
          </a:p>
          <a:p>
            <a:pPr indent="-169863" lvl="0" marL="169863" rtl="0" algn="l">
              <a:lnSpc>
                <a:spcPct val="95000"/>
              </a:lnSpc>
              <a:spcBef>
                <a:spcPts val="600"/>
              </a:spcBef>
              <a:spcAft>
                <a:spcPts val="0"/>
              </a:spcAft>
              <a:buClr>
                <a:schemeClr val="dk1"/>
              </a:buClr>
              <a:buSzPts val="1300"/>
              <a:buChar char="•"/>
            </a:pPr>
            <a:r>
              <a:rPr lang="en-GB" sz="1300"/>
              <a:t>Re-join EPM data and non-EPM data with relevant business dimensions</a:t>
            </a:r>
            <a:endParaRPr/>
          </a:p>
          <a:p>
            <a:pPr indent="-169863" lvl="0" marL="169863" rtl="0" algn="l">
              <a:lnSpc>
                <a:spcPct val="95000"/>
              </a:lnSpc>
              <a:spcBef>
                <a:spcPts val="600"/>
              </a:spcBef>
              <a:spcAft>
                <a:spcPts val="0"/>
              </a:spcAft>
              <a:buClr>
                <a:schemeClr val="dk1"/>
              </a:buClr>
              <a:buSzPts val="1300"/>
              <a:buChar char="•"/>
            </a:pPr>
            <a:r>
              <a:rPr lang="en-GB" sz="1300"/>
              <a:t>This enables a common set of data for: Financial reporting, internal Mgt Reporting, Budget and Planning, Forecasting etc.</a:t>
            </a:r>
            <a:endParaRPr/>
          </a:p>
        </p:txBody>
      </p:sp>
      <p:sp>
        <p:nvSpPr>
          <p:cNvPr id="4712" name="Google Shape;4712;p25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713" name="Google Shape;4713;p25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id="4714" name="Google Shape;4714;p257"/>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4715" name="Google Shape;4715;p25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19" name="Shape 4719"/>
        <p:cNvGrpSpPr/>
        <p:nvPr/>
      </p:nvGrpSpPr>
      <p:grpSpPr>
        <a:xfrm>
          <a:off x="0" y="0"/>
          <a:ext cx="0" cy="0"/>
          <a:chOff x="0" y="0"/>
          <a:chExt cx="0" cy="0"/>
        </a:xfrm>
      </p:grpSpPr>
      <p:pic>
        <p:nvPicPr>
          <p:cNvPr id="4720" name="Google Shape;4720;p258"/>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721" name="Google Shape;4721;p258"/>
          <p:cNvSpPr txBox="1"/>
          <p:nvPr>
            <p:ph type="title"/>
          </p:nvPr>
        </p:nvSpPr>
        <p:spPr>
          <a:xfrm>
            <a:off x="477880" y="-384527"/>
            <a:ext cx="553684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Value of Enterprise Performance Management</a:t>
            </a:r>
            <a:endParaRPr/>
          </a:p>
        </p:txBody>
      </p:sp>
      <p:sp>
        <p:nvSpPr>
          <p:cNvPr id="4722" name="Google Shape;4722;p258"/>
          <p:cNvSpPr txBox="1"/>
          <p:nvPr/>
        </p:nvSpPr>
        <p:spPr>
          <a:xfrm>
            <a:off x="6358142" y="1077913"/>
            <a:ext cx="2196135" cy="684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95000"/>
              </a:lnSpc>
              <a:spcBef>
                <a:spcPts val="0"/>
              </a:spcBef>
              <a:spcAft>
                <a:spcPts val="0"/>
              </a:spcAft>
              <a:buNone/>
            </a:pPr>
            <a:r>
              <a:rPr lang="en-GB" sz="1400">
                <a:solidFill>
                  <a:srgbClr val="FF0000"/>
                </a:solidFill>
                <a:latin typeface="Century Gothic"/>
                <a:ea typeface="Century Gothic"/>
                <a:cs typeface="Century Gothic"/>
                <a:sym typeface="Century Gothic"/>
              </a:rPr>
              <a:t>Cost Savings…</a:t>
            </a:r>
            <a:endParaRPr sz="1400">
              <a:solidFill>
                <a:srgbClr val="FF0000"/>
              </a:solidFill>
              <a:latin typeface="Century Gothic"/>
              <a:ea typeface="Century Gothic"/>
              <a:cs typeface="Century Gothic"/>
              <a:sym typeface="Century Gothic"/>
            </a:endParaRPr>
          </a:p>
        </p:txBody>
      </p:sp>
      <p:sp>
        <p:nvSpPr>
          <p:cNvPr id="4723" name="Google Shape;4723;p258"/>
          <p:cNvSpPr txBox="1"/>
          <p:nvPr/>
        </p:nvSpPr>
        <p:spPr>
          <a:xfrm>
            <a:off x="6358142" y="1811580"/>
            <a:ext cx="2196135" cy="684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95000"/>
              </a:lnSpc>
              <a:spcBef>
                <a:spcPts val="0"/>
              </a:spcBef>
              <a:spcAft>
                <a:spcPts val="0"/>
              </a:spcAft>
              <a:buNone/>
            </a:pPr>
            <a:r>
              <a:rPr lang="en-GB" sz="1400">
                <a:solidFill>
                  <a:srgbClr val="FF0000"/>
                </a:solidFill>
                <a:latin typeface="Century Gothic"/>
                <a:ea typeface="Century Gothic"/>
                <a:cs typeface="Century Gothic"/>
                <a:sym typeface="Century Gothic"/>
              </a:rPr>
              <a:t>Standardization…</a:t>
            </a:r>
            <a:endParaRPr sz="1400">
              <a:solidFill>
                <a:srgbClr val="FF0000"/>
              </a:solidFill>
              <a:latin typeface="Century Gothic"/>
              <a:ea typeface="Century Gothic"/>
              <a:cs typeface="Century Gothic"/>
              <a:sym typeface="Century Gothic"/>
            </a:endParaRPr>
          </a:p>
        </p:txBody>
      </p:sp>
      <p:sp>
        <p:nvSpPr>
          <p:cNvPr id="4724" name="Google Shape;4724;p258"/>
          <p:cNvSpPr txBox="1"/>
          <p:nvPr/>
        </p:nvSpPr>
        <p:spPr>
          <a:xfrm>
            <a:off x="6358142" y="2545247"/>
            <a:ext cx="2196135" cy="684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95000"/>
              </a:lnSpc>
              <a:spcBef>
                <a:spcPts val="0"/>
              </a:spcBef>
              <a:spcAft>
                <a:spcPts val="0"/>
              </a:spcAft>
              <a:buNone/>
            </a:pPr>
            <a:r>
              <a:rPr lang="en-GB" sz="1400">
                <a:solidFill>
                  <a:srgbClr val="FF0000"/>
                </a:solidFill>
                <a:latin typeface="Century Gothic"/>
                <a:ea typeface="Century Gothic"/>
                <a:cs typeface="Century Gothic"/>
                <a:sym typeface="Century Gothic"/>
              </a:rPr>
              <a:t>Simplification…</a:t>
            </a:r>
            <a:endParaRPr sz="1400">
              <a:solidFill>
                <a:srgbClr val="FF0000"/>
              </a:solidFill>
              <a:latin typeface="Century Gothic"/>
              <a:ea typeface="Century Gothic"/>
              <a:cs typeface="Century Gothic"/>
              <a:sym typeface="Century Gothic"/>
            </a:endParaRPr>
          </a:p>
        </p:txBody>
      </p:sp>
      <p:sp>
        <p:nvSpPr>
          <p:cNvPr id="4725" name="Google Shape;4725;p258"/>
          <p:cNvSpPr txBox="1"/>
          <p:nvPr/>
        </p:nvSpPr>
        <p:spPr>
          <a:xfrm>
            <a:off x="6358142" y="3278913"/>
            <a:ext cx="2196135" cy="684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95000"/>
              </a:lnSpc>
              <a:spcBef>
                <a:spcPts val="0"/>
              </a:spcBef>
              <a:spcAft>
                <a:spcPts val="0"/>
              </a:spcAft>
              <a:buNone/>
            </a:pPr>
            <a:r>
              <a:rPr lang="en-GB" sz="1400">
                <a:solidFill>
                  <a:srgbClr val="FF0000"/>
                </a:solidFill>
                <a:latin typeface="Century Gothic"/>
                <a:ea typeface="Century Gothic"/>
                <a:cs typeface="Century Gothic"/>
                <a:sym typeface="Century Gothic"/>
              </a:rPr>
              <a:t>Consolidation…</a:t>
            </a:r>
            <a:endParaRPr sz="1400">
              <a:solidFill>
                <a:srgbClr val="FF0000"/>
              </a:solidFill>
              <a:latin typeface="Century Gothic"/>
              <a:ea typeface="Century Gothic"/>
              <a:cs typeface="Century Gothic"/>
              <a:sym typeface="Century Gothic"/>
            </a:endParaRPr>
          </a:p>
        </p:txBody>
      </p:sp>
      <p:sp>
        <p:nvSpPr>
          <p:cNvPr id="4726" name="Google Shape;4726;p2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grpSp>
        <p:nvGrpSpPr>
          <p:cNvPr id="4727" name="Google Shape;4727;p258"/>
          <p:cNvGrpSpPr/>
          <p:nvPr/>
        </p:nvGrpSpPr>
        <p:grpSpPr>
          <a:xfrm>
            <a:off x="488950" y="1077913"/>
            <a:ext cx="5808183" cy="684000"/>
            <a:chOff x="462442" y="1276350"/>
            <a:chExt cx="5808183" cy="597600"/>
          </a:xfrm>
        </p:grpSpPr>
        <p:sp>
          <p:nvSpPr>
            <p:cNvPr id="4728" name="Google Shape;4728;p258"/>
            <p:cNvSpPr/>
            <p:nvPr/>
          </p:nvSpPr>
          <p:spPr>
            <a:xfrm>
              <a:off x="2600325" y="1276350"/>
              <a:ext cx="3670300"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Less time required for manual data massaging activities. Less need for individual data marts and applications. Less need for advanced Excel files…</a:t>
              </a:r>
              <a:endParaRPr/>
            </a:p>
          </p:txBody>
        </p:sp>
        <p:sp>
          <p:nvSpPr>
            <p:cNvPr id="4729" name="Google Shape;4729;p258"/>
            <p:cNvSpPr/>
            <p:nvPr/>
          </p:nvSpPr>
          <p:spPr>
            <a:xfrm>
              <a:off x="462442" y="1276350"/>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Reduce Enterprise Cost</a:t>
              </a:r>
              <a:endParaRPr/>
            </a:p>
          </p:txBody>
        </p:sp>
      </p:grpSp>
      <p:grpSp>
        <p:nvGrpSpPr>
          <p:cNvPr id="4730" name="Google Shape;4730;p258"/>
          <p:cNvGrpSpPr/>
          <p:nvPr/>
        </p:nvGrpSpPr>
        <p:grpSpPr>
          <a:xfrm>
            <a:off x="488950" y="1811580"/>
            <a:ext cx="5808440" cy="684000"/>
            <a:chOff x="462442" y="1955625"/>
            <a:chExt cx="5808440" cy="597600"/>
          </a:xfrm>
        </p:grpSpPr>
        <p:sp>
          <p:nvSpPr>
            <p:cNvPr id="4731" name="Google Shape;4731;p258"/>
            <p:cNvSpPr/>
            <p:nvPr/>
          </p:nvSpPr>
          <p:spPr>
            <a:xfrm>
              <a:off x="2565974" y="1955625"/>
              <a:ext cx="3704908"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Input data for EPM activities are transformed according commonly defined definitions and business rules. Full traceability from Output to data source.</a:t>
              </a:r>
              <a:endParaRPr/>
            </a:p>
          </p:txBody>
        </p:sp>
        <p:sp>
          <p:nvSpPr>
            <p:cNvPr id="4732" name="Google Shape;4732;p258"/>
            <p:cNvSpPr/>
            <p:nvPr/>
          </p:nvSpPr>
          <p:spPr>
            <a:xfrm>
              <a:off x="462442" y="1955625"/>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Provide Greater Transparency </a:t>
              </a:r>
              <a:endParaRPr/>
            </a:p>
          </p:txBody>
        </p:sp>
      </p:grpSp>
      <p:grpSp>
        <p:nvGrpSpPr>
          <p:cNvPr id="4733" name="Google Shape;4733;p258"/>
          <p:cNvGrpSpPr/>
          <p:nvPr/>
        </p:nvGrpSpPr>
        <p:grpSpPr>
          <a:xfrm>
            <a:off x="488950" y="2545247"/>
            <a:ext cx="5800246" cy="684000"/>
            <a:chOff x="462442" y="2631411"/>
            <a:chExt cx="5800246" cy="597600"/>
          </a:xfrm>
        </p:grpSpPr>
        <p:sp>
          <p:nvSpPr>
            <p:cNvPr id="4734" name="Google Shape;4734;p258"/>
            <p:cNvSpPr/>
            <p:nvPr/>
          </p:nvSpPr>
          <p:spPr>
            <a:xfrm>
              <a:off x="2557780" y="2631411"/>
              <a:ext cx="3704908"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Reporting and budget/forecasting cycles are shortened and Output includes ability to drill-down to more details.</a:t>
              </a:r>
              <a:endParaRPr/>
            </a:p>
          </p:txBody>
        </p:sp>
        <p:sp>
          <p:nvSpPr>
            <p:cNvPr id="4735" name="Google Shape;4735;p258"/>
            <p:cNvSpPr/>
            <p:nvPr/>
          </p:nvSpPr>
          <p:spPr>
            <a:xfrm>
              <a:off x="462442" y="2631411"/>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Make Faster, Better Decisions</a:t>
              </a:r>
              <a:endParaRPr/>
            </a:p>
          </p:txBody>
        </p:sp>
      </p:grpSp>
      <p:grpSp>
        <p:nvGrpSpPr>
          <p:cNvPr id="4736" name="Google Shape;4736;p258"/>
          <p:cNvGrpSpPr/>
          <p:nvPr/>
        </p:nvGrpSpPr>
        <p:grpSpPr>
          <a:xfrm>
            <a:off x="488950" y="3278913"/>
            <a:ext cx="5800246" cy="684000"/>
            <a:chOff x="462442" y="3299050"/>
            <a:chExt cx="5800246" cy="597600"/>
          </a:xfrm>
        </p:grpSpPr>
        <p:sp>
          <p:nvSpPr>
            <p:cNvPr id="4737" name="Google Shape;4737;p258"/>
            <p:cNvSpPr/>
            <p:nvPr/>
          </p:nvSpPr>
          <p:spPr>
            <a:xfrm>
              <a:off x="2557780" y="3299050"/>
              <a:ext cx="3704908" cy="597600"/>
            </a:xfrm>
            <a:prstGeom prst="rect">
              <a:avLst/>
            </a:prstGeom>
            <a:solidFill>
              <a:schemeClr val="lt2"/>
            </a:solidFill>
            <a:ln>
              <a:noFill/>
            </a:ln>
          </p:spPr>
          <p:txBody>
            <a:bodyPr anchorCtr="0" anchor="ctr" bIns="91425" lIns="365750" spcFirstLastPara="1" rIns="91425" wrap="square" tIns="91425">
              <a:noAutofit/>
            </a:bodyPr>
            <a:lstStyle/>
            <a:p>
              <a:pPr indent="0" lvl="0" marL="0" marR="0" rtl="0" algn="l">
                <a:spcBef>
                  <a:spcPts val="0"/>
                </a:spcBef>
                <a:spcAft>
                  <a:spcPts val="0"/>
                </a:spcAft>
                <a:buNone/>
              </a:pPr>
              <a:r>
                <a:rPr lang="en-GB" sz="1000">
                  <a:solidFill>
                    <a:schemeClr val="dk1"/>
                  </a:solidFill>
                  <a:latin typeface="Century Gothic"/>
                  <a:ea typeface="Century Gothic"/>
                  <a:cs typeface="Century Gothic"/>
                  <a:sym typeface="Century Gothic"/>
                </a:rPr>
                <a:t>Having a single integrated data set for EPM activities based on common definitions and business rules ensures Output is consistent with improved data quality.</a:t>
              </a:r>
              <a:endParaRPr/>
            </a:p>
          </p:txBody>
        </p:sp>
        <p:sp>
          <p:nvSpPr>
            <p:cNvPr id="4738" name="Google Shape;4738;p258"/>
            <p:cNvSpPr/>
            <p:nvPr/>
          </p:nvSpPr>
          <p:spPr>
            <a:xfrm>
              <a:off x="462442" y="3299050"/>
              <a:ext cx="2357120" cy="597600"/>
            </a:xfrm>
            <a:prstGeom prst="homePlate">
              <a:avLst>
                <a:gd fmla="val 23856" name="adj"/>
              </a:avLst>
            </a:prstGeom>
            <a:solidFill>
              <a:srgbClr val="EC881D"/>
            </a:solidFill>
            <a:ln>
              <a:noFill/>
            </a:ln>
          </p:spPr>
          <p:txBody>
            <a:bodyPr anchorCtr="0" anchor="ctr" bIns="91425" lIns="108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Data quality and consistency</a:t>
              </a:r>
              <a:endParaRPr b="1" sz="1200">
                <a:solidFill>
                  <a:srgbClr val="FFFFFF"/>
                </a:solidFill>
                <a:latin typeface="Century Gothic"/>
                <a:ea typeface="Century Gothic"/>
                <a:cs typeface="Century Gothic"/>
                <a:sym typeface="Century Gothic"/>
              </a:endParaRPr>
            </a:p>
          </p:txBody>
        </p:sp>
      </p:grpSp>
      <p:sp>
        <p:nvSpPr>
          <p:cNvPr id="4739" name="Google Shape;4739;p258"/>
          <p:cNvSpPr/>
          <p:nvPr/>
        </p:nvSpPr>
        <p:spPr>
          <a:xfrm>
            <a:off x="488950" y="4066503"/>
            <a:ext cx="8136847"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“In essence, the goal is to flip FP&amp;A’s emphasis from a rear-view mirror, where it focuses on detailed variance reporting and analysis, into predictive analysis of key operational drivers and trends, providing real value for decision-making.”  </a:t>
            </a:r>
            <a:r>
              <a:rPr lang="en-GB" sz="900">
                <a:solidFill>
                  <a:srgbClr val="FFFFFF"/>
                </a:solidFill>
                <a:latin typeface="Century Gothic"/>
                <a:ea typeface="Century Gothic"/>
                <a:cs typeface="Century Gothic"/>
                <a:sym typeface="Century Gothic"/>
              </a:rPr>
              <a:t>(Source:  Four Cornerstones for EPM Success – The Hackett Group)</a:t>
            </a:r>
            <a:endParaRPr sz="900">
              <a:solidFill>
                <a:srgbClr val="FFFFFF"/>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