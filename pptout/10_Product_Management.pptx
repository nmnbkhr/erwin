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574" r:id="rId325"/>
    <p:sldId id="575" r:id="rId326"/>
    <p:sldId id="576" r:id="rId327"/>
    <p:sldId id="577" r:id="rId328"/>
    <p:sldId id="578" r:id="rId329"/>
    <p:sldId id="579" r:id="rId330"/>
    <p:sldId id="580" r:id="rId331"/>
    <p:sldId id="581" r:id="rId332"/>
    <p:sldId id="582" r:id="rId333"/>
    <p:sldId id="583" r:id="rId334"/>
    <p:sldId id="584" r:id="rId335"/>
    <p:sldId id="585" r:id="rId336"/>
    <p:sldId id="586" r:id="rId337"/>
    <p:sldId id="587" r:id="rId338"/>
    <p:sldId id="588" r:id="rId339"/>
    <p:sldId id="589" r:id="rId340"/>
    <p:sldId id="590" r:id="rId341"/>
    <p:sldId id="591" r:id="rId342"/>
    <p:sldId id="592" r:id="rId343"/>
    <p:sldId id="593" r:id="rId344"/>
    <p:sldId id="594" r:id="rId345"/>
    <p:sldId id="595" r:id="rId346"/>
    <p:sldId id="596" r:id="rId347"/>
    <p:sldId id="597" r:id="rId348"/>
    <p:sldId id="598" r:id="rId349"/>
    <p:sldId id="599" r:id="rId350"/>
    <p:sldId id="600" r:id="rId351"/>
    <p:sldId id="601" r:id="rId352"/>
    <p:sldId id="602" r:id="rId353"/>
    <p:sldId id="603" r:id="rId354"/>
    <p:sldId id="604" r:id="rId355"/>
    <p:sldId id="605" r:id="rId356"/>
    <p:sldId id="606" r:id="rId357"/>
    <p:sldId id="607" r:id="rId358"/>
    <p:sldId id="608" r:id="rId359"/>
    <p:sldId id="609" r:id="rId360"/>
    <p:sldId id="610" r:id="rId361"/>
    <p:sldId id="611" r:id="rId362"/>
    <p:sldId id="612" r:id="rId363"/>
    <p:sldId id="613" r:id="rId364"/>
    <p:sldId id="614" r:id="rId365"/>
    <p:sldId id="615" r:id="rId366"/>
    <p:sldId id="616" r:id="rId367"/>
    <p:sldId id="617" r:id="rId368"/>
    <p:sldId id="618" r:id="rId369"/>
    <p:sldId id="619" r:id="rId370"/>
    <p:sldId id="620" r:id="rId371"/>
    <p:sldId id="621" r:id="rId372"/>
    <p:sldId id="622" r:id="rId373"/>
    <p:sldId id="623" r:id="rId374"/>
    <p:sldId id="624" r:id="rId375"/>
    <p:sldId id="625" r:id="rId376"/>
    <p:sldId id="626" r:id="rId377"/>
    <p:sldId id="627" r:id="rId378"/>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325" Type="http://schemas.openxmlformats.org/officeDocument/2006/relationships/slide" Target="slides/slide319.xml"/><Relationship Id="rId326" Type="http://schemas.openxmlformats.org/officeDocument/2006/relationships/slide" Target="slides/slide320.xml"/><Relationship Id="rId327" Type="http://schemas.openxmlformats.org/officeDocument/2006/relationships/slide" Target="slides/slide321.xml"/><Relationship Id="rId328" Type="http://schemas.openxmlformats.org/officeDocument/2006/relationships/slide" Target="slides/slide322.xml"/><Relationship Id="rId329" Type="http://schemas.openxmlformats.org/officeDocument/2006/relationships/slide" Target="slides/slide323.xml"/><Relationship Id="rId330" Type="http://schemas.openxmlformats.org/officeDocument/2006/relationships/slide" Target="slides/slide324.xml"/><Relationship Id="rId331" Type="http://schemas.openxmlformats.org/officeDocument/2006/relationships/slide" Target="slides/slide325.xml"/><Relationship Id="rId332" Type="http://schemas.openxmlformats.org/officeDocument/2006/relationships/slide" Target="slides/slide326.xml"/><Relationship Id="rId333" Type="http://schemas.openxmlformats.org/officeDocument/2006/relationships/slide" Target="slides/slide327.xml"/><Relationship Id="rId334" Type="http://schemas.openxmlformats.org/officeDocument/2006/relationships/slide" Target="slides/slide328.xml"/><Relationship Id="rId335" Type="http://schemas.openxmlformats.org/officeDocument/2006/relationships/slide" Target="slides/slide329.xml"/><Relationship Id="rId336" Type="http://schemas.openxmlformats.org/officeDocument/2006/relationships/slide" Target="slides/slide330.xml"/><Relationship Id="rId337" Type="http://schemas.openxmlformats.org/officeDocument/2006/relationships/slide" Target="slides/slide331.xml"/><Relationship Id="rId338" Type="http://schemas.openxmlformats.org/officeDocument/2006/relationships/slide" Target="slides/slide332.xml"/><Relationship Id="rId339" Type="http://schemas.openxmlformats.org/officeDocument/2006/relationships/slide" Target="slides/slide333.xml"/><Relationship Id="rId340" Type="http://schemas.openxmlformats.org/officeDocument/2006/relationships/slide" Target="slides/slide334.xml"/><Relationship Id="rId341" Type="http://schemas.openxmlformats.org/officeDocument/2006/relationships/slide" Target="slides/slide335.xml"/><Relationship Id="rId342" Type="http://schemas.openxmlformats.org/officeDocument/2006/relationships/slide" Target="slides/slide336.xml"/><Relationship Id="rId343" Type="http://schemas.openxmlformats.org/officeDocument/2006/relationships/slide" Target="slides/slide337.xml"/><Relationship Id="rId344" Type="http://schemas.openxmlformats.org/officeDocument/2006/relationships/slide" Target="slides/slide338.xml"/><Relationship Id="rId345" Type="http://schemas.openxmlformats.org/officeDocument/2006/relationships/slide" Target="slides/slide339.xml"/><Relationship Id="rId346" Type="http://schemas.openxmlformats.org/officeDocument/2006/relationships/slide" Target="slides/slide340.xml"/><Relationship Id="rId347" Type="http://schemas.openxmlformats.org/officeDocument/2006/relationships/slide" Target="slides/slide341.xml"/><Relationship Id="rId348" Type="http://schemas.openxmlformats.org/officeDocument/2006/relationships/slide" Target="slides/slide342.xml"/><Relationship Id="rId349" Type="http://schemas.openxmlformats.org/officeDocument/2006/relationships/slide" Target="slides/slide343.xml"/><Relationship Id="rId350" Type="http://schemas.openxmlformats.org/officeDocument/2006/relationships/slide" Target="slides/slide344.xml"/><Relationship Id="rId351" Type="http://schemas.openxmlformats.org/officeDocument/2006/relationships/slide" Target="slides/slide345.xml"/><Relationship Id="rId352" Type="http://schemas.openxmlformats.org/officeDocument/2006/relationships/slide" Target="slides/slide346.xml"/><Relationship Id="rId353" Type="http://schemas.openxmlformats.org/officeDocument/2006/relationships/slide" Target="slides/slide347.xml"/><Relationship Id="rId354" Type="http://schemas.openxmlformats.org/officeDocument/2006/relationships/slide" Target="slides/slide348.xml"/><Relationship Id="rId355" Type="http://schemas.openxmlformats.org/officeDocument/2006/relationships/slide" Target="slides/slide349.xml"/><Relationship Id="rId356" Type="http://schemas.openxmlformats.org/officeDocument/2006/relationships/slide" Target="slides/slide350.xml"/><Relationship Id="rId357" Type="http://schemas.openxmlformats.org/officeDocument/2006/relationships/slide" Target="slides/slide351.xml"/><Relationship Id="rId358" Type="http://schemas.openxmlformats.org/officeDocument/2006/relationships/slide" Target="slides/slide352.xml"/><Relationship Id="rId359" Type="http://schemas.openxmlformats.org/officeDocument/2006/relationships/slide" Target="slides/slide353.xml"/><Relationship Id="rId360" Type="http://schemas.openxmlformats.org/officeDocument/2006/relationships/slide" Target="slides/slide354.xml"/><Relationship Id="rId361" Type="http://schemas.openxmlformats.org/officeDocument/2006/relationships/slide" Target="slides/slide355.xml"/><Relationship Id="rId362" Type="http://schemas.openxmlformats.org/officeDocument/2006/relationships/slide" Target="slides/slide356.xml"/><Relationship Id="rId363" Type="http://schemas.openxmlformats.org/officeDocument/2006/relationships/slide" Target="slides/slide357.xml"/><Relationship Id="rId364" Type="http://schemas.openxmlformats.org/officeDocument/2006/relationships/slide" Target="slides/slide358.xml"/><Relationship Id="rId365" Type="http://schemas.openxmlformats.org/officeDocument/2006/relationships/slide" Target="slides/slide359.xml"/><Relationship Id="rId366" Type="http://schemas.openxmlformats.org/officeDocument/2006/relationships/slide" Target="slides/slide360.xml"/><Relationship Id="rId367" Type="http://schemas.openxmlformats.org/officeDocument/2006/relationships/slide" Target="slides/slide361.xml"/><Relationship Id="rId368" Type="http://schemas.openxmlformats.org/officeDocument/2006/relationships/slide" Target="slides/slide362.xml"/><Relationship Id="rId369" Type="http://schemas.openxmlformats.org/officeDocument/2006/relationships/slide" Target="slides/slide363.xml"/><Relationship Id="rId370" Type="http://schemas.openxmlformats.org/officeDocument/2006/relationships/slide" Target="slides/slide364.xml"/><Relationship Id="rId371" Type="http://schemas.openxmlformats.org/officeDocument/2006/relationships/slide" Target="slides/slide365.xml"/><Relationship Id="rId372" Type="http://schemas.openxmlformats.org/officeDocument/2006/relationships/slide" Target="slides/slide366.xml"/><Relationship Id="rId373" Type="http://schemas.openxmlformats.org/officeDocument/2006/relationships/slide" Target="slides/slide367.xml"/><Relationship Id="rId374" Type="http://schemas.openxmlformats.org/officeDocument/2006/relationships/slide" Target="slides/slide368.xml"/><Relationship Id="rId375" Type="http://schemas.openxmlformats.org/officeDocument/2006/relationships/slide" Target="slides/slide369.xml"/><Relationship Id="rId376" Type="http://schemas.openxmlformats.org/officeDocument/2006/relationships/slide" Target="slides/slide370.xml"/><Relationship Id="rId377" Type="http://schemas.openxmlformats.org/officeDocument/2006/relationships/slide" Target="slides/slide371.xml"/><Relationship Id="rId378" Type="http://schemas.openxmlformats.org/officeDocument/2006/relationships/slide" Target="slides/slide372.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8" name="Shape 6268"/>
        <p:cNvGrpSpPr/>
        <p:nvPr/>
      </p:nvGrpSpPr>
      <p:grpSpPr>
        <a:xfrm>
          <a:off x="0" y="0"/>
          <a:ext cx="0" cy="0"/>
          <a:chOff x="0" y="0"/>
          <a:chExt cx="0" cy="0"/>
        </a:xfrm>
      </p:grpSpPr>
      <p:sp>
        <p:nvSpPr>
          <p:cNvPr id="6269" name="Google Shape;6269;p31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270" name="Google Shape;6270;p3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1" name="Shape 6421"/>
        <p:cNvGrpSpPr/>
        <p:nvPr/>
      </p:nvGrpSpPr>
      <p:grpSpPr>
        <a:xfrm>
          <a:off x="0" y="0"/>
          <a:ext cx="0" cy="0"/>
          <a:chOff x="0" y="0"/>
          <a:chExt cx="0" cy="0"/>
        </a:xfrm>
      </p:grpSpPr>
      <p:sp>
        <p:nvSpPr>
          <p:cNvPr id="6422" name="Google Shape;6422;p3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3" name="Google Shape;6423;p3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7" name="Shape 6447"/>
        <p:cNvGrpSpPr/>
        <p:nvPr/>
      </p:nvGrpSpPr>
      <p:grpSpPr>
        <a:xfrm>
          <a:off x="0" y="0"/>
          <a:ext cx="0" cy="0"/>
          <a:chOff x="0" y="0"/>
          <a:chExt cx="0" cy="0"/>
        </a:xfrm>
      </p:grpSpPr>
      <p:sp>
        <p:nvSpPr>
          <p:cNvPr id="6448" name="Google Shape;6448;p3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49" name="Google Shape;6449;p3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As you just learned from introductions, we are a cross section of industries and as I learned, the definition of product changes by industry.</a:t>
            </a:r>
            <a:endParaRPr/>
          </a:p>
          <a:p>
            <a:pPr indent="-173038" lvl="0" marL="173038" rtl="0" algn="l">
              <a:lnSpc>
                <a:spcPct val="95000"/>
              </a:lnSpc>
              <a:spcBef>
                <a:spcPts val="400"/>
              </a:spcBef>
              <a:spcAft>
                <a:spcPts val="0"/>
              </a:spcAft>
              <a:buClr>
                <a:schemeClr val="dk1"/>
              </a:buClr>
              <a:buSzPts val="1200"/>
              <a:buChar char="•"/>
            </a:pPr>
            <a:r>
              <a:rPr lang="en-GB"/>
              <a:t>So as a community of practice, when we interact with each other this will help us broaden our perspective on product issues</a:t>
            </a:r>
            <a:endParaRPr/>
          </a:p>
        </p:txBody>
      </p:sp>
      <p:sp>
        <p:nvSpPr>
          <p:cNvPr id="6450" name="Google Shape;6450;p32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6" name="Shape 6456"/>
        <p:cNvGrpSpPr/>
        <p:nvPr/>
      </p:nvGrpSpPr>
      <p:grpSpPr>
        <a:xfrm>
          <a:off x="0" y="0"/>
          <a:ext cx="0" cy="0"/>
          <a:chOff x="0" y="0"/>
          <a:chExt cx="0" cy="0"/>
        </a:xfrm>
      </p:grpSpPr>
      <p:sp>
        <p:nvSpPr>
          <p:cNvPr id="6457" name="Google Shape;6457;p328: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58" name="Google Shape;6458;p3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77" name="Shape 6477"/>
        <p:cNvGrpSpPr/>
        <p:nvPr/>
      </p:nvGrpSpPr>
      <p:grpSpPr>
        <a:xfrm>
          <a:off x="0" y="0"/>
          <a:ext cx="0" cy="0"/>
          <a:chOff x="0" y="0"/>
          <a:chExt cx="0" cy="0"/>
        </a:xfrm>
      </p:grpSpPr>
      <p:sp>
        <p:nvSpPr>
          <p:cNvPr id="6478" name="Google Shape;6478;p33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79" name="Google Shape;6479;p3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87" name="Shape 6487"/>
        <p:cNvGrpSpPr/>
        <p:nvPr/>
      </p:nvGrpSpPr>
      <p:grpSpPr>
        <a:xfrm>
          <a:off x="0" y="0"/>
          <a:ext cx="0" cy="0"/>
          <a:chOff x="0" y="0"/>
          <a:chExt cx="0" cy="0"/>
        </a:xfrm>
      </p:grpSpPr>
      <p:sp>
        <p:nvSpPr>
          <p:cNvPr id="6488" name="Google Shape;6488;p33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89" name="Google Shape;6489;p3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7" name="Shape 6497"/>
        <p:cNvGrpSpPr/>
        <p:nvPr/>
      </p:nvGrpSpPr>
      <p:grpSpPr>
        <a:xfrm>
          <a:off x="0" y="0"/>
          <a:ext cx="0" cy="0"/>
          <a:chOff x="0" y="0"/>
          <a:chExt cx="0" cy="0"/>
        </a:xfrm>
      </p:grpSpPr>
      <p:sp>
        <p:nvSpPr>
          <p:cNvPr id="6498" name="Google Shape;6498;p33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99" name="Google Shape;6499;p3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7" name="Shape 6507"/>
        <p:cNvGrpSpPr/>
        <p:nvPr/>
      </p:nvGrpSpPr>
      <p:grpSpPr>
        <a:xfrm>
          <a:off x="0" y="0"/>
          <a:ext cx="0" cy="0"/>
          <a:chOff x="0" y="0"/>
          <a:chExt cx="0" cy="0"/>
        </a:xfrm>
      </p:grpSpPr>
      <p:sp>
        <p:nvSpPr>
          <p:cNvPr id="6508" name="Google Shape;6508;p33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09" name="Google Shape;6509;p3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6" name="Shape 6516"/>
        <p:cNvGrpSpPr/>
        <p:nvPr/>
      </p:nvGrpSpPr>
      <p:grpSpPr>
        <a:xfrm>
          <a:off x="0" y="0"/>
          <a:ext cx="0" cy="0"/>
          <a:chOff x="0" y="0"/>
          <a:chExt cx="0" cy="0"/>
        </a:xfrm>
      </p:grpSpPr>
      <p:sp>
        <p:nvSpPr>
          <p:cNvPr id="6517" name="Google Shape;6517;p3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518" name="Google Shape;6518;p3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519" name="Google Shape;6519;p33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9" name="Shape 6539"/>
        <p:cNvGrpSpPr/>
        <p:nvPr/>
      </p:nvGrpSpPr>
      <p:grpSpPr>
        <a:xfrm>
          <a:off x="0" y="0"/>
          <a:ext cx="0" cy="0"/>
          <a:chOff x="0" y="0"/>
          <a:chExt cx="0" cy="0"/>
        </a:xfrm>
      </p:grpSpPr>
      <p:sp>
        <p:nvSpPr>
          <p:cNvPr id="6540" name="Google Shape;6540;p3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41" name="Google Shape;6541;p3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6" name="Shape 6556"/>
        <p:cNvGrpSpPr/>
        <p:nvPr/>
      </p:nvGrpSpPr>
      <p:grpSpPr>
        <a:xfrm>
          <a:off x="0" y="0"/>
          <a:ext cx="0" cy="0"/>
          <a:chOff x="0" y="0"/>
          <a:chExt cx="0" cy="0"/>
        </a:xfrm>
      </p:grpSpPr>
      <p:sp>
        <p:nvSpPr>
          <p:cNvPr id="6557" name="Google Shape;6557;p33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58" name="Google Shape;6558;p3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2" name="Shape 6572"/>
        <p:cNvGrpSpPr/>
        <p:nvPr/>
      </p:nvGrpSpPr>
      <p:grpSpPr>
        <a:xfrm>
          <a:off x="0" y="0"/>
          <a:ext cx="0" cy="0"/>
          <a:chOff x="0" y="0"/>
          <a:chExt cx="0" cy="0"/>
        </a:xfrm>
      </p:grpSpPr>
      <p:sp>
        <p:nvSpPr>
          <p:cNvPr id="6573" name="Google Shape;6573;p338: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74" name="Google Shape;6574;p3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99" name="Shape 6599"/>
        <p:cNvGrpSpPr/>
        <p:nvPr/>
      </p:nvGrpSpPr>
      <p:grpSpPr>
        <a:xfrm>
          <a:off x="0" y="0"/>
          <a:ext cx="0" cy="0"/>
          <a:chOff x="0" y="0"/>
          <a:chExt cx="0" cy="0"/>
        </a:xfrm>
      </p:grpSpPr>
      <p:sp>
        <p:nvSpPr>
          <p:cNvPr id="6600" name="Google Shape;6600;p34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01" name="Google Shape;6601;p3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02" name="Google Shape;6602;p3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1" name="Shape 6631"/>
        <p:cNvGrpSpPr/>
        <p:nvPr/>
      </p:nvGrpSpPr>
      <p:grpSpPr>
        <a:xfrm>
          <a:off x="0" y="0"/>
          <a:ext cx="0" cy="0"/>
          <a:chOff x="0" y="0"/>
          <a:chExt cx="0" cy="0"/>
        </a:xfrm>
      </p:grpSpPr>
      <p:sp>
        <p:nvSpPr>
          <p:cNvPr id="6632" name="Google Shape;6632;p34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33" name="Google Shape;6633;p3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34" name="Google Shape;6634;p3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Note that </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3" name="Shape 6663"/>
        <p:cNvGrpSpPr/>
        <p:nvPr/>
      </p:nvGrpSpPr>
      <p:grpSpPr>
        <a:xfrm>
          <a:off x="0" y="0"/>
          <a:ext cx="0" cy="0"/>
          <a:chOff x="0" y="0"/>
          <a:chExt cx="0" cy="0"/>
        </a:xfrm>
      </p:grpSpPr>
      <p:sp>
        <p:nvSpPr>
          <p:cNvPr id="6664" name="Google Shape;6664;p34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65" name="Google Shape;6665;p3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66" name="Google Shape;6666;p3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8" name="Shape 6688"/>
        <p:cNvGrpSpPr/>
        <p:nvPr/>
      </p:nvGrpSpPr>
      <p:grpSpPr>
        <a:xfrm>
          <a:off x="0" y="0"/>
          <a:ext cx="0" cy="0"/>
          <a:chOff x="0" y="0"/>
          <a:chExt cx="0" cy="0"/>
        </a:xfrm>
      </p:grpSpPr>
      <p:sp>
        <p:nvSpPr>
          <p:cNvPr id="6689" name="Google Shape;6689;p34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690" name="Google Shape;6690;p3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8" name="Shape 6718"/>
        <p:cNvGrpSpPr/>
        <p:nvPr/>
      </p:nvGrpSpPr>
      <p:grpSpPr>
        <a:xfrm>
          <a:off x="0" y="0"/>
          <a:ext cx="0" cy="0"/>
          <a:chOff x="0" y="0"/>
          <a:chExt cx="0" cy="0"/>
        </a:xfrm>
      </p:grpSpPr>
      <p:sp>
        <p:nvSpPr>
          <p:cNvPr id="6719" name="Google Shape;6719;p34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20" name="Google Shape;6720;p3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21" name="Google Shape;6721;p3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Note that </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0" name="Shape 6750"/>
        <p:cNvGrpSpPr/>
        <p:nvPr/>
      </p:nvGrpSpPr>
      <p:grpSpPr>
        <a:xfrm>
          <a:off x="0" y="0"/>
          <a:ext cx="0" cy="0"/>
          <a:chOff x="0" y="0"/>
          <a:chExt cx="0" cy="0"/>
        </a:xfrm>
      </p:grpSpPr>
      <p:sp>
        <p:nvSpPr>
          <p:cNvPr id="6751" name="Google Shape;6751;p35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52" name="Google Shape;6752;p3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53" name="Google Shape;6753;p3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6" name="Shape 6776"/>
        <p:cNvGrpSpPr/>
        <p:nvPr/>
      </p:nvGrpSpPr>
      <p:grpSpPr>
        <a:xfrm>
          <a:off x="0" y="0"/>
          <a:ext cx="0" cy="0"/>
          <a:chOff x="0" y="0"/>
          <a:chExt cx="0" cy="0"/>
        </a:xfrm>
      </p:grpSpPr>
      <p:sp>
        <p:nvSpPr>
          <p:cNvPr id="6777" name="Google Shape;6777;p3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78" name="Google Shape;6778;p3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79" name="Google Shape;6779;p35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4" name="Shape 6804"/>
        <p:cNvGrpSpPr/>
        <p:nvPr/>
      </p:nvGrpSpPr>
      <p:grpSpPr>
        <a:xfrm>
          <a:off x="0" y="0"/>
          <a:ext cx="0" cy="0"/>
          <a:chOff x="0" y="0"/>
          <a:chExt cx="0" cy="0"/>
        </a:xfrm>
      </p:grpSpPr>
      <p:sp>
        <p:nvSpPr>
          <p:cNvPr id="6805" name="Google Shape;6805;p35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06" name="Google Shape;6806;p3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07" name="Google Shape;6807;p3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6" name="Shape 6836"/>
        <p:cNvGrpSpPr/>
        <p:nvPr/>
      </p:nvGrpSpPr>
      <p:grpSpPr>
        <a:xfrm>
          <a:off x="0" y="0"/>
          <a:ext cx="0" cy="0"/>
          <a:chOff x="0" y="0"/>
          <a:chExt cx="0" cy="0"/>
        </a:xfrm>
      </p:grpSpPr>
      <p:sp>
        <p:nvSpPr>
          <p:cNvPr id="6837" name="Google Shape;6837;p3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38" name="Google Shape;6838;p3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39" name="Google Shape;6839;p3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1" name="Shape 6861"/>
        <p:cNvGrpSpPr/>
        <p:nvPr/>
      </p:nvGrpSpPr>
      <p:grpSpPr>
        <a:xfrm>
          <a:off x="0" y="0"/>
          <a:ext cx="0" cy="0"/>
          <a:chOff x="0" y="0"/>
          <a:chExt cx="0" cy="0"/>
        </a:xfrm>
      </p:grpSpPr>
      <p:sp>
        <p:nvSpPr>
          <p:cNvPr id="6862" name="Google Shape;6862;p3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63" name="Google Shape;6863;p3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64" name="Google Shape;6864;p35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9" name="Shape 6889"/>
        <p:cNvGrpSpPr/>
        <p:nvPr/>
      </p:nvGrpSpPr>
      <p:grpSpPr>
        <a:xfrm>
          <a:off x="0" y="0"/>
          <a:ext cx="0" cy="0"/>
          <a:chOff x="0" y="0"/>
          <a:chExt cx="0" cy="0"/>
        </a:xfrm>
      </p:grpSpPr>
      <p:sp>
        <p:nvSpPr>
          <p:cNvPr id="6890" name="Google Shape;6890;p3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91" name="Google Shape;6891;p3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92" name="Google Shape;6892;p3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Note that </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14" name="Shape 6914"/>
        <p:cNvGrpSpPr/>
        <p:nvPr/>
      </p:nvGrpSpPr>
      <p:grpSpPr>
        <a:xfrm>
          <a:off x="0" y="0"/>
          <a:ext cx="0" cy="0"/>
          <a:chOff x="0" y="0"/>
          <a:chExt cx="0" cy="0"/>
        </a:xfrm>
      </p:grpSpPr>
      <p:sp>
        <p:nvSpPr>
          <p:cNvPr id="6915" name="Google Shape;6915;p3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16" name="Google Shape;6916;p3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17" name="Google Shape;6917;p36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42" name="Shape 6942"/>
        <p:cNvGrpSpPr/>
        <p:nvPr/>
      </p:nvGrpSpPr>
      <p:grpSpPr>
        <a:xfrm>
          <a:off x="0" y="0"/>
          <a:ext cx="0" cy="0"/>
          <a:chOff x="0" y="0"/>
          <a:chExt cx="0" cy="0"/>
        </a:xfrm>
      </p:grpSpPr>
      <p:sp>
        <p:nvSpPr>
          <p:cNvPr id="6943" name="Google Shape;6943;p3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44" name="Google Shape;6944;p3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45" name="Google Shape;6945;p3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Note that </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4" name="Shape 6974"/>
        <p:cNvGrpSpPr/>
        <p:nvPr/>
      </p:nvGrpSpPr>
      <p:grpSpPr>
        <a:xfrm>
          <a:off x="0" y="0"/>
          <a:ext cx="0" cy="0"/>
          <a:chOff x="0" y="0"/>
          <a:chExt cx="0" cy="0"/>
        </a:xfrm>
      </p:grpSpPr>
      <p:sp>
        <p:nvSpPr>
          <p:cNvPr id="6975" name="Google Shape;6975;p3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76" name="Google Shape;6976;p3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77" name="Google Shape;6977;p3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Note that </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6" name="Shape 7006"/>
        <p:cNvGrpSpPr/>
        <p:nvPr/>
      </p:nvGrpSpPr>
      <p:grpSpPr>
        <a:xfrm>
          <a:off x="0" y="0"/>
          <a:ext cx="0" cy="0"/>
          <a:chOff x="0" y="0"/>
          <a:chExt cx="0" cy="0"/>
        </a:xfrm>
      </p:grpSpPr>
      <p:sp>
        <p:nvSpPr>
          <p:cNvPr id="7007" name="Google Shape;7007;p3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08" name="Google Shape;7008;p3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09" name="Google Shape;7009;p3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8" name="Shape 7038"/>
        <p:cNvGrpSpPr/>
        <p:nvPr/>
      </p:nvGrpSpPr>
      <p:grpSpPr>
        <a:xfrm>
          <a:off x="0" y="0"/>
          <a:ext cx="0" cy="0"/>
          <a:chOff x="0" y="0"/>
          <a:chExt cx="0" cy="0"/>
        </a:xfrm>
      </p:grpSpPr>
      <p:sp>
        <p:nvSpPr>
          <p:cNvPr id="7039" name="Google Shape;7039;p37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40" name="Google Shape;7040;p3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41" name="Google Shape;7041;p3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0" name="Shape 7070"/>
        <p:cNvGrpSpPr/>
        <p:nvPr/>
      </p:nvGrpSpPr>
      <p:grpSpPr>
        <a:xfrm>
          <a:off x="0" y="0"/>
          <a:ext cx="0" cy="0"/>
          <a:chOff x="0" y="0"/>
          <a:chExt cx="0" cy="0"/>
        </a:xfrm>
      </p:grpSpPr>
      <p:sp>
        <p:nvSpPr>
          <p:cNvPr id="7071" name="Google Shape;7071;p37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72" name="Google Shape;7072;p3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73" name="Google Shape;7073;p3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19.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25.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7.xml"/><Relationship Id="rId3" Type="http://schemas.openxmlformats.org/officeDocument/2006/relationships/slide" Target="slide320.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28.xml"/><Relationship Id="rId3" Type="http://schemas.openxmlformats.org/officeDocument/2006/relationships/image" Target="../media/image72.jpg"/><Relationship Id="rId4"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0.xml"/><Relationship Id="rId3" Type="http://schemas.openxmlformats.org/officeDocument/2006/relationships/image" Target="../media/image54.jpg"/><Relationship Id="rId4" Type="http://schemas.openxmlformats.org/officeDocument/2006/relationships/slide" Target="slide320.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1.xml"/><Relationship Id="rId3" Type="http://schemas.openxmlformats.org/officeDocument/2006/relationships/image" Target="../media/image55.png"/><Relationship Id="rId4" Type="http://schemas.openxmlformats.org/officeDocument/2006/relationships/slide" Target="slide320.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2.xml"/><Relationship Id="rId3" Type="http://schemas.openxmlformats.org/officeDocument/2006/relationships/image" Target="../media/image60.png"/><Relationship Id="rId4" Type="http://schemas.openxmlformats.org/officeDocument/2006/relationships/slide" Target="slide320.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3.xml"/><Relationship Id="rId3" Type="http://schemas.openxmlformats.org/officeDocument/2006/relationships/image" Target="../media/image69.jpg"/><Relationship Id="rId4" Type="http://schemas.openxmlformats.org/officeDocument/2006/relationships/slide" Target="slide320.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4.xml"/><Relationship Id="rId3" Type="http://schemas.openxmlformats.org/officeDocument/2006/relationships/slide" Target="slide320.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5.xml"/><Relationship Id="rId3" Type="http://schemas.openxmlformats.org/officeDocument/2006/relationships/slide" Target="slide320.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36.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38.xml"/><Relationship Id="rId3" Type="http://schemas.openxmlformats.org/officeDocument/2006/relationships/image" Target="../media/image5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40.xml"/><Relationship Id="rId3"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42.xml"/><Relationship Id="rId3" Type="http://schemas.openxmlformats.org/officeDocument/2006/relationships/slide" Target="slide321.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44.xml"/><Relationship Id="rId3" Type="http://schemas.openxmlformats.org/officeDocument/2006/relationships/slide" Target="slide321.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46.xml"/><Relationship Id="rId3" Type="http://schemas.openxmlformats.org/officeDocument/2006/relationships/image" Target="../media/image73.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48.xml"/><Relationship Id="rId3" Type="http://schemas.openxmlformats.org/officeDocument/2006/relationships/slide" Target="slide321.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50.xml"/><Relationship Id="rId3" Type="http://schemas.openxmlformats.org/officeDocument/2006/relationships/slide" Target="slide321.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52.xml"/><Relationship Id="rId3" Type="http://schemas.openxmlformats.org/officeDocument/2006/relationships/image" Target="../media/image56.jpg"/><Relationship Id="rId4"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54.xml"/><Relationship Id="rId3"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56.xml"/><Relationship Id="rId3" Type="http://schemas.openxmlformats.org/officeDocument/2006/relationships/slide" Target="slide321.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58.xml"/><Relationship Id="rId3" Type="http://schemas.openxmlformats.org/officeDocument/2006/relationships/image" Target="../media/image87.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60.xml"/><Relationship Id="rId3" Type="http://schemas.openxmlformats.org/officeDocument/2006/relationships/slide" Target="slide322.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62.xml"/><Relationship Id="rId3" Type="http://schemas.openxmlformats.org/officeDocument/2006/relationships/image" Target="../media/image80.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64.xml"/><Relationship Id="rId3" Type="http://schemas.openxmlformats.org/officeDocument/2006/relationships/slide" Target="slide322.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66.xml"/><Relationship Id="rId3" Type="http://schemas.openxmlformats.org/officeDocument/2006/relationships/slide" Target="slide322.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68.xml"/><Relationship Id="rId3" Type="http://schemas.openxmlformats.org/officeDocument/2006/relationships/slide" Target="slide322.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70.xml"/><Relationship Id="rId3" Type="http://schemas.openxmlformats.org/officeDocument/2006/relationships/slide" Target="slide322.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72.xml"/><Relationship Id="rId3" Type="http://schemas.openxmlformats.org/officeDocument/2006/relationships/slide" Target="slide322.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1" name="Shape 6271"/>
        <p:cNvGrpSpPr/>
        <p:nvPr/>
      </p:nvGrpSpPr>
      <p:grpSpPr>
        <a:xfrm>
          <a:off x="0" y="0"/>
          <a:ext cx="0" cy="0"/>
          <a:chOff x="0" y="0"/>
          <a:chExt cx="0" cy="0"/>
        </a:xfrm>
      </p:grpSpPr>
      <p:sp>
        <p:nvSpPr>
          <p:cNvPr id="6272" name="Google Shape;6272;p349"/>
          <p:cNvSpPr txBox="1"/>
          <p:nvPr>
            <p:ph idx="1" type="body"/>
          </p:nvPr>
        </p:nvSpPr>
        <p:spPr>
          <a:xfrm>
            <a:off x="0" y="2142803"/>
            <a:ext cx="9144000" cy="857927"/>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Product Management</a:t>
            </a:r>
            <a:endParaRPr/>
          </a:p>
          <a:p>
            <a:pPr indent="0" lvl="0" marL="0" rtl="0" algn="ctr">
              <a:lnSpc>
                <a:spcPct val="110000"/>
              </a:lnSpc>
              <a:spcBef>
                <a:spcPts val="400"/>
              </a:spcBef>
              <a:spcAft>
                <a:spcPts val="0"/>
              </a:spcAft>
              <a:buClr>
                <a:schemeClr val="accent1"/>
              </a:buClr>
              <a:buSzPts val="2200"/>
              <a:buFont typeface="Century Gothic"/>
              <a:buNone/>
            </a:pPr>
            <a:r>
              <a:rPr lang="en-GB"/>
              <a:t>Navigation</a:t>
            </a:r>
            <a:endParaRPr/>
          </a:p>
        </p:txBody>
      </p:sp>
      <p:sp>
        <p:nvSpPr>
          <p:cNvPr id="6273" name="Google Shape;6273;p349"/>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4" name="Shape 6424"/>
        <p:cNvGrpSpPr/>
        <p:nvPr/>
      </p:nvGrpSpPr>
      <p:grpSpPr>
        <a:xfrm>
          <a:off x="0" y="0"/>
          <a:ext cx="0" cy="0"/>
          <a:chOff x="0" y="0"/>
          <a:chExt cx="0" cy="0"/>
        </a:xfrm>
      </p:grpSpPr>
      <p:sp>
        <p:nvSpPr>
          <p:cNvPr id="6425" name="Google Shape;6425;p355"/>
          <p:cNvSpPr txBox="1"/>
          <p:nvPr>
            <p:ph idx="1" type="body"/>
          </p:nvPr>
        </p:nvSpPr>
        <p:spPr>
          <a:xfrm>
            <a:off x="0" y="2354656"/>
            <a:ext cx="9144000" cy="434221"/>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Product Management Introduction</a:t>
            </a:r>
            <a:endParaRPr/>
          </a:p>
        </p:txBody>
      </p:sp>
      <p:sp>
        <p:nvSpPr>
          <p:cNvPr id="6426" name="Google Shape;6426;p355"/>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51" name="Shape 6451"/>
        <p:cNvGrpSpPr/>
        <p:nvPr/>
      </p:nvGrpSpPr>
      <p:grpSpPr>
        <a:xfrm>
          <a:off x="0" y="0"/>
          <a:ext cx="0" cy="0"/>
          <a:chOff x="0" y="0"/>
          <a:chExt cx="0" cy="0"/>
        </a:xfrm>
      </p:grpSpPr>
      <p:sp>
        <p:nvSpPr>
          <p:cNvPr id="6452" name="Google Shape;6452;p357"/>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br>
              <a:rPr lang="en-GB"/>
            </a:br>
            <a:r>
              <a:rPr lang="en-GB"/>
              <a:t>Examples:  What Is a Product or Service?</a:t>
            </a:r>
            <a:endParaRPr/>
          </a:p>
        </p:txBody>
      </p:sp>
      <p:sp>
        <p:nvSpPr>
          <p:cNvPr id="6453" name="Google Shape;6453;p357"/>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p>
            <a:pPr indent="-169863" lvl="0" marL="169863" rtl="0" algn="l">
              <a:lnSpc>
                <a:spcPct val="95000"/>
              </a:lnSpc>
              <a:spcBef>
                <a:spcPts val="0"/>
              </a:spcBef>
              <a:spcAft>
                <a:spcPts val="0"/>
              </a:spcAft>
              <a:buClr>
                <a:schemeClr val="dk1"/>
              </a:buClr>
              <a:buSzPts val="1100"/>
              <a:buChar char="•"/>
            </a:pPr>
            <a:r>
              <a:rPr lang="en-GB" sz="1100"/>
              <a:t>Retail:  Apparel,  hard goods, electronics, office supplies, gift cards (non-merchandise sku), drugs, etc.</a:t>
            </a:r>
            <a:endParaRPr/>
          </a:p>
          <a:p>
            <a:pPr indent="-169863" lvl="0" marL="169863" rtl="0" algn="l">
              <a:lnSpc>
                <a:spcPct val="95000"/>
              </a:lnSpc>
              <a:spcBef>
                <a:spcPts val="800"/>
              </a:spcBef>
              <a:spcAft>
                <a:spcPts val="0"/>
              </a:spcAft>
              <a:buClr>
                <a:schemeClr val="dk1"/>
              </a:buClr>
              <a:buSzPts val="1100"/>
              <a:buChar char="•"/>
            </a:pPr>
            <a:r>
              <a:rPr lang="en-GB" sz="1100"/>
              <a:t>CPG: Consumables i.e. food, beverage,  health &amp; beauty, household products, greeting cards</a:t>
            </a:r>
            <a:endParaRPr/>
          </a:p>
          <a:p>
            <a:pPr indent="-169863" lvl="0" marL="169863" rtl="0" algn="l">
              <a:lnSpc>
                <a:spcPct val="95000"/>
              </a:lnSpc>
              <a:spcBef>
                <a:spcPts val="800"/>
              </a:spcBef>
              <a:spcAft>
                <a:spcPts val="0"/>
              </a:spcAft>
              <a:buClr>
                <a:schemeClr val="dk1"/>
              </a:buClr>
              <a:buSzPts val="1100"/>
              <a:buChar char="•"/>
            </a:pPr>
            <a:r>
              <a:rPr lang="en-GB" sz="1100"/>
              <a:t>Transportation: rail car capacity, fleet of trucks, </a:t>
            </a:r>
            <a:endParaRPr/>
          </a:p>
          <a:p>
            <a:pPr indent="-169863" lvl="0" marL="169863" rtl="0" algn="l">
              <a:lnSpc>
                <a:spcPct val="95000"/>
              </a:lnSpc>
              <a:spcBef>
                <a:spcPts val="800"/>
              </a:spcBef>
              <a:spcAft>
                <a:spcPts val="0"/>
              </a:spcAft>
              <a:buClr>
                <a:schemeClr val="dk1"/>
              </a:buClr>
              <a:buSzPts val="1100"/>
              <a:buChar char="•"/>
            </a:pPr>
            <a:r>
              <a:rPr lang="en-GB" sz="1100"/>
              <a:t>Insurance: policy, claim</a:t>
            </a:r>
            <a:endParaRPr/>
          </a:p>
          <a:p>
            <a:pPr indent="-169863" lvl="0" marL="169863" rtl="0" algn="l">
              <a:lnSpc>
                <a:spcPct val="95000"/>
              </a:lnSpc>
              <a:spcBef>
                <a:spcPts val="800"/>
              </a:spcBef>
              <a:spcAft>
                <a:spcPts val="0"/>
              </a:spcAft>
              <a:buClr>
                <a:schemeClr val="dk1"/>
              </a:buClr>
              <a:buSzPts val="1100"/>
              <a:buChar char="•"/>
            </a:pPr>
            <a:r>
              <a:rPr lang="en-GB" sz="1100"/>
              <a:t>Financial Service: services to Bank Customers, loan, mortgage (which may be sold), financial Professional Services, accounts, balances, interest rates, limits, credit card product</a:t>
            </a:r>
            <a:endParaRPr/>
          </a:p>
          <a:p>
            <a:pPr indent="-169863" lvl="0" marL="169863" rtl="0" algn="l">
              <a:lnSpc>
                <a:spcPct val="95000"/>
              </a:lnSpc>
              <a:spcBef>
                <a:spcPts val="800"/>
              </a:spcBef>
              <a:spcAft>
                <a:spcPts val="0"/>
              </a:spcAft>
              <a:buClr>
                <a:schemeClr val="dk1"/>
              </a:buClr>
              <a:buSzPts val="1100"/>
              <a:buChar char="•"/>
            </a:pPr>
            <a:r>
              <a:rPr lang="en-GB" sz="1100"/>
              <a:t>Communications: rate plan (voice and data, devices, accessories, insurance, warranty, feature, upgrade, corporate product, data, advertising product), video programming, geospatial capability (geo fencing), satellite dish, network availability (but the network itself is in operations)</a:t>
            </a:r>
            <a:endParaRPr/>
          </a:p>
          <a:p>
            <a:pPr indent="-169863" lvl="0" marL="169863" rtl="0" algn="l">
              <a:lnSpc>
                <a:spcPct val="95000"/>
              </a:lnSpc>
              <a:spcBef>
                <a:spcPts val="800"/>
              </a:spcBef>
              <a:spcAft>
                <a:spcPts val="0"/>
              </a:spcAft>
              <a:buClr>
                <a:schemeClr val="dk1"/>
              </a:buClr>
              <a:buSzPts val="1100"/>
              <a:buChar char="•"/>
            </a:pPr>
            <a:r>
              <a:rPr lang="en-GB" sz="1100"/>
              <a:t>Media and Entertainment: website, stream content, contracts, website (WB builds website that is sold to customers – Fandango, IMDB) advertising, cable programming, set top usage data, video on demand</a:t>
            </a:r>
            <a:endParaRPr/>
          </a:p>
          <a:p>
            <a:pPr indent="-169863" lvl="0" marL="169863" rtl="0" algn="l">
              <a:lnSpc>
                <a:spcPct val="95000"/>
              </a:lnSpc>
              <a:spcBef>
                <a:spcPts val="800"/>
              </a:spcBef>
              <a:spcAft>
                <a:spcPts val="0"/>
              </a:spcAft>
              <a:buClr>
                <a:schemeClr val="dk1"/>
              </a:buClr>
              <a:buSzPts val="1100"/>
              <a:buChar char="•"/>
            </a:pPr>
            <a:r>
              <a:rPr lang="en-GB" sz="1100"/>
              <a:t>Oil and Gas: production, well</a:t>
            </a:r>
            <a:endParaRPr/>
          </a:p>
          <a:p>
            <a:pPr indent="-169863" lvl="0" marL="169863" rtl="0" algn="l">
              <a:lnSpc>
                <a:spcPct val="95000"/>
              </a:lnSpc>
              <a:spcBef>
                <a:spcPts val="800"/>
              </a:spcBef>
              <a:spcAft>
                <a:spcPts val="0"/>
              </a:spcAft>
              <a:buClr>
                <a:schemeClr val="dk1"/>
              </a:buClr>
              <a:buSzPts val="1100"/>
              <a:buChar char="•"/>
            </a:pPr>
            <a:r>
              <a:rPr lang="en-GB" sz="1100"/>
              <a:t>Aerospace: product as a service, engine, plane</a:t>
            </a:r>
            <a:endParaRPr/>
          </a:p>
          <a:p>
            <a:pPr indent="-169863" lvl="0" marL="169863" rtl="0" algn="l">
              <a:lnSpc>
                <a:spcPct val="95000"/>
              </a:lnSpc>
              <a:spcBef>
                <a:spcPts val="800"/>
              </a:spcBef>
              <a:spcAft>
                <a:spcPts val="0"/>
              </a:spcAft>
              <a:buClr>
                <a:schemeClr val="dk1"/>
              </a:buClr>
              <a:buSzPts val="1100"/>
              <a:buChar char="•"/>
            </a:pPr>
            <a:r>
              <a:rPr lang="en-GB" sz="1100"/>
              <a:t>Digital: web site, mobile app</a:t>
            </a:r>
            <a:endParaRPr/>
          </a:p>
          <a:p>
            <a:pPr indent="-169863" lvl="0" marL="169863" rtl="0" algn="l">
              <a:lnSpc>
                <a:spcPct val="95000"/>
              </a:lnSpc>
              <a:spcBef>
                <a:spcPts val="800"/>
              </a:spcBef>
              <a:spcAft>
                <a:spcPts val="0"/>
              </a:spcAft>
              <a:buClr>
                <a:schemeClr val="dk1"/>
              </a:buClr>
              <a:buSzPts val="1100"/>
              <a:buChar char="•"/>
            </a:pPr>
            <a:r>
              <a:rPr lang="en-GB" sz="1100"/>
              <a:t>High Tech:  computer chip</a:t>
            </a:r>
            <a:endParaRPr/>
          </a:p>
          <a:p>
            <a:pPr indent="-169863" lvl="0" marL="169863" rtl="0" algn="l">
              <a:lnSpc>
                <a:spcPct val="95000"/>
              </a:lnSpc>
              <a:spcBef>
                <a:spcPts val="800"/>
              </a:spcBef>
              <a:spcAft>
                <a:spcPts val="0"/>
              </a:spcAft>
              <a:buClr>
                <a:schemeClr val="dk1"/>
              </a:buClr>
              <a:buSzPts val="1100"/>
              <a:buChar char="•"/>
            </a:pPr>
            <a:r>
              <a:rPr lang="en-GB" sz="1100"/>
              <a:t>Hospitality and Travel : room, meal, reservation, airline seat, ancillary products (wifi, baggage, upgrade, meals)</a:t>
            </a:r>
            <a:endParaRPr/>
          </a:p>
          <a:p>
            <a:pPr indent="-100013" lvl="0" marL="169863" rtl="0" algn="l">
              <a:lnSpc>
                <a:spcPct val="95000"/>
              </a:lnSpc>
              <a:spcBef>
                <a:spcPts val="800"/>
              </a:spcBef>
              <a:spcAft>
                <a:spcPts val="0"/>
              </a:spcAft>
              <a:buClr>
                <a:schemeClr val="dk1"/>
              </a:buClr>
              <a:buSzPts val="1100"/>
              <a:buNone/>
            </a:pPr>
            <a:r>
              <a:t/>
            </a:r>
            <a:endParaRPr sz="1100"/>
          </a:p>
          <a:p>
            <a:pPr indent="-100013" lvl="0" marL="169863" rtl="0" algn="l">
              <a:lnSpc>
                <a:spcPct val="95000"/>
              </a:lnSpc>
              <a:spcBef>
                <a:spcPts val="800"/>
              </a:spcBef>
              <a:spcAft>
                <a:spcPts val="0"/>
              </a:spcAft>
              <a:buClr>
                <a:schemeClr val="dk1"/>
              </a:buClr>
              <a:buSzPts val="1100"/>
              <a:buNone/>
            </a:pPr>
            <a:r>
              <a:t/>
            </a:r>
            <a:endParaRPr sz="1100"/>
          </a:p>
          <a:p>
            <a:pPr indent="-100013" lvl="0" marL="169863" rtl="0" algn="l">
              <a:lnSpc>
                <a:spcPct val="95000"/>
              </a:lnSpc>
              <a:spcBef>
                <a:spcPts val="800"/>
              </a:spcBef>
              <a:spcAft>
                <a:spcPts val="0"/>
              </a:spcAft>
              <a:buClr>
                <a:schemeClr val="dk1"/>
              </a:buClr>
              <a:buSzPts val="1100"/>
              <a:buNone/>
            </a:pPr>
            <a:r>
              <a:t/>
            </a:r>
            <a:endParaRPr sz="1100"/>
          </a:p>
          <a:p>
            <a:pPr indent="-100013" lvl="0" marL="169863" rtl="0" algn="l">
              <a:lnSpc>
                <a:spcPct val="95000"/>
              </a:lnSpc>
              <a:spcBef>
                <a:spcPts val="800"/>
              </a:spcBef>
              <a:spcAft>
                <a:spcPts val="0"/>
              </a:spcAft>
              <a:buClr>
                <a:schemeClr val="dk1"/>
              </a:buClr>
              <a:buSzPts val="1100"/>
              <a:buNone/>
            </a:pPr>
            <a:r>
              <a:t/>
            </a:r>
            <a:endParaRPr sz="1100"/>
          </a:p>
        </p:txBody>
      </p:sp>
      <p:sp>
        <p:nvSpPr>
          <p:cNvPr id="6454" name="Google Shape;6454;p357"/>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455" name="Google Shape;6455;p357">
            <a:hlinkClick action="ppaction://hlinksldjump" r:id="rId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59" name="Shape 6459"/>
        <p:cNvGrpSpPr/>
        <p:nvPr/>
      </p:nvGrpSpPr>
      <p:grpSpPr>
        <a:xfrm>
          <a:off x="0" y="0"/>
          <a:ext cx="0" cy="0"/>
          <a:chOff x="0" y="0"/>
          <a:chExt cx="0" cy="0"/>
        </a:xfrm>
      </p:grpSpPr>
      <p:pic>
        <p:nvPicPr>
          <p:cNvPr descr="9F2D536B-2DF9-417C-BC65-900CB19738BB@Home" id="6460" name="Google Shape;6460;p358"/>
          <p:cNvPicPr preferRelativeResize="0"/>
          <p:nvPr/>
        </p:nvPicPr>
        <p:blipFill rotWithShape="1">
          <a:blip r:embed="rId3">
            <a:alphaModFix/>
          </a:blip>
          <a:srcRect b="0" l="32029" r="0" t="0"/>
          <a:stretch/>
        </p:blipFill>
        <p:spPr>
          <a:xfrm>
            <a:off x="5289202" y="0"/>
            <a:ext cx="3832922" cy="5143500"/>
          </a:xfrm>
          <a:prstGeom prst="rect">
            <a:avLst/>
          </a:prstGeom>
          <a:noFill/>
          <a:ln>
            <a:noFill/>
          </a:ln>
          <a:effectLst>
            <a:outerShdw blurRad="292100" rotWithShape="0" algn="tl" dir="2700000" dist="139700">
              <a:srgbClr val="333333">
                <a:alpha val="64705"/>
              </a:srgbClr>
            </a:outerShdw>
          </a:effectLst>
        </p:spPr>
      </p:pic>
      <p:sp>
        <p:nvSpPr>
          <p:cNvPr id="6461" name="Google Shape;6461;p358"/>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62" name="Google Shape;6462;p358"/>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a:t>Foundation for incoming revenue, profitability and market share growth</a:t>
            </a:r>
            <a:endParaRPr/>
          </a:p>
          <a:p>
            <a:pPr indent="-231775" lvl="1" marL="231775" rtl="0" algn="l">
              <a:lnSpc>
                <a:spcPct val="100000"/>
              </a:lnSpc>
              <a:spcBef>
                <a:spcPts val="600"/>
              </a:spcBef>
              <a:spcAft>
                <a:spcPts val="0"/>
              </a:spcAft>
              <a:buClr>
                <a:schemeClr val="dk1"/>
              </a:buClr>
              <a:buSzPts val="1400"/>
              <a:buChar char="•"/>
            </a:pPr>
            <a:r>
              <a:rPr lang="en-GB"/>
              <a:t>Product is the largest investment many companies make</a:t>
            </a:r>
            <a:endParaRPr/>
          </a:p>
          <a:p>
            <a:pPr indent="-231775" lvl="1" marL="231775" rtl="0" algn="l">
              <a:lnSpc>
                <a:spcPct val="100000"/>
              </a:lnSpc>
              <a:spcBef>
                <a:spcPts val="600"/>
              </a:spcBef>
              <a:spcAft>
                <a:spcPts val="0"/>
              </a:spcAft>
              <a:buClr>
                <a:schemeClr val="dk1"/>
              </a:buClr>
              <a:buSzPts val="1400"/>
              <a:buChar char="•"/>
            </a:pPr>
            <a:r>
              <a:rPr lang="en-GB"/>
              <a:t>Product Mgt. teams recognize trends that drive strategic roadmap for innovation, new features, and services </a:t>
            </a:r>
            <a:endParaRPr/>
          </a:p>
          <a:p>
            <a:pPr indent="-231775" lvl="1" marL="231775" rtl="0" algn="l">
              <a:lnSpc>
                <a:spcPct val="100000"/>
              </a:lnSpc>
              <a:spcBef>
                <a:spcPts val="600"/>
              </a:spcBef>
              <a:spcAft>
                <a:spcPts val="0"/>
              </a:spcAft>
              <a:buClr>
                <a:schemeClr val="dk1"/>
              </a:buClr>
              <a:buSzPts val="1400"/>
              <a:buChar char="•"/>
            </a:pPr>
            <a:r>
              <a:rPr lang="en-GB"/>
              <a:t>Core to Brand building; distinguishable products help attract customers and maintain loyalty</a:t>
            </a:r>
            <a:endParaRPr/>
          </a:p>
        </p:txBody>
      </p:sp>
      <p:sp>
        <p:nvSpPr>
          <p:cNvPr id="6463" name="Google Shape;6463;p358"/>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464" name="Google Shape;6464;p358"/>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analyzing market performance to define, design, source, assort, flow, price, promote, present and manage the sales and profitability of products that customers want to buy.   </a:t>
            </a:r>
            <a:endParaRPr/>
          </a:p>
        </p:txBody>
      </p:sp>
      <p:sp>
        <p:nvSpPr>
          <p:cNvPr id="6465" name="Google Shape;6465;p358">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80" name="Shape 6480"/>
        <p:cNvGrpSpPr/>
        <p:nvPr/>
      </p:nvGrpSpPr>
      <p:grpSpPr>
        <a:xfrm>
          <a:off x="0" y="0"/>
          <a:ext cx="0" cy="0"/>
          <a:chOff x="0" y="0"/>
          <a:chExt cx="0" cy="0"/>
        </a:xfrm>
      </p:grpSpPr>
      <p:sp>
        <p:nvSpPr>
          <p:cNvPr id="6481" name="Google Shape;6481;p360"/>
          <p:cNvSpPr/>
          <p:nvPr/>
        </p:nvSpPr>
        <p:spPr>
          <a:xfrm>
            <a:off x="7772400" y="-368299"/>
            <a:ext cx="4616448"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2" name="Google Shape;6482;p360"/>
          <p:cNvSpPr txBox="1"/>
          <p:nvPr>
            <p:ph type="title"/>
          </p:nvPr>
        </p:nvSpPr>
        <p:spPr>
          <a:xfrm>
            <a:off x="472328" y="46137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83" name="Google Shape;6483;p360"/>
          <p:cNvSpPr txBox="1"/>
          <p:nvPr>
            <p:ph idx="1" type="body"/>
          </p:nvPr>
        </p:nvSpPr>
        <p:spPr>
          <a:xfrm>
            <a:off x="503238" y="972765"/>
            <a:ext cx="4456176" cy="3694997"/>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Solutions</a:t>
            </a:r>
            <a:endParaRPr/>
          </a:p>
          <a:p>
            <a:pPr indent="-169863" lvl="0" marL="169863" rtl="0" algn="l">
              <a:lnSpc>
                <a:spcPct val="95000"/>
              </a:lnSpc>
              <a:spcBef>
                <a:spcPts val="800"/>
              </a:spcBef>
              <a:spcAft>
                <a:spcPts val="0"/>
              </a:spcAft>
              <a:buClr>
                <a:schemeClr val="dk1"/>
              </a:buClr>
              <a:buSzPts val="1400"/>
              <a:buChar char="•"/>
            </a:pPr>
            <a:r>
              <a:rPr lang="en-GB" sz="1400"/>
              <a:t>Available on shelf and lost sales analytics</a:t>
            </a:r>
            <a:endParaRPr/>
          </a:p>
          <a:p>
            <a:pPr indent="-169863" lvl="0" marL="169863" rtl="0" algn="l">
              <a:lnSpc>
                <a:spcPct val="95000"/>
              </a:lnSpc>
              <a:spcBef>
                <a:spcPts val="800"/>
              </a:spcBef>
              <a:spcAft>
                <a:spcPts val="0"/>
              </a:spcAft>
              <a:buClr>
                <a:schemeClr val="dk1"/>
              </a:buClr>
              <a:buSzPts val="1400"/>
              <a:buChar char="•"/>
            </a:pPr>
            <a:r>
              <a:rPr lang="en-GB" sz="1400"/>
              <a:t>Basket analytics driving range and assortment planning</a:t>
            </a:r>
            <a:endParaRPr/>
          </a:p>
          <a:p>
            <a:pPr indent="-169863" lvl="0" marL="169863" rtl="0" algn="l">
              <a:lnSpc>
                <a:spcPct val="95000"/>
              </a:lnSpc>
              <a:spcBef>
                <a:spcPts val="800"/>
              </a:spcBef>
              <a:spcAft>
                <a:spcPts val="0"/>
              </a:spcAft>
              <a:buClr>
                <a:schemeClr val="dk1"/>
              </a:buClr>
              <a:buSzPts val="1400"/>
              <a:buChar char="•"/>
            </a:pPr>
            <a:r>
              <a:rPr lang="en-GB" sz="1400"/>
              <a:t>Store assortments tied to shopping missions and Customer behavior analytics </a:t>
            </a:r>
            <a:endParaRPr/>
          </a:p>
          <a:p>
            <a:pPr indent="-169863" lvl="0" marL="169863" rtl="0" algn="l">
              <a:lnSpc>
                <a:spcPct val="95000"/>
              </a:lnSpc>
              <a:spcBef>
                <a:spcPts val="800"/>
              </a:spcBef>
              <a:spcAft>
                <a:spcPts val="0"/>
              </a:spcAft>
              <a:buClr>
                <a:schemeClr val="dk1"/>
              </a:buClr>
              <a:buSzPts val="1400"/>
              <a:buChar char="•"/>
            </a:pPr>
            <a:r>
              <a:rPr lang="en-GB" sz="1400"/>
              <a:t>Pricing and promotion analytics</a:t>
            </a:r>
            <a:endParaRPr/>
          </a:p>
          <a:p>
            <a:pPr indent="-169863" lvl="0" marL="169863" rtl="0" algn="l">
              <a:lnSpc>
                <a:spcPct val="95000"/>
              </a:lnSpc>
              <a:spcBef>
                <a:spcPts val="800"/>
              </a:spcBef>
              <a:spcAft>
                <a:spcPts val="0"/>
              </a:spcAft>
              <a:buClr>
                <a:schemeClr val="dk1"/>
              </a:buClr>
              <a:buSzPts val="1400"/>
              <a:buChar char="•"/>
            </a:pPr>
            <a:r>
              <a:rPr lang="en-GB" sz="1400"/>
              <a:t>Markdown management analytics</a:t>
            </a:r>
            <a:endParaRPr/>
          </a:p>
          <a:p>
            <a:pPr indent="-169863" lvl="0" marL="169863" rtl="0" algn="l">
              <a:lnSpc>
                <a:spcPct val="95000"/>
              </a:lnSpc>
              <a:spcBef>
                <a:spcPts val="800"/>
              </a:spcBef>
              <a:spcAft>
                <a:spcPts val="0"/>
              </a:spcAft>
              <a:buClr>
                <a:schemeClr val="dk1"/>
              </a:buClr>
              <a:buSzPts val="1400"/>
              <a:buChar char="•"/>
            </a:pPr>
            <a:r>
              <a:rPr lang="en-GB" sz="1400"/>
              <a:t>Promotion modeling, Intelligent product introduction</a:t>
            </a:r>
            <a:endParaRPr/>
          </a:p>
          <a:p>
            <a:pPr indent="-169863" lvl="0" marL="169863" rtl="0" algn="l">
              <a:lnSpc>
                <a:spcPct val="95000"/>
              </a:lnSpc>
              <a:spcBef>
                <a:spcPts val="800"/>
              </a:spcBef>
              <a:spcAft>
                <a:spcPts val="0"/>
              </a:spcAft>
              <a:buClr>
                <a:schemeClr val="dk1"/>
              </a:buClr>
              <a:buSzPts val="1400"/>
              <a:buChar char="•"/>
            </a:pPr>
            <a:r>
              <a:rPr lang="en-GB" sz="1400"/>
              <a:t>Product Profitability Modeling</a:t>
            </a:r>
            <a:endParaRPr/>
          </a:p>
          <a:p>
            <a:pPr indent="-169863" lvl="0" marL="169863" rtl="0" algn="l">
              <a:lnSpc>
                <a:spcPct val="95000"/>
              </a:lnSpc>
              <a:spcBef>
                <a:spcPts val="800"/>
              </a:spcBef>
              <a:spcAft>
                <a:spcPts val="0"/>
              </a:spcAft>
              <a:buClr>
                <a:schemeClr val="dk1"/>
              </a:buClr>
              <a:buSzPts val="1400"/>
              <a:buChar char="•"/>
            </a:pPr>
            <a:r>
              <a:rPr lang="en-GB" sz="1400"/>
              <a:t>Best practice data models to accelerate merchandise assortment and basket analytics</a:t>
            </a:r>
            <a:endParaRPr/>
          </a:p>
          <a:p>
            <a:pPr indent="0" lvl="0" marL="0" rtl="0" algn="l">
              <a:lnSpc>
                <a:spcPct val="95000"/>
              </a:lnSpc>
              <a:spcBef>
                <a:spcPts val="800"/>
              </a:spcBef>
              <a:spcAft>
                <a:spcPts val="0"/>
              </a:spcAft>
              <a:buClr>
                <a:schemeClr val="dk1"/>
              </a:buClr>
              <a:buSzPts val="1400"/>
              <a:buNone/>
            </a:pPr>
            <a:r>
              <a:t/>
            </a:r>
            <a:endParaRPr sz="1400"/>
          </a:p>
        </p:txBody>
      </p:sp>
      <p:sp>
        <p:nvSpPr>
          <p:cNvPr id="6484" name="Google Shape;6484;p360"/>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descr="BIZ-1054-L.jpg" id="6485" name="Google Shape;6485;p360"/>
          <p:cNvPicPr preferRelativeResize="0"/>
          <p:nvPr/>
        </p:nvPicPr>
        <p:blipFill rotWithShape="1">
          <a:blip r:embed="rId3">
            <a:alphaModFix/>
          </a:blip>
          <a:srcRect b="0" l="-8520" r="-8519" t="0"/>
          <a:stretch/>
        </p:blipFill>
        <p:spPr>
          <a:xfrm>
            <a:off x="5311588" y="951753"/>
            <a:ext cx="4133570" cy="2398713"/>
          </a:xfrm>
          <a:prstGeom prst="rect">
            <a:avLst/>
          </a:prstGeom>
          <a:noFill/>
          <a:ln>
            <a:noFill/>
          </a:ln>
        </p:spPr>
      </p:pic>
      <p:sp>
        <p:nvSpPr>
          <p:cNvPr id="6486" name="Google Shape;6486;p360">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0" name="Shape 6490"/>
        <p:cNvGrpSpPr/>
        <p:nvPr/>
      </p:nvGrpSpPr>
      <p:grpSpPr>
        <a:xfrm>
          <a:off x="0" y="0"/>
          <a:ext cx="0" cy="0"/>
          <a:chOff x="0" y="0"/>
          <a:chExt cx="0" cy="0"/>
        </a:xfrm>
      </p:grpSpPr>
      <p:sp>
        <p:nvSpPr>
          <p:cNvPr id="6491" name="Google Shape;6491;p361"/>
          <p:cNvSpPr txBox="1"/>
          <p:nvPr>
            <p:ph idx="1" type="body"/>
          </p:nvPr>
        </p:nvSpPr>
        <p:spPr>
          <a:xfrm>
            <a:off x="467360" y="981025"/>
            <a:ext cx="3545839"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Interesting Facts/Stats/Quotes</a:t>
            </a:r>
            <a:endParaRPr b="1">
              <a:solidFill>
                <a:schemeClr val="accent1"/>
              </a:solidFill>
            </a:endParaRPr>
          </a:p>
          <a:p>
            <a:pPr indent="-169863" lvl="0" marL="169863" rtl="0" algn="l">
              <a:lnSpc>
                <a:spcPct val="110000"/>
              </a:lnSpc>
              <a:spcBef>
                <a:spcPts val="800"/>
              </a:spcBef>
              <a:spcAft>
                <a:spcPts val="0"/>
              </a:spcAft>
              <a:buClr>
                <a:schemeClr val="dk1"/>
              </a:buClr>
              <a:buSzPts val="1100"/>
              <a:buChar char="•"/>
            </a:pPr>
            <a:r>
              <a:rPr lang="en-GB" sz="1100"/>
              <a:t>The Product Development &amp; Management Association (PDMA) found differences in failure rates of new products, ranging from 35% for healthcare to 49% for fast moving consumer goods</a:t>
            </a:r>
            <a:endParaRPr/>
          </a:p>
          <a:p>
            <a:pPr indent="-169863" lvl="0" marL="169863" rtl="0" algn="l">
              <a:lnSpc>
                <a:spcPct val="110000"/>
              </a:lnSpc>
              <a:spcBef>
                <a:spcPts val="800"/>
              </a:spcBef>
              <a:spcAft>
                <a:spcPts val="0"/>
              </a:spcAft>
              <a:buClr>
                <a:schemeClr val="dk1"/>
              </a:buClr>
              <a:buSzPts val="1100"/>
              <a:buChar char="•"/>
            </a:pPr>
            <a:r>
              <a:rPr lang="en-GB" sz="1100"/>
              <a:t>McKinsey and Company estimates that up to 30 percent of the thousands of pricing decisions companies make every year fail to deliver the best price</a:t>
            </a:r>
            <a:endParaRPr/>
          </a:p>
          <a:p>
            <a:pPr indent="-169863" lvl="0" marL="169863" rtl="0" algn="l">
              <a:lnSpc>
                <a:spcPct val="110000"/>
              </a:lnSpc>
              <a:spcBef>
                <a:spcPts val="800"/>
              </a:spcBef>
              <a:spcAft>
                <a:spcPts val="0"/>
              </a:spcAft>
              <a:buClr>
                <a:schemeClr val="dk1"/>
              </a:buClr>
              <a:buSzPts val="1100"/>
              <a:buChar char="•"/>
            </a:pPr>
            <a:r>
              <a:rPr lang="en-GB" sz="1100"/>
              <a:t>EKN Research indicates maximum growth opportunity lies in assortment or product-mix localization, integrating product design/development data, with 33% retailers planning to do this in the next 12 months. </a:t>
            </a:r>
            <a:endParaRPr/>
          </a:p>
          <a:p>
            <a:pPr indent="-169863" lvl="0" marL="169863" rtl="0" algn="l">
              <a:lnSpc>
                <a:spcPct val="110000"/>
              </a:lnSpc>
              <a:spcBef>
                <a:spcPts val="800"/>
              </a:spcBef>
              <a:spcAft>
                <a:spcPts val="0"/>
              </a:spcAft>
              <a:buClr>
                <a:schemeClr val="dk1"/>
              </a:buClr>
              <a:buSzPts val="1100"/>
              <a:buChar char="•"/>
            </a:pPr>
            <a:r>
              <a:rPr lang="en-GB" sz="1100"/>
              <a:t>Close to 60% of retailers indicated partial or no integration between their merchandise planning and execution at the process and systems-level. </a:t>
            </a:r>
            <a:endParaRPr/>
          </a:p>
          <a:p>
            <a:pPr indent="-100013" lvl="0" marL="169863" rtl="0" algn="l">
              <a:lnSpc>
                <a:spcPct val="110000"/>
              </a:lnSpc>
              <a:spcBef>
                <a:spcPts val="800"/>
              </a:spcBef>
              <a:spcAft>
                <a:spcPts val="0"/>
              </a:spcAft>
              <a:buClr>
                <a:schemeClr val="dk1"/>
              </a:buClr>
              <a:buSzPts val="1100"/>
              <a:buNone/>
            </a:pPr>
            <a:r>
              <a:t/>
            </a:r>
            <a:endParaRPr sz="1100"/>
          </a:p>
          <a:p>
            <a:pPr indent="0" lvl="0" marL="0" rtl="0" algn="l">
              <a:lnSpc>
                <a:spcPct val="110000"/>
              </a:lnSpc>
              <a:spcBef>
                <a:spcPts val="800"/>
              </a:spcBef>
              <a:spcAft>
                <a:spcPts val="0"/>
              </a:spcAft>
              <a:buClr>
                <a:schemeClr val="dk1"/>
              </a:buClr>
              <a:buSzPts val="1100"/>
              <a:buNone/>
            </a:pPr>
            <a:r>
              <a:t/>
            </a:r>
            <a:endParaRPr sz="1100"/>
          </a:p>
        </p:txBody>
      </p:sp>
      <p:sp>
        <p:nvSpPr>
          <p:cNvPr id="6492" name="Google Shape;6492;p36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93" name="Google Shape;6493;p361"/>
          <p:cNvSpPr/>
          <p:nvPr/>
        </p:nvSpPr>
        <p:spPr>
          <a:xfrm>
            <a:off x="7772400" y="-368299"/>
            <a:ext cx="4616448"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id="6494" name="Google Shape;6494;p361"/>
          <p:cNvPicPr preferRelativeResize="0"/>
          <p:nvPr/>
        </p:nvPicPr>
        <p:blipFill rotWithShape="1">
          <a:blip r:embed="rId3">
            <a:alphaModFix/>
          </a:blip>
          <a:srcRect b="38306" l="0" r="0" t="0"/>
          <a:stretch/>
        </p:blipFill>
        <p:spPr>
          <a:xfrm>
            <a:off x="4445313" y="266645"/>
            <a:ext cx="3594937" cy="4419656"/>
          </a:xfrm>
          <a:prstGeom prst="rect">
            <a:avLst/>
          </a:prstGeom>
          <a:noFill/>
          <a:ln>
            <a:noFill/>
          </a:ln>
        </p:spPr>
      </p:pic>
      <p:sp>
        <p:nvSpPr>
          <p:cNvPr id="6495" name="Google Shape;6495;p361"/>
          <p:cNvSpPr txBox="1"/>
          <p:nvPr/>
        </p:nvSpPr>
        <p:spPr>
          <a:xfrm>
            <a:off x="4445313" y="4649817"/>
            <a:ext cx="1301959" cy="209288"/>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800">
                <a:solidFill>
                  <a:srgbClr val="A5A5A5"/>
                </a:solidFill>
                <a:latin typeface="Century Gothic"/>
                <a:ea typeface="Century Gothic"/>
                <a:cs typeface="Century Gothic"/>
                <a:sym typeface="Century Gothic"/>
              </a:rPr>
              <a:t>Source: CBX Web Blog</a:t>
            </a:r>
            <a:endParaRPr/>
          </a:p>
        </p:txBody>
      </p:sp>
      <p:sp>
        <p:nvSpPr>
          <p:cNvPr id="6496" name="Google Shape;6496;p361">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00" name="Shape 6500"/>
        <p:cNvGrpSpPr/>
        <p:nvPr/>
      </p:nvGrpSpPr>
      <p:grpSpPr>
        <a:xfrm>
          <a:off x="0" y="0"/>
          <a:ext cx="0" cy="0"/>
          <a:chOff x="0" y="0"/>
          <a:chExt cx="0" cy="0"/>
        </a:xfrm>
      </p:grpSpPr>
      <p:sp>
        <p:nvSpPr>
          <p:cNvPr id="6501" name="Google Shape;6501;p362"/>
          <p:cNvSpPr txBox="1"/>
          <p:nvPr>
            <p:ph idx="1" type="body"/>
          </p:nvPr>
        </p:nvSpPr>
        <p:spPr>
          <a:xfrm>
            <a:off x="467360" y="981025"/>
            <a:ext cx="4472775"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EKN Research (2014)</a:t>
            </a:r>
            <a:endParaRPr b="1">
              <a:solidFill>
                <a:schemeClr val="accent1"/>
              </a:solidFill>
            </a:endParaRPr>
          </a:p>
          <a:p>
            <a:pPr indent="-169863" lvl="0" marL="169863" rtl="0" algn="l">
              <a:lnSpc>
                <a:spcPct val="95000"/>
              </a:lnSpc>
              <a:spcBef>
                <a:spcPts val="800"/>
              </a:spcBef>
              <a:spcAft>
                <a:spcPts val="0"/>
              </a:spcAft>
              <a:buClr>
                <a:schemeClr val="dk1"/>
              </a:buClr>
              <a:buSzPts val="1100"/>
              <a:buChar char="•"/>
            </a:pPr>
            <a:r>
              <a:rPr lang="en-GB" sz="1100"/>
              <a:t>Close to 60% of retailers indicated partial or no integration between their merchandise planning and execution at the process and systems-level.</a:t>
            </a:r>
            <a:endParaRPr/>
          </a:p>
          <a:p>
            <a:pPr indent="-169863" lvl="0" marL="169863" rtl="0" algn="l">
              <a:lnSpc>
                <a:spcPct val="95000"/>
              </a:lnSpc>
              <a:spcBef>
                <a:spcPts val="800"/>
              </a:spcBef>
              <a:spcAft>
                <a:spcPts val="0"/>
              </a:spcAft>
              <a:buClr>
                <a:schemeClr val="dk1"/>
              </a:buClr>
              <a:buSzPts val="1100"/>
              <a:buChar char="•"/>
            </a:pPr>
            <a:r>
              <a:rPr lang="en-GB" sz="1100"/>
              <a:t>For close to half (47%) of the retailers, continued growth in multi-site, multi-tier, multi-country upstream merchandise product collaboration needs is a constant pressure for merchandising, product development and supply chain teams.</a:t>
            </a:r>
            <a:endParaRPr/>
          </a:p>
          <a:p>
            <a:pPr indent="-169863" lvl="0" marL="169863" rtl="0" algn="l">
              <a:lnSpc>
                <a:spcPct val="95000"/>
              </a:lnSpc>
              <a:spcBef>
                <a:spcPts val="800"/>
              </a:spcBef>
              <a:spcAft>
                <a:spcPts val="0"/>
              </a:spcAft>
              <a:buClr>
                <a:schemeClr val="dk1"/>
              </a:buClr>
              <a:buSzPts val="1100"/>
              <a:buChar char="•"/>
            </a:pPr>
            <a:r>
              <a:rPr lang="en-GB" sz="1100"/>
              <a:t>More than one-third of retailers will improve supplier compliance, reduce environmental impact and introduce more ethical sourcing in the next 12 months horizon.</a:t>
            </a:r>
            <a:endParaRPr/>
          </a:p>
          <a:p>
            <a:pPr indent="-169863" lvl="0" marL="169863" rtl="0" algn="l">
              <a:lnSpc>
                <a:spcPct val="95000"/>
              </a:lnSpc>
              <a:spcBef>
                <a:spcPts val="800"/>
              </a:spcBef>
              <a:spcAft>
                <a:spcPts val="0"/>
              </a:spcAft>
              <a:buClr>
                <a:schemeClr val="dk1"/>
              </a:buClr>
              <a:buSzPts val="1100"/>
              <a:buChar char="•"/>
            </a:pPr>
            <a:r>
              <a:rPr lang="en-GB" sz="1100"/>
              <a:t>Maximum growth opportunity lies in assortment or product-mix localization, integrating product design/development data, with 33% retailers planning to do this in the next 12 months.</a:t>
            </a:r>
            <a:endParaRPr/>
          </a:p>
          <a:p>
            <a:pPr indent="-169863" lvl="0" marL="169863" rtl="0" algn="l">
              <a:lnSpc>
                <a:spcPct val="95000"/>
              </a:lnSpc>
              <a:spcBef>
                <a:spcPts val="800"/>
              </a:spcBef>
              <a:spcAft>
                <a:spcPts val="0"/>
              </a:spcAft>
              <a:buClr>
                <a:schemeClr val="dk1"/>
              </a:buClr>
              <a:buSzPts val="1100"/>
              <a:buChar char="•"/>
            </a:pPr>
            <a:r>
              <a:rPr lang="en-GB" sz="1100"/>
              <a:t>On average, half of the retailers surveyed indicate an increase in product development and management challenges from long lead times and threat of global and local competition.</a:t>
            </a:r>
            <a:endParaRPr sz="1100"/>
          </a:p>
        </p:txBody>
      </p:sp>
      <p:sp>
        <p:nvSpPr>
          <p:cNvPr id="6502" name="Google Shape;6502;p36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for Retail</a:t>
            </a:r>
            <a:endParaRPr/>
          </a:p>
        </p:txBody>
      </p:sp>
      <p:sp>
        <p:nvSpPr>
          <p:cNvPr id="6503" name="Google Shape;6503;p362"/>
          <p:cNvSpPr/>
          <p:nvPr/>
        </p:nvSpPr>
        <p:spPr>
          <a:xfrm>
            <a:off x="7772400" y="-368299"/>
            <a:ext cx="4616448"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04" name="Google Shape;6504;p362"/>
          <p:cNvSpPr txBox="1"/>
          <p:nvPr/>
        </p:nvSpPr>
        <p:spPr>
          <a:xfrm>
            <a:off x="4445313" y="4649817"/>
            <a:ext cx="1273105" cy="209288"/>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800">
                <a:solidFill>
                  <a:srgbClr val="A5A5A5"/>
                </a:solidFill>
                <a:latin typeface="Century Gothic"/>
                <a:ea typeface="Century Gothic"/>
                <a:cs typeface="Century Gothic"/>
                <a:sym typeface="Century Gothic"/>
              </a:rPr>
              <a:t>Source: EKN Research</a:t>
            </a:r>
            <a:endParaRPr/>
          </a:p>
        </p:txBody>
      </p:sp>
      <p:pic>
        <p:nvPicPr>
          <p:cNvPr id="6505" name="Google Shape;6505;p362"/>
          <p:cNvPicPr preferRelativeResize="0"/>
          <p:nvPr/>
        </p:nvPicPr>
        <p:blipFill rotWithShape="1">
          <a:blip r:embed="rId3">
            <a:alphaModFix/>
          </a:blip>
          <a:srcRect b="0" l="0" r="0" t="0"/>
          <a:stretch/>
        </p:blipFill>
        <p:spPr>
          <a:xfrm>
            <a:off x="4940135" y="822306"/>
            <a:ext cx="4059752" cy="3849765"/>
          </a:xfrm>
          <a:prstGeom prst="rect">
            <a:avLst/>
          </a:prstGeom>
          <a:noFill/>
          <a:ln cap="flat" cmpd="sng" w="9525">
            <a:solidFill>
              <a:schemeClr val="dk1"/>
            </a:solidFill>
            <a:prstDash val="solid"/>
            <a:miter lim="800000"/>
            <a:headEnd len="sm" w="sm" type="none"/>
            <a:tailEnd len="sm" w="sm" type="none"/>
          </a:ln>
        </p:spPr>
      </p:pic>
      <p:sp>
        <p:nvSpPr>
          <p:cNvPr id="6506" name="Google Shape;6506;p36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10" name="Shape 6510"/>
        <p:cNvGrpSpPr/>
        <p:nvPr/>
      </p:nvGrpSpPr>
      <p:grpSpPr>
        <a:xfrm>
          <a:off x="0" y="0"/>
          <a:ext cx="0" cy="0"/>
          <a:chOff x="0" y="0"/>
          <a:chExt cx="0" cy="0"/>
        </a:xfrm>
      </p:grpSpPr>
      <p:sp>
        <p:nvSpPr>
          <p:cNvPr id="6511" name="Google Shape;6511;p363"/>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512" name="Google Shape;6512;p363"/>
          <p:cNvSpPr txBox="1"/>
          <p:nvPr>
            <p:ph idx="4294967295" type="body"/>
          </p:nvPr>
        </p:nvSpPr>
        <p:spPr>
          <a:xfrm>
            <a:off x="312325" y="976182"/>
            <a:ext cx="4869260" cy="36720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chemeClr val="dk2"/>
              </a:buClr>
              <a:buSzPts val="1800"/>
              <a:buNone/>
            </a:pPr>
            <a:r>
              <a:rPr lang="en-GB">
                <a:solidFill>
                  <a:schemeClr val="dk2"/>
                </a:solidFill>
              </a:rPr>
              <a:t>   Are You Able To…</a:t>
            </a:r>
            <a:endParaRPr/>
          </a:p>
          <a:p>
            <a:pPr indent="-228600" lvl="1" marL="457200" rtl="0" algn="l">
              <a:lnSpc>
                <a:spcPct val="100000"/>
              </a:lnSpc>
              <a:spcBef>
                <a:spcPts val="600"/>
              </a:spcBef>
              <a:spcAft>
                <a:spcPts val="0"/>
              </a:spcAft>
              <a:buClr>
                <a:srgbClr val="3C3C3B"/>
              </a:buClr>
              <a:buSzPts val="1200"/>
              <a:buChar char="–"/>
            </a:pPr>
            <a:r>
              <a:rPr lang="en-GB" sz="1200">
                <a:solidFill>
                  <a:srgbClr val="3C3C3B"/>
                </a:solidFill>
              </a:rPr>
              <a:t>Identify trends  and develop distinctive products that your customers want to buy , providing competitive differentiation?</a:t>
            </a:r>
            <a:endParaRPr/>
          </a:p>
          <a:p>
            <a:pPr indent="-228600" lvl="1" marL="457200" rtl="0" algn="l">
              <a:lnSpc>
                <a:spcPct val="100000"/>
              </a:lnSpc>
              <a:spcBef>
                <a:spcPts val="600"/>
              </a:spcBef>
              <a:spcAft>
                <a:spcPts val="0"/>
              </a:spcAft>
              <a:buClr>
                <a:srgbClr val="3C3C3B"/>
              </a:buClr>
              <a:buSzPts val="1200"/>
              <a:buChar char="–"/>
            </a:pPr>
            <a:r>
              <a:rPr lang="en-GB" sz="1200">
                <a:solidFill>
                  <a:srgbClr val="3C3C3B"/>
                </a:solidFill>
              </a:rPr>
              <a:t>Tailor assortments to align product mix by location and channel?</a:t>
            </a:r>
            <a:endParaRPr/>
          </a:p>
          <a:p>
            <a:pPr indent="-228600" lvl="1" marL="457200" rtl="0" algn="l">
              <a:lnSpc>
                <a:spcPct val="100000"/>
              </a:lnSpc>
              <a:spcBef>
                <a:spcPts val="600"/>
              </a:spcBef>
              <a:spcAft>
                <a:spcPts val="0"/>
              </a:spcAft>
              <a:buClr>
                <a:srgbClr val="3C3C3B"/>
              </a:buClr>
              <a:buSzPts val="1200"/>
              <a:buChar char="–"/>
            </a:pPr>
            <a:r>
              <a:rPr lang="en-GB" sz="1200">
                <a:solidFill>
                  <a:srgbClr val="3C3C3B"/>
                </a:solidFill>
              </a:rPr>
              <a:t>Identify trends in-season and react in hours or minutes?</a:t>
            </a:r>
            <a:endParaRPr/>
          </a:p>
          <a:p>
            <a:pPr indent="-228600" lvl="1" marL="457200" rtl="0" algn="l">
              <a:lnSpc>
                <a:spcPct val="100000"/>
              </a:lnSpc>
              <a:spcBef>
                <a:spcPts val="600"/>
              </a:spcBef>
              <a:spcAft>
                <a:spcPts val="0"/>
              </a:spcAft>
              <a:buClr>
                <a:srgbClr val="3C3C3B"/>
              </a:buClr>
              <a:buSzPts val="1200"/>
              <a:buChar char="–"/>
            </a:pPr>
            <a:r>
              <a:rPr lang="en-GB" sz="1200">
                <a:solidFill>
                  <a:srgbClr val="3C3C3B"/>
                </a:solidFill>
              </a:rPr>
              <a:t>Set and adjust prices based on competition and predictive customer response models?</a:t>
            </a:r>
            <a:endParaRPr/>
          </a:p>
          <a:p>
            <a:pPr indent="-228600" lvl="1" marL="457200" rtl="0" algn="l">
              <a:lnSpc>
                <a:spcPct val="100000"/>
              </a:lnSpc>
              <a:spcBef>
                <a:spcPts val="600"/>
              </a:spcBef>
              <a:spcAft>
                <a:spcPts val="0"/>
              </a:spcAft>
              <a:buClr>
                <a:schemeClr val="dk1"/>
              </a:buClr>
              <a:buSzPts val="1200"/>
              <a:buChar char="–"/>
            </a:pPr>
            <a:r>
              <a:rPr lang="en-GB" sz="1200"/>
              <a:t>Optimize initial price, promotional and clearance markdowns to maximize sales and margin?</a:t>
            </a:r>
            <a:endParaRPr/>
          </a:p>
          <a:p>
            <a:pPr indent="-228600" lvl="1" marL="457200" rtl="0" algn="l">
              <a:lnSpc>
                <a:spcPct val="100000"/>
              </a:lnSpc>
              <a:spcBef>
                <a:spcPts val="600"/>
              </a:spcBef>
              <a:spcAft>
                <a:spcPts val="0"/>
              </a:spcAft>
              <a:buClr>
                <a:schemeClr val="dk1"/>
              </a:buClr>
              <a:buSzPts val="1200"/>
              <a:buChar char="–"/>
            </a:pPr>
            <a:r>
              <a:rPr lang="en-GB" sz="1200"/>
              <a:t>Allocate promotional space, based on customer responses and profitability?</a:t>
            </a:r>
            <a:endParaRPr/>
          </a:p>
          <a:p>
            <a:pPr indent="-228600" lvl="1" marL="457200" rtl="0" algn="l">
              <a:lnSpc>
                <a:spcPct val="100000"/>
              </a:lnSpc>
              <a:spcBef>
                <a:spcPts val="600"/>
              </a:spcBef>
              <a:spcAft>
                <a:spcPts val="0"/>
              </a:spcAft>
              <a:buClr>
                <a:schemeClr val="dk1"/>
              </a:buClr>
              <a:buSzPts val="1200"/>
              <a:buChar char="–"/>
            </a:pPr>
            <a:r>
              <a:rPr lang="en-GB" sz="1200"/>
              <a:t>Manage how assortment and promotional mix influences demand, increasing units sold and basket size?</a:t>
            </a:r>
            <a:endParaRPr/>
          </a:p>
          <a:p>
            <a:pPr indent="-228600" lvl="1" marL="457200" rtl="0" algn="l">
              <a:lnSpc>
                <a:spcPct val="100000"/>
              </a:lnSpc>
              <a:spcBef>
                <a:spcPts val="600"/>
              </a:spcBef>
              <a:spcAft>
                <a:spcPts val="0"/>
              </a:spcAft>
              <a:buClr>
                <a:schemeClr val="dk1"/>
              </a:buClr>
              <a:buSzPts val="1200"/>
              <a:buChar char="–"/>
            </a:pPr>
            <a:r>
              <a:rPr lang="en-GB" sz="1200"/>
              <a:t>Analyze a products’ overall profitability across all customers and channels?</a:t>
            </a:r>
            <a:endParaRPr/>
          </a:p>
          <a:p>
            <a:pPr indent="-152400" lvl="1" marL="457200" rtl="0" algn="l">
              <a:lnSpc>
                <a:spcPct val="100000"/>
              </a:lnSpc>
              <a:spcBef>
                <a:spcPts val="0"/>
              </a:spcBef>
              <a:spcAft>
                <a:spcPts val="0"/>
              </a:spcAft>
              <a:buClr>
                <a:schemeClr val="dk1"/>
              </a:buClr>
              <a:buSzPts val="1200"/>
              <a:buNone/>
            </a:pPr>
            <a:r>
              <a:t/>
            </a:r>
            <a:endParaRPr sz="1200"/>
          </a:p>
          <a:p>
            <a:pPr indent="-152400" lvl="1" marL="457200" rtl="0" algn="l">
              <a:lnSpc>
                <a:spcPct val="100000"/>
              </a:lnSpc>
              <a:spcBef>
                <a:spcPts val="0"/>
              </a:spcBef>
              <a:spcAft>
                <a:spcPts val="0"/>
              </a:spcAft>
              <a:buClr>
                <a:schemeClr val="dk1"/>
              </a:buClr>
              <a:buSzPts val="1200"/>
              <a:buNone/>
            </a:pPr>
            <a:r>
              <a:t/>
            </a:r>
            <a:endParaRPr sz="1200"/>
          </a:p>
          <a:p>
            <a:pPr indent="-152400" lvl="1" marL="457200" rtl="0" algn="l">
              <a:lnSpc>
                <a:spcPct val="100000"/>
              </a:lnSpc>
              <a:spcBef>
                <a:spcPts val="0"/>
              </a:spcBef>
              <a:spcAft>
                <a:spcPts val="0"/>
              </a:spcAft>
              <a:buClr>
                <a:schemeClr val="dk1"/>
              </a:buClr>
              <a:buSzPts val="1200"/>
              <a:buNone/>
            </a:pPr>
            <a:r>
              <a:t/>
            </a:r>
            <a:endParaRPr sz="1200"/>
          </a:p>
          <a:p>
            <a:pPr indent="-152400" lvl="1" marL="457200" rtl="0" algn="l">
              <a:lnSpc>
                <a:spcPct val="100000"/>
              </a:lnSpc>
              <a:spcBef>
                <a:spcPts val="0"/>
              </a:spcBef>
              <a:spcAft>
                <a:spcPts val="0"/>
              </a:spcAft>
              <a:buClr>
                <a:schemeClr val="dk1"/>
              </a:buClr>
              <a:buSzPts val="1200"/>
              <a:buNone/>
            </a:pPr>
            <a:r>
              <a:t/>
            </a:r>
            <a:endParaRPr sz="1200"/>
          </a:p>
          <a:p>
            <a:pPr indent="-152400" lvl="1" marL="457200" rtl="0" algn="l">
              <a:lnSpc>
                <a:spcPct val="100000"/>
              </a:lnSpc>
              <a:spcBef>
                <a:spcPts val="0"/>
              </a:spcBef>
              <a:spcAft>
                <a:spcPts val="0"/>
              </a:spcAft>
              <a:buClr>
                <a:schemeClr val="dk1"/>
              </a:buClr>
              <a:buSzPts val="1200"/>
              <a:buNone/>
            </a:pPr>
            <a:r>
              <a:t/>
            </a:r>
            <a:endParaRPr sz="1200"/>
          </a:p>
          <a:p>
            <a:pPr indent="-152400" lvl="1" marL="457200" rtl="0" algn="l">
              <a:lnSpc>
                <a:spcPct val="100000"/>
              </a:lnSpc>
              <a:spcBef>
                <a:spcPts val="0"/>
              </a:spcBef>
              <a:spcAft>
                <a:spcPts val="0"/>
              </a:spcAft>
              <a:buClr>
                <a:schemeClr val="dk1"/>
              </a:buClr>
              <a:buSzPts val="1200"/>
              <a:buNone/>
            </a:pPr>
            <a:r>
              <a:t/>
            </a:r>
            <a:endParaRPr sz="1200"/>
          </a:p>
          <a:p>
            <a:pPr indent="-152400" lvl="1" marL="457200" rtl="0" algn="l">
              <a:lnSpc>
                <a:spcPct val="100000"/>
              </a:lnSpc>
              <a:spcBef>
                <a:spcPts val="0"/>
              </a:spcBef>
              <a:spcAft>
                <a:spcPts val="0"/>
              </a:spcAft>
              <a:buClr>
                <a:schemeClr val="dk1"/>
              </a:buClr>
              <a:buSzPts val="1200"/>
              <a:buNone/>
            </a:pPr>
            <a:r>
              <a:t/>
            </a:r>
            <a:endParaRPr sz="1200"/>
          </a:p>
          <a:p>
            <a:pPr indent="-80963" lvl="0" marL="169863" rtl="0" algn="l">
              <a:lnSpc>
                <a:spcPct val="100000"/>
              </a:lnSpc>
              <a:spcBef>
                <a:spcPts val="0"/>
              </a:spcBef>
              <a:spcAft>
                <a:spcPts val="0"/>
              </a:spcAft>
              <a:buClr>
                <a:schemeClr val="dk1"/>
              </a:buClr>
              <a:buSzPts val="1400"/>
              <a:buNone/>
            </a:pPr>
            <a:r>
              <a:t/>
            </a:r>
            <a:endParaRPr sz="1400"/>
          </a:p>
        </p:txBody>
      </p:sp>
      <p:sp>
        <p:nvSpPr>
          <p:cNvPr id="6513" name="Google Shape;6513;p363"/>
          <p:cNvSpPr/>
          <p:nvPr/>
        </p:nvSpPr>
        <p:spPr>
          <a:xfrm>
            <a:off x="7772400" y="-368299"/>
            <a:ext cx="4616448"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1-L.jpg" id="6514" name="Google Shape;6514;p363"/>
          <p:cNvPicPr preferRelativeResize="0"/>
          <p:nvPr/>
        </p:nvPicPr>
        <p:blipFill rotWithShape="1">
          <a:blip r:embed="rId3">
            <a:alphaModFix/>
          </a:blip>
          <a:srcRect b="0" l="-8656" r="-8655" t="0"/>
          <a:stretch/>
        </p:blipFill>
        <p:spPr>
          <a:xfrm>
            <a:off x="5157644" y="1236102"/>
            <a:ext cx="3529155" cy="2005573"/>
          </a:xfrm>
          <a:prstGeom prst="rect">
            <a:avLst/>
          </a:prstGeom>
          <a:noFill/>
          <a:ln>
            <a:noFill/>
          </a:ln>
        </p:spPr>
      </p:pic>
      <p:sp>
        <p:nvSpPr>
          <p:cNvPr id="6515" name="Google Shape;6515;p363">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20" name="Shape 6520"/>
        <p:cNvGrpSpPr/>
        <p:nvPr/>
      </p:nvGrpSpPr>
      <p:grpSpPr>
        <a:xfrm>
          <a:off x="0" y="0"/>
          <a:ext cx="0" cy="0"/>
          <a:chOff x="0" y="0"/>
          <a:chExt cx="0" cy="0"/>
        </a:xfrm>
      </p:grpSpPr>
      <p:sp>
        <p:nvSpPr>
          <p:cNvPr id="6521" name="Google Shape;6521;p364"/>
          <p:cNvSpPr/>
          <p:nvPr/>
        </p:nvSpPr>
        <p:spPr>
          <a:xfrm>
            <a:off x="7772400" y="-368299"/>
            <a:ext cx="4616448"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22" name="Google Shape;6522;p364"/>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Challenges</a:t>
            </a:r>
            <a:endParaRPr/>
          </a:p>
        </p:txBody>
      </p:sp>
      <p:sp>
        <p:nvSpPr>
          <p:cNvPr id="6523" name="Google Shape;6523;p364"/>
          <p:cNvSpPr/>
          <p:nvPr/>
        </p:nvSpPr>
        <p:spPr>
          <a:xfrm>
            <a:off x="3747971" y="3956982"/>
            <a:ext cx="5061653" cy="741644"/>
          </a:xfrm>
          <a:prstGeom prst="rect">
            <a:avLst/>
          </a:prstGeom>
          <a:solidFill>
            <a:schemeClr val="lt2"/>
          </a:solidFill>
          <a:ln>
            <a:noFill/>
          </a:ln>
        </p:spPr>
        <p:txBody>
          <a:bodyPr anchorCtr="0" anchor="ctr" bIns="91425" lIns="25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As electronics merge with textiles, home goods and other manufactured products, new information about a product’s usage becomes available.  Privacy must be balanced with the opportunity to optimize the products life.  Sensors  and “fibertronic”  products can provide sources of data to connect and communicate with products for servicing purposes,.</a:t>
            </a:r>
            <a:endParaRPr sz="900">
              <a:solidFill>
                <a:schemeClr val="dk1"/>
              </a:solidFill>
              <a:latin typeface="Century Gothic"/>
              <a:ea typeface="Century Gothic"/>
              <a:cs typeface="Century Gothic"/>
              <a:sym typeface="Century Gothic"/>
            </a:endParaRPr>
          </a:p>
        </p:txBody>
      </p:sp>
      <p:sp>
        <p:nvSpPr>
          <p:cNvPr id="6524" name="Google Shape;6524;p364"/>
          <p:cNvSpPr/>
          <p:nvPr/>
        </p:nvSpPr>
        <p:spPr>
          <a:xfrm>
            <a:off x="3664672" y="3262757"/>
            <a:ext cx="5158834" cy="676957"/>
          </a:xfrm>
          <a:prstGeom prst="rect">
            <a:avLst/>
          </a:prstGeom>
          <a:solidFill>
            <a:schemeClr val="lt2"/>
          </a:solidFill>
          <a:ln>
            <a:noFill/>
          </a:ln>
        </p:spPr>
        <p:txBody>
          <a:bodyPr anchorCtr="0" anchor="ctr" bIns="91425" lIns="252000" spcFirstLastPara="1" rIns="91425" wrap="square" tIns="90000">
            <a:noAutofit/>
          </a:bodyPr>
          <a:lstStyle/>
          <a:p>
            <a:pPr indent="0" lvl="0" marL="0" marR="0" rtl="0" algn="l">
              <a:spcBef>
                <a:spcPts val="0"/>
              </a:spcBef>
              <a:spcAft>
                <a:spcPts val="0"/>
              </a:spcAft>
              <a:buNone/>
            </a:pPr>
            <a:r>
              <a:rPr lang="en-GB" sz="900">
                <a:solidFill>
                  <a:srgbClr val="3C3C3B"/>
                </a:solidFill>
                <a:latin typeface="Century Gothic"/>
                <a:ea typeface="Century Gothic"/>
                <a:cs typeface="Century Gothic"/>
                <a:sym typeface="Century Gothic"/>
              </a:rPr>
              <a:t>Savvy consumers use digital devices to improve price awareness. Companies react to competitive pressure by reducing prices  or through promotional activities. While this may drive volume, it dilutes margin and disrupts supply chains. Companies must strategically analyze pricing  decisions based on product lifecycle stage, elasticity, penetration  and role of each product in the line. </a:t>
            </a:r>
            <a:endParaRPr sz="900">
              <a:solidFill>
                <a:srgbClr val="3C3C3B"/>
              </a:solidFill>
              <a:latin typeface="Century Gothic"/>
              <a:ea typeface="Century Gothic"/>
              <a:cs typeface="Century Gothic"/>
              <a:sym typeface="Century Gothic"/>
            </a:endParaRPr>
          </a:p>
        </p:txBody>
      </p:sp>
      <p:sp>
        <p:nvSpPr>
          <p:cNvPr id="6525" name="Google Shape;6525;p364"/>
          <p:cNvSpPr/>
          <p:nvPr/>
        </p:nvSpPr>
        <p:spPr>
          <a:xfrm>
            <a:off x="546075" y="3921705"/>
            <a:ext cx="3361125"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6526" name="Google Shape;6526;p364"/>
          <p:cNvSpPr/>
          <p:nvPr/>
        </p:nvSpPr>
        <p:spPr>
          <a:xfrm>
            <a:off x="3651225" y="2545459"/>
            <a:ext cx="5158834" cy="676957"/>
          </a:xfrm>
          <a:prstGeom prst="rect">
            <a:avLst/>
          </a:prstGeom>
          <a:solidFill>
            <a:schemeClr val="lt2"/>
          </a:solidFill>
          <a:ln>
            <a:noFill/>
          </a:ln>
        </p:spPr>
        <p:txBody>
          <a:bodyPr anchorCtr="0" anchor="ctr" bIns="91425" lIns="25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Product lifecycles are becoming shorter which puts pressure on companies to refresh their assortment on a more frequent basis.  This makes the processes of  product development, product introduction and product clearance more critical.</a:t>
            </a:r>
            <a:endParaRPr sz="900">
              <a:solidFill>
                <a:schemeClr val="dk1"/>
              </a:solidFill>
              <a:latin typeface="Century Gothic"/>
              <a:ea typeface="Century Gothic"/>
              <a:cs typeface="Century Gothic"/>
              <a:sym typeface="Century Gothic"/>
            </a:endParaRPr>
          </a:p>
        </p:txBody>
      </p:sp>
      <p:sp>
        <p:nvSpPr>
          <p:cNvPr id="6527" name="Google Shape;6527;p364"/>
          <p:cNvSpPr/>
          <p:nvPr/>
        </p:nvSpPr>
        <p:spPr>
          <a:xfrm>
            <a:off x="546075" y="2542744"/>
            <a:ext cx="3361125"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6528" name="Google Shape;6528;p364"/>
          <p:cNvSpPr/>
          <p:nvPr/>
        </p:nvSpPr>
        <p:spPr>
          <a:xfrm>
            <a:off x="469875" y="2542744"/>
            <a:ext cx="3361125"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React to shorter product lifecycles</a:t>
            </a:r>
            <a:endParaRPr b="1" sz="1200">
              <a:solidFill>
                <a:srgbClr val="FFFFFF"/>
              </a:solidFill>
              <a:latin typeface="Century Gothic"/>
              <a:ea typeface="Century Gothic"/>
              <a:cs typeface="Century Gothic"/>
              <a:sym typeface="Century Gothic"/>
            </a:endParaRPr>
          </a:p>
        </p:txBody>
      </p:sp>
      <p:sp>
        <p:nvSpPr>
          <p:cNvPr id="6529" name="Google Shape;6529;p364"/>
          <p:cNvSpPr/>
          <p:nvPr/>
        </p:nvSpPr>
        <p:spPr>
          <a:xfrm>
            <a:off x="3688595" y="1742734"/>
            <a:ext cx="5121029" cy="786707"/>
          </a:xfrm>
          <a:prstGeom prst="rect">
            <a:avLst/>
          </a:prstGeom>
          <a:solidFill>
            <a:schemeClr val="lt2"/>
          </a:solidFill>
          <a:ln>
            <a:noFill/>
          </a:ln>
        </p:spPr>
        <p:txBody>
          <a:bodyPr anchorCtr="0" anchor="ctr" bIns="91425" lIns="252000" spcFirstLastPara="1" rIns="91425" wrap="square" tIns="90000">
            <a:noAutofit/>
          </a:bodyPr>
          <a:lstStyle/>
          <a:p>
            <a:pPr indent="0" lvl="0" marL="0" marR="0" rtl="0" algn="l">
              <a:spcBef>
                <a:spcPts val="0"/>
              </a:spcBef>
              <a:spcAft>
                <a:spcPts val="0"/>
              </a:spcAft>
              <a:buNone/>
            </a:pPr>
            <a:r>
              <a:rPr lang="en-GB" sz="900">
                <a:solidFill>
                  <a:srgbClr val="3C3C3B"/>
                </a:solidFill>
                <a:latin typeface="Century Gothic"/>
                <a:ea typeface="Century Gothic"/>
                <a:cs typeface="Century Gothic"/>
                <a:sym typeface="Century Gothic"/>
              </a:rPr>
              <a:t>Product Mgt. teams must implement the right assortment strategies to compete successfully.  Assortments are difficult to plan and manage  if channels are fluid or if data is siloed . New  product variants are emerging (such as product-as-a service and  IoT products) which require different management , data analysis and  processes.</a:t>
            </a:r>
            <a:endParaRPr sz="900">
              <a:solidFill>
                <a:srgbClr val="3C3C3B"/>
              </a:solidFill>
              <a:latin typeface="Century Gothic"/>
              <a:ea typeface="Century Gothic"/>
              <a:cs typeface="Century Gothic"/>
              <a:sym typeface="Century Gothic"/>
            </a:endParaRPr>
          </a:p>
        </p:txBody>
      </p:sp>
      <p:sp>
        <p:nvSpPr>
          <p:cNvPr id="6530" name="Google Shape;6530;p364"/>
          <p:cNvSpPr/>
          <p:nvPr/>
        </p:nvSpPr>
        <p:spPr>
          <a:xfrm>
            <a:off x="546074" y="1838488"/>
            <a:ext cx="3361125"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6531" name="Google Shape;6531;p364"/>
          <p:cNvSpPr/>
          <p:nvPr/>
        </p:nvSpPr>
        <p:spPr>
          <a:xfrm>
            <a:off x="469874" y="1838488"/>
            <a:ext cx="3361125"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Balance product assortments</a:t>
            </a:r>
            <a:endParaRPr b="1" sz="1200">
              <a:solidFill>
                <a:srgbClr val="FFFFFF"/>
              </a:solidFill>
              <a:latin typeface="Century Gothic"/>
              <a:ea typeface="Century Gothic"/>
              <a:cs typeface="Century Gothic"/>
              <a:sym typeface="Century Gothic"/>
            </a:endParaRPr>
          </a:p>
        </p:txBody>
      </p:sp>
      <p:sp>
        <p:nvSpPr>
          <p:cNvPr id="6532" name="Google Shape;6532;p364"/>
          <p:cNvSpPr txBox="1"/>
          <p:nvPr/>
        </p:nvSpPr>
        <p:spPr>
          <a:xfrm>
            <a:off x="3048000" y="167148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6533" name="Google Shape;6533;p364"/>
          <p:cNvSpPr/>
          <p:nvPr/>
        </p:nvSpPr>
        <p:spPr>
          <a:xfrm>
            <a:off x="469875" y="3941942"/>
            <a:ext cx="3361125" cy="744359"/>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Address evolving products</a:t>
            </a:r>
            <a:endParaRPr b="1" sz="1200">
              <a:solidFill>
                <a:srgbClr val="FFFFFF"/>
              </a:solidFill>
              <a:latin typeface="Century Gothic"/>
              <a:ea typeface="Century Gothic"/>
              <a:cs typeface="Century Gothic"/>
              <a:sym typeface="Century Gothic"/>
            </a:endParaRPr>
          </a:p>
        </p:txBody>
      </p:sp>
      <p:sp>
        <p:nvSpPr>
          <p:cNvPr id="6534" name="Google Shape;6534;p364"/>
          <p:cNvSpPr/>
          <p:nvPr/>
        </p:nvSpPr>
        <p:spPr>
          <a:xfrm>
            <a:off x="546075" y="3244830"/>
            <a:ext cx="3361125"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6535" name="Google Shape;6535;p364"/>
          <p:cNvSpPr/>
          <p:nvPr/>
        </p:nvSpPr>
        <p:spPr>
          <a:xfrm>
            <a:off x="469875" y="3244830"/>
            <a:ext cx="3361125"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Compete on price / promotion</a:t>
            </a:r>
            <a:endParaRPr b="1" sz="1200">
              <a:solidFill>
                <a:srgbClr val="FFFFFF"/>
              </a:solidFill>
              <a:latin typeface="Century Gothic"/>
              <a:ea typeface="Century Gothic"/>
              <a:cs typeface="Century Gothic"/>
              <a:sym typeface="Century Gothic"/>
            </a:endParaRPr>
          </a:p>
        </p:txBody>
      </p:sp>
      <p:sp>
        <p:nvSpPr>
          <p:cNvPr id="6536" name="Google Shape;6536;p364"/>
          <p:cNvSpPr/>
          <p:nvPr/>
        </p:nvSpPr>
        <p:spPr>
          <a:xfrm>
            <a:off x="454293" y="1003323"/>
            <a:ext cx="8393047" cy="793599"/>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 </a:t>
            </a:r>
            <a:r>
              <a:rPr lang="en-GB" sz="1200">
                <a:solidFill>
                  <a:schemeClr val="lt1"/>
                </a:solidFill>
                <a:latin typeface="Century Gothic"/>
                <a:ea typeface="Century Gothic"/>
                <a:cs typeface="Century Gothic"/>
                <a:sym typeface="Century Gothic"/>
              </a:rPr>
              <a:t>Companies must develop and manage products to align withCustomers demands and  market dynamics. Companies must also use price and promotion as key competitive weopons to maintain sales and margin, but may not have capabilities to optimise their impacts</a:t>
            </a:r>
            <a:endParaRPr sz="1400">
              <a:solidFill>
                <a:srgbClr val="FFFFFF"/>
              </a:solidFill>
              <a:latin typeface="Century Gothic"/>
              <a:ea typeface="Century Gothic"/>
              <a:cs typeface="Century Gothic"/>
              <a:sym typeface="Century Gothic"/>
            </a:endParaRPr>
          </a:p>
        </p:txBody>
      </p:sp>
      <p:sp>
        <p:nvSpPr>
          <p:cNvPr id="6537" name="Google Shape;6537;p364"/>
          <p:cNvSpPr txBox="1"/>
          <p:nvPr/>
        </p:nvSpPr>
        <p:spPr>
          <a:xfrm>
            <a:off x="4602443" y="-368299"/>
            <a:ext cx="88310" cy="735586"/>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4400">
              <a:solidFill>
                <a:srgbClr val="CF7513"/>
              </a:solidFill>
              <a:latin typeface="Century Gothic"/>
              <a:ea typeface="Century Gothic"/>
              <a:cs typeface="Century Gothic"/>
              <a:sym typeface="Century Gothic"/>
            </a:endParaRPr>
          </a:p>
        </p:txBody>
      </p:sp>
      <p:sp>
        <p:nvSpPr>
          <p:cNvPr id="6538" name="Google Shape;6538;p364">
            <a:hlinkClick action="ppaction://hlinksldjump" r:id="rId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42" name="Shape 6542"/>
        <p:cNvGrpSpPr/>
        <p:nvPr/>
      </p:nvGrpSpPr>
      <p:grpSpPr>
        <a:xfrm>
          <a:off x="0" y="0"/>
          <a:ext cx="0" cy="0"/>
          <a:chOff x="0" y="0"/>
          <a:chExt cx="0" cy="0"/>
        </a:xfrm>
      </p:grpSpPr>
      <p:sp>
        <p:nvSpPr>
          <p:cNvPr id="6543" name="Google Shape;6543;p365"/>
          <p:cNvSpPr/>
          <p:nvPr/>
        </p:nvSpPr>
        <p:spPr>
          <a:xfrm>
            <a:off x="7772400" y="-368299"/>
            <a:ext cx="4616448"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44" name="Google Shape;6544;p365"/>
          <p:cNvSpPr txBox="1"/>
          <p:nvPr>
            <p:ph type="title"/>
          </p:nvPr>
        </p:nvSpPr>
        <p:spPr>
          <a:xfrm>
            <a:off x="477879" y="-384527"/>
            <a:ext cx="6579691"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Value of Product Management</a:t>
            </a:r>
            <a:endParaRPr/>
          </a:p>
        </p:txBody>
      </p:sp>
      <p:sp>
        <p:nvSpPr>
          <p:cNvPr id="6545" name="Google Shape;6545;p365"/>
          <p:cNvSpPr/>
          <p:nvPr/>
        </p:nvSpPr>
        <p:spPr>
          <a:xfrm>
            <a:off x="2658933" y="2503816"/>
            <a:ext cx="5931682" cy="588653"/>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By understanding the impacts of promotional characteristics on different products and customers, companies can monitor and adjust price throughout the lifecycle of a product, leading to increased sales and margin</a:t>
            </a:r>
            <a:endParaRPr sz="1000">
              <a:solidFill>
                <a:schemeClr val="dk1"/>
              </a:solidFill>
              <a:latin typeface="Century Gothic"/>
              <a:ea typeface="Century Gothic"/>
              <a:cs typeface="Century Gothic"/>
              <a:sym typeface="Century Gothic"/>
            </a:endParaRPr>
          </a:p>
        </p:txBody>
      </p:sp>
      <p:sp>
        <p:nvSpPr>
          <p:cNvPr id="6546" name="Google Shape;6546;p365"/>
          <p:cNvSpPr/>
          <p:nvPr/>
        </p:nvSpPr>
        <p:spPr>
          <a:xfrm>
            <a:off x="473075" y="2508058"/>
            <a:ext cx="2427441" cy="585137"/>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Improve price and promotion performance</a:t>
            </a:r>
            <a:endParaRPr b="1" sz="1200">
              <a:solidFill>
                <a:schemeClr val="lt1"/>
              </a:solidFill>
              <a:latin typeface="Century Gothic"/>
              <a:ea typeface="Century Gothic"/>
              <a:cs typeface="Century Gothic"/>
              <a:sym typeface="Century Gothic"/>
            </a:endParaRPr>
          </a:p>
        </p:txBody>
      </p:sp>
      <p:sp>
        <p:nvSpPr>
          <p:cNvPr id="6547" name="Google Shape;6547;p365"/>
          <p:cNvSpPr/>
          <p:nvPr/>
        </p:nvSpPr>
        <p:spPr>
          <a:xfrm>
            <a:off x="2725034" y="1810511"/>
            <a:ext cx="5850000" cy="604455"/>
          </a:xfrm>
          <a:prstGeom prst="rect">
            <a:avLst/>
          </a:prstGeom>
          <a:solidFill>
            <a:srgbClr val="D8D8D8"/>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By leveraging data sources including social media, benchmarks, competitive insights,  and timely performance data, product launches can be adjusted to maximize growth, achieve predicted outcomes, and reduce risks</a:t>
            </a:r>
            <a:endParaRPr sz="1000">
              <a:solidFill>
                <a:schemeClr val="dk1"/>
              </a:solidFill>
              <a:latin typeface="Century Gothic"/>
              <a:ea typeface="Century Gothic"/>
              <a:cs typeface="Century Gothic"/>
              <a:sym typeface="Century Gothic"/>
            </a:endParaRPr>
          </a:p>
        </p:txBody>
      </p:sp>
      <p:sp>
        <p:nvSpPr>
          <p:cNvPr id="6548" name="Google Shape;6548;p365"/>
          <p:cNvSpPr/>
          <p:nvPr/>
        </p:nvSpPr>
        <p:spPr>
          <a:xfrm>
            <a:off x="2725034" y="3186586"/>
            <a:ext cx="5872819" cy="590484"/>
          </a:xfrm>
          <a:prstGeom prst="rect">
            <a:avLst/>
          </a:prstGeom>
          <a:solidFill>
            <a:schemeClr val="lt2"/>
          </a:solidFill>
          <a:ln>
            <a:noFill/>
          </a:ln>
        </p:spPr>
        <p:txBody>
          <a:bodyPr anchorCtr="0" anchor="ctr" bIns="91425" lIns="288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Through improved end of life analytics, companies can predict potential residual stocks and optimize exit strategies based on product ownership, which can  minimize waste and maximize margin</a:t>
            </a:r>
            <a:endParaRPr sz="1000">
              <a:solidFill>
                <a:schemeClr val="dk1"/>
              </a:solidFill>
              <a:latin typeface="Century Gothic"/>
              <a:ea typeface="Century Gothic"/>
              <a:cs typeface="Century Gothic"/>
              <a:sym typeface="Century Gothic"/>
            </a:endParaRPr>
          </a:p>
        </p:txBody>
      </p:sp>
      <p:sp>
        <p:nvSpPr>
          <p:cNvPr id="6549" name="Google Shape;6549;p365"/>
          <p:cNvSpPr/>
          <p:nvPr/>
        </p:nvSpPr>
        <p:spPr>
          <a:xfrm>
            <a:off x="469371" y="3177218"/>
            <a:ext cx="2427440" cy="597164"/>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Reduce markdowns and waste</a:t>
            </a:r>
            <a:endParaRPr b="1" sz="1200">
              <a:solidFill>
                <a:schemeClr val="lt1"/>
              </a:solidFill>
              <a:latin typeface="Century Gothic"/>
              <a:ea typeface="Century Gothic"/>
              <a:cs typeface="Century Gothic"/>
              <a:sym typeface="Century Gothic"/>
            </a:endParaRPr>
          </a:p>
        </p:txBody>
      </p:sp>
      <p:sp>
        <p:nvSpPr>
          <p:cNvPr id="6550" name="Google Shape;6550;p365"/>
          <p:cNvSpPr/>
          <p:nvPr/>
        </p:nvSpPr>
        <p:spPr>
          <a:xfrm>
            <a:off x="2725034" y="1148753"/>
            <a:ext cx="5865581" cy="585321"/>
          </a:xfrm>
          <a:prstGeom prst="rect">
            <a:avLst/>
          </a:prstGeom>
          <a:solidFill>
            <a:srgbClr val="D8D8D8"/>
          </a:solidFill>
          <a:ln>
            <a:noFill/>
          </a:ln>
        </p:spPr>
        <p:txBody>
          <a:bodyPr anchorCtr="0" anchor="ctr" bIns="91425" lIns="288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By mining data about product performance and usage, Product Managers can define and design new products with features that will achieve the most business value for their organization</a:t>
            </a:r>
            <a:endParaRPr sz="1000">
              <a:solidFill>
                <a:schemeClr val="dk1"/>
              </a:solidFill>
              <a:latin typeface="Century Gothic"/>
              <a:ea typeface="Century Gothic"/>
              <a:cs typeface="Century Gothic"/>
              <a:sym typeface="Century Gothic"/>
            </a:endParaRPr>
          </a:p>
        </p:txBody>
      </p:sp>
      <p:sp>
        <p:nvSpPr>
          <p:cNvPr id="6551" name="Google Shape;6551;p365"/>
          <p:cNvSpPr/>
          <p:nvPr/>
        </p:nvSpPr>
        <p:spPr>
          <a:xfrm>
            <a:off x="481013" y="1828406"/>
            <a:ext cx="2422146" cy="595629"/>
          </a:xfrm>
          <a:prstGeom prst="homePlate">
            <a:avLst>
              <a:gd fmla="val 23856" name="adj"/>
            </a:avLst>
          </a:prstGeom>
          <a:solidFill>
            <a:srgbClr val="EC881D"/>
          </a:solidFill>
          <a:ln>
            <a:noFill/>
          </a:ln>
        </p:spPr>
        <p:txBody>
          <a:bodyPr anchorCtr="0" anchor="ctr" bIns="91425" lIns="108000" spcFirstLastPara="1" rIns="1080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Launch new products</a:t>
            </a:r>
            <a:endParaRPr b="1" sz="1200">
              <a:solidFill>
                <a:schemeClr val="lt1"/>
              </a:solidFill>
              <a:latin typeface="Century Gothic"/>
              <a:ea typeface="Century Gothic"/>
              <a:cs typeface="Century Gothic"/>
              <a:sym typeface="Century Gothic"/>
            </a:endParaRPr>
          </a:p>
        </p:txBody>
      </p:sp>
      <p:sp>
        <p:nvSpPr>
          <p:cNvPr id="6552" name="Google Shape;6552;p365"/>
          <p:cNvSpPr/>
          <p:nvPr/>
        </p:nvSpPr>
        <p:spPr>
          <a:xfrm>
            <a:off x="2732272" y="3866650"/>
            <a:ext cx="5865581" cy="585321"/>
          </a:xfrm>
          <a:prstGeom prst="rect">
            <a:avLst/>
          </a:prstGeom>
          <a:solidFill>
            <a:srgbClr val="D8D8D8"/>
          </a:solidFill>
          <a:ln>
            <a:noFill/>
          </a:ln>
        </p:spPr>
        <p:txBody>
          <a:bodyPr anchorCtr="0" anchor="ctr" bIns="91425" lIns="288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By understanding product affinities and Customers basket composition, companies can adapt their assortment range and merchandising presentations to drive larger baskets and promote high-value shopping missions,  resulting in increased sales, margin and loyalty</a:t>
            </a:r>
            <a:endParaRPr sz="1000">
              <a:solidFill>
                <a:schemeClr val="dk1"/>
              </a:solidFill>
              <a:latin typeface="Century Gothic"/>
              <a:ea typeface="Century Gothic"/>
              <a:cs typeface="Century Gothic"/>
              <a:sym typeface="Century Gothic"/>
            </a:endParaRPr>
          </a:p>
        </p:txBody>
      </p:sp>
      <p:sp>
        <p:nvSpPr>
          <p:cNvPr id="6553" name="Google Shape;6553;p365"/>
          <p:cNvSpPr/>
          <p:nvPr/>
        </p:nvSpPr>
        <p:spPr>
          <a:xfrm>
            <a:off x="480660" y="3858406"/>
            <a:ext cx="2427441" cy="598698"/>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Maximize sales throughout a product’s life</a:t>
            </a:r>
            <a:endParaRPr b="1" sz="1200">
              <a:solidFill>
                <a:schemeClr val="lt1"/>
              </a:solidFill>
              <a:latin typeface="Century Gothic"/>
              <a:ea typeface="Century Gothic"/>
              <a:cs typeface="Century Gothic"/>
              <a:sym typeface="Century Gothic"/>
            </a:endParaRPr>
          </a:p>
        </p:txBody>
      </p:sp>
      <p:sp>
        <p:nvSpPr>
          <p:cNvPr id="6554" name="Google Shape;6554;p365"/>
          <p:cNvSpPr/>
          <p:nvPr/>
        </p:nvSpPr>
        <p:spPr>
          <a:xfrm>
            <a:off x="485955" y="1150469"/>
            <a:ext cx="2422146" cy="595629"/>
          </a:xfrm>
          <a:prstGeom prst="homePlate">
            <a:avLst>
              <a:gd fmla="val 23856" name="adj"/>
            </a:avLst>
          </a:prstGeom>
          <a:solidFill>
            <a:srgbClr val="EC881D"/>
          </a:solidFill>
          <a:ln>
            <a:noFill/>
          </a:ln>
        </p:spPr>
        <p:txBody>
          <a:bodyPr anchorCtr="0" anchor="ctr" bIns="91425" lIns="108000" spcFirstLastPara="1" rIns="1080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Improve success of new products</a:t>
            </a:r>
            <a:endParaRPr b="1" sz="1200">
              <a:solidFill>
                <a:schemeClr val="lt1"/>
              </a:solidFill>
              <a:latin typeface="Century Gothic"/>
              <a:ea typeface="Century Gothic"/>
              <a:cs typeface="Century Gothic"/>
              <a:sym typeface="Century Gothic"/>
            </a:endParaRPr>
          </a:p>
        </p:txBody>
      </p:sp>
      <p:sp>
        <p:nvSpPr>
          <p:cNvPr id="6555" name="Google Shape;6555;p365">
            <a:hlinkClick action="ppaction://hlinksldjump" r:id="rId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9" name="Shape 6559"/>
        <p:cNvGrpSpPr/>
        <p:nvPr/>
      </p:nvGrpSpPr>
      <p:grpSpPr>
        <a:xfrm>
          <a:off x="0" y="0"/>
          <a:ext cx="0" cy="0"/>
          <a:chOff x="0" y="0"/>
          <a:chExt cx="0" cy="0"/>
        </a:xfrm>
      </p:grpSpPr>
      <p:sp>
        <p:nvSpPr>
          <p:cNvPr id="6560" name="Google Shape;6560;p366"/>
          <p:cNvSpPr txBox="1"/>
          <p:nvPr>
            <p:ph idx="1" type="body"/>
          </p:nvPr>
        </p:nvSpPr>
        <p:spPr>
          <a:xfrm>
            <a:off x="0" y="2354656"/>
            <a:ext cx="9144000" cy="434221"/>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Functional Insights and Capabilities</a:t>
            </a:r>
            <a:endParaRPr/>
          </a:p>
        </p:txBody>
      </p:sp>
      <p:sp>
        <p:nvSpPr>
          <p:cNvPr id="6561" name="Google Shape;6561;p366"/>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75" name="Shape 6575"/>
        <p:cNvGrpSpPr/>
        <p:nvPr/>
      </p:nvGrpSpPr>
      <p:grpSpPr>
        <a:xfrm>
          <a:off x="0" y="0"/>
          <a:ext cx="0" cy="0"/>
          <a:chOff x="0" y="0"/>
          <a:chExt cx="0" cy="0"/>
        </a:xfrm>
      </p:grpSpPr>
      <p:sp>
        <p:nvSpPr>
          <p:cNvPr id="6576" name="Google Shape;6576;p368"/>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7" name="Google Shape;6577;p368"/>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b="1" lang="en-GB" sz="1400"/>
              <a:t>Research new product opportunities </a:t>
            </a:r>
            <a:r>
              <a:rPr lang="en-GB" sz="1400"/>
              <a:t>by incorporating external market research, trends and internal product usage data used in product design and packaging decisions</a:t>
            </a:r>
            <a:endParaRPr/>
          </a:p>
          <a:p>
            <a:pPr indent="-169863" lvl="0" marL="169863" rtl="0" algn="l">
              <a:lnSpc>
                <a:spcPct val="95000"/>
              </a:lnSpc>
              <a:spcBef>
                <a:spcPts val="600"/>
              </a:spcBef>
              <a:spcAft>
                <a:spcPts val="0"/>
              </a:spcAft>
              <a:buClr>
                <a:schemeClr val="dk1"/>
              </a:buClr>
              <a:buSzPts val="1400"/>
              <a:buChar char="•"/>
            </a:pPr>
            <a:r>
              <a:rPr b="1" lang="en-GB" sz="1400"/>
              <a:t>Conduct a business discovery </a:t>
            </a:r>
            <a:r>
              <a:rPr lang="en-GB" sz="1400"/>
              <a:t>to predict the impact of new products on overall business.  Includes a financial business case which considers forecasted uptake, investment, costs/ benefits, risk, resources, product fit,  and revenue potential</a:t>
            </a:r>
            <a:endParaRPr/>
          </a:p>
          <a:p>
            <a:pPr indent="-169863" lvl="0" marL="169863" rtl="0" algn="l">
              <a:lnSpc>
                <a:spcPct val="95000"/>
              </a:lnSpc>
              <a:spcBef>
                <a:spcPts val="600"/>
              </a:spcBef>
              <a:spcAft>
                <a:spcPts val="0"/>
              </a:spcAft>
              <a:buClr>
                <a:schemeClr val="dk1"/>
              </a:buClr>
              <a:buSzPts val="1400"/>
              <a:buChar char="•"/>
            </a:pPr>
            <a:r>
              <a:rPr b="1" lang="en-GB" sz="1400"/>
              <a:t>Develop product prototypes  </a:t>
            </a:r>
            <a:r>
              <a:rPr lang="en-GB" sz="1400"/>
              <a:t>which are used to test and evaluate decisions on new  or alternative product specifications and features</a:t>
            </a:r>
            <a:endParaRPr/>
          </a:p>
          <a:p>
            <a:pPr indent="-169863" lvl="0" marL="169863" rtl="0" algn="l">
              <a:lnSpc>
                <a:spcPct val="95000"/>
              </a:lnSpc>
              <a:spcBef>
                <a:spcPts val="600"/>
              </a:spcBef>
              <a:spcAft>
                <a:spcPts val="0"/>
              </a:spcAft>
              <a:buClr>
                <a:schemeClr val="dk1"/>
              </a:buClr>
              <a:buSzPts val="1400"/>
              <a:buChar char="•"/>
            </a:pPr>
            <a:r>
              <a:rPr b="1" lang="en-GB" sz="1400"/>
              <a:t>Source products and develop contracts – </a:t>
            </a:r>
            <a:r>
              <a:rPr lang="en-GB" sz="1400"/>
              <a:t>engage resources to produce products which meet design specifications  and fulfilll  contract terms   </a:t>
            </a:r>
            <a:endParaRPr sz="1400"/>
          </a:p>
        </p:txBody>
      </p:sp>
      <p:sp>
        <p:nvSpPr>
          <p:cNvPr id="6578" name="Google Shape;6578;p368"/>
          <p:cNvSpPr txBox="1"/>
          <p:nvPr>
            <p:ph type="title"/>
          </p:nvPr>
        </p:nvSpPr>
        <p:spPr>
          <a:xfrm>
            <a:off x="468355" y="239424"/>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br>
              <a:rPr lang="en-GB"/>
            </a:br>
            <a:endParaRPr/>
          </a:p>
        </p:txBody>
      </p:sp>
      <p:pic>
        <p:nvPicPr>
          <p:cNvPr descr="BIZ-1040-L.jpg" id="6579" name="Google Shape;6579;p368"/>
          <p:cNvPicPr preferRelativeResize="0"/>
          <p:nvPr/>
        </p:nvPicPr>
        <p:blipFill rotWithShape="1">
          <a:blip r:embed="rId3">
            <a:alphaModFix/>
          </a:blip>
          <a:srcRect b="0" l="-8656" r="-8655" t="0"/>
          <a:stretch/>
        </p:blipFill>
        <p:spPr>
          <a:xfrm>
            <a:off x="5218025" y="1212850"/>
            <a:ext cx="4267200" cy="2396066"/>
          </a:xfrm>
          <a:prstGeom prst="rect">
            <a:avLst/>
          </a:prstGeom>
          <a:noFill/>
          <a:ln>
            <a:noFill/>
          </a:ln>
        </p:spPr>
      </p:pic>
      <p:sp>
        <p:nvSpPr>
          <p:cNvPr id="6580" name="Google Shape;6580;p368">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03" name="Shape 6603"/>
        <p:cNvGrpSpPr/>
        <p:nvPr/>
      </p:nvGrpSpPr>
      <p:grpSpPr>
        <a:xfrm>
          <a:off x="0" y="0"/>
          <a:ext cx="0" cy="0"/>
          <a:chOff x="0" y="0"/>
          <a:chExt cx="0" cy="0"/>
        </a:xfrm>
      </p:grpSpPr>
      <p:graphicFrame>
        <p:nvGraphicFramePr>
          <p:cNvPr id="6604" name="Google Shape;6604;p37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The entire organization is focused on continuous process improvement characterized by an agile new product development methodology. Able to predict emerging trends and gain first mover advantage. Advanced predictive analytics incorporated into methodology.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371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Established metrics for product development processes. The development process is predictable because the process is measured and operates within measurable limits. Utilize analytic techniques, such as sentiment analysis, to better understand customer needs and expectations systematically using customer and usage data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97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 standard process for developing new products is documented. This process can be characterized as including inputs, standards and procedures for performing the work, metrics for verification, and other standard outputs. Emerging use of analytic techniques, such as sentiment analysis, to better understand customer needs and expectations with the use of customer and usage data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Understanding of the need to efficiently manage the product development lifecycle and the limitation of being reactive to declining product revenue. Utilize surveys and focus groups to understand market direction and identify product categories. Most new product introductions are limited to evolutionary changes.</a:t>
                      </a:r>
                      <a:endParaRPr b="0" sz="8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Little to no investment in researching new product ideas. Decisions made based on past experience and/or personal preferences. Generally repeat what worked last year and plan inventory based on last year’s product usage and sales statistics plus expected growth. Performance depends on the capabilities of individuals or teams and varies with their innate skills, knowledge, and motivations.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6605" name="Google Shape;6605;p370"/>
          <p:cNvGrpSpPr/>
          <p:nvPr/>
        </p:nvGrpSpPr>
        <p:grpSpPr>
          <a:xfrm>
            <a:off x="469900" y="3819680"/>
            <a:ext cx="8455025" cy="732866"/>
            <a:chOff x="211138" y="3972860"/>
            <a:chExt cx="8713787" cy="642437"/>
          </a:xfrm>
        </p:grpSpPr>
        <p:sp>
          <p:nvSpPr>
            <p:cNvPr id="6606" name="Google Shape;6606;p37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607" name="Google Shape;6607;p37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6608" name="Google Shape;6608;p370"/>
          <p:cNvGrpSpPr/>
          <p:nvPr/>
        </p:nvGrpSpPr>
        <p:grpSpPr>
          <a:xfrm>
            <a:off x="7971865" y="980278"/>
            <a:ext cx="949325" cy="2867825"/>
            <a:chOff x="7941888" y="1062037"/>
            <a:chExt cx="983037" cy="2695575"/>
          </a:xfrm>
        </p:grpSpPr>
        <p:sp>
          <p:nvSpPr>
            <p:cNvPr id="6609" name="Google Shape;6609;p37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610" name="Google Shape;6610;p37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6611" name="Google Shape;6611;p370"/>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sp>
        <p:nvSpPr>
          <p:cNvPr id="6612" name="Google Shape;6612;p370">
            <a:hlinkClick action="ppaction://hlinksldjump" r:id="rId3"/>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35" name="Shape 6635"/>
        <p:cNvGrpSpPr/>
        <p:nvPr/>
      </p:nvGrpSpPr>
      <p:grpSpPr>
        <a:xfrm>
          <a:off x="0" y="0"/>
          <a:ext cx="0" cy="0"/>
          <a:chOff x="0" y="0"/>
          <a:chExt cx="0" cy="0"/>
        </a:xfrm>
      </p:grpSpPr>
      <p:graphicFrame>
        <p:nvGraphicFramePr>
          <p:cNvPr id="6636" name="Google Shape;6636;p372"/>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Proactive communication with targeted customers who are predicted to influence product uptake both from a sales and customer experience perspective.  As an example this can in a Telco be achieved by SNA (Social Network Analysis) in combination with other analytical techniques.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Resource planning based on additional insight of product launch impact on total product portfolio. Product affinity analysis can be added to support this.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Internal resource readiness planned based on expected product uptake, where cannibalisation analysis is added, as well as expected product related customer experience. This is obtained by things like text and sentiment analysis from digital channels, either from historical similar product launches or from current pre-announcements.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Increased readiness of internal resources based on forecasted sales volumes. Expected product uptake based on historical patterns of relevant and similar products as well as market trends, and competitive analysis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change or adaptation of internal resources. Sales volumes are anticipated by simply extrapolating trends based on previous launches.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6637" name="Google Shape;6637;p372"/>
          <p:cNvGrpSpPr/>
          <p:nvPr/>
        </p:nvGrpSpPr>
        <p:grpSpPr>
          <a:xfrm>
            <a:off x="469900" y="3830313"/>
            <a:ext cx="8455025" cy="732866"/>
            <a:chOff x="211138" y="3972860"/>
            <a:chExt cx="8713787" cy="642437"/>
          </a:xfrm>
        </p:grpSpPr>
        <p:sp>
          <p:nvSpPr>
            <p:cNvPr id="6638" name="Google Shape;6638;p37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639" name="Google Shape;6639;p37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6640" name="Google Shape;6640;p372"/>
          <p:cNvGrpSpPr/>
          <p:nvPr/>
        </p:nvGrpSpPr>
        <p:grpSpPr>
          <a:xfrm>
            <a:off x="7971865" y="980278"/>
            <a:ext cx="949325" cy="2867825"/>
            <a:chOff x="7941888" y="1062037"/>
            <a:chExt cx="983037" cy="2695575"/>
          </a:xfrm>
        </p:grpSpPr>
        <p:sp>
          <p:nvSpPr>
            <p:cNvPr id="6641" name="Google Shape;6641;p37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642" name="Google Shape;6642;p37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6643" name="Google Shape;6643;p372"/>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sp>
        <p:nvSpPr>
          <p:cNvPr id="6644" name="Google Shape;6644;p372">
            <a:hlinkClick action="ppaction://hlinksldjump" r:id="rId3"/>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7" name="Shape 6667"/>
        <p:cNvGrpSpPr/>
        <p:nvPr/>
      </p:nvGrpSpPr>
      <p:grpSpPr>
        <a:xfrm>
          <a:off x="0" y="0"/>
          <a:ext cx="0" cy="0"/>
          <a:chOff x="0" y="0"/>
          <a:chExt cx="0" cy="0"/>
        </a:xfrm>
      </p:grpSpPr>
      <p:graphicFrame>
        <p:nvGraphicFramePr>
          <p:cNvPr id="6668" name="Google Shape;6668;p37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793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For telecommunications companies to remain relevant, they will need to create compelling content offerings which integrate and evolve traditional home solutions and wireless innovation.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Traditional wireless and wire line data, including viewership data, can be integrated in one platform and analyzed to yield insight into segmentation of customers and products. Continued advanced analytics of online / app viewership data can enable telecommunication companies to make superior content delivery offerings with compelling packages.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Storing content viewership data with wireless / wire line data in one discovery platform and/or data schema enables rapid deployment of analytics. Additionally, incorporating multichannel and other customer behavioral data will provide an advanced data repository which can accommodate multi-structured data and support multi-genre analytics. Single platform for integrated data enables repeatable analytics.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Developing new multi-genre analytics and open source analytics  leveraging the discovery platform of  several wireless and wire line products,  content viewership data, multichannel data and other customer behavioral data..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Operationalizing new multi-genre and open source analytics  leveraging the discovery platform of  several wireless and wire line products,  content viewership data, multichannel  data and other customer behavioral data. This is considered to be emerging analytics that all telecommunications companies want to execute and Teradata is best suited to help deliver this success.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6669" name="Google Shape;6669;p374"/>
          <p:cNvGrpSpPr/>
          <p:nvPr/>
        </p:nvGrpSpPr>
        <p:grpSpPr>
          <a:xfrm>
            <a:off x="469900" y="3819680"/>
            <a:ext cx="8455025" cy="732866"/>
            <a:chOff x="211138" y="3972860"/>
            <a:chExt cx="8713787" cy="642437"/>
          </a:xfrm>
        </p:grpSpPr>
        <p:sp>
          <p:nvSpPr>
            <p:cNvPr id="6670" name="Google Shape;6670;p37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671" name="Google Shape;6671;p37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6672" name="Google Shape;6672;p374"/>
          <p:cNvGrpSpPr/>
          <p:nvPr/>
        </p:nvGrpSpPr>
        <p:grpSpPr>
          <a:xfrm>
            <a:off x="7971865" y="980278"/>
            <a:ext cx="949325" cy="2867825"/>
            <a:chOff x="7941888" y="1062037"/>
            <a:chExt cx="983037" cy="2695575"/>
          </a:xfrm>
        </p:grpSpPr>
        <p:sp>
          <p:nvSpPr>
            <p:cNvPr id="6673" name="Google Shape;6673;p37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674" name="Google Shape;6674;p37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6675" name="Google Shape;6675;p374"/>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a:t>
            </a:r>
            <a:endParaRPr/>
          </a:p>
        </p:txBody>
      </p:sp>
      <p:sp>
        <p:nvSpPr>
          <p:cNvPr id="6676" name="Google Shape;6676;p374">
            <a:hlinkClick action="ppaction://hlinksldjump" r:id="rId3"/>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1" name="Shape 6691"/>
        <p:cNvGrpSpPr/>
        <p:nvPr/>
      </p:nvGrpSpPr>
      <p:grpSpPr>
        <a:xfrm>
          <a:off x="0" y="0"/>
          <a:ext cx="0" cy="0"/>
          <a:chOff x="0" y="0"/>
          <a:chExt cx="0" cy="0"/>
        </a:xfrm>
      </p:grpSpPr>
      <p:sp>
        <p:nvSpPr>
          <p:cNvPr id="6692" name="Google Shape;6692;p376"/>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3" name="Google Shape;6693;p376"/>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b="1" lang="en-GB" sz="1400"/>
              <a:t>Plan Product investments </a:t>
            </a:r>
            <a:r>
              <a:rPr lang="en-GB" sz="1400"/>
              <a:t>to support go to Market Strategy</a:t>
            </a:r>
            <a:endParaRPr/>
          </a:p>
          <a:p>
            <a:pPr indent="-230187" lvl="1" marL="515938" rtl="0" algn="l">
              <a:lnSpc>
                <a:spcPct val="100000"/>
              </a:lnSpc>
              <a:spcBef>
                <a:spcPts val="200"/>
              </a:spcBef>
              <a:spcAft>
                <a:spcPts val="0"/>
              </a:spcAft>
              <a:buClr>
                <a:schemeClr val="dk1"/>
              </a:buClr>
              <a:buSzPts val="1200"/>
              <a:buChar char="–"/>
            </a:pPr>
            <a:r>
              <a:rPr lang="en-GB" sz="1200"/>
              <a:t>Predict top-down sales volumes split into category, geography and channel to drive initial investments </a:t>
            </a:r>
            <a:endParaRPr/>
          </a:p>
          <a:p>
            <a:pPr indent="-230187" lvl="1" marL="515938" rtl="0" algn="l">
              <a:lnSpc>
                <a:spcPct val="100000"/>
              </a:lnSpc>
              <a:spcBef>
                <a:spcPts val="200"/>
              </a:spcBef>
              <a:spcAft>
                <a:spcPts val="0"/>
              </a:spcAft>
              <a:buClr>
                <a:schemeClr val="dk1"/>
              </a:buClr>
              <a:buSzPts val="1200"/>
              <a:buChar char="–"/>
            </a:pPr>
            <a:r>
              <a:rPr lang="en-GB" sz="1200"/>
              <a:t>Use pricing analytics in order to set, adjust and ensure competitive product pricing and portfolio fit</a:t>
            </a:r>
            <a:endParaRPr/>
          </a:p>
          <a:p>
            <a:pPr indent="-80963" lvl="0" marL="169863" rtl="0" algn="l">
              <a:lnSpc>
                <a:spcPct val="95000"/>
              </a:lnSpc>
              <a:spcBef>
                <a:spcPts val="600"/>
              </a:spcBef>
              <a:spcAft>
                <a:spcPts val="0"/>
              </a:spcAft>
              <a:buClr>
                <a:schemeClr val="dk1"/>
              </a:buClr>
              <a:buSzPts val="1400"/>
              <a:buNone/>
            </a:pPr>
            <a:r>
              <a:t/>
            </a:r>
            <a:endParaRPr b="1" sz="1400"/>
          </a:p>
          <a:p>
            <a:pPr indent="-169863" lvl="0" marL="169863" rtl="0" algn="l">
              <a:lnSpc>
                <a:spcPct val="95000"/>
              </a:lnSpc>
              <a:spcBef>
                <a:spcPts val="600"/>
              </a:spcBef>
              <a:spcAft>
                <a:spcPts val="0"/>
              </a:spcAft>
              <a:buClr>
                <a:schemeClr val="dk1"/>
              </a:buClr>
              <a:buSzPts val="1400"/>
              <a:buChar char="•"/>
            </a:pPr>
            <a:r>
              <a:rPr b="1" lang="en-GB" sz="1400"/>
              <a:t>Improve Product Onboarding</a:t>
            </a:r>
            <a:endParaRPr/>
          </a:p>
          <a:p>
            <a:pPr indent="-230187" lvl="1" marL="515938" rtl="0" algn="l">
              <a:lnSpc>
                <a:spcPct val="100000"/>
              </a:lnSpc>
              <a:spcBef>
                <a:spcPts val="200"/>
              </a:spcBef>
              <a:spcAft>
                <a:spcPts val="0"/>
              </a:spcAft>
              <a:buClr>
                <a:schemeClr val="dk1"/>
              </a:buClr>
              <a:buSzPts val="1200"/>
              <a:buChar char="–"/>
            </a:pPr>
            <a:r>
              <a:rPr lang="en-GB" sz="1200"/>
              <a:t>Estimate impact on organization and staffing based on analysis of relevant historical product introductions:</a:t>
            </a:r>
            <a:endParaRPr/>
          </a:p>
          <a:p>
            <a:pPr indent="-171450" lvl="2" marL="687388" rtl="0" algn="l">
              <a:lnSpc>
                <a:spcPct val="100000"/>
              </a:lnSpc>
              <a:spcBef>
                <a:spcPts val="200"/>
              </a:spcBef>
              <a:spcAft>
                <a:spcPts val="0"/>
              </a:spcAft>
              <a:buClr>
                <a:schemeClr val="dk1"/>
              </a:buClr>
              <a:buSzPts val="1100"/>
              <a:buFont typeface="Noto Sans Symbols"/>
              <a:buChar char="▪"/>
            </a:pPr>
            <a:r>
              <a:rPr lang="en-GB" sz="1100"/>
              <a:t>Customer sentiment towards products with similar attributes</a:t>
            </a:r>
            <a:endParaRPr/>
          </a:p>
          <a:p>
            <a:pPr indent="-171450" lvl="2" marL="687388" rtl="0" algn="l">
              <a:lnSpc>
                <a:spcPct val="100000"/>
              </a:lnSpc>
              <a:spcBef>
                <a:spcPts val="200"/>
              </a:spcBef>
              <a:spcAft>
                <a:spcPts val="0"/>
              </a:spcAft>
              <a:buClr>
                <a:schemeClr val="dk1"/>
              </a:buClr>
              <a:buSzPts val="1100"/>
              <a:buFont typeface="Noto Sans Symbols"/>
              <a:buChar char="▪"/>
            </a:pPr>
            <a:r>
              <a:rPr lang="en-GB" sz="1100"/>
              <a:t>Customer sentiment in relation to pre-announcements</a:t>
            </a:r>
            <a:endParaRPr/>
          </a:p>
          <a:p>
            <a:pPr indent="-171450" lvl="2" marL="687388" rtl="0" algn="l">
              <a:lnSpc>
                <a:spcPct val="100000"/>
              </a:lnSpc>
              <a:spcBef>
                <a:spcPts val="200"/>
              </a:spcBef>
              <a:spcAft>
                <a:spcPts val="0"/>
              </a:spcAft>
              <a:buClr>
                <a:schemeClr val="dk1"/>
              </a:buClr>
              <a:buSzPts val="1100"/>
              <a:buFont typeface="Noto Sans Symbols"/>
              <a:buChar char="▪"/>
            </a:pPr>
            <a:r>
              <a:rPr lang="en-GB" sz="1100"/>
              <a:t>Influential relationships between customers and prospects</a:t>
            </a:r>
            <a:endParaRPr/>
          </a:p>
          <a:p>
            <a:pPr indent="-230187" lvl="1" marL="515938" rtl="0" algn="l">
              <a:lnSpc>
                <a:spcPct val="100000"/>
              </a:lnSpc>
              <a:spcBef>
                <a:spcPts val="600"/>
              </a:spcBef>
              <a:spcAft>
                <a:spcPts val="0"/>
              </a:spcAft>
              <a:buClr>
                <a:schemeClr val="dk1"/>
              </a:buClr>
              <a:buSzPts val="1200"/>
              <a:buChar char="–"/>
            </a:pPr>
            <a:r>
              <a:rPr lang="en-GB" sz="1200"/>
              <a:t>Establish commission schemes and commercial model based on predictions about how the product will be received and demanded by the market</a:t>
            </a:r>
            <a:endParaRPr sz="1200"/>
          </a:p>
        </p:txBody>
      </p:sp>
      <p:sp>
        <p:nvSpPr>
          <p:cNvPr id="6694" name="Google Shape;6694;p376"/>
          <p:cNvSpPr txBox="1"/>
          <p:nvPr>
            <p:ph type="title"/>
          </p:nvPr>
        </p:nvSpPr>
        <p:spPr>
          <a:xfrm>
            <a:off x="477880" y="23523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br>
              <a:rPr lang="en-GB"/>
            </a:br>
            <a:endParaRPr/>
          </a:p>
        </p:txBody>
      </p:sp>
      <p:pic>
        <p:nvPicPr>
          <p:cNvPr id="6695" name="Google Shape;6695;p376"/>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696" name="Google Shape;6696;p376">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22" name="Shape 6722"/>
        <p:cNvGrpSpPr/>
        <p:nvPr/>
      </p:nvGrpSpPr>
      <p:grpSpPr>
        <a:xfrm>
          <a:off x="0" y="0"/>
          <a:ext cx="0" cy="0"/>
          <a:chOff x="0" y="0"/>
          <a:chExt cx="0" cy="0"/>
        </a:xfrm>
      </p:grpSpPr>
      <p:graphicFrame>
        <p:nvGraphicFramePr>
          <p:cNvPr id="6723" name="Google Shape;6723;p37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72975">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765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just">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Full automation of all workflow driven processes from campaign design to final approvals. Full organizational alignment and integration across channels, functions and business units. Detailed SLAs for fulfillment coupled with transformed culture of collaboration. End to end product management and complete supply chain visibility. “What if” analytics well entrenched.  Unified pricing, campaign and Product suite modeling. Consider near real time competitor product proposition and pricing analytics. Incorporate customer segment definitions into assortment (range) planning process to support customer-centric merchandising across all channels. Track performance of product campaigns in near real time.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951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just">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Automation of cross-function approvals. Extensive cooperation, with integration between most functions. SLAs in place for fulfillment and delivery. average demand forecasting practices and tools for multiple product/ service suite. “Buy from anywhere, fulfill from  anywhere” capability enabled.  Automated fulfillment  via  parameters and rules. Full automation of new product introduction and history. Product suite optimized for key customer segments. Rationalization of vendors and product suite based on margin and profitability. analyze product/service continuum gaps. Integrate campaign planning, marketing and inventory planning. Robust calculation of campaign ROI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97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just">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Cross-function flows still manual but using electronic means. Close alignment among channels and functions, with high level cross-functional cooperation, but on a project-by-project basis. Enterprise inventory visibility enabled. Seasonal forecasting practiced. Automated adjustment of product and location service levels based on product lifecycle stage. Assign products to branch clusters using profile-based attributes such as demographics/ lifestyle, financial profile and perception. Product/ service continuum planning to enable improved take-up rates. Competitor product suite  and pricing tracked. Leverage elasticity models for product campaign and promo inventory management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293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just">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Improved cross-functional communications during planning process. Basic alignment of some functions and channels. Leverage predictive forecasting practices/ tools  for basic items. New product forecast done via manual historical tracking of similar products/ services. Actual versus Plan reporting to manage performance and adjust future plans. Financial plans and drivers are reconciled to ensure direction and strategy.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just">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Basic forecasting and allocation practices. No enterprise view of inventory ownership. Go-to-market processes and cycle for each functional unit is lengthy, manual and non-aligned. Siloed processes in place but no cross-function or business cooperation. Promotional inventory based on historical trends. Little variability in assortments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690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326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326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326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6724" name="Google Shape;6724;p378"/>
          <p:cNvGrpSpPr/>
          <p:nvPr/>
        </p:nvGrpSpPr>
        <p:grpSpPr>
          <a:xfrm>
            <a:off x="7971865" y="980278"/>
            <a:ext cx="949325" cy="3024885"/>
            <a:chOff x="7941888" y="1062037"/>
            <a:chExt cx="983037" cy="2695575"/>
          </a:xfrm>
        </p:grpSpPr>
        <p:sp>
          <p:nvSpPr>
            <p:cNvPr id="6725" name="Google Shape;6725;p37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rgbClr val="3C3C3B"/>
                </a:solidFill>
                <a:latin typeface="Century Gothic"/>
                <a:ea typeface="Century Gothic"/>
                <a:cs typeface="Century Gothic"/>
                <a:sym typeface="Century Gothic"/>
              </a:endParaRPr>
            </a:p>
          </p:txBody>
        </p:sp>
        <p:sp>
          <p:nvSpPr>
            <p:cNvPr id="6726" name="Google Shape;6726;p37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3C3C3B"/>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rgbClr val="3C3C3B"/>
                  </a:solidFill>
                  <a:latin typeface="Century Gothic"/>
                  <a:ea typeface="Century Gothic"/>
                  <a:cs typeface="Century Gothic"/>
                  <a:sym typeface="Century Gothic"/>
                </a:rPr>
                <a:t>Engagements</a:t>
              </a:r>
              <a:endParaRPr/>
            </a:p>
          </p:txBody>
        </p:sp>
      </p:grpSp>
      <p:sp>
        <p:nvSpPr>
          <p:cNvPr id="6727" name="Google Shape;6727;p378"/>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sp>
        <p:nvSpPr>
          <p:cNvPr id="6728" name="Google Shape;6728;p378">
            <a:hlinkClick action="ppaction://hlinksldjump" r:id="rId3"/>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29" name="Google Shape;6729;p378"/>
          <p:cNvGrpSpPr/>
          <p:nvPr/>
        </p:nvGrpSpPr>
        <p:grpSpPr>
          <a:xfrm>
            <a:off x="469900" y="3994338"/>
            <a:ext cx="8455025" cy="732866"/>
            <a:chOff x="211138" y="3972860"/>
            <a:chExt cx="8713787" cy="642437"/>
          </a:xfrm>
        </p:grpSpPr>
        <p:sp>
          <p:nvSpPr>
            <p:cNvPr id="6730" name="Google Shape;6730;p37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731" name="Google Shape;6731;p37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54" name="Shape 6754"/>
        <p:cNvGrpSpPr/>
        <p:nvPr/>
      </p:nvGrpSpPr>
      <p:grpSpPr>
        <a:xfrm>
          <a:off x="0" y="0"/>
          <a:ext cx="0" cy="0"/>
          <a:chOff x="0" y="0"/>
          <a:chExt cx="0" cy="0"/>
        </a:xfrm>
      </p:grpSpPr>
      <p:graphicFrame>
        <p:nvGraphicFramePr>
          <p:cNvPr id="6755" name="Google Shape;6755;p38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 advance of a product launch, predicting the impact on the customer and the business. This includes external  feedback (including social input) to identify and react to product launch issues.  Also developed a continuous feedback loop to improve product specifications and launch processes for future enhancements.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Proactively conducting basic analysis on customer and infrastructure impact based on results from similarly launched items.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Reactive cross channel analysis, including impact of cannibalization.  Beginning to conduct basic analysis on customer impact.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Beginning to monitor cross channel implications and impact on other products. Considers market impact and customer satisfaction. Reactive response to infrastructure issues (e.g. call center, supply chain and operations) are modeled and shared functionally.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Product centric approach to product launch.  New products are measured based on the single objective of unit sales.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6756" name="Google Shape;6756;p380"/>
          <p:cNvGrpSpPr/>
          <p:nvPr/>
        </p:nvGrpSpPr>
        <p:grpSpPr>
          <a:xfrm>
            <a:off x="469900" y="3819680"/>
            <a:ext cx="8455025" cy="732866"/>
            <a:chOff x="211138" y="3972860"/>
            <a:chExt cx="8713787" cy="642437"/>
          </a:xfrm>
        </p:grpSpPr>
        <p:sp>
          <p:nvSpPr>
            <p:cNvPr id="6757" name="Google Shape;6757;p38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758" name="Google Shape;6758;p38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6759" name="Google Shape;6759;p380"/>
          <p:cNvGrpSpPr/>
          <p:nvPr/>
        </p:nvGrpSpPr>
        <p:grpSpPr>
          <a:xfrm>
            <a:off x="7971865" y="980278"/>
            <a:ext cx="949325" cy="2867825"/>
            <a:chOff x="7941888" y="1062037"/>
            <a:chExt cx="983037" cy="2695575"/>
          </a:xfrm>
        </p:grpSpPr>
        <p:sp>
          <p:nvSpPr>
            <p:cNvPr id="6760" name="Google Shape;6760;p38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761" name="Google Shape;6761;p38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6762" name="Google Shape;6762;p380"/>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sp>
        <p:nvSpPr>
          <p:cNvPr id="6763" name="Google Shape;6763;p380">
            <a:hlinkClick action="ppaction://hlinksldjump" r:id="rId3"/>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0" name="Shape 6780"/>
        <p:cNvGrpSpPr/>
        <p:nvPr/>
      </p:nvGrpSpPr>
      <p:grpSpPr>
        <a:xfrm>
          <a:off x="0" y="0"/>
          <a:ext cx="0" cy="0"/>
          <a:chOff x="0" y="0"/>
          <a:chExt cx="0" cy="0"/>
        </a:xfrm>
      </p:grpSpPr>
      <p:sp>
        <p:nvSpPr>
          <p:cNvPr id="6781" name="Google Shape;6781;p382"/>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82" name="Google Shape;6782;p382"/>
          <p:cNvSpPr txBox="1"/>
          <p:nvPr>
            <p:ph idx="1" type="body"/>
          </p:nvPr>
        </p:nvSpPr>
        <p:spPr>
          <a:xfrm>
            <a:off x="467360" y="784796"/>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b="1" lang="en-GB" sz="1400"/>
              <a:t>Analyze competitor pricing </a:t>
            </a:r>
            <a:r>
              <a:rPr lang="en-GB" sz="1400"/>
              <a:t>to develop pricing scenarios to optimize product, category or service sales and profit</a:t>
            </a:r>
            <a:endParaRPr/>
          </a:p>
          <a:p>
            <a:pPr indent="-169863" lvl="0" marL="169863" rtl="0" algn="l">
              <a:lnSpc>
                <a:spcPct val="95000"/>
              </a:lnSpc>
              <a:spcBef>
                <a:spcPts val="600"/>
              </a:spcBef>
              <a:spcAft>
                <a:spcPts val="0"/>
              </a:spcAft>
              <a:buClr>
                <a:schemeClr val="dk1"/>
              </a:buClr>
              <a:buSzPts val="1400"/>
              <a:buChar char="•"/>
            </a:pPr>
            <a:r>
              <a:rPr b="1" lang="en-GB" sz="1400"/>
              <a:t>Manage Product Lifecycle Pricing </a:t>
            </a:r>
            <a:r>
              <a:rPr lang="en-GB" sz="1400"/>
              <a:t>to proactively set/adjust prices  to maximize profit during all  life stages of a product</a:t>
            </a:r>
            <a:endParaRPr/>
          </a:p>
          <a:p>
            <a:pPr indent="-169863" lvl="0" marL="169863" rtl="0" algn="l">
              <a:lnSpc>
                <a:spcPct val="95000"/>
              </a:lnSpc>
              <a:spcBef>
                <a:spcPts val="600"/>
              </a:spcBef>
              <a:spcAft>
                <a:spcPts val="0"/>
              </a:spcAft>
              <a:buClr>
                <a:schemeClr val="dk1"/>
              </a:buClr>
              <a:buSzPts val="1400"/>
              <a:buChar char="•"/>
            </a:pPr>
            <a:r>
              <a:rPr b="1" lang="en-GB" sz="1400"/>
              <a:t>Manage Dynamic Pricing </a:t>
            </a:r>
            <a:r>
              <a:rPr lang="en-GB" sz="1400"/>
              <a:t>to reactively adjust prices based on resource availability to shape demand and manage yield in right/near real time. </a:t>
            </a:r>
            <a:endParaRPr/>
          </a:p>
          <a:p>
            <a:pPr indent="-169863" lvl="0" marL="169863" rtl="0" algn="l">
              <a:lnSpc>
                <a:spcPct val="95000"/>
              </a:lnSpc>
              <a:spcBef>
                <a:spcPts val="600"/>
              </a:spcBef>
              <a:spcAft>
                <a:spcPts val="0"/>
              </a:spcAft>
              <a:buClr>
                <a:schemeClr val="dk1"/>
              </a:buClr>
              <a:buSzPts val="1400"/>
              <a:buChar char="•"/>
            </a:pPr>
            <a:r>
              <a:rPr b="1" lang="en-GB" sz="1400"/>
              <a:t>Manage Promotional Offers </a:t>
            </a:r>
            <a:r>
              <a:rPr lang="en-GB" sz="1400"/>
              <a:t>to model promotional offers (prices, bundles, etc.)  to predict impact on sales to support the promotions planning process</a:t>
            </a:r>
            <a:endParaRPr/>
          </a:p>
          <a:p>
            <a:pPr indent="-169863" lvl="0" marL="169863" rtl="0" algn="l">
              <a:lnSpc>
                <a:spcPct val="95000"/>
              </a:lnSpc>
              <a:spcBef>
                <a:spcPts val="600"/>
              </a:spcBef>
              <a:spcAft>
                <a:spcPts val="0"/>
              </a:spcAft>
              <a:buClr>
                <a:schemeClr val="dk1"/>
              </a:buClr>
              <a:buSzPts val="1400"/>
              <a:buChar char="•"/>
            </a:pPr>
            <a:r>
              <a:rPr b="1" lang="en-GB" sz="1400"/>
              <a:t>Measure Promotional Effectiveness </a:t>
            </a:r>
            <a:r>
              <a:rPr lang="en-GB" sz="1400"/>
              <a:t>to assess the impact of a promotion on the sales of promoted products, categories,  affinity products and customer behavior</a:t>
            </a:r>
            <a:endParaRPr sz="1400"/>
          </a:p>
        </p:txBody>
      </p:sp>
      <p:sp>
        <p:nvSpPr>
          <p:cNvPr id="6783" name="Google Shape;6783;p382"/>
          <p:cNvSpPr txBox="1"/>
          <p:nvPr>
            <p:ph type="title"/>
          </p:nvPr>
        </p:nvSpPr>
        <p:spPr>
          <a:xfrm>
            <a:off x="468355" y="231423"/>
            <a:ext cx="5435240" cy="390877"/>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pic>
        <p:nvPicPr>
          <p:cNvPr descr="BIZ-1047-L.jpg" id="6784" name="Google Shape;6784;p382"/>
          <p:cNvPicPr preferRelativeResize="0"/>
          <p:nvPr/>
        </p:nvPicPr>
        <p:blipFill rotWithShape="1">
          <a:blip r:embed="rId3">
            <a:alphaModFix/>
          </a:blip>
          <a:srcRect b="0" l="-8656" r="-8655" t="0"/>
          <a:stretch/>
        </p:blipFill>
        <p:spPr>
          <a:xfrm>
            <a:off x="5376024" y="967316"/>
            <a:ext cx="4282325" cy="2433589"/>
          </a:xfrm>
          <a:prstGeom prst="rect">
            <a:avLst/>
          </a:prstGeom>
          <a:noFill/>
          <a:ln>
            <a:noFill/>
          </a:ln>
        </p:spPr>
      </p:pic>
      <p:sp>
        <p:nvSpPr>
          <p:cNvPr id="6785" name="Google Shape;6785;p38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08" name="Shape 6808"/>
        <p:cNvGrpSpPr/>
        <p:nvPr/>
      </p:nvGrpSpPr>
      <p:grpSpPr>
        <a:xfrm>
          <a:off x="0" y="0"/>
          <a:ext cx="0" cy="0"/>
          <a:chOff x="0" y="0"/>
          <a:chExt cx="0" cy="0"/>
        </a:xfrm>
      </p:grpSpPr>
      <p:graphicFrame>
        <p:nvGraphicFramePr>
          <p:cNvPr id="6809" name="Google Shape;6809;p38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optimized by proactive actions based on competitor move prediction in a deep granularized market view, providing right time response to competitive pricing changes. Predictive analytics on expected competitor pricing moves.</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Competitve pricing optimizing for driving future service usage habits/purchasing habits to maximize revenues  on deep granularity market view. Predictive analytics supports modeling future usage habit pattern insights for pricing.</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Competitive price considering not only competiton prices but substitute produc prices.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Service usage patterns recognized to match competitve pricing shchemes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optimization  toward competitors on improved granularity of local market position, reactive to recognized competitive price position changes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optimizing for revenue maximization based on comparison of competitor prices on the market</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6810" name="Google Shape;6810;p384"/>
          <p:cNvGrpSpPr/>
          <p:nvPr/>
        </p:nvGrpSpPr>
        <p:grpSpPr>
          <a:xfrm>
            <a:off x="466165" y="3624946"/>
            <a:ext cx="8455025" cy="989387"/>
            <a:chOff x="211138" y="3972860"/>
            <a:chExt cx="8713787" cy="642437"/>
          </a:xfrm>
        </p:grpSpPr>
        <p:sp>
          <p:nvSpPr>
            <p:cNvPr id="6811" name="Google Shape;6811;p38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812" name="Google Shape;6812;p38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6813" name="Google Shape;6813;p384"/>
          <p:cNvGrpSpPr/>
          <p:nvPr/>
        </p:nvGrpSpPr>
        <p:grpSpPr>
          <a:xfrm>
            <a:off x="7971865" y="980278"/>
            <a:ext cx="949325" cy="2867825"/>
            <a:chOff x="7941888" y="1062037"/>
            <a:chExt cx="983037" cy="2695575"/>
          </a:xfrm>
        </p:grpSpPr>
        <p:sp>
          <p:nvSpPr>
            <p:cNvPr id="6814" name="Google Shape;6814;p38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815" name="Google Shape;6815;p38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6816" name="Google Shape;6816;p384"/>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sp>
        <p:nvSpPr>
          <p:cNvPr id="6817" name="Google Shape;6817;p3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0" name="Shape 6840"/>
        <p:cNvGrpSpPr/>
        <p:nvPr/>
      </p:nvGrpSpPr>
      <p:grpSpPr>
        <a:xfrm>
          <a:off x="0" y="0"/>
          <a:ext cx="0" cy="0"/>
          <a:chOff x="0" y="0"/>
          <a:chExt cx="0" cy="0"/>
        </a:xfrm>
      </p:grpSpPr>
      <p:graphicFrame>
        <p:nvGraphicFramePr>
          <p:cNvPr id="6841" name="Google Shape;6841;p386"/>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616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business rules evaluated/prioritzed across more dynamic price options at the right time for the purchase transaction. Different product assortments may apply different dynamic pricing rule priorization at the time of purchase transaction.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Actual and relevant pricing available at the right time for customer interaction, applying one or two  pricing schemes across the entire product portfolio using actual values of product attributes to calculate individual  price (or individual discount)  for the purchase event. Selected attributes may fall into different categories such as:</a:t>
                      </a:r>
                      <a:endParaRPr/>
                    </a:p>
                    <a:p>
                      <a:pPr indent="-171450" lvl="1" marL="628650" marR="0" rtl="0" algn="l">
                        <a:lnSpc>
                          <a:spcPct val="100000"/>
                        </a:lnSpc>
                        <a:spcBef>
                          <a:spcPts val="0"/>
                        </a:spcBef>
                        <a:spcAft>
                          <a:spcPts val="0"/>
                        </a:spcAft>
                        <a:buClr>
                          <a:schemeClr val="dk1"/>
                        </a:buClr>
                        <a:buSzPts val="800"/>
                        <a:buFont typeface="Arial"/>
                        <a:buChar char="•"/>
                      </a:pPr>
                      <a:r>
                        <a:rPr b="0" lang="en-GB" sz="800" u="none" cap="none" strike="noStrike">
                          <a:solidFill>
                            <a:schemeClr val="dk1"/>
                          </a:solidFill>
                          <a:latin typeface="Century Gothic"/>
                          <a:ea typeface="Century Gothic"/>
                          <a:cs typeface="Century Gothic"/>
                          <a:sym typeface="Century Gothic"/>
                        </a:rPr>
                        <a:t>Seasonality, order lead time, Time of day</a:t>
                      </a:r>
                      <a:endParaRPr/>
                    </a:p>
                    <a:p>
                      <a:pPr indent="-171450" lvl="1" marL="628650" marR="0" rtl="0" algn="l">
                        <a:lnSpc>
                          <a:spcPct val="100000"/>
                        </a:lnSpc>
                        <a:spcBef>
                          <a:spcPts val="0"/>
                        </a:spcBef>
                        <a:spcAft>
                          <a:spcPts val="0"/>
                        </a:spcAft>
                        <a:buClr>
                          <a:schemeClr val="dk1"/>
                        </a:buClr>
                        <a:buSzPts val="800"/>
                        <a:buFont typeface="Arial"/>
                        <a:buChar char="•"/>
                      </a:pPr>
                      <a:r>
                        <a:rPr b="0" lang="en-GB" sz="800" u="none" cap="none" strike="noStrike">
                          <a:solidFill>
                            <a:schemeClr val="dk1"/>
                          </a:solidFill>
                          <a:latin typeface="Century Gothic"/>
                          <a:ea typeface="Century Gothic"/>
                          <a:cs typeface="Century Gothic"/>
                          <a:sym typeface="Century Gothic"/>
                        </a:rPr>
                        <a:t>Location of customer/ POS</a:t>
                      </a:r>
                      <a:endParaRPr/>
                    </a:p>
                    <a:p>
                      <a:pPr indent="-171450" lvl="1" marL="628650" marR="0" rtl="0" algn="l">
                        <a:lnSpc>
                          <a:spcPct val="100000"/>
                        </a:lnSpc>
                        <a:spcBef>
                          <a:spcPts val="0"/>
                        </a:spcBef>
                        <a:spcAft>
                          <a:spcPts val="0"/>
                        </a:spcAft>
                        <a:buClr>
                          <a:schemeClr val="dk1"/>
                        </a:buClr>
                        <a:buSzPts val="800"/>
                        <a:buFont typeface="Arial"/>
                        <a:buChar char="•"/>
                      </a:pPr>
                      <a:r>
                        <a:rPr b="0" lang="en-GB" sz="800" u="none" cap="none" strike="noStrike">
                          <a:solidFill>
                            <a:schemeClr val="dk1"/>
                          </a:solidFill>
                          <a:latin typeface="Century Gothic"/>
                          <a:ea typeface="Century Gothic"/>
                          <a:cs typeface="Century Gothic"/>
                          <a:sym typeface="Century Gothic"/>
                        </a:rPr>
                        <a:t>available stock, strategic product categorization, end-of-life, bridge products  etc</a:t>
                      </a:r>
                      <a:endParaRPr/>
                    </a:p>
                    <a:p>
                      <a:pPr indent="-171450" lvl="1" marL="628650" marR="0" rtl="0" algn="l">
                        <a:lnSpc>
                          <a:spcPct val="100000"/>
                        </a:lnSpc>
                        <a:spcBef>
                          <a:spcPts val="0"/>
                        </a:spcBef>
                        <a:spcAft>
                          <a:spcPts val="0"/>
                        </a:spcAft>
                        <a:buClr>
                          <a:schemeClr val="dk1"/>
                        </a:buClr>
                        <a:buSzPts val="800"/>
                        <a:buFont typeface="Arial"/>
                        <a:buChar char="•"/>
                      </a:pPr>
                      <a:r>
                        <a:rPr b="0" lang="en-GB" sz="800" u="none" cap="none" strike="noStrike">
                          <a:solidFill>
                            <a:schemeClr val="dk1"/>
                          </a:solidFill>
                          <a:latin typeface="Century Gothic"/>
                          <a:ea typeface="Century Gothic"/>
                          <a:cs typeface="Century Gothic"/>
                          <a:sym typeface="Century Gothic"/>
                        </a:rPr>
                        <a:t>Customer Loyalty scheme etc</a:t>
                      </a:r>
                      <a:endParaRPr b="0" sz="800" u="none" cap="none" strike="noStrike">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scheme updates  (daily) are driven by business rules representing product strategy, customer strategy, stock clearance rules etc. Business rules representing internal  business events, business trends and predictions (such as estimated sales).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157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scheme updated daily based on stock, sales target and customer information (internal information, but extended range of internal data domains)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scheme update monthly /weekly based on stock  and sales target information (internal information)</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6842" name="Google Shape;6842;p386"/>
          <p:cNvGrpSpPr/>
          <p:nvPr/>
        </p:nvGrpSpPr>
        <p:grpSpPr>
          <a:xfrm>
            <a:off x="466165" y="3848103"/>
            <a:ext cx="8455025" cy="859364"/>
            <a:chOff x="211138" y="3972860"/>
            <a:chExt cx="8713787" cy="642437"/>
          </a:xfrm>
        </p:grpSpPr>
        <p:sp>
          <p:nvSpPr>
            <p:cNvPr id="6843" name="Google Shape;6843;p38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844" name="Google Shape;6844;p38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6845" name="Google Shape;6845;p386"/>
          <p:cNvGrpSpPr/>
          <p:nvPr/>
        </p:nvGrpSpPr>
        <p:grpSpPr>
          <a:xfrm>
            <a:off x="7971865" y="980278"/>
            <a:ext cx="949325" cy="2867825"/>
            <a:chOff x="7941888" y="1062037"/>
            <a:chExt cx="983037" cy="2695575"/>
          </a:xfrm>
        </p:grpSpPr>
        <p:sp>
          <p:nvSpPr>
            <p:cNvPr id="6846" name="Google Shape;6846;p38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847" name="Google Shape;6847;p38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6848" name="Google Shape;6848;p386"/>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sp>
        <p:nvSpPr>
          <p:cNvPr id="6849" name="Google Shape;6849;p3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65" name="Shape 6865"/>
        <p:cNvGrpSpPr/>
        <p:nvPr/>
      </p:nvGrpSpPr>
      <p:grpSpPr>
        <a:xfrm>
          <a:off x="0" y="0"/>
          <a:ext cx="0" cy="0"/>
          <a:chOff x="0" y="0"/>
          <a:chExt cx="0" cy="0"/>
        </a:xfrm>
      </p:grpSpPr>
      <p:sp>
        <p:nvSpPr>
          <p:cNvPr id="6866" name="Google Shape;6866;p388"/>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67" name="Google Shape;6867;p388"/>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74613" lvl="0" marL="169863" rtl="0" algn="l">
              <a:lnSpc>
                <a:spcPct val="95000"/>
              </a:lnSpc>
              <a:spcBef>
                <a:spcPts val="800"/>
              </a:spcBef>
              <a:spcAft>
                <a:spcPts val="0"/>
              </a:spcAft>
              <a:buClr>
                <a:schemeClr val="dk1"/>
              </a:buClr>
              <a:buSzPts val="1500"/>
              <a:buNone/>
            </a:pPr>
            <a:r>
              <a:t/>
            </a:r>
            <a:endParaRPr b="1" sz="1500"/>
          </a:p>
          <a:p>
            <a:pPr indent="-169863" lvl="0" marL="169863" rtl="0" algn="l">
              <a:lnSpc>
                <a:spcPct val="95000"/>
              </a:lnSpc>
              <a:spcBef>
                <a:spcPts val="600"/>
              </a:spcBef>
              <a:spcAft>
                <a:spcPts val="0"/>
              </a:spcAft>
              <a:buClr>
                <a:schemeClr val="dk1"/>
              </a:buClr>
              <a:buSzPts val="1500"/>
              <a:buChar char="•"/>
            </a:pPr>
            <a:r>
              <a:rPr b="1" lang="en-GB" sz="1500"/>
              <a:t>Support Product Clearance </a:t>
            </a:r>
            <a:r>
              <a:rPr lang="en-GB" sz="1500"/>
              <a:t>by modeling price reductions or retired services scenarios. Focus on costs, revenue, portfolio health and organizational resource impact</a:t>
            </a:r>
            <a:endParaRPr/>
          </a:p>
          <a:p>
            <a:pPr indent="-169863" lvl="0" marL="169863" rtl="0" algn="l">
              <a:lnSpc>
                <a:spcPct val="100000"/>
              </a:lnSpc>
              <a:spcBef>
                <a:spcPts val="600"/>
              </a:spcBef>
              <a:spcAft>
                <a:spcPts val="0"/>
              </a:spcAft>
              <a:buClr>
                <a:schemeClr val="dk1"/>
              </a:buClr>
              <a:buSzPts val="1500"/>
              <a:buChar char="•"/>
            </a:pPr>
            <a:r>
              <a:rPr b="1" lang="en-GB" sz="1500"/>
              <a:t>Analyze impacts of migrating old products to new products </a:t>
            </a:r>
            <a:r>
              <a:rPr lang="en-GB" sz="1500"/>
              <a:t>including usage patterns, customer satisfaction, opportunity cost and sensitivity to economic impacts</a:t>
            </a:r>
            <a:endParaRPr/>
          </a:p>
          <a:p>
            <a:pPr indent="-169863" lvl="0" marL="169863" rtl="0" algn="l">
              <a:lnSpc>
                <a:spcPct val="95000"/>
              </a:lnSpc>
              <a:spcBef>
                <a:spcPts val="600"/>
              </a:spcBef>
              <a:spcAft>
                <a:spcPts val="0"/>
              </a:spcAft>
              <a:buClr>
                <a:schemeClr val="dk1"/>
              </a:buClr>
              <a:buSzPts val="1500"/>
              <a:buChar char="•"/>
            </a:pPr>
            <a:r>
              <a:rPr b="1" lang="en-GB" sz="1500"/>
              <a:t>Liquidate short-life goods </a:t>
            </a:r>
            <a:r>
              <a:rPr lang="en-GB" sz="1500"/>
              <a:t>using intraday sales by location, reducing waste. </a:t>
            </a:r>
            <a:endParaRPr/>
          </a:p>
          <a:p>
            <a:pPr indent="-169863" lvl="0" marL="169863" rtl="0" algn="l">
              <a:lnSpc>
                <a:spcPct val="95000"/>
              </a:lnSpc>
              <a:spcBef>
                <a:spcPts val="600"/>
              </a:spcBef>
              <a:spcAft>
                <a:spcPts val="0"/>
              </a:spcAft>
              <a:buClr>
                <a:schemeClr val="dk1"/>
              </a:buClr>
              <a:buSzPts val="1500"/>
              <a:buChar char="•"/>
            </a:pPr>
            <a:r>
              <a:rPr b="1" lang="en-GB" sz="1500"/>
              <a:t>Support product recalls </a:t>
            </a:r>
            <a:r>
              <a:rPr lang="en-GB" sz="1500"/>
              <a:t>using customer purchase history</a:t>
            </a:r>
            <a:endParaRPr/>
          </a:p>
          <a:p>
            <a:pPr indent="-68263" lvl="0" marL="169863" rtl="0" algn="l">
              <a:lnSpc>
                <a:spcPct val="95000"/>
              </a:lnSpc>
              <a:spcBef>
                <a:spcPts val="600"/>
              </a:spcBef>
              <a:spcAft>
                <a:spcPts val="0"/>
              </a:spcAft>
              <a:buClr>
                <a:schemeClr val="dk1"/>
              </a:buClr>
              <a:buSzPts val="1600"/>
              <a:buNone/>
            </a:pPr>
            <a:r>
              <a:t/>
            </a:r>
            <a:endParaRPr sz="1600"/>
          </a:p>
          <a:p>
            <a:pPr indent="-68263" lvl="0" marL="169863" rtl="0" algn="l">
              <a:lnSpc>
                <a:spcPct val="95000"/>
              </a:lnSpc>
              <a:spcBef>
                <a:spcPts val="600"/>
              </a:spcBef>
              <a:spcAft>
                <a:spcPts val="0"/>
              </a:spcAft>
              <a:buClr>
                <a:schemeClr val="dk1"/>
              </a:buClr>
              <a:buSzPts val="1600"/>
              <a:buNone/>
            </a:pPr>
            <a:r>
              <a:t/>
            </a:r>
            <a:endParaRPr sz="1600"/>
          </a:p>
        </p:txBody>
      </p:sp>
      <p:sp>
        <p:nvSpPr>
          <p:cNvPr id="6868" name="Google Shape;6868;p388"/>
          <p:cNvSpPr txBox="1"/>
          <p:nvPr>
            <p:ph type="title"/>
          </p:nvPr>
        </p:nvSpPr>
        <p:spPr>
          <a:xfrm>
            <a:off x="468355" y="240948"/>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br>
              <a:rPr lang="en-GB"/>
            </a:br>
            <a:endParaRPr/>
          </a:p>
        </p:txBody>
      </p:sp>
      <p:pic>
        <p:nvPicPr>
          <p:cNvPr descr="BIZ-1044-L.jpg" id="6869" name="Google Shape;6869;p388"/>
          <p:cNvPicPr preferRelativeResize="0"/>
          <p:nvPr/>
        </p:nvPicPr>
        <p:blipFill rotWithShape="1">
          <a:blip r:embed="rId3">
            <a:alphaModFix/>
          </a:blip>
          <a:srcRect b="0" l="-8656" r="-8655" t="0"/>
          <a:stretch/>
        </p:blipFill>
        <p:spPr>
          <a:xfrm>
            <a:off x="5276850" y="1212851"/>
            <a:ext cx="4362450" cy="2146544"/>
          </a:xfrm>
          <a:prstGeom prst="rect">
            <a:avLst/>
          </a:prstGeom>
          <a:noFill/>
          <a:ln>
            <a:noFill/>
          </a:ln>
        </p:spPr>
      </p:pic>
      <p:sp>
        <p:nvSpPr>
          <p:cNvPr id="6870" name="Google Shape;6870;p38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3" name="Shape 6893"/>
        <p:cNvGrpSpPr/>
        <p:nvPr/>
      </p:nvGrpSpPr>
      <p:grpSpPr>
        <a:xfrm>
          <a:off x="0" y="0"/>
          <a:ext cx="0" cy="0"/>
          <a:chOff x="0" y="0"/>
          <a:chExt cx="0" cy="0"/>
        </a:xfrm>
      </p:grpSpPr>
      <p:graphicFrame>
        <p:nvGraphicFramePr>
          <p:cNvPr id="6894" name="Google Shape;6894;p39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Application of advanced analytical techniques to determine products for decommissioning as well as recommended new product, based on extensive customer insight and customer influential impact on customer base value.  Analytics also inform about timing of recommended migration. Full understanding of customer and business impact, including predicted indirect impact.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Application of analytical techniques to determine products for decommissioning as well as recommended new product, based on customer value , customer satisfaction and customer behavior. Significant understanding of costs and complexity associated with the product. Good understanding of customer and business impact.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application of analytical techniques to determine products for decommissioning as well as recommended new product, based on product utilization and product portfolio ownerships. Initial understanding of costs associated with the product.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Determine products for decommissioning based on number of customers owning the product or general sales volumes, as well as some insight on product utilization. Migrate to products based on current new product sales targets and product attributes to meet customer utilization needs. Basic understanding of customer and business impact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Determine products for decommissioning based on number of customers owning the product or general sales volumes. Migrate to products based on current new product sales targets. Little or no understanding of customer and business impact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6895" name="Google Shape;6895;p390"/>
          <p:cNvGrpSpPr/>
          <p:nvPr/>
        </p:nvGrpSpPr>
        <p:grpSpPr>
          <a:xfrm>
            <a:off x="469900" y="3848103"/>
            <a:ext cx="8455025" cy="732866"/>
            <a:chOff x="211138" y="3972860"/>
            <a:chExt cx="8713787" cy="642437"/>
          </a:xfrm>
        </p:grpSpPr>
        <p:sp>
          <p:nvSpPr>
            <p:cNvPr id="6896" name="Google Shape;6896;p39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897" name="Google Shape;6897;p39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6898" name="Google Shape;6898;p390"/>
          <p:cNvGrpSpPr/>
          <p:nvPr/>
        </p:nvGrpSpPr>
        <p:grpSpPr>
          <a:xfrm>
            <a:off x="7971865" y="980278"/>
            <a:ext cx="949325" cy="2867825"/>
            <a:chOff x="7941888" y="1062037"/>
            <a:chExt cx="983037" cy="2695575"/>
          </a:xfrm>
        </p:grpSpPr>
        <p:sp>
          <p:nvSpPr>
            <p:cNvPr id="6899" name="Google Shape;6899;p39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900" name="Google Shape;6900;p39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6901" name="Google Shape;6901;p390"/>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sp>
        <p:nvSpPr>
          <p:cNvPr id="6902" name="Google Shape;6902;p3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18" name="Shape 6918"/>
        <p:cNvGrpSpPr/>
        <p:nvPr/>
      </p:nvGrpSpPr>
      <p:grpSpPr>
        <a:xfrm>
          <a:off x="0" y="0"/>
          <a:ext cx="0" cy="0"/>
          <a:chOff x="0" y="0"/>
          <a:chExt cx="0" cy="0"/>
        </a:xfrm>
      </p:grpSpPr>
      <p:sp>
        <p:nvSpPr>
          <p:cNvPr id="6919" name="Google Shape;6919;p392"/>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20" name="Google Shape;6920;p392"/>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100"/>
              <a:buChar char="•"/>
            </a:pPr>
            <a:r>
              <a:rPr b="1" lang="en-GB" sz="1100"/>
              <a:t>Analyze  market basket and affinity </a:t>
            </a:r>
            <a:r>
              <a:rPr lang="en-GB" sz="1100"/>
              <a:t>by leveraging transaction level data to develop insights into customer behavior, shopping missions and affinity to support assortment, placement, pricing, and promotions.  </a:t>
            </a:r>
            <a:endParaRPr/>
          </a:p>
          <a:p>
            <a:pPr indent="-169863" lvl="0" marL="169863" rtl="0" algn="just">
              <a:lnSpc>
                <a:spcPct val="95000"/>
              </a:lnSpc>
              <a:spcBef>
                <a:spcPts val="600"/>
              </a:spcBef>
              <a:spcAft>
                <a:spcPts val="0"/>
              </a:spcAft>
              <a:buClr>
                <a:schemeClr val="dk1"/>
              </a:buClr>
              <a:buSzPts val="1100"/>
              <a:buChar char="•"/>
            </a:pPr>
            <a:r>
              <a:rPr b="1" lang="en-GB" sz="1100"/>
              <a:t>Analyze cross channel performance </a:t>
            </a:r>
            <a:r>
              <a:rPr lang="en-GB" sz="1100"/>
              <a:t>by tracking and integrating cross channel sales, margin, risk exposure and inventory  performance to achieve a holistic view of products</a:t>
            </a:r>
            <a:endParaRPr/>
          </a:p>
          <a:p>
            <a:pPr indent="-169863" lvl="0" marL="169863" rtl="0" algn="just">
              <a:lnSpc>
                <a:spcPct val="95000"/>
              </a:lnSpc>
              <a:spcBef>
                <a:spcPts val="600"/>
              </a:spcBef>
              <a:spcAft>
                <a:spcPts val="0"/>
              </a:spcAft>
              <a:buClr>
                <a:schemeClr val="dk1"/>
              </a:buClr>
              <a:buSzPts val="1100"/>
              <a:buChar char="•"/>
            </a:pPr>
            <a:r>
              <a:rPr b="1" lang="en-GB" sz="1100"/>
              <a:t>Optimizing “Open to Buy” (OTB</a:t>
            </a:r>
            <a:r>
              <a:rPr lang="en-GB" sz="1100"/>
              <a:t>) to predict outcome at various points in time</a:t>
            </a:r>
            <a:endParaRPr/>
          </a:p>
          <a:p>
            <a:pPr indent="-169863" lvl="0" marL="169863" rtl="0" algn="just">
              <a:lnSpc>
                <a:spcPct val="95000"/>
              </a:lnSpc>
              <a:spcBef>
                <a:spcPts val="600"/>
              </a:spcBef>
              <a:spcAft>
                <a:spcPts val="0"/>
              </a:spcAft>
              <a:buClr>
                <a:schemeClr val="dk1"/>
              </a:buClr>
              <a:buSzPts val="1100"/>
              <a:buChar char="•"/>
            </a:pPr>
            <a:r>
              <a:rPr b="1" lang="en-GB" sz="1100"/>
              <a:t>Product benchmarking </a:t>
            </a:r>
            <a:r>
              <a:rPr lang="en-GB" sz="1100"/>
              <a:t>via comparison of portfolio against internal and external references, to identify gaps and potential enhancements</a:t>
            </a:r>
            <a:endParaRPr/>
          </a:p>
          <a:p>
            <a:pPr indent="-169863" lvl="0" marL="169863" rtl="0" algn="just">
              <a:lnSpc>
                <a:spcPct val="95000"/>
              </a:lnSpc>
              <a:spcBef>
                <a:spcPts val="600"/>
              </a:spcBef>
              <a:spcAft>
                <a:spcPts val="0"/>
              </a:spcAft>
              <a:buClr>
                <a:schemeClr val="dk1"/>
              </a:buClr>
              <a:buSzPts val="1100"/>
              <a:buChar char="•"/>
            </a:pPr>
            <a:r>
              <a:rPr b="1" lang="en-GB" sz="1100"/>
              <a:t>Product profitability </a:t>
            </a:r>
            <a:r>
              <a:rPr lang="en-GB" sz="1100"/>
              <a:t>through quantification of all Operating, Product,  Revenue and Risk costs to calculate true profitability of an item or account over time.  Includes insights into NPV </a:t>
            </a:r>
            <a:endParaRPr/>
          </a:p>
          <a:p>
            <a:pPr indent="-169863" lvl="0" marL="169863" rtl="0" algn="just">
              <a:lnSpc>
                <a:spcPct val="95000"/>
              </a:lnSpc>
              <a:spcBef>
                <a:spcPts val="600"/>
              </a:spcBef>
              <a:spcAft>
                <a:spcPts val="0"/>
              </a:spcAft>
              <a:buClr>
                <a:schemeClr val="dk1"/>
              </a:buClr>
              <a:buSzPts val="1100"/>
              <a:buChar char="•"/>
            </a:pPr>
            <a:r>
              <a:rPr b="1" lang="en-GB" sz="1100"/>
              <a:t>Behavioral segmentation </a:t>
            </a:r>
            <a:r>
              <a:rPr lang="en-GB" sz="1100"/>
              <a:t>through insights or patterns derived from detailed data of customers' product and service usage.  Used to promote pricing, range, promotions etc.</a:t>
            </a:r>
            <a:endParaRPr/>
          </a:p>
          <a:p>
            <a:pPr indent="-169863" lvl="0" marL="169863" rtl="0" algn="just">
              <a:lnSpc>
                <a:spcPct val="95000"/>
              </a:lnSpc>
              <a:spcBef>
                <a:spcPts val="600"/>
              </a:spcBef>
              <a:spcAft>
                <a:spcPts val="0"/>
              </a:spcAft>
              <a:buClr>
                <a:schemeClr val="dk1"/>
              </a:buClr>
              <a:buSzPts val="1100"/>
              <a:buChar char="•"/>
            </a:pPr>
            <a:r>
              <a:rPr b="1" lang="en-GB" sz="1100"/>
              <a:t>Product/ service retention </a:t>
            </a:r>
            <a:r>
              <a:rPr lang="en-GB" sz="1100"/>
              <a:t>via utilization of analytics to predict products that are likely to support continued use by customers or to be dropped by customers. </a:t>
            </a:r>
            <a:endParaRPr/>
          </a:p>
          <a:p>
            <a:pPr indent="-169863" lvl="0" marL="169863" rtl="0" algn="just">
              <a:lnSpc>
                <a:spcPct val="95000"/>
              </a:lnSpc>
              <a:spcBef>
                <a:spcPts val="600"/>
              </a:spcBef>
              <a:spcAft>
                <a:spcPts val="0"/>
              </a:spcAft>
              <a:buClr>
                <a:schemeClr val="dk1"/>
              </a:buClr>
              <a:buSzPts val="1100"/>
              <a:buChar char="•"/>
            </a:pPr>
            <a:r>
              <a:rPr b="1" lang="en-GB" sz="1100"/>
              <a:t>Warranty analytics</a:t>
            </a:r>
            <a:r>
              <a:rPr lang="en-GB" sz="1100"/>
              <a:t> for Captive Insurance to track insurance claims to adjust underwriting algorithms to minimize loss. Track by industry, region, commercial broker, etc.</a:t>
            </a:r>
            <a:endParaRPr/>
          </a:p>
          <a:p>
            <a:pPr indent="-100013" lvl="0" marL="169863" rtl="0" algn="just">
              <a:lnSpc>
                <a:spcPct val="95000"/>
              </a:lnSpc>
              <a:spcBef>
                <a:spcPts val="600"/>
              </a:spcBef>
              <a:spcAft>
                <a:spcPts val="0"/>
              </a:spcAft>
              <a:buClr>
                <a:schemeClr val="dk1"/>
              </a:buClr>
              <a:buSzPts val="1100"/>
              <a:buNone/>
            </a:pPr>
            <a:r>
              <a:t/>
            </a:r>
            <a:endParaRPr sz="1100"/>
          </a:p>
        </p:txBody>
      </p:sp>
      <p:sp>
        <p:nvSpPr>
          <p:cNvPr id="6921" name="Google Shape;6921;p392"/>
          <p:cNvSpPr txBox="1"/>
          <p:nvPr>
            <p:ph type="title"/>
          </p:nvPr>
        </p:nvSpPr>
        <p:spPr>
          <a:xfrm>
            <a:off x="468355" y="240948"/>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br>
              <a:rPr lang="en-GB"/>
            </a:br>
            <a:endParaRPr/>
          </a:p>
        </p:txBody>
      </p:sp>
      <p:pic>
        <p:nvPicPr>
          <p:cNvPr descr="BIZ-1046-L.jpg" id="6922" name="Google Shape;6922;p392"/>
          <p:cNvPicPr preferRelativeResize="0"/>
          <p:nvPr/>
        </p:nvPicPr>
        <p:blipFill rotWithShape="1">
          <a:blip r:embed="rId3">
            <a:alphaModFix/>
          </a:blip>
          <a:srcRect b="0" l="-9335" r="-9335" t="0"/>
          <a:stretch/>
        </p:blipFill>
        <p:spPr>
          <a:xfrm>
            <a:off x="5538787" y="967317"/>
            <a:ext cx="4217229" cy="2396596"/>
          </a:xfrm>
          <a:prstGeom prst="rect">
            <a:avLst/>
          </a:prstGeom>
          <a:noFill/>
          <a:ln>
            <a:noFill/>
          </a:ln>
        </p:spPr>
      </p:pic>
      <p:sp>
        <p:nvSpPr>
          <p:cNvPr id="6923" name="Google Shape;6923;p39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46" name="Shape 6946"/>
        <p:cNvGrpSpPr/>
        <p:nvPr/>
      </p:nvGrpSpPr>
      <p:grpSpPr>
        <a:xfrm>
          <a:off x="0" y="0"/>
          <a:ext cx="0" cy="0"/>
          <a:chOff x="0" y="0"/>
          <a:chExt cx="0" cy="0"/>
        </a:xfrm>
      </p:grpSpPr>
      <p:graphicFrame>
        <p:nvGraphicFramePr>
          <p:cNvPr id="6947" name="Google Shape;6947;p39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just">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Fully automated analytics used to track multiple products across multiple channels. Messages coordinated across all channels in a sequential, logical and consistent manner. Customer channel preferences are embedded in all product and service strategies. Extensive use of channel mix and capacity optimization techniques Contact strategy and acquisition activities adapted to customer preference based on logical channel rules. Common channel tracking enabling acquisition from one locality and returns through another  or seamless inventory fulfillment from multiple warehouses across different branch, brand or geographic location </a:t>
                      </a:r>
                      <a:endParaRPr b="0" sz="700">
                        <a:solidFill>
                          <a:srgbClr val="FF0000"/>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just">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Data analytics used to manage channel performance. Delivery and utilization is consistent with pre-defined metrics and business triggers.  Financial data is integrated with non-financial data to provide comprehensive reporting and analytic capabilities. Multi channel integration between web and static channels (in- and out-bound), sales force automation applications used with tracking capabilities. Extensive business rules used to manage channel delivery. KPI’s covering sales, customer satisfaction, inventory levels  and operational efficiency are embedded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just">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Multi-channel delivery and performance tracking. Organization defines and creates standard metrics for enterprise analysis.  Scorecards are built integrating results across business functions including limited non-financial data. Sporadic levels of automation. Little understanding of customer’s channel preference and limited resource optimization. Some integration of results across business functions. Gradual improvement in product ID’s to enable easy tracking of inventory across acquiring channels and originating warehouses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284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just">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Channel management is entirely ad hoc, cross-channel delivery for acquisition activities not available. Organization is focused on driving costs out of the channel processes and maximizing individual sales.  Detailed transactional and financial information is typically not available immediately. Multi channel coordination typically sporadic or non-existent, Cross-channel cooperation improving but manual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just">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Basic channels tracked. Channel data typically siloed with little or no integration of functional matrices. Inventory typically housed within different warehouses with no consistent tracking of product codes/ numbers. Little or no campaign tracking capability that allows for response tracking across products. Most channels owned by different business units are not coordinated. Little or no automation at any level</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6948" name="Google Shape;6948;p394"/>
          <p:cNvGrpSpPr/>
          <p:nvPr/>
        </p:nvGrpSpPr>
        <p:grpSpPr>
          <a:xfrm>
            <a:off x="7971865" y="980278"/>
            <a:ext cx="949325" cy="2867825"/>
            <a:chOff x="7941888" y="1062037"/>
            <a:chExt cx="983037" cy="2695575"/>
          </a:xfrm>
        </p:grpSpPr>
        <p:sp>
          <p:nvSpPr>
            <p:cNvPr id="6949" name="Google Shape;6949;p39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rgbClr val="3C3C3B"/>
                </a:solidFill>
                <a:latin typeface="Century Gothic"/>
                <a:ea typeface="Century Gothic"/>
                <a:cs typeface="Century Gothic"/>
                <a:sym typeface="Century Gothic"/>
              </a:endParaRPr>
            </a:p>
          </p:txBody>
        </p:sp>
        <p:sp>
          <p:nvSpPr>
            <p:cNvPr id="6950" name="Google Shape;6950;p39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3C3C3B"/>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rgbClr val="3C3C3B"/>
                  </a:solidFill>
                  <a:latin typeface="Century Gothic"/>
                  <a:ea typeface="Century Gothic"/>
                  <a:cs typeface="Century Gothic"/>
                  <a:sym typeface="Century Gothic"/>
                </a:rPr>
                <a:t>Engagements</a:t>
              </a:r>
              <a:endParaRPr/>
            </a:p>
          </p:txBody>
        </p:sp>
      </p:grpSp>
      <p:sp>
        <p:nvSpPr>
          <p:cNvPr id="6951" name="Google Shape;6951;p394"/>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sp>
        <p:nvSpPr>
          <p:cNvPr id="6952" name="Google Shape;6952;p3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53" name="Google Shape;6953;p394"/>
          <p:cNvGrpSpPr/>
          <p:nvPr/>
        </p:nvGrpSpPr>
        <p:grpSpPr>
          <a:xfrm>
            <a:off x="469900" y="3799132"/>
            <a:ext cx="8455025" cy="732866"/>
            <a:chOff x="211138" y="3972860"/>
            <a:chExt cx="8713787" cy="642437"/>
          </a:xfrm>
        </p:grpSpPr>
        <p:sp>
          <p:nvSpPr>
            <p:cNvPr id="6954" name="Google Shape;6954;p39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955" name="Google Shape;6955;p39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78" name="Shape 6978"/>
        <p:cNvGrpSpPr/>
        <p:nvPr/>
      </p:nvGrpSpPr>
      <p:grpSpPr>
        <a:xfrm>
          <a:off x="0" y="0"/>
          <a:ext cx="0" cy="0"/>
          <a:chOff x="0" y="0"/>
          <a:chExt cx="0" cy="0"/>
        </a:xfrm>
      </p:grpSpPr>
      <p:graphicFrame>
        <p:nvGraphicFramePr>
          <p:cNvPr id="6979" name="Google Shape;6979;p396"/>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lang="en-GB" sz="900"/>
                        <a:t>Primary mission of the business to achieve operational excellence with benchmarking taking a strategic role in driving business innovation. Numerous mechanisms to generate active feedback to improve products and services.</a:t>
                      </a:r>
                      <a:endParaRPr sz="900"/>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lang="en-GB" sz="900"/>
                        <a:t>Significant effort invested</a:t>
                      </a:r>
                      <a:r>
                        <a:rPr lang="en-GB" sz="900"/>
                        <a:t> across the product lifecycle for tracking and managing KPIs with feedback actively considered and acted upon.</a:t>
                      </a:r>
                      <a:endParaRPr sz="900"/>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lang="en-GB" sz="900"/>
                        <a:t>Proactive</a:t>
                      </a:r>
                      <a:r>
                        <a:rPr lang="en-GB" sz="900"/>
                        <a:t> and c</a:t>
                      </a:r>
                      <a:r>
                        <a:rPr lang="en-GB" sz="900"/>
                        <a:t>ontinuous feedback on significant KPIs across the product and channel range.</a:t>
                      </a:r>
                      <a:endParaRPr sz="900"/>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lang="en-GB" sz="900"/>
                        <a:t>Ad-hoc collection of feedback from the marketplace to inform product design and change. Typically to solve known issues and dealing with daily or regular processes and tasks.</a:t>
                      </a:r>
                      <a:endParaRPr sz="900"/>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lang="en-GB" sz="900"/>
                        <a:t>Products and services are benchmarked against internal metrics</a:t>
                      </a:r>
                      <a:r>
                        <a:rPr lang="en-GB" sz="900"/>
                        <a:t> </a:t>
                      </a:r>
                      <a:r>
                        <a:rPr lang="en-GB" sz="900"/>
                        <a:t>with no formal mechanisms to identify feedback</a:t>
                      </a:r>
                      <a:r>
                        <a:rPr lang="en-GB" sz="900"/>
                        <a:t> from the marketplace.</a:t>
                      </a:r>
                      <a:endParaRPr sz="900"/>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6980" name="Google Shape;6980;p396"/>
          <p:cNvGrpSpPr/>
          <p:nvPr/>
        </p:nvGrpSpPr>
        <p:grpSpPr>
          <a:xfrm>
            <a:off x="469900" y="3819680"/>
            <a:ext cx="8455025" cy="732866"/>
            <a:chOff x="211138" y="3972860"/>
            <a:chExt cx="8713787" cy="642437"/>
          </a:xfrm>
        </p:grpSpPr>
        <p:sp>
          <p:nvSpPr>
            <p:cNvPr id="6981" name="Google Shape;6981;p39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982" name="Google Shape;6982;p39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6983" name="Google Shape;6983;p396"/>
          <p:cNvGrpSpPr/>
          <p:nvPr/>
        </p:nvGrpSpPr>
        <p:grpSpPr>
          <a:xfrm>
            <a:off x="7971865" y="980278"/>
            <a:ext cx="949325" cy="2867825"/>
            <a:chOff x="7941888" y="1062037"/>
            <a:chExt cx="983037" cy="2695575"/>
          </a:xfrm>
        </p:grpSpPr>
        <p:sp>
          <p:nvSpPr>
            <p:cNvPr id="6984" name="Google Shape;6984;p39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6985" name="Google Shape;6985;p39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6986" name="Google Shape;6986;p396"/>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sp>
        <p:nvSpPr>
          <p:cNvPr id="6987" name="Google Shape;6987;p3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0" name="Shape 7010"/>
        <p:cNvGrpSpPr/>
        <p:nvPr/>
      </p:nvGrpSpPr>
      <p:grpSpPr>
        <a:xfrm>
          <a:off x="0" y="0"/>
          <a:ext cx="0" cy="0"/>
          <a:chOff x="0" y="0"/>
          <a:chExt cx="0" cy="0"/>
        </a:xfrm>
      </p:grpSpPr>
      <p:graphicFrame>
        <p:nvGraphicFramePr>
          <p:cNvPr id="7011" name="Google Shape;7011;p39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Full and automated future / lifetime value model for individual products which includes comprehensive coverage of:</a:t>
                      </a:r>
                      <a:endParaRPr/>
                    </a:p>
                    <a:p>
                      <a:pPr indent="-87313" lvl="0" marL="87313"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Projected cash flows from existing product holdings.</a:t>
                      </a:r>
                      <a:endParaRPr/>
                    </a:p>
                    <a:p>
                      <a:pPr indent="-87313" lvl="0" marL="87313"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Attrition models for existing product holdings.</a:t>
                      </a:r>
                      <a:endParaRPr/>
                    </a:p>
                    <a:p>
                      <a:pPr indent="-87313" lvl="0" marL="87313"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Propensity to buy models for new products.</a:t>
                      </a:r>
                      <a:endParaRPr/>
                    </a:p>
                    <a:p>
                      <a:pPr indent="-87313" lvl="0" marL="87313"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Behavioral usage models for non-contractual products.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Automated propensity models for some key products used to enhance product strategy with attrition models for existing product holdings, and propensity to buy models for new products.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b="0" lang="en-GB" sz="800">
                          <a:solidFill>
                            <a:schemeClr val="dk1"/>
                          </a:solidFill>
                          <a:latin typeface="Century Gothic"/>
                          <a:ea typeface="Century Gothic"/>
                          <a:cs typeface="Century Gothic"/>
                          <a:sym typeface="Century Gothic"/>
                        </a:rPr>
                        <a:t>Basic product-level NPV model for existing product holdings only.</a:t>
                      </a:r>
                      <a:endParaRPr sz="800"/>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Excel-based NPV models for key products/segments using summarised results from current/historic profit model.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NPV profitability models built in Excel using summarized data calculated on an ad-hoc basis.</a:t>
                      </a:r>
                      <a:endParaRPr/>
                    </a:p>
                    <a:p>
                      <a:pPr indent="0" lvl="0" marL="0" marR="0" rtl="0" algn="l">
                        <a:spcBef>
                          <a:spcPts val="0"/>
                        </a:spcBef>
                        <a:spcAft>
                          <a:spcPts val="0"/>
                        </a:spcAft>
                        <a:buNone/>
                      </a:pPr>
                      <a:r>
                        <a:t/>
                      </a:r>
                      <a:endParaRPr sz="800"/>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012" name="Google Shape;7012;p398"/>
          <p:cNvGrpSpPr/>
          <p:nvPr/>
        </p:nvGrpSpPr>
        <p:grpSpPr>
          <a:xfrm>
            <a:off x="469900" y="3973792"/>
            <a:ext cx="8455025" cy="732866"/>
            <a:chOff x="211138" y="3972860"/>
            <a:chExt cx="8713787" cy="642437"/>
          </a:xfrm>
        </p:grpSpPr>
        <p:sp>
          <p:nvSpPr>
            <p:cNvPr id="7013" name="Google Shape;7013;p39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014" name="Google Shape;7014;p39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015" name="Google Shape;7015;p398"/>
          <p:cNvGrpSpPr/>
          <p:nvPr/>
        </p:nvGrpSpPr>
        <p:grpSpPr>
          <a:xfrm>
            <a:off x="7971865" y="980278"/>
            <a:ext cx="949325" cy="3004339"/>
            <a:chOff x="7941888" y="1062037"/>
            <a:chExt cx="983037" cy="2695575"/>
          </a:xfrm>
        </p:grpSpPr>
        <p:sp>
          <p:nvSpPr>
            <p:cNvPr id="7016" name="Google Shape;7016;p39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017" name="Google Shape;7017;p39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018" name="Google Shape;7018;p398"/>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sp>
        <p:nvSpPr>
          <p:cNvPr id="7019" name="Google Shape;7019;p3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42" name="Shape 7042"/>
        <p:cNvGrpSpPr/>
        <p:nvPr/>
      </p:nvGrpSpPr>
      <p:grpSpPr>
        <a:xfrm>
          <a:off x="0" y="0"/>
          <a:ext cx="0" cy="0"/>
          <a:chOff x="0" y="0"/>
          <a:chExt cx="0" cy="0"/>
        </a:xfrm>
      </p:grpSpPr>
      <p:graphicFrame>
        <p:nvGraphicFramePr>
          <p:cNvPr id="7043" name="Google Shape;7043;p40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Predict and influence customer consumption and usage behaviors based on high-dimensional customer behavioral segments and prediction of emerging segments to drive product strategy, design, evolution and lifecycle. Base existing product strategy and operation on customer centric analytics and segmentations that feed back into product design and lifecycle. Measure performance on existing customer segments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Base existing product strategy and operation on customer centric analytics and segmentations that feed back into product design and lifecycle. Design P&amp;Ss and promotions for specific usage/consumption segments and customer/consumer segments. Routinely go through existing data to detect new P&amp;S opportunities.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Design some specific P&amp;Ss and promotions for specific usage/consumption segments and customer/consumer segments.</a:t>
                      </a:r>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Use of market and consumer survey techniques, competitive information and internal usage/consumption patterns and segments to design and evolve individual P&amp;S. Measure performance on those segments.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Mainly use of market and consumer survey techniques, and competitive information to design and evolve individual P&amp;S with no deep consideration of broader consumer/customer behaviors and groups. Customise P&amp;S according to simple consumption/usage segments and measure performance in those segments.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Measure product consumption and usage of individual products pushed into the market to determine simple purchase and usage low-dimensional segments using some market research to understand customer needs but not infer them from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044" name="Google Shape;7044;p400"/>
          <p:cNvGrpSpPr/>
          <p:nvPr/>
        </p:nvGrpSpPr>
        <p:grpSpPr>
          <a:xfrm>
            <a:off x="469900" y="3829411"/>
            <a:ext cx="8455025" cy="722041"/>
            <a:chOff x="211138" y="3982349"/>
            <a:chExt cx="8713787" cy="632948"/>
          </a:xfrm>
        </p:grpSpPr>
        <p:sp>
          <p:nvSpPr>
            <p:cNvPr id="7045" name="Google Shape;7045;p400"/>
            <p:cNvSpPr/>
            <p:nvPr/>
          </p:nvSpPr>
          <p:spPr>
            <a:xfrm>
              <a:off x="211138" y="3997419"/>
              <a:ext cx="8713787" cy="617878"/>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046" name="Google Shape;7046;p40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047" name="Google Shape;7047;p400"/>
          <p:cNvGrpSpPr/>
          <p:nvPr/>
        </p:nvGrpSpPr>
        <p:grpSpPr>
          <a:xfrm>
            <a:off x="7971865" y="980278"/>
            <a:ext cx="949325" cy="2867825"/>
            <a:chOff x="7941888" y="1062037"/>
            <a:chExt cx="983037" cy="2695575"/>
          </a:xfrm>
        </p:grpSpPr>
        <p:sp>
          <p:nvSpPr>
            <p:cNvPr id="7048" name="Google Shape;7048;p40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049" name="Google Shape;7049;p40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050" name="Google Shape;7050;p400"/>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sp>
        <p:nvSpPr>
          <p:cNvPr id="7051" name="Google Shape;7051;p4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4" name="Shape 7074"/>
        <p:cNvGrpSpPr/>
        <p:nvPr/>
      </p:nvGrpSpPr>
      <p:grpSpPr>
        <a:xfrm>
          <a:off x="0" y="0"/>
          <a:ext cx="0" cy="0"/>
          <a:chOff x="0" y="0"/>
          <a:chExt cx="0" cy="0"/>
        </a:xfrm>
      </p:grpSpPr>
      <p:graphicFrame>
        <p:nvGraphicFramePr>
          <p:cNvPr id="7075" name="Google Shape;7075;p402"/>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Streamline results into company strategy and processes automatically or make decisions to change business process based on insights. Cross channel Next Best Action (NBA) based on complex churn-value analytics running automatically driven by context and real-time triggers.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Product or service revenue retention campaigns executed on a daily basis using lifecycle knowledge including decline in usage, decline in product holding or reduced activity. Social network analysis (SNA) feeds influential relationships into retention model.</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Retention model calculates customer segmentation based on product utilization which is used for weekly proactive retention campaigns. Single company understanding of product churn level definitions. Product affinity feeds into retention model.</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Identification of different product retention/churn scenarios and key data correlating to produce retention models. Analytics used to drive the development of treatment strategies to address retention issues. Small number of retention campaigns run on monthly batch cycle.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events and measures calculated for use in ad-hoc product retention activity.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076" name="Google Shape;7076;p402"/>
          <p:cNvGrpSpPr/>
          <p:nvPr/>
        </p:nvGrpSpPr>
        <p:grpSpPr>
          <a:xfrm>
            <a:off x="7971865" y="980278"/>
            <a:ext cx="949325" cy="2867825"/>
            <a:chOff x="7941888" y="1062037"/>
            <a:chExt cx="983037" cy="2695575"/>
          </a:xfrm>
        </p:grpSpPr>
        <p:sp>
          <p:nvSpPr>
            <p:cNvPr id="7077" name="Google Shape;7077;p40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078" name="Google Shape;7078;p40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079" name="Google Shape;7079;p40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sp>
        <p:nvSpPr>
          <p:cNvPr id="7080" name="Google Shape;7080;p4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81" name="Google Shape;7081;p402"/>
          <p:cNvGrpSpPr/>
          <p:nvPr/>
        </p:nvGrpSpPr>
        <p:grpSpPr>
          <a:xfrm>
            <a:off x="469900" y="3819680"/>
            <a:ext cx="8455025" cy="732866"/>
            <a:chOff x="211138" y="3972860"/>
            <a:chExt cx="8713787" cy="642437"/>
          </a:xfrm>
        </p:grpSpPr>
        <p:sp>
          <p:nvSpPr>
            <p:cNvPr id="7082" name="Google Shape;7082;p40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083" name="Google Shape;7083;p40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