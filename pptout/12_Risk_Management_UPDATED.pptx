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645" r:id="rId396"/>
    <p:sldId id="646" r:id="rId397"/>
    <p:sldId id="647" r:id="rId398"/>
    <p:sldId id="648" r:id="rId399"/>
    <p:sldId id="649" r:id="rId400"/>
    <p:sldId id="650" r:id="rId401"/>
    <p:sldId id="651" r:id="rId402"/>
    <p:sldId id="652" r:id="rId403"/>
    <p:sldId id="653" r:id="rId404"/>
    <p:sldId id="654" r:id="rId405"/>
    <p:sldId id="655" r:id="rId406"/>
    <p:sldId id="656" r:id="rId407"/>
    <p:sldId id="657" r:id="rId408"/>
    <p:sldId id="658" r:id="rId409"/>
    <p:sldId id="659" r:id="rId410"/>
    <p:sldId id="660" r:id="rId411"/>
    <p:sldId id="661" r:id="rId412"/>
    <p:sldId id="662" r:id="rId413"/>
    <p:sldId id="663" r:id="rId414"/>
    <p:sldId id="664" r:id="rId415"/>
    <p:sldId id="665" r:id="rId416"/>
    <p:sldId id="666" r:id="rId417"/>
    <p:sldId id="667" r:id="rId418"/>
    <p:sldId id="668" r:id="rId419"/>
    <p:sldId id="669" r:id="rId420"/>
    <p:sldId id="670" r:id="rId421"/>
    <p:sldId id="671" r:id="rId422"/>
    <p:sldId id="672" r:id="rId423"/>
    <p:sldId id="673" r:id="rId424"/>
    <p:sldId id="674" r:id="rId425"/>
    <p:sldId id="675" r:id="rId426"/>
    <p:sldId id="676" r:id="rId427"/>
    <p:sldId id="677" r:id="rId428"/>
    <p:sldId id="678" r:id="rId429"/>
    <p:sldId id="679" r:id="rId430"/>
    <p:sldId id="680" r:id="rId431"/>
    <p:sldId id="681" r:id="rId432"/>
    <p:sldId id="682" r:id="rId433"/>
    <p:sldId id="683" r:id="rId434"/>
    <p:sldId id="684" r:id="rId435"/>
    <p:sldId id="685" r:id="rId436"/>
    <p:sldId id="686" r:id="rId437"/>
    <p:sldId id="687" r:id="rId438"/>
    <p:sldId id="688" r:id="rId439"/>
    <p:sldId id="689" r:id="rId440"/>
    <p:sldId id="690" r:id="rId441"/>
    <p:sldId id="691" r:id="rId442"/>
    <p:sldId id="692" r:id="rId443"/>
    <p:sldId id="693" r:id="rId444"/>
    <p:sldId id="694" r:id="rId445"/>
    <p:sldId id="695" r:id="rId446"/>
    <p:sldId id="696" r:id="rId447"/>
    <p:sldId id="697" r:id="rId448"/>
    <p:sldId id="698" r:id="rId449"/>
    <p:sldId id="699" r:id="rId450"/>
    <p:sldId id="700" r:id="rId451"/>
    <p:sldId id="701" r:id="rId452"/>
    <p:sldId id="702" r:id="rId453"/>
    <p:sldId id="703" r:id="rId454"/>
    <p:sldId id="704" r:id="rId455"/>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396" Type="http://schemas.openxmlformats.org/officeDocument/2006/relationships/slide" Target="slides/slide390.xml"/><Relationship Id="rId397" Type="http://schemas.openxmlformats.org/officeDocument/2006/relationships/slide" Target="slides/slide391.xml"/><Relationship Id="rId398" Type="http://schemas.openxmlformats.org/officeDocument/2006/relationships/slide" Target="slides/slide392.xml"/><Relationship Id="rId399" Type="http://schemas.openxmlformats.org/officeDocument/2006/relationships/slide" Target="slides/slide393.xml"/><Relationship Id="rId400" Type="http://schemas.openxmlformats.org/officeDocument/2006/relationships/slide" Target="slides/slide394.xml"/><Relationship Id="rId401" Type="http://schemas.openxmlformats.org/officeDocument/2006/relationships/slide" Target="slides/slide395.xml"/><Relationship Id="rId402" Type="http://schemas.openxmlformats.org/officeDocument/2006/relationships/slide" Target="slides/slide396.xml"/><Relationship Id="rId403" Type="http://schemas.openxmlformats.org/officeDocument/2006/relationships/slide" Target="slides/slide397.xml"/><Relationship Id="rId404" Type="http://schemas.openxmlformats.org/officeDocument/2006/relationships/slide" Target="slides/slide398.xml"/><Relationship Id="rId405" Type="http://schemas.openxmlformats.org/officeDocument/2006/relationships/slide" Target="slides/slide399.xml"/><Relationship Id="rId406" Type="http://schemas.openxmlformats.org/officeDocument/2006/relationships/slide" Target="slides/slide400.xml"/><Relationship Id="rId407" Type="http://schemas.openxmlformats.org/officeDocument/2006/relationships/slide" Target="slides/slide401.xml"/><Relationship Id="rId408" Type="http://schemas.openxmlformats.org/officeDocument/2006/relationships/slide" Target="slides/slide402.xml"/><Relationship Id="rId409" Type="http://schemas.openxmlformats.org/officeDocument/2006/relationships/slide" Target="slides/slide403.xml"/><Relationship Id="rId410" Type="http://schemas.openxmlformats.org/officeDocument/2006/relationships/slide" Target="slides/slide404.xml"/><Relationship Id="rId411" Type="http://schemas.openxmlformats.org/officeDocument/2006/relationships/slide" Target="slides/slide405.xml"/><Relationship Id="rId412" Type="http://schemas.openxmlformats.org/officeDocument/2006/relationships/slide" Target="slides/slide406.xml"/><Relationship Id="rId413" Type="http://schemas.openxmlformats.org/officeDocument/2006/relationships/slide" Target="slides/slide407.xml"/><Relationship Id="rId414" Type="http://schemas.openxmlformats.org/officeDocument/2006/relationships/slide" Target="slides/slide408.xml"/><Relationship Id="rId415" Type="http://schemas.openxmlformats.org/officeDocument/2006/relationships/slide" Target="slides/slide409.xml"/><Relationship Id="rId416" Type="http://schemas.openxmlformats.org/officeDocument/2006/relationships/slide" Target="slides/slide410.xml"/><Relationship Id="rId417" Type="http://schemas.openxmlformats.org/officeDocument/2006/relationships/slide" Target="slides/slide411.xml"/><Relationship Id="rId418" Type="http://schemas.openxmlformats.org/officeDocument/2006/relationships/slide" Target="slides/slide412.xml"/><Relationship Id="rId419" Type="http://schemas.openxmlformats.org/officeDocument/2006/relationships/slide" Target="slides/slide413.xml"/><Relationship Id="rId420" Type="http://schemas.openxmlformats.org/officeDocument/2006/relationships/slide" Target="slides/slide414.xml"/><Relationship Id="rId421" Type="http://schemas.openxmlformats.org/officeDocument/2006/relationships/slide" Target="slides/slide415.xml"/><Relationship Id="rId422" Type="http://schemas.openxmlformats.org/officeDocument/2006/relationships/slide" Target="slides/slide416.xml"/><Relationship Id="rId423" Type="http://schemas.openxmlformats.org/officeDocument/2006/relationships/slide" Target="slides/slide417.xml"/><Relationship Id="rId424" Type="http://schemas.openxmlformats.org/officeDocument/2006/relationships/slide" Target="slides/slide418.xml"/><Relationship Id="rId425" Type="http://schemas.openxmlformats.org/officeDocument/2006/relationships/slide" Target="slides/slide419.xml"/><Relationship Id="rId426" Type="http://schemas.openxmlformats.org/officeDocument/2006/relationships/slide" Target="slides/slide420.xml"/><Relationship Id="rId427" Type="http://schemas.openxmlformats.org/officeDocument/2006/relationships/slide" Target="slides/slide421.xml"/><Relationship Id="rId428" Type="http://schemas.openxmlformats.org/officeDocument/2006/relationships/slide" Target="slides/slide422.xml"/><Relationship Id="rId429" Type="http://schemas.openxmlformats.org/officeDocument/2006/relationships/slide" Target="slides/slide423.xml"/><Relationship Id="rId430" Type="http://schemas.openxmlformats.org/officeDocument/2006/relationships/slide" Target="slides/slide424.xml"/><Relationship Id="rId431" Type="http://schemas.openxmlformats.org/officeDocument/2006/relationships/slide" Target="slides/slide425.xml"/><Relationship Id="rId432" Type="http://schemas.openxmlformats.org/officeDocument/2006/relationships/slide" Target="slides/slide426.xml"/><Relationship Id="rId433" Type="http://schemas.openxmlformats.org/officeDocument/2006/relationships/slide" Target="slides/slide427.xml"/><Relationship Id="rId434" Type="http://schemas.openxmlformats.org/officeDocument/2006/relationships/slide" Target="slides/slide428.xml"/><Relationship Id="rId435" Type="http://schemas.openxmlformats.org/officeDocument/2006/relationships/slide" Target="slides/slide429.xml"/><Relationship Id="rId436" Type="http://schemas.openxmlformats.org/officeDocument/2006/relationships/slide" Target="slides/slide430.xml"/><Relationship Id="rId437" Type="http://schemas.openxmlformats.org/officeDocument/2006/relationships/slide" Target="slides/slide431.xml"/><Relationship Id="rId438" Type="http://schemas.openxmlformats.org/officeDocument/2006/relationships/slide" Target="slides/slide432.xml"/><Relationship Id="rId439" Type="http://schemas.openxmlformats.org/officeDocument/2006/relationships/slide" Target="slides/slide433.xml"/><Relationship Id="rId440" Type="http://schemas.openxmlformats.org/officeDocument/2006/relationships/slide" Target="slides/slide434.xml"/><Relationship Id="rId441" Type="http://schemas.openxmlformats.org/officeDocument/2006/relationships/slide" Target="slides/slide435.xml"/><Relationship Id="rId442" Type="http://schemas.openxmlformats.org/officeDocument/2006/relationships/slide" Target="slides/slide436.xml"/><Relationship Id="rId443" Type="http://schemas.openxmlformats.org/officeDocument/2006/relationships/slide" Target="slides/slide437.xml"/><Relationship Id="rId444" Type="http://schemas.openxmlformats.org/officeDocument/2006/relationships/slide" Target="slides/slide438.xml"/><Relationship Id="rId445" Type="http://schemas.openxmlformats.org/officeDocument/2006/relationships/slide" Target="slides/slide439.xml"/><Relationship Id="rId446" Type="http://schemas.openxmlformats.org/officeDocument/2006/relationships/slide" Target="slides/slide440.xml"/><Relationship Id="rId447" Type="http://schemas.openxmlformats.org/officeDocument/2006/relationships/slide" Target="slides/slide441.xml"/><Relationship Id="rId448" Type="http://schemas.openxmlformats.org/officeDocument/2006/relationships/slide" Target="slides/slide442.xml"/><Relationship Id="rId449" Type="http://schemas.openxmlformats.org/officeDocument/2006/relationships/slide" Target="slides/slide443.xml"/><Relationship Id="rId450" Type="http://schemas.openxmlformats.org/officeDocument/2006/relationships/slide" Target="slides/slide444.xml"/><Relationship Id="rId451" Type="http://schemas.openxmlformats.org/officeDocument/2006/relationships/slide" Target="slides/slide445.xml"/><Relationship Id="rId452" Type="http://schemas.openxmlformats.org/officeDocument/2006/relationships/slide" Target="slides/slide446.xml"/><Relationship Id="rId453" Type="http://schemas.openxmlformats.org/officeDocument/2006/relationships/slide" Target="slides/slide447.xml"/><Relationship Id="rId454" Type="http://schemas.openxmlformats.org/officeDocument/2006/relationships/slide" Target="slides/slide448.xml"/><Relationship Id="rId455" Type="http://schemas.openxmlformats.org/officeDocument/2006/relationships/slide" Target="slides/slide449.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6" name="Shape 7596"/>
        <p:cNvGrpSpPr/>
        <p:nvPr/>
      </p:nvGrpSpPr>
      <p:grpSpPr>
        <a:xfrm>
          <a:off x="0" y="0"/>
          <a:ext cx="0" cy="0"/>
          <a:chOff x="0" y="0"/>
          <a:chExt cx="0" cy="0"/>
        </a:xfrm>
      </p:grpSpPr>
      <p:sp>
        <p:nvSpPr>
          <p:cNvPr id="7597" name="Google Shape;7597;p39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98" name="Google Shape;7598;p3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4" name="Shape 7604"/>
        <p:cNvGrpSpPr/>
        <p:nvPr/>
      </p:nvGrpSpPr>
      <p:grpSpPr>
        <a:xfrm>
          <a:off x="0" y="0"/>
          <a:ext cx="0" cy="0"/>
          <a:chOff x="0" y="0"/>
          <a:chExt cx="0" cy="0"/>
        </a:xfrm>
      </p:grpSpPr>
      <p:sp>
        <p:nvSpPr>
          <p:cNvPr id="7605" name="Google Shape;7605;p3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Risk Management Are You Able To: Three strategic questions testing the bank's analytical maturity for credit, market, and operational risk integration.</a:t>
            </a:r>
            <a:endParaRPr/>
          </a:p>
          <a:p>
            <a:pPr indent="0" lvl="0" marL="0" rtl="0" algn="l">
              <a:spcBef>
                <a:spcPts val="400"/>
              </a:spcBef>
              <a:spcAft>
                <a:spcPts val="0"/>
              </a:spcAft>
              <a:buNone/>
            </a:pPr>
            <a:r>
              <a:rPr lang="en-GB" sz="1200"/>
              <a:t>PD/LGD/EAD calculation links to FSDM Risk domain (86 entities) and Agreement domain. IFRS 9 ECL staging uses FSDM Credit_Risk_Assessment entities.</a:t>
            </a:r>
            <a:endParaRPr/>
          </a:p>
          <a:p>
            <a:pPr indent="0" lvl="0" marL="0" rtl="0" algn="l">
              <a:spcBef>
                <a:spcPts val="400"/>
              </a:spcBef>
              <a:spcAft>
                <a:spcPts val="0"/>
              </a:spcAft>
              <a:buNone/>
            </a:pPr>
            <a:r>
              <a:rPr lang="en-GB" sz="1200"/>
              <a:t>SBP stress testing requirements per BSD Circular 07/2020. Basel III capital adequacy: CET1 6%, Tier 1 7.5%, Total 10.5% minimum. BACR maturity typically Level 2 for Pakistan banks.</a:t>
            </a:r>
            <a:endParaRPr/>
          </a:p>
        </p:txBody>
      </p:sp>
      <p:sp>
        <p:nvSpPr>
          <p:cNvPr id="7606" name="Google Shape;7606;p3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2" name="Shape 7612"/>
        <p:cNvGrpSpPr/>
        <p:nvPr/>
      </p:nvGrpSpPr>
      <p:grpSpPr>
        <a:xfrm>
          <a:off x="0" y="0"/>
          <a:ext cx="0" cy="0"/>
          <a:chOff x="0" y="0"/>
          <a:chExt cx="0" cy="0"/>
        </a:xfrm>
      </p:grpSpPr>
      <p:sp>
        <p:nvSpPr>
          <p:cNvPr id="7613" name="Google Shape;7613;p40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4" name="Google Shape;7614;p4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6" name="Shape 7626"/>
        <p:cNvGrpSpPr/>
        <p:nvPr/>
      </p:nvGrpSpPr>
      <p:grpSpPr>
        <a:xfrm>
          <a:off x="0" y="0"/>
          <a:ext cx="0" cy="0"/>
          <a:chOff x="0" y="0"/>
          <a:chExt cx="0" cy="0"/>
        </a:xfrm>
      </p:grpSpPr>
      <p:sp>
        <p:nvSpPr>
          <p:cNvPr id="7627" name="Google Shape;7627;p40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28" name="Google Shape;7628;p4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5" name="Shape 7635"/>
        <p:cNvGrpSpPr/>
        <p:nvPr/>
      </p:nvGrpSpPr>
      <p:grpSpPr>
        <a:xfrm>
          <a:off x="0" y="0"/>
          <a:ext cx="0" cy="0"/>
          <a:chOff x="0" y="0"/>
          <a:chExt cx="0" cy="0"/>
        </a:xfrm>
      </p:grpSpPr>
      <p:sp>
        <p:nvSpPr>
          <p:cNvPr id="7636" name="Google Shape;7636;p403:notes"/>
          <p:cNvSpPr/>
          <p:nvPr>
            <p:ph idx="2" type="sldImg"/>
          </p:nvPr>
        </p:nvSpPr>
        <p:spPr>
          <a:xfrm>
            <a:off x="80816" y="745727"/>
            <a:ext cx="6696369" cy="3730233"/>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37" name="Google Shape;7637;p4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Common Core for Risk Analytics: The four challenges reflect the typical state of Pakistan's banking sector risk infrastructure.</a:t>
            </a:r>
            <a:endParaRPr/>
          </a:p>
          <a:p>
            <a:pPr indent="0" lvl="0" marL="0" rtl="0" algn="l">
              <a:spcBef>
                <a:spcPts val="400"/>
              </a:spcBef>
              <a:spcAft>
                <a:spcPts val="0"/>
              </a:spcAft>
              <a:buNone/>
            </a:pPr>
            <a:r>
              <a:rPr lang="en-GB" sz="1200"/>
              <a:t>Data fragmentation is the primary blocker. FSDM's canonical model (280+ Risk entities) provides the integration framework across core banking, cards, treasury, and trade finance.</a:t>
            </a:r>
            <a:endParaRPr/>
          </a:p>
          <a:p>
            <a:pPr indent="0" lvl="0" marL="0" rtl="0" algn="l">
              <a:spcBef>
                <a:spcPts val="400"/>
              </a:spcBef>
              <a:spcAft>
                <a:spcPts val="0"/>
              </a:spcAft>
              <a:buNone/>
            </a:pPr>
            <a:r>
              <a:rPr lang="en-GB" sz="1200"/>
              <a:t>SBP regulatory acceleration: IFRS 9 (2018 adoption), Basel III buffers, FATF Mutual Evaluation (2025-2026). BACR assessment shows Level 2 maturity typical.</a:t>
            </a:r>
            <a:endParaRPr/>
          </a:p>
        </p:txBody>
      </p:sp>
      <p:sp>
        <p:nvSpPr>
          <p:cNvPr id="7638" name="Google Shape;7638;p40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9" name="Shape 7659"/>
        <p:cNvGrpSpPr/>
        <p:nvPr/>
      </p:nvGrpSpPr>
      <p:grpSpPr>
        <a:xfrm>
          <a:off x="0" y="0"/>
          <a:ext cx="0" cy="0"/>
          <a:chOff x="0" y="0"/>
          <a:chExt cx="0" cy="0"/>
        </a:xfrm>
      </p:grpSpPr>
      <p:sp>
        <p:nvSpPr>
          <p:cNvPr id="7660" name="Google Shape;7660;p40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61" name="Google Shape;7661;p4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62" name="Google Shape;7662;p4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7" name="Shape 7677"/>
        <p:cNvGrpSpPr/>
        <p:nvPr/>
      </p:nvGrpSpPr>
      <p:grpSpPr>
        <a:xfrm>
          <a:off x="0" y="0"/>
          <a:ext cx="0" cy="0"/>
          <a:chOff x="0" y="0"/>
          <a:chExt cx="0" cy="0"/>
        </a:xfrm>
      </p:grpSpPr>
      <p:sp>
        <p:nvSpPr>
          <p:cNvPr id="7678" name="Google Shape;7678;p4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79" name="Google Shape;7679;p4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80" name="Google Shape;7680;p4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9" name="Shape 7709"/>
        <p:cNvGrpSpPr/>
        <p:nvPr/>
      </p:nvGrpSpPr>
      <p:grpSpPr>
        <a:xfrm>
          <a:off x="0" y="0"/>
          <a:ext cx="0" cy="0"/>
          <a:chOff x="0" y="0"/>
          <a:chExt cx="0" cy="0"/>
        </a:xfrm>
      </p:grpSpPr>
      <p:sp>
        <p:nvSpPr>
          <p:cNvPr id="7710" name="Google Shape;7710;p4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11" name="Google Shape;7711;p4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12" name="Google Shape;7712;p4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1" name="Shape 7741"/>
        <p:cNvGrpSpPr/>
        <p:nvPr/>
      </p:nvGrpSpPr>
      <p:grpSpPr>
        <a:xfrm>
          <a:off x="0" y="0"/>
          <a:ext cx="0" cy="0"/>
          <a:chOff x="0" y="0"/>
          <a:chExt cx="0" cy="0"/>
        </a:xfrm>
      </p:grpSpPr>
      <p:sp>
        <p:nvSpPr>
          <p:cNvPr id="7742" name="Google Shape;7742;p4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43" name="Google Shape;7743;p4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44" name="Google Shape;7744;p4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3" name="Shape 7773"/>
        <p:cNvGrpSpPr/>
        <p:nvPr/>
      </p:nvGrpSpPr>
      <p:grpSpPr>
        <a:xfrm>
          <a:off x="0" y="0"/>
          <a:ext cx="0" cy="0"/>
          <a:chOff x="0" y="0"/>
          <a:chExt cx="0" cy="0"/>
        </a:xfrm>
      </p:grpSpPr>
      <p:sp>
        <p:nvSpPr>
          <p:cNvPr id="7774" name="Google Shape;7774;p4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775" name="Google Shape;7775;p4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76" name="Google Shape;7776;p4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5" name="Shape 7805"/>
        <p:cNvGrpSpPr/>
        <p:nvPr/>
      </p:nvGrpSpPr>
      <p:grpSpPr>
        <a:xfrm>
          <a:off x="0" y="0"/>
          <a:ext cx="0" cy="0"/>
          <a:chOff x="0" y="0"/>
          <a:chExt cx="0" cy="0"/>
        </a:xfrm>
      </p:grpSpPr>
      <p:sp>
        <p:nvSpPr>
          <p:cNvPr id="7806" name="Google Shape;7806;p4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07" name="Google Shape;7807;p4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08" name="Google Shape;7808;p4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7" name="Shape 7837"/>
        <p:cNvGrpSpPr/>
        <p:nvPr/>
      </p:nvGrpSpPr>
      <p:grpSpPr>
        <a:xfrm>
          <a:off x="0" y="0"/>
          <a:ext cx="0" cy="0"/>
          <a:chOff x="0" y="0"/>
          <a:chExt cx="0" cy="0"/>
        </a:xfrm>
      </p:grpSpPr>
      <p:sp>
        <p:nvSpPr>
          <p:cNvPr id="7838" name="Google Shape;7838;p4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39" name="Google Shape;7839;p4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40" name="Google Shape;7840;p4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9" name="Shape 7869"/>
        <p:cNvGrpSpPr/>
        <p:nvPr/>
      </p:nvGrpSpPr>
      <p:grpSpPr>
        <a:xfrm>
          <a:off x="0" y="0"/>
          <a:ext cx="0" cy="0"/>
          <a:chOff x="0" y="0"/>
          <a:chExt cx="0" cy="0"/>
        </a:xfrm>
      </p:grpSpPr>
      <p:sp>
        <p:nvSpPr>
          <p:cNvPr id="7870" name="Google Shape;7870;p4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71" name="Google Shape;7871;p4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72" name="Google Shape;7872;p4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1" name="Shape 7901"/>
        <p:cNvGrpSpPr/>
        <p:nvPr/>
      </p:nvGrpSpPr>
      <p:grpSpPr>
        <a:xfrm>
          <a:off x="0" y="0"/>
          <a:ext cx="0" cy="0"/>
          <a:chOff x="0" y="0"/>
          <a:chExt cx="0" cy="0"/>
        </a:xfrm>
      </p:grpSpPr>
      <p:sp>
        <p:nvSpPr>
          <p:cNvPr id="7902" name="Google Shape;7902;p4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03" name="Google Shape;7903;p4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04" name="Google Shape;7904;p4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3" name="Shape 7933"/>
        <p:cNvGrpSpPr/>
        <p:nvPr/>
      </p:nvGrpSpPr>
      <p:grpSpPr>
        <a:xfrm>
          <a:off x="0" y="0"/>
          <a:ext cx="0" cy="0"/>
          <a:chOff x="0" y="0"/>
          <a:chExt cx="0" cy="0"/>
        </a:xfrm>
      </p:grpSpPr>
      <p:sp>
        <p:nvSpPr>
          <p:cNvPr id="7934" name="Google Shape;7934;p42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35" name="Google Shape;7935;p4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36" name="Google Shape;7936;p4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5" name="Shape 7955"/>
        <p:cNvGrpSpPr/>
        <p:nvPr/>
      </p:nvGrpSpPr>
      <p:grpSpPr>
        <a:xfrm>
          <a:off x="0" y="0"/>
          <a:ext cx="0" cy="0"/>
          <a:chOff x="0" y="0"/>
          <a:chExt cx="0" cy="0"/>
        </a:xfrm>
      </p:grpSpPr>
      <p:sp>
        <p:nvSpPr>
          <p:cNvPr id="7956" name="Google Shape;7956;p4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957" name="Google Shape;7957;p4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958" name="Google Shape;7958;p4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3" name="Shape 7983"/>
        <p:cNvGrpSpPr/>
        <p:nvPr/>
      </p:nvGrpSpPr>
      <p:grpSpPr>
        <a:xfrm>
          <a:off x="0" y="0"/>
          <a:ext cx="0" cy="0"/>
          <a:chOff x="0" y="0"/>
          <a:chExt cx="0" cy="0"/>
        </a:xfrm>
      </p:grpSpPr>
      <p:sp>
        <p:nvSpPr>
          <p:cNvPr id="7984" name="Google Shape;7984;p42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85" name="Google Shape;7985;p4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86" name="Google Shape;7986;p4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5" name="Shape 8015"/>
        <p:cNvGrpSpPr/>
        <p:nvPr/>
      </p:nvGrpSpPr>
      <p:grpSpPr>
        <a:xfrm>
          <a:off x="0" y="0"/>
          <a:ext cx="0" cy="0"/>
          <a:chOff x="0" y="0"/>
          <a:chExt cx="0" cy="0"/>
        </a:xfrm>
      </p:grpSpPr>
      <p:sp>
        <p:nvSpPr>
          <p:cNvPr id="8016" name="Google Shape;8016;p42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17" name="Google Shape;8017;p4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18" name="Google Shape;8018;p4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7" name="Shape 8047"/>
        <p:cNvGrpSpPr/>
        <p:nvPr/>
      </p:nvGrpSpPr>
      <p:grpSpPr>
        <a:xfrm>
          <a:off x="0" y="0"/>
          <a:ext cx="0" cy="0"/>
          <a:chOff x="0" y="0"/>
          <a:chExt cx="0" cy="0"/>
        </a:xfrm>
      </p:grpSpPr>
      <p:sp>
        <p:nvSpPr>
          <p:cNvPr id="8048" name="Google Shape;8048;p42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49" name="Google Shape;8049;p4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50" name="Google Shape;8050;p4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9" name="Shape 8079"/>
        <p:cNvGrpSpPr/>
        <p:nvPr/>
      </p:nvGrpSpPr>
      <p:grpSpPr>
        <a:xfrm>
          <a:off x="0" y="0"/>
          <a:ext cx="0" cy="0"/>
          <a:chOff x="0" y="0"/>
          <a:chExt cx="0" cy="0"/>
        </a:xfrm>
      </p:grpSpPr>
      <p:sp>
        <p:nvSpPr>
          <p:cNvPr id="8080" name="Google Shape;8080;p43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81" name="Google Shape;8081;p4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82" name="Google Shape;8082;p4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rtl="0" algn="l">
              <a:spcBef>
                <a:spcPts val="400"/>
              </a:spcBef>
              <a:spcAft>
                <a:spcPts val="0"/>
              </a:spcAft>
              <a:buNone/>
            </a:pPr>
            <a:r>
              <a:rPr lang="en-GB" sz="1200"/>
              <a:t>New Business Market Intelligence: Capability links origination pipeline data with external market intelligence for strategic credit decisions.</a:t>
            </a:r>
            <a:endParaRPr/>
          </a:p>
          <a:p>
            <a:pPr indent="0" lvl="0" marL="0" rtl="0" algn="l">
              <a:spcBef>
                <a:spcPts val="400"/>
              </a:spcBef>
              <a:spcAft>
                <a:spcPts val="0"/>
              </a:spcAft>
              <a:buNone/>
            </a:pPr>
            <a:r>
              <a:rPr lang="en-GB" sz="1200"/>
              <a:t>Data sources: ECIB (Electronic Credit Information Bureau) for credit bureau data, DataCheck for alternative data. SBP sectoral exposure limits per Prudential Regulation R-6.</a:t>
            </a:r>
            <a:endParaRPr/>
          </a:p>
          <a:p>
            <a:pPr indent="0" lvl="0" marL="0" rtl="0" algn="l">
              <a:spcBef>
                <a:spcPts val="400"/>
              </a:spcBef>
              <a:spcAft>
                <a:spcPts val="0"/>
              </a:spcAft>
              <a:buNone/>
            </a:pPr>
            <a:r>
              <a:rPr lang="en-GB" sz="1200"/>
              <a:t>FSDM entities: Application, Credit_Bureau_Report, Market_Data, Geographic_Region. BACR questions cover origination analytics maturity.</a:t>
            </a:r>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0" name="Shape 8110"/>
        <p:cNvGrpSpPr/>
        <p:nvPr/>
      </p:nvGrpSpPr>
      <p:grpSpPr>
        <a:xfrm>
          <a:off x="0" y="0"/>
          <a:ext cx="0" cy="0"/>
          <a:chOff x="0" y="0"/>
          <a:chExt cx="0" cy="0"/>
        </a:xfrm>
      </p:grpSpPr>
      <p:sp>
        <p:nvSpPr>
          <p:cNvPr id="8111" name="Google Shape;8111;p43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rtl="0" algn="l">
              <a:spcBef>
                <a:spcPts val="400"/>
              </a:spcBef>
              <a:spcAft>
                <a:spcPts val="0"/>
              </a:spcAft>
              <a:buNone/>
            </a:pPr>
            <a:r>
              <a:rPr lang="en-GB" sz="1200"/>
              <a:t>Maturity assessment for New Business Market Intelligence. Most Pakistan banks currently at Developing level (Level 2) with ad-hoc reporting.</a:t>
            </a:r>
            <a:endParaRPr/>
          </a:p>
          <a:p>
            <a:pPr indent="0" lvl="0" marL="0" rtl="0" algn="l">
              <a:spcBef>
                <a:spcPts val="400"/>
              </a:spcBef>
              <a:spcAft>
                <a:spcPts val="0"/>
              </a:spcAft>
              <a:buNone/>
            </a:pPr>
            <a:r>
              <a:rPr lang="en-GB" sz="1200"/>
              <a:t>Target state Innovating (Level 4) requires automated integration of ECIB, SBP sectoral data, and internal pipeline metrics.</a:t>
            </a:r>
            <a:endParaRPr/>
          </a:p>
          <a:p>
            <a:pPr indent="0" lvl="0" marL="0" rtl="0" algn="l">
              <a:spcBef>
                <a:spcPts val="400"/>
              </a:spcBef>
              <a:spcAft>
                <a:spcPts val="0"/>
              </a:spcAft>
              <a:buNone/>
            </a:pPr>
            <a:r>
              <a:rPr lang="en-GB" sz="1200"/>
              <a:t>FSDM provides the data foundation; BACR assessment framework provides the maturity scoring methodology.</a:t>
            </a:r>
            <a:endParaRPr/>
          </a:p>
        </p:txBody>
      </p:sp>
      <p:sp>
        <p:nvSpPr>
          <p:cNvPr id="8112" name="Google Shape;8112;p43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13" name="Google Shape;8113;p4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3" name="Shape 8133"/>
        <p:cNvGrpSpPr/>
        <p:nvPr/>
      </p:nvGrpSpPr>
      <p:grpSpPr>
        <a:xfrm>
          <a:off x="0" y="0"/>
          <a:ext cx="0" cy="0"/>
          <a:chOff x="0" y="0"/>
          <a:chExt cx="0" cy="0"/>
        </a:xfrm>
      </p:grpSpPr>
      <p:sp>
        <p:nvSpPr>
          <p:cNvPr id="8134" name="Google Shape;8134;p4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135" name="Google Shape;8135;p4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136" name="Google Shape;8136;p43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6" name="Shape 8176"/>
        <p:cNvGrpSpPr/>
        <p:nvPr/>
      </p:nvGrpSpPr>
      <p:grpSpPr>
        <a:xfrm>
          <a:off x="0" y="0"/>
          <a:ext cx="0" cy="0"/>
          <a:chOff x="0" y="0"/>
          <a:chExt cx="0" cy="0"/>
        </a:xfrm>
      </p:grpSpPr>
      <p:sp>
        <p:nvSpPr>
          <p:cNvPr id="8177" name="Google Shape;8177;p4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178" name="Google Shape;8178;p43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79" name="Google Shape;8179;p4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8" name="Shape 8208"/>
        <p:cNvGrpSpPr/>
        <p:nvPr/>
      </p:nvGrpSpPr>
      <p:grpSpPr>
        <a:xfrm>
          <a:off x="0" y="0"/>
          <a:ext cx="0" cy="0"/>
          <a:chOff x="0" y="0"/>
          <a:chExt cx="0" cy="0"/>
        </a:xfrm>
      </p:grpSpPr>
      <p:sp>
        <p:nvSpPr>
          <p:cNvPr id="8209" name="Google Shape;8209;p4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210" name="Google Shape;8210;p43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11" name="Google Shape;8211;p4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Operational Risk: Basel II/III definition. SBP requires capital allocation under BIA or TSA for most banks. Larger banks moving toward AMA.</a:t>
            </a:r>
            <a:endParaRPr/>
          </a:p>
          <a:p>
            <a:pPr indent="0" lvl="0" marL="0" rtl="0" algn="l">
              <a:spcBef>
                <a:spcPts val="400"/>
              </a:spcBef>
              <a:spcAft>
                <a:spcPts val="0"/>
              </a:spcAft>
              <a:buNone/>
            </a:pPr>
            <a:r>
              <a:rPr lang="en-GB" sz="1200"/>
              <a:t>SBP Risk Management Guidelines (RM-01 to RM-08) mandate comprehensive operational risk frameworks. Banks with assets &gt;PKR 500B report quarterly.</a:t>
            </a:r>
            <a:endParaRPr/>
          </a:p>
          <a:p>
            <a:pPr indent="0" lvl="0" marL="0" rtl="0" algn="l">
              <a:spcBef>
                <a:spcPts val="400"/>
              </a:spcBef>
              <a:spcAft>
                <a:spcPts val="0"/>
              </a:spcAft>
              <a:buNone/>
            </a:pPr>
            <a:r>
              <a:rPr lang="en-GB" sz="1200"/>
              <a:t>FSDM Operational_Risk domain entities support loss event capture, KRI tracking, and RCSA scoring. BACR operational risk questions at Level 2 typically.</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1" name="Shape 8231"/>
        <p:cNvGrpSpPr/>
        <p:nvPr/>
      </p:nvGrpSpPr>
      <p:grpSpPr>
        <a:xfrm>
          <a:off x="0" y="0"/>
          <a:ext cx="0" cy="0"/>
          <a:chOff x="0" y="0"/>
          <a:chExt cx="0" cy="0"/>
        </a:xfrm>
      </p:grpSpPr>
      <p:sp>
        <p:nvSpPr>
          <p:cNvPr id="8232" name="Google Shape;8232;p4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Six core capabilities for operational risk management: loss event database, KRIs, RCSA, scenario analysis, capital calculation, and automated reporting.</a:t>
            </a:r>
            <a:endParaRPr/>
          </a:p>
          <a:p>
            <a:pPr indent="0" lvl="0" marL="0" rtl="0" algn="l">
              <a:spcBef>
                <a:spcPts val="400"/>
              </a:spcBef>
              <a:spcAft>
                <a:spcPts val="0"/>
              </a:spcAft>
              <a:buNone/>
            </a:pPr>
            <a:r>
              <a:rPr lang="en-GB" sz="1200"/>
              <a:t>Basel 7 event types: Internal Fraud, External Fraud, Employment Practices, Clients/Products, Physical Assets, Business Disruption, Execution/Delivery/Process Management.</a:t>
            </a:r>
            <a:endParaRPr/>
          </a:p>
          <a:p>
            <a:pPr indent="0" lvl="0" marL="0" rtl="0" algn="l">
              <a:spcBef>
                <a:spcPts val="400"/>
              </a:spcBef>
              <a:spcAft>
                <a:spcPts val="0"/>
              </a:spcAft>
              <a:buNone/>
            </a:pPr>
            <a:r>
              <a:rPr lang="en-GB" sz="1200"/>
              <a:t>FSDM supports all operational risk data requirements through Operational_Risk_Event, Key_Risk_Indicator, and Risk_Control_Assessment entities.</a:t>
            </a:r>
            <a:endParaRPr/>
          </a:p>
        </p:txBody>
      </p:sp>
      <p:sp>
        <p:nvSpPr>
          <p:cNvPr id="8233" name="Google Shape;8233;p4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0" name="Shape 8240"/>
        <p:cNvGrpSpPr/>
        <p:nvPr/>
      </p:nvGrpSpPr>
      <p:grpSpPr>
        <a:xfrm>
          <a:off x="0" y="0"/>
          <a:ext cx="0" cy="0"/>
          <a:chOff x="0" y="0"/>
          <a:chExt cx="0" cy="0"/>
        </a:xfrm>
      </p:grpSpPr>
      <p:sp>
        <p:nvSpPr>
          <p:cNvPr id="8241" name="Google Shape;8241;p44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242" name="Google Shape;8242;p4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Four key challenges in operational risk analytics for Pakistan banks. Data collection quality is the biggest gap.</a:t>
            </a:r>
            <a:endParaRPr/>
          </a:p>
          <a:p>
            <a:pPr indent="0" lvl="0" marL="0" rtl="0" algn="l">
              <a:spcBef>
                <a:spcPts val="400"/>
              </a:spcBef>
              <a:spcAft>
                <a:spcPts val="0"/>
              </a:spcAft>
              <a:buNone/>
            </a:pPr>
            <a:r>
              <a:rPr lang="en-GB" sz="1200"/>
              <a:t>Most banks capture losses only above PKR 1M threshold. Near-misses and emerging risks (cyber, digital fraud) are poorly tracked.</a:t>
            </a:r>
            <a:endParaRPr/>
          </a:p>
          <a:p>
            <a:pPr indent="0" lvl="0" marL="0" rtl="0" algn="l">
              <a:spcBef>
                <a:spcPts val="400"/>
              </a:spcBef>
              <a:spcAft>
                <a:spcPts val="0"/>
              </a:spcAft>
              <a:buNone/>
            </a:pPr>
            <a:r>
              <a:rPr lang="en-GB" sz="1200"/>
              <a:t>SBP has been cautious about AMA approvals, keeping most banks on BIA/TSA. This limits incentive for advanced analytics investment.</a:t>
            </a:r>
            <a:endParaRPr/>
          </a:p>
        </p:txBody>
      </p:sp>
      <p:sp>
        <p:nvSpPr>
          <p:cNvPr id="8243" name="Google Shape;8243;p44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rtl="0" algn="l">
              <a:spcBef>
                <a:spcPts val="400"/>
              </a:spcBef>
              <a:spcAft>
                <a:spcPts val="0"/>
              </a:spcAft>
              <a:buNone/>
            </a:pPr>
            <a:r>
              <a:rPr lang="en-GB" sz="1200"/>
              <a:t>Operational Risk Management capability: Enterprise-wide identification, assessment, monitoring, and mitigation of operational risks.</a:t>
            </a:r>
            <a:endParaRPr/>
          </a:p>
          <a:p>
            <a:pPr indent="0" lvl="0" marL="0" rtl="0" algn="l">
              <a:spcBef>
                <a:spcPts val="400"/>
              </a:spcBef>
              <a:spcAft>
                <a:spcPts val="0"/>
              </a:spcAft>
              <a:buNone/>
            </a:pPr>
            <a:r>
              <a:rPr lang="en-GB" sz="1200"/>
              <a:t>Data requirements span loss events, KRIs, RCSA scores, IT incidents, customer complaints, and regulatory correspondence. FSDM provides canonical model.</a:t>
            </a:r>
            <a:endParaRPr/>
          </a:p>
          <a:p>
            <a:pPr indent="0" lvl="0" marL="0" rtl="0" algn="l">
              <a:spcBef>
                <a:spcPts val="400"/>
              </a:spcBef>
              <a:spcAft>
                <a:spcPts val="0"/>
              </a:spcAft>
              <a:buNone/>
            </a:pPr>
            <a:r>
              <a:rPr lang="en-GB" sz="1200"/>
              <a:t>Analytics include loss distribution modeling, Monte Carlo simulation, and text mining. Capital calculation must comply with SBP-approved methodology.</a:t>
            </a:r>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3" name="Shape 8283"/>
        <p:cNvGrpSpPr/>
        <p:nvPr/>
      </p:nvGrpSpPr>
      <p:grpSpPr>
        <a:xfrm>
          <a:off x="0" y="0"/>
          <a:ext cx="0" cy="0"/>
          <a:chOff x="0" y="0"/>
          <a:chExt cx="0" cy="0"/>
        </a:xfrm>
      </p:grpSpPr>
      <p:sp>
        <p:nvSpPr>
          <p:cNvPr id="8284" name="Google Shape;8284;p4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rtl="0" algn="l">
              <a:spcBef>
                <a:spcPts val="400"/>
              </a:spcBef>
              <a:spcAft>
                <a:spcPts val="0"/>
              </a:spcAft>
              <a:buNone/>
            </a:pPr>
            <a:r>
              <a:rPr lang="en-GB" sz="1200"/>
              <a:t>Maturity assessment for Operational Risk Management. Most Pakistan banks at Developing level (BIA capital, inconsistent loss collection).</a:t>
            </a:r>
            <a:endParaRPr/>
          </a:p>
          <a:p>
            <a:pPr indent="0" lvl="0" marL="0" rtl="0" algn="l">
              <a:spcBef>
                <a:spcPts val="400"/>
              </a:spcBef>
              <a:spcAft>
                <a:spcPts val="0"/>
              </a:spcAft>
              <a:buNone/>
            </a:pPr>
            <a:r>
              <a:rPr lang="en-GB" sz="1200"/>
              <a:t>Target state Practicing requires Basel event taxonomy, monthly KRIs, and annual RCSA. Moving to Innovating needs advanced scenario analysis.</a:t>
            </a:r>
            <a:endParaRPr/>
          </a:p>
          <a:p>
            <a:pPr indent="0" lvl="0" marL="0" rtl="0" algn="l">
              <a:spcBef>
                <a:spcPts val="400"/>
              </a:spcBef>
              <a:spcAft>
                <a:spcPts val="0"/>
              </a:spcAft>
              <a:buNone/>
            </a:pPr>
            <a:r>
              <a:rPr lang="en-GB" sz="1200"/>
              <a:t>BACR assessment framework provides detailed scoring across operational risk subcategories. Updated timeframe to 2025-2026.</a:t>
            </a:r>
            <a:endParaRPr/>
          </a:p>
        </p:txBody>
      </p:sp>
      <p:sp>
        <p:nvSpPr>
          <p:cNvPr id="8285" name="Google Shape;8285;p4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86" name="Google Shape;8286;p4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6" name="Shape 8306"/>
        <p:cNvGrpSpPr/>
        <p:nvPr/>
      </p:nvGrpSpPr>
      <p:grpSpPr>
        <a:xfrm>
          <a:off x="0" y="0"/>
          <a:ext cx="0" cy="0"/>
          <a:chOff x="0" y="0"/>
          <a:chExt cx="0" cy="0"/>
        </a:xfrm>
      </p:grpSpPr>
      <p:sp>
        <p:nvSpPr>
          <p:cNvPr id="8307" name="Google Shape;8307;p44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308" name="Google Shape;8308;p4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5" name="Shape 8315"/>
        <p:cNvGrpSpPr/>
        <p:nvPr/>
      </p:nvGrpSpPr>
      <p:grpSpPr>
        <a:xfrm>
          <a:off x="0" y="0"/>
          <a:ext cx="0" cy="0"/>
          <a:chOff x="0" y="0"/>
          <a:chExt cx="0" cy="0"/>
        </a:xfrm>
      </p:grpSpPr>
      <p:sp>
        <p:nvSpPr>
          <p:cNvPr id="8316" name="Google Shape;8316;p44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317" name="Google Shape;8317;p4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Collections &amp; Recoveries challenges: Balancing recovery optimization with SBP regulatory timelines and IFRS 9 provisioning requirements.</a:t>
            </a:r>
            <a:endParaRPr/>
          </a:p>
          <a:p>
            <a:pPr indent="0" lvl="0" marL="0" rtl="0" algn="l">
              <a:spcBef>
                <a:spcPts val="400"/>
              </a:spcBef>
              <a:spcAft>
                <a:spcPts val="0"/>
              </a:spcAft>
              <a:buNone/>
            </a:pPr>
            <a:r>
              <a:rPr lang="en-GB" sz="1200"/>
              <a:t>SBP Prudential Regulations: OAEM (90 days), Substandard (180 days), Doubtful (1 year), Loss (varies). Forced sale timelines per PR-8.</a:t>
            </a:r>
            <a:endParaRPr/>
          </a:p>
          <a:p>
            <a:pPr indent="0" lvl="0" marL="0" rtl="0" algn="l">
              <a:spcBef>
                <a:spcPts val="400"/>
              </a:spcBef>
              <a:spcAft>
                <a:spcPts val="0"/>
              </a:spcAft>
              <a:buNone/>
            </a:pPr>
            <a:r>
              <a:rPr lang="en-GB" sz="1200"/>
              <a:t>IFRS 9 Stage 3 interaction: Collections cash flows directly impact ECL provisions. Recovery must be discounted at original effective interest rate.</a:t>
            </a:r>
            <a:endParaRPr/>
          </a:p>
        </p:txBody>
      </p:sp>
      <p:sp>
        <p:nvSpPr>
          <p:cNvPr id="8318" name="Google Shape;8318;p44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8" name="Shape 8358"/>
        <p:cNvGrpSpPr/>
        <p:nvPr/>
      </p:nvGrpSpPr>
      <p:grpSpPr>
        <a:xfrm>
          <a:off x="0" y="0"/>
          <a:ext cx="0" cy="0"/>
          <a:chOff x="0" y="0"/>
          <a:chExt cx="0" cy="0"/>
        </a:xfrm>
      </p:grpSpPr>
      <p:sp>
        <p:nvSpPr>
          <p:cNvPr id="8359" name="Google Shape;8359;p4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60" name="Google Shape;8360;p4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61" name="Google Shape;8361;p4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8.xml"/><Relationship Id="rId3" Type="http://schemas.openxmlformats.org/officeDocument/2006/relationships/image" Target="../media/image78.jpg"/><Relationship Id="rId4" Type="http://schemas.openxmlformats.org/officeDocument/2006/relationships/slide" Target="slide390.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9.xml"/><Relationship Id="rId3" Type="http://schemas.openxmlformats.org/officeDocument/2006/relationships/image" Target="../media/image78.jpg"/><Relationship Id="rId4" Type="http://schemas.openxmlformats.org/officeDocument/2006/relationships/slide" Target="slide390.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0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02.xml"/><Relationship Id="rId3" Type="http://schemas.openxmlformats.org/officeDocument/2006/relationships/image" Target="../media/image92.jpg"/><Relationship Id="rId4" Type="http://schemas.openxmlformats.org/officeDocument/2006/relationships/slide" Target="slide391.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4.xml"/><Relationship Id="rId3" Type="http://schemas.openxmlformats.org/officeDocument/2006/relationships/slide" Target="slide394.xml"/><Relationship Id="rId4" Type="http://schemas.openxmlformats.org/officeDocument/2006/relationships/slide" Target="slide391.xml"/><Relationship Id="rId5" Type="http://schemas.openxmlformats.org/officeDocument/2006/relationships/image" Target="../media/image88.jp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5.xml"/><Relationship Id="rId3"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7.xml"/><Relationship Id="rId3" Type="http://schemas.openxmlformats.org/officeDocument/2006/relationships/slide" Target="slide391.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9.xml"/><Relationship Id="rId3" Type="http://schemas.openxmlformats.org/officeDocument/2006/relationships/slide" Target="slide391.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1.xml"/><Relationship Id="rId3" Type="http://schemas.openxmlformats.org/officeDocument/2006/relationships/slide" Target="slide391.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3.xml"/><Relationship Id="rId3" Type="http://schemas.openxmlformats.org/officeDocument/2006/relationships/slide" Target="slide391.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5.xml"/><Relationship Id="rId3" Type="http://schemas.openxmlformats.org/officeDocument/2006/relationships/slide" Target="slide391.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7.xml"/><Relationship Id="rId3" Type="http://schemas.openxmlformats.org/officeDocument/2006/relationships/slide" Target="slide391.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9.xml"/><Relationship Id="rId3" Type="http://schemas.openxmlformats.org/officeDocument/2006/relationships/slide" Target="slide391.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1.xml"/><Relationship Id="rId3" Type="http://schemas.openxmlformats.org/officeDocument/2006/relationships/slide" Target="slide39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3.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5.xml"/><Relationship Id="rId3" Type="http://schemas.openxmlformats.org/officeDocument/2006/relationships/slide" Target="slide39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7.xml"/><Relationship Id="rId3" Type="http://schemas.openxmlformats.org/officeDocument/2006/relationships/slide" Target="slide39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9.xml"/><Relationship Id="rId3" Type="http://schemas.openxmlformats.org/officeDocument/2006/relationships/slide" Target="slide39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1.xml"/><Relationship Id="rId3" Type="http://schemas.openxmlformats.org/officeDocument/2006/relationships/slide" Target="slide39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3.xml"/><Relationship Id="rId3" Type="http://schemas.openxmlformats.org/officeDocument/2006/relationships/slide" Target="slide39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5.xml"/><Relationship Id="rId3"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7.xml"/><Relationship Id="rId3" Type="http://schemas.openxmlformats.org/officeDocument/2006/relationships/slide" Target="slide39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9.xml"/><Relationship Id="rId3" Type="http://schemas.openxmlformats.org/officeDocument/2006/relationships/slide" Target="slide39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41.xml"/><Relationship Id="rId3" Type="http://schemas.openxmlformats.org/officeDocument/2006/relationships/image" Target="../media/image89.jpg"/><Relationship Id="rId4" Type="http://schemas.openxmlformats.org/officeDocument/2006/relationships/slide" Target="slide393.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2.xml"/><Relationship Id="rId3"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44.xml"/><Relationship Id="rId3" Type="http://schemas.openxmlformats.org/officeDocument/2006/relationships/slide" Target="slide393.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46.xml"/><Relationship Id="rId3" Type="http://schemas.openxmlformats.org/officeDocument/2006/relationships/image" Target="../media/image89.jpg"/><Relationship Id="rId4" Type="http://schemas.openxmlformats.org/officeDocument/2006/relationships/slide" Target="slide393.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7.xml"/><Relationship Id="rId3"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49.xml"/><Relationship Id="rId3" Type="http://schemas.openxmlformats.org/officeDocument/2006/relationships/slide" Target="slide393.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9" name="Shape 7599"/>
        <p:cNvGrpSpPr/>
        <p:nvPr/>
      </p:nvGrpSpPr>
      <p:grpSpPr>
        <a:xfrm>
          <a:off x="0" y="0"/>
          <a:ext cx="0" cy="0"/>
          <a:chOff x="0" y="0"/>
          <a:chExt cx="0" cy="0"/>
        </a:xfrm>
      </p:grpSpPr>
      <p:sp>
        <p:nvSpPr>
          <p:cNvPr id="7600" name="Google Shape;7600;p428"/>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169863" lvl="0" marL="169863" rtl="0" algn="l">
              <a:lnSpc>
                <a:spcPct val="110000"/>
              </a:lnSpc>
              <a:spcBef>
                <a:spcPts val="0"/>
              </a:spcBef>
              <a:spcAft>
                <a:spcPts val="0"/>
              </a:spcAft>
              <a:buClr>
                <a:schemeClr val="dk1"/>
              </a:buClr>
              <a:buSzPts val="1600"/>
              <a:buChar char="•"/>
            </a:pPr>
            <a:r>
              <a:rPr lang="en-GB" sz="1600"/>
              <a:t>Common Core for Risk Analytics</a:t>
            </a:r>
            <a:endParaRPr/>
          </a:p>
          <a:p>
            <a:pPr indent="-169863" lvl="0" marL="169863" rtl="0" algn="l">
              <a:lnSpc>
                <a:spcPct val="110000"/>
              </a:lnSpc>
              <a:spcBef>
                <a:spcPts val="800"/>
              </a:spcBef>
              <a:spcAft>
                <a:spcPts val="0"/>
              </a:spcAft>
              <a:buClr>
                <a:schemeClr val="dk1"/>
              </a:buClr>
              <a:buSzPts val="1600"/>
              <a:buChar char="•"/>
            </a:pPr>
            <a:r>
              <a:rPr lang="en-GB" sz="1600"/>
              <a:t>Credit Risk</a:t>
            </a:r>
            <a:endParaRPr/>
          </a:p>
          <a:p>
            <a:pPr indent="-169863" lvl="0" marL="169863" rtl="0" algn="l">
              <a:lnSpc>
                <a:spcPct val="110000"/>
              </a:lnSpc>
              <a:spcBef>
                <a:spcPts val="800"/>
              </a:spcBef>
              <a:spcAft>
                <a:spcPts val="0"/>
              </a:spcAft>
              <a:buClr>
                <a:schemeClr val="dk1"/>
              </a:buClr>
              <a:buSzPts val="1600"/>
              <a:buChar char="•"/>
            </a:pPr>
            <a:r>
              <a:rPr lang="en-GB" sz="1600"/>
              <a:t>Market Risk</a:t>
            </a:r>
            <a:endParaRPr/>
          </a:p>
          <a:p>
            <a:pPr indent="-169863" lvl="0" marL="169863" rtl="0" algn="l">
              <a:lnSpc>
                <a:spcPct val="110000"/>
              </a:lnSpc>
              <a:spcBef>
                <a:spcPts val="800"/>
              </a:spcBef>
              <a:spcAft>
                <a:spcPts val="0"/>
              </a:spcAft>
              <a:buClr>
                <a:schemeClr val="dk1"/>
              </a:buClr>
              <a:buSzPts val="1600"/>
              <a:buChar char="•"/>
            </a:pPr>
            <a:r>
              <a:rPr lang="en-GB" sz="1600"/>
              <a:t>Revenue Integrity</a:t>
            </a:r>
            <a:endParaRPr/>
          </a:p>
          <a:p>
            <a:pPr indent="-169863" lvl="0" marL="169863" rtl="0" algn="l">
              <a:lnSpc>
                <a:spcPct val="110000"/>
              </a:lnSpc>
              <a:spcBef>
                <a:spcPts val="800"/>
              </a:spcBef>
              <a:spcAft>
                <a:spcPts val="0"/>
              </a:spcAft>
              <a:buClr>
                <a:schemeClr val="dk1"/>
              </a:buClr>
              <a:buSzPts val="1600"/>
              <a:buChar char="•"/>
            </a:pPr>
            <a:r>
              <a:rPr lang="en-GB" sz="1600"/>
              <a:t>Collections</a:t>
            </a:r>
            <a:endParaRPr sz="1600"/>
          </a:p>
        </p:txBody>
      </p:sp>
      <p:sp>
        <p:nvSpPr>
          <p:cNvPr id="7601" name="Google Shape;7601;p428"/>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Risk Mitigation &amp; Management</a:t>
            </a:r>
            <a:endParaRPr/>
          </a:p>
        </p:txBody>
      </p:sp>
      <p:pic>
        <p:nvPicPr>
          <p:cNvPr descr="DIS-1001-H.jpg" id="7602" name="Google Shape;7602;p428"/>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603" name="Google Shape;7603;p428">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7" name="Shape 7607"/>
        <p:cNvGrpSpPr/>
        <p:nvPr/>
      </p:nvGrpSpPr>
      <p:grpSpPr>
        <a:xfrm>
          <a:off x="0" y="0"/>
          <a:ext cx="0" cy="0"/>
          <a:chOff x="0" y="0"/>
          <a:chExt cx="0" cy="0"/>
        </a:xfrm>
      </p:grpSpPr>
      <p:sp>
        <p:nvSpPr>
          <p:cNvPr id="7608" name="Google Shape;7608;p4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Mitigation &amp; Management</a:t>
            </a:r>
            <a:endParaRPr/>
          </a:p>
        </p:txBody>
      </p:sp>
      <p:pic>
        <p:nvPicPr>
          <p:cNvPr descr="DIS-1001-H.jpg" id="7609" name="Google Shape;7609;p429"/>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610" name="Google Shape;7610;p429"/>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85000"/>
              </a:lnSpc>
              <a:spcBef>
                <a:spcPts val="200"/>
              </a:spcBef>
              <a:spcAft>
                <a:spcPts val="0"/>
              </a:spcAft>
              <a:buClr>
                <a:schemeClr val="dk1"/>
              </a:buClr>
              <a:buSzPts val="1400"/>
              <a:buChar char="–"/>
            </a:pPr>
            <a:r>
              <a:rPr lang="en-GB" sz="1400"/>
              <a:t>Can you calculate Probability of Default (PD), Loss Given Default (LGD), and Exposure at Default (EAD) at individual account level across all lending products, and aggregate these for IFRS 9 Expected Credit Loss staging (Stage 1/2/3)?</a:t>
            </a:r>
            <a:endParaRPr/>
          </a:p>
          <a:p>
            <a:pPr indent="-228600" lvl="1" marL="457200" rtl="0" algn="l">
              <a:lnSpc>
                <a:spcPct val="85000"/>
              </a:lnSpc>
              <a:spcBef>
                <a:spcPts val="200"/>
              </a:spcBef>
              <a:spcAft>
                <a:spcPts val="0"/>
              </a:spcAft>
              <a:buClr>
                <a:schemeClr val="dk1"/>
              </a:buClr>
              <a:buSzPts val="1400"/>
              <a:buChar char="–"/>
            </a:pPr>
            <a:r>
              <a:rPr lang="en-GB" sz="1400"/>
              <a:t>Can you perform real-time stress testing under SBP-mandated macroeconomic scenarios (GDP contraction, PKR devaluation, KIBOR spike) and produce Basel III capital adequacy impact within 24 hours?</a:t>
            </a:r>
            <a:endParaRPr/>
          </a:p>
          <a:p>
            <a:pPr indent="-228600" lvl="1" marL="457200" rtl="0" algn="l">
              <a:lnSpc>
                <a:spcPct val="85000"/>
              </a:lnSpc>
              <a:spcBef>
                <a:spcPts val="200"/>
              </a:spcBef>
              <a:spcAft>
                <a:spcPts val="0"/>
              </a:spcAft>
              <a:buClr>
                <a:schemeClr val="dk1"/>
              </a:buClr>
              <a:buSzPts val="1400"/>
              <a:buChar char="–"/>
            </a:pPr>
            <a:r>
              <a:rPr lang="en-GB" sz="1400"/>
              <a:t>Can you provide a unified risk dashboard integrating credit risk, market risk, operational risk, and liquidity risk with drill-through from portfolio-level concentrations to individual obligor exposures?</a:t>
            </a:r>
            <a:endParaRPr sz="1200"/>
          </a:p>
          <a:p>
            <a:pPr indent="-152400" lvl="1" marL="457200" rtl="0" algn="l">
              <a:lnSpc>
                <a:spcPct val="85000"/>
              </a:lnSpc>
              <a:spcBef>
                <a:spcPts val="1400"/>
              </a:spcBef>
              <a:spcAft>
                <a:spcPts val="0"/>
              </a:spcAft>
              <a:buClr>
                <a:schemeClr val="dk1"/>
              </a:buClr>
              <a:buSzPts val="1200"/>
              <a:buNone/>
            </a:pPr>
            <a:r>
              <a:t/>
            </a:r>
            <a:endParaRPr sz="1200"/>
          </a:p>
          <a:p>
            <a:pPr indent="-152400" lvl="1" marL="457200" rtl="0" algn="l">
              <a:lnSpc>
                <a:spcPct val="85000"/>
              </a:lnSpc>
              <a:spcBef>
                <a:spcPts val="400"/>
              </a:spcBef>
              <a:spcAft>
                <a:spcPts val="0"/>
              </a:spcAft>
              <a:buClr>
                <a:schemeClr val="dk1"/>
              </a:buClr>
              <a:buSzPts val="1200"/>
              <a:buNone/>
            </a:pPr>
            <a:r>
              <a:t/>
            </a:r>
            <a:endParaRPr sz="1200"/>
          </a:p>
          <a:p>
            <a:pPr indent="-80963" lvl="0" marL="169863" rtl="0" algn="l">
              <a:lnSpc>
                <a:spcPct val="95000"/>
              </a:lnSpc>
              <a:spcBef>
                <a:spcPts val="800"/>
              </a:spcBef>
              <a:spcAft>
                <a:spcPts val="0"/>
              </a:spcAft>
              <a:buClr>
                <a:schemeClr val="dk1"/>
              </a:buClr>
              <a:buSzPts val="1400"/>
              <a:buNone/>
            </a:pPr>
            <a:r>
              <a:t/>
            </a:r>
            <a:endParaRPr sz="1400"/>
          </a:p>
        </p:txBody>
      </p:sp>
      <p:sp>
        <p:nvSpPr>
          <p:cNvPr id="7611" name="Google Shape;7611;p42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5" name="Shape 7615"/>
        <p:cNvGrpSpPr/>
        <p:nvPr/>
      </p:nvGrpSpPr>
      <p:grpSpPr>
        <a:xfrm>
          <a:off x="0" y="0"/>
          <a:ext cx="0" cy="0"/>
          <a:chOff x="0" y="0"/>
          <a:chExt cx="0" cy="0"/>
        </a:xfrm>
      </p:grpSpPr>
      <p:sp>
        <p:nvSpPr>
          <p:cNvPr id="7616" name="Google Shape;7616;p430"/>
          <p:cNvSpPr txBox="1"/>
          <p:nvPr>
            <p:ph idx="1" type="body"/>
          </p:nvPr>
        </p:nvSpPr>
        <p:spPr>
          <a:xfrm>
            <a:off x="0" y="2168451"/>
            <a:ext cx="9144000" cy="80663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Risk Management &amp; Mitigation</a:t>
            </a:r>
            <a:br>
              <a:rPr lang="en-GB"/>
            </a:br>
            <a:r>
              <a:rPr lang="en-GB"/>
              <a:t>Capabilities</a:t>
            </a:r>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9" name="Shape 7629"/>
        <p:cNvGrpSpPr/>
        <p:nvPr/>
      </p:nvGrpSpPr>
      <p:grpSpPr>
        <a:xfrm>
          <a:off x="0" y="0"/>
          <a:ext cx="0" cy="0"/>
          <a:chOff x="0" y="0"/>
          <a:chExt cx="0" cy="0"/>
        </a:xfrm>
      </p:grpSpPr>
      <p:sp>
        <p:nvSpPr>
          <p:cNvPr id="7630" name="Google Shape;7630;p43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1" name="Google Shape;7631;p432"/>
          <p:cNvSpPr txBox="1"/>
          <p:nvPr>
            <p:ph idx="1" type="body"/>
          </p:nvPr>
        </p:nvSpPr>
        <p:spPr>
          <a:xfrm>
            <a:off x="270933" y="604172"/>
            <a:ext cx="5226755"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400"/>
              <a:buChar char="•"/>
            </a:pPr>
            <a:r>
              <a:rPr lang="en-GB" sz="1400"/>
              <a:t>Provide all teams responsible for Risk Management, Fraud, Regulation and Compliance with access to a shared data and analytical infrastructure which:</a:t>
            </a:r>
            <a:endParaRPr/>
          </a:p>
          <a:p>
            <a:pPr indent="-230187" lvl="1" marL="515938" rtl="0" algn="just">
              <a:lnSpc>
                <a:spcPct val="85000"/>
              </a:lnSpc>
              <a:spcBef>
                <a:spcPts val="600"/>
              </a:spcBef>
              <a:spcAft>
                <a:spcPts val="0"/>
              </a:spcAft>
              <a:buClr>
                <a:schemeClr val="dk1"/>
              </a:buClr>
              <a:buSzPts val="1200"/>
              <a:buChar char="–"/>
            </a:pPr>
            <a:r>
              <a:rPr lang="en-GB" sz="1200"/>
              <a:t>Contains common, integrated data with agreed definitions and well-defined quality metrics</a:t>
            </a:r>
            <a:endParaRPr/>
          </a:p>
          <a:p>
            <a:pPr indent="-230187" lvl="1" marL="515938" rtl="0" algn="just">
              <a:lnSpc>
                <a:spcPct val="85000"/>
              </a:lnSpc>
              <a:spcBef>
                <a:spcPts val="600"/>
              </a:spcBef>
              <a:spcAft>
                <a:spcPts val="0"/>
              </a:spcAft>
              <a:buClr>
                <a:schemeClr val="dk1"/>
              </a:buClr>
              <a:buSzPts val="1200"/>
              <a:buChar char="–"/>
            </a:pPr>
            <a:r>
              <a:rPr lang="en-GB" sz="1200"/>
              <a:t>Supports both traditional structured data and multi-structured data such as web, logs, text, sensors, images etc.</a:t>
            </a:r>
            <a:endParaRPr/>
          </a:p>
          <a:p>
            <a:pPr indent="-230187" lvl="1" marL="515938" rtl="0" algn="just">
              <a:lnSpc>
                <a:spcPct val="85000"/>
              </a:lnSpc>
              <a:spcBef>
                <a:spcPts val="600"/>
              </a:spcBef>
              <a:spcAft>
                <a:spcPts val="0"/>
              </a:spcAft>
              <a:buClr>
                <a:schemeClr val="dk1"/>
              </a:buClr>
              <a:buSzPts val="1200"/>
              <a:buChar char="–"/>
            </a:pPr>
            <a:r>
              <a:rPr lang="en-GB" sz="1200"/>
              <a:t>Delivers access to data and analytical capabilities which can operate against all available data, and which meet the needs of diverse end-users e.g.</a:t>
            </a:r>
            <a:endParaRPr/>
          </a:p>
          <a:p>
            <a:pPr indent="-171450" lvl="2" marL="687388" rtl="0" algn="just">
              <a:lnSpc>
                <a:spcPct val="85000"/>
              </a:lnSpc>
              <a:spcBef>
                <a:spcPts val="600"/>
              </a:spcBef>
              <a:spcAft>
                <a:spcPts val="0"/>
              </a:spcAft>
              <a:buClr>
                <a:schemeClr val="dk1"/>
              </a:buClr>
              <a:buSzPts val="1000"/>
              <a:buChar char="-"/>
            </a:pPr>
            <a:r>
              <a:rPr lang="en-GB" sz="1000"/>
              <a:t>Reporting, BI and dashboards</a:t>
            </a:r>
            <a:endParaRPr/>
          </a:p>
          <a:p>
            <a:pPr indent="-171450" lvl="2" marL="687388" rtl="0" algn="just">
              <a:lnSpc>
                <a:spcPct val="85000"/>
              </a:lnSpc>
              <a:spcBef>
                <a:spcPts val="600"/>
              </a:spcBef>
              <a:spcAft>
                <a:spcPts val="0"/>
              </a:spcAft>
              <a:buClr>
                <a:schemeClr val="dk1"/>
              </a:buClr>
              <a:buSzPts val="1000"/>
              <a:buChar char="-"/>
            </a:pPr>
            <a:r>
              <a:rPr lang="en-GB" sz="1000"/>
              <a:t>Statistical and other traditional analytical tools and applications – often including the capability to execute in-database analytics for the highest performance</a:t>
            </a:r>
            <a:endParaRPr/>
          </a:p>
          <a:p>
            <a:pPr indent="-171450" lvl="2" marL="687388" rtl="0" algn="just">
              <a:lnSpc>
                <a:spcPct val="85000"/>
              </a:lnSpc>
              <a:spcBef>
                <a:spcPts val="600"/>
              </a:spcBef>
              <a:spcAft>
                <a:spcPts val="0"/>
              </a:spcAft>
              <a:buClr>
                <a:schemeClr val="dk1"/>
              </a:buClr>
              <a:buSzPts val="1000"/>
              <a:buChar char="-"/>
            </a:pPr>
            <a:r>
              <a:rPr lang="en-GB" sz="1000"/>
              <a:t>Modern analytical development tools and languages, such as R and Python</a:t>
            </a:r>
            <a:endParaRPr/>
          </a:p>
          <a:p>
            <a:pPr indent="-171450" lvl="2" marL="687388" rtl="0" algn="just">
              <a:lnSpc>
                <a:spcPct val="85000"/>
              </a:lnSpc>
              <a:spcBef>
                <a:spcPts val="600"/>
              </a:spcBef>
              <a:spcAft>
                <a:spcPts val="0"/>
              </a:spcAft>
              <a:buClr>
                <a:schemeClr val="dk1"/>
              </a:buClr>
              <a:buSzPts val="1000"/>
              <a:buChar char="-"/>
            </a:pPr>
            <a:r>
              <a:rPr lang="en-GB" sz="1000"/>
              <a:t>Multi-genre analytical tools which span structured and multi-structured data, and deliver new analytical and visualisation capabilities</a:t>
            </a:r>
            <a:endParaRPr/>
          </a:p>
          <a:p>
            <a:pPr indent="-230187" lvl="1" marL="515938" rtl="0" algn="just">
              <a:lnSpc>
                <a:spcPct val="85000"/>
              </a:lnSpc>
              <a:spcBef>
                <a:spcPts val="600"/>
              </a:spcBef>
              <a:spcAft>
                <a:spcPts val="0"/>
              </a:spcAft>
              <a:buClr>
                <a:schemeClr val="dk1"/>
              </a:buClr>
              <a:buSzPts val="1200"/>
              <a:buChar char="–"/>
            </a:pPr>
            <a:r>
              <a:rPr lang="en-GB" sz="1200"/>
              <a:t>Meets all critical business SLAs such as timeliness, quality, query and analytical performance</a:t>
            </a:r>
            <a:endParaRPr sz="1200"/>
          </a:p>
        </p:txBody>
      </p:sp>
      <p:sp>
        <p:nvSpPr>
          <p:cNvPr id="7632" name="Google Shape;7632;p432"/>
          <p:cNvSpPr txBox="1"/>
          <p:nvPr>
            <p:ph type="title"/>
          </p:nvPr>
        </p:nvSpPr>
        <p:spPr>
          <a:xfrm>
            <a:off x="259644" y="174273"/>
            <a:ext cx="5653476"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pic>
        <p:nvPicPr>
          <p:cNvPr id="7633" name="Google Shape;7633;p432"/>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7634" name="Google Shape;7634;p43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9" name="Shape 7639"/>
        <p:cNvGrpSpPr/>
        <p:nvPr/>
      </p:nvGrpSpPr>
      <p:grpSpPr>
        <a:xfrm>
          <a:off x="0" y="0"/>
          <a:ext cx="0" cy="0"/>
          <a:chOff x="0" y="0"/>
          <a:chExt cx="0" cy="0"/>
        </a:xfrm>
      </p:grpSpPr>
      <p:sp>
        <p:nvSpPr>
          <p:cNvPr id="7640" name="Google Shape;7640;p433"/>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r>
              <a:rPr lang="en-GB"/>
              <a:t>What are the challenges?</a:t>
            </a:r>
            <a:endParaRPr/>
          </a:p>
        </p:txBody>
      </p:sp>
      <p:grpSp>
        <p:nvGrpSpPr>
          <p:cNvPr id="7641" name="Google Shape;7641;p433"/>
          <p:cNvGrpSpPr/>
          <p:nvPr/>
        </p:nvGrpSpPr>
        <p:grpSpPr>
          <a:xfrm>
            <a:off x="438691" y="2524118"/>
            <a:ext cx="8306242" cy="700743"/>
            <a:chOff x="456759" y="2468314"/>
            <a:chExt cx="8306242" cy="700743"/>
          </a:xfrm>
        </p:grpSpPr>
        <p:sp>
          <p:nvSpPr>
            <p:cNvPr id="7642" name="Google Shape;7642;p433"/>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Banks operate 4-5 core systems with no unified risk data layer. Risk analysts spend 60-70% of time on data gathering. FSDM addresses this with 280+ Risk domain entities.</a:t>
              </a:r>
              <a:endParaRPr sz="1000">
                <a:solidFill>
                  <a:srgbClr val="3C3C3B"/>
                </a:solidFill>
                <a:latin typeface="Century Gothic"/>
                <a:ea typeface="Century Gothic"/>
                <a:cs typeface="Century Gothic"/>
                <a:sym typeface="Century Gothic"/>
              </a:endParaRPr>
            </a:p>
          </p:txBody>
        </p:sp>
        <p:sp>
          <p:nvSpPr>
            <p:cNvPr id="7643" name="Google Shape;7643;p433"/>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44" name="Google Shape;7644;p433"/>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Regulatory Acceleration</a:t>
              </a:r>
              <a:endParaRPr b="1" sz="1200">
                <a:solidFill>
                  <a:srgbClr val="FFFFFF"/>
                </a:solidFill>
                <a:latin typeface="Century Gothic"/>
                <a:ea typeface="Century Gothic"/>
                <a:cs typeface="Century Gothic"/>
                <a:sym typeface="Century Gothic"/>
              </a:endParaRPr>
            </a:p>
          </p:txBody>
        </p:sp>
      </p:grpSp>
      <p:grpSp>
        <p:nvGrpSpPr>
          <p:cNvPr id="7645" name="Google Shape;7645;p433"/>
          <p:cNvGrpSpPr/>
          <p:nvPr/>
        </p:nvGrpSpPr>
        <p:grpSpPr>
          <a:xfrm>
            <a:off x="438690" y="1764058"/>
            <a:ext cx="8306240" cy="720600"/>
            <a:chOff x="456758" y="1764058"/>
            <a:chExt cx="8306240" cy="720600"/>
          </a:xfrm>
        </p:grpSpPr>
        <p:sp>
          <p:nvSpPr>
            <p:cNvPr id="7646" name="Google Shape;7646;p433"/>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SBP mandates IFRS 9 ECL, Basel III capital buffers (CCB 2.5%, D-SIB 1-1.5%), and FATF-aligned AML/CFT. Each demands granular, reconcilable data.</a:t>
              </a:r>
              <a:endParaRPr sz="1000">
                <a:solidFill>
                  <a:srgbClr val="3C3C3B"/>
                </a:solidFill>
                <a:latin typeface="Century Gothic"/>
                <a:ea typeface="Century Gothic"/>
                <a:cs typeface="Century Gothic"/>
                <a:sym typeface="Century Gothic"/>
              </a:endParaRPr>
            </a:p>
          </p:txBody>
        </p:sp>
        <p:sp>
          <p:nvSpPr>
            <p:cNvPr id="7647" name="Google Shape;7647;p433"/>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48" name="Google Shape;7648;p433"/>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Fragmentation</a:t>
              </a:r>
              <a:endParaRPr b="1" sz="1200">
                <a:solidFill>
                  <a:srgbClr val="FFFFFF"/>
                </a:solidFill>
                <a:latin typeface="Century Gothic"/>
                <a:ea typeface="Century Gothic"/>
                <a:cs typeface="Century Gothic"/>
                <a:sym typeface="Century Gothic"/>
              </a:endParaRPr>
            </a:p>
          </p:txBody>
        </p:sp>
      </p:grpSp>
      <p:sp>
        <p:nvSpPr>
          <p:cNvPr id="7649" name="Google Shape;7649;p433"/>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7650" name="Google Shape;7650;p433"/>
          <p:cNvGrpSpPr/>
          <p:nvPr/>
        </p:nvGrpSpPr>
        <p:grpSpPr>
          <a:xfrm>
            <a:off x="438691" y="4004525"/>
            <a:ext cx="8306242" cy="700825"/>
            <a:chOff x="456759" y="4004525"/>
            <a:chExt cx="8306242" cy="700825"/>
          </a:xfrm>
        </p:grpSpPr>
        <p:sp>
          <p:nvSpPr>
            <p:cNvPr id="7651" name="Google Shape;7651;p433"/>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Banks struggle with model validation and champion-challenger frameworks. Most operate at BACR Level 2 (Developing) for risk model governance.</a:t>
              </a:r>
              <a:endParaRPr sz="1000">
                <a:solidFill>
                  <a:schemeClr val="dk1"/>
                </a:solidFill>
                <a:latin typeface="Century Gothic"/>
                <a:ea typeface="Century Gothic"/>
                <a:cs typeface="Century Gothic"/>
                <a:sym typeface="Century Gothic"/>
              </a:endParaRPr>
            </a:p>
          </p:txBody>
        </p:sp>
        <p:sp>
          <p:nvSpPr>
            <p:cNvPr id="7652" name="Google Shape;7652;p433"/>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53" name="Google Shape;7653;p433"/>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Technology Debt</a:t>
              </a:r>
              <a:endParaRPr b="1" sz="1200">
                <a:solidFill>
                  <a:srgbClr val="FFFFFF"/>
                </a:solidFill>
                <a:latin typeface="Century Gothic"/>
                <a:ea typeface="Century Gothic"/>
                <a:cs typeface="Century Gothic"/>
                <a:sym typeface="Century Gothic"/>
              </a:endParaRPr>
            </a:p>
          </p:txBody>
        </p:sp>
      </p:grpSp>
      <p:grpSp>
        <p:nvGrpSpPr>
          <p:cNvPr id="7654" name="Google Shape;7654;p433"/>
          <p:cNvGrpSpPr/>
          <p:nvPr/>
        </p:nvGrpSpPr>
        <p:grpSpPr>
          <a:xfrm>
            <a:off x="438691" y="3264321"/>
            <a:ext cx="8306242" cy="700743"/>
            <a:chOff x="456759" y="3170400"/>
            <a:chExt cx="8306242" cy="700743"/>
          </a:xfrm>
        </p:grpSpPr>
        <p:sp>
          <p:nvSpPr>
            <p:cNvPr id="7655" name="Google Shape;7655;p433"/>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Legacy batch processing (T+1/T+2) prevents real-time risk monitoring. Market risk needs intra-day VaR, credit risk needs event-driven early warning.</a:t>
              </a:r>
              <a:endParaRPr sz="1000">
                <a:solidFill>
                  <a:schemeClr val="dk1"/>
                </a:solidFill>
                <a:latin typeface="Century Gothic"/>
                <a:ea typeface="Century Gothic"/>
                <a:cs typeface="Century Gothic"/>
                <a:sym typeface="Century Gothic"/>
              </a:endParaRPr>
            </a:p>
          </p:txBody>
        </p:sp>
        <p:sp>
          <p:nvSpPr>
            <p:cNvPr id="7656" name="Google Shape;7656;p433"/>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57" name="Google Shape;7657;p433"/>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Model Risk &amp; Governance</a:t>
              </a:r>
              <a:endParaRPr b="1" sz="1200">
                <a:solidFill>
                  <a:srgbClr val="FFFFFF"/>
                </a:solidFill>
                <a:latin typeface="Century Gothic"/>
                <a:ea typeface="Century Gothic"/>
                <a:cs typeface="Century Gothic"/>
                <a:sym typeface="Century Gothic"/>
              </a:endParaRPr>
            </a:p>
          </p:txBody>
        </p:sp>
      </p:grpSp>
      <p:sp>
        <p:nvSpPr>
          <p:cNvPr id="7658" name="Google Shape;7658;p433"/>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Establishing a unified, enterprise-wide risk analytics infrastructure that serves Credit Risk, Market Risk, Operational Risk, Fraud, and Regulatory Compliance from a common data foundation.</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4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3" name="Shape 7663"/>
        <p:cNvGrpSpPr/>
        <p:nvPr/>
      </p:nvGrpSpPr>
      <p:grpSpPr>
        <a:xfrm>
          <a:off x="0" y="0"/>
          <a:ext cx="0" cy="0"/>
          <a:chOff x="0" y="0"/>
          <a:chExt cx="0" cy="0"/>
        </a:xfrm>
      </p:grpSpPr>
      <p:cxnSp>
        <p:nvCxnSpPr>
          <p:cNvPr id="7664" name="Google Shape;7664;p4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65" name="Google Shape;7665;p434"/>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Propensity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propensity scores, incidence rates, factors and triggers leading to risk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66" name="Google Shape;7666;p4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Propensity Modelling and</a:t>
            </a:r>
            <a:br>
              <a:rPr lang="en-GB"/>
            </a:br>
            <a:r>
              <a:rPr lang="en-GB"/>
              <a:t>Analysis</a:t>
            </a:r>
            <a:endParaRPr sz="1600"/>
          </a:p>
        </p:txBody>
      </p:sp>
      <p:grpSp>
        <p:nvGrpSpPr>
          <p:cNvPr id="7667" name="Google Shape;7667;p434"/>
          <p:cNvGrpSpPr/>
          <p:nvPr/>
        </p:nvGrpSpPr>
        <p:grpSpPr>
          <a:xfrm>
            <a:off x="7717533" y="4360377"/>
            <a:ext cx="1058348" cy="347375"/>
            <a:chOff x="7651698" y="4287227"/>
            <a:chExt cx="1058348" cy="347375"/>
          </a:xfrm>
        </p:grpSpPr>
        <p:grpSp>
          <p:nvGrpSpPr>
            <p:cNvPr id="7668" name="Google Shape;7668;p434"/>
            <p:cNvGrpSpPr/>
            <p:nvPr/>
          </p:nvGrpSpPr>
          <p:grpSpPr>
            <a:xfrm>
              <a:off x="7714163" y="4337598"/>
              <a:ext cx="995883" cy="297004"/>
              <a:chOff x="7711013" y="3986494"/>
              <a:chExt cx="995883" cy="297004"/>
            </a:xfrm>
          </p:grpSpPr>
          <p:sp>
            <p:nvSpPr>
              <p:cNvPr id="7669" name="Google Shape;7669;p4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670" name="Google Shape;7670;p434"/>
              <p:cNvGrpSpPr/>
              <p:nvPr/>
            </p:nvGrpSpPr>
            <p:grpSpPr>
              <a:xfrm>
                <a:off x="7711013" y="4002615"/>
                <a:ext cx="281520" cy="241973"/>
                <a:chOff x="5652748" y="4066000"/>
                <a:chExt cx="906498" cy="747974"/>
              </a:xfrm>
            </p:grpSpPr>
            <p:sp>
              <p:nvSpPr>
                <p:cNvPr id="7671" name="Google Shape;7671;p4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672" name="Google Shape;7672;p4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73" name="Google Shape;7673;p4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674" name="Google Shape;7674;p434">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675" name="Google Shape;7675;p43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676" name="Google Shape;7676;p434"/>
          <p:cNvPicPr preferRelativeResize="0"/>
          <p:nvPr/>
        </p:nvPicPr>
        <p:blipFill rotWithShape="1">
          <a:blip r:embed="rId5">
            <a:alphaModFix/>
          </a:blip>
          <a:srcRect b="0" l="0" r="0" t="0"/>
          <a:stretch/>
        </p:blipFill>
        <p:spPr>
          <a:xfrm>
            <a:off x="5517080" y="269125"/>
            <a:ext cx="3447533" cy="2221159"/>
          </a:xfrm>
          <a:prstGeom prst="rect">
            <a:avLst/>
          </a:prstGeom>
          <a:noFill/>
          <a:ln>
            <a:noFill/>
          </a:ln>
        </p:spPr>
      </p:pic>
    </p:spTree>
  </p:cSld>
  <p:clrMapOvr>
    <a:masterClrMapping/>
  </p:clrMapOvr>
</p:sld>
</file>

<file path=ppt/slides/slide4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1" name="Shape 7681"/>
        <p:cNvGrpSpPr/>
        <p:nvPr/>
      </p:nvGrpSpPr>
      <p:grpSpPr>
        <a:xfrm>
          <a:off x="0" y="0"/>
          <a:ext cx="0" cy="0"/>
          <a:chOff x="0" y="0"/>
          <a:chExt cx="0" cy="0"/>
        </a:xfrm>
      </p:grpSpPr>
      <p:graphicFrame>
        <p:nvGraphicFramePr>
          <p:cNvPr id="7682" name="Google Shape;7682;p43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incorporate all data, channels, interactions, associations, and customer/entity networks. Models updated dynamically. All risk models harmonized with Finance, Marketing.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Scorecards incorporate some unstructured data. Models validated every 3-6 months. Model factory institutionalized. Models utilize internal and external data. Fully data-based statistical models.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Application and behavioral models using regression, retrospective probability models. Models validated every 12 months. Operational processes using scoring for automation. Rule-based and limited statistical models. Some risk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application or behavioral models. Models updated on an ad-hoc basis. Some pockets of automation. Judgmental decision making is the norm. Models and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683" name="Google Shape;7683;p435"/>
          <p:cNvGrpSpPr/>
          <p:nvPr/>
        </p:nvGrpSpPr>
        <p:grpSpPr>
          <a:xfrm>
            <a:off x="469900" y="3819680"/>
            <a:ext cx="8455025" cy="732866"/>
            <a:chOff x="211138" y="3972860"/>
            <a:chExt cx="8713787" cy="642437"/>
          </a:xfrm>
        </p:grpSpPr>
        <p:sp>
          <p:nvSpPr>
            <p:cNvPr id="7684" name="Google Shape;7684;p43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685" name="Google Shape;7685;p43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686" name="Google Shape;7686;p435"/>
          <p:cNvGrpSpPr/>
          <p:nvPr/>
        </p:nvGrpSpPr>
        <p:grpSpPr>
          <a:xfrm>
            <a:off x="7971865" y="980278"/>
            <a:ext cx="949325" cy="2867825"/>
            <a:chOff x="7941888" y="1062037"/>
            <a:chExt cx="983037" cy="2695575"/>
          </a:xfrm>
        </p:grpSpPr>
        <p:sp>
          <p:nvSpPr>
            <p:cNvPr id="7687" name="Google Shape;7687;p43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688" name="Google Shape;7688;p43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689" name="Google Shape;7689;p43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Propensity Modelling and Analysis</a:t>
            </a:r>
            <a:endParaRPr>
              <a:solidFill>
                <a:schemeClr val="accent6"/>
              </a:solidFill>
            </a:endParaRPr>
          </a:p>
        </p:txBody>
      </p:sp>
      <p:sp>
        <p:nvSpPr>
          <p:cNvPr id="7690" name="Google Shape;7690;p4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3" name="Shape 7713"/>
        <p:cNvGrpSpPr/>
        <p:nvPr/>
      </p:nvGrpSpPr>
      <p:grpSpPr>
        <a:xfrm>
          <a:off x="0" y="0"/>
          <a:ext cx="0" cy="0"/>
          <a:chOff x="0" y="0"/>
          <a:chExt cx="0" cy="0"/>
        </a:xfrm>
      </p:grpSpPr>
      <p:graphicFrame>
        <p:nvGraphicFramePr>
          <p:cNvPr id="7714" name="Google Shape;7714;p43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incorporate all data, channels, interactions, associations, and customer/entity networks. Models updated dynamically. All risk models harmonized with Finance, Marketing.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Scorecards incorporate some unstructured data. Models validated every 3-6 months. Model factory institutionalized. Models utilize internal and external data. Fully data-based statistical models.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Application and behavioral models using regression, retrospective probability models. Models validated every 12 months. Operational processes using scoring for automation. Rule-based and limited statistical models. Some risk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application or behavioral models. Models updated on an ad-hoc basis. Some pockets of automation. Judgmental decision making is the norm. Models and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715" name="Google Shape;7715;p437"/>
          <p:cNvGrpSpPr/>
          <p:nvPr/>
        </p:nvGrpSpPr>
        <p:grpSpPr>
          <a:xfrm>
            <a:off x="469900" y="3819680"/>
            <a:ext cx="8455025" cy="732866"/>
            <a:chOff x="211138" y="3972860"/>
            <a:chExt cx="8713787" cy="642437"/>
          </a:xfrm>
        </p:grpSpPr>
        <p:sp>
          <p:nvSpPr>
            <p:cNvPr id="7716" name="Google Shape;7716;p43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17" name="Google Shape;7717;p43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18" name="Google Shape;7718;p437"/>
          <p:cNvGrpSpPr/>
          <p:nvPr/>
        </p:nvGrpSpPr>
        <p:grpSpPr>
          <a:xfrm>
            <a:off x="7971865" y="980278"/>
            <a:ext cx="949325" cy="2867825"/>
            <a:chOff x="7941888" y="1062037"/>
            <a:chExt cx="983037" cy="2695575"/>
          </a:xfrm>
        </p:grpSpPr>
        <p:sp>
          <p:nvSpPr>
            <p:cNvPr id="7719" name="Google Shape;7719;p43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20" name="Google Shape;7720;p43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21" name="Google Shape;7721;p43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a:solidFill>
                <a:schemeClr val="accent6"/>
              </a:solidFill>
            </a:endParaRPr>
          </a:p>
        </p:txBody>
      </p:sp>
      <p:sp>
        <p:nvSpPr>
          <p:cNvPr id="7722" name="Google Shape;7722;p4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5" name="Shape 7745"/>
        <p:cNvGrpSpPr/>
        <p:nvPr/>
      </p:nvGrpSpPr>
      <p:grpSpPr>
        <a:xfrm>
          <a:off x="0" y="0"/>
          <a:ext cx="0" cy="0"/>
          <a:chOff x="0" y="0"/>
          <a:chExt cx="0" cy="0"/>
        </a:xfrm>
      </p:grpSpPr>
      <p:graphicFrame>
        <p:nvGraphicFramePr>
          <p:cNvPr id="7746" name="Google Shape;7746;p43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Underwriting is largely automated (no-touch/low touch) leveraging a single, integrated source of validated data.  Decisions are faster and Underwriters can focus on more complicated underwriting tasks through the use of advance analytic tools.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a small number of other data sources may exist.  Regular reports &amp; extracts are available on a largely automated basis , as well as ad-hoc reports and queries using a single reporting/BI tool.   Data is integrated into underwriting administration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underwriting analysis is available from single source (based however on multiple data sources) using multiple tools and is subject to manual processes before use.  Data is not integrated into underwriting administration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underwriting analysis  is available from multiple sources. Most other / more detailed data needs to be collected from multiple sources using multiple tools and is subject to manual processes before use. Analytics needs to be derived from multiple analytic systems.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Underwriting risk analysis  data sources are siloed and not integrated for analysis.  Considerable time is spent collecting, validating data prior to final risk assessment.  Multiple reporting, BI, spreadsheet tools are used not integrated into one view. Geospatial analysis relies on zip codes and not geospatial data.</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747" name="Google Shape;7747;p439"/>
          <p:cNvGrpSpPr/>
          <p:nvPr/>
        </p:nvGrpSpPr>
        <p:grpSpPr>
          <a:xfrm>
            <a:off x="470778" y="3943350"/>
            <a:ext cx="8455025" cy="732866"/>
            <a:chOff x="211138" y="3972860"/>
            <a:chExt cx="8713787" cy="642437"/>
          </a:xfrm>
        </p:grpSpPr>
        <p:sp>
          <p:nvSpPr>
            <p:cNvPr id="7748" name="Google Shape;7748;p43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49" name="Google Shape;7749;p43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50" name="Google Shape;7750;p439"/>
          <p:cNvGrpSpPr/>
          <p:nvPr/>
        </p:nvGrpSpPr>
        <p:grpSpPr>
          <a:xfrm>
            <a:off x="7971865" y="980278"/>
            <a:ext cx="949325" cy="2867825"/>
            <a:chOff x="7941888" y="1062037"/>
            <a:chExt cx="983037" cy="2695575"/>
          </a:xfrm>
        </p:grpSpPr>
        <p:sp>
          <p:nvSpPr>
            <p:cNvPr id="7751" name="Google Shape;7751;p43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52" name="Google Shape;7752;p43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53" name="Google Shape;7753;p43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a:solidFill>
                <a:schemeClr val="accent6"/>
              </a:solidFill>
            </a:endParaRPr>
          </a:p>
        </p:txBody>
      </p:sp>
      <p:sp>
        <p:nvSpPr>
          <p:cNvPr id="7754" name="Google Shape;7754;p4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7" name="Shape 7777"/>
        <p:cNvGrpSpPr/>
        <p:nvPr/>
      </p:nvGrpSpPr>
      <p:grpSpPr>
        <a:xfrm>
          <a:off x="0" y="0"/>
          <a:ext cx="0" cy="0"/>
          <a:chOff x="0" y="0"/>
          <a:chExt cx="0" cy="0"/>
        </a:xfrm>
      </p:grpSpPr>
      <p:graphicFrame>
        <p:nvGraphicFramePr>
          <p:cNvPr id="7778" name="Google Shape;7778;p44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Single integrated analytic ecosystem that is data centric, but not necessarily centralized. All product line detail (granularity) is maintained for consistent, innovative, and reconcilable aggregations.  Capital is aligned to customer relationships and extended relationships (e.g. complementary industry exposures). Operational deployment of advanced analytic techniques  to continually improve predictive models. Finance data tightly coupled for full reconcilable transparency between Risk and Finance for analysis and reporting.  Seamless access to historical data  within broader analytic ecosystem.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lines of business and functional groups utilizing a single integrated analytic ecosystem where product detail (granularity) is maintained.  Regular and seamless use of advanced analytic functions within and across a flexible discovery environment and  integrated data warehouse.  Detailed (granular) data becomes the first line of defence with regard to bot internal and external (regulatory) needs.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product group data is organized for consistent use as well as line of business analytics.  Incorporation of advanced analytic techniques on a periodic basis to adjust probabilities of default, loss given default  and exposure at default modelling.  Access to historical data to train and back-test models as needed and requested.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detailed account level analysis is performed within product groups,  lines of businesses, and functional units.  Aggregations are presented to a centralized group who is responsible for internal and external (regulatory reporting). This centralized group is considered the “first line of defence” with regard to regulatory authority interaction.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Isolated capital calculations and capital management for internal reporting (treasury management), regulatory analytics/reporting, product group and line-of-business derived,  GAAP reporting (including migration to Ccurrent Expected Credit Loss (CECL) from incurred) is leveraging an isolated data set.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7779" name="Google Shape;7779;p44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grpSp>
        <p:nvGrpSpPr>
          <p:cNvPr id="7780" name="Google Shape;7780;p441"/>
          <p:cNvGrpSpPr/>
          <p:nvPr/>
        </p:nvGrpSpPr>
        <p:grpSpPr>
          <a:xfrm>
            <a:off x="457200" y="4078841"/>
            <a:ext cx="8455025" cy="660717"/>
            <a:chOff x="211138" y="3972860"/>
            <a:chExt cx="8713787" cy="642437"/>
          </a:xfrm>
        </p:grpSpPr>
        <p:sp>
          <p:nvSpPr>
            <p:cNvPr id="7781" name="Google Shape;7781;p44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82" name="Google Shape;7782;p44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83" name="Google Shape;7783;p441"/>
          <p:cNvGrpSpPr/>
          <p:nvPr/>
        </p:nvGrpSpPr>
        <p:grpSpPr>
          <a:xfrm>
            <a:off x="7971865" y="781605"/>
            <a:ext cx="949325" cy="3191672"/>
            <a:chOff x="7941888" y="1062037"/>
            <a:chExt cx="983037" cy="2695575"/>
          </a:xfrm>
        </p:grpSpPr>
        <p:sp>
          <p:nvSpPr>
            <p:cNvPr id="7784" name="Google Shape;7784;p44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85" name="Google Shape;7785;p44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86" name="Google Shape;7786;p4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9" name="Shape 7809"/>
        <p:cNvGrpSpPr/>
        <p:nvPr/>
      </p:nvGrpSpPr>
      <p:grpSpPr>
        <a:xfrm>
          <a:off x="0" y="0"/>
          <a:ext cx="0" cy="0"/>
          <a:chOff x="0" y="0"/>
          <a:chExt cx="0" cy="0"/>
        </a:xfrm>
      </p:grpSpPr>
      <p:graphicFrame>
        <p:nvGraphicFramePr>
          <p:cNvPr id="7810" name="Google Shape;7810;p44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 testing is fully automated and integrated with the Risk Model development, decisioning and deployment processes. Workflow functionality supports model result s/comparison reviews, decision-making, approval and deployment on an automated basis. Multiple challenger  models may be evaluated in a single cycle.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frequent and largely automated. The measurement and comparison of model results  is automated, along with model deployment once a decision is made, however  the decision-making process re: model promotion is still manual.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in place on a more frequent basis. The measurement and comparison of model results  is automated. Decision-making strategy  and deployment of new models  is still  on a manual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in place, however  still on an infrequent basis.  A/B testing involves  manually deploying  and executing multiple models and manually comparing the results before fully deploying a new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Limited or no formal A/B testing is in place. Models are reviewed and updated on an ad-hoc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11" name="Google Shape;7811;p443"/>
          <p:cNvGrpSpPr/>
          <p:nvPr/>
        </p:nvGrpSpPr>
        <p:grpSpPr>
          <a:xfrm>
            <a:off x="469900" y="3819680"/>
            <a:ext cx="8455025" cy="732866"/>
            <a:chOff x="211138" y="3972860"/>
            <a:chExt cx="8713787" cy="642437"/>
          </a:xfrm>
        </p:grpSpPr>
        <p:sp>
          <p:nvSpPr>
            <p:cNvPr id="7812" name="Google Shape;7812;p44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13" name="Google Shape;7813;p44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14" name="Google Shape;7814;p443"/>
          <p:cNvGrpSpPr/>
          <p:nvPr/>
        </p:nvGrpSpPr>
        <p:grpSpPr>
          <a:xfrm>
            <a:off x="7971865" y="980278"/>
            <a:ext cx="949325" cy="2867825"/>
            <a:chOff x="7941888" y="1062037"/>
            <a:chExt cx="983037" cy="2695575"/>
          </a:xfrm>
        </p:grpSpPr>
        <p:sp>
          <p:nvSpPr>
            <p:cNvPr id="7815" name="Google Shape;7815;p44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16" name="Google Shape;7816;p44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17" name="Google Shape;7817;p44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a:solidFill>
                <a:schemeClr val="accent6"/>
              </a:solidFill>
            </a:endParaRPr>
          </a:p>
        </p:txBody>
      </p:sp>
      <p:sp>
        <p:nvSpPr>
          <p:cNvPr id="7818" name="Google Shape;7818;p4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1" name="Shape 7841"/>
        <p:cNvGrpSpPr/>
        <p:nvPr/>
      </p:nvGrpSpPr>
      <p:grpSpPr>
        <a:xfrm>
          <a:off x="0" y="0"/>
          <a:ext cx="0" cy="0"/>
          <a:chOff x="0" y="0"/>
          <a:chExt cx="0" cy="0"/>
        </a:xfrm>
      </p:grpSpPr>
      <p:graphicFrame>
        <p:nvGraphicFramePr>
          <p:cNvPr id="7842" name="Google Shape;7842;p44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and rules are optimized and incorporated into business rule engine,  includes  common rules across multiple business division, including sophisticated algorithms and rule combinations.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Existing rules  and rule combinations can be deployed onto automated decisioning system / rule engine as a part of new models or strategies. Rule hierarchies exist and monitoring is at individual and combination rule level.</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Analysts access existing rules stored in a partially shared repository, which can be searched and incorporated into the new models or strategies.  Multiple rule engines may exist across the business. Testing and change management processes are gateways into production environment.</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Reuse of rules is limited / analysts reuse rules by manually copying and pasting. Rules often basic and judgmentally driven.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Rules are hard coded directly into production system.</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43" name="Google Shape;7843;p445"/>
          <p:cNvGrpSpPr/>
          <p:nvPr/>
        </p:nvGrpSpPr>
        <p:grpSpPr>
          <a:xfrm>
            <a:off x="469900" y="3819680"/>
            <a:ext cx="8455025" cy="732866"/>
            <a:chOff x="211138" y="3972860"/>
            <a:chExt cx="8713787" cy="642437"/>
          </a:xfrm>
        </p:grpSpPr>
        <p:sp>
          <p:nvSpPr>
            <p:cNvPr id="7844" name="Google Shape;7844;p44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45" name="Google Shape;7845;p44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46" name="Google Shape;7846;p445"/>
          <p:cNvGrpSpPr/>
          <p:nvPr/>
        </p:nvGrpSpPr>
        <p:grpSpPr>
          <a:xfrm>
            <a:off x="7971865" y="980278"/>
            <a:ext cx="949325" cy="2867825"/>
            <a:chOff x="7941888" y="1062037"/>
            <a:chExt cx="983037" cy="2695575"/>
          </a:xfrm>
        </p:grpSpPr>
        <p:sp>
          <p:nvSpPr>
            <p:cNvPr id="7847" name="Google Shape;7847;p44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48" name="Google Shape;7848;p44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49" name="Google Shape;7849;p44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Operationalization</a:t>
            </a:r>
            <a:endParaRPr>
              <a:solidFill>
                <a:schemeClr val="accent6"/>
              </a:solidFill>
            </a:endParaRPr>
          </a:p>
        </p:txBody>
      </p:sp>
      <p:sp>
        <p:nvSpPr>
          <p:cNvPr id="7850" name="Google Shape;7850;p4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3" name="Shape 7873"/>
        <p:cNvGrpSpPr/>
        <p:nvPr/>
      </p:nvGrpSpPr>
      <p:grpSpPr>
        <a:xfrm>
          <a:off x="0" y="0"/>
          <a:ext cx="0" cy="0"/>
          <a:chOff x="0" y="0"/>
          <a:chExt cx="0" cy="0"/>
        </a:xfrm>
      </p:grpSpPr>
      <p:graphicFrame>
        <p:nvGraphicFramePr>
          <p:cNvPr id="7874" name="Google Shape;7874;p44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Fully automated strategy performance tracking system. A/B testing mechanism is fully embedded &amp; automated under performance tracking system. Strategy can auto-adjust dynamically subject to parameter limits set by business. Strategies are integrated and harmonized across business lines.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reports are automated daily. A/B testing mechanism is partially automated for strategy performance evaluation. Strategy monitoring is integrated across products within a business line.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reports are partially automated, such as override report, acceptance rate report. Allow A/B testing for evaluating the efficiency of strategy performance. Strategies are manually integrated across product lines or business lines by exception.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 for manually conducted. Reports and KPIs are updated on an ad-hoc basis.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strategy performance tracking in place.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75" name="Google Shape;7875;p447"/>
          <p:cNvGrpSpPr/>
          <p:nvPr/>
        </p:nvGrpSpPr>
        <p:grpSpPr>
          <a:xfrm>
            <a:off x="469900" y="3819680"/>
            <a:ext cx="8455025" cy="732866"/>
            <a:chOff x="211138" y="3972860"/>
            <a:chExt cx="8713787" cy="642437"/>
          </a:xfrm>
        </p:grpSpPr>
        <p:sp>
          <p:nvSpPr>
            <p:cNvPr id="7876" name="Google Shape;7876;p44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77" name="Google Shape;7877;p44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78" name="Google Shape;7878;p447"/>
          <p:cNvGrpSpPr/>
          <p:nvPr/>
        </p:nvGrpSpPr>
        <p:grpSpPr>
          <a:xfrm>
            <a:off x="7971865" y="980278"/>
            <a:ext cx="949325" cy="2867825"/>
            <a:chOff x="7941888" y="1062037"/>
            <a:chExt cx="983037" cy="2695575"/>
          </a:xfrm>
        </p:grpSpPr>
        <p:sp>
          <p:nvSpPr>
            <p:cNvPr id="7879" name="Google Shape;7879;p44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80" name="Google Shape;7880;p44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81" name="Google Shape;7881;p44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a:solidFill>
                <a:schemeClr val="accent6"/>
              </a:solidFill>
            </a:endParaRPr>
          </a:p>
        </p:txBody>
      </p:sp>
      <p:sp>
        <p:nvSpPr>
          <p:cNvPr id="7882" name="Google Shape;7882;p4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5" name="Shape 7905"/>
        <p:cNvGrpSpPr/>
        <p:nvPr/>
      </p:nvGrpSpPr>
      <p:grpSpPr>
        <a:xfrm>
          <a:off x="0" y="0"/>
          <a:ext cx="0" cy="0"/>
          <a:chOff x="0" y="0"/>
          <a:chExt cx="0" cy="0"/>
        </a:xfrm>
      </p:grpSpPr>
      <p:graphicFrame>
        <p:nvGraphicFramePr>
          <p:cNvPr id="7906" name="Google Shape;7906;p44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Fully automated model performance tracking system. Identification of triggers and KPIs for updating or realignment of the models are fully integrated with business strategies.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performance reports are automated on a regular basis. Partial triggers and KPIs are integrated with business strategies, for example, adjusting the cut-off scores when baselines change significantly.</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performance reports and key performance index of models and attributes are partially automated. Model performance and KPIs are conducted on a regular basis (weekly or monthly)</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preformance reports are manually generated.  Key Performance Index of the models and attributes are mannually calculated. Reports and KPIs are updated on an ad-hoc basis.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Model performance reports are performed on an ad-hoc basis. No regular reporting.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07" name="Google Shape;7907;p449"/>
          <p:cNvGrpSpPr/>
          <p:nvPr/>
        </p:nvGrpSpPr>
        <p:grpSpPr>
          <a:xfrm>
            <a:off x="469900" y="3819680"/>
            <a:ext cx="8455025" cy="732866"/>
            <a:chOff x="211138" y="3972860"/>
            <a:chExt cx="8713787" cy="642437"/>
          </a:xfrm>
        </p:grpSpPr>
        <p:sp>
          <p:nvSpPr>
            <p:cNvPr id="7908" name="Google Shape;7908;p44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09" name="Google Shape;7909;p44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10" name="Google Shape;7910;p449"/>
          <p:cNvGrpSpPr/>
          <p:nvPr/>
        </p:nvGrpSpPr>
        <p:grpSpPr>
          <a:xfrm>
            <a:off x="7971865" y="980278"/>
            <a:ext cx="949325" cy="2867825"/>
            <a:chOff x="7941888" y="1062037"/>
            <a:chExt cx="983037" cy="2695575"/>
          </a:xfrm>
        </p:grpSpPr>
        <p:sp>
          <p:nvSpPr>
            <p:cNvPr id="7911" name="Google Shape;7911;p44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12" name="Google Shape;7912;p44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13" name="Google Shape;7913;p44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Analysis</a:t>
            </a:r>
            <a:endParaRPr>
              <a:solidFill>
                <a:schemeClr val="accent6"/>
              </a:solidFill>
            </a:endParaRPr>
          </a:p>
        </p:txBody>
      </p:sp>
      <p:sp>
        <p:nvSpPr>
          <p:cNvPr id="7914" name="Google Shape;7914;p4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7" name="Shape 7937"/>
        <p:cNvGrpSpPr/>
        <p:nvPr/>
      </p:nvGrpSpPr>
      <p:grpSpPr>
        <a:xfrm>
          <a:off x="0" y="0"/>
          <a:ext cx="0" cy="0"/>
          <a:chOff x="0" y="0"/>
          <a:chExt cx="0" cy="0"/>
        </a:xfrm>
      </p:grpSpPr>
      <p:graphicFrame>
        <p:nvGraphicFramePr>
          <p:cNvPr id="7938" name="Google Shape;7938;p45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Scenario/Stress testing is fully automated and integrated with the Risk and Capital Model development, decisioning and deployment processes. The production of stressed  input data sets is  fully rules-based and automated. Widespread use of advanced  scenario/stress testing methods such as Monte Carlo and other Stochastic techniques. Execution of scenario/stress test models , review of output, and is also automated as part of an overall workflow.</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largely automated. The production of stressed  input data sets is  well documented, and largely automated (e.g. using rule engine).  Some use of advanced  scenario/stress testing methods such as Monte Carlo and other Stochastic techniques. Automated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is in place on a more frequent basis.  The production of stressed  input data sets is well documented, based on defined rules and is partially automated (e.g. use of templates/scripts). The measurement and comparison of scenario  results  is repeatable (e.g. use of standard reports)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is in place, but on an infrequent basis (e.g. annual). Scenario/Stress testing involves  manually creating stressed inputs , executing models and comparing the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Limited or no formal  Scenario and Stress testing is in place.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39" name="Google Shape;7939;p451"/>
          <p:cNvGrpSpPr/>
          <p:nvPr/>
        </p:nvGrpSpPr>
        <p:grpSpPr>
          <a:xfrm>
            <a:off x="469900" y="3819680"/>
            <a:ext cx="8455025" cy="732866"/>
            <a:chOff x="211138" y="3972860"/>
            <a:chExt cx="8713787" cy="642437"/>
          </a:xfrm>
        </p:grpSpPr>
        <p:sp>
          <p:nvSpPr>
            <p:cNvPr id="7940" name="Google Shape;7940;p45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41" name="Google Shape;7941;p45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42" name="Google Shape;7942;p451"/>
          <p:cNvGrpSpPr/>
          <p:nvPr/>
        </p:nvGrpSpPr>
        <p:grpSpPr>
          <a:xfrm>
            <a:off x="7971865" y="980278"/>
            <a:ext cx="949325" cy="2867825"/>
            <a:chOff x="7941888" y="1062037"/>
            <a:chExt cx="983037" cy="2695575"/>
          </a:xfrm>
        </p:grpSpPr>
        <p:sp>
          <p:nvSpPr>
            <p:cNvPr id="7943" name="Google Shape;7943;p45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44" name="Google Shape;7944;p45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45" name="Google Shape;7945;p45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a:solidFill>
                <a:schemeClr val="accent6"/>
              </a:solidFill>
            </a:endParaRPr>
          </a:p>
        </p:txBody>
      </p:sp>
      <p:sp>
        <p:nvSpPr>
          <p:cNvPr id="7946" name="Google Shape;7946;p4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9" name="Shape 7959"/>
        <p:cNvGrpSpPr/>
        <p:nvPr/>
      </p:nvGrpSpPr>
      <p:grpSpPr>
        <a:xfrm>
          <a:off x="0" y="0"/>
          <a:ext cx="0" cy="0"/>
          <a:chOff x="0" y="0"/>
          <a:chExt cx="0" cy="0"/>
        </a:xfrm>
      </p:grpSpPr>
      <p:sp>
        <p:nvSpPr>
          <p:cNvPr id="7960" name="Google Shape;7960;p453"/>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r>
              <a:rPr lang="en-GB"/>
              <a:t>What are the challenges?</a:t>
            </a:r>
            <a:endParaRPr/>
          </a:p>
        </p:txBody>
      </p:sp>
      <p:sp>
        <p:nvSpPr>
          <p:cNvPr id="7961" name="Google Shape;7961;p453"/>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7962" name="Google Shape;7962;p453"/>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Maintaining a comprehensive risk management capability that keeps pace with and satisfies regulatory requirements  as well as meeting the need to maximize return on equity.</a:t>
            </a:r>
            <a:endParaRPr sz="1200">
              <a:solidFill>
                <a:srgbClr val="FFFFFF"/>
              </a:solidFill>
              <a:latin typeface="Century Gothic"/>
              <a:ea typeface="Century Gothic"/>
              <a:cs typeface="Century Gothic"/>
              <a:sym typeface="Century Gothic"/>
            </a:endParaRPr>
          </a:p>
        </p:txBody>
      </p:sp>
      <p:sp>
        <p:nvSpPr>
          <p:cNvPr id="7963" name="Google Shape;7963;p453"/>
          <p:cNvSpPr txBox="1"/>
          <p:nvPr>
            <p:ph idx="1" type="body"/>
          </p:nvPr>
        </p:nvSpPr>
        <p:spPr>
          <a:xfrm>
            <a:off x="457200" y="2054578"/>
            <a:ext cx="8229600" cy="2743200"/>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chemeClr val="dk1"/>
              </a:buClr>
              <a:buSzPts val="1400"/>
              <a:buChar char="•"/>
            </a:pPr>
            <a:r>
              <a:rPr b="1" lang="en-GB" sz="1400"/>
              <a:t>Balance. </a:t>
            </a:r>
            <a:r>
              <a:rPr lang="en-GB" sz="1400"/>
              <a:t>Striking the balance between maximizing available capital to generate return on equity and minimizing expected losses. </a:t>
            </a:r>
            <a:endParaRPr/>
          </a:p>
          <a:p>
            <a:pPr indent="-169863" lvl="0" marL="169863" rtl="0" algn="l">
              <a:lnSpc>
                <a:spcPct val="95000"/>
              </a:lnSpc>
              <a:spcBef>
                <a:spcPts val="800"/>
              </a:spcBef>
              <a:spcAft>
                <a:spcPts val="0"/>
              </a:spcAft>
              <a:buClr>
                <a:schemeClr val="dk1"/>
              </a:buClr>
              <a:buSzPts val="1400"/>
              <a:buChar char="•"/>
            </a:pPr>
            <a:r>
              <a:rPr b="1" lang="en-GB" sz="1400"/>
              <a:t>Inefficient data management.</a:t>
            </a:r>
            <a:r>
              <a:rPr lang="en-GB" sz="1400"/>
              <a:t> An inability to access the right data when it’s needed causes delays.</a:t>
            </a:r>
            <a:endParaRPr/>
          </a:p>
          <a:p>
            <a:pPr indent="-169863" lvl="0" marL="169863" rtl="0" algn="l">
              <a:lnSpc>
                <a:spcPct val="95000"/>
              </a:lnSpc>
              <a:spcBef>
                <a:spcPts val="800"/>
              </a:spcBef>
              <a:spcAft>
                <a:spcPts val="0"/>
              </a:spcAft>
              <a:buClr>
                <a:schemeClr val="dk1"/>
              </a:buClr>
              <a:buSzPts val="1400"/>
              <a:buChar char="•"/>
            </a:pPr>
            <a:r>
              <a:rPr b="1" lang="en-GB" sz="1400"/>
              <a:t>No firm-wide risk modeling framework.</a:t>
            </a:r>
            <a:r>
              <a:rPr lang="en-GB" sz="1400"/>
              <a:t> Without it, financial institutions can’t generate complex, meaningful risk measures and get a big picture view.</a:t>
            </a:r>
            <a:endParaRPr sz="1400"/>
          </a:p>
          <a:p>
            <a:pPr indent="-169863" lvl="0" marL="169863" rtl="0" algn="l">
              <a:lnSpc>
                <a:spcPct val="95000"/>
              </a:lnSpc>
              <a:spcBef>
                <a:spcPts val="800"/>
              </a:spcBef>
              <a:spcAft>
                <a:spcPts val="0"/>
              </a:spcAft>
              <a:buClr>
                <a:schemeClr val="dk1"/>
              </a:buClr>
              <a:buSzPts val="1400"/>
              <a:buChar char="•"/>
            </a:pPr>
            <a:r>
              <a:rPr b="1" lang="en-GB" sz="1400"/>
              <a:t>Insufficient risk tools.</a:t>
            </a:r>
            <a:r>
              <a:rPr lang="en-GB" sz="1400"/>
              <a:t> Without a robust risk solution, banks can’t identify portfolio concentrations or re-grade portfolios often enough to effectively manage risk.</a:t>
            </a:r>
            <a:endParaRPr/>
          </a:p>
          <a:p>
            <a:pPr indent="-169863" lvl="0" marL="169863" rtl="0" algn="l">
              <a:lnSpc>
                <a:spcPct val="95000"/>
              </a:lnSpc>
              <a:spcBef>
                <a:spcPts val="800"/>
              </a:spcBef>
              <a:spcAft>
                <a:spcPts val="0"/>
              </a:spcAft>
              <a:buClr>
                <a:schemeClr val="dk1"/>
              </a:buClr>
              <a:buSzPts val="1400"/>
              <a:buChar char="•"/>
            </a:pPr>
            <a:r>
              <a:rPr b="1" lang="en-GB" sz="1400"/>
              <a:t>Cumbersome reporting.</a:t>
            </a:r>
            <a:r>
              <a:rPr lang="en-GB" sz="1400"/>
              <a:t> Manual, spreadsheet-based reporting processes overburden analysts and IT.</a:t>
            </a:r>
            <a:endParaRPr sz="1400"/>
          </a:p>
        </p:txBody>
      </p:sp>
      <p:sp>
        <p:nvSpPr>
          <p:cNvPr id="7964" name="Google Shape;7964;p4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7" name="Shape 7987"/>
        <p:cNvGrpSpPr/>
        <p:nvPr/>
      </p:nvGrpSpPr>
      <p:grpSpPr>
        <a:xfrm>
          <a:off x="0" y="0"/>
          <a:ext cx="0" cy="0"/>
          <a:chOff x="0" y="0"/>
          <a:chExt cx="0" cy="0"/>
        </a:xfrm>
      </p:grpSpPr>
      <p:graphicFrame>
        <p:nvGraphicFramePr>
          <p:cNvPr id="7988" name="Google Shape;7988;p45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Detailed definitions of risk bearing capacity and appetite, portfolio structures and capital consumption measured/monitres on VaR and similar KPIs – both standalone and overall portfolio/interaction views. Appetite can be reviewed as and when required by management with immediate impact to lending. Risk appetite harmonized across business lines.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Detailed definiton of risk bearing capacity and risk appetite, portfolio structure measured on VaR and similar KPIs.Appetite reviews are performed quarterly or more often driven by portfolio triggers. Risk appetite is integrated across products within a business.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Basic risk bearing capacity and risk appetite defined, portfolio management by volumes/value, but not by more sophisticated Risk KPI . Appetite reviews performed annually. Risk appetite is managed by specific product.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Judgemental lending policies. Limited data generated on an ad-hoc basis supporting risk appetite statements. Appetite reviews are done by exception.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298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risk appetite defined, or defined by exception post-losses.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89" name="Google Shape;7989;p455"/>
          <p:cNvGrpSpPr/>
          <p:nvPr/>
        </p:nvGrpSpPr>
        <p:grpSpPr>
          <a:xfrm>
            <a:off x="469900" y="3819680"/>
            <a:ext cx="8455025" cy="732866"/>
            <a:chOff x="211138" y="3972860"/>
            <a:chExt cx="8713787" cy="642437"/>
          </a:xfrm>
        </p:grpSpPr>
        <p:sp>
          <p:nvSpPr>
            <p:cNvPr id="7990" name="Google Shape;7990;p45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91" name="Google Shape;7991;p45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92" name="Google Shape;7992;p455"/>
          <p:cNvGrpSpPr/>
          <p:nvPr/>
        </p:nvGrpSpPr>
        <p:grpSpPr>
          <a:xfrm>
            <a:off x="7971865" y="980278"/>
            <a:ext cx="949325" cy="2867825"/>
            <a:chOff x="7941888" y="1062037"/>
            <a:chExt cx="983037" cy="2695575"/>
          </a:xfrm>
        </p:grpSpPr>
        <p:sp>
          <p:nvSpPr>
            <p:cNvPr id="7993" name="Google Shape;7993;p45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94" name="Google Shape;7994;p45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95" name="Google Shape;7995;p45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a:solidFill>
                <a:schemeClr val="accent6"/>
              </a:solidFill>
            </a:endParaRPr>
          </a:p>
        </p:txBody>
      </p:sp>
      <p:sp>
        <p:nvSpPr>
          <p:cNvPr id="7996" name="Google Shape;7996;p45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9" name="Shape 8019"/>
        <p:cNvGrpSpPr/>
        <p:nvPr/>
      </p:nvGrpSpPr>
      <p:grpSpPr>
        <a:xfrm>
          <a:off x="0" y="0"/>
          <a:ext cx="0" cy="0"/>
          <a:chOff x="0" y="0"/>
          <a:chExt cx="0" cy="0"/>
        </a:xfrm>
      </p:grpSpPr>
      <p:graphicFrame>
        <p:nvGraphicFramePr>
          <p:cNvPr id="8020" name="Google Shape;8020;p45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Real time classifaction of transactions based on event library. Suspicious transactions blocked and/or other customer interactions initiated in „real time“. Event libraries updated dynamically with transaction patterns identified as they occur.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Event libary available, detailed comprehensive classification of transactions performed, leads &amp; flags generated and sent to channels for execution. Transaction analysis is done across products, establishing cross-default patterns and behavior.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Formative classificiaton of transactions performed, likely to be monthly batch,  rudimentary detection of changes in lifestyle, income, etc. Analytics performed to isolate transaction patterns upon investigation. Analysis limited to one product, with very little correlation to other products.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Transaction analytics done on an aggregated level for statistical reporting purposes. Drill downs on patterns done by exception.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regular pre-default transaction analysis is performed. Analysis is done by exception as part of post-loss investigation.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21" name="Google Shape;8021;p457"/>
          <p:cNvGrpSpPr/>
          <p:nvPr/>
        </p:nvGrpSpPr>
        <p:grpSpPr>
          <a:xfrm>
            <a:off x="469900" y="3819680"/>
            <a:ext cx="8455025" cy="732866"/>
            <a:chOff x="211138" y="3972860"/>
            <a:chExt cx="8713787" cy="642437"/>
          </a:xfrm>
        </p:grpSpPr>
        <p:sp>
          <p:nvSpPr>
            <p:cNvPr id="8022" name="Google Shape;8022;p45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23" name="Google Shape;8023;p45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24" name="Google Shape;8024;p457"/>
          <p:cNvGrpSpPr/>
          <p:nvPr/>
        </p:nvGrpSpPr>
        <p:grpSpPr>
          <a:xfrm>
            <a:off x="7971865" y="980278"/>
            <a:ext cx="949325" cy="2867825"/>
            <a:chOff x="7941888" y="1062037"/>
            <a:chExt cx="983037" cy="2695575"/>
          </a:xfrm>
        </p:grpSpPr>
        <p:sp>
          <p:nvSpPr>
            <p:cNvPr id="8025" name="Google Shape;8025;p45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26" name="Google Shape;8026;p45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27" name="Google Shape;8027;p45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a:solidFill>
                <a:schemeClr val="accent6"/>
              </a:solidFill>
            </a:endParaRPr>
          </a:p>
        </p:txBody>
      </p:sp>
      <p:sp>
        <p:nvSpPr>
          <p:cNvPr id="8028" name="Google Shape;8028;p4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1" name="Shape 8051"/>
        <p:cNvGrpSpPr/>
        <p:nvPr/>
      </p:nvGrpSpPr>
      <p:grpSpPr>
        <a:xfrm>
          <a:off x="0" y="0"/>
          <a:ext cx="0" cy="0"/>
          <a:chOff x="0" y="0"/>
          <a:chExt cx="0" cy="0"/>
        </a:xfrm>
      </p:grpSpPr>
      <p:graphicFrame>
        <p:nvGraphicFramePr>
          <p:cNvPr id="8052" name="Google Shape;8052;p45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models incorporate all data, channels, interactions, associations, and customer/entity networks. Models updated dynamically. All risk models harmonized across business lines, product lines, and customer groups. Automated pricing decisions performed within parameters set by business.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using advanced statistical and machine learning modeling incorporating business cycles, cross-product, and customer level input. Reviews can be done monthly. Pricing is product and customer/relationship-level.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models using statistical, retrospective probability models. Models validated every 12 months. Pricing reviews triggered manually by business, but parameters are derived from historical data. Pricing is product-based.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Pricing reviews done manually. Some ad-hoc risk based policy implemented. Judgmental decision making is the norm. Pricing models are standalone, little integration with other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policies ignore risk levels. Some exceptional pricing policies kept on a relationship 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53" name="Google Shape;8053;p459"/>
          <p:cNvGrpSpPr/>
          <p:nvPr/>
        </p:nvGrpSpPr>
        <p:grpSpPr>
          <a:xfrm>
            <a:off x="469900" y="3819680"/>
            <a:ext cx="8455025" cy="732866"/>
            <a:chOff x="211138" y="3972860"/>
            <a:chExt cx="8713787" cy="642437"/>
          </a:xfrm>
        </p:grpSpPr>
        <p:sp>
          <p:nvSpPr>
            <p:cNvPr id="8054" name="Google Shape;8054;p45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55" name="Google Shape;8055;p45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56" name="Google Shape;8056;p459"/>
          <p:cNvGrpSpPr/>
          <p:nvPr/>
        </p:nvGrpSpPr>
        <p:grpSpPr>
          <a:xfrm>
            <a:off x="7971865" y="980278"/>
            <a:ext cx="949325" cy="2867825"/>
            <a:chOff x="7941888" y="1062037"/>
            <a:chExt cx="983037" cy="2695575"/>
          </a:xfrm>
        </p:grpSpPr>
        <p:sp>
          <p:nvSpPr>
            <p:cNvPr id="8057" name="Google Shape;8057;p45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58" name="Google Shape;8058;p45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59" name="Google Shape;8059;p45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a:solidFill>
                <a:schemeClr val="accent6"/>
              </a:solidFill>
            </a:endParaRPr>
          </a:p>
        </p:txBody>
      </p:sp>
      <p:sp>
        <p:nvSpPr>
          <p:cNvPr id="8060" name="Google Shape;8060;p45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3" name="Shape 8083"/>
        <p:cNvGrpSpPr/>
        <p:nvPr/>
      </p:nvGrpSpPr>
      <p:grpSpPr>
        <a:xfrm>
          <a:off x="0" y="0"/>
          <a:ext cx="0" cy="0"/>
          <a:chOff x="0" y="0"/>
          <a:chExt cx="0" cy="0"/>
        </a:xfrm>
      </p:grpSpPr>
      <p:graphicFrame>
        <p:nvGraphicFramePr>
          <p:cNvPr id="8084" name="Google Shape;8084;p46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Portfolio models and rules are optimized and incorporated into business rule engine,  includes  common rules across multiple business division, including sophisticated algorithms and rule combinations. Scenarios analyses can be turned round on-demand. Latency of data is low.</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Existing rules  and rule combinations can be deployed onto automated portfolio analysis system / rule engine. Rule and portfolio  hierarchies exist and monitoring is at individual and combination rule level. Data refresh likely to be day + x.</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Analysts access existing rules &amp; definitions stored in a partially shared repository, which can be searched and incorporated into the new models or strategies.  Multiple rule engines may exist across the business. Monthly data, in arrears,  is the norm.</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Reuse of code and rules is limited. Analysts reuse rules by manually copying and pasting. Rules often basic and judgmentally driven.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portfolio management. Portfolios are managed on a deal/transaction basis.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85" name="Google Shape;8085;p461"/>
          <p:cNvGrpSpPr/>
          <p:nvPr/>
        </p:nvGrpSpPr>
        <p:grpSpPr>
          <a:xfrm>
            <a:off x="469900" y="3819680"/>
            <a:ext cx="8455025" cy="732866"/>
            <a:chOff x="211138" y="3972860"/>
            <a:chExt cx="8713787" cy="642437"/>
          </a:xfrm>
        </p:grpSpPr>
        <p:sp>
          <p:nvSpPr>
            <p:cNvPr id="8086" name="Google Shape;8086;p46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87" name="Google Shape;8087;p46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88" name="Google Shape;8088;p461"/>
          <p:cNvGrpSpPr/>
          <p:nvPr/>
        </p:nvGrpSpPr>
        <p:grpSpPr>
          <a:xfrm>
            <a:off x="7971865" y="980278"/>
            <a:ext cx="949325" cy="2867825"/>
            <a:chOff x="7941888" y="1062037"/>
            <a:chExt cx="983037" cy="2695575"/>
          </a:xfrm>
        </p:grpSpPr>
        <p:sp>
          <p:nvSpPr>
            <p:cNvPr id="8089" name="Google Shape;8089;p46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90" name="Google Shape;8090;p46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91" name="Google Shape;8091;p46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a:solidFill>
                <a:schemeClr val="accent6"/>
              </a:solidFill>
            </a:endParaRPr>
          </a:p>
        </p:txBody>
      </p:sp>
      <p:sp>
        <p:nvSpPr>
          <p:cNvPr id="8092" name="Google Shape;8092;p4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Business Objectives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comprehensive market intelligence on credit markets, lending volumes, sector concentrations, and competitive positioning to support strategic credit origination decisions.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Monitor new business pipeline quality including approval rates, decline reasons, time-to-decision, and post-disbursement early delinquency indicators.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Enable portfolio-level views of new origination by product, segment, geography, and risk grade.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Application pipeline data, credit bureau scores (ECIB/DataCheck), disbursement data, early delinquency flags, SBP sectoral exposure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Competitor rate benchmarks, macroeconomic indicators (KIBOR, CPI, GDP growth)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Trend analysis on approval/decline rates by segment, vintage analysis on new originations, geographic concentration heat maps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Sector exposure monitoring vs. SBP prudential limits, competitor benchmarking on pricing spreads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Vintage analysis with roll-rate modeling for origination quality assessment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Real-time new business dashboard with pipeline quality metrics across all lending products (consumer, SME, corporate, agriculture, Islamic)</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Early warning indicators on origination quality degradation. Sector concentration alerts against SBP single-obligor and group exposure limits</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4" name="Shape 8114"/>
        <p:cNvGrpSpPr/>
        <p:nvPr/>
      </p:nvGrpSpPr>
      <p:grpSpPr>
        <a:xfrm>
          <a:off x="0" y="0"/>
          <a:ext cx="0" cy="0"/>
          <a:chOff x="0" y="0"/>
          <a:chExt cx="0" cy="0"/>
        </a:xfrm>
      </p:grpSpPr>
      <p:graphicFrame>
        <p:nvGraphicFramePr>
          <p:cNvPr id="8115" name="Google Shape;8115;p46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Fully automated new business intelligence platform with real-time pipeline monitoring, AI-driven origination quality scoring, and integrated market intelligence feeds. Predictive models forecast origination volumes and quality metrics. Seamless integration with pricing, profitability, and capital allocation decisions.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daily reporting on new business metrics with trend analysis. Integration of external market data (credit bureau trends, SBP sectoral reports). Portfolio-level vintage analysis on new originations updated weekly.</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Monthly new business reporting with basic trend analysis. Manual integration of credit bureau and market data. Vintage analysis performed quarterly. Geographic and sectoral concentration monitored at portfolio level.</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Ad-hoc reporting on new business volumes. No systematic vintage analysis or pipeline quality monitoring. Market intelligence gathered manually from public sources.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New business reporting limited to volume and value totals. No quality metrics, no vintage tracking, no market intelligence integration. Post-disbursement monitoring separate from origination analytics.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116" name="Google Shape;8116;p46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grpSp>
        <p:nvGrpSpPr>
          <p:cNvPr id="8117" name="Google Shape;8117;p463"/>
          <p:cNvGrpSpPr/>
          <p:nvPr/>
        </p:nvGrpSpPr>
        <p:grpSpPr>
          <a:xfrm>
            <a:off x="457200" y="4078841"/>
            <a:ext cx="8455025" cy="660717"/>
            <a:chOff x="211138" y="3972860"/>
            <a:chExt cx="8713787" cy="642437"/>
          </a:xfrm>
        </p:grpSpPr>
        <p:sp>
          <p:nvSpPr>
            <p:cNvPr id="8118" name="Google Shape;8118;p46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19" name="Google Shape;8119;p46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120" name="Google Shape;8120;p463"/>
          <p:cNvGrpSpPr/>
          <p:nvPr/>
        </p:nvGrpSpPr>
        <p:grpSpPr>
          <a:xfrm>
            <a:off x="7971865" y="781605"/>
            <a:ext cx="949325" cy="3191672"/>
            <a:chOff x="7941888" y="1062037"/>
            <a:chExt cx="983037" cy="2695575"/>
          </a:xfrm>
        </p:grpSpPr>
        <p:sp>
          <p:nvSpPr>
            <p:cNvPr id="8121" name="Google Shape;8121;p46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22" name="Google Shape;8122;p46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123" name="Google Shape;8123;p4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7" name="Shape 8137"/>
        <p:cNvGrpSpPr/>
        <p:nvPr/>
      </p:nvGrpSpPr>
      <p:grpSpPr>
        <a:xfrm>
          <a:off x="0" y="0"/>
          <a:ext cx="0" cy="0"/>
          <a:chOff x="0" y="0"/>
          <a:chExt cx="0" cy="0"/>
        </a:xfrm>
      </p:grpSpPr>
      <p:sp>
        <p:nvSpPr>
          <p:cNvPr id="8138" name="Google Shape;8138;p46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br>
              <a:rPr lang="en-GB"/>
            </a:br>
            <a:r>
              <a:rPr lang="en-GB"/>
              <a:t>What are the challenges?</a:t>
            </a:r>
            <a:endParaRPr/>
          </a:p>
        </p:txBody>
      </p:sp>
      <p:grpSp>
        <p:nvGrpSpPr>
          <p:cNvPr id="8139" name="Google Shape;8139;p465"/>
          <p:cNvGrpSpPr/>
          <p:nvPr/>
        </p:nvGrpSpPr>
        <p:grpSpPr>
          <a:xfrm>
            <a:off x="438691" y="2524118"/>
            <a:ext cx="8306242" cy="700743"/>
            <a:chOff x="456759" y="2468314"/>
            <a:chExt cx="8306242" cy="700743"/>
          </a:xfrm>
        </p:grpSpPr>
        <p:sp>
          <p:nvSpPr>
            <p:cNvPr id="8140" name="Google Shape;8140;p46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Striking the balance between maximizing available capital to generate return on equity and minimizing expected losses during times of extreme market stress</a:t>
              </a:r>
              <a:endParaRPr sz="1000">
                <a:solidFill>
                  <a:srgbClr val="3C3C3B"/>
                </a:solidFill>
                <a:latin typeface="Century Gothic"/>
                <a:ea typeface="Century Gothic"/>
                <a:cs typeface="Century Gothic"/>
                <a:sym typeface="Century Gothic"/>
              </a:endParaRPr>
            </a:p>
          </p:txBody>
        </p:sp>
        <p:sp>
          <p:nvSpPr>
            <p:cNvPr id="8141" name="Google Shape;8141;p46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42" name="Google Shape;8142;p46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Dynamic, highly volatile market</a:t>
              </a:r>
              <a:endParaRPr b="1" sz="1200">
                <a:solidFill>
                  <a:srgbClr val="FFFFFF"/>
                </a:solidFill>
                <a:latin typeface="Century Gothic"/>
                <a:ea typeface="Century Gothic"/>
                <a:cs typeface="Century Gothic"/>
                <a:sym typeface="Century Gothic"/>
              </a:endParaRPr>
            </a:p>
          </p:txBody>
        </p:sp>
      </p:grpSp>
      <p:grpSp>
        <p:nvGrpSpPr>
          <p:cNvPr id="8143" name="Google Shape;8143;p465"/>
          <p:cNvGrpSpPr/>
          <p:nvPr/>
        </p:nvGrpSpPr>
        <p:grpSpPr>
          <a:xfrm>
            <a:off x="438690" y="1764058"/>
            <a:ext cx="8306240" cy="720600"/>
            <a:chOff x="456758" y="1764058"/>
            <a:chExt cx="8306240" cy="720600"/>
          </a:xfrm>
        </p:grpSpPr>
        <p:sp>
          <p:nvSpPr>
            <p:cNvPr id="8144" name="Google Shape;8144;p46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Increased scrutiny of risk models including periodic re-validation and back-testing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Increased reporting requirements including daily back-testing and P&amp;L attribution</a:t>
              </a:r>
              <a:endParaRPr sz="1000">
                <a:solidFill>
                  <a:srgbClr val="3C3C3B"/>
                </a:solidFill>
                <a:latin typeface="Century Gothic"/>
                <a:ea typeface="Century Gothic"/>
                <a:cs typeface="Century Gothic"/>
                <a:sym typeface="Century Gothic"/>
              </a:endParaRPr>
            </a:p>
          </p:txBody>
        </p:sp>
        <p:sp>
          <p:nvSpPr>
            <p:cNvPr id="8145" name="Google Shape;8145;p46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46" name="Google Shape;8146;p46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Regulatory Pressures</a:t>
              </a:r>
              <a:endParaRPr b="1" sz="1200">
                <a:solidFill>
                  <a:srgbClr val="FFFFFF"/>
                </a:solidFill>
                <a:latin typeface="Century Gothic"/>
                <a:ea typeface="Century Gothic"/>
                <a:cs typeface="Century Gothic"/>
                <a:sym typeface="Century Gothic"/>
              </a:endParaRPr>
            </a:p>
          </p:txBody>
        </p:sp>
      </p:grpSp>
      <p:sp>
        <p:nvSpPr>
          <p:cNvPr id="8147" name="Google Shape;8147;p46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148" name="Google Shape;8148;p465"/>
          <p:cNvGrpSpPr/>
          <p:nvPr/>
        </p:nvGrpSpPr>
        <p:grpSpPr>
          <a:xfrm>
            <a:off x="438691" y="4004525"/>
            <a:ext cx="8306242" cy="700825"/>
            <a:chOff x="456759" y="4004525"/>
            <a:chExt cx="8306242" cy="700825"/>
          </a:xfrm>
        </p:grpSpPr>
        <p:sp>
          <p:nvSpPr>
            <p:cNvPr id="8149" name="Google Shape;8149;p46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Establishing a ‘risk based’ culture.</a:t>
              </a:r>
              <a:endParaRPr/>
            </a:p>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Aligning incentives with appropriate risk based behaviors</a:t>
              </a:r>
              <a:endParaRPr sz="1000">
                <a:solidFill>
                  <a:schemeClr val="dk1"/>
                </a:solidFill>
                <a:latin typeface="Century Gothic"/>
                <a:ea typeface="Century Gothic"/>
                <a:cs typeface="Century Gothic"/>
                <a:sym typeface="Century Gothic"/>
              </a:endParaRPr>
            </a:p>
          </p:txBody>
        </p:sp>
        <p:sp>
          <p:nvSpPr>
            <p:cNvPr id="8150" name="Google Shape;8150;p46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51" name="Google Shape;8151;p46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Organization &amp; Risk Culture</a:t>
              </a:r>
              <a:endParaRPr b="1" sz="1200">
                <a:solidFill>
                  <a:srgbClr val="FFFFFF"/>
                </a:solidFill>
                <a:latin typeface="Century Gothic"/>
                <a:ea typeface="Century Gothic"/>
                <a:cs typeface="Century Gothic"/>
                <a:sym typeface="Century Gothic"/>
              </a:endParaRPr>
            </a:p>
          </p:txBody>
        </p:sp>
      </p:grpSp>
      <p:grpSp>
        <p:nvGrpSpPr>
          <p:cNvPr id="8152" name="Google Shape;8152;p465"/>
          <p:cNvGrpSpPr/>
          <p:nvPr/>
        </p:nvGrpSpPr>
        <p:grpSpPr>
          <a:xfrm>
            <a:off x="438691" y="3264321"/>
            <a:ext cx="8306242" cy="700743"/>
            <a:chOff x="456759" y="3170400"/>
            <a:chExt cx="8306242" cy="700743"/>
          </a:xfrm>
        </p:grpSpPr>
        <p:sp>
          <p:nvSpPr>
            <p:cNvPr id="8153" name="Google Shape;8153;p46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Demand for increased data granularity, transparency, traceability and timeliness.</a:t>
              </a:r>
              <a:endParaRPr/>
            </a:p>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Advanced modeling techniques beyond historical simulation – Monte Carlo, “Stressed VaR”, Expected Shortfall (ES) etc.</a:t>
              </a:r>
              <a:endParaRPr sz="1000">
                <a:solidFill>
                  <a:schemeClr val="dk1"/>
                </a:solidFill>
                <a:latin typeface="Century Gothic"/>
                <a:ea typeface="Century Gothic"/>
                <a:cs typeface="Century Gothic"/>
                <a:sym typeface="Century Gothic"/>
              </a:endParaRPr>
            </a:p>
          </p:txBody>
        </p:sp>
        <p:sp>
          <p:nvSpPr>
            <p:cNvPr id="8154" name="Google Shape;8154;p46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55" name="Google Shape;8155;p46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analytics and technology issues</a:t>
              </a:r>
              <a:endParaRPr b="1" sz="1200">
                <a:solidFill>
                  <a:srgbClr val="FFFFFF"/>
                </a:solidFill>
                <a:latin typeface="Century Gothic"/>
                <a:ea typeface="Century Gothic"/>
                <a:cs typeface="Century Gothic"/>
                <a:sym typeface="Century Gothic"/>
              </a:endParaRPr>
            </a:p>
          </p:txBody>
        </p:sp>
      </p:grpSp>
      <p:sp>
        <p:nvSpPr>
          <p:cNvPr id="8156" name="Google Shape;8156;p46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Maintaining a comprehensive risk management capability that keeps pace with and satisfies regulatory requirements  as well as meeting the need to maximize return on equity.</a:t>
            </a:r>
            <a:endParaRPr sz="1200">
              <a:solidFill>
                <a:srgbClr val="FFFFFF"/>
              </a:solidFill>
              <a:latin typeface="Century Gothic"/>
              <a:ea typeface="Century Gothic"/>
              <a:cs typeface="Century Gothic"/>
              <a:sym typeface="Century Gothic"/>
            </a:endParaRPr>
          </a:p>
        </p:txBody>
      </p:sp>
      <p:sp>
        <p:nvSpPr>
          <p:cNvPr id="8157" name="Google Shape;8157;p4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0" name="Shape 8180"/>
        <p:cNvGrpSpPr/>
        <p:nvPr/>
      </p:nvGrpSpPr>
      <p:grpSpPr>
        <a:xfrm>
          <a:off x="0" y="0"/>
          <a:ext cx="0" cy="0"/>
          <a:chOff x="0" y="0"/>
          <a:chExt cx="0" cy="0"/>
        </a:xfrm>
      </p:grpSpPr>
      <p:graphicFrame>
        <p:nvGraphicFramePr>
          <p:cNvPr id="8181" name="Google Shape;8181;p46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Detailed definitions of risk bearing capacity and appetite baked into operational processes.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Portfolio structures and capital consumption measured/monitored on advanced risk  KPIs including stressed VaR and Expected Shortfall (ES) – both standalone and overall portfolio/interaction views. Capacity to implement full re-valuation in addition to sensitivities. Real-time or near-realtime risk adjusted P&amp;L.</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Piloting advanced analytics techniques to support risk policy o in selected lines of business</a:t>
                      </a:r>
                      <a:endParaRPr/>
                    </a:p>
                  </a:txBody>
                  <a:tcPr marT="36000" marB="36000" marR="36000" marL="360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risk bearing capacity and risk appetite defined, portfolio management by volumes/value, but not by more sophisticated Risk KPIs.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appetite clearly defined but relying heavily on manual efforts. Monitoring remains focused on descriptive “what happened” analytics.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bearing capacity an  risk appetite not explicitly defined, no/limited/judgemental target portfolio composition.</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182" name="Google Shape;8182;p46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grpSp>
        <p:nvGrpSpPr>
          <p:cNvPr id="8183" name="Google Shape;8183;p467"/>
          <p:cNvGrpSpPr/>
          <p:nvPr/>
        </p:nvGrpSpPr>
        <p:grpSpPr>
          <a:xfrm>
            <a:off x="457200" y="3562350"/>
            <a:ext cx="8455025" cy="1249127"/>
            <a:chOff x="211138" y="3972860"/>
            <a:chExt cx="8713787" cy="642437"/>
          </a:xfrm>
        </p:grpSpPr>
        <p:sp>
          <p:nvSpPr>
            <p:cNvPr id="8184" name="Google Shape;8184;p46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85" name="Google Shape;8185;p46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186" name="Google Shape;8186;p467"/>
          <p:cNvGrpSpPr/>
          <p:nvPr/>
        </p:nvGrpSpPr>
        <p:grpSpPr>
          <a:xfrm>
            <a:off x="7971865" y="781605"/>
            <a:ext cx="949325" cy="3191672"/>
            <a:chOff x="7941888" y="1062037"/>
            <a:chExt cx="983037" cy="2695575"/>
          </a:xfrm>
        </p:grpSpPr>
        <p:sp>
          <p:nvSpPr>
            <p:cNvPr id="8187" name="Google Shape;8187;p46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88" name="Google Shape;8188;p46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189" name="Google Shape;8189;p4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2" name="Shape 8212"/>
        <p:cNvGrpSpPr/>
        <p:nvPr/>
      </p:nvGrpSpPr>
      <p:grpSpPr>
        <a:xfrm>
          <a:off x="0" y="0"/>
          <a:ext cx="0" cy="0"/>
          <a:chOff x="0" y="0"/>
          <a:chExt cx="0" cy="0"/>
        </a:xfrm>
      </p:grpSpPr>
      <p:graphicFrame>
        <p:nvGraphicFramePr>
          <p:cNvPr id="8213" name="Google Shape;8213;p469"/>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incorporate all data, channels, interactions, associations, and customer/entity networks. Models updated dynamically. All risk models harmonized with Finance, Marketing.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incorporates some unstructured data. Models validated every 3-6 months. Model factory institutionalized. Models utilize internal and external data. Fully data-based statistical models.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using regression, retrospective probability models. Models validated every 12 months. Operational processes using scoring for automation. Rule-based and limited statistical models.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implemented in third party and/or in-house developed applications. Decisioning remains stove-piped.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or limited risk based pricing. Models updated on an ad hoc basis. Some pockets of automation. Judgmental decision making is the norm. Models are standalone, little integration with other functional units.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214" name="Google Shape;8214;p469"/>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Based Pricing</a:t>
            </a:r>
            <a:endParaRPr b="1"/>
          </a:p>
        </p:txBody>
      </p:sp>
      <p:grpSp>
        <p:nvGrpSpPr>
          <p:cNvPr id="8215" name="Google Shape;8215;p469"/>
          <p:cNvGrpSpPr/>
          <p:nvPr/>
        </p:nvGrpSpPr>
        <p:grpSpPr>
          <a:xfrm>
            <a:off x="457200" y="3562350"/>
            <a:ext cx="8455025" cy="1249127"/>
            <a:chOff x="211138" y="3972860"/>
            <a:chExt cx="8713787" cy="642437"/>
          </a:xfrm>
        </p:grpSpPr>
        <p:sp>
          <p:nvSpPr>
            <p:cNvPr id="8216" name="Google Shape;8216;p46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17" name="Google Shape;8217;p46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218" name="Google Shape;8218;p469"/>
          <p:cNvGrpSpPr/>
          <p:nvPr/>
        </p:nvGrpSpPr>
        <p:grpSpPr>
          <a:xfrm>
            <a:off x="7971865" y="781605"/>
            <a:ext cx="949325" cy="3191672"/>
            <a:chOff x="7941888" y="1062037"/>
            <a:chExt cx="983037" cy="2695575"/>
          </a:xfrm>
        </p:grpSpPr>
        <p:sp>
          <p:nvSpPr>
            <p:cNvPr id="8219" name="Google Shape;8219;p46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20" name="Google Shape;8220;p46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221" name="Google Shape;8221;p4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SBP requires all Pakistani banks to maintain capital for operational risk under Basel III. Operational losses include IT system failures, fraud losses, processing errors in trade finance and remittances, and regulatory penalties for AML/CFT non-compliance.</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SBP Risk Management Guidelines require banks to maintain comprehensive operational risk frameworks, loss event databases, Key Risk Indicators (KRIs), and Risk &amp; Control Self-Assessments (RCSAs). Banks with assets exceeding PKR 500 billion must report operational risk events quarterly.</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4" name="Shape 8234"/>
        <p:cNvGrpSpPr/>
        <p:nvPr/>
      </p:nvGrpSpPr>
      <p:grpSpPr>
        <a:xfrm>
          <a:off x="0" y="0"/>
          <a:ext cx="0" cy="0"/>
          <a:chOff x="0" y="0"/>
          <a:chExt cx="0" cy="0"/>
        </a:xfrm>
      </p:grpSpPr>
      <p:sp>
        <p:nvSpPr>
          <p:cNvPr id="8235" name="Google Shape;8235;p471"/>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36" name="Google Shape;8236;p471"/>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just">
              <a:lnSpc>
                <a:spcPct val="95000"/>
              </a:lnSpc>
              <a:spcBef>
                <a:spcPts val="800"/>
              </a:spcBef>
              <a:spcAft>
                <a:spcPts val="0"/>
              </a:spcAft>
              <a:buClr>
                <a:schemeClr val="dk1"/>
              </a:buClr>
              <a:buSzPts val="1200"/>
              <a:buChar char="•"/>
            </a:pPr>
            <a:r>
              <a:rPr lang="en-GB" sz="1200"/>
              <a:t>Build comprehensive loss event database with Basel 7 event type classification. Implement Key Risk Indicators (KRIs) with automated threshold monitoring. Deploy RCSA framework across all business units. Perform scenario analysis using Monte Carlo simulation. Calculate operational risk capital (BIA/TSA/AMA) with clear data lineage. Automate reporting to Board Risk Committee and SBP.</a:t>
            </a:r>
            <a:endParaRPr sz="1200"/>
          </a:p>
        </p:txBody>
      </p:sp>
      <p:sp>
        <p:nvSpPr>
          <p:cNvPr id="8237" name="Google Shape;8237;p47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pic>
        <p:nvPicPr>
          <p:cNvPr id="8238" name="Google Shape;8238;p471"/>
          <p:cNvPicPr preferRelativeResize="0"/>
          <p:nvPr/>
        </p:nvPicPr>
        <p:blipFill rotWithShape="1">
          <a:blip r:embed="rId3">
            <a:alphaModFix/>
          </a:blip>
          <a:srcRect b="0" l="7127" r="0" t="0"/>
          <a:stretch/>
        </p:blipFill>
        <p:spPr>
          <a:xfrm>
            <a:off x="5813778" y="967317"/>
            <a:ext cx="3330222" cy="2396066"/>
          </a:xfrm>
          <a:prstGeom prst="rect">
            <a:avLst/>
          </a:prstGeom>
          <a:noFill/>
          <a:ln>
            <a:noFill/>
          </a:ln>
          <a:effectLst>
            <a:outerShdw blurRad="50800" rotWithShape="0" algn="tl" dir="2700000" dist="38100">
              <a:srgbClr val="000000">
                <a:alpha val="40000"/>
              </a:srgbClr>
            </a:outerShdw>
          </a:effectLst>
        </p:spPr>
      </p:pic>
      <p:sp>
        <p:nvSpPr>
          <p:cNvPr id="8239" name="Google Shape;8239;p4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4" name="Shape 8244"/>
        <p:cNvGrpSpPr/>
        <p:nvPr/>
      </p:nvGrpSpPr>
      <p:grpSpPr>
        <a:xfrm>
          <a:off x="0" y="0"/>
          <a:ext cx="0" cy="0"/>
          <a:chOff x="0" y="0"/>
          <a:chExt cx="0" cy="0"/>
        </a:xfrm>
      </p:grpSpPr>
      <p:sp>
        <p:nvSpPr>
          <p:cNvPr id="8245" name="Google Shape;8245;p47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r>
              <a:rPr lang="en-GB"/>
              <a:t>What are the challenges?</a:t>
            </a:r>
            <a:endParaRPr/>
          </a:p>
        </p:txBody>
      </p:sp>
      <p:grpSp>
        <p:nvGrpSpPr>
          <p:cNvPr id="8246" name="Google Shape;8246;p472"/>
          <p:cNvGrpSpPr/>
          <p:nvPr/>
        </p:nvGrpSpPr>
        <p:grpSpPr>
          <a:xfrm>
            <a:off x="438691" y="2524118"/>
            <a:ext cx="8306242" cy="700743"/>
            <a:chOff x="456759" y="2468314"/>
            <a:chExt cx="8306242" cy="700743"/>
          </a:xfrm>
        </p:grpSpPr>
        <p:sp>
          <p:nvSpPr>
            <p:cNvPr id="8247" name="Google Shape;8247;p472"/>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Most Pakistani banks have incomplete loss databases capturing only material losses above PKR 1M. Near-misses and boundary events are poorly recorded.</a:t>
              </a:r>
              <a:endParaRPr sz="1000">
                <a:solidFill>
                  <a:srgbClr val="3C3C3B"/>
                </a:solidFill>
                <a:latin typeface="Century Gothic"/>
                <a:ea typeface="Century Gothic"/>
                <a:cs typeface="Century Gothic"/>
                <a:sym typeface="Century Gothic"/>
              </a:endParaRPr>
            </a:p>
          </p:txBody>
        </p:sp>
        <p:sp>
          <p:nvSpPr>
            <p:cNvPr id="8248" name="Google Shape;8248;p472"/>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49" name="Google Shape;8249;p472"/>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Cross-Functional Integration</a:t>
              </a:r>
              <a:endParaRPr b="1" sz="1200">
                <a:solidFill>
                  <a:srgbClr val="FFFFFF"/>
                </a:solidFill>
                <a:latin typeface="Century Gothic"/>
                <a:ea typeface="Century Gothic"/>
                <a:cs typeface="Century Gothic"/>
                <a:sym typeface="Century Gothic"/>
              </a:endParaRPr>
            </a:p>
          </p:txBody>
        </p:sp>
      </p:grpSp>
      <p:grpSp>
        <p:nvGrpSpPr>
          <p:cNvPr id="8250" name="Google Shape;8250;p472"/>
          <p:cNvGrpSpPr/>
          <p:nvPr/>
        </p:nvGrpSpPr>
        <p:grpSpPr>
          <a:xfrm>
            <a:off x="438690" y="1764058"/>
            <a:ext cx="8306240" cy="720600"/>
            <a:chOff x="456758" y="1764058"/>
            <a:chExt cx="8306240" cy="720600"/>
          </a:xfrm>
        </p:grpSpPr>
        <p:sp>
          <p:nvSpPr>
            <p:cNvPr id="8251" name="Google Shape;8251;p472"/>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Operational risk data spans every department. No single system captures all relevant risk events. Integration requires organizational change, not just technology.</a:t>
              </a:r>
              <a:endParaRPr sz="1000">
                <a:solidFill>
                  <a:srgbClr val="3C3C3B"/>
                </a:solidFill>
                <a:latin typeface="Century Gothic"/>
                <a:ea typeface="Century Gothic"/>
                <a:cs typeface="Century Gothic"/>
                <a:sym typeface="Century Gothic"/>
              </a:endParaRPr>
            </a:p>
          </p:txBody>
        </p:sp>
        <p:sp>
          <p:nvSpPr>
            <p:cNvPr id="8252" name="Google Shape;8252;p472"/>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53" name="Google Shape;8253;p472"/>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Collection Quality</a:t>
              </a:r>
              <a:endParaRPr b="1" sz="1200">
                <a:solidFill>
                  <a:srgbClr val="FFFFFF"/>
                </a:solidFill>
                <a:latin typeface="Century Gothic"/>
                <a:ea typeface="Century Gothic"/>
                <a:cs typeface="Century Gothic"/>
                <a:sym typeface="Century Gothic"/>
              </a:endParaRPr>
            </a:p>
          </p:txBody>
        </p:sp>
      </p:grpSp>
      <p:sp>
        <p:nvSpPr>
          <p:cNvPr id="8254" name="Google Shape;8254;p472"/>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255" name="Google Shape;8255;p472"/>
          <p:cNvGrpSpPr/>
          <p:nvPr/>
        </p:nvGrpSpPr>
        <p:grpSpPr>
          <a:xfrm>
            <a:off x="438691" y="4004525"/>
            <a:ext cx="8306242" cy="700825"/>
            <a:chOff x="456759" y="4004525"/>
            <a:chExt cx="8306242" cy="700825"/>
          </a:xfrm>
        </p:grpSpPr>
        <p:sp>
          <p:nvSpPr>
            <p:cNvPr id="8256" name="Google Shape;8256;p472"/>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Unlike credit and market risk, operational risk lacks established statistical distributions. Fat-tailed losses make VaR-based capital calculations unreliable.</a:t>
              </a:r>
              <a:endParaRPr sz="1000">
                <a:solidFill>
                  <a:schemeClr val="dk1"/>
                </a:solidFill>
                <a:latin typeface="Century Gothic"/>
                <a:ea typeface="Century Gothic"/>
                <a:cs typeface="Century Gothic"/>
                <a:sym typeface="Century Gothic"/>
              </a:endParaRPr>
            </a:p>
          </p:txBody>
        </p:sp>
        <p:sp>
          <p:nvSpPr>
            <p:cNvPr id="8257" name="Google Shape;8257;p472"/>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58" name="Google Shape;8258;p472"/>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Emerging Risks</a:t>
              </a:r>
              <a:endParaRPr b="1" sz="1200">
                <a:solidFill>
                  <a:srgbClr val="FFFFFF"/>
                </a:solidFill>
                <a:latin typeface="Century Gothic"/>
                <a:ea typeface="Century Gothic"/>
                <a:cs typeface="Century Gothic"/>
                <a:sym typeface="Century Gothic"/>
              </a:endParaRPr>
            </a:p>
          </p:txBody>
        </p:sp>
      </p:grpSp>
      <p:grpSp>
        <p:nvGrpSpPr>
          <p:cNvPr id="8259" name="Google Shape;8259;p472"/>
          <p:cNvGrpSpPr/>
          <p:nvPr/>
        </p:nvGrpSpPr>
        <p:grpSpPr>
          <a:xfrm>
            <a:off x="438691" y="3264321"/>
            <a:ext cx="8306242" cy="700743"/>
            <a:chOff x="456759" y="3170400"/>
            <a:chExt cx="8306242" cy="700743"/>
          </a:xfrm>
        </p:grpSpPr>
        <p:sp>
          <p:nvSpPr>
            <p:cNvPr id="8260" name="Google Shape;8260;p472"/>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Cyber risk, digital channel fraud, third-party vendor risk, and IT change management risk are growing rapidly but poorly captured in traditional frameworks.</a:t>
              </a:r>
              <a:endParaRPr sz="1000">
                <a:solidFill>
                  <a:schemeClr val="dk1"/>
                </a:solidFill>
                <a:latin typeface="Century Gothic"/>
                <a:ea typeface="Century Gothic"/>
                <a:cs typeface="Century Gothic"/>
                <a:sym typeface="Century Gothic"/>
              </a:endParaRPr>
            </a:p>
          </p:txBody>
        </p:sp>
        <p:sp>
          <p:nvSpPr>
            <p:cNvPr id="8261" name="Google Shape;8261;p472"/>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62" name="Google Shape;8262;p472"/>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Quantification Challenges</a:t>
              </a:r>
              <a:endParaRPr b="1" sz="1200">
                <a:solidFill>
                  <a:srgbClr val="FFFFFF"/>
                </a:solidFill>
                <a:latin typeface="Century Gothic"/>
                <a:ea typeface="Century Gothic"/>
                <a:cs typeface="Century Gothic"/>
                <a:sym typeface="Century Gothic"/>
              </a:endParaRPr>
            </a:p>
          </p:txBody>
        </p:sp>
      </p:grpSp>
      <p:sp>
        <p:nvSpPr>
          <p:cNvPr id="8263" name="Google Shape;8263;p472"/>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Building a data-driven operational risk management framework that moves beyond compliance-driven loss event collection toward predictive risk prevention and proactive control optimization.</a:t>
            </a:r>
            <a:endParaRPr sz="1200">
              <a:solidFill>
                <a:srgbClr val="FFFFFF"/>
              </a:solidFill>
              <a:latin typeface="Century Gothic"/>
              <a:ea typeface="Century Gothic"/>
              <a:cs typeface="Century Gothic"/>
              <a:sym typeface="Century Gothic"/>
            </a:endParaRPr>
          </a:p>
        </p:txBody>
      </p:sp>
      <p:sp>
        <p:nvSpPr>
          <p:cNvPr id="8264" name="Google Shape;8264;p4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Establish enterprise-wide operational risk management capability that identifies, assesses, monitors, and mitigates operational risks across all business lines. Enable data-driven decision making for control investments. Meet SBP operational risk capital requirements under Basel III.</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Internal loss event database (Basel 7 event types), KRI data from all business units, RCSA scores, audit findings, IT incident logs, customer complaints, regulatory correspondence, insurance claims data</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Loss distribution modeling (frequency x severity), Monte Carlo simulation for scenario analysis, KRI threshold optimization, text mining of incident reports, correlation analysis between KRIs and actual losses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operational risk dashboard with real-time KRI monitoring and automated alert escalation. Predictive indicators providing early warning of control degradation. Automated regulatory reporting to SBP with full audit trail.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7" name="Shape 8287"/>
        <p:cNvGrpSpPr/>
        <p:nvPr/>
      </p:nvGrpSpPr>
      <p:grpSpPr>
        <a:xfrm>
          <a:off x="0" y="0"/>
          <a:ext cx="0" cy="0"/>
          <a:chOff x="0" y="0"/>
          <a:chExt cx="0" cy="0"/>
        </a:xfrm>
      </p:grpSpPr>
      <p:graphicFrame>
        <p:nvGraphicFramePr>
          <p:cNvPr id="8288" name="Google Shape;8288;p47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Leading</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Fully integrated operational risk analytics platform with real-time KRI monitoring, AI-driven incident classification, and predictive control effectiveness scoring. AMA-approved capital model with real-time allocation.</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Innovating</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spcBef>
                          <a:spcPts val="0"/>
                        </a:spcBef>
                        <a:spcAft>
                          <a:spcPts val="0"/>
                        </a:spcAft>
                        <a:buNone/>
                      </a:pPr>
                      <a:r>
                        <a:t>Comprehensive loss event database with automated classification. Advanced scenario analysis using Monte Carlo simulation. KRIs integrated with business process monitoring. RCSA largely automated.</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Practicing</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Structured loss event collection with Basel event type taxonomy. Standard KRIs monitored monthly. RCSA conducted annually. Capital calculated using TSA with internal validation.</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Developing</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Loss event collection in place but inconsistent across business units. Limited KRIs focused on IT and processing errors. RCSA paper-based and infrequent. Capital via BIA.</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Emerging</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Minimal operational loss tracking. No formal KRI framework. Risk assessments ad-hoc after incidents. No scenario analysis. Capital via BIA with no internal modeling.</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289" name="Google Shape;8289;p474"/>
          <p:cNvGrpSpPr/>
          <p:nvPr/>
        </p:nvGrpSpPr>
        <p:grpSpPr>
          <a:xfrm>
            <a:off x="469900" y="3819680"/>
            <a:ext cx="8455025" cy="732866"/>
            <a:chOff x="211138" y="3972860"/>
            <a:chExt cx="8713787" cy="642437"/>
          </a:xfrm>
        </p:grpSpPr>
        <p:sp>
          <p:nvSpPr>
            <p:cNvPr id="8290" name="Google Shape;8290;p47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t>
              </a:r>
              <a:endParaRPr sz="1000">
                <a:solidFill>
                  <a:schemeClr val="dk1"/>
                </a:solidFill>
                <a:latin typeface="Century Gothic"/>
                <a:ea typeface="Century Gothic"/>
                <a:cs typeface="Century Gothic"/>
                <a:sym typeface="Century Gothic"/>
              </a:endParaRPr>
            </a:p>
          </p:txBody>
        </p:sp>
        <p:sp>
          <p:nvSpPr>
            <p:cNvPr id="8291" name="Google Shape;8291;p47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292" name="Google Shape;8292;p474"/>
          <p:cNvGrpSpPr/>
          <p:nvPr/>
        </p:nvGrpSpPr>
        <p:grpSpPr>
          <a:xfrm>
            <a:off x="7971865" y="980278"/>
            <a:ext cx="949325" cy="2867825"/>
            <a:chOff x="7941888" y="1062037"/>
            <a:chExt cx="983037" cy="2695575"/>
          </a:xfrm>
        </p:grpSpPr>
        <p:sp>
          <p:nvSpPr>
            <p:cNvPr id="8293" name="Google Shape;8293;p47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t>
              </a:r>
              <a:endParaRPr sz="1000">
                <a:solidFill>
                  <a:schemeClr val="dk1"/>
                </a:solidFill>
                <a:latin typeface="Century Gothic"/>
                <a:ea typeface="Century Gothic"/>
                <a:cs typeface="Century Gothic"/>
                <a:sym typeface="Century Gothic"/>
              </a:endParaRPr>
            </a:p>
          </p:txBody>
        </p:sp>
        <p:sp>
          <p:nvSpPr>
            <p:cNvPr id="8294" name="Google Shape;8294;p47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295" name="Google Shape;8295;p47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a:solidFill>
                <a:schemeClr val="accent6"/>
              </a:solidFill>
            </a:endParaRPr>
          </a:p>
        </p:txBody>
      </p:sp>
      <p:sp>
        <p:nvSpPr>
          <p:cNvPr id="8296" name="Google Shape;8296;p4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9" name="Shape 8309"/>
        <p:cNvGrpSpPr/>
        <p:nvPr/>
      </p:nvGrpSpPr>
      <p:grpSpPr>
        <a:xfrm>
          <a:off x="0" y="0"/>
          <a:ext cx="0" cy="0"/>
          <a:chOff x="0" y="0"/>
          <a:chExt cx="0" cy="0"/>
        </a:xfrm>
      </p:grpSpPr>
      <p:sp>
        <p:nvSpPr>
          <p:cNvPr id="8310" name="Google Shape;8310;p476"/>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11" name="Google Shape;8311;p476"/>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200"/>
              <a:buChar char="•"/>
            </a:pPr>
            <a:r>
              <a:rPr lang="en-GB" sz="1200"/>
              <a:t>Produce clear and transparent reporting of receivables, credit assets, and past due balances. </a:t>
            </a:r>
            <a:endParaRPr/>
          </a:p>
          <a:p>
            <a:pPr indent="-169863" lvl="0" marL="169863" rtl="0" algn="just">
              <a:lnSpc>
                <a:spcPct val="95000"/>
              </a:lnSpc>
              <a:spcBef>
                <a:spcPts val="600"/>
              </a:spcBef>
              <a:spcAft>
                <a:spcPts val="0"/>
              </a:spcAft>
              <a:buClr>
                <a:schemeClr val="dk1"/>
              </a:buClr>
              <a:buSzPts val="1200"/>
              <a:buChar char="•"/>
            </a:pPr>
            <a:r>
              <a:rPr lang="en-GB" sz="1200"/>
              <a:t>Use of predictive modeling to determine propensity and expected amount of collection to optimize day-to-day collection activity and resource planning.  </a:t>
            </a:r>
            <a:endParaRPr/>
          </a:p>
          <a:p>
            <a:pPr indent="-169863" lvl="0" marL="169863" rtl="0" algn="just">
              <a:lnSpc>
                <a:spcPct val="95000"/>
              </a:lnSpc>
              <a:spcBef>
                <a:spcPts val="600"/>
              </a:spcBef>
              <a:spcAft>
                <a:spcPts val="0"/>
              </a:spcAft>
              <a:buClr>
                <a:schemeClr val="dk1"/>
              </a:buClr>
              <a:buSzPts val="1200"/>
              <a:buChar char="•"/>
            </a:pPr>
            <a:r>
              <a:rPr lang="en-GB" sz="1200"/>
              <a:t>Maximize collection likelihood through propensity modeling and network analysis of cash flows and defaults. Maximize collection amounts through champion and challenger strategy models. </a:t>
            </a:r>
            <a:endParaRPr/>
          </a:p>
          <a:p>
            <a:pPr indent="-169863" lvl="0" marL="169863" rtl="0" algn="just">
              <a:lnSpc>
                <a:spcPct val="95000"/>
              </a:lnSpc>
              <a:spcBef>
                <a:spcPts val="600"/>
              </a:spcBef>
              <a:spcAft>
                <a:spcPts val="0"/>
              </a:spcAft>
              <a:buClr>
                <a:schemeClr val="dk1"/>
              </a:buClr>
              <a:buSzPts val="1200"/>
              <a:buChar char="•"/>
            </a:pPr>
            <a:r>
              <a:rPr lang="en-GB" sz="1200"/>
              <a:t>B2C collection strategy profiles individual collector skillsets, retail customer behavior, and best time and channel to collect from. </a:t>
            </a:r>
            <a:endParaRPr/>
          </a:p>
          <a:p>
            <a:pPr indent="-169863" lvl="0" marL="169863" rtl="0" algn="just">
              <a:lnSpc>
                <a:spcPct val="95000"/>
              </a:lnSpc>
              <a:spcBef>
                <a:spcPts val="600"/>
              </a:spcBef>
              <a:spcAft>
                <a:spcPts val="0"/>
              </a:spcAft>
              <a:buClr>
                <a:schemeClr val="dk1"/>
              </a:buClr>
              <a:buSzPts val="1200"/>
              <a:buChar char="•"/>
            </a:pPr>
            <a:r>
              <a:rPr lang="en-GB" sz="1200"/>
              <a:t>B2B strategies integrate collections strategies with supply chain improvements: timely invoicing and accurate billing, enforceability of contractual  terms and obligations, and counterparty relationship management. </a:t>
            </a:r>
            <a:endParaRPr sz="1200"/>
          </a:p>
          <a:p>
            <a:pPr indent="-169863" lvl="0" marL="169863" rtl="0" algn="just">
              <a:lnSpc>
                <a:spcPct val="95000"/>
              </a:lnSpc>
              <a:spcBef>
                <a:spcPts val="600"/>
              </a:spcBef>
              <a:spcAft>
                <a:spcPts val="0"/>
              </a:spcAft>
              <a:buClr>
                <a:schemeClr val="dk1"/>
              </a:buClr>
              <a:buSzPts val="1200"/>
              <a:buChar char="•"/>
            </a:pPr>
            <a:r>
              <a:rPr lang="en-GB" sz="1200"/>
              <a:t>Optimize loss recovery by profiling the effectiveness of third-party collectors and agencies, and providing clear performance metrics of outsourced collection. </a:t>
            </a:r>
            <a:endParaRPr sz="1200"/>
          </a:p>
        </p:txBody>
      </p:sp>
      <p:sp>
        <p:nvSpPr>
          <p:cNvPr id="8312" name="Google Shape;8312;p47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pic>
        <p:nvPicPr>
          <p:cNvPr id="8313" name="Google Shape;8313;p476"/>
          <p:cNvPicPr preferRelativeResize="0"/>
          <p:nvPr/>
        </p:nvPicPr>
        <p:blipFill rotWithShape="1">
          <a:blip r:embed="rId3">
            <a:alphaModFix/>
          </a:blip>
          <a:srcRect b="0" l="7127" r="0" t="0"/>
          <a:stretch/>
        </p:blipFill>
        <p:spPr>
          <a:xfrm>
            <a:off x="5813778" y="967317"/>
            <a:ext cx="3330222" cy="2396066"/>
          </a:xfrm>
          <a:prstGeom prst="rect">
            <a:avLst/>
          </a:prstGeom>
          <a:noFill/>
          <a:ln>
            <a:noFill/>
          </a:ln>
          <a:effectLst>
            <a:outerShdw blurRad="50800" rotWithShape="0" algn="tl" dir="2700000" dist="38100">
              <a:srgbClr val="000000">
                <a:alpha val="40000"/>
              </a:srgbClr>
            </a:outerShdw>
          </a:effectLst>
        </p:spPr>
      </p:pic>
      <p:sp>
        <p:nvSpPr>
          <p:cNvPr id="8314" name="Google Shape;8314;p47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9" name="Shape 8319"/>
        <p:cNvGrpSpPr/>
        <p:nvPr/>
      </p:nvGrpSpPr>
      <p:grpSpPr>
        <a:xfrm>
          <a:off x="0" y="0"/>
          <a:ext cx="0" cy="0"/>
          <a:chOff x="0" y="0"/>
          <a:chExt cx="0" cy="0"/>
        </a:xfrm>
      </p:grpSpPr>
      <p:sp>
        <p:nvSpPr>
          <p:cNvPr id="8320" name="Google Shape;8320;p477"/>
          <p:cNvSpPr txBox="1"/>
          <p:nvPr>
            <p:ph type="title"/>
          </p:nvPr>
        </p:nvSpPr>
        <p:spPr>
          <a:xfrm>
            <a:off x="477880" y="274637"/>
            <a:ext cx="8401960" cy="604837"/>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r>
              <a:rPr lang="en-GB"/>
              <a:t>What are the challenges?</a:t>
            </a:r>
            <a:endParaRPr/>
          </a:p>
        </p:txBody>
      </p:sp>
      <p:grpSp>
        <p:nvGrpSpPr>
          <p:cNvPr id="8321" name="Google Shape;8321;p477"/>
          <p:cNvGrpSpPr/>
          <p:nvPr/>
        </p:nvGrpSpPr>
        <p:grpSpPr>
          <a:xfrm>
            <a:off x="438691" y="2524118"/>
            <a:ext cx="8306242" cy="700743"/>
            <a:chOff x="456759" y="2468314"/>
            <a:chExt cx="8306242" cy="700743"/>
          </a:xfrm>
        </p:grpSpPr>
        <p:sp>
          <p:nvSpPr>
            <p:cNvPr id="8322" name="Google Shape;8322;p477"/>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Most Pakistani banks use flat dunning cycles without risk-based prioritization. High-value, low-risk delinquents receive same treatment as high-risk, low-balance accounts.</a:t>
              </a:r>
              <a:endParaRPr sz="1000">
                <a:solidFill>
                  <a:srgbClr val="3C3C3B"/>
                </a:solidFill>
                <a:latin typeface="Century Gothic"/>
                <a:ea typeface="Century Gothic"/>
                <a:cs typeface="Century Gothic"/>
                <a:sym typeface="Century Gothic"/>
              </a:endParaRPr>
            </a:p>
          </p:txBody>
        </p:sp>
        <p:sp>
          <p:nvSpPr>
            <p:cNvPr id="8323" name="Google Shape;8323;p477"/>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24" name="Google Shape;8324;p477"/>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Integration</a:t>
              </a:r>
              <a:endParaRPr b="1" sz="1200">
                <a:solidFill>
                  <a:srgbClr val="FFFFFF"/>
                </a:solidFill>
                <a:latin typeface="Century Gothic"/>
                <a:ea typeface="Century Gothic"/>
                <a:cs typeface="Century Gothic"/>
                <a:sym typeface="Century Gothic"/>
              </a:endParaRPr>
            </a:p>
          </p:txBody>
        </p:sp>
      </p:grpSp>
      <p:grpSp>
        <p:nvGrpSpPr>
          <p:cNvPr id="8325" name="Google Shape;8325;p477"/>
          <p:cNvGrpSpPr/>
          <p:nvPr/>
        </p:nvGrpSpPr>
        <p:grpSpPr>
          <a:xfrm>
            <a:off x="438690" y="1764058"/>
            <a:ext cx="8306240" cy="720600"/>
            <a:chOff x="456758" y="1764058"/>
            <a:chExt cx="8306240" cy="720600"/>
          </a:xfrm>
        </p:grpSpPr>
        <p:sp>
          <p:nvSpPr>
            <p:cNvPr id="8326" name="Google Shape;8326;p477"/>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Collections data disconnected from origination and behavioral data. Collectors lack visibility into full customer relationship. CNIC-based customer unification incomplete.</a:t>
              </a:r>
              <a:endParaRPr sz="1000">
                <a:solidFill>
                  <a:srgbClr val="3C3C3B"/>
                </a:solidFill>
                <a:latin typeface="Century Gothic"/>
                <a:ea typeface="Century Gothic"/>
                <a:cs typeface="Century Gothic"/>
                <a:sym typeface="Century Gothic"/>
              </a:endParaRPr>
            </a:p>
          </p:txBody>
        </p:sp>
        <p:sp>
          <p:nvSpPr>
            <p:cNvPr id="8327" name="Google Shape;8327;p477"/>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28" name="Google Shape;8328;p477"/>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Segmentation &amp; Prioritization</a:t>
              </a:r>
              <a:endParaRPr b="1" sz="1200">
                <a:solidFill>
                  <a:srgbClr val="FFFFFF"/>
                </a:solidFill>
                <a:latin typeface="Century Gothic"/>
                <a:ea typeface="Century Gothic"/>
                <a:cs typeface="Century Gothic"/>
                <a:sym typeface="Century Gothic"/>
              </a:endParaRPr>
            </a:p>
          </p:txBody>
        </p:sp>
      </p:grpSp>
      <p:sp>
        <p:nvSpPr>
          <p:cNvPr id="8329" name="Google Shape;8329;p477"/>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330" name="Google Shape;8330;p477"/>
          <p:cNvGrpSpPr/>
          <p:nvPr/>
        </p:nvGrpSpPr>
        <p:grpSpPr>
          <a:xfrm>
            <a:off x="438691" y="4004525"/>
            <a:ext cx="8306242" cy="700825"/>
            <a:chOff x="456759" y="4004525"/>
            <a:chExt cx="8306242" cy="700825"/>
          </a:xfrm>
        </p:grpSpPr>
        <p:sp>
          <p:nvSpPr>
            <p:cNvPr id="8331" name="Google Shape;8331;p477"/>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Stage 3 classification triggers specific IFRS 9 accounting treatment. Collections outcomes directly impact ECL provisions. Recovery cash flows must be discounted at original effective interest rate.</a:t>
              </a:r>
              <a:endParaRPr sz="1000">
                <a:solidFill>
                  <a:schemeClr val="dk1"/>
                </a:solidFill>
                <a:latin typeface="Century Gothic"/>
                <a:ea typeface="Century Gothic"/>
                <a:cs typeface="Century Gothic"/>
                <a:sym typeface="Century Gothic"/>
              </a:endParaRPr>
            </a:p>
          </p:txBody>
        </p:sp>
        <p:sp>
          <p:nvSpPr>
            <p:cNvPr id="8332" name="Google Shape;8332;p477"/>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33" name="Google Shape;8333;p477"/>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Regulatory Timelines</a:t>
              </a:r>
              <a:endParaRPr b="1" sz="1200">
                <a:solidFill>
                  <a:srgbClr val="FFFFFF"/>
                </a:solidFill>
                <a:latin typeface="Century Gothic"/>
                <a:ea typeface="Century Gothic"/>
                <a:cs typeface="Century Gothic"/>
                <a:sym typeface="Century Gothic"/>
              </a:endParaRPr>
            </a:p>
          </p:txBody>
        </p:sp>
      </p:grpSp>
      <p:grpSp>
        <p:nvGrpSpPr>
          <p:cNvPr id="8334" name="Google Shape;8334;p477"/>
          <p:cNvGrpSpPr/>
          <p:nvPr/>
        </p:nvGrpSpPr>
        <p:grpSpPr>
          <a:xfrm>
            <a:off x="438691" y="3264321"/>
            <a:ext cx="8306242" cy="700743"/>
            <a:chOff x="456759" y="3170400"/>
            <a:chExt cx="8306242" cy="700743"/>
          </a:xfrm>
        </p:grpSpPr>
        <p:sp>
          <p:nvSpPr>
            <p:cNvPr id="8335" name="Google Shape;8335;p477"/>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SBP Prudential Regulations mandate specific classification timelines (OAEM to Substandard to Doubtful to Loss) and forced sale timelines for collateral. Non-compliance carries heavy provisioning penalties.</a:t>
              </a:r>
              <a:endParaRPr sz="1000">
                <a:solidFill>
                  <a:schemeClr val="dk1"/>
                </a:solidFill>
                <a:latin typeface="Century Gothic"/>
                <a:ea typeface="Century Gothic"/>
                <a:cs typeface="Century Gothic"/>
                <a:sym typeface="Century Gothic"/>
              </a:endParaRPr>
            </a:p>
          </p:txBody>
        </p:sp>
        <p:sp>
          <p:nvSpPr>
            <p:cNvPr id="8336" name="Google Shape;8336;p477"/>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37" name="Google Shape;8337;p477"/>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IFRS 9 Interaction</a:t>
              </a:r>
              <a:endParaRPr b="1" sz="1200">
                <a:solidFill>
                  <a:srgbClr val="FFFFFF"/>
                </a:solidFill>
                <a:latin typeface="Century Gothic"/>
                <a:ea typeface="Century Gothic"/>
                <a:cs typeface="Century Gothic"/>
                <a:sym typeface="Century Gothic"/>
              </a:endParaRPr>
            </a:p>
          </p:txBody>
        </p:sp>
      </p:grpSp>
      <p:sp>
        <p:nvSpPr>
          <p:cNvPr id="8338" name="Google Shape;8338;p477"/>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Optimizing the collections process to maximize recovery while minimizing operational costs and maintaining customer relationships, balancing SBP forced sale timelines with commercial recovery optimization.</a:t>
            </a:r>
            <a:endParaRPr sz="1200">
              <a:solidFill>
                <a:srgbClr val="FFFFFF"/>
              </a:solidFill>
              <a:latin typeface="Century Gothic"/>
              <a:ea typeface="Century Gothic"/>
              <a:cs typeface="Century Gothic"/>
              <a:sym typeface="Century Gothic"/>
            </a:endParaRPr>
          </a:p>
        </p:txBody>
      </p:sp>
      <p:sp>
        <p:nvSpPr>
          <p:cNvPr id="8339" name="Google Shape;8339;p4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2" name="Shape 8362"/>
        <p:cNvGrpSpPr/>
        <p:nvPr/>
      </p:nvGrpSpPr>
      <p:grpSpPr>
        <a:xfrm>
          <a:off x="0" y="0"/>
          <a:ext cx="0" cy="0"/>
          <a:chOff x="0" y="0"/>
          <a:chExt cx="0" cy="0"/>
        </a:xfrm>
      </p:grpSpPr>
      <p:graphicFrame>
        <p:nvGraphicFramePr>
          <p:cNvPr id="8363" name="Google Shape;8363;p47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incorporates all data, channels, interactions, associations, and customer/entity networks. Models updated dynamically. All collections models harmonized with Risk, Finance, Marketing.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incorporates some unstructured data. Models validated every 3-6 months. Model factory institutionalized. Models utilize internal and external data. Fully data-based statistical models. Collection activity is integrated across enterprise, various business, product,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driven by statistical models, decision trees and retrospective probability models. Models validated every 12 months. Operational processes using scoring for automation. Manual integration of collection across business and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Minimal collections strategy. </a:t>
                      </a:r>
                      <a:r>
                        <a:rPr b="0" i="0" lang="en-GB" sz="900" u="none" cap="none" strike="noStrike">
                          <a:solidFill>
                            <a:srgbClr val="3C3C3B"/>
                          </a:solidFill>
                          <a:latin typeface="Century Gothic"/>
                          <a:ea typeface="Century Gothic"/>
                          <a:cs typeface="Century Gothic"/>
                          <a:sym typeface="Century Gothic"/>
                        </a:rPr>
                        <a:t>Models updated on an ad-hoc basis. Some pockets of automation. Judgmental decision making is the norm. Models are standalone, little integration with other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collections strategy. </a:t>
                      </a:r>
                      <a:r>
                        <a:rPr b="0" lang="en-GB" sz="900">
                          <a:solidFill>
                            <a:schemeClr val="dk1"/>
                          </a:solidFill>
                          <a:latin typeface="Century Gothic"/>
                          <a:ea typeface="Century Gothic"/>
                          <a:cs typeface="Century Gothic"/>
                          <a:sym typeface="Century Gothic"/>
                        </a:rPr>
                        <a:t>Manual collections process and tactical approach to receivable and past-due management.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364" name="Google Shape;8364;p479"/>
          <p:cNvGrpSpPr/>
          <p:nvPr/>
        </p:nvGrpSpPr>
        <p:grpSpPr>
          <a:xfrm>
            <a:off x="469900" y="3819680"/>
            <a:ext cx="8455025" cy="732866"/>
            <a:chOff x="211138" y="3972860"/>
            <a:chExt cx="8713787" cy="642437"/>
          </a:xfrm>
        </p:grpSpPr>
        <p:sp>
          <p:nvSpPr>
            <p:cNvPr id="8365" name="Google Shape;8365;p47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366" name="Google Shape;8366;p47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367" name="Google Shape;8367;p479"/>
          <p:cNvGrpSpPr/>
          <p:nvPr/>
        </p:nvGrpSpPr>
        <p:grpSpPr>
          <a:xfrm>
            <a:off x="7971865" y="980278"/>
            <a:ext cx="949325" cy="2867825"/>
            <a:chOff x="7941888" y="1062037"/>
            <a:chExt cx="983037" cy="2695575"/>
          </a:xfrm>
        </p:grpSpPr>
        <p:sp>
          <p:nvSpPr>
            <p:cNvPr id="8368" name="Google Shape;8368;p47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369" name="Google Shape;8369;p47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370" name="Google Shape;8370;p47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Optimization</a:t>
            </a:r>
            <a:endParaRPr>
              <a:solidFill>
                <a:schemeClr val="accent6"/>
              </a:solidFill>
            </a:endParaRPr>
          </a:p>
        </p:txBody>
      </p:sp>
      <p:sp>
        <p:nvSpPr>
          <p:cNvPr id="8371" name="Google Shape;8371;p4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