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 name="Shape 144"/>
        <p:cNvGrpSpPr/>
        <p:nvPr/>
      </p:nvGrpSpPr>
      <p:grpSpPr>
        <a:xfrm>
          <a:off x="0" y="0"/>
          <a:ext cx="0" cy="0"/>
          <a:chOff x="0" y="0"/>
          <a:chExt cx="0" cy="0"/>
        </a:xfrm>
      </p:grpSpPr>
      <p:sp>
        <p:nvSpPr>
          <p:cNvPr id="145" name="Google Shape;145;p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Welcome to the Banking Analytics and Data Strategy presentation. This framework maps 112 analytical capabilities to Teradata's FSDM with 3,917 entities.</a:t>
            </a:r>
            <a:endParaRPr/>
          </a:p>
          <a:p>
            <a:pPr indent="0" lvl="0" marL="0" rtl="0" algn="l">
              <a:spcBef>
                <a:spcPts val="600"/>
              </a:spcBef>
              <a:spcAft>
                <a:spcPts val="0"/>
              </a:spcAft>
              <a:buNone/>
            </a:pPr>
            <a:r>
              <a:rPr lang="en-GB" sz="1200"/>
              <a:t>Pakistan's banking sector manages PKR 32+ trillion in assets. Most banks operate at BACR maturity Level 2 (Developing) for analytics.</a:t>
            </a:r>
            <a:endParaRPr/>
          </a:p>
          <a:p>
            <a:pPr indent="0" lvl="0" marL="0" rtl="0" algn="l">
              <a:spcBef>
                <a:spcPts val="600"/>
              </a:spcBef>
              <a:spcAft>
                <a:spcPts val="0"/>
              </a:spcAft>
              <a:buNone/>
            </a:pPr>
            <a:r>
              <a:rPr lang="en-GB" sz="1200"/>
              <a:t>The Business Value Framework provides a concrete roadmap from raw data to actionable business decisions, covering all six core banking functions.</a:t>
            </a:r>
            <a:endParaRPr/>
          </a:p>
        </p:txBody>
      </p:sp>
      <p:sp>
        <p:nvSpPr>
          <p:cNvPr id="146" name="Google Shape;146;p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p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The executive summary highlights why data analytics is critical for Pakistan's banking sector: 360 BVF-to-FSDM mappings, 16 data domains, and 21 gap extension tables for local requirements.</a:t>
            </a:r>
            <a:endParaRPr/>
          </a:p>
          <a:p>
            <a:pPr indent="0" lvl="0" marL="0" rtl="0" algn="l">
              <a:spcBef>
                <a:spcPts val="600"/>
              </a:spcBef>
              <a:spcAft>
                <a:spcPts val="0"/>
              </a:spcAft>
              <a:buNone/>
            </a:pPr>
            <a:r>
              <a:rPr lang="en-GB" sz="1200"/>
              <a:t>SBP's Digital Banking Regulations 2022 require banks to modernize data infrastructure. The 11-table profitability star schema enables account-level customer profitability analysis.</a:t>
            </a:r>
            <a:endParaRPr/>
          </a:p>
          <a:p>
            <a:pPr indent="0" lvl="0" marL="0" rtl="0" algn="l">
              <a:spcBef>
                <a:spcPts val="600"/>
              </a:spcBef>
              <a:spcAft>
                <a:spcPts val="0"/>
              </a:spcAft>
              <a:buNone/>
            </a:pPr>
            <a:r>
              <a:rPr lang="en-GB" sz="1200"/>
              <a:t>Key differentiator: This framework bridges the gap between generic analytics frameworks and Pakistan-specific banking needs including KIBOR rates, WHT calculations, Zakat deductions, and Islamic banking products.</a:t>
            </a:r>
            <a:endParaRPr/>
          </a:p>
        </p:txBody>
      </p:sp>
      <p:sp>
        <p:nvSpPr>
          <p:cNvPr id="151" name="Google Shape;151;p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p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The framework covers 8 major areas from Industry Challenges through Analytic Infrastructure. Each section maps directly to FSDM entities and BVF capabilities.</a:t>
            </a:r>
            <a:endParaRPr/>
          </a:p>
          <a:p>
            <a:pPr indent="0" lvl="0" marL="0" rtl="0" algn="l">
              <a:spcBef>
                <a:spcPts val="600"/>
              </a:spcBef>
              <a:spcAft>
                <a:spcPts val="0"/>
              </a:spcAft>
              <a:buNone/>
            </a:pPr>
            <a:r>
              <a:rPr lang="en-GB" sz="1200"/>
              <a:t>Note the progression: we start with understanding market pressures, then show how analytics addresses each business function, and conclude with the technical data architecture.</a:t>
            </a:r>
            <a:endParaRPr/>
          </a:p>
          <a:p>
            <a:pPr indent="0" lvl="0" marL="0" rtl="0" algn="l">
              <a:spcBef>
                <a:spcPts val="600"/>
              </a:spcBef>
              <a:spcAft>
                <a:spcPts val="0"/>
              </a:spcAft>
              <a:buNone/>
            </a:pPr>
            <a:r>
              <a:rPr lang="en-GB" sz="1200"/>
              <a:t>BACR assessment (771 questions, 8 categories) provides a maturity scoring mechanism. Most Pakistani banks score Level 2; the target is Level 4 (Optimized).</a:t>
            </a:r>
            <a:endParaRPr/>
          </a:p>
        </p:txBody>
      </p:sp>
      <p:sp>
        <p:nvSpPr>
          <p:cNvPr id="159" name="Google Shape;159;p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 name="Shape 165"/>
        <p:cNvGrpSpPr/>
        <p:nvPr/>
      </p:nvGrpSpPr>
      <p:grpSpPr>
        <a:xfrm>
          <a:off x="0" y="0"/>
          <a:ext cx="0" cy="0"/>
          <a:chOff x="0" y="0"/>
          <a:chExt cx="0" cy="0"/>
        </a:xfrm>
      </p:grpSpPr>
      <p:sp>
        <p:nvSpPr>
          <p:cNvPr id="166" name="Google Shape;166;p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67" name="Google Shape;167;p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Pakistan faces four converging challenges: digital payments revolution (RAAST processed 500M+ transactions in 2024), macroeconomic pressures (KIBOR peaked at 22%), regulatory tsunami (IFRS 9, Basel III), and technology debt.</a:t>
            </a:r>
            <a:endParaRPr/>
          </a:p>
          <a:p>
            <a:pPr indent="0" lvl="0" marL="0" rtl="0" algn="l">
              <a:spcBef>
                <a:spcPts val="600"/>
              </a:spcBef>
              <a:spcAft>
                <a:spcPts val="0"/>
              </a:spcAft>
              <a:buNone/>
            </a:pPr>
            <a:r>
              <a:rPr lang="en-GB" sz="1200"/>
              <a:t>The RAAST instant payment system launched by SBP is fundamentally changing how retail banking works. JazzCash and Easypaisa together serve 70M+ mobile wallet users.</a:t>
            </a:r>
            <a:endParaRPr/>
          </a:p>
          <a:p>
            <a:pPr indent="0" lvl="0" marL="0" rtl="0" algn="l">
              <a:spcBef>
                <a:spcPts val="600"/>
              </a:spcBef>
              <a:spcAft>
                <a:spcPts val="0"/>
              </a:spcAft>
              <a:buNone/>
            </a:pPr>
            <a:r>
              <a:rPr lang="en-GB" sz="1200"/>
              <a:t>FSDM entities supporting this analysis: EVNT (Event domain, 38 entities), CHNL (Channel domain, 12 entities), RGLTRY_RPTG (Regulatory Reporting domain, 25 entities).</a:t>
            </a:r>
            <a:endParaRPr/>
          </a:p>
        </p:txBody>
      </p:sp>
      <p:sp>
        <p:nvSpPr>
          <p:cNvPr id="168" name="Google Shape;168;p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 name="Shape 188"/>
        <p:cNvGrpSpPr/>
        <p:nvPr/>
      </p:nvGrpSpPr>
      <p:grpSpPr>
        <a:xfrm>
          <a:off x="0" y="0"/>
          <a:ext cx="0" cy="0"/>
          <a:chOff x="0" y="0"/>
          <a:chExt cx="0" cy="0"/>
        </a:xfrm>
      </p:grpSpPr>
      <p:sp>
        <p:nvSpPr>
          <p:cNvPr id="189" name="Google Shape;189;p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Three pressure categories map to specific BVF capabilities: Business Management requires 200+ regulatory reports, Cost Management addresses 55-65% cost-to-income ratios, Growth targets 100M+ unbanked adults.</a:t>
            </a:r>
            <a:endParaRPr/>
          </a:p>
          <a:p>
            <a:pPr indent="0" lvl="0" marL="0" rtl="0" algn="l">
              <a:spcBef>
                <a:spcPts val="600"/>
              </a:spcBef>
              <a:spcAft>
                <a:spcPts val="0"/>
              </a:spcAft>
              <a:buNone/>
            </a:pPr>
            <a:r>
              <a:rPr lang="en-GB" sz="1200"/>
              <a:t>SBP's Financial Inclusion Strategy targets 65% adult account ownership by 2028, up from 30% currently. Agriculture credit mandate: 20% of total advances.</a:t>
            </a:r>
            <a:endParaRPr/>
          </a:p>
          <a:p>
            <a:pPr indent="0" lvl="0" marL="0" rtl="0" algn="l">
              <a:spcBef>
                <a:spcPts val="600"/>
              </a:spcBef>
              <a:spcAft>
                <a:spcPts val="0"/>
              </a:spcAft>
              <a:buNone/>
            </a:pPr>
            <a:r>
              <a:rPr lang="en-GB" sz="1200"/>
              <a:t>The profitability star schema (FACT_CUSTOMER_PROFITABILITY) directly addresses the cost transparency challenge. FTP based on KIBOR term structure provides true cost-of-funds visibility.</a:t>
            </a:r>
            <a:endParaRPr/>
          </a:p>
        </p:txBody>
      </p:sp>
      <p:sp>
        <p:nvSpPr>
          <p:cNvPr id="190" name="Google Shape;190;p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 name="Shape 214"/>
        <p:cNvGrpSpPr/>
        <p:nvPr/>
      </p:nvGrpSpPr>
      <p:grpSpPr>
        <a:xfrm>
          <a:off x="0" y="0"/>
          <a:ext cx="0" cy="0"/>
          <a:chOff x="0" y="0"/>
          <a:chExt cx="0" cy="0"/>
        </a:xfrm>
      </p:grpSpPr>
      <p:sp>
        <p:nvSpPr>
          <p:cNvPr id="215" name="Google Shape;215;p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Digital disruptors are reshaping Pakistan's financial landscape. SadaPay and NayaPay have captured 8M+ users with zero-fee accounts targeting Gen-Z customers.</a:t>
            </a:r>
            <a:endParaRPr/>
          </a:p>
          <a:p>
            <a:pPr indent="0" lvl="0" marL="0" rtl="0" algn="l">
              <a:spcBef>
                <a:spcPts val="600"/>
              </a:spcBef>
              <a:spcAft>
                <a:spcPts val="0"/>
              </a:spcAft>
              <a:buNone/>
            </a:pPr>
            <a:r>
              <a:rPr lang="en-GB" sz="1200"/>
              <a:t>Telecom-led banking (JazzCash: 40M+ wallets, Easypaisa: 30M+ wallets) is the primary threat. Both now offer savings, insurance, and micro-lending beyond basic payments.</a:t>
            </a:r>
            <a:endParaRPr/>
          </a:p>
          <a:p>
            <a:pPr indent="0" lvl="0" marL="0" rtl="0" algn="l">
              <a:spcBef>
                <a:spcPts val="600"/>
              </a:spcBef>
              <a:spcAft>
                <a:spcPts val="0"/>
              </a:spcAft>
              <a:buNone/>
            </a:pPr>
            <a:r>
              <a:rPr lang="en-GB" sz="1200"/>
              <a:t>India's UPI processing 10B+ monthly transactions creates competitive pressure for RAAST acceleration. Chinese fintech eyeing CPEC corridor banking adds regional dimension.</a:t>
            </a:r>
            <a:endParaRPr/>
          </a:p>
        </p:txBody>
      </p:sp>
      <p:sp>
        <p:nvSpPr>
          <p:cNvPr id="216" name="Google Shape;216;p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p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Two speeds of transformation: Disruptive (6-18 months) focuses on quick wins like real-time personalization and AI credit scoring. Transformational (18-36 months) builds the enterprise data warehouse on FSDM.</a:t>
            </a:r>
            <a:endParaRPr/>
          </a:p>
          <a:p>
            <a:pPr indent="0" lvl="0" marL="0" rtl="0" algn="l">
              <a:spcBef>
                <a:spcPts val="600"/>
              </a:spcBef>
              <a:spcAft>
                <a:spcPts val="0"/>
              </a:spcAft>
              <a:buNone/>
            </a:pPr>
            <a:r>
              <a:rPr lang="en-GB" sz="1200"/>
              <a:t>The disruptive track leverages existing data through customer 360-degree views and ML models. The transformational track requires FSDM implementation with all 3,917 entities across 16 domains.</a:t>
            </a:r>
            <a:endParaRPr/>
          </a:p>
          <a:p>
            <a:pPr indent="0" lvl="0" marL="0" rtl="0" algn="l">
              <a:spcBef>
                <a:spcPts val="600"/>
              </a:spcBef>
              <a:spcAft>
                <a:spcPts val="0"/>
              </a:spcAft>
              <a:buNone/>
            </a:pPr>
            <a:r>
              <a:rPr lang="en-GB" sz="1200"/>
              <a:t>Both tracks require the same foundational data layer. Starting with FSDM ensures the disruptive initiatives don't create more data silos while enabling the long-term vision.</a:t>
            </a:r>
            <a:endParaRPr/>
          </a:p>
        </p:txBody>
      </p:sp>
      <p:sp>
        <p:nvSpPr>
          <p:cNvPr id="238" name="Google Shape;238;p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p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Data-driven re-invention across three axes: Grow (customer intelligence using FSDM entities INDVDL, ACCT, CNTCT, EVNT), Reduce Costs (analytics automation), Improve Management (transparency).</a:t>
            </a:r>
            <a:endParaRPr/>
          </a:p>
          <a:p>
            <a:pPr indent="0" lvl="0" marL="0" rtl="0" algn="l">
              <a:spcBef>
                <a:spcPts val="600"/>
              </a:spcBef>
              <a:spcAft>
                <a:spcPts val="0"/>
              </a:spcAft>
              <a:buNone/>
            </a:pPr>
            <a:r>
              <a:rPr lang="en-GB" sz="1200"/>
              <a:t>The FACT_CUSTOMER_PROFITABILITY formula: Revenue minus Direct Cost minus Allocated Cost minus Risk Cost. Seven dimensions enable drill-through analysis at any level.</a:t>
            </a:r>
            <a:endParaRPr/>
          </a:p>
          <a:p>
            <a:pPr indent="0" lvl="0" marL="0" rtl="0" algn="l">
              <a:spcBef>
                <a:spcPts val="600"/>
              </a:spcBef>
              <a:spcAft>
                <a:spcPts val="0"/>
              </a:spcAft>
              <a:buNone/>
            </a:pPr>
            <a:r>
              <a:rPr lang="en-GB" sz="1200"/>
              <a:t>FTP based on KIBOR term structure provides true cost-of-funds at account level, replacing the current flat-rate allocation methods used by most Pakistani banks.</a:t>
            </a:r>
            <a:endParaRPr/>
          </a:p>
        </p:txBody>
      </p:sp>
      <p:sp>
        <p:nvSpPr>
          <p:cNvPr id="246" name="Google Shape;246;p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p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Analytics is the core competitive advantage for banks in Pakistan. Global analytics spending in banking exceeds USD 25B annually, growing at 15% CAGR.</a:t>
            </a:r>
            <a:endParaRPr/>
          </a:p>
          <a:p>
            <a:pPr indent="0" lvl="0" marL="0" rtl="0" algn="l">
              <a:spcBef>
                <a:spcPts val="600"/>
              </a:spcBef>
              <a:spcAft>
                <a:spcPts val="0"/>
              </a:spcAft>
              <a:buNone/>
            </a:pPr>
            <a:r>
              <a:rPr lang="en-GB" sz="1200"/>
              <a:t>BACR assessment shows Pakistani banks average Level 2.1 maturity. Banks with mature analytics programs globally achieve 2.5x higher ROE than peers.</a:t>
            </a:r>
            <a:endParaRPr/>
          </a:p>
          <a:p>
            <a:pPr indent="0" lvl="0" marL="0" rtl="0" algn="l">
              <a:spcBef>
                <a:spcPts val="600"/>
              </a:spcBef>
              <a:spcAft>
                <a:spcPts val="0"/>
              </a:spcAft>
              <a:buNone/>
            </a:pPr>
            <a:r>
              <a:rPr lang="en-GB" sz="1200"/>
              <a:t>FSDM provides the canonical data foundation: 3,917 entities across 16 domains. BVF maps all 112 analytical capabilities to specific FSDM entities, eliminating guesswork in data warehouse design.</a:t>
            </a:r>
            <a:endParaRPr/>
          </a:p>
        </p:txBody>
      </p:sp>
      <p:sp>
        <p:nvSpPr>
          <p:cNvPr id="279" name="Google Shape;279;p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Six business functions with 112 total capabilities: Marketing and Customer Experience (40), Finance and Performance Management (26), Risk Management (18), Security and Fraud (14), Legal and Regulatory (12), Product Management (12).</a:t>
            </a:r>
            <a:endParaRPr/>
          </a:p>
          <a:p>
            <a:pPr indent="0" lvl="0" marL="0" rtl="0" algn="l">
              <a:spcBef>
                <a:spcPts val="600"/>
              </a:spcBef>
              <a:spcAft>
                <a:spcPts val="0"/>
              </a:spcAft>
              <a:buNone/>
            </a:pPr>
            <a:r>
              <a:rPr lang="en-GB" sz="1200"/>
              <a:t>Each function maps to specific FSDM domains. Marketing uses Customer, Event, Product, Channel domains (420+ entities). Finance uses Finance, Account, GL domains (350+ entities).</a:t>
            </a:r>
            <a:endParaRPr/>
          </a:p>
          <a:p>
            <a:pPr indent="0" lvl="0" marL="0" rtl="0" algn="l">
              <a:spcBef>
                <a:spcPts val="600"/>
              </a:spcBef>
              <a:spcAft>
                <a:spcPts val="0"/>
              </a:spcAft>
              <a:buNone/>
            </a:pPr>
            <a:r>
              <a:rPr lang="en-GB" sz="1200"/>
              <a:t>The BVF is not theoretical. Each capability has been mapped to concrete FSDM entities through 360 validated BVF-to-FSDM entity mappings.</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The analytic infrastructure has four layers: Data Lake (raw ingestion from core banking, cards, treasury, trade, Islamic systems), Structured Data (FSDM v16), Analytics (profitability engine, ML models), and Decisioning (real-time channels).</a:t>
            </a:r>
            <a:endParaRPr/>
          </a:p>
          <a:p>
            <a:pPr indent="0" lvl="0" marL="0" rtl="0" algn="l">
              <a:spcBef>
                <a:spcPts val="600"/>
              </a:spcBef>
              <a:spcAft>
                <a:spcPts val="0"/>
              </a:spcAft>
              <a:buNone/>
            </a:pPr>
            <a:r>
              <a:rPr lang="en-GB" sz="1200"/>
              <a:t>FSDM v16 provides 3,917 entities in 3NF with Teradata-optimized DDL. The star schema adds FACT_CUSTOMER_PROFITABILITY with 7 dimensions and 2 aggregates for fast analytics.</a:t>
            </a:r>
            <a:endParaRPr/>
          </a:p>
          <a:p>
            <a:pPr indent="0" lvl="0" marL="0" rtl="0" algn="l">
              <a:spcBef>
                <a:spcPts val="600"/>
              </a:spcBef>
              <a:spcAft>
                <a:spcPts val="0"/>
              </a:spcAft>
              <a:buNone/>
            </a:pPr>
            <a:r>
              <a:rPr lang="en-GB" sz="1200"/>
              <a:t>21 gap extension tables address Pakistan-specific requirements: KIBOR rate curves, withholding tax calculations, Zakat deductions, Islamic profit rate structures, SBP regulatory code mappings.</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Nine data source categories feed the framework: 360-degree Customer View (CNIC-linked), Demographics (NADRA), Accounts (CASA, loans, cards, Islamic products), Balances (KIBOR-linked), Transactions (IBFT, RAAST, ATM, POS).</a:t>
            </a:r>
            <a:endParaRPr/>
          </a:p>
          <a:p>
            <a:pPr indent="0" lvl="0" marL="0" rtl="0" algn="l">
              <a:spcBef>
                <a:spcPts val="600"/>
              </a:spcBef>
              <a:spcAft>
                <a:spcPts val="0"/>
              </a:spcAft>
              <a:buNone/>
            </a:pPr>
            <a:r>
              <a:rPr lang="en-GB" sz="1200"/>
              <a:t>Additional sources: Limits and Collateral (IFRS 9 ECL stages), General Ledger (chart of accounts, branch P&amp;L), Multi-structured Data (scanned CNIC, biometrics), Master Data (SBP codes, SWIFT/BIC, KIBOR curves).</a:t>
            </a:r>
            <a:endParaRPr/>
          </a:p>
          <a:p>
            <a:pPr indent="0" lvl="0" marL="0" rtl="0" algn="l">
              <a:spcBef>
                <a:spcPts val="600"/>
              </a:spcBef>
              <a:spcAft>
                <a:spcPts val="0"/>
              </a:spcAft>
              <a:buNone/>
            </a:pPr>
            <a:r>
              <a:rPr lang="en-GB" sz="1200"/>
              <a:t>The CNIC serves as the universal key for customer identity in Pakistan, enabling true 360-degree view across all banking relationships. FSDM's INDVDL and PRTY entities are designed for this exact pattern.</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5.png"/><Relationship Id="rId4" Type="http://schemas.openxmlformats.org/officeDocument/2006/relationships/image" Target="../media/image9.png"/><Relationship Id="rId5" Type="http://schemas.openxmlformats.org/officeDocument/2006/relationships/image" Target="../media/image10.png"/><Relationship Id="rId6" Type="http://schemas.openxmlformats.org/officeDocument/2006/relationships/image" Target="../media/image2.png"/><Relationship Id="rId7" Type="http://schemas.openxmlformats.org/officeDocument/2006/relationships/image" Target="../media/image20.png"/><Relationship Id="rId8" Type="http://schemas.openxmlformats.org/officeDocument/2006/relationships/image" Target="../media/image17.png"/><Relationship Id="rId9" Type="http://schemas.openxmlformats.org/officeDocument/2006/relationships/image" Target="../media/image4.png"/><Relationship Id="rId10" Type="http://schemas.openxmlformats.org/officeDocument/2006/relationships/image" Target="../media/image12.png"/><Relationship Id="rId11" Type="http://schemas.openxmlformats.org/officeDocument/2006/relationships/image" Target="../media/image11.png"/><Relationship Id="rId12" Type="http://schemas.openxmlformats.org/officeDocument/2006/relationships/image" Target="../media/image1.png"/><Relationship Id="rId13" Type="http://schemas.openxmlformats.org/officeDocument/2006/relationships/image" Target="../media/image3.png"/><Relationship Id="rId14" Type="http://schemas.openxmlformats.org/officeDocument/2006/relationships/image" Target="../media/image7.png"/><Relationship Id="rId15" Type="http://schemas.openxmlformats.org/officeDocument/2006/relationships/image" Target="../media/image14.png"/><Relationship Id="rId16" Type="http://schemas.openxmlformats.org/officeDocument/2006/relationships/image" Target="../media/image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image" Target="../media/image1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image" Target="../media/image1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 name="Shape 147"/>
        <p:cNvGrpSpPr/>
        <p:nvPr/>
      </p:nvGrpSpPr>
      <p:grpSpPr>
        <a:xfrm>
          <a:off x="0" y="0"/>
          <a:ext cx="0" cy="0"/>
          <a:chOff x="0" y="0"/>
          <a:chExt cx="0" cy="0"/>
        </a:xfrm>
      </p:grpSpPr>
      <p:sp>
        <p:nvSpPr>
          <p:cNvPr id="148" name="Google Shape;148;p31"/>
          <p:cNvSpPr txBox="1"/>
          <p:nvPr>
            <p:ph idx="1" type="body"/>
          </p:nvPr>
        </p:nvSpPr>
        <p:spPr>
          <a:xfrm>
            <a:off x="0" y="2700743"/>
            <a:ext cx="9144000" cy="1164421"/>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Banking Analytics &amp; Data Strategy</a:t>
            </a:r>
            <a:endParaRPr/>
          </a:p>
          <a:p>
            <a:pPr indent="-114300" lvl="0" marL="0" rtl="0" algn="ctr">
              <a:lnSpc>
                <a:spcPct val="85000"/>
              </a:lnSpc>
              <a:spcBef>
                <a:spcPts val="400"/>
              </a:spcBef>
              <a:spcAft>
                <a:spcPts val="0"/>
              </a:spcAft>
              <a:buClr>
                <a:schemeClr val="lt1"/>
              </a:buClr>
              <a:buSzPts val="1800"/>
              <a:buFont typeface="Arial"/>
              <a:buChar char="​"/>
            </a:pPr>
            <a:r>
              <a:rPr lang="en-GB" sz="1800"/>
              <a:t>Business Value Framework for Financial Services</a:t>
            </a:r>
            <a:endParaRPr/>
          </a:p>
          <a:p>
            <a:pPr indent="-114300" lvl="0" marL="0" rtl="0" algn="ctr">
              <a:lnSpc>
                <a:spcPct val="85000"/>
              </a:lnSpc>
              <a:spcBef>
                <a:spcPts val="400"/>
              </a:spcBef>
              <a:spcAft>
                <a:spcPts val="0"/>
              </a:spcAft>
              <a:buClr>
                <a:schemeClr val="lt1"/>
              </a:buClr>
              <a:buSzPts val="1800"/>
              <a:buFont typeface="Arial"/>
              <a:buChar char="​"/>
            </a:pPr>
            <a:r>
              <a:rPr lang="en-GB" sz="1800"/>
              <a:t>Powered by Teradata FSDM — Pakistan Banking Edition</a:t>
            </a:r>
            <a:endParaRPr sz="18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sp>
        <p:nvSpPr>
          <p:cNvPr id="153" name="Google Shape;153;p32"/>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1"/>
              </a:buClr>
              <a:buSzPts val="1400"/>
              <a:buNone/>
            </a:pPr>
            <a:r>
              <a:rPr lang="en-GB" sz="1400"/>
              <a:t>Pakistan’s banking sector manages PKR 32+ trillion in assets across 30+ commercial banks, 5 Islamic banks, and 11 microfinance banks. Yet most banks operate at BACR maturity Level 2 (Developing) across data analytics capabilities.</a:t>
            </a:r>
            <a:endParaRPr/>
          </a:p>
          <a:p>
            <a:pPr indent="0" lvl="0" marL="0" rtl="0" algn="l">
              <a:lnSpc>
                <a:spcPct val="95000"/>
              </a:lnSpc>
              <a:spcBef>
                <a:spcPts val="600"/>
              </a:spcBef>
              <a:spcAft>
                <a:spcPts val="0"/>
              </a:spcAft>
              <a:buClr>
                <a:schemeClr val="dk1"/>
              </a:buClr>
              <a:buSzPts val="1400"/>
              <a:buNone/>
            </a:pPr>
            <a:r>
              <a:rPr lang="en-GB" sz="1400"/>
              <a:t>This framework maps 112 analytical capabilities across 6 business functions to Teradata’s Financial Services Data Model (FSDM) with 3,917 entities — providing a concrete implementation roadmap from data to decision.</a:t>
            </a:r>
            <a:endParaRPr/>
          </a:p>
          <a:p>
            <a:pPr indent="0" lvl="0" marL="0" rtl="0" algn="l">
              <a:lnSpc>
                <a:spcPct val="95000"/>
              </a:lnSpc>
              <a:spcBef>
                <a:spcPts val="600"/>
              </a:spcBef>
              <a:spcAft>
                <a:spcPts val="0"/>
              </a:spcAft>
              <a:buClr>
                <a:schemeClr val="dk1"/>
              </a:buClr>
              <a:buSzPts val="1400"/>
              <a:buNone/>
            </a:pPr>
            <a:r>
              <a:rPr b="1" lang="en-GB" sz="1400"/>
              <a:t>Key numbers:</a:t>
            </a:r>
            <a:endParaRPr/>
          </a:p>
          <a:p>
            <a:pPr indent="-169863" lvl="0" marL="169863" rtl="0" algn="l">
              <a:lnSpc>
                <a:spcPct val="95000"/>
              </a:lnSpc>
              <a:spcBef>
                <a:spcPts val="400"/>
              </a:spcBef>
              <a:spcAft>
                <a:spcPts val="0"/>
              </a:spcAft>
              <a:buClr>
                <a:schemeClr val="dk1"/>
              </a:buClr>
              <a:buSzPts val="1400"/>
              <a:buChar char="•"/>
            </a:pPr>
            <a:r>
              <a:rPr lang="en-GB" sz="1400"/>
              <a:t>360 BVF-to-FSDM entity mappings validated</a:t>
            </a:r>
            <a:endParaRPr/>
          </a:p>
          <a:p>
            <a:pPr indent="-169863" lvl="0" marL="169863" rtl="0" algn="l">
              <a:lnSpc>
                <a:spcPct val="95000"/>
              </a:lnSpc>
              <a:spcBef>
                <a:spcPts val="400"/>
              </a:spcBef>
              <a:spcAft>
                <a:spcPts val="0"/>
              </a:spcAft>
              <a:buClr>
                <a:schemeClr val="dk1"/>
              </a:buClr>
              <a:buSzPts val="1400"/>
              <a:buChar char="•"/>
            </a:pPr>
            <a:r>
              <a:rPr lang="en-GB" sz="1400"/>
              <a:t>16 FSDM data domains covering full banking value chain</a:t>
            </a:r>
            <a:endParaRPr/>
          </a:p>
          <a:p>
            <a:pPr indent="-169863" lvl="0" marL="169863" rtl="0" algn="l">
              <a:lnSpc>
                <a:spcPct val="95000"/>
              </a:lnSpc>
              <a:spcBef>
                <a:spcPts val="400"/>
              </a:spcBef>
              <a:spcAft>
                <a:spcPts val="0"/>
              </a:spcAft>
              <a:buClr>
                <a:schemeClr val="dk1"/>
              </a:buClr>
              <a:buSzPts val="1400"/>
              <a:buChar char="•"/>
            </a:pPr>
            <a:r>
              <a:rPr lang="en-GB" sz="1400"/>
              <a:t>11-table profitability star schema (1 fact + 7 dims + 2 aggs + 1 bridge)</a:t>
            </a:r>
            <a:endParaRPr/>
          </a:p>
          <a:p>
            <a:pPr indent="-169863" lvl="0" marL="169863" rtl="0" algn="l">
              <a:lnSpc>
                <a:spcPct val="95000"/>
              </a:lnSpc>
              <a:spcBef>
                <a:spcPts val="400"/>
              </a:spcBef>
              <a:spcAft>
                <a:spcPts val="0"/>
              </a:spcAft>
              <a:buClr>
                <a:schemeClr val="dk1"/>
              </a:buClr>
              <a:buSzPts val="1400"/>
              <a:buChar char="•"/>
            </a:pPr>
            <a:r>
              <a:rPr lang="en-GB" sz="1400"/>
              <a:t>21 gap extension tables for Pakistan-specific requirements</a:t>
            </a:r>
            <a:endParaRPr/>
          </a:p>
          <a:p>
            <a:pPr indent="-169863" lvl="0" marL="169863" rtl="0" algn="l">
              <a:lnSpc>
                <a:spcPct val="95000"/>
              </a:lnSpc>
              <a:spcBef>
                <a:spcPts val="400"/>
              </a:spcBef>
              <a:spcAft>
                <a:spcPts val="0"/>
              </a:spcAft>
              <a:buClr>
                <a:schemeClr val="dk1"/>
              </a:buClr>
              <a:buSzPts val="1400"/>
              <a:buChar char="•"/>
            </a:pPr>
            <a:r>
              <a:rPr lang="en-GB" sz="1400"/>
              <a:t>771 BACR assessment questions across 8 maturity categories</a:t>
            </a:r>
            <a:endParaRPr sz="1400"/>
          </a:p>
        </p:txBody>
      </p:sp>
      <p:sp>
        <p:nvSpPr>
          <p:cNvPr id="154" name="Google Shape;154;p32"/>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t/>
            </a:r>
            <a:endParaRPr/>
          </a:p>
        </p:txBody>
      </p:sp>
      <p:sp>
        <p:nvSpPr>
          <p:cNvPr id="155" name="Google Shape;155;p32"/>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Summary — Why This Matters</a:t>
            </a:r>
            <a:endParaRPr/>
          </a:p>
        </p:txBody>
      </p:sp>
      <p:sp>
        <p:nvSpPr>
          <p:cNvPr id="156" name="Google Shape;156;p32"/>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Tree>
  </p:cSld>
  <p:clrMapOvr>
    <a:masterClrMapping/>
  </p:clrMapOvr>
  <p:transition spd="med">
    <p:fade/>
  </p:transition>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3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1"/>
              </a:buClr>
              <a:buSzPts val="1400"/>
              <a:buNone/>
            </a:pPr>
            <a:r>
              <a:rPr b="1" lang="en-GB" sz="1400"/>
              <a:t>1. Industry Challenges</a:t>
            </a:r>
            <a:r>
              <a:rPr lang="en-GB" sz="1400"/>
              <a:t> — Digital disruption, regulation, fintech competition</a:t>
            </a:r>
            <a:endParaRPr/>
          </a:p>
          <a:p>
            <a:pPr indent="0" lvl="0" marL="0" rtl="0" algn="l">
              <a:lnSpc>
                <a:spcPct val="95000"/>
              </a:lnSpc>
              <a:spcBef>
                <a:spcPts val="600"/>
              </a:spcBef>
              <a:spcAft>
                <a:spcPts val="0"/>
              </a:spcAft>
              <a:buClr>
                <a:schemeClr val="dk1"/>
              </a:buClr>
              <a:buSzPts val="1400"/>
              <a:buNone/>
            </a:pPr>
            <a:r>
              <a:rPr b="1" lang="en-GB" sz="1400"/>
              <a:t>2. Marketing &amp; Customer Experience</a:t>
            </a:r>
            <a:r>
              <a:rPr lang="en-GB" sz="1400"/>
              <a:t> — 4 capability groups, 40+ use cases</a:t>
            </a:r>
            <a:endParaRPr/>
          </a:p>
          <a:p>
            <a:pPr indent="0" lvl="0" marL="0" rtl="0" algn="l">
              <a:lnSpc>
                <a:spcPct val="95000"/>
              </a:lnSpc>
              <a:spcBef>
                <a:spcPts val="600"/>
              </a:spcBef>
              <a:spcAft>
                <a:spcPts val="0"/>
              </a:spcAft>
              <a:buClr>
                <a:schemeClr val="dk1"/>
              </a:buClr>
              <a:buSzPts val="1400"/>
              <a:buNone/>
            </a:pPr>
            <a:r>
              <a:rPr b="1" lang="en-GB" sz="1400"/>
              <a:t>3. Finance &amp; Performance Management</a:t>
            </a:r>
            <a:r>
              <a:rPr lang="en-GB" sz="1400"/>
              <a:t> — Profitability, Treasury, FTP, Reporting</a:t>
            </a:r>
            <a:endParaRPr/>
          </a:p>
          <a:p>
            <a:pPr indent="0" lvl="0" marL="0" rtl="0" algn="l">
              <a:lnSpc>
                <a:spcPct val="95000"/>
              </a:lnSpc>
              <a:spcBef>
                <a:spcPts val="600"/>
              </a:spcBef>
              <a:spcAft>
                <a:spcPts val="0"/>
              </a:spcAft>
              <a:buClr>
                <a:schemeClr val="dk1"/>
              </a:buClr>
              <a:buSzPts val="1400"/>
              <a:buNone/>
            </a:pPr>
            <a:r>
              <a:rPr b="1" lang="en-GB" sz="1400"/>
              <a:t>4. Risk Management &amp; Mitigation</a:t>
            </a:r>
            <a:r>
              <a:rPr lang="en-GB" sz="1400"/>
              <a:t> — Credit, Market, Operational, Collections</a:t>
            </a:r>
            <a:endParaRPr/>
          </a:p>
          <a:p>
            <a:pPr indent="0" lvl="0" marL="0" rtl="0" algn="l">
              <a:lnSpc>
                <a:spcPct val="95000"/>
              </a:lnSpc>
              <a:spcBef>
                <a:spcPts val="600"/>
              </a:spcBef>
              <a:spcAft>
                <a:spcPts val="0"/>
              </a:spcAft>
              <a:buClr>
                <a:schemeClr val="dk1"/>
              </a:buClr>
              <a:buSzPts val="1400"/>
              <a:buNone/>
            </a:pPr>
            <a:r>
              <a:rPr b="1" lang="en-GB" sz="1400"/>
              <a:t>5. Security &amp; Fraud</a:t>
            </a:r>
            <a:r>
              <a:rPr lang="en-GB" sz="1400"/>
              <a:t> — Cyber, Employee Fraud, Customer Fraud, AML integration</a:t>
            </a:r>
            <a:endParaRPr/>
          </a:p>
          <a:p>
            <a:pPr indent="0" lvl="0" marL="0" rtl="0" algn="l">
              <a:lnSpc>
                <a:spcPct val="95000"/>
              </a:lnSpc>
              <a:spcBef>
                <a:spcPts val="600"/>
              </a:spcBef>
              <a:spcAft>
                <a:spcPts val="0"/>
              </a:spcAft>
              <a:buClr>
                <a:schemeClr val="dk1"/>
              </a:buClr>
              <a:buSzPts val="1400"/>
              <a:buNone/>
            </a:pPr>
            <a:r>
              <a:rPr b="1" lang="en-GB" sz="1400"/>
              <a:t>6. Legal &amp; Regulatory Compliance</a:t>
            </a:r>
            <a:r>
              <a:rPr lang="en-GB" sz="1400"/>
              <a:t> — SBP, Basel III, IFRS 9, AML/CFT</a:t>
            </a:r>
            <a:endParaRPr/>
          </a:p>
          <a:p>
            <a:pPr indent="0" lvl="0" marL="0" rtl="0" algn="l">
              <a:lnSpc>
                <a:spcPct val="95000"/>
              </a:lnSpc>
              <a:spcBef>
                <a:spcPts val="600"/>
              </a:spcBef>
              <a:spcAft>
                <a:spcPts val="0"/>
              </a:spcAft>
              <a:buClr>
                <a:schemeClr val="dk1"/>
              </a:buClr>
              <a:buSzPts val="1400"/>
              <a:buNone/>
            </a:pPr>
            <a:r>
              <a:rPr b="1" lang="en-GB" sz="1400"/>
              <a:t>7. Product Management</a:t>
            </a:r>
            <a:r>
              <a:rPr lang="en-GB" sz="1400"/>
              <a:t> — Development, Pricing, Performance, End-of-Life</a:t>
            </a:r>
            <a:endParaRPr/>
          </a:p>
          <a:p>
            <a:pPr indent="0" lvl="0" marL="0" rtl="0" algn="l">
              <a:lnSpc>
                <a:spcPct val="95000"/>
              </a:lnSpc>
              <a:spcBef>
                <a:spcPts val="600"/>
              </a:spcBef>
              <a:spcAft>
                <a:spcPts val="0"/>
              </a:spcAft>
              <a:buClr>
                <a:schemeClr val="dk1"/>
              </a:buClr>
              <a:buSzPts val="1400"/>
              <a:buNone/>
            </a:pPr>
            <a:r>
              <a:rPr b="1" lang="en-GB" sz="1400"/>
              <a:t>8. Analytic Infrastructure</a:t>
            </a:r>
            <a:r>
              <a:rPr lang="en-GB" sz="1400"/>
              <a:t> — FSDM data model, Star Schema, Gap Extensions</a:t>
            </a:r>
            <a:endParaRPr/>
          </a:p>
        </p:txBody>
      </p:sp>
      <p:sp>
        <p:nvSpPr>
          <p:cNvPr id="162" name="Google Shape;162;p3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t/>
            </a:r>
            <a:endParaRPr/>
          </a:p>
        </p:txBody>
      </p:sp>
      <p:sp>
        <p:nvSpPr>
          <p:cNvPr id="163" name="Google Shape;163;p33"/>
          <p:cNvSpPr txBox="1"/>
          <p:nvPr>
            <p:ph type="title"/>
          </p:nvPr>
        </p:nvSpPr>
        <p:spPr>
          <a:xfrm>
            <a:off x="457200" y="274638"/>
            <a:ext cx="8229600" cy="448692"/>
          </a:xfrm>
          <a:prstGeom prst="rect">
            <a:avLst/>
          </a:prstGeom>
          <a:noFill/>
          <a:ln>
            <a:noFill/>
          </a:ln>
        </p:spPr>
        <p:txBody>
          <a:bodyPr anchorCtr="0" anchor="ctr" bIns="0" lIns="0" spcFirstLastPara="1" rIns="0" wrap="square" tIns="0">
            <a:noAutofit/>
          </a:bodyPr>
          <a:lstStyle/>
          <a:p>
            <a:pPr indent="0" lvl="0" marL="0" rtl="0" algn="ctr">
              <a:lnSpc>
                <a:spcPct val="95000"/>
              </a:lnSpc>
              <a:spcBef>
                <a:spcPts val="0"/>
              </a:spcBef>
              <a:spcAft>
                <a:spcPts val="0"/>
              </a:spcAft>
              <a:buClr>
                <a:srgbClr val="FF0000"/>
              </a:buClr>
              <a:buSzPts val="2200"/>
              <a:buFont typeface="Century Gothic"/>
              <a:buNone/>
            </a:pPr>
            <a:r>
              <a:rPr lang="en-GB"/>
              <a:t>Framework Coverage</a:t>
            </a:r>
            <a:endParaRPr/>
          </a:p>
        </p:txBody>
      </p:sp>
      <p:sp>
        <p:nvSpPr>
          <p:cNvPr id="164" name="Google Shape;164;p3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Tree>
  </p:cSld>
  <p:clrMapOvr>
    <a:masterClrMapping/>
  </p:clrMapOvr>
  <p:transition spd="med">
    <p:fade/>
  </p:transition>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 name="Shape 169"/>
        <p:cNvGrpSpPr/>
        <p:nvPr/>
      </p:nvGrpSpPr>
      <p:grpSpPr>
        <a:xfrm>
          <a:off x="0" y="0"/>
          <a:ext cx="0" cy="0"/>
          <a:chOff x="0" y="0"/>
          <a:chExt cx="0" cy="0"/>
        </a:xfrm>
      </p:grpSpPr>
      <p:sp>
        <p:nvSpPr>
          <p:cNvPr id="170" name="Google Shape;170;p34"/>
          <p:cNvSpPr txBox="1"/>
          <p:nvPr>
            <p:ph type="title"/>
          </p:nvPr>
        </p:nvSpPr>
        <p:spPr>
          <a:xfrm>
            <a:off x="457200" y="205688"/>
            <a:ext cx="8229600" cy="36245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Pakistan Banking Sector — Converging Challenges</a:t>
            </a:r>
            <a:endParaRPr/>
          </a:p>
        </p:txBody>
      </p:sp>
      <p:sp>
        <p:nvSpPr>
          <p:cNvPr id="171" name="Google Shape;171;p34"/>
          <p:cNvSpPr txBox="1"/>
          <p:nvPr>
            <p:ph idx="1" type="body"/>
          </p:nvPr>
        </p:nvSpPr>
        <p:spPr>
          <a:xfrm>
            <a:off x="457200" y="900114"/>
            <a:ext cx="5738884" cy="3656818"/>
          </a:xfrm>
          <a:prstGeom prst="rect">
            <a:avLst/>
          </a:prstGeom>
          <a:noFill/>
          <a:ln>
            <a:noFill/>
          </a:ln>
        </p:spPr>
        <p:txBody>
          <a:bodyPr anchorCtr="0" anchor="t" bIns="0" lIns="0" spcFirstLastPara="1" rIns="0" wrap="square" tIns="0">
            <a:noAutofit/>
          </a:bodyPr>
          <a:lstStyle/>
          <a:p>
            <a:pPr indent="-88900" lvl="4" marL="0" rtl="0" algn="l">
              <a:lnSpc>
                <a:spcPct val="95000"/>
              </a:lnSpc>
              <a:spcBef>
                <a:spcPts val="0"/>
              </a:spcBef>
              <a:spcAft>
                <a:spcPts val="0"/>
              </a:spcAft>
              <a:buClr>
                <a:schemeClr val="accent1"/>
              </a:buClr>
              <a:buSzPts val="1400"/>
              <a:buChar char="​"/>
            </a:pPr>
            <a:r>
              <a:rPr lang="en-GB" sz="1400"/>
              <a:t>Digitalisation &amp; Digital Payments Revolution</a:t>
            </a:r>
            <a:endParaRPr sz="1400"/>
          </a:p>
          <a:p>
            <a:pPr indent="-169863" lvl="0" marL="169863" rtl="0" algn="l">
              <a:lnSpc>
                <a:spcPct val="95000"/>
              </a:lnSpc>
              <a:spcBef>
                <a:spcPts val="800"/>
              </a:spcBef>
              <a:spcAft>
                <a:spcPts val="0"/>
              </a:spcAft>
              <a:buClr>
                <a:schemeClr val="dk1"/>
              </a:buClr>
              <a:buSzPts val="1400"/>
              <a:buChar char="•"/>
            </a:pPr>
            <a:r>
              <a:rPr lang="en-GB" sz="1400"/>
              <a:t>RAAST P2P/P2M processed PKR 9.8 trillion in FY2024. JazzCash + Easypaisa: 100M+ mobile wallets. Roshan Digital Accounts: $7.5B+ diaspora inflows. SBP mandating open banking APIs by 2025.</a:t>
            </a:r>
            <a:endParaRPr/>
          </a:p>
          <a:p>
            <a:pPr indent="-88900" lvl="4" marL="0" rtl="0" algn="l">
              <a:lnSpc>
                <a:spcPct val="95000"/>
              </a:lnSpc>
              <a:spcBef>
                <a:spcPts val="800"/>
              </a:spcBef>
              <a:spcAft>
                <a:spcPts val="0"/>
              </a:spcAft>
              <a:buClr>
                <a:schemeClr val="accent1"/>
              </a:buClr>
              <a:buSzPts val="1400"/>
              <a:buChar char="​"/>
            </a:pPr>
            <a:r>
              <a:rPr lang="en-GB" sz="1400"/>
              <a:t>Macroeconomic Pressures</a:t>
            </a:r>
            <a:endParaRPr/>
          </a:p>
          <a:p>
            <a:pPr indent="-169863" lvl="0" marL="169863" rtl="0" algn="l">
              <a:lnSpc>
                <a:spcPct val="95000"/>
              </a:lnSpc>
              <a:spcBef>
                <a:spcPts val="800"/>
              </a:spcBef>
              <a:spcAft>
                <a:spcPts val="0"/>
              </a:spcAft>
              <a:buClr>
                <a:schemeClr val="dk1"/>
              </a:buClr>
              <a:buSzPts val="1400"/>
              <a:buChar char="•"/>
            </a:pPr>
            <a:r>
              <a:rPr lang="en-GB" sz="1400"/>
              <a:t>Policy rate peaked at 22% (Jun 2023), now at 17.5% — KIBOR volatility. PKR managed float regime. Sovereign debt restructuring and IMF Stand-By Arrangement. Inflation moderating from 38% peak to 12% — NIM compression ahead.</a:t>
            </a:r>
            <a:endParaRPr/>
          </a:p>
          <a:p>
            <a:pPr indent="-88900" lvl="4" marL="0" rtl="0" algn="l">
              <a:lnSpc>
                <a:spcPct val="95000"/>
              </a:lnSpc>
              <a:spcBef>
                <a:spcPts val="800"/>
              </a:spcBef>
              <a:spcAft>
                <a:spcPts val="0"/>
              </a:spcAft>
              <a:buClr>
                <a:schemeClr val="accent1"/>
              </a:buClr>
              <a:buSzPts val="1400"/>
              <a:buChar char="​"/>
            </a:pPr>
            <a:r>
              <a:rPr lang="en-GB" sz="1400"/>
              <a:t>Regulatory Tsunami</a:t>
            </a:r>
            <a:endParaRPr/>
          </a:p>
          <a:p>
            <a:pPr indent="-169863" lvl="0" marL="169863" rtl="0" algn="l">
              <a:lnSpc>
                <a:spcPct val="95000"/>
              </a:lnSpc>
              <a:spcBef>
                <a:spcPts val="800"/>
              </a:spcBef>
              <a:spcAft>
                <a:spcPts val="0"/>
              </a:spcAft>
              <a:buClr>
                <a:schemeClr val="dk1"/>
              </a:buClr>
              <a:buSzPts val="1400"/>
              <a:buChar char="•"/>
            </a:pPr>
            <a:r>
              <a:rPr lang="en-GB" sz="1400"/>
              <a:t>IFRS 9 ECL provisioning (Stage 1/2/3) fully enforced since Jan 2024. Basel III Capital Conservation Buffer at 2.5%. SBP AML/CFT aligned with FATF grey list remediation. Minimum capital raised to PKR 20 billion by Dec 2026.</a:t>
            </a:r>
            <a:endParaRPr/>
          </a:p>
          <a:p>
            <a:pPr indent="-88900" lvl="4" marL="0" rtl="0" algn="l">
              <a:lnSpc>
                <a:spcPct val="95000"/>
              </a:lnSpc>
              <a:spcBef>
                <a:spcPts val="800"/>
              </a:spcBef>
              <a:spcAft>
                <a:spcPts val="0"/>
              </a:spcAft>
              <a:buClr>
                <a:schemeClr val="accent1"/>
              </a:buClr>
              <a:buSzPts val="1400"/>
              <a:buChar char="​"/>
            </a:pPr>
            <a:r>
              <a:rPr lang="en-GB" sz="1400"/>
              <a:t>Technology Debt &amp; Legacy Burden</a:t>
            </a:r>
            <a:endParaRPr/>
          </a:p>
          <a:p>
            <a:pPr indent="-169863" lvl="0" marL="169863" rtl="0" algn="l">
              <a:lnSpc>
                <a:spcPct val="95000"/>
              </a:lnSpc>
              <a:spcBef>
                <a:spcPts val="800"/>
              </a:spcBef>
              <a:spcAft>
                <a:spcPts val="0"/>
              </a:spcAft>
              <a:buClr>
                <a:schemeClr val="dk1"/>
              </a:buClr>
              <a:buSzPts val="1400"/>
              <a:buChar char="•"/>
            </a:pPr>
            <a:r>
              <a:rPr lang="en-GB" sz="1400"/>
              <a:t>60%+ banks still on monolithic core banking (CTL, Temenos, Oracle FLEXCUBE). Average bank runs 4-5 separate core systems without unified data layer. Manual reconciliation consuming 30%+ of operations FTEs.</a:t>
            </a:r>
            <a:endParaRPr/>
          </a:p>
        </p:txBody>
      </p:sp>
      <p:grpSp>
        <p:nvGrpSpPr>
          <p:cNvPr id="172" name="Google Shape;172;p34"/>
          <p:cNvGrpSpPr/>
          <p:nvPr/>
        </p:nvGrpSpPr>
        <p:grpSpPr>
          <a:xfrm>
            <a:off x="7241985" y="2431490"/>
            <a:ext cx="778496" cy="662222"/>
            <a:chOff x="6969330" y="3921815"/>
            <a:chExt cx="1063420" cy="904590"/>
          </a:xfrm>
        </p:grpSpPr>
        <p:sp>
          <p:nvSpPr>
            <p:cNvPr id="173" name="Google Shape;173;p34"/>
            <p:cNvSpPr/>
            <p:nvPr/>
          </p:nvSpPr>
          <p:spPr>
            <a:xfrm>
              <a:off x="6969330" y="3921815"/>
              <a:ext cx="1063420" cy="904590"/>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DC7B1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600">
                <a:solidFill>
                  <a:schemeClr val="lt1"/>
                </a:solidFill>
                <a:latin typeface="Century Gothic"/>
                <a:ea typeface="Century Gothic"/>
                <a:cs typeface="Century Gothic"/>
                <a:sym typeface="Century Gothic"/>
              </a:endParaRPr>
            </a:p>
          </p:txBody>
        </p:sp>
        <p:sp>
          <p:nvSpPr>
            <p:cNvPr id="174" name="Google Shape;174;p34"/>
            <p:cNvSpPr/>
            <p:nvPr/>
          </p:nvSpPr>
          <p:spPr>
            <a:xfrm>
              <a:off x="6970815" y="3925611"/>
              <a:ext cx="1060450" cy="3164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b="1" lang="en-GB" sz="1050">
                  <a:solidFill>
                    <a:schemeClr val="lt1"/>
                  </a:solidFill>
                  <a:latin typeface="Century Gothic"/>
                  <a:ea typeface="Century Gothic"/>
                  <a:cs typeface="Century Gothic"/>
                  <a:sym typeface="Century Gothic"/>
                </a:rPr>
                <a:t>BANK</a:t>
              </a:r>
              <a:endParaRPr b="1" sz="1050">
                <a:solidFill>
                  <a:schemeClr val="lt1"/>
                </a:solidFill>
                <a:latin typeface="Century Gothic"/>
                <a:ea typeface="Century Gothic"/>
                <a:cs typeface="Century Gothic"/>
                <a:sym typeface="Century Gothic"/>
              </a:endParaRPr>
            </a:p>
          </p:txBody>
        </p:sp>
      </p:grpSp>
      <p:grpSp>
        <p:nvGrpSpPr>
          <p:cNvPr id="175" name="Google Shape;175;p34"/>
          <p:cNvGrpSpPr/>
          <p:nvPr/>
        </p:nvGrpSpPr>
        <p:grpSpPr>
          <a:xfrm>
            <a:off x="5205188" y="396280"/>
            <a:ext cx="4816769" cy="4816770"/>
            <a:chOff x="5564851" y="3371799"/>
            <a:chExt cx="4023721" cy="4023721"/>
          </a:xfrm>
        </p:grpSpPr>
        <p:grpSp>
          <p:nvGrpSpPr>
            <p:cNvPr id="176" name="Google Shape;176;p34"/>
            <p:cNvGrpSpPr/>
            <p:nvPr/>
          </p:nvGrpSpPr>
          <p:grpSpPr>
            <a:xfrm rot="2778069">
              <a:off x="6153746" y="3960691"/>
              <a:ext cx="2845933" cy="2845936"/>
              <a:chOff x="7431681" y="4805153"/>
              <a:chExt cx="1415051" cy="1415051"/>
            </a:xfrm>
          </p:grpSpPr>
          <p:sp>
            <p:nvSpPr>
              <p:cNvPr id="177" name="Google Shape;177;p34"/>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8" name="Google Shape;178;p34"/>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9" name="Google Shape;179;p34"/>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180" name="Google Shape;180;p34"/>
            <p:cNvGrpSpPr/>
            <p:nvPr/>
          </p:nvGrpSpPr>
          <p:grpSpPr>
            <a:xfrm>
              <a:off x="6488702" y="4523454"/>
              <a:ext cx="1879462" cy="1937171"/>
              <a:chOff x="6488702" y="4523454"/>
              <a:chExt cx="1879462" cy="1937171"/>
            </a:xfrm>
          </p:grpSpPr>
          <p:sp>
            <p:nvSpPr>
              <p:cNvPr id="181" name="Google Shape;181;p34"/>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2" name="Google Shape;182;p34"/>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3" name="Google Shape;183;p34"/>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
        <p:nvSpPr>
          <p:cNvPr id="184" name="Google Shape;184;p34"/>
          <p:cNvSpPr/>
          <p:nvPr/>
        </p:nvSpPr>
        <p:spPr>
          <a:xfrm rot="-753004">
            <a:off x="6815422" y="1811025"/>
            <a:ext cx="1402829" cy="843174"/>
          </a:xfrm>
          <a:prstGeom prst="rect">
            <a:avLst/>
          </a:prstGeom>
        </p:spPr>
        <p:txBody>
          <a:bodyPr>
            <a:prstTxWarp prst="textPlain"/>
          </a:bodyPr>
          <a:lstStyle/>
          <a:p>
            <a:pPr lvl="0" algn="ctr"/>
            <a:r>
              <a:rPr b="1" i="0">
                <a:ln>
                  <a:noFill/>
                </a:ln>
                <a:solidFill>
                  <a:srgbClr val="FFFFFF"/>
                </a:solidFill>
                <a:latin typeface="Century Gothic"/>
              </a:rPr>
              <a:t>BUSINESS</a:t>
            </a:r>
          </a:p>
        </p:txBody>
      </p:sp>
      <p:sp>
        <p:nvSpPr>
          <p:cNvPr id="185" name="Google Shape;185;p34"/>
          <p:cNvSpPr/>
          <p:nvPr/>
        </p:nvSpPr>
        <p:spPr>
          <a:xfrm rot="-753004">
            <a:off x="6856697" y="1985611"/>
            <a:ext cx="1402829" cy="843174"/>
          </a:xfrm>
          <a:prstGeom prst="rect">
            <a:avLst/>
          </a:prstGeom>
        </p:spPr>
        <p:txBody>
          <a:bodyPr>
            <a:prstTxWarp prst="textPlain"/>
          </a:bodyPr>
          <a:lstStyle/>
          <a:p>
            <a:pPr lvl="0" algn="ctr"/>
            <a:r>
              <a:rPr b="1" i="0">
                <a:ln>
                  <a:noFill/>
                </a:ln>
                <a:solidFill>
                  <a:srgbClr val="FFFFFF"/>
                </a:solidFill>
                <a:latin typeface="Century Gothic"/>
              </a:rPr>
              <a:t>MANAGEMENT</a:t>
            </a:r>
          </a:p>
        </p:txBody>
      </p:sp>
      <p:sp>
        <p:nvSpPr>
          <p:cNvPr id="186" name="Google Shape;186;p34"/>
          <p:cNvSpPr/>
          <p:nvPr/>
        </p:nvSpPr>
        <p:spPr>
          <a:xfrm rot="-3650790">
            <a:off x="7560870" y="2566152"/>
            <a:ext cx="1156014" cy="843174"/>
          </a:xfrm>
          <a:prstGeom prst="rect">
            <a:avLst/>
          </a:prstGeom>
        </p:spPr>
        <p:txBody>
          <a:bodyPr>
            <a:prstTxWarp prst="textPlain"/>
          </a:bodyPr>
          <a:lstStyle/>
          <a:p>
            <a:pPr lvl="0" algn="ctr"/>
            <a:r>
              <a:rPr b="1" i="0">
                <a:ln>
                  <a:noFill/>
                </a:ln>
                <a:solidFill>
                  <a:srgbClr val="FFFFFF"/>
                </a:solidFill>
                <a:latin typeface="Century Gothic"/>
              </a:rPr>
              <a:t>GROWTH</a:t>
            </a:r>
          </a:p>
        </p:txBody>
      </p:sp>
      <p:sp>
        <p:nvSpPr>
          <p:cNvPr id="187" name="Google Shape;187;p34"/>
          <p:cNvSpPr/>
          <p:nvPr/>
        </p:nvSpPr>
        <p:spPr>
          <a:xfrm rot="3476208">
            <a:off x="6587706" y="2698097"/>
            <a:ext cx="1156014" cy="843174"/>
          </a:xfrm>
          <a:prstGeom prst="rect">
            <a:avLst/>
          </a:prstGeom>
        </p:spPr>
        <p:txBody>
          <a:bodyPr>
            <a:prstTxWarp prst="textPlain"/>
          </a:bodyPr>
          <a:lstStyle/>
          <a:p>
            <a:pPr lvl="0" algn="ctr"/>
            <a:r>
              <a:rPr b="1" i="0">
                <a:ln>
                  <a:noFill/>
                </a:ln>
                <a:solidFill>
                  <a:srgbClr val="FFFFFF"/>
                </a:solidFill>
                <a:latin typeface="Century Gothic"/>
              </a:rPr>
              <a:t>COSTS</a:t>
            </a: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 name="Shape 191"/>
        <p:cNvGrpSpPr/>
        <p:nvPr/>
      </p:nvGrpSpPr>
      <p:grpSpPr>
        <a:xfrm>
          <a:off x="0" y="0"/>
          <a:ext cx="0" cy="0"/>
          <a:chOff x="0" y="0"/>
          <a:chExt cx="0" cy="0"/>
        </a:xfrm>
      </p:grpSpPr>
      <p:sp>
        <p:nvSpPr>
          <p:cNvPr id="192" name="Google Shape;192;p35"/>
          <p:cNvSpPr/>
          <p:nvPr/>
        </p:nvSpPr>
        <p:spPr>
          <a:xfrm>
            <a:off x="344969" y="2973170"/>
            <a:ext cx="4185585" cy="1818978"/>
          </a:xfrm>
          <a:prstGeom prst="rect">
            <a:avLst/>
          </a:prstGeom>
          <a:noFill/>
          <a:ln cap="flat" cmpd="sng" w="9525">
            <a:solidFill>
              <a:schemeClr val="accent3"/>
            </a:solidFill>
            <a:prstDash val="solid"/>
            <a:miter lim="800000"/>
            <a:headEnd len="sm" w="sm" type="none"/>
            <a:tailEnd len="sm" w="sm" type="none"/>
          </a:ln>
        </p:spPr>
        <p:txBody>
          <a:bodyPr anchorCtr="0" anchor="t" bIns="91425" lIns="91425" spcFirstLastPara="1" rIns="91425" wrap="square" tIns="91425">
            <a:noAutofit/>
          </a:bodyPr>
          <a:lstStyle/>
          <a:p>
            <a:pPr indent="-114300" lvl="0" marL="114300" marR="0" rtl="0" algn="l">
              <a:spcBef>
                <a:spcPts val="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Cost-to-income ratios</a:t>
            </a:r>
            <a:r>
              <a:rPr lang="en-GB" sz="1400">
                <a:solidFill>
                  <a:srgbClr val="2C2C2C"/>
                </a:solidFill>
                <a:latin typeface="Century Gothic"/>
                <a:ea typeface="Century Gothic"/>
                <a:cs typeface="Century Gothic"/>
                <a:sym typeface="Century Gothic"/>
              </a:rPr>
              <a:t> averaging 55-65% (target: &lt;45%)</a:t>
            </a:r>
            <a:endParaRPr sz="1400">
              <a:solidFill>
                <a:srgbClr val="2C2C2C"/>
              </a:solidFill>
              <a:latin typeface="Century Gothic"/>
              <a:ea typeface="Century Gothic"/>
              <a:cs typeface="Century Gothic"/>
              <a:sym typeface="Century Gothic"/>
            </a:endParaRPr>
          </a:p>
          <a:p>
            <a:pPr indent="-114300" lvl="0" marL="114300" marR="0" rtl="0" algn="l">
              <a:spcBef>
                <a:spcPts val="30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Branch network costs</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PKR </a:t>
            </a:r>
            <a:br>
              <a:rPr lang="en-GB" sz="1400">
                <a:solidFill>
                  <a:srgbClr val="2C2C2C"/>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50-80M/branch/year — digital at 1/10th</a:t>
            </a:r>
            <a:endParaRPr sz="1400">
              <a:solidFill>
                <a:srgbClr val="FFFFFF"/>
              </a:solidFill>
              <a:latin typeface="Century Gothic"/>
              <a:ea typeface="Century Gothic"/>
              <a:cs typeface="Century Gothic"/>
              <a:sym typeface="Century Gothic"/>
            </a:endParaRPr>
          </a:p>
          <a:p>
            <a:pPr indent="-114300" lvl="0" marL="114300" marR="0" rtl="0" algn="l">
              <a:spcBef>
                <a:spcPts val="30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Manual trade finance </a:t>
            </a:r>
            <a:r>
              <a:rPr lang="en-GB" sz="1400">
                <a:solidFill>
                  <a:srgbClr val="2C2C2C"/>
                </a:solidFill>
                <a:latin typeface="Century Gothic"/>
                <a:ea typeface="Century Gothic"/>
                <a:cs typeface="Century Gothic"/>
                <a:sym typeface="Century Gothic"/>
              </a:rPr>
              <a:t>costing</a:t>
            </a:r>
            <a:br>
              <a:rPr lang="en-GB" sz="1400">
                <a:solidFill>
                  <a:srgbClr val="2C2C2C"/>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$150-200 per transaction</a:t>
            </a:r>
            <a:endParaRPr sz="1400">
              <a:solidFill>
                <a:srgbClr val="FFFFFF"/>
              </a:solidFill>
              <a:latin typeface="Century Gothic"/>
              <a:ea typeface="Century Gothic"/>
              <a:cs typeface="Century Gothic"/>
              <a:sym typeface="Century Gothic"/>
            </a:endParaRPr>
          </a:p>
        </p:txBody>
      </p:sp>
      <p:sp>
        <p:nvSpPr>
          <p:cNvPr id="193" name="Google Shape;193;p35"/>
          <p:cNvSpPr/>
          <p:nvPr/>
        </p:nvSpPr>
        <p:spPr>
          <a:xfrm>
            <a:off x="344969" y="1028597"/>
            <a:ext cx="4185585" cy="1839630"/>
          </a:xfrm>
          <a:prstGeom prst="rect">
            <a:avLst/>
          </a:prstGeom>
          <a:noFill/>
          <a:ln cap="flat" cmpd="sng" w="9525">
            <a:solidFill>
              <a:srgbClr val="005AA4"/>
            </a:solidFill>
            <a:prstDash val="solid"/>
            <a:miter lim="800000"/>
            <a:headEnd len="sm" w="sm" type="none"/>
            <a:tailEnd len="sm" w="sm" type="none"/>
          </a:ln>
        </p:spPr>
        <p:txBody>
          <a:bodyPr anchorCtr="0" anchor="t" bIns="36000" lIns="36000" spcFirstLastPara="1" rIns="36000" wrap="square" tIns="36000">
            <a:noAutofit/>
          </a:bodyPr>
          <a:lstStyle/>
          <a:p>
            <a:pPr indent="-114299" lvl="0" marL="179388" marR="0" rtl="0" algn="l">
              <a:spcBef>
                <a:spcPts val="0"/>
              </a:spcBef>
              <a:spcAft>
                <a:spcPts val="0"/>
              </a:spcAft>
              <a:buClr>
                <a:schemeClr val="dk1"/>
              </a:buClr>
              <a:buSzPts val="1400"/>
              <a:buFont typeface="Arial"/>
              <a:buChar char="•"/>
            </a:pPr>
            <a:r>
              <a:rPr b="1" lang="en-GB" sz="1400">
                <a:solidFill>
                  <a:schemeClr val="dk2"/>
                </a:solidFill>
                <a:latin typeface="Century Gothic"/>
                <a:ea typeface="Century Gothic"/>
                <a:cs typeface="Century Gothic"/>
                <a:sym typeface="Century Gothic"/>
              </a:rPr>
              <a:t>200+ regulatory reports</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due monthly/quarterly</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to SBP</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Greater </a:t>
            </a:r>
            <a:r>
              <a:rPr b="1" lang="en-GB" sz="1400">
                <a:solidFill>
                  <a:schemeClr val="dk2"/>
                </a:solidFill>
                <a:latin typeface="Century Gothic"/>
                <a:ea typeface="Century Gothic"/>
                <a:cs typeface="Century Gothic"/>
                <a:sym typeface="Century Gothic"/>
              </a:rPr>
              <a:t>IFRS 9 ECL</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models</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with 3 macroeconomic scenarios</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Enhanced </a:t>
            </a:r>
            <a:r>
              <a:rPr b="1" lang="en-GB" sz="1400">
                <a:solidFill>
                  <a:schemeClr val="dk2"/>
                </a:solidFill>
                <a:latin typeface="Century Gothic"/>
                <a:ea typeface="Century Gothic"/>
                <a:cs typeface="Century Gothic"/>
                <a:sym typeface="Century Gothic"/>
              </a:rPr>
              <a:t>FTP accuracy critical — 10bps error = PKR billions</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Respond to </a:t>
            </a:r>
            <a:r>
              <a:rPr b="1" lang="en-GB" sz="1400">
                <a:solidFill>
                  <a:schemeClr val="dk2"/>
                </a:solidFill>
                <a:latin typeface="Century Gothic"/>
                <a:ea typeface="Century Gothic"/>
                <a:cs typeface="Century Gothic"/>
                <a:sym typeface="Century Gothic"/>
              </a:rPr>
              <a:t>customer profitability invisible: 80/20 rule unknown</a:t>
            </a:r>
            <a:endParaRPr/>
          </a:p>
          <a:p>
            <a:pPr indent="-114299" lvl="0" marL="179388" marR="0" rtl="0" algn="l">
              <a:spcBef>
                <a:spcPts val="300"/>
              </a:spcBef>
              <a:spcAft>
                <a:spcPts val="0"/>
              </a:spcAft>
              <a:buClr>
                <a:schemeClr val="dk1"/>
              </a:buClr>
              <a:buSzPts val="1400"/>
              <a:buFont typeface="Arial"/>
              <a:buChar char="•"/>
            </a:pPr>
            <a:r>
              <a:rPr lang="en-GB" sz="1400">
                <a:solidFill>
                  <a:srgbClr val="2C2C2C"/>
                </a:solidFill>
                <a:latin typeface="Century Gothic"/>
                <a:ea typeface="Century Gothic"/>
                <a:cs typeface="Century Gothic"/>
                <a:sym typeface="Century Gothic"/>
              </a:rPr>
              <a:t>Meet </a:t>
            </a:r>
            <a:r>
              <a:rPr b="1" lang="en-GB" sz="1400">
                <a:solidFill>
                  <a:schemeClr val="dk2"/>
                </a:solidFill>
                <a:latin typeface="Century Gothic"/>
                <a:ea typeface="Century Gothic"/>
                <a:cs typeface="Century Gothic"/>
                <a:sym typeface="Century Gothic"/>
              </a:rPr>
              <a:t>regulatory compliance consuming</a:t>
            </a:r>
            <a:br>
              <a:rPr b="1" lang="en-GB" sz="1400">
                <a:solidFill>
                  <a:schemeClr val="dk2"/>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15-20% of technology budgets</a:t>
            </a:r>
            <a:endParaRPr sz="1400">
              <a:solidFill>
                <a:srgbClr val="2C2C2C"/>
              </a:solidFill>
              <a:latin typeface="Century Gothic"/>
              <a:ea typeface="Century Gothic"/>
              <a:cs typeface="Century Gothic"/>
              <a:sym typeface="Century Gothic"/>
            </a:endParaRPr>
          </a:p>
          <a:p>
            <a:pPr indent="-114299" lvl="0" marL="179388" marR="0" rtl="0" algn="l">
              <a:spcBef>
                <a:spcPts val="300"/>
              </a:spcBef>
              <a:spcAft>
                <a:spcPts val="0"/>
              </a:spcAft>
              <a:buClr>
                <a:schemeClr val="dk1"/>
              </a:buClr>
              <a:buSzPts val="1400"/>
              <a:buFont typeface="Arial"/>
              <a:buChar char="•"/>
            </a:pPr>
            <a:r>
              <a:rPr b="1" lang="en-GB" sz="1400">
                <a:solidFill>
                  <a:schemeClr val="dk2"/>
                </a:solidFill>
                <a:latin typeface="Century Gothic"/>
                <a:ea typeface="Century Gothic"/>
                <a:cs typeface="Century Gothic"/>
                <a:sym typeface="Century Gothic"/>
              </a:rPr>
              <a:t>5 digital-only</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bank licenses creating new competition</a:t>
            </a:r>
            <a:endParaRPr sz="1400">
              <a:solidFill>
                <a:srgbClr val="FFFFFF"/>
              </a:solidFill>
              <a:latin typeface="Century Gothic"/>
              <a:ea typeface="Century Gothic"/>
              <a:cs typeface="Century Gothic"/>
              <a:sym typeface="Century Gothic"/>
            </a:endParaRPr>
          </a:p>
        </p:txBody>
      </p:sp>
      <p:sp>
        <p:nvSpPr>
          <p:cNvPr id="194" name="Google Shape;194;p35"/>
          <p:cNvSpPr/>
          <p:nvPr/>
        </p:nvSpPr>
        <p:spPr>
          <a:xfrm>
            <a:off x="4883190" y="1028597"/>
            <a:ext cx="3938548" cy="3763551"/>
          </a:xfrm>
          <a:prstGeom prst="rect">
            <a:avLst/>
          </a:prstGeom>
          <a:noFill/>
          <a:ln cap="flat" cmpd="sng" w="9525">
            <a:solidFill>
              <a:schemeClr val="accent4"/>
            </a:solidFill>
            <a:prstDash val="solid"/>
            <a:miter lim="800000"/>
            <a:headEnd len="sm" w="sm" type="none"/>
            <a:tailEnd len="sm" w="sm" type="none"/>
          </a:ln>
        </p:spPr>
        <p:txBody>
          <a:bodyPr anchorCtr="0" anchor="t" bIns="36000" lIns="36000" spcFirstLastPara="1" rIns="36000" wrap="square" tIns="36000">
            <a:noAutofit/>
          </a:bodyPr>
          <a:lstStyle/>
          <a:p>
            <a:pPr indent="-114300" lvl="0" marL="114300" marR="0" rtl="0" algn="l">
              <a:spcBef>
                <a:spcPts val="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Understand and orchestrate </a:t>
            </a:r>
            <a:r>
              <a:rPr b="1" lang="en-GB" sz="1400">
                <a:solidFill>
                  <a:schemeClr val="accent4"/>
                </a:solidFill>
                <a:latin typeface="Century Gothic"/>
                <a:ea typeface="Century Gothic"/>
                <a:cs typeface="Century Gothic"/>
                <a:sym typeface="Century Gothic"/>
              </a:rPr>
              <a:t>financial inclusion (30% → SBP target 50% by 2028)</a:t>
            </a:r>
            <a:endParaRPr sz="1400">
              <a:solidFill>
                <a:srgbClr val="2C2C2C"/>
              </a:solidFill>
              <a:latin typeface="Century Gothic"/>
              <a:ea typeface="Century Gothic"/>
              <a:cs typeface="Century Gothic"/>
              <a:sym typeface="Century Gothic"/>
            </a:endParaRPr>
          </a:p>
          <a:p>
            <a:pPr indent="-114300" lvl="0" marL="114300"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Improve </a:t>
            </a:r>
            <a:r>
              <a:rPr b="1" lang="en-GB" sz="1400">
                <a:solidFill>
                  <a:schemeClr val="accent4"/>
                </a:solidFill>
                <a:latin typeface="Century Gothic"/>
                <a:ea typeface="Century Gothic"/>
                <a:cs typeface="Century Gothic"/>
                <a:sym typeface="Century Gothic"/>
              </a:rPr>
              <a:t>SME lending</a:t>
            </a:r>
            <a:r>
              <a:rPr lang="en-GB" sz="1400">
                <a:solidFill>
                  <a:srgbClr val="2C2C2C"/>
                </a:solidFill>
                <a:latin typeface="Century Gothic"/>
                <a:ea typeface="Century Gothic"/>
                <a:cs typeface="Century Gothic"/>
                <a:sym typeface="Century Gothic"/>
              </a:rPr>
              <a:t> &lt; 8% of total advances</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 massive untapped market</a:t>
            </a:r>
            <a:endParaRPr sz="1400">
              <a:solidFill>
                <a:srgbClr val="2C2C2C"/>
              </a:solidFill>
              <a:latin typeface="Century Gothic"/>
              <a:ea typeface="Century Gothic"/>
              <a:cs typeface="Century Gothic"/>
              <a:sym typeface="Century Gothic"/>
            </a:endParaRPr>
          </a:p>
          <a:p>
            <a:pPr indent="-114300" lvl="0" marL="806450"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Agriculture credit gap: </a:t>
            </a:r>
            <a:r>
              <a:rPr lang="en-GB" sz="1400">
                <a:solidFill>
                  <a:srgbClr val="2C2C2C"/>
                </a:solidFill>
                <a:latin typeface="Century Gothic"/>
                <a:ea typeface="Century Gothic"/>
                <a:cs typeface="Century Gothic"/>
                <a:sym typeface="Century Gothic"/>
              </a:rPr>
              <a:t>PKR 300B+ shortfall in disbursement</a:t>
            </a:r>
            <a:endParaRPr/>
          </a:p>
          <a:p>
            <a:pPr indent="-114300" lvl="0" marL="98742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Cross-sell ratios </a:t>
            </a:r>
            <a:r>
              <a:rPr lang="en-GB" sz="1400">
                <a:solidFill>
                  <a:srgbClr val="2C2C2C"/>
                </a:solidFill>
                <a:latin typeface="Century Gothic"/>
                <a:ea typeface="Century Gothic"/>
                <a:cs typeface="Century Gothic"/>
                <a:sym typeface="Century Gothic"/>
              </a:rPr>
              <a:t>1.3 products/customer vs. 4.5 in mature markets</a:t>
            </a:r>
            <a:endParaRPr/>
          </a:p>
          <a:p>
            <a:pPr indent="-114300" lvl="0" marL="108267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Digital-only banking</a:t>
            </a:r>
            <a:r>
              <a:rPr lang="en-GB" sz="1400">
                <a:solidFill>
                  <a:srgbClr val="2C2C2C"/>
                </a:solidFill>
                <a:latin typeface="Century Gothic"/>
                <a:ea typeface="Century Gothic"/>
                <a:cs typeface="Century Gothic"/>
                <a:sym typeface="Century Gothic"/>
              </a:rPr>
              <a:t> licenses (5 awarded by SBP) creating new competition</a:t>
            </a:r>
            <a:endParaRPr sz="1400">
              <a:solidFill>
                <a:srgbClr val="2C2C2C"/>
              </a:solidFill>
              <a:latin typeface="Century Gothic"/>
              <a:ea typeface="Century Gothic"/>
              <a:cs typeface="Century Gothic"/>
              <a:sym typeface="Century Gothic"/>
            </a:endParaRPr>
          </a:p>
          <a:p>
            <a:pPr indent="-114300" lvl="0" marL="108267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Diaspora remittances </a:t>
            </a:r>
            <a:r>
              <a:rPr lang="en-GB" sz="1400">
                <a:solidFill>
                  <a:srgbClr val="2C2C2C"/>
                </a:solidFill>
                <a:latin typeface="Century Gothic"/>
                <a:ea typeface="Century Gothic"/>
                <a:cs typeface="Century Gothic"/>
                <a:sym typeface="Century Gothic"/>
              </a:rPr>
              <a:t>$30B+/year with RDA capturing $7.5B+</a:t>
            </a:r>
            <a:endParaRPr sz="1400">
              <a:solidFill>
                <a:srgbClr val="2C2C2C"/>
              </a:solidFill>
              <a:latin typeface="Century Gothic"/>
              <a:ea typeface="Century Gothic"/>
              <a:cs typeface="Century Gothic"/>
              <a:sym typeface="Century Gothic"/>
            </a:endParaRPr>
          </a:p>
          <a:p>
            <a:pPr indent="-107950" lvl="0" marL="904875"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Measure, manage and price based on </a:t>
            </a:r>
            <a:r>
              <a:rPr b="1" lang="en-GB" sz="1400">
                <a:solidFill>
                  <a:schemeClr val="accent4"/>
                </a:solidFill>
                <a:latin typeface="Century Gothic"/>
                <a:ea typeface="Century Gothic"/>
                <a:cs typeface="Century Gothic"/>
                <a:sym typeface="Century Gothic"/>
              </a:rPr>
              <a:t>data-driven customer insights and personalization</a:t>
            </a:r>
            <a:endParaRPr/>
          </a:p>
          <a:p>
            <a:pPr indent="-107950" lvl="0" marL="112713"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Exploit </a:t>
            </a:r>
            <a:r>
              <a:rPr b="1" lang="en-GB" sz="1400">
                <a:solidFill>
                  <a:schemeClr val="accent4"/>
                </a:solidFill>
                <a:latin typeface="Century Gothic"/>
                <a:ea typeface="Century Gothic"/>
                <a:cs typeface="Century Gothic"/>
                <a:sym typeface="Century Gothic"/>
              </a:rPr>
              <a:t>Islamic banking products — growing at 25% CAGR</a:t>
            </a:r>
            <a:endParaRPr sz="1400">
              <a:solidFill>
                <a:srgbClr val="2C2C2C"/>
              </a:solidFill>
              <a:latin typeface="Century Gothic"/>
              <a:ea typeface="Century Gothic"/>
              <a:cs typeface="Century Gothic"/>
              <a:sym typeface="Century Gothic"/>
            </a:endParaRPr>
          </a:p>
          <a:p>
            <a:pPr indent="-114300" lvl="0" marL="114300" marR="0" rtl="0" algn="ctr">
              <a:spcBef>
                <a:spcPts val="300"/>
              </a:spcBef>
              <a:spcAft>
                <a:spcPts val="0"/>
              </a:spcAft>
              <a:buNone/>
            </a:pPr>
            <a:r>
              <a:t/>
            </a:r>
            <a:endParaRPr sz="1400">
              <a:solidFill>
                <a:srgbClr val="FFFFFF"/>
              </a:solidFill>
              <a:latin typeface="Century Gothic"/>
              <a:ea typeface="Century Gothic"/>
              <a:cs typeface="Century Gothic"/>
              <a:sym typeface="Century Gothic"/>
            </a:endParaRPr>
          </a:p>
        </p:txBody>
      </p:sp>
      <p:sp>
        <p:nvSpPr>
          <p:cNvPr id="195" name="Google Shape;195;p35"/>
          <p:cNvSpPr/>
          <p:nvPr/>
        </p:nvSpPr>
        <p:spPr>
          <a:xfrm>
            <a:off x="3716049" y="2293655"/>
            <a:ext cx="1815105" cy="1815105"/>
          </a:xfrm>
          <a:prstGeom prst="ellipse">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6" name="Google Shape;196;p35"/>
          <p:cNvSpPr txBox="1"/>
          <p:nvPr>
            <p:ph type="title"/>
          </p:nvPr>
        </p:nvSpPr>
        <p:spPr>
          <a:xfrm>
            <a:off x="379413" y="164592"/>
            <a:ext cx="8307387" cy="40861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Mounting Pressures on Pakistan’s Banking Sector</a:t>
            </a:r>
            <a:endParaRPr/>
          </a:p>
        </p:txBody>
      </p:sp>
      <p:grpSp>
        <p:nvGrpSpPr>
          <p:cNvPr id="197" name="Google Shape;197;p35"/>
          <p:cNvGrpSpPr/>
          <p:nvPr/>
        </p:nvGrpSpPr>
        <p:grpSpPr>
          <a:xfrm>
            <a:off x="4230778" y="2868226"/>
            <a:ext cx="778496" cy="662222"/>
            <a:chOff x="6969330" y="3921815"/>
            <a:chExt cx="1063420" cy="904590"/>
          </a:xfrm>
        </p:grpSpPr>
        <p:sp>
          <p:nvSpPr>
            <p:cNvPr id="198" name="Google Shape;198;p35"/>
            <p:cNvSpPr/>
            <p:nvPr/>
          </p:nvSpPr>
          <p:spPr>
            <a:xfrm>
              <a:off x="6969330" y="3921815"/>
              <a:ext cx="1063420" cy="904590"/>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DC7B1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600">
                <a:solidFill>
                  <a:schemeClr val="lt1"/>
                </a:solidFill>
                <a:latin typeface="Century Gothic"/>
                <a:ea typeface="Century Gothic"/>
                <a:cs typeface="Century Gothic"/>
                <a:sym typeface="Century Gothic"/>
              </a:endParaRPr>
            </a:p>
          </p:txBody>
        </p:sp>
        <p:sp>
          <p:nvSpPr>
            <p:cNvPr id="199" name="Google Shape;199;p35"/>
            <p:cNvSpPr/>
            <p:nvPr/>
          </p:nvSpPr>
          <p:spPr>
            <a:xfrm>
              <a:off x="6970815" y="3925611"/>
              <a:ext cx="1060450" cy="3164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b="1" lang="en-GB" sz="1050">
                  <a:solidFill>
                    <a:schemeClr val="lt1"/>
                  </a:solidFill>
                  <a:latin typeface="Century Gothic"/>
                  <a:ea typeface="Century Gothic"/>
                  <a:cs typeface="Century Gothic"/>
                  <a:sym typeface="Century Gothic"/>
                </a:rPr>
                <a:t>BANK</a:t>
              </a:r>
              <a:endParaRPr b="1" sz="1050">
                <a:solidFill>
                  <a:schemeClr val="lt1"/>
                </a:solidFill>
                <a:latin typeface="Century Gothic"/>
                <a:ea typeface="Century Gothic"/>
                <a:cs typeface="Century Gothic"/>
                <a:sym typeface="Century Gothic"/>
              </a:endParaRPr>
            </a:p>
          </p:txBody>
        </p:sp>
      </p:grpSp>
      <p:grpSp>
        <p:nvGrpSpPr>
          <p:cNvPr id="200" name="Google Shape;200;p35"/>
          <p:cNvGrpSpPr/>
          <p:nvPr/>
        </p:nvGrpSpPr>
        <p:grpSpPr>
          <a:xfrm>
            <a:off x="2193981" y="833016"/>
            <a:ext cx="4816769" cy="4816770"/>
            <a:chOff x="5564851" y="3371799"/>
            <a:chExt cx="4023721" cy="4023721"/>
          </a:xfrm>
        </p:grpSpPr>
        <p:grpSp>
          <p:nvGrpSpPr>
            <p:cNvPr id="201" name="Google Shape;201;p35"/>
            <p:cNvGrpSpPr/>
            <p:nvPr/>
          </p:nvGrpSpPr>
          <p:grpSpPr>
            <a:xfrm rot="2778069">
              <a:off x="6153746" y="3960691"/>
              <a:ext cx="2845933" cy="2845936"/>
              <a:chOff x="7431681" y="4805153"/>
              <a:chExt cx="1415051" cy="1415051"/>
            </a:xfrm>
          </p:grpSpPr>
          <p:sp>
            <p:nvSpPr>
              <p:cNvPr id="202" name="Google Shape;202;p35"/>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 name="Google Shape;203;p35"/>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4" name="Google Shape;204;p35"/>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05" name="Google Shape;205;p35"/>
            <p:cNvGrpSpPr/>
            <p:nvPr/>
          </p:nvGrpSpPr>
          <p:grpSpPr>
            <a:xfrm>
              <a:off x="6488702" y="4523454"/>
              <a:ext cx="1879462" cy="1937171"/>
              <a:chOff x="6488702" y="4523454"/>
              <a:chExt cx="1879462" cy="1937171"/>
            </a:xfrm>
          </p:grpSpPr>
          <p:sp>
            <p:nvSpPr>
              <p:cNvPr id="206" name="Google Shape;206;p35"/>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7" name="Google Shape;207;p35"/>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8" name="Google Shape;208;p35"/>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
        <p:nvSpPr>
          <p:cNvPr id="209" name="Google Shape;209;p35"/>
          <p:cNvSpPr/>
          <p:nvPr/>
        </p:nvSpPr>
        <p:spPr>
          <a:xfrm rot="-753004">
            <a:off x="3804215" y="2247761"/>
            <a:ext cx="1402829" cy="843174"/>
          </a:xfrm>
          <a:prstGeom prst="rect">
            <a:avLst/>
          </a:prstGeom>
        </p:spPr>
        <p:txBody>
          <a:bodyPr>
            <a:prstTxWarp prst="textPlain"/>
          </a:bodyPr>
          <a:lstStyle/>
          <a:p>
            <a:pPr lvl="0" algn="ctr"/>
            <a:r>
              <a:rPr b="1" i="0">
                <a:ln>
                  <a:noFill/>
                </a:ln>
                <a:solidFill>
                  <a:srgbClr val="FFFFFF"/>
                </a:solidFill>
                <a:latin typeface="Century Gothic"/>
              </a:rPr>
              <a:t>BUSINESS</a:t>
            </a:r>
          </a:p>
        </p:txBody>
      </p:sp>
      <p:sp>
        <p:nvSpPr>
          <p:cNvPr id="210" name="Google Shape;210;p35"/>
          <p:cNvSpPr/>
          <p:nvPr/>
        </p:nvSpPr>
        <p:spPr>
          <a:xfrm rot="-753004">
            <a:off x="3845490" y="2422347"/>
            <a:ext cx="1402829" cy="843174"/>
          </a:xfrm>
          <a:prstGeom prst="rect">
            <a:avLst/>
          </a:prstGeom>
        </p:spPr>
        <p:txBody>
          <a:bodyPr>
            <a:prstTxWarp prst="textPlain"/>
          </a:bodyPr>
          <a:lstStyle/>
          <a:p>
            <a:pPr lvl="0" algn="ctr"/>
            <a:r>
              <a:rPr b="1" i="0">
                <a:ln>
                  <a:noFill/>
                </a:ln>
                <a:solidFill>
                  <a:srgbClr val="FFFFFF"/>
                </a:solidFill>
                <a:latin typeface="Century Gothic"/>
              </a:rPr>
              <a:t>MANAGEMENT</a:t>
            </a:r>
          </a:p>
        </p:txBody>
      </p:sp>
      <p:sp>
        <p:nvSpPr>
          <p:cNvPr id="211" name="Google Shape;211;p35"/>
          <p:cNvSpPr/>
          <p:nvPr/>
        </p:nvSpPr>
        <p:spPr>
          <a:xfrm rot="-3650790">
            <a:off x="4549663" y="3002888"/>
            <a:ext cx="1156014" cy="843174"/>
          </a:xfrm>
          <a:prstGeom prst="rect">
            <a:avLst/>
          </a:prstGeom>
        </p:spPr>
        <p:txBody>
          <a:bodyPr>
            <a:prstTxWarp prst="textPlain"/>
          </a:bodyPr>
          <a:lstStyle/>
          <a:p>
            <a:pPr lvl="0" algn="ctr"/>
            <a:r>
              <a:rPr b="1" i="0">
                <a:ln>
                  <a:noFill/>
                </a:ln>
                <a:solidFill>
                  <a:srgbClr val="FFFFFF"/>
                </a:solidFill>
                <a:latin typeface="Century Gothic"/>
              </a:rPr>
              <a:t>GROWTH</a:t>
            </a:r>
          </a:p>
        </p:txBody>
      </p:sp>
      <p:sp>
        <p:nvSpPr>
          <p:cNvPr id="212" name="Google Shape;212;p35"/>
          <p:cNvSpPr/>
          <p:nvPr/>
        </p:nvSpPr>
        <p:spPr>
          <a:xfrm rot="3476208">
            <a:off x="3576499" y="3134833"/>
            <a:ext cx="1156014" cy="843174"/>
          </a:xfrm>
          <a:prstGeom prst="rect">
            <a:avLst/>
          </a:prstGeom>
        </p:spPr>
        <p:txBody>
          <a:bodyPr>
            <a:prstTxWarp prst="textPlain"/>
          </a:bodyPr>
          <a:lstStyle/>
          <a:p>
            <a:pPr lvl="0" algn="ctr"/>
            <a:r>
              <a:rPr b="1" i="0">
                <a:ln>
                  <a:noFill/>
                </a:ln>
                <a:solidFill>
                  <a:srgbClr val="FFFFFF"/>
                </a:solidFill>
                <a:latin typeface="Century Gothic"/>
              </a:rPr>
              <a:t>COSTS</a:t>
            </a:r>
          </a:p>
        </p:txBody>
      </p:sp>
      <p:sp>
        <p:nvSpPr>
          <p:cNvPr id="213" name="Google Shape;213;p35"/>
          <p:cNvSpPr txBox="1"/>
          <p:nvPr>
            <p:ph idx="1" type="body"/>
          </p:nvPr>
        </p:nvSpPr>
        <p:spPr>
          <a:xfrm>
            <a:off x="363113" y="663843"/>
            <a:ext cx="8229600" cy="381065"/>
          </a:xfrm>
          <a:prstGeom prst="rect">
            <a:avLst/>
          </a:prstGeom>
          <a:noFill/>
          <a:ln>
            <a:noFill/>
          </a:ln>
        </p:spPr>
        <p:txBody>
          <a:bodyPr anchorCtr="0" anchor="t" bIns="0" lIns="0" spcFirstLastPara="1" rIns="0" wrap="square" tIns="0">
            <a:noAutofit/>
          </a:bodyPr>
          <a:lstStyle/>
          <a:p>
            <a:pPr indent="-114300" lvl="4" marL="0" rtl="0" algn="l">
              <a:lnSpc>
                <a:spcPct val="95000"/>
              </a:lnSpc>
              <a:spcBef>
                <a:spcPts val="0"/>
              </a:spcBef>
              <a:spcAft>
                <a:spcPts val="0"/>
              </a:spcAft>
              <a:buClr>
                <a:schemeClr val="accent2"/>
              </a:buClr>
              <a:buSzPts val="1800"/>
              <a:buChar char="​"/>
            </a:pPr>
            <a:r>
              <a:rPr lang="en-GB">
                <a:solidFill>
                  <a:schemeClr val="accent2"/>
                </a:solidFill>
              </a:rPr>
              <a:t>“Financial inclusion at 30% — Banks must grow, cut costs, and manage complexity simultaneously”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 name="Shape 217"/>
        <p:cNvGrpSpPr/>
        <p:nvPr/>
      </p:nvGrpSpPr>
      <p:grpSpPr>
        <a:xfrm>
          <a:off x="0" y="0"/>
          <a:ext cx="0" cy="0"/>
          <a:chOff x="0" y="0"/>
          <a:chExt cx="0" cy="0"/>
        </a:xfrm>
      </p:grpSpPr>
      <p:sp>
        <p:nvSpPr>
          <p:cNvPr id="218" name="Google Shape;218;p36"/>
          <p:cNvSpPr txBox="1"/>
          <p:nvPr>
            <p:ph idx="1" type="body"/>
          </p:nvPr>
        </p:nvSpPr>
        <p:spPr>
          <a:xfrm>
            <a:off x="457200" y="2876764"/>
            <a:ext cx="8229600" cy="1680167"/>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chemeClr val="dk1"/>
              </a:buClr>
              <a:buSzPts val="1400"/>
              <a:buChar char="•"/>
            </a:pPr>
            <a:r>
              <a:rPr lang="en-GB" sz="1400"/>
              <a:t>SadaPay, NayaPay: Zero-fee accounts capturing Gen-Z (8M+ users). Finja: Digital lending with instant credit scoring. Tag CBS: Cloud-native Islamic banking platform</a:t>
            </a:r>
            <a:endParaRPr/>
          </a:p>
          <a:p>
            <a:pPr indent="-169863" lvl="0" marL="169863" rtl="0" algn="l">
              <a:lnSpc>
                <a:spcPct val="95000"/>
              </a:lnSpc>
              <a:spcBef>
                <a:spcPts val="800"/>
              </a:spcBef>
              <a:spcAft>
                <a:spcPts val="0"/>
              </a:spcAft>
              <a:buClr>
                <a:schemeClr val="dk1"/>
              </a:buClr>
              <a:buSzPts val="1400"/>
              <a:buChar char="•"/>
            </a:pPr>
            <a:r>
              <a:rPr lang="en-GB" sz="1400"/>
              <a:t>JazzCash (Mobilink Microfinance Bank): 40M+ wallets. Easypaisa (Telenor Microfinance Bank): 30M+ wallets. Both now offering savings, insurance, and micro-lending</a:t>
            </a:r>
            <a:endParaRPr/>
          </a:p>
          <a:p>
            <a:pPr indent="-169863" lvl="0" marL="169863" rtl="0" algn="l">
              <a:lnSpc>
                <a:spcPct val="95000"/>
              </a:lnSpc>
              <a:spcBef>
                <a:spcPts val="800"/>
              </a:spcBef>
              <a:spcAft>
                <a:spcPts val="0"/>
              </a:spcAft>
              <a:buClr>
                <a:schemeClr val="dk1"/>
              </a:buClr>
              <a:buSzPts val="1400"/>
              <a:buChar char="•"/>
            </a:pPr>
            <a:r>
              <a:rPr lang="en-GB" sz="1400"/>
              <a:t>India’s UPI success creating pressure for RAAST acceleration. Chinese fintech (Ant Group, WeBank) eyeing CPEC corridor banking</a:t>
            </a:r>
            <a:endParaRPr/>
          </a:p>
          <a:p>
            <a:pPr indent="-169863" lvl="0" marL="169863" rtl="0" algn="l">
              <a:lnSpc>
                <a:spcPct val="95000"/>
              </a:lnSpc>
              <a:spcBef>
                <a:spcPts val="800"/>
              </a:spcBef>
              <a:spcAft>
                <a:spcPts val="0"/>
              </a:spcAft>
              <a:buClr>
                <a:schemeClr val="dk1"/>
              </a:buClr>
              <a:buSzPts val="1400"/>
              <a:buChar char="•"/>
            </a:pPr>
            <a:r>
              <a:rPr lang="en-GB" sz="1400"/>
              <a:t>Banks that cannot provide a unified, data-driven customer experience will lose their most profitable customers to digital-first competitors</a:t>
            </a:r>
            <a:endParaRPr/>
          </a:p>
          <a:p>
            <a:pPr indent="-80963" lvl="0" marL="169863" rtl="0" algn="l">
              <a:lnSpc>
                <a:spcPct val="95000"/>
              </a:lnSpc>
              <a:spcBef>
                <a:spcPts val="800"/>
              </a:spcBef>
              <a:spcAft>
                <a:spcPts val="0"/>
              </a:spcAft>
              <a:buClr>
                <a:schemeClr val="dk1"/>
              </a:buClr>
              <a:buSzPts val="1400"/>
              <a:buNone/>
            </a:pPr>
            <a:r>
              <a:t/>
            </a:r>
            <a:endParaRPr sz="1400"/>
          </a:p>
        </p:txBody>
      </p:sp>
      <p:sp>
        <p:nvSpPr>
          <p:cNvPr id="219" name="Google Shape;219;p36"/>
          <p:cNvSpPr txBox="1"/>
          <p:nvPr>
            <p:ph type="title"/>
          </p:nvPr>
        </p:nvSpPr>
        <p:spPr>
          <a:xfrm>
            <a:off x="457200" y="205688"/>
            <a:ext cx="8229600" cy="36245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Entrants Reshaping Pakistan’s Financial Landscape</a:t>
            </a:r>
            <a:endParaRPr/>
          </a:p>
        </p:txBody>
      </p:sp>
      <p:sp>
        <p:nvSpPr>
          <p:cNvPr id="220" name="Google Shape;220;p36"/>
          <p:cNvSpPr/>
          <p:nvPr/>
        </p:nvSpPr>
        <p:spPr>
          <a:xfrm>
            <a:off x="436543" y="1042881"/>
            <a:ext cx="8270914" cy="1543739"/>
          </a:xfrm>
          <a:prstGeom prst="rect">
            <a:avLst/>
          </a:prstGeom>
          <a:noFill/>
          <a:ln cap="flat" cmpd="sng" w="9525">
            <a:solidFill>
              <a:srgbClr val="898989"/>
            </a:solidFill>
            <a:prstDash val="solid"/>
            <a:round/>
            <a:headEnd len="sm" w="sm" type="none"/>
            <a:tailEnd len="sm" w="sm" type="none"/>
          </a:ln>
        </p:spPr>
        <p:txBody>
          <a:bodyPr anchorCtr="0" anchor="t" bIns="45700" lIns="91425" spcFirstLastPara="1" rIns="91425" wrap="square" tIns="45700">
            <a:noAutofit/>
          </a:bodyPr>
          <a:lstStyle/>
          <a:p>
            <a:pPr indent="0" lvl="1" marL="0" marR="0" rtl="0" algn="ctr">
              <a:spcBef>
                <a:spcPts val="0"/>
              </a:spcBef>
              <a:spcAft>
                <a:spcPts val="0"/>
              </a:spcAft>
              <a:buNone/>
            </a:pPr>
            <a:r>
              <a:t/>
            </a:r>
            <a:endParaRPr b="1" i="0" sz="1400" u="none" cap="none" strike="noStrike">
              <a:solidFill>
                <a:srgbClr val="FFFFFF"/>
              </a:solidFill>
              <a:latin typeface="Century Gothic"/>
              <a:ea typeface="Century Gothic"/>
              <a:cs typeface="Century Gothic"/>
              <a:sym typeface="Century Gothic"/>
            </a:endParaRPr>
          </a:p>
        </p:txBody>
      </p:sp>
      <p:pic>
        <p:nvPicPr>
          <p:cNvPr id="221" name="Google Shape;221;p36"/>
          <p:cNvPicPr preferRelativeResize="0"/>
          <p:nvPr/>
        </p:nvPicPr>
        <p:blipFill rotWithShape="1">
          <a:blip r:embed="rId3">
            <a:alphaModFix/>
          </a:blip>
          <a:srcRect b="0" l="0" r="0" t="0"/>
          <a:stretch/>
        </p:blipFill>
        <p:spPr>
          <a:xfrm>
            <a:off x="2177678" y="2078750"/>
            <a:ext cx="624330" cy="415463"/>
          </a:xfrm>
          <a:prstGeom prst="rect">
            <a:avLst/>
          </a:prstGeom>
          <a:noFill/>
          <a:ln>
            <a:noFill/>
          </a:ln>
        </p:spPr>
      </p:pic>
      <p:pic>
        <p:nvPicPr>
          <p:cNvPr id="222" name="Google Shape;222;p36"/>
          <p:cNvPicPr preferRelativeResize="0"/>
          <p:nvPr/>
        </p:nvPicPr>
        <p:blipFill rotWithShape="1">
          <a:blip r:embed="rId4">
            <a:alphaModFix/>
          </a:blip>
          <a:srcRect b="0" l="0" r="0" t="0"/>
          <a:stretch/>
        </p:blipFill>
        <p:spPr>
          <a:xfrm>
            <a:off x="4908903" y="1764410"/>
            <a:ext cx="628366" cy="251888"/>
          </a:xfrm>
          <a:prstGeom prst="rect">
            <a:avLst/>
          </a:prstGeom>
          <a:noFill/>
          <a:ln>
            <a:noFill/>
          </a:ln>
        </p:spPr>
      </p:pic>
      <p:pic>
        <p:nvPicPr>
          <p:cNvPr id="223" name="Google Shape;223;p36"/>
          <p:cNvPicPr preferRelativeResize="0"/>
          <p:nvPr/>
        </p:nvPicPr>
        <p:blipFill rotWithShape="1">
          <a:blip r:embed="rId5">
            <a:alphaModFix/>
          </a:blip>
          <a:srcRect b="0" l="0" r="0" t="0"/>
          <a:stretch/>
        </p:blipFill>
        <p:spPr>
          <a:xfrm>
            <a:off x="611634" y="2147652"/>
            <a:ext cx="802911" cy="294329"/>
          </a:xfrm>
          <a:prstGeom prst="rect">
            <a:avLst/>
          </a:prstGeom>
          <a:noFill/>
          <a:ln>
            <a:noFill/>
          </a:ln>
        </p:spPr>
      </p:pic>
      <p:pic>
        <p:nvPicPr>
          <p:cNvPr id="224" name="Google Shape;224;p36"/>
          <p:cNvPicPr preferRelativeResize="0"/>
          <p:nvPr/>
        </p:nvPicPr>
        <p:blipFill rotWithShape="1">
          <a:blip r:embed="rId6">
            <a:alphaModFix/>
          </a:blip>
          <a:srcRect b="0" l="0" r="0" t="0"/>
          <a:stretch/>
        </p:blipFill>
        <p:spPr>
          <a:xfrm>
            <a:off x="6989010" y="1701303"/>
            <a:ext cx="574529" cy="243110"/>
          </a:xfrm>
          <a:prstGeom prst="rect">
            <a:avLst/>
          </a:prstGeom>
          <a:noFill/>
          <a:ln>
            <a:noFill/>
          </a:ln>
        </p:spPr>
      </p:pic>
      <p:pic>
        <p:nvPicPr>
          <p:cNvPr id="225" name="Google Shape;225;p36"/>
          <p:cNvPicPr preferRelativeResize="0"/>
          <p:nvPr/>
        </p:nvPicPr>
        <p:blipFill rotWithShape="1">
          <a:blip r:embed="rId7">
            <a:alphaModFix/>
          </a:blip>
          <a:srcRect b="0" l="0" r="0" t="0"/>
          <a:stretch/>
        </p:blipFill>
        <p:spPr>
          <a:xfrm>
            <a:off x="4076401" y="1975612"/>
            <a:ext cx="371049" cy="449260"/>
          </a:xfrm>
          <a:prstGeom prst="rect">
            <a:avLst/>
          </a:prstGeom>
          <a:noFill/>
          <a:ln>
            <a:noFill/>
          </a:ln>
        </p:spPr>
      </p:pic>
      <p:pic>
        <p:nvPicPr>
          <p:cNvPr id="226" name="Google Shape;226;p36"/>
          <p:cNvPicPr preferRelativeResize="0"/>
          <p:nvPr/>
        </p:nvPicPr>
        <p:blipFill rotWithShape="1">
          <a:blip r:embed="rId8">
            <a:alphaModFix/>
          </a:blip>
          <a:srcRect b="0" l="0" r="0" t="0"/>
          <a:stretch/>
        </p:blipFill>
        <p:spPr>
          <a:xfrm>
            <a:off x="1341043" y="1776016"/>
            <a:ext cx="695325" cy="244651"/>
          </a:xfrm>
          <a:prstGeom prst="rect">
            <a:avLst/>
          </a:prstGeom>
          <a:noFill/>
          <a:ln>
            <a:noFill/>
          </a:ln>
        </p:spPr>
      </p:pic>
      <p:pic>
        <p:nvPicPr>
          <p:cNvPr id="227" name="Google Shape;227;p36"/>
          <p:cNvPicPr preferRelativeResize="0"/>
          <p:nvPr/>
        </p:nvPicPr>
        <p:blipFill rotWithShape="1">
          <a:blip r:embed="rId9">
            <a:alphaModFix/>
          </a:blip>
          <a:srcRect b="0" l="0" r="0" t="0"/>
          <a:stretch/>
        </p:blipFill>
        <p:spPr>
          <a:xfrm>
            <a:off x="6023034" y="1304469"/>
            <a:ext cx="615002" cy="296112"/>
          </a:xfrm>
          <a:prstGeom prst="rect">
            <a:avLst/>
          </a:prstGeom>
          <a:noFill/>
          <a:ln>
            <a:noFill/>
          </a:ln>
        </p:spPr>
      </p:pic>
      <p:pic>
        <p:nvPicPr>
          <p:cNvPr id="228" name="Google Shape;228;p36"/>
          <p:cNvPicPr preferRelativeResize="0"/>
          <p:nvPr/>
        </p:nvPicPr>
        <p:blipFill rotWithShape="1">
          <a:blip r:embed="rId10">
            <a:alphaModFix/>
          </a:blip>
          <a:srcRect b="0" l="0" r="0" t="0"/>
          <a:stretch/>
        </p:blipFill>
        <p:spPr>
          <a:xfrm>
            <a:off x="7808170" y="1966896"/>
            <a:ext cx="624604" cy="467850"/>
          </a:xfrm>
          <a:prstGeom prst="rect">
            <a:avLst/>
          </a:prstGeom>
          <a:noFill/>
          <a:ln>
            <a:noFill/>
          </a:ln>
        </p:spPr>
      </p:pic>
      <p:pic>
        <p:nvPicPr>
          <p:cNvPr id="229" name="Google Shape;229;p36"/>
          <p:cNvPicPr preferRelativeResize="0"/>
          <p:nvPr/>
        </p:nvPicPr>
        <p:blipFill rotWithShape="1">
          <a:blip r:embed="rId11">
            <a:alphaModFix/>
          </a:blip>
          <a:srcRect b="0" l="0" r="0" t="0"/>
          <a:stretch/>
        </p:blipFill>
        <p:spPr>
          <a:xfrm>
            <a:off x="2105237" y="1295782"/>
            <a:ext cx="737263" cy="281537"/>
          </a:xfrm>
          <a:prstGeom prst="rect">
            <a:avLst/>
          </a:prstGeom>
          <a:noFill/>
          <a:ln>
            <a:noFill/>
          </a:ln>
        </p:spPr>
      </p:pic>
      <p:pic>
        <p:nvPicPr>
          <p:cNvPr id="230" name="Google Shape;230;p36"/>
          <p:cNvPicPr preferRelativeResize="0"/>
          <p:nvPr/>
        </p:nvPicPr>
        <p:blipFill rotWithShape="1">
          <a:blip r:embed="rId12">
            <a:alphaModFix/>
          </a:blip>
          <a:srcRect b="0" l="0" r="0" t="0"/>
          <a:stretch/>
        </p:blipFill>
        <p:spPr>
          <a:xfrm>
            <a:off x="614919" y="1128807"/>
            <a:ext cx="615488" cy="615488"/>
          </a:xfrm>
          <a:prstGeom prst="rect">
            <a:avLst/>
          </a:prstGeom>
          <a:noFill/>
          <a:ln>
            <a:noFill/>
          </a:ln>
        </p:spPr>
      </p:pic>
      <p:pic>
        <p:nvPicPr>
          <p:cNvPr id="231" name="Google Shape;231;p36"/>
          <p:cNvPicPr preferRelativeResize="0"/>
          <p:nvPr/>
        </p:nvPicPr>
        <p:blipFill rotWithShape="1">
          <a:blip r:embed="rId13">
            <a:alphaModFix/>
          </a:blip>
          <a:srcRect b="0" l="0" r="0" t="0"/>
          <a:stretch/>
        </p:blipFill>
        <p:spPr>
          <a:xfrm>
            <a:off x="2966284" y="1598019"/>
            <a:ext cx="673930" cy="504797"/>
          </a:xfrm>
          <a:prstGeom prst="rect">
            <a:avLst/>
          </a:prstGeom>
          <a:noFill/>
          <a:ln>
            <a:noFill/>
          </a:ln>
        </p:spPr>
      </p:pic>
      <p:pic>
        <p:nvPicPr>
          <p:cNvPr id="232" name="Google Shape;232;p36"/>
          <p:cNvPicPr preferRelativeResize="0"/>
          <p:nvPr/>
        </p:nvPicPr>
        <p:blipFill rotWithShape="1">
          <a:blip r:embed="rId14">
            <a:alphaModFix/>
          </a:blip>
          <a:srcRect b="0" l="0" r="0" t="0"/>
          <a:stretch/>
        </p:blipFill>
        <p:spPr>
          <a:xfrm>
            <a:off x="3585655" y="1332982"/>
            <a:ext cx="1362075" cy="255060"/>
          </a:xfrm>
          <a:prstGeom prst="rect">
            <a:avLst/>
          </a:prstGeom>
          <a:noFill/>
          <a:ln>
            <a:noFill/>
          </a:ln>
        </p:spPr>
      </p:pic>
      <p:pic>
        <p:nvPicPr>
          <p:cNvPr id="233" name="Google Shape;233;p36"/>
          <p:cNvPicPr preferRelativeResize="0"/>
          <p:nvPr/>
        </p:nvPicPr>
        <p:blipFill rotWithShape="1">
          <a:blip r:embed="rId15">
            <a:alphaModFix/>
          </a:blip>
          <a:srcRect b="0" l="0" r="0" t="0"/>
          <a:stretch/>
        </p:blipFill>
        <p:spPr>
          <a:xfrm>
            <a:off x="5972292" y="1850034"/>
            <a:ext cx="705477" cy="634036"/>
          </a:xfrm>
          <a:prstGeom prst="rect">
            <a:avLst/>
          </a:prstGeom>
          <a:noFill/>
          <a:ln>
            <a:noFill/>
          </a:ln>
        </p:spPr>
      </p:pic>
      <p:pic>
        <p:nvPicPr>
          <p:cNvPr id="234" name="Google Shape;234;p36"/>
          <p:cNvPicPr preferRelativeResize="0"/>
          <p:nvPr/>
        </p:nvPicPr>
        <p:blipFill rotWithShape="1">
          <a:blip r:embed="rId16">
            <a:alphaModFix/>
          </a:blip>
          <a:srcRect b="0" l="0" r="0" t="0"/>
          <a:stretch/>
        </p:blipFill>
        <p:spPr>
          <a:xfrm>
            <a:off x="7739612" y="1173800"/>
            <a:ext cx="742169" cy="555910"/>
          </a:xfrm>
          <a:prstGeom prst="rect">
            <a:avLst/>
          </a:prstGeom>
          <a:noFill/>
          <a:ln>
            <a:noFill/>
          </a:ln>
        </p:spPr>
      </p:pic>
      <p:sp>
        <p:nvSpPr>
          <p:cNvPr id="235" name="Google Shape;235;p36"/>
          <p:cNvSpPr/>
          <p:nvPr/>
        </p:nvSpPr>
        <p:spPr>
          <a:xfrm>
            <a:off x="428625" y="787290"/>
            <a:ext cx="8286750" cy="307777"/>
          </a:xfrm>
          <a:prstGeom prst="rect">
            <a:avLst/>
          </a:prstGeom>
          <a:solidFill>
            <a:schemeClr val="dk2"/>
          </a:solidFill>
          <a:ln>
            <a:noFill/>
          </a:ln>
        </p:spPr>
        <p:txBody>
          <a:bodyPr anchorCtr="0" anchor="t" bIns="45700" lIns="91425" spcFirstLastPara="1" rIns="91425" wrap="square" tIns="45700">
            <a:noAutofit/>
          </a:bodyPr>
          <a:lstStyle/>
          <a:p>
            <a:pPr indent="0" lvl="1" marL="0" marR="0" rtl="0" algn="ctr">
              <a:spcBef>
                <a:spcPts val="0"/>
              </a:spcBef>
              <a:spcAft>
                <a:spcPts val="0"/>
              </a:spcAft>
              <a:buNone/>
            </a:pPr>
            <a:r>
              <a:rPr b="1" i="0" lang="en-GB" sz="1400" u="none" cap="none" strike="noStrike">
                <a:solidFill>
                  <a:srgbClr val="FFFFFF"/>
                </a:solidFill>
                <a:latin typeface="Century Gothic"/>
                <a:ea typeface="Century Gothic"/>
                <a:cs typeface="Century Gothic"/>
                <a:sym typeface="Century Gothic"/>
              </a:rPr>
              <a:t>DIGITAL DISRUPTORS, TELECOM-LED BANKING &amp; REGIONAL THREATS</a:t>
            </a:r>
            <a:endParaRPr b="1" i="0" sz="1400" u="none" cap="none" strike="noStrike">
              <a:solidFill>
                <a:srgbClr val="FFFFFF"/>
              </a:solidFill>
              <a:latin typeface="Century Gothic"/>
              <a:ea typeface="Century Gothic"/>
              <a:cs typeface="Century Gothic"/>
              <a:sym typeface="Century Gothic"/>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37"/>
          <p:cNvSpPr txBox="1"/>
          <p:nvPr>
            <p:ph type="title"/>
          </p:nvPr>
        </p:nvSpPr>
        <p:spPr>
          <a:xfrm>
            <a:off x="457200" y="205688"/>
            <a:ext cx="8229600" cy="36245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Two Speeds of Transformation in Banking</a:t>
            </a:r>
            <a:endParaRPr/>
          </a:p>
        </p:txBody>
      </p:sp>
      <p:sp>
        <p:nvSpPr>
          <p:cNvPr id="241" name="Google Shape;241;p37"/>
          <p:cNvSpPr txBox="1"/>
          <p:nvPr>
            <p:ph idx="1" type="body"/>
          </p:nvPr>
        </p:nvSpPr>
        <p:spPr>
          <a:xfrm>
            <a:off x="1485900" y="3723579"/>
            <a:ext cx="2914650" cy="961328"/>
          </a:xfrm>
          <a:prstGeom prst="rect">
            <a:avLst/>
          </a:prstGeom>
          <a:noFill/>
          <a:ln>
            <a:noFill/>
          </a:ln>
        </p:spPr>
        <p:txBody>
          <a:bodyPr anchorCtr="0" anchor="t" bIns="0" lIns="0" spcFirstLastPara="1" rIns="0" wrap="square" tIns="0">
            <a:noAutofit/>
          </a:bodyPr>
          <a:lstStyle/>
          <a:p>
            <a:pPr indent="0" lvl="0" marL="0" rtl="0" algn="l">
              <a:lnSpc>
                <a:spcPct val="120000"/>
              </a:lnSpc>
              <a:spcBef>
                <a:spcPts val="0"/>
              </a:spcBef>
              <a:spcAft>
                <a:spcPts val="0"/>
              </a:spcAft>
              <a:buClr>
                <a:srgbClr val="FF0000"/>
              </a:buClr>
              <a:buSzPts val="1200"/>
              <a:buNone/>
            </a:pPr>
            <a:r>
              <a:rPr lang="en-GB" sz="1200">
                <a:solidFill>
                  <a:srgbClr val="FF0000"/>
                </a:solidFill>
              </a:rPr>
              <a:t>Disruptive (6-18 months): Real-time personalization engine, AI-driven credit scoring for unbanked segments, instant cross-border remittances via RAAST + RDA, dynamic pricing using customer profitability analytics.</a:t>
            </a:r>
            <a:endParaRPr/>
          </a:p>
        </p:txBody>
      </p:sp>
      <p:pic>
        <p:nvPicPr>
          <p:cNvPr id="242" name="Google Shape;242;p37"/>
          <p:cNvPicPr preferRelativeResize="0"/>
          <p:nvPr/>
        </p:nvPicPr>
        <p:blipFill rotWithShape="1">
          <a:blip r:embed="rId3">
            <a:alphaModFix/>
          </a:blip>
          <a:srcRect b="0" l="0" r="0" t="0"/>
          <a:stretch/>
        </p:blipFill>
        <p:spPr>
          <a:xfrm>
            <a:off x="2406712" y="1103549"/>
            <a:ext cx="4291268" cy="2466634"/>
          </a:xfrm>
          <a:prstGeom prst="rect">
            <a:avLst/>
          </a:prstGeom>
          <a:noFill/>
          <a:ln>
            <a:noFill/>
          </a:ln>
        </p:spPr>
      </p:pic>
      <p:sp>
        <p:nvSpPr>
          <p:cNvPr id="243" name="Google Shape;243;p37"/>
          <p:cNvSpPr txBox="1"/>
          <p:nvPr/>
        </p:nvSpPr>
        <p:spPr>
          <a:xfrm>
            <a:off x="4775040" y="3723579"/>
            <a:ext cx="2914650" cy="961328"/>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chemeClr val="dk1"/>
              </a:buClr>
              <a:buSzPts val="1200"/>
              <a:buFont typeface="Arial"/>
              <a:buNone/>
            </a:pPr>
            <a:r>
              <a:rPr b="0" lang="en-GB" sz="1200">
                <a:solidFill>
                  <a:schemeClr val="dk1"/>
                </a:solidFill>
                <a:latin typeface="Century Gothic"/>
                <a:ea typeface="Century Gothic"/>
                <a:cs typeface="Century Gothic"/>
                <a:sym typeface="Century Gothic"/>
              </a:rPr>
              <a:t>Transformational (18-36 months): Build enterprise data warehouse on FSDM with 3,917 entities. Implement Activity-Based Costing. Deploy IFRS 9 ECL engine. Create unified FTP based on KIBOR term structure. Customer profitability at account level.</a:t>
            </a:r>
            <a:endParaRPr/>
          </a:p>
          <a:p>
            <a:pPr indent="0" lvl="0" marL="0" marR="0" rtl="0" algn="l">
              <a:lnSpc>
                <a:spcPct val="100000"/>
              </a:lnSpc>
              <a:spcBef>
                <a:spcPts val="800"/>
              </a:spcBef>
              <a:spcAft>
                <a:spcPts val="0"/>
              </a:spcAft>
              <a:buClr>
                <a:schemeClr val="dk1"/>
              </a:buClr>
              <a:buSzPts val="1200"/>
              <a:buFont typeface="Arial"/>
              <a:buNone/>
            </a:pPr>
            <a:r>
              <a:t/>
            </a:r>
            <a:endParaRPr b="0" sz="1200">
              <a:solidFill>
                <a:schemeClr val="dk1"/>
              </a:solidFill>
              <a:latin typeface="Century Gothic"/>
              <a:ea typeface="Century Gothic"/>
              <a:cs typeface="Century Gothic"/>
              <a:sym typeface="Century Gothic"/>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38"/>
          <p:cNvSpPr txBox="1"/>
          <p:nvPr>
            <p:ph idx="1" type="body"/>
          </p:nvPr>
        </p:nvSpPr>
        <p:spPr>
          <a:xfrm>
            <a:off x="1487606" y="1060284"/>
            <a:ext cx="7334132" cy="3496648"/>
          </a:xfrm>
          <a:prstGeom prst="rect">
            <a:avLst/>
          </a:prstGeom>
          <a:noFill/>
          <a:ln>
            <a:noFill/>
          </a:ln>
        </p:spPr>
        <p:txBody>
          <a:bodyPr anchorCtr="0" anchor="t" bIns="0" lIns="0" spcFirstLastPara="1" rIns="0" wrap="square" tIns="0">
            <a:noAutofit/>
          </a:bodyPr>
          <a:lstStyle/>
          <a:p>
            <a:pPr indent="-101600" lvl="4" marL="0" rtl="0" algn="l">
              <a:lnSpc>
                <a:spcPct val="95000"/>
              </a:lnSpc>
              <a:spcBef>
                <a:spcPts val="0"/>
              </a:spcBef>
              <a:spcAft>
                <a:spcPts val="0"/>
              </a:spcAft>
              <a:buClr>
                <a:schemeClr val="accent1"/>
              </a:buClr>
              <a:buSzPts val="1600"/>
              <a:buChar char="​"/>
            </a:pPr>
            <a:r>
              <a:rPr lang="en-GB" sz="1600"/>
              <a:t>Grow Through Customer Intelligence:</a:t>
            </a:r>
            <a:endParaRPr/>
          </a:p>
          <a:p>
            <a:pPr indent="-173038" lvl="0" marL="173038" rtl="0" algn="l">
              <a:lnSpc>
                <a:spcPct val="95000"/>
              </a:lnSpc>
              <a:spcBef>
                <a:spcPts val="500"/>
              </a:spcBef>
              <a:spcAft>
                <a:spcPts val="0"/>
              </a:spcAft>
              <a:buClr>
                <a:schemeClr val="dk1"/>
              </a:buClr>
              <a:buSzPts val="1200"/>
              <a:buChar char="•"/>
            </a:pPr>
            <a:r>
              <a:rPr i="1" lang="en-GB" sz="1200"/>
              <a:t>Build Multi-Dimensional Customer View</a:t>
            </a:r>
            <a:r>
              <a:rPr lang="en-GB" sz="1200"/>
              <a:t> (FSDM: INDVDL, ACCT, CNTCT, EVNT across 16 domains)</a:t>
            </a:r>
            <a:endParaRPr sz="1200"/>
          </a:p>
          <a:p>
            <a:pPr indent="-173038" lvl="0" marL="173038" rtl="0" algn="l">
              <a:lnSpc>
                <a:spcPct val="95000"/>
              </a:lnSpc>
              <a:spcBef>
                <a:spcPts val="500"/>
              </a:spcBef>
              <a:spcAft>
                <a:spcPts val="0"/>
              </a:spcAft>
              <a:buClr>
                <a:schemeClr val="dk1"/>
              </a:buClr>
              <a:buSzPts val="1200"/>
              <a:buChar char="•"/>
            </a:pPr>
            <a:r>
              <a:rPr lang="en-GB" sz="1200"/>
              <a:t>Identify actual needs through transaction classification and behavioral segmentation</a:t>
            </a:r>
            <a:endParaRPr/>
          </a:p>
          <a:p>
            <a:pPr indent="-173038" lvl="0" marL="173038" rtl="0" algn="l">
              <a:lnSpc>
                <a:spcPct val="95000"/>
              </a:lnSpc>
              <a:spcBef>
                <a:spcPts val="500"/>
              </a:spcBef>
              <a:spcAft>
                <a:spcPts val="0"/>
              </a:spcAft>
              <a:buClr>
                <a:schemeClr val="dk1"/>
              </a:buClr>
              <a:buSzPts val="1200"/>
              <a:buChar char="•"/>
            </a:pPr>
            <a:r>
              <a:rPr lang="en-GB" sz="1200"/>
              <a:t>Optimize offers using profitability-aware Next Best Action engines</a:t>
            </a:r>
            <a:endParaRPr sz="1200"/>
          </a:p>
          <a:p>
            <a:pPr indent="-173038" lvl="0" marL="173038" rtl="0" algn="l">
              <a:lnSpc>
                <a:spcPct val="95000"/>
              </a:lnSpc>
              <a:spcBef>
                <a:spcPts val="500"/>
              </a:spcBef>
              <a:spcAft>
                <a:spcPts val="0"/>
              </a:spcAft>
              <a:buClr>
                <a:schemeClr val="dk1"/>
              </a:buClr>
              <a:buSzPts val="1200"/>
              <a:buChar char="•"/>
            </a:pPr>
            <a:r>
              <a:rPr lang="en-GB" sz="1200"/>
              <a:t>Target the right moment via event-driven marketing (FSDM Event domain: 109 entities)</a:t>
            </a:r>
            <a:endParaRPr sz="1200"/>
          </a:p>
          <a:p>
            <a:pPr indent="-101600" lvl="4" marL="0" rtl="0" algn="l">
              <a:lnSpc>
                <a:spcPct val="95000"/>
              </a:lnSpc>
              <a:spcBef>
                <a:spcPts val="800"/>
              </a:spcBef>
              <a:spcAft>
                <a:spcPts val="0"/>
              </a:spcAft>
              <a:buClr>
                <a:schemeClr val="accent1"/>
              </a:buClr>
              <a:buSzPts val="1600"/>
              <a:buChar char="​"/>
            </a:pPr>
            <a:r>
              <a:rPr lang="en-GB" sz="1600"/>
              <a:t>Reduce Costs Through Analytics Automation:</a:t>
            </a:r>
            <a:endParaRPr/>
          </a:p>
          <a:p>
            <a:pPr indent="-173038" lvl="0" marL="173038" rtl="0" algn="l">
              <a:lnSpc>
                <a:spcPct val="95000"/>
              </a:lnSpc>
              <a:spcBef>
                <a:spcPts val="500"/>
              </a:spcBef>
              <a:spcAft>
                <a:spcPts val="0"/>
              </a:spcAft>
              <a:buClr>
                <a:schemeClr val="dk1"/>
              </a:buClr>
              <a:buSzPts val="1200"/>
              <a:buChar char="•"/>
            </a:pPr>
            <a:r>
              <a:rPr lang="en-GB" sz="1200"/>
              <a:t>Replace manual reconciliation with automated matching engines</a:t>
            </a:r>
            <a:endParaRPr/>
          </a:p>
          <a:p>
            <a:pPr indent="-173038" lvl="0" marL="173038" rtl="0" algn="l">
              <a:lnSpc>
                <a:spcPct val="95000"/>
              </a:lnSpc>
              <a:spcBef>
                <a:spcPts val="500"/>
              </a:spcBef>
              <a:spcAft>
                <a:spcPts val="0"/>
              </a:spcAft>
              <a:buClr>
                <a:schemeClr val="dk1"/>
              </a:buClr>
              <a:buSzPts val="1200"/>
              <a:buChar char="•"/>
            </a:pPr>
            <a:r>
              <a:rPr lang="en-GB" sz="1200"/>
              <a:t>Reduce regulatory reporting from weeks to hours via integrated data layer</a:t>
            </a:r>
            <a:endParaRPr/>
          </a:p>
          <a:p>
            <a:pPr indent="-173038" lvl="0" marL="173038" rtl="0" algn="l">
              <a:lnSpc>
                <a:spcPct val="95000"/>
              </a:lnSpc>
              <a:spcBef>
                <a:spcPts val="500"/>
              </a:spcBef>
              <a:spcAft>
                <a:spcPts val="0"/>
              </a:spcAft>
              <a:buClr>
                <a:schemeClr val="dk1"/>
              </a:buClr>
              <a:buSzPts val="1200"/>
              <a:buChar char="•"/>
            </a:pPr>
            <a:r>
              <a:rPr lang="en-GB" sz="1200"/>
              <a:t>Deploy straight-through-processing for trade finance and payments</a:t>
            </a:r>
            <a:endParaRPr/>
          </a:p>
          <a:p>
            <a:pPr indent="-101600" lvl="4" marL="0" rtl="0" algn="l">
              <a:lnSpc>
                <a:spcPct val="95000"/>
              </a:lnSpc>
              <a:spcBef>
                <a:spcPts val="800"/>
              </a:spcBef>
              <a:spcAft>
                <a:spcPts val="0"/>
              </a:spcAft>
              <a:buClr>
                <a:schemeClr val="accent1"/>
              </a:buClr>
              <a:buSzPts val="1600"/>
              <a:buChar char="​"/>
            </a:pPr>
            <a:r>
              <a:rPr lang="en-GB" sz="1600"/>
              <a:t>Improve Management Through Transparency:</a:t>
            </a:r>
            <a:endParaRPr/>
          </a:p>
          <a:p>
            <a:pPr indent="-173038" lvl="0" marL="173038" rtl="0" algn="l">
              <a:lnSpc>
                <a:spcPct val="95000"/>
              </a:lnSpc>
              <a:spcBef>
                <a:spcPts val="500"/>
              </a:spcBef>
              <a:spcAft>
                <a:spcPts val="0"/>
              </a:spcAft>
              <a:buClr>
                <a:schemeClr val="dk1"/>
              </a:buClr>
              <a:buSzPts val="1200"/>
              <a:buChar char="•"/>
            </a:pPr>
            <a:r>
              <a:rPr lang="en-GB" sz="1200"/>
              <a:t>FACT_CUSTOMER_PROFITABILITY: Revenue - Direct Cost - Allocated Cost - Risk Cost</a:t>
            </a:r>
            <a:endParaRPr sz="1200"/>
          </a:p>
          <a:p>
            <a:pPr indent="-173038" lvl="0" marL="173038" rtl="0" algn="l">
              <a:lnSpc>
                <a:spcPct val="95000"/>
              </a:lnSpc>
              <a:spcBef>
                <a:spcPts val="500"/>
              </a:spcBef>
              <a:spcAft>
                <a:spcPts val="0"/>
              </a:spcAft>
              <a:buClr>
                <a:schemeClr val="dk1"/>
              </a:buClr>
              <a:buSzPts val="1200"/>
              <a:buChar char="•"/>
            </a:pPr>
            <a:r>
              <a:rPr lang="en-GB" sz="1200"/>
              <a:t>7-dimensional analysis: Customer x Product x Channel x Branch x Time x Segment x Business</a:t>
            </a:r>
            <a:endParaRPr sz="1200"/>
          </a:p>
          <a:p>
            <a:pPr indent="-173038" lvl="0" marL="173038" rtl="0" algn="l">
              <a:lnSpc>
                <a:spcPct val="95000"/>
              </a:lnSpc>
              <a:spcBef>
                <a:spcPts val="500"/>
              </a:spcBef>
              <a:spcAft>
                <a:spcPts val="0"/>
              </a:spcAft>
              <a:buClr>
                <a:schemeClr val="dk1"/>
              </a:buClr>
              <a:buSzPts val="1200"/>
              <a:buChar char="•"/>
            </a:pPr>
            <a:r>
              <a:rPr lang="en-GB" sz="1200"/>
              <a:t>Funds Transfer Pricing providing true cost-of-funds at account level using KIBOR term structure</a:t>
            </a:r>
            <a:endParaRPr sz="1200"/>
          </a:p>
          <a:p>
            <a:pPr indent="-71438" lvl="0" marL="173038" rtl="0" algn="l">
              <a:lnSpc>
                <a:spcPct val="95000"/>
              </a:lnSpc>
              <a:spcBef>
                <a:spcPts val="500"/>
              </a:spcBef>
              <a:spcAft>
                <a:spcPts val="0"/>
              </a:spcAft>
              <a:buClr>
                <a:schemeClr val="dk1"/>
              </a:buClr>
              <a:buSzPts val="1600"/>
              <a:buNone/>
            </a:pPr>
            <a:r>
              <a:t/>
            </a:r>
            <a:endParaRPr sz="1600"/>
          </a:p>
          <a:p>
            <a:pPr indent="-68263" lvl="0" marL="169863" rtl="0" algn="l">
              <a:lnSpc>
                <a:spcPct val="95000"/>
              </a:lnSpc>
              <a:spcBef>
                <a:spcPts val="800"/>
              </a:spcBef>
              <a:spcAft>
                <a:spcPts val="0"/>
              </a:spcAft>
              <a:buClr>
                <a:schemeClr val="dk1"/>
              </a:buClr>
              <a:buSzPts val="1600"/>
              <a:buNone/>
            </a:pPr>
            <a:r>
              <a:t/>
            </a:r>
            <a:endParaRPr sz="1600"/>
          </a:p>
        </p:txBody>
      </p:sp>
      <p:sp>
        <p:nvSpPr>
          <p:cNvPr id="249" name="Google Shape;249;p38"/>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Data-Driven Re-invention — The Only Path Forward</a:t>
            </a:r>
            <a:endParaRPr/>
          </a:p>
        </p:txBody>
      </p:sp>
      <p:grpSp>
        <p:nvGrpSpPr>
          <p:cNvPr id="250" name="Google Shape;250;p38"/>
          <p:cNvGrpSpPr/>
          <p:nvPr/>
        </p:nvGrpSpPr>
        <p:grpSpPr>
          <a:xfrm>
            <a:off x="-141969" y="800645"/>
            <a:ext cx="1759186" cy="1759185"/>
            <a:chOff x="5564851" y="3371799"/>
            <a:chExt cx="4023721" cy="4023721"/>
          </a:xfrm>
        </p:grpSpPr>
        <p:grpSp>
          <p:nvGrpSpPr>
            <p:cNvPr id="251" name="Google Shape;251;p38"/>
            <p:cNvGrpSpPr/>
            <p:nvPr/>
          </p:nvGrpSpPr>
          <p:grpSpPr>
            <a:xfrm rot="2778069">
              <a:off x="6153746" y="3960691"/>
              <a:ext cx="2845933" cy="2845936"/>
              <a:chOff x="7431681" y="4805153"/>
              <a:chExt cx="1415051" cy="1415051"/>
            </a:xfrm>
          </p:grpSpPr>
          <p:sp>
            <p:nvSpPr>
              <p:cNvPr id="252" name="Google Shape;252;p38"/>
              <p:cNvSpPr/>
              <p:nvPr/>
            </p:nvSpPr>
            <p:spPr>
              <a:xfrm rot="-2952627">
                <a:off x="7637557" y="5011029"/>
                <a:ext cx="1003300" cy="1003300"/>
              </a:xfrm>
              <a:prstGeom prst="blockArc">
                <a:avLst>
                  <a:gd fmla="val 12031555" name="adj1"/>
                  <a:gd fmla="val 19098186" name="adj2"/>
                  <a:gd fmla="val 22208"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3" name="Google Shape;253;p38"/>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 name="Google Shape;254;p38"/>
              <p:cNvSpPr/>
              <p:nvPr/>
            </p:nvSpPr>
            <p:spPr>
              <a:xfrm rot="-10333794">
                <a:off x="7634383" y="5007854"/>
                <a:ext cx="1003300" cy="1003300"/>
              </a:xfrm>
              <a:prstGeom prst="blockArc">
                <a:avLst>
                  <a:gd fmla="val 12031555" name="adj1"/>
                  <a:gd fmla="val 19379912" name="adj2"/>
                  <a:gd fmla="val 22124"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55" name="Google Shape;255;p38"/>
            <p:cNvGrpSpPr/>
            <p:nvPr/>
          </p:nvGrpSpPr>
          <p:grpSpPr>
            <a:xfrm>
              <a:off x="6488702" y="4523454"/>
              <a:ext cx="1879462" cy="1937171"/>
              <a:chOff x="6488702" y="4523454"/>
              <a:chExt cx="1879462" cy="1937171"/>
            </a:xfrm>
          </p:grpSpPr>
          <p:sp>
            <p:nvSpPr>
              <p:cNvPr id="256" name="Google Shape;256;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7" name="Google Shape;257;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8" name="Google Shape;258;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grpSp>
        <p:nvGrpSpPr>
          <p:cNvPr id="259" name="Google Shape;259;p38"/>
          <p:cNvGrpSpPr/>
          <p:nvPr/>
        </p:nvGrpSpPr>
        <p:grpSpPr>
          <a:xfrm>
            <a:off x="-141969" y="2023310"/>
            <a:ext cx="1759186" cy="1759185"/>
            <a:chOff x="5564851" y="3371799"/>
            <a:chExt cx="4023721" cy="4023721"/>
          </a:xfrm>
        </p:grpSpPr>
        <p:grpSp>
          <p:nvGrpSpPr>
            <p:cNvPr id="260" name="Google Shape;260;p38"/>
            <p:cNvGrpSpPr/>
            <p:nvPr/>
          </p:nvGrpSpPr>
          <p:grpSpPr>
            <a:xfrm rot="2778069">
              <a:off x="6153746" y="3960691"/>
              <a:ext cx="2845933" cy="2845936"/>
              <a:chOff x="7431681" y="4805153"/>
              <a:chExt cx="1415051" cy="1415051"/>
            </a:xfrm>
          </p:grpSpPr>
          <p:sp>
            <p:nvSpPr>
              <p:cNvPr id="261" name="Google Shape;261;p38"/>
              <p:cNvSpPr/>
              <p:nvPr/>
            </p:nvSpPr>
            <p:spPr>
              <a:xfrm rot="-2952627">
                <a:off x="7637557" y="5011029"/>
                <a:ext cx="1003300" cy="1003300"/>
              </a:xfrm>
              <a:prstGeom prst="blockArc">
                <a:avLst>
                  <a:gd fmla="val 12031555" name="adj1"/>
                  <a:gd fmla="val 19098186" name="adj2"/>
                  <a:gd fmla="val 22208"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 name="Google Shape;262;p38"/>
              <p:cNvSpPr/>
              <p:nvPr/>
            </p:nvSpPr>
            <p:spPr>
              <a:xfrm rot="4232734">
                <a:off x="7637556" y="5007854"/>
                <a:ext cx="1003300" cy="1003300"/>
              </a:xfrm>
              <a:prstGeom prst="blockArc">
                <a:avLst>
                  <a:gd fmla="val 11879251" name="adj1"/>
                  <a:gd fmla="val 19098186" name="adj2"/>
                  <a:gd fmla="val 22208" name="adj3"/>
                </a:avLst>
              </a:pr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3" name="Google Shape;263;p38"/>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64" name="Google Shape;264;p38"/>
            <p:cNvGrpSpPr/>
            <p:nvPr/>
          </p:nvGrpSpPr>
          <p:grpSpPr>
            <a:xfrm>
              <a:off x="6488702" y="4523454"/>
              <a:ext cx="1879462" cy="1937171"/>
              <a:chOff x="6488702" y="4523454"/>
              <a:chExt cx="1879462" cy="1937171"/>
            </a:xfrm>
          </p:grpSpPr>
          <p:sp>
            <p:nvSpPr>
              <p:cNvPr id="265" name="Google Shape;265;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6" name="Google Shape;266;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 name="Google Shape;267;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grpSp>
        <p:nvGrpSpPr>
          <p:cNvPr id="268" name="Google Shape;268;p38"/>
          <p:cNvGrpSpPr/>
          <p:nvPr/>
        </p:nvGrpSpPr>
        <p:grpSpPr>
          <a:xfrm>
            <a:off x="-141969" y="3168883"/>
            <a:ext cx="1759186" cy="1759185"/>
            <a:chOff x="5564851" y="3371799"/>
            <a:chExt cx="4023721" cy="4023721"/>
          </a:xfrm>
        </p:grpSpPr>
        <p:grpSp>
          <p:nvGrpSpPr>
            <p:cNvPr id="269" name="Google Shape;269;p38"/>
            <p:cNvGrpSpPr/>
            <p:nvPr/>
          </p:nvGrpSpPr>
          <p:grpSpPr>
            <a:xfrm rot="2778069">
              <a:off x="6153746" y="3960691"/>
              <a:ext cx="2845933" cy="2845936"/>
              <a:chOff x="7431681" y="4805153"/>
              <a:chExt cx="1415051" cy="1415051"/>
            </a:xfrm>
          </p:grpSpPr>
          <p:sp>
            <p:nvSpPr>
              <p:cNvPr id="270" name="Google Shape;270;p38"/>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 name="Google Shape;271;p38"/>
              <p:cNvSpPr/>
              <p:nvPr/>
            </p:nvSpPr>
            <p:spPr>
              <a:xfrm rot="4232734">
                <a:off x="7637556" y="5007854"/>
                <a:ext cx="1003300" cy="1003300"/>
              </a:xfrm>
              <a:prstGeom prst="blockArc">
                <a:avLst>
                  <a:gd fmla="val 11879251" name="adj1"/>
                  <a:gd fmla="val 19098186" name="adj2"/>
                  <a:gd fmla="val 22208" name="adj3"/>
                </a:avLst>
              </a:pr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2" name="Google Shape;272;p38"/>
              <p:cNvSpPr/>
              <p:nvPr/>
            </p:nvSpPr>
            <p:spPr>
              <a:xfrm rot="-10333794">
                <a:off x="7634383" y="5007854"/>
                <a:ext cx="1003300" cy="1003300"/>
              </a:xfrm>
              <a:prstGeom prst="blockArc">
                <a:avLst>
                  <a:gd fmla="val 12031555" name="adj1"/>
                  <a:gd fmla="val 19379912" name="adj2"/>
                  <a:gd fmla="val 22124"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73" name="Google Shape;273;p38"/>
            <p:cNvGrpSpPr/>
            <p:nvPr/>
          </p:nvGrpSpPr>
          <p:grpSpPr>
            <a:xfrm>
              <a:off x="6488702" y="4523454"/>
              <a:ext cx="1879462" cy="1937171"/>
              <a:chOff x="6488702" y="4523454"/>
              <a:chExt cx="1879462" cy="1937171"/>
            </a:xfrm>
          </p:grpSpPr>
          <p:sp>
            <p:nvSpPr>
              <p:cNvPr id="274" name="Google Shape;274;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 name="Google Shape;275;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6" name="Google Shape;276;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39"/>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Analytics — The Core Competitive Advantage</a:t>
            </a:r>
            <a:endParaRPr/>
          </a:p>
        </p:txBody>
      </p:sp>
      <p:sp>
        <p:nvSpPr>
          <p:cNvPr id="282" name="Google Shape;282;p39"/>
          <p:cNvSpPr txBox="1"/>
          <p:nvPr/>
        </p:nvSpPr>
        <p:spPr>
          <a:xfrm>
            <a:off x="457199" y="1100882"/>
            <a:ext cx="2221397" cy="3262432"/>
          </a:xfrm>
          <a:prstGeom prst="rect">
            <a:avLst/>
          </a:prstGeom>
          <a:solidFill>
            <a:srgbClr val="36363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GB" sz="1400">
                <a:solidFill>
                  <a:schemeClr val="lt1"/>
                </a:solidFill>
                <a:latin typeface="Century Gothic"/>
                <a:ea typeface="Century Gothic"/>
                <a:cs typeface="Century Gothic"/>
                <a:sym typeface="Century Gothic"/>
              </a:rPr>
              <a:t>“The future of banking belongs to institutions that can transform </a:t>
            </a:r>
            <a:r>
              <a:rPr b="1" lang="en-GB" sz="1400">
                <a:solidFill>
                  <a:schemeClr val="accent1"/>
                </a:solidFill>
                <a:latin typeface="Century Gothic"/>
                <a:ea typeface="Century Gothic"/>
                <a:cs typeface="Century Gothic"/>
                <a:sym typeface="Century Gothic"/>
              </a:rPr>
              <a:t>data into decisions</a:t>
            </a:r>
            <a:r>
              <a:rPr lang="en-GB" sz="1400">
                <a:solidFill>
                  <a:schemeClr val="lt1"/>
                </a:solidFill>
                <a:latin typeface="Century Gothic"/>
                <a:ea typeface="Century Gothic"/>
                <a:cs typeface="Century Gothic"/>
                <a:sym typeface="Century Gothic"/>
              </a:rPr>
              <a:t> at the speed of customer expectation. In Pakistan, where 70% of adults remain unbanked, the opportunity for data-driven financial inclusion is unprecedented.”</a:t>
            </a:r>
            <a:endParaRPr sz="1400">
              <a:solidFill>
                <a:schemeClr val="lt1"/>
              </a:solidFill>
              <a:latin typeface="Century Gothic"/>
              <a:ea typeface="Century Gothic"/>
              <a:cs typeface="Century Gothic"/>
              <a:sym typeface="Century Gothic"/>
            </a:endParaRPr>
          </a:p>
          <a:p>
            <a:pPr indent="0" lvl="0" marL="0" marR="0" rtl="0" algn="l">
              <a:spcBef>
                <a:spcPts val="0"/>
              </a:spcBef>
              <a:spcAft>
                <a:spcPts val="0"/>
              </a:spcAft>
              <a:buNone/>
            </a:pPr>
            <a:r>
              <a:t/>
            </a:r>
            <a:endParaRPr sz="1400">
              <a:solidFill>
                <a:schemeClr val="lt1"/>
              </a:solidFill>
              <a:latin typeface="Century Gothic"/>
              <a:ea typeface="Century Gothic"/>
              <a:cs typeface="Century Gothic"/>
              <a:sym typeface="Century Gothic"/>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Pakistan banking analytics maturity: Level 2.1 average (BACR assessment)</a:t>
            </a:r>
            <a:endParaRPr sz="1350">
              <a:solidFill>
                <a:srgbClr val="FFFFFF"/>
              </a:solidFill>
              <a:latin typeface="Century Gothic"/>
              <a:ea typeface="Century Gothic"/>
              <a:cs typeface="Century Gothic"/>
              <a:sym typeface="Century Gothic"/>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FSDM: 3,917 entities | BVF: 112 capabilities | Gap: data-rich vs. data-poor</a:t>
            </a:r>
            <a:endParaRPr sz="1350">
              <a:solidFill>
                <a:srgbClr val="FFFFFF"/>
              </a:solidFill>
              <a:latin typeface="Century Gothic"/>
              <a:ea typeface="Century Gothic"/>
              <a:cs typeface="Century Gothic"/>
              <a:sym typeface="Century Gothic"/>
            </a:endParaRPr>
          </a:p>
        </p:txBody>
      </p:sp>
      <p:pic>
        <p:nvPicPr>
          <p:cNvPr id="283" name="Google Shape;283;p39"/>
          <p:cNvPicPr preferRelativeResize="0"/>
          <p:nvPr/>
        </p:nvPicPr>
        <p:blipFill rotWithShape="1">
          <a:blip r:embed="rId3">
            <a:alphaModFix/>
          </a:blip>
          <a:srcRect b="0" l="0" r="0" t="0"/>
          <a:stretch/>
        </p:blipFill>
        <p:spPr>
          <a:xfrm>
            <a:off x="3292032" y="1100882"/>
            <a:ext cx="5036899" cy="3262432"/>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Analytic Infrastructure: Teradata FSDM v16 | 16 Domains | 3,917 Entities</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Banking Business Value Framework — 6 Functions, 112 Capabilities</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Real-time Offers, SBP Reporting &amp; Executive Dashboards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Profitability Engine,</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ML Models &amp;</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BACR Assessment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FSDM v16: 3,917 Entities | Star Schema | Gap Extensions</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Core Banking, Cards, Treasury, Trade &amp; Islamic</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Analytic Infrastructure: Teradata FSDM v16 | 16 Domains | 3,917 Entities</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Banking Business Value Framework — 6 Functions, 112 Capabilities</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SBP Codes, SWIFT, KIBOR Structure</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CNIC Scans, Biometrics, Digital Signatures</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GL, Cost Centers &amp; Branch P&amp;L</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&amp; IFRS 9 ECL</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IBFT, RAAST,</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ATM &amp; POS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KIBOR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CASA, Loans, Cards &amp; Islamic Products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NADRA Data &amp; Geo-location</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 Customer View (CNIC-linked)</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Real-time Offers, SBP Reporting &amp; Executive Dashboards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Profitability Engine,</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ML Models &amp;</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BACR Assessment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FSDM v16: 3,917 Entities | Star Schema | Gap Extensions</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Core Banking, Cards, Treasury, Trade &amp; Islamic</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Analytic Infrastructure: Teradata FSDM v16 | 16 Domains | 3,917 Entities</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Banking Business Value Framework — 6 Functions, 112 Capabilities</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