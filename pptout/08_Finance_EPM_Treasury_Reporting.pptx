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484" r:id="rId235"/>
    <p:sldId id="485" r:id="rId236"/>
    <p:sldId id="486" r:id="rId237"/>
    <p:sldId id="487" r:id="rId238"/>
    <p:sldId id="488" r:id="rId239"/>
    <p:sldId id="489" r:id="rId240"/>
    <p:sldId id="490" r:id="rId241"/>
    <p:sldId id="491" r:id="rId242"/>
    <p:sldId id="492" r:id="rId243"/>
    <p:sldId id="493" r:id="rId244"/>
    <p:sldId id="494" r:id="rId245"/>
    <p:sldId id="495" r:id="rId246"/>
    <p:sldId id="496" r:id="rId247"/>
    <p:sldId id="497" r:id="rId248"/>
    <p:sldId id="498" r:id="rId249"/>
    <p:sldId id="499" r:id="rId250"/>
    <p:sldId id="500" r:id="rId251"/>
    <p:sldId id="501" r:id="rId252"/>
    <p:sldId id="502" r:id="rId253"/>
    <p:sldId id="503" r:id="rId254"/>
    <p:sldId id="504" r:id="rId255"/>
    <p:sldId id="505" r:id="rId256"/>
    <p:sldId id="506" r:id="rId257"/>
    <p:sldId id="507" r:id="rId258"/>
    <p:sldId id="508" r:id="rId259"/>
    <p:sldId id="509" r:id="rId260"/>
    <p:sldId id="510" r:id="rId261"/>
    <p:sldId id="511" r:id="rId262"/>
    <p:sldId id="512" r:id="rId263"/>
    <p:sldId id="513" r:id="rId264"/>
    <p:sldId id="514" r:id="rId265"/>
    <p:sldId id="515" r:id="rId266"/>
    <p:sldId id="516" r:id="rId267"/>
    <p:sldId id="517" r:id="rId268"/>
    <p:sldId id="518" r:id="rId269"/>
    <p:sldId id="519" r:id="rId270"/>
    <p:sldId id="520" r:id="rId271"/>
    <p:sldId id="521" r:id="rId272"/>
    <p:sldId id="522" r:id="rId273"/>
    <p:sldId id="523" r:id="rId274"/>
    <p:sldId id="524" r:id="rId275"/>
    <p:sldId id="525" r:id="rId276"/>
    <p:sldId id="526" r:id="rId277"/>
    <p:sldId id="527" r:id="rId278"/>
    <p:sldId id="528" r:id="rId279"/>
    <p:sldId id="529" r:id="rId280"/>
    <p:sldId id="530" r:id="rId281"/>
    <p:sldId id="531" r:id="rId282"/>
    <p:sldId id="532" r:id="rId283"/>
    <p:sldId id="533" r:id="rId284"/>
    <p:sldId id="534" r:id="rId285"/>
    <p:sldId id="535" r:id="rId286"/>
    <p:sldId id="536" r:id="rId287"/>
    <p:sldId id="537" r:id="rId288"/>
    <p:sldId id="538" r:id="rId289"/>
    <p:sldId id="539" r:id="rId290"/>
    <p:sldId id="540" r:id="rId291"/>
    <p:sldId id="541" r:id="rId292"/>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235" Type="http://schemas.openxmlformats.org/officeDocument/2006/relationships/slide" Target="slides/slide229.xml"/><Relationship Id="rId236" Type="http://schemas.openxmlformats.org/officeDocument/2006/relationships/slide" Target="slides/slide230.xml"/><Relationship Id="rId237" Type="http://schemas.openxmlformats.org/officeDocument/2006/relationships/slide" Target="slides/slide231.xml"/><Relationship Id="rId238" Type="http://schemas.openxmlformats.org/officeDocument/2006/relationships/slide" Target="slides/slide232.xml"/><Relationship Id="rId239" Type="http://schemas.openxmlformats.org/officeDocument/2006/relationships/slide" Target="slides/slide233.xml"/><Relationship Id="rId240" Type="http://schemas.openxmlformats.org/officeDocument/2006/relationships/slide" Target="slides/slide234.xml"/><Relationship Id="rId241" Type="http://schemas.openxmlformats.org/officeDocument/2006/relationships/slide" Target="slides/slide235.xml"/><Relationship Id="rId242" Type="http://schemas.openxmlformats.org/officeDocument/2006/relationships/slide" Target="slides/slide236.xml"/><Relationship Id="rId243" Type="http://schemas.openxmlformats.org/officeDocument/2006/relationships/slide" Target="slides/slide237.xml"/><Relationship Id="rId244" Type="http://schemas.openxmlformats.org/officeDocument/2006/relationships/slide" Target="slides/slide238.xml"/><Relationship Id="rId245" Type="http://schemas.openxmlformats.org/officeDocument/2006/relationships/slide" Target="slides/slide239.xml"/><Relationship Id="rId246" Type="http://schemas.openxmlformats.org/officeDocument/2006/relationships/slide" Target="slides/slide240.xml"/><Relationship Id="rId247" Type="http://schemas.openxmlformats.org/officeDocument/2006/relationships/slide" Target="slides/slide241.xml"/><Relationship Id="rId248" Type="http://schemas.openxmlformats.org/officeDocument/2006/relationships/slide" Target="slides/slide242.xml"/><Relationship Id="rId249" Type="http://schemas.openxmlformats.org/officeDocument/2006/relationships/slide" Target="slides/slide243.xml"/><Relationship Id="rId250" Type="http://schemas.openxmlformats.org/officeDocument/2006/relationships/slide" Target="slides/slide244.xml"/><Relationship Id="rId251" Type="http://schemas.openxmlformats.org/officeDocument/2006/relationships/slide" Target="slides/slide245.xml"/><Relationship Id="rId252" Type="http://schemas.openxmlformats.org/officeDocument/2006/relationships/slide" Target="slides/slide246.xml"/><Relationship Id="rId253" Type="http://schemas.openxmlformats.org/officeDocument/2006/relationships/slide" Target="slides/slide247.xml"/><Relationship Id="rId254" Type="http://schemas.openxmlformats.org/officeDocument/2006/relationships/slide" Target="slides/slide248.xml"/><Relationship Id="rId255" Type="http://schemas.openxmlformats.org/officeDocument/2006/relationships/slide" Target="slides/slide249.xml"/><Relationship Id="rId256" Type="http://schemas.openxmlformats.org/officeDocument/2006/relationships/slide" Target="slides/slide250.xml"/><Relationship Id="rId257" Type="http://schemas.openxmlformats.org/officeDocument/2006/relationships/slide" Target="slides/slide251.xml"/><Relationship Id="rId258" Type="http://schemas.openxmlformats.org/officeDocument/2006/relationships/slide" Target="slides/slide252.xml"/><Relationship Id="rId259" Type="http://schemas.openxmlformats.org/officeDocument/2006/relationships/slide" Target="slides/slide253.xml"/><Relationship Id="rId260" Type="http://schemas.openxmlformats.org/officeDocument/2006/relationships/slide" Target="slides/slide254.xml"/><Relationship Id="rId261" Type="http://schemas.openxmlformats.org/officeDocument/2006/relationships/slide" Target="slides/slide255.xml"/><Relationship Id="rId262" Type="http://schemas.openxmlformats.org/officeDocument/2006/relationships/slide" Target="slides/slide256.xml"/><Relationship Id="rId263" Type="http://schemas.openxmlformats.org/officeDocument/2006/relationships/slide" Target="slides/slide257.xml"/><Relationship Id="rId264" Type="http://schemas.openxmlformats.org/officeDocument/2006/relationships/slide" Target="slides/slide258.xml"/><Relationship Id="rId265" Type="http://schemas.openxmlformats.org/officeDocument/2006/relationships/slide" Target="slides/slide259.xml"/><Relationship Id="rId266" Type="http://schemas.openxmlformats.org/officeDocument/2006/relationships/slide" Target="slides/slide260.xml"/><Relationship Id="rId267" Type="http://schemas.openxmlformats.org/officeDocument/2006/relationships/slide" Target="slides/slide261.xml"/><Relationship Id="rId268" Type="http://schemas.openxmlformats.org/officeDocument/2006/relationships/slide" Target="slides/slide262.xml"/><Relationship Id="rId269" Type="http://schemas.openxmlformats.org/officeDocument/2006/relationships/slide" Target="slides/slide263.xml"/><Relationship Id="rId270" Type="http://schemas.openxmlformats.org/officeDocument/2006/relationships/slide" Target="slides/slide264.xml"/><Relationship Id="rId271" Type="http://schemas.openxmlformats.org/officeDocument/2006/relationships/slide" Target="slides/slide265.xml"/><Relationship Id="rId272" Type="http://schemas.openxmlformats.org/officeDocument/2006/relationships/slide" Target="slides/slide266.xml"/><Relationship Id="rId273" Type="http://schemas.openxmlformats.org/officeDocument/2006/relationships/slide" Target="slides/slide267.xml"/><Relationship Id="rId274" Type="http://schemas.openxmlformats.org/officeDocument/2006/relationships/slide" Target="slides/slide268.xml"/><Relationship Id="rId275" Type="http://schemas.openxmlformats.org/officeDocument/2006/relationships/slide" Target="slides/slide269.xml"/><Relationship Id="rId276" Type="http://schemas.openxmlformats.org/officeDocument/2006/relationships/slide" Target="slides/slide270.xml"/><Relationship Id="rId277" Type="http://schemas.openxmlformats.org/officeDocument/2006/relationships/slide" Target="slides/slide271.xml"/><Relationship Id="rId278" Type="http://schemas.openxmlformats.org/officeDocument/2006/relationships/slide" Target="slides/slide272.xml"/><Relationship Id="rId279" Type="http://schemas.openxmlformats.org/officeDocument/2006/relationships/slide" Target="slides/slide273.xml"/><Relationship Id="rId280" Type="http://schemas.openxmlformats.org/officeDocument/2006/relationships/slide" Target="slides/slide274.xml"/><Relationship Id="rId281" Type="http://schemas.openxmlformats.org/officeDocument/2006/relationships/slide" Target="slides/slide275.xml"/><Relationship Id="rId282" Type="http://schemas.openxmlformats.org/officeDocument/2006/relationships/slide" Target="slides/slide276.xml"/><Relationship Id="rId283" Type="http://schemas.openxmlformats.org/officeDocument/2006/relationships/slide" Target="slides/slide277.xml"/><Relationship Id="rId284" Type="http://schemas.openxmlformats.org/officeDocument/2006/relationships/slide" Target="slides/slide278.xml"/><Relationship Id="rId285" Type="http://schemas.openxmlformats.org/officeDocument/2006/relationships/slide" Target="slides/slide279.xml"/><Relationship Id="rId286" Type="http://schemas.openxmlformats.org/officeDocument/2006/relationships/slide" Target="slides/slide280.xml"/><Relationship Id="rId287" Type="http://schemas.openxmlformats.org/officeDocument/2006/relationships/slide" Target="slides/slide281.xml"/><Relationship Id="rId288" Type="http://schemas.openxmlformats.org/officeDocument/2006/relationships/slide" Target="slides/slide282.xml"/><Relationship Id="rId289" Type="http://schemas.openxmlformats.org/officeDocument/2006/relationships/slide" Target="slides/slide283.xml"/><Relationship Id="rId290" Type="http://schemas.openxmlformats.org/officeDocument/2006/relationships/slide" Target="slides/slide284.xml"/><Relationship Id="rId291" Type="http://schemas.openxmlformats.org/officeDocument/2006/relationships/slide" Target="slides/slide285.xml"/><Relationship Id="rId292" Type="http://schemas.openxmlformats.org/officeDocument/2006/relationships/slide" Target="slides/slide286.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8" name="Shape 4758"/>
        <p:cNvGrpSpPr/>
        <p:nvPr/>
      </p:nvGrpSpPr>
      <p:grpSpPr>
        <a:xfrm>
          <a:off x="0" y="0"/>
          <a:ext cx="0" cy="0"/>
          <a:chOff x="0" y="0"/>
          <a:chExt cx="0" cy="0"/>
        </a:xfrm>
      </p:grpSpPr>
      <p:sp>
        <p:nvSpPr>
          <p:cNvPr id="4759" name="Google Shape;4759;p23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60" name="Google Shape;4760;p2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61" name="Google Shape;4761;p2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0" name="Shape 4790"/>
        <p:cNvGrpSpPr/>
        <p:nvPr/>
      </p:nvGrpSpPr>
      <p:grpSpPr>
        <a:xfrm>
          <a:off x="0" y="0"/>
          <a:ext cx="0" cy="0"/>
          <a:chOff x="0" y="0"/>
          <a:chExt cx="0" cy="0"/>
        </a:xfrm>
      </p:grpSpPr>
      <p:sp>
        <p:nvSpPr>
          <p:cNvPr id="4791" name="Google Shape;4791;p23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92" name="Google Shape;4792;p2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93" name="Google Shape;4793;p2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2" name="Shape 4822"/>
        <p:cNvGrpSpPr/>
        <p:nvPr/>
      </p:nvGrpSpPr>
      <p:grpSpPr>
        <a:xfrm>
          <a:off x="0" y="0"/>
          <a:ext cx="0" cy="0"/>
          <a:chOff x="0" y="0"/>
          <a:chExt cx="0" cy="0"/>
        </a:xfrm>
      </p:grpSpPr>
      <p:sp>
        <p:nvSpPr>
          <p:cNvPr id="4823" name="Google Shape;4823;p23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24" name="Google Shape;4824;p2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25" name="Google Shape;4825;p2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4" name="Shape 4854"/>
        <p:cNvGrpSpPr/>
        <p:nvPr/>
      </p:nvGrpSpPr>
      <p:grpSpPr>
        <a:xfrm>
          <a:off x="0" y="0"/>
          <a:ext cx="0" cy="0"/>
          <a:chOff x="0" y="0"/>
          <a:chExt cx="0" cy="0"/>
        </a:xfrm>
      </p:grpSpPr>
      <p:sp>
        <p:nvSpPr>
          <p:cNvPr id="4855" name="Google Shape;4855;p23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56" name="Google Shape;4856;p2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57" name="Google Shape;4857;p2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6" name="Shape 4886"/>
        <p:cNvGrpSpPr/>
        <p:nvPr/>
      </p:nvGrpSpPr>
      <p:grpSpPr>
        <a:xfrm>
          <a:off x="0" y="0"/>
          <a:ext cx="0" cy="0"/>
          <a:chOff x="0" y="0"/>
          <a:chExt cx="0" cy="0"/>
        </a:xfrm>
      </p:grpSpPr>
      <p:sp>
        <p:nvSpPr>
          <p:cNvPr id="4887" name="Google Shape;4887;p23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88" name="Google Shape;4888;p2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89" name="Google Shape;4889;p2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8" name="Shape 4918"/>
        <p:cNvGrpSpPr/>
        <p:nvPr/>
      </p:nvGrpSpPr>
      <p:grpSpPr>
        <a:xfrm>
          <a:off x="0" y="0"/>
          <a:ext cx="0" cy="0"/>
          <a:chOff x="0" y="0"/>
          <a:chExt cx="0" cy="0"/>
        </a:xfrm>
      </p:grpSpPr>
      <p:sp>
        <p:nvSpPr>
          <p:cNvPr id="4919" name="Google Shape;4919;p24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20" name="Google Shape;4920;p2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21" name="Google Shape;4921;p2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0" name="Shape 4950"/>
        <p:cNvGrpSpPr/>
        <p:nvPr/>
      </p:nvGrpSpPr>
      <p:grpSpPr>
        <a:xfrm>
          <a:off x="0" y="0"/>
          <a:ext cx="0" cy="0"/>
          <a:chOff x="0" y="0"/>
          <a:chExt cx="0" cy="0"/>
        </a:xfrm>
      </p:grpSpPr>
      <p:sp>
        <p:nvSpPr>
          <p:cNvPr id="4951" name="Google Shape;4951;p24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52" name="Google Shape;4952;p2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53" name="Google Shape;4953;p2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2" name="Shape 4982"/>
        <p:cNvGrpSpPr/>
        <p:nvPr/>
      </p:nvGrpSpPr>
      <p:grpSpPr>
        <a:xfrm>
          <a:off x="0" y="0"/>
          <a:ext cx="0" cy="0"/>
          <a:chOff x="0" y="0"/>
          <a:chExt cx="0" cy="0"/>
        </a:xfrm>
      </p:grpSpPr>
      <p:sp>
        <p:nvSpPr>
          <p:cNvPr id="4983" name="Google Shape;4983;p24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84" name="Google Shape;4984;p2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85" name="Google Shape;4985;p2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4" name="Shape 5014"/>
        <p:cNvGrpSpPr/>
        <p:nvPr/>
      </p:nvGrpSpPr>
      <p:grpSpPr>
        <a:xfrm>
          <a:off x="0" y="0"/>
          <a:ext cx="0" cy="0"/>
          <a:chOff x="0" y="0"/>
          <a:chExt cx="0" cy="0"/>
        </a:xfrm>
      </p:grpSpPr>
      <p:sp>
        <p:nvSpPr>
          <p:cNvPr id="5015" name="Google Shape;5015;p24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16" name="Google Shape;5016;p2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17" name="Google Shape;5017;p2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6" name="Shape 5046"/>
        <p:cNvGrpSpPr/>
        <p:nvPr/>
      </p:nvGrpSpPr>
      <p:grpSpPr>
        <a:xfrm>
          <a:off x="0" y="0"/>
          <a:ext cx="0" cy="0"/>
          <a:chOff x="0" y="0"/>
          <a:chExt cx="0" cy="0"/>
        </a:xfrm>
      </p:grpSpPr>
      <p:sp>
        <p:nvSpPr>
          <p:cNvPr id="5047" name="Google Shape;5047;p24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48" name="Google Shape;5048;p2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49" name="Google Shape;5049;p2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8" name="Shape 5078"/>
        <p:cNvGrpSpPr/>
        <p:nvPr/>
      </p:nvGrpSpPr>
      <p:grpSpPr>
        <a:xfrm>
          <a:off x="0" y="0"/>
          <a:ext cx="0" cy="0"/>
          <a:chOff x="0" y="0"/>
          <a:chExt cx="0" cy="0"/>
        </a:xfrm>
      </p:grpSpPr>
      <p:sp>
        <p:nvSpPr>
          <p:cNvPr id="5079" name="Google Shape;5079;p25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80" name="Google Shape;5080;p2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81" name="Google Shape;5081;p2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1" name="Shape 5101"/>
        <p:cNvGrpSpPr/>
        <p:nvPr/>
      </p:nvGrpSpPr>
      <p:grpSpPr>
        <a:xfrm>
          <a:off x="0" y="0"/>
          <a:ext cx="0" cy="0"/>
          <a:chOff x="0" y="0"/>
          <a:chExt cx="0" cy="0"/>
        </a:xfrm>
      </p:grpSpPr>
      <p:sp>
        <p:nvSpPr>
          <p:cNvPr id="5102" name="Google Shape;5102;p2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03" name="Google Shape;5103;p2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04" name="Google Shape;5104;p25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2" name="Shape 5122"/>
        <p:cNvGrpSpPr/>
        <p:nvPr/>
      </p:nvGrpSpPr>
      <p:grpSpPr>
        <a:xfrm>
          <a:off x="0" y="0"/>
          <a:ext cx="0" cy="0"/>
          <a:chOff x="0" y="0"/>
          <a:chExt cx="0" cy="0"/>
        </a:xfrm>
      </p:grpSpPr>
      <p:sp>
        <p:nvSpPr>
          <p:cNvPr id="5123" name="Google Shape;5123;p25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124" name="Google Shape;5124;p2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1" name="Shape 5131"/>
        <p:cNvGrpSpPr/>
        <p:nvPr/>
      </p:nvGrpSpPr>
      <p:grpSpPr>
        <a:xfrm>
          <a:off x="0" y="0"/>
          <a:ext cx="0" cy="0"/>
          <a:chOff x="0" y="0"/>
          <a:chExt cx="0" cy="0"/>
        </a:xfrm>
      </p:grpSpPr>
      <p:sp>
        <p:nvSpPr>
          <p:cNvPr id="5132" name="Google Shape;5132;p25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133" name="Google Shape;5133;p2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0" name="Shape 5140"/>
        <p:cNvGrpSpPr/>
        <p:nvPr/>
      </p:nvGrpSpPr>
      <p:grpSpPr>
        <a:xfrm>
          <a:off x="0" y="0"/>
          <a:ext cx="0" cy="0"/>
          <a:chOff x="0" y="0"/>
          <a:chExt cx="0" cy="0"/>
        </a:xfrm>
      </p:grpSpPr>
      <p:sp>
        <p:nvSpPr>
          <p:cNvPr id="5141" name="Google Shape;5141;p25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142" name="Google Shape;5142;p2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7" name="Shape 5177"/>
        <p:cNvGrpSpPr/>
        <p:nvPr/>
      </p:nvGrpSpPr>
      <p:grpSpPr>
        <a:xfrm>
          <a:off x="0" y="0"/>
          <a:ext cx="0" cy="0"/>
          <a:chOff x="0" y="0"/>
          <a:chExt cx="0" cy="0"/>
        </a:xfrm>
      </p:grpSpPr>
      <p:sp>
        <p:nvSpPr>
          <p:cNvPr id="5178" name="Google Shape;5178;p25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79" name="Google Shape;5179;p2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80" name="Google Shape;5180;p2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9" name="Shape 5209"/>
        <p:cNvGrpSpPr/>
        <p:nvPr/>
      </p:nvGrpSpPr>
      <p:grpSpPr>
        <a:xfrm>
          <a:off x="0" y="0"/>
          <a:ext cx="0" cy="0"/>
          <a:chOff x="0" y="0"/>
          <a:chExt cx="0" cy="0"/>
        </a:xfrm>
      </p:grpSpPr>
      <p:sp>
        <p:nvSpPr>
          <p:cNvPr id="5210" name="Google Shape;5210;p2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11" name="Google Shape;5211;p2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12" name="Google Shape;5212;p2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1" name="Shape 5241"/>
        <p:cNvGrpSpPr/>
        <p:nvPr/>
      </p:nvGrpSpPr>
      <p:grpSpPr>
        <a:xfrm>
          <a:off x="0" y="0"/>
          <a:ext cx="0" cy="0"/>
          <a:chOff x="0" y="0"/>
          <a:chExt cx="0" cy="0"/>
        </a:xfrm>
      </p:grpSpPr>
      <p:sp>
        <p:nvSpPr>
          <p:cNvPr id="5242" name="Google Shape;5242;p26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43" name="Google Shape;5243;p2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44" name="Google Shape;5244;p2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3" name="Shape 5273"/>
        <p:cNvGrpSpPr/>
        <p:nvPr/>
      </p:nvGrpSpPr>
      <p:grpSpPr>
        <a:xfrm>
          <a:off x="0" y="0"/>
          <a:ext cx="0" cy="0"/>
          <a:chOff x="0" y="0"/>
          <a:chExt cx="0" cy="0"/>
        </a:xfrm>
      </p:grpSpPr>
      <p:sp>
        <p:nvSpPr>
          <p:cNvPr id="5274" name="Google Shape;5274;p2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75" name="Google Shape;5275;p2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76" name="Google Shape;5276;p2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5" name="Shape 5305"/>
        <p:cNvGrpSpPr/>
        <p:nvPr/>
      </p:nvGrpSpPr>
      <p:grpSpPr>
        <a:xfrm>
          <a:off x="0" y="0"/>
          <a:ext cx="0" cy="0"/>
          <a:chOff x="0" y="0"/>
          <a:chExt cx="0" cy="0"/>
        </a:xfrm>
      </p:grpSpPr>
      <p:sp>
        <p:nvSpPr>
          <p:cNvPr id="5306" name="Google Shape;5306;p2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07" name="Google Shape;5307;p2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08" name="Google Shape;5308;p2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7" name="Shape 5337"/>
        <p:cNvGrpSpPr/>
        <p:nvPr/>
      </p:nvGrpSpPr>
      <p:grpSpPr>
        <a:xfrm>
          <a:off x="0" y="0"/>
          <a:ext cx="0" cy="0"/>
          <a:chOff x="0" y="0"/>
          <a:chExt cx="0" cy="0"/>
        </a:xfrm>
      </p:grpSpPr>
      <p:sp>
        <p:nvSpPr>
          <p:cNvPr id="5338" name="Google Shape;5338;p2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39" name="Google Shape;5339;p2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40" name="Google Shape;5340;p2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9" name="Shape 5369"/>
        <p:cNvGrpSpPr/>
        <p:nvPr/>
      </p:nvGrpSpPr>
      <p:grpSpPr>
        <a:xfrm>
          <a:off x="0" y="0"/>
          <a:ext cx="0" cy="0"/>
          <a:chOff x="0" y="0"/>
          <a:chExt cx="0" cy="0"/>
        </a:xfrm>
      </p:grpSpPr>
      <p:sp>
        <p:nvSpPr>
          <p:cNvPr id="5370" name="Google Shape;5370;p2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71" name="Google Shape;5371;p2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72" name="Google Shape;5372;p2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3" name="Shape 5393"/>
        <p:cNvGrpSpPr/>
        <p:nvPr/>
      </p:nvGrpSpPr>
      <p:grpSpPr>
        <a:xfrm>
          <a:off x="0" y="0"/>
          <a:ext cx="0" cy="0"/>
          <a:chOff x="0" y="0"/>
          <a:chExt cx="0" cy="0"/>
        </a:xfrm>
      </p:grpSpPr>
      <p:sp>
        <p:nvSpPr>
          <p:cNvPr id="5394" name="Google Shape;5394;p2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5" name="Google Shape;5395;p2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396" name="Google Shape;5396;p27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4" name="Shape 5414"/>
        <p:cNvGrpSpPr/>
        <p:nvPr/>
      </p:nvGrpSpPr>
      <p:grpSpPr>
        <a:xfrm>
          <a:off x="0" y="0"/>
          <a:ext cx="0" cy="0"/>
          <a:chOff x="0" y="0"/>
          <a:chExt cx="0" cy="0"/>
        </a:xfrm>
      </p:grpSpPr>
      <p:sp>
        <p:nvSpPr>
          <p:cNvPr id="5415" name="Google Shape;5415;p27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416" name="Google Shape;5416;p2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3" name="Shape 5423"/>
        <p:cNvGrpSpPr/>
        <p:nvPr/>
      </p:nvGrpSpPr>
      <p:grpSpPr>
        <a:xfrm>
          <a:off x="0" y="0"/>
          <a:ext cx="0" cy="0"/>
          <a:chOff x="0" y="0"/>
          <a:chExt cx="0" cy="0"/>
        </a:xfrm>
      </p:grpSpPr>
      <p:sp>
        <p:nvSpPr>
          <p:cNvPr id="5424" name="Google Shape;5424;p27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425" name="Google Shape;5425;p2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2" name="Shape 5432"/>
        <p:cNvGrpSpPr/>
        <p:nvPr/>
      </p:nvGrpSpPr>
      <p:grpSpPr>
        <a:xfrm>
          <a:off x="0" y="0"/>
          <a:ext cx="0" cy="0"/>
          <a:chOff x="0" y="0"/>
          <a:chExt cx="0" cy="0"/>
        </a:xfrm>
      </p:grpSpPr>
      <p:sp>
        <p:nvSpPr>
          <p:cNvPr id="5433" name="Google Shape;5433;p27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434" name="Google Shape;5434;p2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9" name="Shape 5469"/>
        <p:cNvGrpSpPr/>
        <p:nvPr/>
      </p:nvGrpSpPr>
      <p:grpSpPr>
        <a:xfrm>
          <a:off x="0" y="0"/>
          <a:ext cx="0" cy="0"/>
          <a:chOff x="0" y="0"/>
          <a:chExt cx="0" cy="0"/>
        </a:xfrm>
      </p:grpSpPr>
      <p:sp>
        <p:nvSpPr>
          <p:cNvPr id="5470" name="Google Shape;5470;p2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71" name="Google Shape;5471;p2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72" name="Google Shape;5472;p2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1" name="Shape 5501"/>
        <p:cNvGrpSpPr/>
        <p:nvPr/>
      </p:nvGrpSpPr>
      <p:grpSpPr>
        <a:xfrm>
          <a:off x="0" y="0"/>
          <a:ext cx="0" cy="0"/>
          <a:chOff x="0" y="0"/>
          <a:chExt cx="0" cy="0"/>
        </a:xfrm>
      </p:grpSpPr>
      <p:sp>
        <p:nvSpPr>
          <p:cNvPr id="5502" name="Google Shape;5502;p27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03" name="Google Shape;5503;p2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04" name="Google Shape;5504;p2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3" name="Shape 5533"/>
        <p:cNvGrpSpPr/>
        <p:nvPr/>
      </p:nvGrpSpPr>
      <p:grpSpPr>
        <a:xfrm>
          <a:off x="0" y="0"/>
          <a:ext cx="0" cy="0"/>
          <a:chOff x="0" y="0"/>
          <a:chExt cx="0" cy="0"/>
        </a:xfrm>
      </p:grpSpPr>
      <p:sp>
        <p:nvSpPr>
          <p:cNvPr id="5534" name="Google Shape;5534;p28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35" name="Google Shape;5535;p2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36" name="Google Shape;5536;p2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5" name="Shape 5565"/>
        <p:cNvGrpSpPr/>
        <p:nvPr/>
      </p:nvGrpSpPr>
      <p:grpSpPr>
        <a:xfrm>
          <a:off x="0" y="0"/>
          <a:ext cx="0" cy="0"/>
          <a:chOff x="0" y="0"/>
          <a:chExt cx="0" cy="0"/>
        </a:xfrm>
      </p:grpSpPr>
      <p:sp>
        <p:nvSpPr>
          <p:cNvPr id="5566" name="Google Shape;5566;p2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67" name="Google Shape;5567;p2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68" name="Google Shape;5568;p2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7" name="Shape 5597"/>
        <p:cNvGrpSpPr/>
        <p:nvPr/>
      </p:nvGrpSpPr>
      <p:grpSpPr>
        <a:xfrm>
          <a:off x="0" y="0"/>
          <a:ext cx="0" cy="0"/>
          <a:chOff x="0" y="0"/>
          <a:chExt cx="0" cy="0"/>
        </a:xfrm>
      </p:grpSpPr>
      <p:sp>
        <p:nvSpPr>
          <p:cNvPr id="5598" name="Google Shape;5598;p28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99" name="Google Shape;5599;p2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00" name="Google Shape;5600;p2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9" name="Shape 5629"/>
        <p:cNvGrpSpPr/>
        <p:nvPr/>
      </p:nvGrpSpPr>
      <p:grpSpPr>
        <a:xfrm>
          <a:off x="0" y="0"/>
          <a:ext cx="0" cy="0"/>
          <a:chOff x="0" y="0"/>
          <a:chExt cx="0" cy="0"/>
        </a:xfrm>
      </p:grpSpPr>
      <p:sp>
        <p:nvSpPr>
          <p:cNvPr id="5630" name="Google Shape;5630;p2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31" name="Google Shape;5631;p2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32" name="Google Shape;5632;p2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0.xml"/><Relationship Id="rId3"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2.xml"/><Relationship Id="rId3" Type="http://schemas.openxmlformats.org/officeDocument/2006/relationships/slide" Target="slide185.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4.xml"/><Relationship Id="rId3" Type="http://schemas.openxmlformats.org/officeDocument/2006/relationships/slide" Target="slide185.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6.xml"/><Relationship Id="rId3" Type="http://schemas.openxmlformats.org/officeDocument/2006/relationships/slide" Target="slide185.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8.xml"/><Relationship Id="rId3" Type="http://schemas.openxmlformats.org/officeDocument/2006/relationships/slide" Target="slide185.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0.xml"/><Relationship Id="rId3" Type="http://schemas.openxmlformats.org/officeDocument/2006/relationships/slide" Target="slide18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2.xml"/><Relationship Id="rId3" Type="http://schemas.openxmlformats.org/officeDocument/2006/relationships/slide" Target="slide185.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4.xml"/><Relationship Id="rId3" Type="http://schemas.openxmlformats.org/officeDocument/2006/relationships/slide" Target="slide185.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6.xml"/><Relationship Id="rId3" Type="http://schemas.openxmlformats.org/officeDocument/2006/relationships/slide" Target="slide185.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8.xml"/><Relationship Id="rId3" Type="http://schemas.openxmlformats.org/officeDocument/2006/relationships/slide" Target="slide185.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0.xml"/><Relationship Id="rId3" Type="http://schemas.openxmlformats.org/officeDocument/2006/relationships/slide" Target="slide185.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2.xml"/><Relationship Id="rId3" Type="http://schemas.openxmlformats.org/officeDocument/2006/relationships/image" Target="../media/image42.jpg"/><Relationship Id="rId4" Type="http://schemas.openxmlformats.org/officeDocument/2006/relationships/slide" Target="slide18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3.xml"/><Relationship Id="rId3" Type="http://schemas.openxmlformats.org/officeDocument/2006/relationships/image" Target="../media/image40.png"/><Relationship Id="rId4" Type="http://schemas.openxmlformats.org/officeDocument/2006/relationships/slide" Target="slide186.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4.xml"/><Relationship Id="rId3" Type="http://schemas.openxmlformats.org/officeDocument/2006/relationships/slide" Target="slide186.xml"/><Relationship Id="rId4" Type="http://schemas.openxmlformats.org/officeDocument/2006/relationships/image" Target="../media/image40.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5.xml"/><Relationship Id="rId3" Type="http://schemas.openxmlformats.org/officeDocument/2006/relationships/image" Target="../media/image37.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7.xml"/><Relationship Id="rId3"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9.xml"/><Relationship Id="rId3" Type="http://schemas.openxmlformats.org/officeDocument/2006/relationships/slide" Target="slide18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1.xml"/><Relationship Id="rId3" Type="http://schemas.openxmlformats.org/officeDocument/2006/relationships/slide" Target="slide18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3.xml"/><Relationship Id="rId3" Type="http://schemas.openxmlformats.org/officeDocument/2006/relationships/slide" Target="slide186.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5.xml"/><Relationship Id="rId3" Type="http://schemas.openxmlformats.org/officeDocument/2006/relationships/slide" Target="slide186.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7.xml"/><Relationship Id="rId3" Type="http://schemas.openxmlformats.org/officeDocument/2006/relationships/slide" Target="slide186.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9.xml"/><Relationship Id="rId3" Type="http://schemas.openxmlformats.org/officeDocument/2006/relationships/slide" Target="slide186.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1.xml"/><Relationship Id="rId3" Type="http://schemas.openxmlformats.org/officeDocument/2006/relationships/image" Target="../media/image44.png"/><Relationship Id="rId4" Type="http://schemas.openxmlformats.org/officeDocument/2006/relationships/slide" Target="slide18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2.xml"/><Relationship Id="rId3" Type="http://schemas.openxmlformats.org/officeDocument/2006/relationships/slide" Target="slide187.xml"/><Relationship Id="rId4" Type="http://schemas.openxmlformats.org/officeDocument/2006/relationships/image" Target="../media/image46.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3.xml"/><Relationship Id="rId3" Type="http://schemas.openxmlformats.org/officeDocument/2006/relationships/slide" Target="slide187.xml"/><Relationship Id="rId4" Type="http://schemas.openxmlformats.org/officeDocument/2006/relationships/image" Target="../media/image46.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4.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6.xml"/><Relationship Id="rId3"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8.xml"/><Relationship Id="rId3" Type="http://schemas.openxmlformats.org/officeDocument/2006/relationships/slide" Target="slide18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0.xml"/><Relationship Id="rId3" Type="http://schemas.openxmlformats.org/officeDocument/2006/relationships/slide" Target="slide18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2.xml"/><Relationship Id="rId3" Type="http://schemas.openxmlformats.org/officeDocument/2006/relationships/slide" Target="slide18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4.xml"/><Relationship Id="rId3" Type="http://schemas.openxmlformats.org/officeDocument/2006/relationships/slide" Target="slide18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6.xml"/><Relationship Id="rId3" Type="http://schemas.openxmlformats.org/officeDocument/2006/relationships/slide" Target="slide18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62" name="Shape 4762"/>
        <p:cNvGrpSpPr/>
        <p:nvPr/>
      </p:nvGrpSpPr>
      <p:grpSpPr>
        <a:xfrm>
          <a:off x="0" y="0"/>
          <a:ext cx="0" cy="0"/>
          <a:chOff x="0" y="0"/>
          <a:chExt cx="0" cy="0"/>
        </a:xfrm>
      </p:grpSpPr>
      <p:graphicFrame>
        <p:nvGraphicFramePr>
          <p:cNvPr id="4763" name="Google Shape;4763;p26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Revenue Analytics is used extensively across the organisation. It uses best-in-class analytical techniques and a broad range of high quality, integrated data.   Sophisticated model exists which calculates revenue components.  Data is at a granular level which enables a multi-dimensional view of revenue.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Detailed revenue data is automatically sourced from transactional and / or ERP system.  Analysis can be performed understand the underlying components and feed downstream applications.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Revenue Analytics is performed on a more granular basis, which enables deeper insights to the components of revenue.  Results can feed downstream applications at an aggregated level.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Revenue analytics is performed at a hierarchy level but based on summary-level data. Some manual intervention is required for data acquisition.  Mainly used to understand components of revenue, including product sales and ancillary revenues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Actual sales, forecast and plans are rolled up at an aggregated level , usually using a manual process to acquire data.  Typically done in Excel or Access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764" name="Google Shape;4764;p260"/>
          <p:cNvGrpSpPr/>
          <p:nvPr/>
        </p:nvGrpSpPr>
        <p:grpSpPr>
          <a:xfrm>
            <a:off x="469900" y="3819680"/>
            <a:ext cx="8455025" cy="732866"/>
            <a:chOff x="211138" y="3972860"/>
            <a:chExt cx="8713787" cy="642437"/>
          </a:xfrm>
        </p:grpSpPr>
        <p:sp>
          <p:nvSpPr>
            <p:cNvPr id="4765" name="Google Shape;4765;p26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766" name="Google Shape;4766;p26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767" name="Google Shape;4767;p260"/>
          <p:cNvGrpSpPr/>
          <p:nvPr/>
        </p:nvGrpSpPr>
        <p:grpSpPr>
          <a:xfrm>
            <a:off x="7971865" y="980278"/>
            <a:ext cx="949325" cy="2867825"/>
            <a:chOff x="7941888" y="1062037"/>
            <a:chExt cx="983037" cy="2695575"/>
          </a:xfrm>
        </p:grpSpPr>
        <p:sp>
          <p:nvSpPr>
            <p:cNvPr id="4768" name="Google Shape;4768;p26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769" name="Google Shape;4769;p26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770" name="Google Shape;4770;p26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a:solidFill>
                <a:schemeClr val="accent6"/>
              </a:solidFill>
            </a:endParaRPr>
          </a:p>
        </p:txBody>
      </p:sp>
      <p:sp>
        <p:nvSpPr>
          <p:cNvPr id="4771" name="Google Shape;4771;p2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4" name="Shape 4794"/>
        <p:cNvGrpSpPr/>
        <p:nvPr/>
      </p:nvGrpSpPr>
      <p:grpSpPr>
        <a:xfrm>
          <a:off x="0" y="0"/>
          <a:ext cx="0" cy="0"/>
          <a:chOff x="0" y="0"/>
          <a:chExt cx="0" cy="0"/>
        </a:xfrm>
      </p:grpSpPr>
      <p:graphicFrame>
        <p:nvGraphicFramePr>
          <p:cNvPr id="4795" name="Google Shape;4795;p26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GL, AP, HR and Expense processes are efficient and automated. Detailed data from across the organisation is updated and integrated daily, as well as with other non-finance data and multi-structured data. Sophisticated analytics on this domains  is used as a strategic planning and negotiating tool, is used to identify and manage policy exceptions, and is used to inform employee performance appraisals.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The majority of GL, AP, HR and Expense data is integrated in a single, integrated data warehouse or mart. Analysis across multiple dimensions, and drill-down to detailed transactions is available.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GL, AP, HR and Expense data is sourced and integrated on at least a monthly basis, primarily at a summary-level, however it is not integrated with other non-finance data domains. Some centralised reporting and analysis is performed, largely focused on aggregated results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GL, AP, HR and Expense data is widely distributed across the organisation, with little standarisation and integration. Focus is primarily on the GL, AP, HR and Expense processes themselves. Standard and ad-hoc reporting takes place, however there is little analytics and optimisation.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GL, AP, HR and Expense data is done is silos, with minimal  standardisation. Focus is primarily on the GL, AP, HR and Expense processes themselves.  One off reporting takes place but is not shared across the organisation.  Conflicting reporting and calculation definitions are possible due to lack of integration.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796" name="Google Shape;4796;p262"/>
          <p:cNvGrpSpPr/>
          <p:nvPr/>
        </p:nvGrpSpPr>
        <p:grpSpPr>
          <a:xfrm>
            <a:off x="469900" y="3819680"/>
            <a:ext cx="8455025" cy="732866"/>
            <a:chOff x="211138" y="3972860"/>
            <a:chExt cx="8713787" cy="642437"/>
          </a:xfrm>
        </p:grpSpPr>
        <p:sp>
          <p:nvSpPr>
            <p:cNvPr id="4797" name="Google Shape;4797;p26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798" name="Google Shape;4798;p26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799" name="Google Shape;4799;p262"/>
          <p:cNvGrpSpPr/>
          <p:nvPr/>
        </p:nvGrpSpPr>
        <p:grpSpPr>
          <a:xfrm>
            <a:off x="7971865" y="980278"/>
            <a:ext cx="949325" cy="2867825"/>
            <a:chOff x="7941888" y="1062037"/>
            <a:chExt cx="983037" cy="2695575"/>
          </a:xfrm>
        </p:grpSpPr>
        <p:sp>
          <p:nvSpPr>
            <p:cNvPr id="4800" name="Google Shape;4800;p26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01" name="Google Shape;4801;p26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802" name="Google Shape;4802;p26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 Optimisation</a:t>
            </a:r>
            <a:endParaRPr>
              <a:solidFill>
                <a:schemeClr val="accent6"/>
              </a:solidFill>
            </a:endParaRPr>
          </a:p>
        </p:txBody>
      </p:sp>
      <p:sp>
        <p:nvSpPr>
          <p:cNvPr id="4803" name="Google Shape;4803;p2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6" name="Shape 4826"/>
        <p:cNvGrpSpPr/>
        <p:nvPr/>
      </p:nvGrpSpPr>
      <p:grpSpPr>
        <a:xfrm>
          <a:off x="0" y="0"/>
          <a:ext cx="0" cy="0"/>
          <a:chOff x="0" y="0"/>
          <a:chExt cx="0" cy="0"/>
        </a:xfrm>
      </p:grpSpPr>
      <p:graphicFrame>
        <p:nvGraphicFramePr>
          <p:cNvPr id="4827" name="Google Shape;4827;p26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ABC process is automated, and is integrated with the wider profitability modelling processes within the organisation (e.g. customer profitability, lifetime value). It uses a single, integrated source of input data, which includes detailed process metrics. It is updated frequently, and Is able to  be modified quickly with “what if”  capability and multiple iterations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performed more frequently (e.g. quarterly/monthly) using an ABC/cost-modelling tool. Multiple cost models are produced (e.g. standard/budgeted unit costs vs. actual unit costs).  Could be used to feed downstream analytics or applications.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still performed annually and may use spreadsheets or an ABC/cost-modelling tool, however most of the required data is available from a single, integrated source.  Calculated unit-costs include breakdown by channel, however many costs are done at an average level.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performed on an infrequent basis (annual or less). It is a manual process which relies on manual data collection / entry, and uses spreadsheets to perform calculations. Calculated unit-costs are done at a higher level of granularity (Category / Product Type vs. Class / SKU)</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ABC process is a high-level Excel based model and may have multiple versions by business unit or analysis objective.  Difficult to maintain and update, and possibly inconsistent across the organization.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828" name="Google Shape;4828;p264"/>
          <p:cNvGrpSpPr/>
          <p:nvPr/>
        </p:nvGrpSpPr>
        <p:grpSpPr>
          <a:xfrm>
            <a:off x="469900" y="3819680"/>
            <a:ext cx="8455025" cy="732866"/>
            <a:chOff x="211138" y="3972860"/>
            <a:chExt cx="8713787" cy="642437"/>
          </a:xfrm>
        </p:grpSpPr>
        <p:sp>
          <p:nvSpPr>
            <p:cNvPr id="4829" name="Google Shape;4829;p26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30" name="Google Shape;4830;p26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831" name="Google Shape;4831;p264"/>
          <p:cNvGrpSpPr/>
          <p:nvPr/>
        </p:nvGrpSpPr>
        <p:grpSpPr>
          <a:xfrm>
            <a:off x="7971865" y="980278"/>
            <a:ext cx="949325" cy="2867825"/>
            <a:chOff x="7941888" y="1062037"/>
            <a:chExt cx="983037" cy="2695575"/>
          </a:xfrm>
        </p:grpSpPr>
        <p:sp>
          <p:nvSpPr>
            <p:cNvPr id="4832" name="Google Shape;4832;p26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33" name="Google Shape;4833;p26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834" name="Google Shape;4834;p26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a:solidFill>
                <a:schemeClr val="accent6"/>
              </a:solidFill>
            </a:endParaRPr>
          </a:p>
        </p:txBody>
      </p:sp>
      <p:sp>
        <p:nvSpPr>
          <p:cNvPr id="4835" name="Google Shape;4835;p2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8" name="Shape 4858"/>
        <p:cNvGrpSpPr/>
        <p:nvPr/>
      </p:nvGrpSpPr>
      <p:grpSpPr>
        <a:xfrm>
          <a:off x="0" y="0"/>
          <a:ext cx="0" cy="0"/>
          <a:chOff x="0" y="0"/>
          <a:chExt cx="0" cy="0"/>
        </a:xfrm>
      </p:grpSpPr>
      <p:graphicFrame>
        <p:nvGraphicFramePr>
          <p:cNvPr id="4859" name="Google Shape;4859;p26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 for all customers, and with comprehensive coverage across all products and services, calculated on at least a monthly basis using a rules-based application for flexibility and lower TCO. Granular calculations provide drill-down to individual accounts and profit rules and enable multi-dimensional view of results.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 for all customers, and with comprehensive coverage across all products and services, calculated on at least a monthly basis. ABC costing methods are used to define granular calculations.  Drill-down to individual accounts and profit components.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calculations use customer behaviour (transactions &amp; other events), however limited due to: Incomplete coverage of the P&amp;L (e.g. not including costs, risk or capital); Significant gaps in coverage of customers or product &amp; services; Limited frequency (less than monthly); Limited granularity / detail in profitability results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calculations which are based on assigning average profitability values to customers (or other dimensional view – e.g. product, channel) based on their product holdings.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Multiple profitability models done using averages.  Usually done in Excel, Access or SQL server.  Difficult to source data, inflexible for change, results set not shared across organisation.   Many times these models are built for a one dimensional view of profitability and are only directionally correct.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860" name="Google Shape;4860;p266"/>
          <p:cNvGrpSpPr/>
          <p:nvPr/>
        </p:nvGrpSpPr>
        <p:grpSpPr>
          <a:xfrm>
            <a:off x="469900" y="3819680"/>
            <a:ext cx="8455025" cy="732866"/>
            <a:chOff x="211138" y="3972860"/>
            <a:chExt cx="8713787" cy="642437"/>
          </a:xfrm>
        </p:grpSpPr>
        <p:sp>
          <p:nvSpPr>
            <p:cNvPr id="4861" name="Google Shape;4861;p26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62" name="Google Shape;4862;p26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863" name="Google Shape;4863;p266"/>
          <p:cNvGrpSpPr/>
          <p:nvPr/>
        </p:nvGrpSpPr>
        <p:grpSpPr>
          <a:xfrm>
            <a:off x="7971865" y="980278"/>
            <a:ext cx="949325" cy="2867825"/>
            <a:chOff x="7941888" y="1062037"/>
            <a:chExt cx="983037" cy="2695575"/>
          </a:xfrm>
        </p:grpSpPr>
        <p:sp>
          <p:nvSpPr>
            <p:cNvPr id="4864" name="Google Shape;4864;p26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65" name="Google Shape;4865;p26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866" name="Google Shape;4866;p26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a:solidFill>
                <a:schemeClr val="accent6"/>
              </a:solidFill>
            </a:endParaRPr>
          </a:p>
        </p:txBody>
      </p:sp>
      <p:sp>
        <p:nvSpPr>
          <p:cNvPr id="4867" name="Google Shape;4867;p2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0" name="Shape 4890"/>
        <p:cNvGrpSpPr/>
        <p:nvPr/>
      </p:nvGrpSpPr>
      <p:grpSpPr>
        <a:xfrm>
          <a:off x="0" y="0"/>
          <a:ext cx="0" cy="0"/>
          <a:chOff x="0" y="0"/>
          <a:chExt cx="0" cy="0"/>
        </a:xfrm>
      </p:grpSpPr>
      <p:graphicFrame>
        <p:nvGraphicFramePr>
          <p:cNvPr id="4891" name="Google Shape;4891;p26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 Future/Lifetime Value model for individual customers which includes comprehensive coverage of:</a:t>
                      </a:r>
                      <a:endParaRPr/>
                    </a:p>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Projected cashflows from existing product holdings; Attrition models for existing product holdings, and for Customer attrition; Propensity to buy and Life Stage progression models for new products.; Behavioural usage models for non-contractual products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Propensity models for some key products used to enhance customer-level model with attrition models for existing product holdings, and propensity to buy models for new products.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Basic customer-level NPV model for existing product holdings only, using projected results from current/historic profit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BI / Excel-based NPV models for key products/segments using summarised results from current/historic profit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Excel based model not fed from any upstream application.  Usually a stand-alone or one-off model.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892" name="Google Shape;4892;p268"/>
          <p:cNvGrpSpPr/>
          <p:nvPr/>
        </p:nvGrpSpPr>
        <p:grpSpPr>
          <a:xfrm>
            <a:off x="469900" y="3819680"/>
            <a:ext cx="8455025" cy="732866"/>
            <a:chOff x="211138" y="3972860"/>
            <a:chExt cx="8713787" cy="642437"/>
          </a:xfrm>
        </p:grpSpPr>
        <p:sp>
          <p:nvSpPr>
            <p:cNvPr id="4893" name="Google Shape;4893;p26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94" name="Google Shape;4894;p26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895" name="Google Shape;4895;p268"/>
          <p:cNvGrpSpPr/>
          <p:nvPr/>
        </p:nvGrpSpPr>
        <p:grpSpPr>
          <a:xfrm>
            <a:off x="7971865" y="980278"/>
            <a:ext cx="949325" cy="2867825"/>
            <a:chOff x="7941888" y="1062037"/>
            <a:chExt cx="983037" cy="2695575"/>
          </a:xfrm>
        </p:grpSpPr>
        <p:sp>
          <p:nvSpPr>
            <p:cNvPr id="4896" name="Google Shape;4896;p26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897" name="Google Shape;4897;p26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898" name="Google Shape;4898;p26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a:solidFill>
                <a:schemeClr val="accent6"/>
              </a:solidFill>
            </a:endParaRPr>
          </a:p>
        </p:txBody>
      </p:sp>
      <p:sp>
        <p:nvSpPr>
          <p:cNvPr id="4899" name="Google Shape;4899;p2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2" name="Shape 4922"/>
        <p:cNvGrpSpPr/>
        <p:nvPr/>
      </p:nvGrpSpPr>
      <p:grpSpPr>
        <a:xfrm>
          <a:off x="0" y="0"/>
          <a:ext cx="0" cy="0"/>
          <a:chOff x="0" y="0"/>
          <a:chExt cx="0" cy="0"/>
        </a:xfrm>
      </p:grpSpPr>
      <p:graphicFrame>
        <p:nvGraphicFramePr>
          <p:cNvPr id="4923" name="Google Shape;4923;p27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process with ability to measure, monitor and track profitability improvement opportunities.  Used extensively across the organisation to support a wide range of strategic, tactical and operational decision-making.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also used operationally to deliver information and guidance to staff on customer retention, customer experience, pricing and other operational decisions (e.g. fee refunds)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also used to support product development, product pricing, segment-based offers,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Profitability results are used to deliver summary-level and individual customer reports to managers.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Non-integrated profitability model results which manually feed analytical models.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924" name="Google Shape;4924;p270"/>
          <p:cNvGrpSpPr/>
          <p:nvPr/>
        </p:nvGrpSpPr>
        <p:grpSpPr>
          <a:xfrm>
            <a:off x="469900" y="3819680"/>
            <a:ext cx="8455025" cy="732866"/>
            <a:chOff x="211138" y="3972860"/>
            <a:chExt cx="8713787" cy="642437"/>
          </a:xfrm>
        </p:grpSpPr>
        <p:sp>
          <p:nvSpPr>
            <p:cNvPr id="4925" name="Google Shape;4925;p27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26" name="Google Shape;4926;p27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927" name="Google Shape;4927;p270"/>
          <p:cNvGrpSpPr/>
          <p:nvPr/>
        </p:nvGrpSpPr>
        <p:grpSpPr>
          <a:xfrm>
            <a:off x="7971865" y="980278"/>
            <a:ext cx="949325" cy="2867825"/>
            <a:chOff x="7941888" y="1062037"/>
            <a:chExt cx="983037" cy="2695575"/>
          </a:xfrm>
        </p:grpSpPr>
        <p:sp>
          <p:nvSpPr>
            <p:cNvPr id="4928" name="Google Shape;4928;p27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29" name="Google Shape;4929;p27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930" name="Google Shape;4930;p27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Optimisation</a:t>
            </a:r>
            <a:endParaRPr>
              <a:solidFill>
                <a:schemeClr val="accent6"/>
              </a:solidFill>
            </a:endParaRPr>
          </a:p>
        </p:txBody>
      </p:sp>
      <p:sp>
        <p:nvSpPr>
          <p:cNvPr id="4931" name="Google Shape;4931;p2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4" name="Shape 4954"/>
        <p:cNvGrpSpPr/>
        <p:nvPr/>
      </p:nvGrpSpPr>
      <p:grpSpPr>
        <a:xfrm>
          <a:off x="0" y="0"/>
          <a:ext cx="0" cy="0"/>
          <a:chOff x="0" y="0"/>
          <a:chExt cx="0" cy="0"/>
        </a:xfrm>
      </p:grpSpPr>
      <p:graphicFrame>
        <p:nvGraphicFramePr>
          <p:cNvPr id="4955" name="Google Shape;4955;p27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240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9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Pricing analysis and optimisation is used extensively across the organisation. It uses best-in-class analytical techniques and a broad range of high quality, integrated data to determine the optimal price for products and services. Individual customer-level pricing (or price guidance) is calculated for key products and includes consideration of aspects such as propensity to buy, attrition, customer profitability and price elasticity.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Price elasticity models are developed for key products (identifying the key demographics and behavioural factors which distinguish price sensitivity) and are used to enhance price optimisation strategy and decisions.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50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analysis is performed on a more granular basis, including channel, customer segment, risk grade etc. Detailed profitability data is used as an input to Price optimisation (e.g. identify segments/customers for whom price should be higher to cover behaviourally-driven costs).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50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analysis is performed largely at Product class level based on summary-level data. Price optimisation is largely on a reactive basis in response to performance against targets/plans and competitive pricing.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Pricing models are done at an aggregated level , usually using a manual process to acquire data.  Data based on historical data.  Done in isolation.  Typically done in Excel or Access on an ad-hoc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602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535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535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5350">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956" name="Google Shape;4956;p272"/>
          <p:cNvGrpSpPr/>
          <p:nvPr/>
        </p:nvGrpSpPr>
        <p:grpSpPr>
          <a:xfrm>
            <a:off x="469900" y="3819680"/>
            <a:ext cx="8455025" cy="732866"/>
            <a:chOff x="211138" y="3972860"/>
            <a:chExt cx="8713787" cy="642437"/>
          </a:xfrm>
        </p:grpSpPr>
        <p:sp>
          <p:nvSpPr>
            <p:cNvPr id="4957" name="Google Shape;4957;p27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58" name="Google Shape;4958;p27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959" name="Google Shape;4959;p272"/>
          <p:cNvGrpSpPr/>
          <p:nvPr/>
        </p:nvGrpSpPr>
        <p:grpSpPr>
          <a:xfrm>
            <a:off x="7971865" y="980278"/>
            <a:ext cx="949325" cy="2867825"/>
            <a:chOff x="7941888" y="1062037"/>
            <a:chExt cx="983037" cy="2695575"/>
          </a:xfrm>
        </p:grpSpPr>
        <p:sp>
          <p:nvSpPr>
            <p:cNvPr id="4960" name="Google Shape;4960;p27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61" name="Google Shape;4961;p27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962" name="Google Shape;4962;p27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a:solidFill>
                <a:schemeClr val="accent6"/>
              </a:solidFill>
            </a:endParaRPr>
          </a:p>
        </p:txBody>
      </p:sp>
      <p:sp>
        <p:nvSpPr>
          <p:cNvPr id="4963" name="Google Shape;4963;p2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6" name="Shape 4986"/>
        <p:cNvGrpSpPr/>
        <p:nvPr/>
      </p:nvGrpSpPr>
      <p:grpSpPr>
        <a:xfrm>
          <a:off x="0" y="0"/>
          <a:ext cx="0" cy="0"/>
          <a:chOff x="0" y="0"/>
          <a:chExt cx="0" cy="0"/>
        </a:xfrm>
      </p:grpSpPr>
      <p:graphicFrame>
        <p:nvGraphicFramePr>
          <p:cNvPr id="4987" name="Google Shape;4987;p274"/>
          <p:cNvGraphicFramePr/>
          <p:nvPr/>
        </p:nvGraphicFramePr>
        <p:xfrm>
          <a:off x="469899" y="727585"/>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625">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Performance management is part of the culture of the organisation and is executed on a centralised and co-ordinated basis using an integrated set of validated and quality-assured data.  A comprehensive range of KPIs and other measures are clearly defined and agreed, and cover both strategic and operational performance, using best-in-class data and reporting/BI/Dashboard tools are used to calculate and deliver information to end-users.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Performance management and KPI production is centralised, and most data is available from a single, integrated source. KPIs and other measures are clearly defined and agreed, cover key business functions, and are aligned with strategic objectives. Drill-down from summary-level to detail is available (e.g. total business-&gt;business unit-&gt;individual manager)</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Responsibility for some performance management and KPI production is centralised however data is still fragmented and is subject to manual sourcing, integration and data quality activities.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management is performed independently by many separate functions within the organisation using disparate data, which need to be manually sourced and/or integrated.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Simple KPI reporting functions are produced for use at an executive level for senior management.  Manual data acquisition from non-integrated sources results in reduced response time.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52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3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3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300">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988" name="Google Shape;4988;p274"/>
          <p:cNvGrpSpPr/>
          <p:nvPr/>
        </p:nvGrpSpPr>
        <p:grpSpPr>
          <a:xfrm>
            <a:off x="469900" y="3767573"/>
            <a:ext cx="8455025" cy="732866"/>
            <a:chOff x="211138" y="3972860"/>
            <a:chExt cx="8713787" cy="642437"/>
          </a:xfrm>
        </p:grpSpPr>
        <p:sp>
          <p:nvSpPr>
            <p:cNvPr id="4989" name="Google Shape;4989;p27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90" name="Google Shape;4990;p27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991" name="Google Shape;4991;p274"/>
          <p:cNvGrpSpPr/>
          <p:nvPr/>
        </p:nvGrpSpPr>
        <p:grpSpPr>
          <a:xfrm>
            <a:off x="7971865" y="916670"/>
            <a:ext cx="949325" cy="2867825"/>
            <a:chOff x="7941888" y="1062037"/>
            <a:chExt cx="983037" cy="2695575"/>
          </a:xfrm>
        </p:grpSpPr>
        <p:sp>
          <p:nvSpPr>
            <p:cNvPr id="4992" name="Google Shape;4992;p27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993" name="Google Shape;4993;p27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994" name="Google Shape;4994;p27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a:solidFill>
                <a:schemeClr val="accent6"/>
              </a:solidFill>
            </a:endParaRPr>
          </a:p>
        </p:txBody>
      </p:sp>
      <p:sp>
        <p:nvSpPr>
          <p:cNvPr id="4995" name="Google Shape;4995;p2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8" name="Shape 5018"/>
        <p:cNvGrpSpPr/>
        <p:nvPr/>
      </p:nvGrpSpPr>
      <p:grpSpPr>
        <a:xfrm>
          <a:off x="0" y="0"/>
          <a:ext cx="0" cy="0"/>
          <a:chOff x="0" y="0"/>
          <a:chExt cx="0" cy="0"/>
        </a:xfrm>
      </p:grpSpPr>
      <p:graphicFrame>
        <p:nvGraphicFramePr>
          <p:cNvPr id="5019" name="Google Shape;5019;p27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Automated , integrated inventory analytics solution using  sophisticated modeling tools which enable analysis of stocking levels,  overstock, waste / slippage and optimal inventory projections based on predictive analytics using historical data and emerging trend analysis.  Results are used to optimize or improve cash flow.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Sophisticated reporting and forecasting of inventory based on historical trend analysis which can be shared across the organization and leverages integrated data sources.  Introduction of higher level predictive modeling techniques to predict trends.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Reporting and analysis based data collected form multiple sources – some of which may be done manually.  Non-granular approach, primarily performed at a category or aggregated level.  Optimization capability done at a local level, highly focused on managing across the entire supply chain.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Simple reporting of inventory performance based on aggregated results using BI tools and data acquired form sub-level systems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Periodic Excel spreadsheet of inventory done at an aggregated level and manually sourced.  Single point in time solution.</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020" name="Google Shape;5020;p276"/>
          <p:cNvGrpSpPr/>
          <p:nvPr/>
        </p:nvGrpSpPr>
        <p:grpSpPr>
          <a:xfrm>
            <a:off x="469900" y="3819680"/>
            <a:ext cx="8455025" cy="732866"/>
            <a:chOff x="211138" y="3972860"/>
            <a:chExt cx="8713787" cy="642437"/>
          </a:xfrm>
        </p:grpSpPr>
        <p:sp>
          <p:nvSpPr>
            <p:cNvPr id="5021" name="Google Shape;5021;p27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22" name="Google Shape;5022;p27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023" name="Google Shape;5023;p276"/>
          <p:cNvGrpSpPr/>
          <p:nvPr/>
        </p:nvGrpSpPr>
        <p:grpSpPr>
          <a:xfrm>
            <a:off x="7971865" y="980278"/>
            <a:ext cx="949325" cy="2867825"/>
            <a:chOff x="7941888" y="1062037"/>
            <a:chExt cx="983037" cy="2695575"/>
          </a:xfrm>
        </p:grpSpPr>
        <p:sp>
          <p:nvSpPr>
            <p:cNvPr id="5024" name="Google Shape;5024;p27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25" name="Google Shape;5025;p27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026" name="Google Shape;5026;p27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a:solidFill>
                <a:schemeClr val="accent6"/>
              </a:solidFill>
            </a:endParaRPr>
          </a:p>
        </p:txBody>
      </p:sp>
      <p:sp>
        <p:nvSpPr>
          <p:cNvPr id="5027" name="Google Shape;5027;p2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0" name="Shape 5050"/>
        <p:cNvGrpSpPr/>
        <p:nvPr/>
      </p:nvGrpSpPr>
      <p:grpSpPr>
        <a:xfrm>
          <a:off x="0" y="0"/>
          <a:ext cx="0" cy="0"/>
          <a:chOff x="0" y="0"/>
          <a:chExt cx="0" cy="0"/>
        </a:xfrm>
      </p:grpSpPr>
      <p:graphicFrame>
        <p:nvGraphicFramePr>
          <p:cNvPr id="5051" name="Google Shape;5051;p27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Budgeting, Planning and Forecasting is a largely automated process, utilising data from a single, validated and quality-assured source. Best-in-class tool provides Budgeting, Planning and Forecasting functionality with minimal manual intervention. Fast budget process cycle time. Very high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Budgeting, Planning and Forecasting is mostly centralised, and the majority of required data is available from a single, integrated source. A specialised Budgeting, Planning &amp; Forecasting tool is used. High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Responsibility for Budgeting, Planning and Forecasting is centralised however data is still fragmented and is subject to manual sourcing, integration and data quality activities. Moderate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Budgeting, Planning and Forecasting is performed independently by many separate functions within the organisation using disparate data, which need</a:t>
                      </a:r>
                      <a:r>
                        <a:rPr b="0" lang="en-GB" sz="900">
                          <a:solidFill>
                            <a:srgbClr val="FF0000"/>
                          </a:solidFill>
                          <a:latin typeface="Century Gothic"/>
                          <a:ea typeface="Century Gothic"/>
                          <a:cs typeface="Century Gothic"/>
                          <a:sym typeface="Century Gothic"/>
                        </a:rPr>
                        <a:t>s</a:t>
                      </a:r>
                      <a:r>
                        <a:rPr b="0" lang="en-GB" sz="900">
                          <a:solidFill>
                            <a:schemeClr val="dk1"/>
                          </a:solidFill>
                          <a:latin typeface="Century Gothic"/>
                          <a:ea typeface="Century Gothic"/>
                          <a:cs typeface="Century Gothic"/>
                          <a:sym typeface="Century Gothic"/>
                        </a:rPr>
                        <a:t> to be manually  sourced and/or integrated. Slow budget process cycle time. Low levels of accuracy (actuals : budget)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Static budget done annually, usually using spread sheets and not shared across the organization.  Lack of detail minimises the usefulness.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052" name="Google Shape;5052;p278"/>
          <p:cNvGrpSpPr/>
          <p:nvPr/>
        </p:nvGrpSpPr>
        <p:grpSpPr>
          <a:xfrm>
            <a:off x="469900" y="3819680"/>
            <a:ext cx="8455025" cy="732866"/>
            <a:chOff x="211138" y="3972860"/>
            <a:chExt cx="8713787" cy="642437"/>
          </a:xfrm>
        </p:grpSpPr>
        <p:sp>
          <p:nvSpPr>
            <p:cNvPr id="5053" name="Google Shape;5053;p27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54" name="Google Shape;5054;p27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055" name="Google Shape;5055;p278"/>
          <p:cNvGrpSpPr/>
          <p:nvPr/>
        </p:nvGrpSpPr>
        <p:grpSpPr>
          <a:xfrm>
            <a:off x="7971865" y="980278"/>
            <a:ext cx="949325" cy="2867825"/>
            <a:chOff x="7941888" y="1062037"/>
            <a:chExt cx="983037" cy="2695575"/>
          </a:xfrm>
        </p:grpSpPr>
        <p:sp>
          <p:nvSpPr>
            <p:cNvPr id="5056" name="Google Shape;5056;p27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57" name="Google Shape;5057;p27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058" name="Google Shape;5058;p27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Forecasting</a:t>
            </a:r>
            <a:endParaRPr>
              <a:solidFill>
                <a:schemeClr val="accent6"/>
              </a:solidFill>
            </a:endParaRPr>
          </a:p>
        </p:txBody>
      </p:sp>
      <p:sp>
        <p:nvSpPr>
          <p:cNvPr id="5059" name="Google Shape;5059;p2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2" name="Shape 5082"/>
        <p:cNvGrpSpPr/>
        <p:nvPr/>
      </p:nvGrpSpPr>
      <p:grpSpPr>
        <a:xfrm>
          <a:off x="0" y="0"/>
          <a:ext cx="0" cy="0"/>
          <a:chOff x="0" y="0"/>
          <a:chExt cx="0" cy="0"/>
        </a:xfrm>
      </p:grpSpPr>
      <p:graphicFrame>
        <p:nvGraphicFramePr>
          <p:cNvPr id="5083" name="Google Shape;5083;p28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Business process analytics and optimisation is used extensively across the organisation. A broad range of processes are regularly monitored to identify deterioration or specific areas to focus on. A broad range of structured and multi-structured data is used, which is available with minimal manual sourcing and integration effort, and a broad range of advanced analytical techniques. A structured process exists to deploy improvements into production, and to track improvements and monitor over time.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Business process analytics and optimisation uses a range of structured and multi-structured data, and advanced analytical techniques. A structured process exists to deploy process improvements into production. A track record of process optimisation driving improvements in revenue, cost or customer experience can be demonstrated.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Business process analytics and optimisation uses detailed data to support analysis and optimisation, however this needs to be manually sourced and integrated. Analytical processes are a mixture of manual investigation / insight and use of analytical tools and techniques.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Business process analytics and optimisation is largely manual and based on traditional observation, analysis, time &amp; motion studies and summary-level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Traditional ‘time &amp; motion’ studies, which can be resource-intensive, costly, and disruptive to the business.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084" name="Google Shape;5084;p280"/>
          <p:cNvGrpSpPr/>
          <p:nvPr/>
        </p:nvGrpSpPr>
        <p:grpSpPr>
          <a:xfrm>
            <a:off x="469900" y="3827631"/>
            <a:ext cx="8455025" cy="732866"/>
            <a:chOff x="211138" y="3972860"/>
            <a:chExt cx="8713787" cy="642437"/>
          </a:xfrm>
        </p:grpSpPr>
        <p:sp>
          <p:nvSpPr>
            <p:cNvPr id="5085" name="Google Shape;5085;p28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86" name="Google Shape;5086;p28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087" name="Google Shape;5087;p280"/>
          <p:cNvGrpSpPr/>
          <p:nvPr/>
        </p:nvGrpSpPr>
        <p:grpSpPr>
          <a:xfrm>
            <a:off x="7971865" y="980278"/>
            <a:ext cx="949325" cy="2867825"/>
            <a:chOff x="7941888" y="1062037"/>
            <a:chExt cx="983037" cy="2695575"/>
          </a:xfrm>
        </p:grpSpPr>
        <p:sp>
          <p:nvSpPr>
            <p:cNvPr id="5088" name="Google Shape;5088;p28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089" name="Google Shape;5089;p28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090" name="Google Shape;5090;p28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Optimisation</a:t>
            </a:r>
            <a:endParaRPr>
              <a:solidFill>
                <a:schemeClr val="accent6"/>
              </a:solidFill>
            </a:endParaRPr>
          </a:p>
        </p:txBody>
      </p:sp>
      <p:sp>
        <p:nvSpPr>
          <p:cNvPr id="5091" name="Google Shape;5091;p2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5" name="Shape 5105"/>
        <p:cNvGrpSpPr/>
        <p:nvPr/>
      </p:nvGrpSpPr>
      <p:grpSpPr>
        <a:xfrm>
          <a:off x="0" y="0"/>
          <a:ext cx="0" cy="0"/>
          <a:chOff x="0" y="0"/>
          <a:chExt cx="0" cy="0"/>
        </a:xfrm>
      </p:grpSpPr>
      <p:pic>
        <p:nvPicPr>
          <p:cNvPr id="5106" name="Google Shape;5106;p282"/>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107" name="Google Shape;5107;p282"/>
          <p:cNvSpPr txBox="1"/>
          <p:nvPr>
            <p:ph type="title"/>
          </p:nvPr>
        </p:nvSpPr>
        <p:spPr>
          <a:xfrm>
            <a:off x="477880" y="85725"/>
            <a:ext cx="8401960" cy="793750"/>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br>
              <a:rPr lang="en-GB"/>
            </a:br>
            <a:r>
              <a:rPr lang="en-GB"/>
              <a:t>Business Challenges</a:t>
            </a:r>
            <a:endParaRPr/>
          </a:p>
        </p:txBody>
      </p:sp>
      <p:sp>
        <p:nvSpPr>
          <p:cNvPr id="5108" name="Google Shape;5108;p28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
        <p:nvSpPr>
          <p:cNvPr id="5109" name="Google Shape;5109;p282"/>
          <p:cNvSpPr/>
          <p:nvPr/>
        </p:nvSpPr>
        <p:spPr>
          <a:xfrm>
            <a:off x="475559" y="1076925"/>
            <a:ext cx="8264697" cy="838769"/>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chemeClr val="lt1"/>
                </a:solidFill>
                <a:latin typeface="Century Gothic"/>
                <a:ea typeface="Century Gothic"/>
                <a:cs typeface="Century Gothic"/>
                <a:sym typeface="Century Gothic"/>
              </a:rPr>
              <a:t>Overall challenge</a:t>
            </a:r>
            <a:r>
              <a:rPr lang="en-GB" sz="1400">
                <a:solidFill>
                  <a:schemeClr val="lt1"/>
                </a:solidFill>
                <a:latin typeface="Century Gothic"/>
                <a:ea typeface="Century Gothic"/>
                <a:cs typeface="Century Gothic"/>
                <a:sym typeface="Century Gothic"/>
              </a:rPr>
              <a:t>: Enhanced levels of detail supporting in-depth analysis and reporting with more frequent iterations, and enable cash flow rules to be established / maintained within the Treasury function</a:t>
            </a:r>
            <a:endParaRPr/>
          </a:p>
        </p:txBody>
      </p:sp>
      <p:sp>
        <p:nvSpPr>
          <p:cNvPr id="5110" name="Google Shape;5110;p282"/>
          <p:cNvSpPr/>
          <p:nvPr/>
        </p:nvSpPr>
        <p:spPr>
          <a:xfrm>
            <a:off x="3670300" y="4066286"/>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Leverage multiple data types (e.g. structured &amp; unstructured)and sources in a well governed environment while meeting challenging and tight business,  regulatory and reporting requirements.</a:t>
            </a:r>
            <a:endParaRPr/>
          </a:p>
        </p:txBody>
      </p:sp>
      <p:sp>
        <p:nvSpPr>
          <p:cNvPr id="5111" name="Google Shape;5111;p282"/>
          <p:cNvSpPr/>
          <p:nvPr/>
        </p:nvSpPr>
        <p:spPr>
          <a:xfrm>
            <a:off x="3670300" y="3369173"/>
            <a:ext cx="5069957" cy="680400"/>
          </a:xfrm>
          <a:prstGeom prst="rect">
            <a:avLst/>
          </a:prstGeom>
          <a:solidFill>
            <a:schemeClr val="lt2"/>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Having adequate means to meet day to day expenses, as well as financial obligations in the short-term, respond timely to unexpected liquidity events and a more granular, accurate and timely analysis to support ALM decisions.</a:t>
            </a:r>
            <a:endParaRPr/>
          </a:p>
        </p:txBody>
      </p:sp>
      <p:sp>
        <p:nvSpPr>
          <p:cNvPr id="5112" name="Google Shape;5112;p282"/>
          <p:cNvSpPr/>
          <p:nvPr/>
        </p:nvSpPr>
        <p:spPr>
          <a:xfrm>
            <a:off x="565150" y="4066286"/>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13" name="Google Shape;5113;p282"/>
          <p:cNvSpPr/>
          <p:nvPr/>
        </p:nvSpPr>
        <p:spPr>
          <a:xfrm>
            <a:off x="3670300" y="2667087"/>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Excessive time consuming manual processes resulting from integration of detailed transactional data coming from cash generating systems and cash usage systems.</a:t>
            </a:r>
            <a:endParaRPr sz="900">
              <a:solidFill>
                <a:schemeClr val="dk1"/>
              </a:solidFill>
              <a:latin typeface="Century Gothic"/>
              <a:ea typeface="Century Gothic"/>
              <a:cs typeface="Century Gothic"/>
              <a:sym typeface="Century Gothic"/>
            </a:endParaRPr>
          </a:p>
        </p:txBody>
      </p:sp>
      <p:sp>
        <p:nvSpPr>
          <p:cNvPr id="5114" name="Google Shape;5114;p282"/>
          <p:cNvSpPr/>
          <p:nvPr/>
        </p:nvSpPr>
        <p:spPr>
          <a:xfrm>
            <a:off x="565150" y="2667088"/>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15" name="Google Shape;5115;p282"/>
          <p:cNvSpPr/>
          <p:nvPr/>
        </p:nvSpPr>
        <p:spPr>
          <a:xfrm>
            <a:off x="488950" y="2667088"/>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Costly &amp; time consuming processes</a:t>
            </a:r>
            <a:endParaRPr/>
          </a:p>
        </p:txBody>
      </p:sp>
      <p:sp>
        <p:nvSpPr>
          <p:cNvPr id="5116" name="Google Shape;5116;p282"/>
          <p:cNvSpPr/>
          <p:nvPr/>
        </p:nvSpPr>
        <p:spPr>
          <a:xfrm>
            <a:off x="3670299" y="1962831"/>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Generate detailed , accurate and granular cash flow data to support a range of activities across Treasury and beyond (including ALM, Liquidity Management, Future Value calculations etc.)</a:t>
            </a:r>
            <a:endParaRPr/>
          </a:p>
        </p:txBody>
      </p:sp>
      <p:sp>
        <p:nvSpPr>
          <p:cNvPr id="5117" name="Google Shape;5117;p282"/>
          <p:cNvSpPr/>
          <p:nvPr/>
        </p:nvSpPr>
        <p:spPr>
          <a:xfrm>
            <a:off x="565149" y="1962832"/>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18" name="Google Shape;5118;p282"/>
          <p:cNvSpPr/>
          <p:nvPr/>
        </p:nvSpPr>
        <p:spPr>
          <a:xfrm>
            <a:off x="488949" y="1962832"/>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Comprehensive Access to detailed data</a:t>
            </a:r>
            <a:endParaRPr/>
          </a:p>
        </p:txBody>
      </p:sp>
      <p:sp>
        <p:nvSpPr>
          <p:cNvPr id="5119" name="Google Shape;5119;p282"/>
          <p:cNvSpPr/>
          <p:nvPr/>
        </p:nvSpPr>
        <p:spPr>
          <a:xfrm>
            <a:off x="488950" y="4066286"/>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New data types and sources</a:t>
            </a:r>
            <a:endParaRPr/>
          </a:p>
        </p:txBody>
      </p:sp>
      <p:sp>
        <p:nvSpPr>
          <p:cNvPr id="5120" name="Google Shape;5120;p282"/>
          <p:cNvSpPr/>
          <p:nvPr/>
        </p:nvSpPr>
        <p:spPr>
          <a:xfrm>
            <a:off x="565150" y="3369174"/>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121" name="Google Shape;5121;p282"/>
          <p:cNvSpPr/>
          <p:nvPr/>
        </p:nvSpPr>
        <p:spPr>
          <a:xfrm>
            <a:off x="488950" y="3369174"/>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Matching short term obligations with available “quick assets”</a:t>
            </a:r>
            <a:endParaRPr/>
          </a:p>
        </p:txBody>
      </p:sp>
    </p:spTree>
  </p:cSld>
  <p:clrMapOvr>
    <a:masterClrMapping/>
  </p:clrMapOvr>
</p:sld>
</file>

<file path=ppt/slides/slide2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5" name="Shape 5125"/>
        <p:cNvGrpSpPr/>
        <p:nvPr/>
      </p:nvGrpSpPr>
      <p:grpSpPr>
        <a:xfrm>
          <a:off x="0" y="0"/>
          <a:ext cx="0" cy="0"/>
          <a:chOff x="0" y="0"/>
          <a:chExt cx="0" cy="0"/>
        </a:xfrm>
      </p:grpSpPr>
      <p:sp>
        <p:nvSpPr>
          <p:cNvPr id="5126" name="Google Shape;5126;p283"/>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127" name="Google Shape;5127;p283"/>
          <p:cNvSpPr txBox="1"/>
          <p:nvPr>
            <p:ph idx="4294967295" type="body"/>
          </p:nvPr>
        </p:nvSpPr>
        <p:spPr>
          <a:xfrm>
            <a:off x="288393" y="997338"/>
            <a:ext cx="4831307"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600"/>
              <a:buNone/>
            </a:pPr>
            <a:r>
              <a:rPr b="1" lang="en-GB" sz="1600"/>
              <a:t>   </a:t>
            </a:r>
            <a:r>
              <a:rPr lang="en-GB">
                <a:solidFill>
                  <a:schemeClr val="dk2"/>
                </a:solidFill>
              </a:rPr>
              <a:t>Are You Able To…</a:t>
            </a:r>
            <a:br>
              <a:rPr lang="en-GB">
                <a:solidFill>
                  <a:schemeClr val="dk2"/>
                </a:solidFill>
              </a:rPr>
            </a:br>
            <a:endParaRPr>
              <a:solidFill>
                <a:schemeClr val="dk2"/>
              </a:solidFill>
            </a:endParaRPr>
          </a:p>
          <a:p>
            <a:pPr indent="-228600" lvl="1" marL="457200" rtl="0" algn="l">
              <a:lnSpc>
                <a:spcPct val="100000"/>
              </a:lnSpc>
              <a:spcBef>
                <a:spcPts val="0"/>
              </a:spcBef>
              <a:spcAft>
                <a:spcPts val="0"/>
              </a:spcAft>
              <a:buClr>
                <a:schemeClr val="dk1"/>
              </a:buClr>
              <a:buSzPts val="1300"/>
              <a:buChar char="–"/>
            </a:pPr>
            <a:r>
              <a:rPr lang="en-GB" sz="1300"/>
              <a:t>Maximize investable assets for the longest period possible?</a:t>
            </a:r>
            <a:endParaRPr/>
          </a:p>
          <a:p>
            <a:pPr indent="-228600" lvl="1" marL="457200" rtl="0" algn="l">
              <a:lnSpc>
                <a:spcPct val="100000"/>
              </a:lnSpc>
              <a:spcBef>
                <a:spcPts val="300"/>
              </a:spcBef>
              <a:spcAft>
                <a:spcPts val="0"/>
              </a:spcAft>
              <a:buClr>
                <a:schemeClr val="dk1"/>
              </a:buClr>
              <a:buSzPts val="1300"/>
              <a:buChar char="–"/>
            </a:pPr>
            <a:r>
              <a:rPr lang="en-GB" sz="1300"/>
              <a:t>Generate detailed , accurate and granular cash flow data to support a range of activities across Treasury and beyond (including ALM, Liquidity Management, Future Value calculations etc.)?</a:t>
            </a:r>
            <a:endParaRPr sz="1300"/>
          </a:p>
          <a:p>
            <a:pPr indent="-228600" lvl="1" marL="457200" rtl="0" algn="l">
              <a:lnSpc>
                <a:spcPct val="100000"/>
              </a:lnSpc>
              <a:spcBef>
                <a:spcPts val="300"/>
              </a:spcBef>
              <a:spcAft>
                <a:spcPts val="0"/>
              </a:spcAft>
              <a:buClr>
                <a:schemeClr val="dk1"/>
              </a:buClr>
              <a:buSzPts val="1300"/>
              <a:buChar char="–"/>
            </a:pPr>
            <a:r>
              <a:rPr lang="en-GB" sz="1300"/>
              <a:t>Have clear line of site between “quick assets” and expected short term liabilities?</a:t>
            </a:r>
            <a:endParaRPr sz="1300"/>
          </a:p>
          <a:p>
            <a:pPr indent="-228600" lvl="1" marL="457200" rtl="0" algn="l">
              <a:lnSpc>
                <a:spcPct val="100000"/>
              </a:lnSpc>
              <a:spcBef>
                <a:spcPts val="300"/>
              </a:spcBef>
              <a:spcAft>
                <a:spcPts val="0"/>
              </a:spcAft>
              <a:buClr>
                <a:schemeClr val="dk1"/>
              </a:buClr>
              <a:buSzPts val="1300"/>
              <a:buChar char="–"/>
            </a:pPr>
            <a:r>
              <a:rPr lang="en-GB" sz="1300"/>
              <a:t>Reduce the dependency on SME effort and the “Excel Army”?</a:t>
            </a:r>
            <a:endParaRPr sz="1300"/>
          </a:p>
          <a:p>
            <a:pPr indent="-228600" lvl="1" marL="457200" rtl="0" algn="l">
              <a:lnSpc>
                <a:spcPct val="85000"/>
              </a:lnSpc>
              <a:spcBef>
                <a:spcPts val="500"/>
              </a:spcBef>
              <a:spcAft>
                <a:spcPts val="0"/>
              </a:spcAft>
              <a:buClr>
                <a:schemeClr val="dk1"/>
              </a:buClr>
              <a:buSzPts val="1300"/>
              <a:buFont typeface="Arial"/>
              <a:buChar char="‒"/>
            </a:pPr>
            <a:r>
              <a:rPr lang="en-GB" sz="1300"/>
              <a:t>Manage through unexpected events, e.g. a liquidity event?</a:t>
            </a:r>
            <a:endParaRPr/>
          </a:p>
          <a:p>
            <a:pPr indent="-228600" lvl="1" marL="457200" rtl="0" algn="l">
              <a:lnSpc>
                <a:spcPct val="85000"/>
              </a:lnSpc>
              <a:spcBef>
                <a:spcPts val="400"/>
              </a:spcBef>
              <a:spcAft>
                <a:spcPts val="0"/>
              </a:spcAft>
              <a:buClr>
                <a:schemeClr val="dk1"/>
              </a:buClr>
              <a:buSzPts val="1300"/>
              <a:buFont typeface="Arial"/>
              <a:buChar char="‒"/>
            </a:pPr>
            <a:r>
              <a:rPr lang="en-GB" sz="1300"/>
              <a:t>Support contractual and non-contractual cash flows?</a:t>
            </a:r>
            <a:endParaRPr sz="1300"/>
          </a:p>
        </p:txBody>
      </p:sp>
      <p:sp>
        <p:nvSpPr>
          <p:cNvPr id="5128" name="Google Shape;5128;p283"/>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5129" name="Google Shape;5129;p283"/>
          <p:cNvPicPr preferRelativeResize="0"/>
          <p:nvPr/>
        </p:nvPicPr>
        <p:blipFill rotWithShape="1">
          <a:blip r:embed="rId3">
            <a:alphaModFix/>
          </a:blip>
          <a:srcRect b="0" l="0" r="0" t="0"/>
          <a:stretch/>
        </p:blipFill>
        <p:spPr>
          <a:xfrm>
            <a:off x="5561014" y="967317"/>
            <a:ext cx="3576636" cy="2430846"/>
          </a:xfrm>
          <a:prstGeom prst="rect">
            <a:avLst/>
          </a:prstGeom>
          <a:noFill/>
          <a:ln>
            <a:noFill/>
          </a:ln>
        </p:spPr>
      </p:pic>
      <p:sp>
        <p:nvSpPr>
          <p:cNvPr id="5130" name="Google Shape;5130;p28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4" name="Shape 5134"/>
        <p:cNvGrpSpPr/>
        <p:nvPr/>
      </p:nvGrpSpPr>
      <p:grpSpPr>
        <a:xfrm>
          <a:off x="0" y="0"/>
          <a:ext cx="0" cy="0"/>
          <a:chOff x="0" y="0"/>
          <a:chExt cx="0" cy="0"/>
        </a:xfrm>
      </p:grpSpPr>
      <p:sp>
        <p:nvSpPr>
          <p:cNvPr id="5135" name="Google Shape;5135;p284"/>
          <p:cNvSpPr txBox="1"/>
          <p:nvPr>
            <p:ph idx="1" type="body"/>
          </p:nvPr>
        </p:nvSpPr>
        <p:spPr>
          <a:xfrm>
            <a:off x="467360" y="1182730"/>
            <a:ext cx="4753226"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71450" lvl="0" marL="171450" rtl="0" algn="l">
              <a:lnSpc>
                <a:spcPct val="95000"/>
              </a:lnSpc>
              <a:spcBef>
                <a:spcPts val="800"/>
              </a:spcBef>
              <a:spcAft>
                <a:spcPts val="0"/>
              </a:spcAft>
              <a:buClr>
                <a:schemeClr val="dk1"/>
              </a:buClr>
              <a:buSzPts val="1400"/>
              <a:buChar char="•"/>
            </a:pPr>
            <a:r>
              <a:rPr lang="en-GB" sz="1400"/>
              <a:t>Generate greater granular view of Cash flow to enable enhanced ALM and Liquidity Management capabilities.</a:t>
            </a:r>
            <a:endParaRPr/>
          </a:p>
          <a:p>
            <a:pPr indent="-171450" lvl="0" marL="171450" rtl="0" algn="l">
              <a:lnSpc>
                <a:spcPct val="95000"/>
              </a:lnSpc>
              <a:spcBef>
                <a:spcPts val="800"/>
              </a:spcBef>
              <a:spcAft>
                <a:spcPts val="0"/>
              </a:spcAft>
              <a:buClr>
                <a:schemeClr val="dk1"/>
              </a:buClr>
              <a:buSzPts val="1400"/>
              <a:buChar char="•"/>
            </a:pPr>
            <a:r>
              <a:rPr lang="en-GB" sz="1400"/>
              <a:t>Accelerate time to cash flow insight</a:t>
            </a:r>
            <a:endParaRPr/>
          </a:p>
          <a:p>
            <a:pPr indent="-171450" lvl="0" marL="171450" rtl="0" algn="l">
              <a:lnSpc>
                <a:spcPct val="95000"/>
              </a:lnSpc>
              <a:spcBef>
                <a:spcPts val="800"/>
              </a:spcBef>
              <a:spcAft>
                <a:spcPts val="0"/>
              </a:spcAft>
              <a:buClr>
                <a:schemeClr val="dk1"/>
              </a:buClr>
              <a:buSzPts val="1400"/>
              <a:buChar char="•"/>
            </a:pPr>
            <a:r>
              <a:rPr lang="en-GB" sz="1400"/>
              <a:t>Flexible functionality enabling cash flow rules  established and maintained without hard-coding and with minimal IT requirement.</a:t>
            </a:r>
            <a:endParaRPr/>
          </a:p>
          <a:p>
            <a:pPr indent="-171450" lvl="0" marL="171450" rtl="0" algn="l">
              <a:lnSpc>
                <a:spcPct val="95000"/>
              </a:lnSpc>
              <a:spcBef>
                <a:spcPts val="800"/>
              </a:spcBef>
              <a:spcAft>
                <a:spcPts val="0"/>
              </a:spcAft>
              <a:buClr>
                <a:schemeClr val="dk1"/>
              </a:buClr>
              <a:buSzPts val="1400"/>
              <a:buChar char="•"/>
            </a:pPr>
            <a:r>
              <a:rPr lang="en-GB" sz="1400"/>
              <a:t>Support for contractual and non-contractual cash flows</a:t>
            </a:r>
            <a:endParaRPr/>
          </a:p>
          <a:p>
            <a:pPr indent="-171450" lvl="0" marL="171450" rtl="0" algn="l">
              <a:lnSpc>
                <a:spcPct val="95000"/>
              </a:lnSpc>
              <a:spcBef>
                <a:spcPts val="800"/>
              </a:spcBef>
              <a:spcAft>
                <a:spcPts val="0"/>
              </a:spcAft>
              <a:buClr>
                <a:schemeClr val="dk1"/>
              </a:buClr>
              <a:buSzPts val="1400"/>
              <a:buChar char="•"/>
            </a:pPr>
            <a:r>
              <a:rPr lang="en-GB" sz="1400"/>
              <a:t>Accurate Liquidity information at multiple levels (legal entity, business line, product, customer, transaction)</a:t>
            </a:r>
            <a:endParaRPr sz="1400"/>
          </a:p>
        </p:txBody>
      </p:sp>
      <p:sp>
        <p:nvSpPr>
          <p:cNvPr id="5136" name="Google Shape;5136;p284"/>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137" name="Google Shape;5137;p284"/>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38" name="Google Shape;5138;p2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id="5139" name="Google Shape;5139;p284"/>
          <p:cNvPicPr preferRelativeResize="0"/>
          <p:nvPr/>
        </p:nvPicPr>
        <p:blipFill rotWithShape="1">
          <a:blip r:embed="rId4">
            <a:alphaModFix/>
          </a:blip>
          <a:srcRect b="0" l="0" r="0" t="0"/>
          <a:stretch/>
        </p:blipFill>
        <p:spPr>
          <a:xfrm>
            <a:off x="5561014" y="967317"/>
            <a:ext cx="3576636" cy="2430846"/>
          </a:xfrm>
          <a:prstGeom prst="rect">
            <a:avLst/>
          </a:prstGeom>
          <a:noFill/>
          <a:ln>
            <a:noFill/>
          </a:ln>
        </p:spPr>
      </p:pic>
    </p:spTree>
  </p:cSld>
  <p:clrMapOvr>
    <a:masterClrMapping/>
  </p:clrMapOvr>
</p:sld>
</file>

<file path=ppt/slides/slide2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3" name="Shape 5143"/>
        <p:cNvGrpSpPr/>
        <p:nvPr/>
      </p:nvGrpSpPr>
      <p:grpSpPr>
        <a:xfrm>
          <a:off x="0" y="0"/>
          <a:ext cx="0" cy="0"/>
          <a:chOff x="0" y="0"/>
          <a:chExt cx="0" cy="0"/>
        </a:xfrm>
      </p:grpSpPr>
      <p:pic>
        <p:nvPicPr>
          <p:cNvPr id="5144" name="Google Shape;5144;p285"/>
          <p:cNvPicPr preferRelativeResize="0"/>
          <p:nvPr/>
        </p:nvPicPr>
        <p:blipFill rotWithShape="1">
          <a:blip r:embed="rId3">
            <a:alphaModFix/>
          </a:blip>
          <a:srcRect b="0" l="3653" r="19512" t="0"/>
          <a:stretch/>
        </p:blipFill>
        <p:spPr>
          <a:xfrm>
            <a:off x="5549900" y="0"/>
            <a:ext cx="3594100" cy="5143500"/>
          </a:xfrm>
          <a:prstGeom prst="rect">
            <a:avLst/>
          </a:prstGeom>
          <a:noFill/>
          <a:ln>
            <a:noFill/>
          </a:ln>
        </p:spPr>
      </p:pic>
      <p:sp>
        <p:nvSpPr>
          <p:cNvPr id="5145" name="Google Shape;5145;p285"/>
          <p:cNvSpPr txBox="1"/>
          <p:nvPr>
            <p:ph type="title"/>
          </p:nvPr>
        </p:nvSpPr>
        <p:spPr>
          <a:xfrm>
            <a:off x="477880" y="-384527"/>
            <a:ext cx="553684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Treasury Management</a:t>
            </a:r>
            <a:endParaRPr/>
          </a:p>
        </p:txBody>
      </p:sp>
      <p:sp>
        <p:nvSpPr>
          <p:cNvPr id="5146" name="Google Shape;5146;p2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grpSp>
        <p:nvGrpSpPr>
          <p:cNvPr id="5147" name="Google Shape;5147;p285"/>
          <p:cNvGrpSpPr/>
          <p:nvPr/>
        </p:nvGrpSpPr>
        <p:grpSpPr>
          <a:xfrm>
            <a:off x="488950" y="1276350"/>
            <a:ext cx="5808183" cy="720000"/>
            <a:chOff x="462442" y="1276350"/>
            <a:chExt cx="5808183" cy="597600"/>
          </a:xfrm>
        </p:grpSpPr>
        <p:sp>
          <p:nvSpPr>
            <p:cNvPr id="5148" name="Google Shape;5148;p285"/>
            <p:cNvSpPr/>
            <p:nvPr/>
          </p:nvSpPr>
          <p:spPr>
            <a:xfrm>
              <a:off x="2600325" y="1276350"/>
              <a:ext cx="3670300"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Improved management and monitoring of short- and long-term liquidity</a:t>
              </a:r>
              <a:endParaRPr/>
            </a:p>
          </p:txBody>
        </p:sp>
        <p:sp>
          <p:nvSpPr>
            <p:cNvPr id="5149" name="Google Shape;5149;p285"/>
            <p:cNvSpPr/>
            <p:nvPr/>
          </p:nvSpPr>
          <p:spPr>
            <a:xfrm>
              <a:off x="462442" y="12763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Enhanced liquidity management</a:t>
              </a:r>
              <a:endParaRPr/>
            </a:p>
          </p:txBody>
        </p:sp>
      </p:grpSp>
      <p:grpSp>
        <p:nvGrpSpPr>
          <p:cNvPr id="5150" name="Google Shape;5150;p285"/>
          <p:cNvGrpSpPr/>
          <p:nvPr/>
        </p:nvGrpSpPr>
        <p:grpSpPr>
          <a:xfrm>
            <a:off x="488950" y="2035038"/>
            <a:ext cx="5808440" cy="720000"/>
            <a:chOff x="462442" y="1955625"/>
            <a:chExt cx="5808440" cy="597600"/>
          </a:xfrm>
        </p:grpSpPr>
        <p:sp>
          <p:nvSpPr>
            <p:cNvPr id="5151" name="Google Shape;5151;p285"/>
            <p:cNvSpPr/>
            <p:nvPr/>
          </p:nvSpPr>
          <p:spPr>
            <a:xfrm>
              <a:off x="2565974" y="1955625"/>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Meet current corporate, regulatory  and other reporting requirements on a timely basis.</a:t>
              </a:r>
              <a:endParaRPr sz="1000">
                <a:solidFill>
                  <a:srgbClr val="5F6062"/>
                </a:solidFill>
                <a:latin typeface="Century Gothic"/>
                <a:ea typeface="Century Gothic"/>
                <a:cs typeface="Century Gothic"/>
                <a:sym typeface="Century Gothic"/>
              </a:endParaRPr>
            </a:p>
          </p:txBody>
        </p:sp>
        <p:sp>
          <p:nvSpPr>
            <p:cNvPr id="5152" name="Google Shape;5152;p285"/>
            <p:cNvSpPr/>
            <p:nvPr/>
          </p:nvSpPr>
          <p:spPr>
            <a:xfrm>
              <a:off x="462442" y="1955625"/>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Accelerated analytics &amp; reporting</a:t>
              </a:r>
              <a:endParaRPr/>
            </a:p>
          </p:txBody>
        </p:sp>
      </p:grpSp>
      <p:grpSp>
        <p:nvGrpSpPr>
          <p:cNvPr id="5153" name="Google Shape;5153;p285"/>
          <p:cNvGrpSpPr/>
          <p:nvPr/>
        </p:nvGrpSpPr>
        <p:grpSpPr>
          <a:xfrm>
            <a:off x="488950" y="2793726"/>
            <a:ext cx="5800246" cy="720000"/>
            <a:chOff x="462442" y="2631411"/>
            <a:chExt cx="5800246" cy="597600"/>
          </a:xfrm>
        </p:grpSpPr>
        <p:sp>
          <p:nvSpPr>
            <p:cNvPr id="5154" name="Google Shape;5154;p285"/>
            <p:cNvSpPr/>
            <p:nvPr/>
          </p:nvSpPr>
          <p:spPr>
            <a:xfrm>
              <a:off x="2557780" y="2631411"/>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Ability to analyse / evaluate the organization’s short and long-term viability under different forward-looking strategies</a:t>
              </a:r>
              <a:endParaRPr sz="1000">
                <a:solidFill>
                  <a:srgbClr val="5F6062"/>
                </a:solidFill>
                <a:latin typeface="Century Gothic"/>
                <a:ea typeface="Century Gothic"/>
                <a:cs typeface="Century Gothic"/>
                <a:sym typeface="Century Gothic"/>
              </a:endParaRPr>
            </a:p>
          </p:txBody>
        </p:sp>
        <p:sp>
          <p:nvSpPr>
            <p:cNvPr id="5155" name="Google Shape;5155;p285"/>
            <p:cNvSpPr/>
            <p:nvPr/>
          </p:nvSpPr>
          <p:spPr>
            <a:xfrm>
              <a:off x="462442" y="2631411"/>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Agility to respond to business events</a:t>
              </a:r>
              <a:endParaRPr/>
            </a:p>
          </p:txBody>
        </p:sp>
      </p:grpSp>
      <p:grpSp>
        <p:nvGrpSpPr>
          <p:cNvPr id="5156" name="Google Shape;5156;p285"/>
          <p:cNvGrpSpPr/>
          <p:nvPr/>
        </p:nvGrpSpPr>
        <p:grpSpPr>
          <a:xfrm>
            <a:off x="488950" y="3552414"/>
            <a:ext cx="5800246" cy="720000"/>
            <a:chOff x="462442" y="3299050"/>
            <a:chExt cx="5800246" cy="597600"/>
          </a:xfrm>
        </p:grpSpPr>
        <p:sp>
          <p:nvSpPr>
            <p:cNvPr id="5157" name="Google Shape;5157;p285"/>
            <p:cNvSpPr/>
            <p:nvPr/>
          </p:nvSpPr>
          <p:spPr>
            <a:xfrm>
              <a:off x="2557780" y="3299050"/>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Significantly enhanced, consistent, and reliable data across all capital requirements</a:t>
              </a:r>
              <a:endParaRPr/>
            </a:p>
          </p:txBody>
        </p:sp>
        <p:sp>
          <p:nvSpPr>
            <p:cNvPr id="5158" name="Google Shape;5158;p285"/>
            <p:cNvSpPr/>
            <p:nvPr/>
          </p:nvSpPr>
          <p:spPr>
            <a:xfrm>
              <a:off x="462442" y="32990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quality and consistency</a:t>
              </a:r>
              <a:endParaRPr/>
            </a:p>
          </p:txBody>
        </p:sp>
      </p:gr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1" name="Shape 5181"/>
        <p:cNvGrpSpPr/>
        <p:nvPr/>
      </p:nvGrpSpPr>
      <p:grpSpPr>
        <a:xfrm>
          <a:off x="0" y="0"/>
          <a:ext cx="0" cy="0"/>
          <a:chOff x="0" y="0"/>
          <a:chExt cx="0" cy="0"/>
        </a:xfrm>
      </p:grpSpPr>
      <p:graphicFrame>
        <p:nvGraphicFramePr>
          <p:cNvPr id="5182" name="Google Shape;5182;p28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analytics and modelling uses best-in-class tools against a single, integrated and validated set of input data. Models are developed using rules-based functionality and generally generate cashflows on a granular basis (agreement/contract-level). </a:t>
                      </a:r>
                      <a:endParaRPr b="0" sz="900" strike="sngStrike">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analytics and modelling are based on an integrated and validated set of input data. Models are developed using rules-based functionality and generally generate cashflows on a granular basis (agreement/contract-level).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modelling and generation takes place for portfolios / products using a single, integrated and validated set of input data. Significant coverage of granular cashflow generation.</a:t>
                      </a:r>
                      <a:endParaRPr b="0" sz="900" strike="sngStrike">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modelling is shifting from on a summary-level towards (more) granular cashflows generated for some portfolios / products. Cashflow generation is executed using hard-coded routines which require significant technical/IT effort to maintain. Data is sourced from disparate operational systems and other sources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Cashflow modelling occurs only at a summary-level. Input data requires manual sourcing, integration and validation.</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183" name="Google Shape;5183;p287"/>
          <p:cNvGrpSpPr/>
          <p:nvPr/>
        </p:nvGrpSpPr>
        <p:grpSpPr>
          <a:xfrm>
            <a:off x="469900" y="3819680"/>
            <a:ext cx="8455025" cy="732866"/>
            <a:chOff x="211138" y="3972860"/>
            <a:chExt cx="8713787" cy="642437"/>
          </a:xfrm>
        </p:grpSpPr>
        <p:sp>
          <p:nvSpPr>
            <p:cNvPr id="5184" name="Google Shape;5184;p28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185" name="Google Shape;5185;p28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186" name="Google Shape;5186;p287"/>
          <p:cNvGrpSpPr/>
          <p:nvPr/>
        </p:nvGrpSpPr>
        <p:grpSpPr>
          <a:xfrm>
            <a:off x="7971865" y="980278"/>
            <a:ext cx="949325" cy="2867825"/>
            <a:chOff x="7941888" y="1062037"/>
            <a:chExt cx="983037" cy="2695575"/>
          </a:xfrm>
        </p:grpSpPr>
        <p:sp>
          <p:nvSpPr>
            <p:cNvPr id="5187" name="Google Shape;5187;p28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188" name="Google Shape;5188;p28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189" name="Google Shape;5189;p28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a:solidFill>
                <a:schemeClr val="accent6"/>
              </a:solidFill>
            </a:endParaRPr>
          </a:p>
        </p:txBody>
      </p:sp>
      <p:sp>
        <p:nvSpPr>
          <p:cNvPr id="5190" name="Google Shape;5190;p2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3" name="Shape 5213"/>
        <p:cNvGrpSpPr/>
        <p:nvPr/>
      </p:nvGrpSpPr>
      <p:grpSpPr>
        <a:xfrm>
          <a:off x="0" y="0"/>
          <a:ext cx="0" cy="0"/>
          <a:chOff x="0" y="0"/>
          <a:chExt cx="0" cy="0"/>
        </a:xfrm>
      </p:grpSpPr>
      <p:graphicFrame>
        <p:nvGraphicFramePr>
          <p:cNvPr id="5214" name="Google Shape;5214;p28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625">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Fully integrated risk and collateral management and reporting environment. Liquidity management policy and practice supported by a data and analytic centric information architecture. Ad-hoc analytics requiring granular level data across multiple dimensions (asset, tenor, time period etc.) can be fulfilled well within speed-of-business demands. Data capabilities support streaming and real-time market data updates.</a:t>
                      </a:r>
                      <a:endParaRPr b="0" sz="8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Single source of liquidity management data based on a common integrated enterprise data platform supporting aggregation and analysis across the interplay of liquidity with assets liabilities and capital. Comprehensive analytical capabilities available. Materially compliant with BCBS 239 but some legacy / manual processing still evident (e.g. stress scenarios). </a:t>
                      </a:r>
                      <a:endParaRPr b="0" sz="8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Liquidity analytics and reporting supported through line-of-business data warehousing. Integration and aggregation of liquidity data still dependent on app centric data architecture for granular analytics.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6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Liquidity management policies and standards meet minimum regulatory standards for intra-day liquidity management. Reporting at summary Market/Liquidity Risk and Funding/Liquidity Risk levels. Deeper levels of granular analysis requires integration of source data for each new use case. Functional data marts are common.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Liquidity management policies and standards are not yet sufficient to comply with regulatory standards. They may be under development. Adequate tools to support intraday liquidity management are not yet in place.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52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300">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300">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300">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215" name="Google Shape;5215;p289"/>
          <p:cNvGrpSpPr/>
          <p:nvPr/>
        </p:nvGrpSpPr>
        <p:grpSpPr>
          <a:xfrm>
            <a:off x="7971865" y="980278"/>
            <a:ext cx="949325" cy="2867825"/>
            <a:chOff x="7941888" y="1062037"/>
            <a:chExt cx="983037" cy="2695575"/>
          </a:xfrm>
        </p:grpSpPr>
        <p:sp>
          <p:nvSpPr>
            <p:cNvPr id="5216" name="Google Shape;5216;p28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17" name="Google Shape;5217;p28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218" name="Google Shape;5218;p289"/>
          <p:cNvSpPr txBox="1"/>
          <p:nvPr>
            <p:ph type="title"/>
          </p:nvPr>
        </p:nvSpPr>
        <p:spPr>
          <a:xfrm>
            <a:off x="381000" y="304619"/>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a:solidFill>
                <a:schemeClr val="accent6"/>
              </a:solidFill>
            </a:endParaRPr>
          </a:p>
        </p:txBody>
      </p:sp>
      <p:grpSp>
        <p:nvGrpSpPr>
          <p:cNvPr id="5219" name="Google Shape;5219;p289"/>
          <p:cNvGrpSpPr/>
          <p:nvPr/>
        </p:nvGrpSpPr>
        <p:grpSpPr>
          <a:xfrm>
            <a:off x="469900" y="3827631"/>
            <a:ext cx="8455025" cy="732866"/>
            <a:chOff x="211138" y="3972860"/>
            <a:chExt cx="8713787" cy="642437"/>
          </a:xfrm>
        </p:grpSpPr>
        <p:sp>
          <p:nvSpPr>
            <p:cNvPr id="5220" name="Google Shape;5220;p28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21" name="Google Shape;5221;p28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sp>
        <p:nvSpPr>
          <p:cNvPr id="5222" name="Google Shape;5222;p2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5" name="Shape 5245"/>
        <p:cNvGrpSpPr/>
        <p:nvPr/>
      </p:nvGrpSpPr>
      <p:grpSpPr>
        <a:xfrm>
          <a:off x="0" y="0"/>
          <a:ext cx="0" cy="0"/>
          <a:chOff x="0" y="0"/>
          <a:chExt cx="0" cy="0"/>
        </a:xfrm>
      </p:grpSpPr>
      <p:graphicFrame>
        <p:nvGraphicFramePr>
          <p:cNvPr id="5246" name="Google Shape;5246;p29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Capital Planning &amp; Management analysis and reporting is delivered as integrated part of enterprise data &amp; analytical capability, using common validated and quality-assured data with audit trail. All data loaded at least daily, and where relevant / required on near real-time basis. Regular analysis &amp; reporting performed using shared tools and services, and well within speed-of-business and/or regulatory demands.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analysis and reporting is generally delivered as integrated part of enterprise data &amp; analytical capability, although some aspects may still rely on Treasury- or line-of-business data warehousing, or application-specific data architecture components. All data loaded at least daily.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is generally supported through dedicated Treasury- or line-of-business data warehousing. Integration and aggregation of Capital Planning &amp; Management data for analytical purposes is still dependent on application centric data architecture.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is performed largely using summary-level data which is sourced into application- or function-specific data mart(s). Deeper levels of granular analysis requires integration of source data for each new use case.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Capital Planning &amp; Management is only performed based on summary-level data.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247" name="Google Shape;5247;p291"/>
          <p:cNvGrpSpPr/>
          <p:nvPr/>
        </p:nvGrpSpPr>
        <p:grpSpPr>
          <a:xfrm>
            <a:off x="469900" y="3827631"/>
            <a:ext cx="8455025" cy="732866"/>
            <a:chOff x="211138" y="3972860"/>
            <a:chExt cx="8713787" cy="642437"/>
          </a:xfrm>
        </p:grpSpPr>
        <p:sp>
          <p:nvSpPr>
            <p:cNvPr id="5248" name="Google Shape;5248;p29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49" name="Google Shape;5249;p29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250" name="Google Shape;5250;p291"/>
          <p:cNvGrpSpPr/>
          <p:nvPr/>
        </p:nvGrpSpPr>
        <p:grpSpPr>
          <a:xfrm>
            <a:off x="7971865" y="980278"/>
            <a:ext cx="949325" cy="2867825"/>
            <a:chOff x="7941888" y="1062037"/>
            <a:chExt cx="983037" cy="2695575"/>
          </a:xfrm>
        </p:grpSpPr>
        <p:sp>
          <p:nvSpPr>
            <p:cNvPr id="5251" name="Google Shape;5251;p29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52" name="Google Shape;5252;p29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253" name="Google Shape;5253;p29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a:solidFill>
                <a:schemeClr val="accent6"/>
              </a:solidFill>
            </a:endParaRPr>
          </a:p>
        </p:txBody>
      </p:sp>
      <p:sp>
        <p:nvSpPr>
          <p:cNvPr id="5254" name="Google Shape;5254;p2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7" name="Shape 5277"/>
        <p:cNvGrpSpPr/>
        <p:nvPr/>
      </p:nvGrpSpPr>
      <p:grpSpPr>
        <a:xfrm>
          <a:off x="0" y="0"/>
          <a:ext cx="0" cy="0"/>
          <a:chOff x="0" y="0"/>
          <a:chExt cx="0" cy="0"/>
        </a:xfrm>
      </p:grpSpPr>
      <p:graphicFrame>
        <p:nvGraphicFramePr>
          <p:cNvPr id="5278" name="Google Shape;5278;p29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ALM analysis and reporting is delivered as integrated part of enterprise data &amp; analytical capability, using common validated and quality-assured data with audit trail. All data loaded at least daily, and where relevant / required on near real-time basis. Analysis &amp; reporting performed in-database using shared tools and services, and well within speed-of-business and/or regulatory demands or if dedicated ALM tools/applications are used then they are best-in-class and use the enterprise data.</a:t>
                      </a:r>
                      <a:endParaRPr b="0" sz="8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ALM analysis and reporting is generally delivered as integrated part of enterprise data &amp; analytical capability, although some aspects may still rely on Treasury or line-of-business data warehousing, or application-specific data architecture components. All data loaded at least daily, and where relevant / required on near real-time basis.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 &amp; Liability Management is generally supported through dedicated Treasury- or line-of-business data warehousing. Integration and aggregation of ALM data for analytical purposes is still dependent on application centric data architecture.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 &amp; Liability Management  is performed largely using summary-level data which is sourced into application- or function-specific data mart(s). Deeper levels of granular analysis requires integration of source data for each new use case.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Asset&amp; Liability Management is not institutionalized . It is managed by the CFO and/or Controller as an ad-hoc process, largely using summary-level data  which is manually sourced.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279" name="Google Shape;5279;p293"/>
          <p:cNvGrpSpPr/>
          <p:nvPr/>
        </p:nvGrpSpPr>
        <p:grpSpPr>
          <a:xfrm>
            <a:off x="469900" y="3827631"/>
            <a:ext cx="8455025" cy="732866"/>
            <a:chOff x="211138" y="3972860"/>
            <a:chExt cx="8713787" cy="642437"/>
          </a:xfrm>
        </p:grpSpPr>
        <p:sp>
          <p:nvSpPr>
            <p:cNvPr id="5280" name="Google Shape;5280;p29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81" name="Google Shape;5281;p29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282" name="Google Shape;5282;p293"/>
          <p:cNvGrpSpPr/>
          <p:nvPr/>
        </p:nvGrpSpPr>
        <p:grpSpPr>
          <a:xfrm>
            <a:off x="7971865" y="980278"/>
            <a:ext cx="949325" cy="2867825"/>
            <a:chOff x="7941888" y="1062037"/>
            <a:chExt cx="983037" cy="2695575"/>
          </a:xfrm>
        </p:grpSpPr>
        <p:sp>
          <p:nvSpPr>
            <p:cNvPr id="5283" name="Google Shape;5283;p29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284" name="Google Shape;5284;p29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285" name="Google Shape;5285;p29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a:solidFill>
                <a:schemeClr val="accent6"/>
              </a:solidFill>
            </a:endParaRPr>
          </a:p>
        </p:txBody>
      </p:sp>
      <p:sp>
        <p:nvSpPr>
          <p:cNvPr id="5286" name="Google Shape;5286;p2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9" name="Shape 5309"/>
        <p:cNvGrpSpPr/>
        <p:nvPr/>
      </p:nvGrpSpPr>
      <p:grpSpPr>
        <a:xfrm>
          <a:off x="0" y="0"/>
          <a:ext cx="0" cy="0"/>
          <a:chOff x="0" y="0"/>
          <a:chExt cx="0" cy="0"/>
        </a:xfrm>
      </p:grpSpPr>
      <p:graphicFrame>
        <p:nvGraphicFramePr>
          <p:cNvPr id="5310" name="Google Shape;5310;p29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Funds Transfer Pricing uses best-in-class, business user configurable tools to inform funding, pricing, liquidity and planning decisions on a daily (or intra-day) basis. A single validated set of granular input data is sourced from an integrated, cross-functional data warehouse.  A comprehensive set of FTP methodologies are supported, which are  matched to the funding characteristics of each instrument.  FTP is calculated at the individual instrument level as part of a comprehensive profitability model to support consistent multi-dimensional analysis.</a:t>
                      </a:r>
                      <a:r>
                        <a:rPr b="0" lang="en-GB" sz="800" strike="sngStrike">
                          <a:solidFill>
                            <a:schemeClr val="dk1"/>
                          </a:solidFill>
                          <a:latin typeface="Century Gothic"/>
                          <a:ea typeface="Century Gothic"/>
                          <a:cs typeface="Century Gothic"/>
                          <a:sym typeface="Century Gothic"/>
                        </a:rPr>
                        <a:t> </a:t>
                      </a:r>
                      <a:endParaRPr b="0" sz="800" strike="sngStrike">
                        <a:solidFill>
                          <a:schemeClr val="dk1"/>
                        </a:solidFill>
                        <a:latin typeface="Century Gothic"/>
                        <a:ea typeface="Century Gothic"/>
                        <a:cs typeface="Century Gothic"/>
                        <a:sym typeface="Century Gothic"/>
                      </a:endParaRPr>
                    </a:p>
                  </a:txBody>
                  <a:tcPr marT="18000" marB="180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Funds Transfer Pricing uses best-in-class, business user configurable tools to inform funding, pricing, liquidity and planning decisions on a monthly basis. A single validated set of granular input data is sourced from an integrated, cross-functional data warehouse.  A comprehensive set of FTP methodologies are supported, which are  matched to the funding characteristics of each instrument.  FTP is mainly calculated at the individual instrument level with some portfolio level pooling, as part of a comprehensive profitability model to support consistent multi-dimensional analysis.</a:t>
                      </a:r>
                      <a:r>
                        <a:rPr b="0" lang="en-GB" sz="800" strike="sngStrike">
                          <a:solidFill>
                            <a:schemeClr val="dk1"/>
                          </a:solidFill>
                          <a:latin typeface="Century Gothic"/>
                          <a:ea typeface="Century Gothic"/>
                          <a:cs typeface="Century Gothic"/>
                          <a:sym typeface="Century Gothic"/>
                        </a:rPr>
                        <a:t> </a:t>
                      </a:r>
                      <a:endParaRPr b="0" sz="800">
                        <a:solidFill>
                          <a:schemeClr val="dk1"/>
                        </a:solidFill>
                        <a:latin typeface="Century Gothic"/>
                        <a:ea typeface="Century Gothic"/>
                        <a:cs typeface="Century Gothic"/>
                        <a:sym typeface="Century Gothic"/>
                      </a:endParaRPr>
                    </a:p>
                  </a:txBody>
                  <a:tcPr marT="18000" marB="180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Funds Transfer Pricing generally occurs monthly, at a summary(portfolio) level and uses an application-centric approach, with limited sophistication (simple pool rates and other non DCF methodologies). Data is sourced from disparate operational systems and other sources on a largely automated basis into an application data mart. Limited drill-down to granular levels is availability.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282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Funds Transfer Pricing occurs only at a summary (portfolio) level on a monthly basis, using a desktop tool (e.g. excel).  Input data requires manual sourcing, integration and validation.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Funds Transfer Pricing is not calculated or is performed on GL balances as part of the monthly close process by applying simple pool rates in excel.</a:t>
                      </a:r>
                      <a:endParaRPr b="0" sz="900" strike="sngStrike">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311" name="Google Shape;5311;p295"/>
          <p:cNvGrpSpPr/>
          <p:nvPr/>
        </p:nvGrpSpPr>
        <p:grpSpPr>
          <a:xfrm>
            <a:off x="469900" y="3924300"/>
            <a:ext cx="8455025" cy="732866"/>
            <a:chOff x="211138" y="3972860"/>
            <a:chExt cx="8713787" cy="642437"/>
          </a:xfrm>
        </p:grpSpPr>
        <p:sp>
          <p:nvSpPr>
            <p:cNvPr id="5312" name="Google Shape;5312;p29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13" name="Google Shape;5313;p29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314" name="Google Shape;5314;p295"/>
          <p:cNvGrpSpPr/>
          <p:nvPr/>
        </p:nvGrpSpPr>
        <p:grpSpPr>
          <a:xfrm>
            <a:off x="7971865" y="980278"/>
            <a:ext cx="949325" cy="2954847"/>
            <a:chOff x="7941888" y="1062037"/>
            <a:chExt cx="983037" cy="2695575"/>
          </a:xfrm>
        </p:grpSpPr>
        <p:sp>
          <p:nvSpPr>
            <p:cNvPr id="5315" name="Google Shape;5315;p29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16" name="Google Shape;5316;p29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317" name="Google Shape;5317;p29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a:solidFill>
                <a:schemeClr val="accent6"/>
              </a:solidFill>
            </a:endParaRPr>
          </a:p>
        </p:txBody>
      </p:sp>
      <p:sp>
        <p:nvSpPr>
          <p:cNvPr id="5318" name="Google Shape;5318;p2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1" name="Shape 5341"/>
        <p:cNvGrpSpPr/>
        <p:nvPr/>
      </p:nvGrpSpPr>
      <p:grpSpPr>
        <a:xfrm>
          <a:off x="0" y="0"/>
          <a:ext cx="0" cy="0"/>
          <a:chOff x="0" y="0"/>
          <a:chExt cx="0" cy="0"/>
        </a:xfrm>
      </p:grpSpPr>
      <p:graphicFrame>
        <p:nvGraphicFramePr>
          <p:cNvPr id="5342" name="Google Shape;5342;p29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Simultaneous FXR and IRR hedging strategies capability within an integrated enterprise risk management platform. Business agility enabled through analytic ecosystem architecture. Integrated transaction and position data with streaming FX and IR data supporting near real-time VaR</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FXR integrated into ‘up-stream’ enterprise risk framework. Integrated transaction and position data with streaming FX and IR data supporting near real-time VaR. Data and analytic centric vision and strategy with a well defined roadmap.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Fit for purpose applications and some degree of integration to support regulatory reporting but data-marts still proliferate within FX sensitive lines of business. Vision &amp; strategy orienting towards analytic and data centric architecture &amp; some progress on roadmap.</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Point solutions and heavy dependence on spreadsheet models. Data marts proliferate, minimal referential integrity and data governance necessary to meet minimum regulatory requirements. Non-scalable architecture, incremental changes increasingly costly.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Based on aggregated data in spreadsheet models. Barely meets minimum regulatory requirements.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343" name="Google Shape;5343;p297"/>
          <p:cNvGrpSpPr/>
          <p:nvPr/>
        </p:nvGrpSpPr>
        <p:grpSpPr>
          <a:xfrm>
            <a:off x="469900" y="3819680"/>
            <a:ext cx="8455025" cy="732866"/>
            <a:chOff x="211138" y="3972860"/>
            <a:chExt cx="8713787" cy="642437"/>
          </a:xfrm>
        </p:grpSpPr>
        <p:sp>
          <p:nvSpPr>
            <p:cNvPr id="5344" name="Google Shape;5344;p29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45" name="Google Shape;5345;p29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346" name="Google Shape;5346;p297"/>
          <p:cNvGrpSpPr/>
          <p:nvPr/>
        </p:nvGrpSpPr>
        <p:grpSpPr>
          <a:xfrm>
            <a:off x="7971865" y="980278"/>
            <a:ext cx="949325" cy="2867825"/>
            <a:chOff x="7941888" y="1062037"/>
            <a:chExt cx="983037" cy="2695575"/>
          </a:xfrm>
        </p:grpSpPr>
        <p:sp>
          <p:nvSpPr>
            <p:cNvPr id="5347" name="Google Shape;5347;p29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48" name="Google Shape;5348;p29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349" name="Google Shape;5349;p29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a:solidFill>
                <a:schemeClr val="accent6"/>
              </a:solidFill>
            </a:endParaRPr>
          </a:p>
        </p:txBody>
      </p:sp>
      <p:sp>
        <p:nvSpPr>
          <p:cNvPr id="5350" name="Google Shape;5350;p2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3" name="Shape 5373"/>
        <p:cNvGrpSpPr/>
        <p:nvPr/>
      </p:nvGrpSpPr>
      <p:grpSpPr>
        <a:xfrm>
          <a:off x="0" y="0"/>
          <a:ext cx="0" cy="0"/>
          <a:chOff x="0" y="0"/>
          <a:chExt cx="0" cy="0"/>
        </a:xfrm>
      </p:grpSpPr>
      <p:graphicFrame>
        <p:nvGraphicFramePr>
          <p:cNvPr id="5374" name="Google Shape;5374;p29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Simultaneous IRR and FXR hedging strategies capability within an integrated enterprise risk management platform. Business agility enabled through analytic ecosystem architecture. . Integrated transaction and position data with streaming FX and IR data supporting near real-time VaR.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IRR integrated into ‘up-stream’ enterprise risk framework. Integrated transaction and position data with streaming FX and IR data supporting near real-time VaR. Data and analytic centric vision and strategy with a well defined roadmap.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Fit for purpose applications and some degree of integration to support regulatory reporting but data-marts still proliferate within IR sensitive lines of business. Vision &amp; strategy orienting towards analytic and data centric architecture &amp; some progress on roadmap.</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Point solutions and heavy dependence on spreadsheet models. Data marts proliferate, minimal referential integrity and data governance necessary to meet minimum regulatory requirements. Non-scalable architecture, incremental changes increasingly costly.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Based on aggregated data in spreadsheet models to meet at least minimum regulatory requirements.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375" name="Google Shape;5375;p299"/>
          <p:cNvGrpSpPr/>
          <p:nvPr/>
        </p:nvGrpSpPr>
        <p:grpSpPr>
          <a:xfrm>
            <a:off x="469900" y="3819680"/>
            <a:ext cx="8455025" cy="732866"/>
            <a:chOff x="211138" y="3972860"/>
            <a:chExt cx="8713787" cy="642437"/>
          </a:xfrm>
        </p:grpSpPr>
        <p:sp>
          <p:nvSpPr>
            <p:cNvPr id="5376" name="Google Shape;5376;p29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77" name="Google Shape;5377;p29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378" name="Google Shape;5378;p299"/>
          <p:cNvGrpSpPr/>
          <p:nvPr/>
        </p:nvGrpSpPr>
        <p:grpSpPr>
          <a:xfrm>
            <a:off x="7971865" y="980278"/>
            <a:ext cx="949325" cy="2867825"/>
            <a:chOff x="7941888" y="1062037"/>
            <a:chExt cx="983037" cy="2695575"/>
          </a:xfrm>
        </p:grpSpPr>
        <p:sp>
          <p:nvSpPr>
            <p:cNvPr id="5379" name="Google Shape;5379;p29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380" name="Google Shape;5380;p29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381" name="Google Shape;5381;p29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a:solidFill>
                <a:schemeClr val="accent6"/>
              </a:solidFill>
            </a:endParaRPr>
          </a:p>
        </p:txBody>
      </p:sp>
      <p:sp>
        <p:nvSpPr>
          <p:cNvPr id="5382" name="Google Shape;5382;p2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7" name="Shape 5397"/>
        <p:cNvGrpSpPr/>
        <p:nvPr/>
      </p:nvGrpSpPr>
      <p:grpSpPr>
        <a:xfrm>
          <a:off x="0" y="0"/>
          <a:ext cx="0" cy="0"/>
          <a:chOff x="0" y="0"/>
          <a:chExt cx="0" cy="0"/>
        </a:xfrm>
      </p:grpSpPr>
      <p:pic>
        <p:nvPicPr>
          <p:cNvPr id="5398" name="Google Shape;5398;p301"/>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99" name="Google Shape;5399;p301"/>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 Challenges</a:t>
            </a:r>
            <a:endParaRPr/>
          </a:p>
        </p:txBody>
      </p:sp>
      <p:sp>
        <p:nvSpPr>
          <p:cNvPr id="5400" name="Google Shape;5400;p3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
        <p:nvSpPr>
          <p:cNvPr id="5401" name="Google Shape;5401;p301"/>
          <p:cNvSpPr/>
          <p:nvPr/>
        </p:nvSpPr>
        <p:spPr>
          <a:xfrm>
            <a:off x="475559" y="1076925"/>
            <a:ext cx="8264697" cy="838769"/>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chemeClr val="lt1"/>
                </a:solidFill>
                <a:latin typeface="Century Gothic"/>
                <a:ea typeface="Century Gothic"/>
                <a:cs typeface="Century Gothic"/>
                <a:sym typeface="Century Gothic"/>
              </a:rPr>
              <a:t>Overall challenge</a:t>
            </a:r>
            <a:r>
              <a:rPr lang="en-GB" sz="1400">
                <a:solidFill>
                  <a:schemeClr val="lt1"/>
                </a:solidFill>
                <a:latin typeface="Century Gothic"/>
                <a:ea typeface="Century Gothic"/>
                <a:cs typeface="Century Gothic"/>
                <a:sym typeface="Century Gothic"/>
              </a:rPr>
              <a:t>: Financial Reporting needs to be useful, comprehensible, actionable and trustworthy. This is made difficult due to the following challenges:</a:t>
            </a:r>
            <a:endParaRPr/>
          </a:p>
        </p:txBody>
      </p:sp>
      <p:sp>
        <p:nvSpPr>
          <p:cNvPr id="5402" name="Google Shape;5402;p301"/>
          <p:cNvSpPr/>
          <p:nvPr/>
        </p:nvSpPr>
        <p:spPr>
          <a:xfrm>
            <a:off x="3670300" y="4066286"/>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lnSpc>
                <a:spcPct val="110000"/>
              </a:lnSpc>
              <a:spcBef>
                <a:spcPts val="0"/>
              </a:spcBef>
              <a:spcAft>
                <a:spcPts val="0"/>
              </a:spcAft>
              <a:buNone/>
            </a:pPr>
            <a:r>
              <a:rPr lang="en-GB" sz="900">
                <a:solidFill>
                  <a:schemeClr val="dk1"/>
                </a:solidFill>
                <a:latin typeface="Century Gothic"/>
                <a:ea typeface="Century Gothic"/>
                <a:cs typeface="Century Gothic"/>
                <a:sym typeface="Century Gothic"/>
              </a:rPr>
              <a:t>Due to changes in  disclosures, companies are adjusting  their reporting practices. Internal Controls have to correspondingly improve otherwise risk and deficiencies can exponentially increase. Companies are revamping business processes, reassess risk and revamp training to staff.</a:t>
            </a:r>
            <a:endParaRPr sz="900">
              <a:solidFill>
                <a:schemeClr val="dk1"/>
              </a:solidFill>
              <a:latin typeface="Century Gothic"/>
              <a:ea typeface="Century Gothic"/>
              <a:cs typeface="Century Gothic"/>
              <a:sym typeface="Century Gothic"/>
            </a:endParaRPr>
          </a:p>
        </p:txBody>
      </p:sp>
      <p:sp>
        <p:nvSpPr>
          <p:cNvPr id="5403" name="Google Shape;5403;p301"/>
          <p:cNvSpPr/>
          <p:nvPr/>
        </p:nvSpPr>
        <p:spPr>
          <a:xfrm>
            <a:off x="3670300" y="3369173"/>
            <a:ext cx="5069957" cy="680400"/>
          </a:xfrm>
          <a:prstGeom prst="rect">
            <a:avLst/>
          </a:prstGeom>
          <a:solidFill>
            <a:schemeClr val="lt2"/>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Financial analyst spend 80% of their time doing data extraction, validation, calculations and report creation activities as opposed to analysing the results. Automating a large part of the financial process during month end through usage of efficient processes, people and technology can mitigate this challenge.</a:t>
            </a:r>
            <a:endParaRPr sz="900">
              <a:solidFill>
                <a:srgbClr val="3C3C3B"/>
              </a:solidFill>
              <a:latin typeface="Century Gothic"/>
              <a:ea typeface="Century Gothic"/>
              <a:cs typeface="Century Gothic"/>
              <a:sym typeface="Century Gothic"/>
            </a:endParaRPr>
          </a:p>
        </p:txBody>
      </p:sp>
      <p:sp>
        <p:nvSpPr>
          <p:cNvPr id="5404" name="Google Shape;5404;p301"/>
          <p:cNvSpPr/>
          <p:nvPr/>
        </p:nvSpPr>
        <p:spPr>
          <a:xfrm>
            <a:off x="565150" y="4066286"/>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05" name="Google Shape;5405;p301"/>
          <p:cNvSpPr/>
          <p:nvPr/>
        </p:nvSpPr>
        <p:spPr>
          <a:xfrm>
            <a:off x="3670300" y="2667087"/>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Data used in Financial Reporting is stored in a myriad of ERP’s, source systems, legacy systems. They are sometimes devoid of logic, un-validated and can be hard to access. </a:t>
            </a:r>
            <a:r>
              <a:rPr lang="en-GB" sz="900">
                <a:solidFill>
                  <a:srgbClr val="5F6062"/>
                </a:solidFill>
                <a:latin typeface="Century Gothic"/>
                <a:ea typeface="Century Gothic"/>
                <a:cs typeface="Century Gothic"/>
                <a:sym typeface="Century Gothic"/>
              </a:rPr>
              <a:t>Financial data needs to be reliable, accurate, auditable, and traceable back to the source.</a:t>
            </a:r>
            <a:endParaRPr sz="900">
              <a:solidFill>
                <a:srgbClr val="3C3C3B"/>
              </a:solidFill>
              <a:latin typeface="Century Gothic"/>
              <a:ea typeface="Century Gothic"/>
              <a:cs typeface="Century Gothic"/>
              <a:sym typeface="Century Gothic"/>
            </a:endParaRPr>
          </a:p>
        </p:txBody>
      </p:sp>
      <p:sp>
        <p:nvSpPr>
          <p:cNvPr id="5406" name="Google Shape;5406;p301"/>
          <p:cNvSpPr/>
          <p:nvPr/>
        </p:nvSpPr>
        <p:spPr>
          <a:xfrm>
            <a:off x="565150" y="2667088"/>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07" name="Google Shape;5407;p301"/>
          <p:cNvSpPr/>
          <p:nvPr/>
        </p:nvSpPr>
        <p:spPr>
          <a:xfrm>
            <a:off x="488950" y="2667088"/>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Inconsistent Data residing in various repositories</a:t>
            </a:r>
            <a:endParaRPr/>
          </a:p>
        </p:txBody>
      </p:sp>
      <p:sp>
        <p:nvSpPr>
          <p:cNvPr id="5408" name="Google Shape;5408;p301"/>
          <p:cNvSpPr/>
          <p:nvPr/>
        </p:nvSpPr>
        <p:spPr>
          <a:xfrm>
            <a:off x="3670299" y="1962831"/>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lnSpc>
                <a:spcPct val="110000"/>
              </a:lnSpc>
              <a:spcBef>
                <a:spcPts val="0"/>
              </a:spcBef>
              <a:spcAft>
                <a:spcPts val="0"/>
              </a:spcAft>
              <a:buNone/>
            </a:pPr>
            <a:r>
              <a:rPr lang="en-GB" sz="900">
                <a:solidFill>
                  <a:schemeClr val="dk1"/>
                </a:solidFill>
                <a:latin typeface="Century Gothic"/>
                <a:ea typeface="Century Gothic"/>
                <a:cs typeface="Century Gothic"/>
                <a:sym typeface="Century Gothic"/>
              </a:rPr>
              <a:t>Compliance &amp; Regulatory bodies continue to build strong safety nets and standards have changed for Financial Instruments, Contracts, Leases and Revenue Recognition. This has wide spread impact on Reporting, Internal controls &amp; audits as well.</a:t>
            </a:r>
            <a:endParaRPr sz="900">
              <a:solidFill>
                <a:schemeClr val="dk1"/>
              </a:solidFill>
              <a:latin typeface="Century Gothic"/>
              <a:ea typeface="Century Gothic"/>
              <a:cs typeface="Century Gothic"/>
              <a:sym typeface="Century Gothic"/>
            </a:endParaRPr>
          </a:p>
        </p:txBody>
      </p:sp>
      <p:sp>
        <p:nvSpPr>
          <p:cNvPr id="5409" name="Google Shape;5409;p301"/>
          <p:cNvSpPr/>
          <p:nvPr/>
        </p:nvSpPr>
        <p:spPr>
          <a:xfrm>
            <a:off x="565149" y="1962832"/>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10" name="Google Shape;5410;p301"/>
          <p:cNvSpPr/>
          <p:nvPr/>
        </p:nvSpPr>
        <p:spPr>
          <a:xfrm>
            <a:off x="488949" y="1962832"/>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Keeping Track of different Accounting &amp; Financial Standards</a:t>
            </a:r>
            <a:endParaRPr/>
          </a:p>
        </p:txBody>
      </p:sp>
      <p:sp>
        <p:nvSpPr>
          <p:cNvPr id="5411" name="Google Shape;5411;p301"/>
          <p:cNvSpPr/>
          <p:nvPr/>
        </p:nvSpPr>
        <p:spPr>
          <a:xfrm>
            <a:off x="488950" y="4066286"/>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Managing Internal Controls</a:t>
            </a:r>
            <a:endParaRPr/>
          </a:p>
        </p:txBody>
      </p:sp>
      <p:sp>
        <p:nvSpPr>
          <p:cNvPr id="5412" name="Google Shape;5412;p301"/>
          <p:cNvSpPr/>
          <p:nvPr/>
        </p:nvSpPr>
        <p:spPr>
          <a:xfrm>
            <a:off x="565150" y="3369174"/>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5413" name="Google Shape;5413;p301"/>
          <p:cNvSpPr/>
          <p:nvPr/>
        </p:nvSpPr>
        <p:spPr>
          <a:xfrm>
            <a:off x="488950" y="3369174"/>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 manually intensive data gathering, validation and reporting process</a:t>
            </a:r>
            <a:endParaRPr/>
          </a:p>
        </p:txBody>
      </p:sp>
    </p:spTree>
  </p:cSld>
  <p:clrMapOvr>
    <a:masterClrMapping/>
  </p:clrMapOvr>
</p:sld>
</file>

<file path=ppt/slides/slide2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7" name="Shape 5417"/>
        <p:cNvGrpSpPr/>
        <p:nvPr/>
      </p:nvGrpSpPr>
      <p:grpSpPr>
        <a:xfrm>
          <a:off x="0" y="0"/>
          <a:ext cx="0" cy="0"/>
          <a:chOff x="0" y="0"/>
          <a:chExt cx="0" cy="0"/>
        </a:xfrm>
      </p:grpSpPr>
      <p:sp>
        <p:nvSpPr>
          <p:cNvPr id="5418" name="Google Shape;5418;p30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419" name="Google Shape;5419;p302"/>
          <p:cNvSpPr txBox="1"/>
          <p:nvPr>
            <p:ph idx="4294967295" type="body"/>
          </p:nvPr>
        </p:nvSpPr>
        <p:spPr>
          <a:xfrm>
            <a:off x="288393" y="997338"/>
            <a:ext cx="5261507"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600"/>
              <a:buNone/>
            </a:pPr>
            <a:r>
              <a:rPr b="1" lang="en-GB" sz="1600"/>
              <a:t>   </a:t>
            </a:r>
            <a:r>
              <a:rPr lang="en-GB">
                <a:solidFill>
                  <a:schemeClr val="dk2"/>
                </a:solidFill>
              </a:rPr>
              <a:t>Are You Able To…</a:t>
            </a:r>
            <a:br>
              <a:rPr lang="en-GB">
                <a:solidFill>
                  <a:schemeClr val="dk2"/>
                </a:solidFill>
              </a:rPr>
            </a:br>
            <a:endParaRPr sz="800">
              <a:solidFill>
                <a:schemeClr val="dk2"/>
              </a:solidFill>
            </a:endParaRPr>
          </a:p>
          <a:p>
            <a:pPr indent="-228600" lvl="1" marL="457200" rtl="0" algn="l">
              <a:lnSpc>
                <a:spcPct val="100000"/>
              </a:lnSpc>
              <a:spcBef>
                <a:spcPts val="0"/>
              </a:spcBef>
              <a:spcAft>
                <a:spcPts val="0"/>
              </a:spcAft>
              <a:buClr>
                <a:schemeClr val="dk1"/>
              </a:buClr>
              <a:buSzPts val="1300"/>
              <a:buChar char="–"/>
            </a:pPr>
            <a:r>
              <a:rPr lang="en-GB" sz="1300"/>
              <a:t>Create all the External and Internal Reporting and deliver dashboards to your constituents in a timely manner</a:t>
            </a:r>
            <a:endParaRPr/>
          </a:p>
          <a:p>
            <a:pPr indent="-228600" lvl="1" marL="457200" rtl="0" algn="l">
              <a:lnSpc>
                <a:spcPct val="100000"/>
              </a:lnSpc>
              <a:spcBef>
                <a:spcPts val="600"/>
              </a:spcBef>
              <a:spcAft>
                <a:spcPts val="0"/>
              </a:spcAft>
              <a:buClr>
                <a:schemeClr val="dk1"/>
              </a:buClr>
              <a:buSzPts val="1300"/>
              <a:buChar char="–"/>
            </a:pPr>
            <a:r>
              <a:rPr lang="en-GB" sz="1300"/>
              <a:t>In the underlying data accurate, trustworthy and most importantly actionable?</a:t>
            </a:r>
            <a:endParaRPr/>
          </a:p>
          <a:p>
            <a:pPr indent="-228600" lvl="1" marL="457200" rtl="0" algn="l">
              <a:lnSpc>
                <a:spcPct val="100000"/>
              </a:lnSpc>
              <a:spcBef>
                <a:spcPts val="600"/>
              </a:spcBef>
              <a:spcAft>
                <a:spcPts val="0"/>
              </a:spcAft>
              <a:buClr>
                <a:schemeClr val="dk1"/>
              </a:buClr>
              <a:buSzPts val="1300"/>
              <a:buChar char="–"/>
            </a:pPr>
            <a:r>
              <a:rPr lang="en-GB" sz="1300"/>
              <a:t>Are you able to keep up with all of the Financial and Accounting Standards?</a:t>
            </a:r>
            <a:endParaRPr/>
          </a:p>
          <a:p>
            <a:pPr indent="-228600" lvl="1" marL="457200" rtl="0" algn="l">
              <a:lnSpc>
                <a:spcPct val="100000"/>
              </a:lnSpc>
              <a:spcBef>
                <a:spcPts val="600"/>
              </a:spcBef>
              <a:spcAft>
                <a:spcPts val="0"/>
              </a:spcAft>
              <a:buClr>
                <a:schemeClr val="dk1"/>
              </a:buClr>
              <a:buSzPts val="1300"/>
              <a:buChar char="–"/>
            </a:pPr>
            <a:r>
              <a:rPr lang="en-GB" sz="1300"/>
              <a:t>Do you have the ability to integrate your ERP data into your non-ERP data and how it is tied to your financial results?</a:t>
            </a:r>
            <a:endParaRPr/>
          </a:p>
          <a:p>
            <a:pPr indent="-228600" lvl="1" marL="457200" rtl="0" algn="l">
              <a:lnSpc>
                <a:spcPct val="100000"/>
              </a:lnSpc>
              <a:spcBef>
                <a:spcPts val="600"/>
              </a:spcBef>
              <a:spcAft>
                <a:spcPts val="0"/>
              </a:spcAft>
              <a:buClr>
                <a:schemeClr val="dk1"/>
              </a:buClr>
              <a:buSzPts val="1300"/>
              <a:buChar char="–"/>
            </a:pPr>
            <a:r>
              <a:rPr lang="en-GB" sz="1300"/>
              <a:t>Can you perform financial reporting in less than a day?</a:t>
            </a:r>
            <a:endParaRPr sz="1300"/>
          </a:p>
          <a:p>
            <a:pPr indent="-228600" lvl="1" marL="457200" rtl="0" algn="l">
              <a:lnSpc>
                <a:spcPct val="100000"/>
              </a:lnSpc>
              <a:spcBef>
                <a:spcPts val="600"/>
              </a:spcBef>
              <a:spcAft>
                <a:spcPts val="0"/>
              </a:spcAft>
              <a:buClr>
                <a:schemeClr val="dk1"/>
              </a:buClr>
              <a:buSzPts val="1300"/>
              <a:buChar char="–"/>
            </a:pPr>
            <a:r>
              <a:rPr lang="en-GB" sz="1300"/>
              <a:t>Can you perform Rolling Forecasts throughout the financial year?</a:t>
            </a:r>
            <a:endParaRPr/>
          </a:p>
          <a:p>
            <a:pPr indent="-228600" lvl="1" marL="457200" rtl="0" algn="l">
              <a:lnSpc>
                <a:spcPct val="100000"/>
              </a:lnSpc>
              <a:spcBef>
                <a:spcPts val="600"/>
              </a:spcBef>
              <a:spcAft>
                <a:spcPts val="0"/>
              </a:spcAft>
              <a:buClr>
                <a:schemeClr val="dk1"/>
              </a:buClr>
              <a:buSzPts val="1300"/>
              <a:buChar char="–"/>
            </a:pPr>
            <a:r>
              <a:rPr lang="en-GB" sz="1300"/>
              <a:t>Can you easily update Reports/Dashboards with new business dimensions and/or updated hierarchies</a:t>
            </a:r>
            <a:endParaRPr/>
          </a:p>
        </p:txBody>
      </p:sp>
      <p:sp>
        <p:nvSpPr>
          <p:cNvPr id="5420" name="Google Shape;5420;p302"/>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21" name="Google Shape;5421;p3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id="5422" name="Google Shape;5422;p302"/>
          <p:cNvPicPr preferRelativeResize="0"/>
          <p:nvPr/>
        </p:nvPicPr>
        <p:blipFill rotWithShape="1">
          <a:blip r:embed="rId4">
            <a:alphaModFix/>
          </a:blip>
          <a:srcRect b="0" l="0" r="0" t="0"/>
          <a:stretch/>
        </p:blipFill>
        <p:spPr>
          <a:xfrm>
            <a:off x="5553868" y="967317"/>
            <a:ext cx="3590132" cy="2393421"/>
          </a:xfrm>
          <a:prstGeom prst="rect">
            <a:avLst/>
          </a:prstGeom>
          <a:noFill/>
          <a:ln>
            <a:noFill/>
          </a:ln>
        </p:spPr>
      </p:pic>
    </p:spTree>
  </p:cSld>
  <p:clrMapOvr>
    <a:masterClrMapping/>
  </p:clrMapOvr>
</p:sld>
</file>

<file path=ppt/slides/slide2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6" name="Shape 5426"/>
        <p:cNvGrpSpPr/>
        <p:nvPr/>
      </p:nvGrpSpPr>
      <p:grpSpPr>
        <a:xfrm>
          <a:off x="0" y="0"/>
          <a:ext cx="0" cy="0"/>
          <a:chOff x="0" y="0"/>
          <a:chExt cx="0" cy="0"/>
        </a:xfrm>
      </p:grpSpPr>
      <p:sp>
        <p:nvSpPr>
          <p:cNvPr id="5427" name="Google Shape;5427;p303"/>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Efficient Financial consolidation and Statutory Reporting </a:t>
            </a:r>
            <a:endParaRPr/>
          </a:p>
          <a:p>
            <a:pPr indent="-169863" lvl="0" marL="169863" rtl="0" algn="l">
              <a:lnSpc>
                <a:spcPct val="95000"/>
              </a:lnSpc>
              <a:spcBef>
                <a:spcPts val="600"/>
              </a:spcBef>
              <a:spcAft>
                <a:spcPts val="0"/>
              </a:spcAft>
              <a:buClr>
                <a:schemeClr val="dk1"/>
              </a:buClr>
              <a:buSzPts val="1400"/>
              <a:buChar char="•"/>
            </a:pPr>
            <a:r>
              <a:rPr lang="en-GB" sz="1400"/>
              <a:t>Efficient Management Reporting and reporting on myriad of internal metrics for management</a:t>
            </a:r>
            <a:endParaRPr/>
          </a:p>
          <a:p>
            <a:pPr indent="-169863" lvl="0" marL="169863" rtl="0" algn="l">
              <a:lnSpc>
                <a:spcPct val="95000"/>
              </a:lnSpc>
              <a:spcBef>
                <a:spcPts val="600"/>
              </a:spcBef>
              <a:spcAft>
                <a:spcPts val="0"/>
              </a:spcAft>
              <a:buClr>
                <a:schemeClr val="dk1"/>
              </a:buClr>
              <a:buSzPts val="1400"/>
              <a:buChar char="•"/>
            </a:pPr>
            <a:r>
              <a:rPr lang="en-GB" sz="1400"/>
              <a:t>Effective Variance Reporting between different accounting standards IFRS, GAAP, Local Regulators</a:t>
            </a:r>
            <a:endParaRPr/>
          </a:p>
          <a:p>
            <a:pPr indent="-169863" lvl="0" marL="169863" rtl="0" algn="l">
              <a:lnSpc>
                <a:spcPct val="95000"/>
              </a:lnSpc>
              <a:spcBef>
                <a:spcPts val="600"/>
              </a:spcBef>
              <a:spcAft>
                <a:spcPts val="0"/>
              </a:spcAft>
              <a:buClr>
                <a:schemeClr val="dk1"/>
              </a:buClr>
              <a:buSzPts val="1400"/>
              <a:buChar char="•"/>
            </a:pPr>
            <a:r>
              <a:rPr lang="en-GB" sz="1400"/>
              <a:t> Effective Executive Dashboards that allow CxO’s to drill down to problem and highlight exceptions</a:t>
            </a:r>
            <a:endParaRPr/>
          </a:p>
          <a:p>
            <a:pPr indent="-169863" lvl="0" marL="169863" rtl="0" algn="l">
              <a:lnSpc>
                <a:spcPct val="95000"/>
              </a:lnSpc>
              <a:spcBef>
                <a:spcPts val="600"/>
              </a:spcBef>
              <a:spcAft>
                <a:spcPts val="0"/>
              </a:spcAft>
              <a:buClr>
                <a:schemeClr val="dk1"/>
              </a:buClr>
              <a:buSzPts val="1400"/>
              <a:buChar char="•"/>
            </a:pPr>
            <a:r>
              <a:rPr lang="en-GB" sz="1400"/>
              <a:t>Ability to drill down to the granular grain of data in search of answers</a:t>
            </a:r>
            <a:endParaRPr/>
          </a:p>
        </p:txBody>
      </p:sp>
      <p:sp>
        <p:nvSpPr>
          <p:cNvPr id="5428" name="Google Shape;5428;p303"/>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429" name="Google Shape;5429;p303"/>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0" name="Google Shape;5430;p3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id="5431" name="Google Shape;5431;p303"/>
          <p:cNvPicPr preferRelativeResize="0"/>
          <p:nvPr/>
        </p:nvPicPr>
        <p:blipFill rotWithShape="1">
          <a:blip r:embed="rId4">
            <a:alphaModFix/>
          </a:blip>
          <a:srcRect b="0" l="0" r="0" t="0"/>
          <a:stretch/>
        </p:blipFill>
        <p:spPr>
          <a:xfrm>
            <a:off x="5553868" y="967317"/>
            <a:ext cx="3590132" cy="2393421"/>
          </a:xfrm>
          <a:prstGeom prst="rect">
            <a:avLst/>
          </a:prstGeom>
          <a:noFill/>
          <a:ln>
            <a:noFill/>
          </a:ln>
        </p:spPr>
      </p:pic>
    </p:spTree>
  </p:cSld>
  <p:clrMapOvr>
    <a:masterClrMapping/>
  </p:clrMapOvr>
</p:sld>
</file>

<file path=ppt/slides/slide2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5" name="Shape 5435"/>
        <p:cNvGrpSpPr/>
        <p:nvPr/>
      </p:nvGrpSpPr>
      <p:grpSpPr>
        <a:xfrm>
          <a:off x="0" y="0"/>
          <a:ext cx="0" cy="0"/>
          <a:chOff x="0" y="0"/>
          <a:chExt cx="0" cy="0"/>
        </a:xfrm>
      </p:grpSpPr>
      <p:pic>
        <p:nvPicPr>
          <p:cNvPr id="5436" name="Google Shape;5436;p304"/>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437" name="Google Shape;5437;p304"/>
          <p:cNvSpPr txBox="1"/>
          <p:nvPr>
            <p:ph type="title"/>
          </p:nvPr>
        </p:nvSpPr>
        <p:spPr>
          <a:xfrm>
            <a:off x="477880" y="-384527"/>
            <a:ext cx="553684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Financial Reporting</a:t>
            </a:r>
            <a:endParaRPr/>
          </a:p>
        </p:txBody>
      </p:sp>
      <p:sp>
        <p:nvSpPr>
          <p:cNvPr id="5438" name="Google Shape;5438;p30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grpSp>
        <p:nvGrpSpPr>
          <p:cNvPr id="5439" name="Google Shape;5439;p304"/>
          <p:cNvGrpSpPr/>
          <p:nvPr/>
        </p:nvGrpSpPr>
        <p:grpSpPr>
          <a:xfrm>
            <a:off x="488950" y="1276350"/>
            <a:ext cx="5808183" cy="720000"/>
            <a:chOff x="462442" y="1276350"/>
            <a:chExt cx="5808183" cy="597600"/>
          </a:xfrm>
        </p:grpSpPr>
        <p:sp>
          <p:nvSpPr>
            <p:cNvPr id="5440" name="Google Shape;5440;p304"/>
            <p:cNvSpPr/>
            <p:nvPr/>
          </p:nvSpPr>
          <p:spPr>
            <a:xfrm>
              <a:off x="2600325" y="1276350"/>
              <a:ext cx="3670300"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When the underlying data is validated, centralized driven by common definitions and stored and accessed from a common repository then the reports become trustworthy and actionable.</a:t>
              </a:r>
              <a:endParaRPr/>
            </a:p>
          </p:txBody>
        </p:sp>
        <p:sp>
          <p:nvSpPr>
            <p:cNvPr id="5441" name="Google Shape;5441;p304"/>
            <p:cNvSpPr/>
            <p:nvPr/>
          </p:nvSpPr>
          <p:spPr>
            <a:xfrm>
              <a:off x="462442" y="12763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Providing trustworthy and Actionable Reports</a:t>
              </a:r>
              <a:endParaRPr/>
            </a:p>
          </p:txBody>
        </p:sp>
      </p:grpSp>
      <p:grpSp>
        <p:nvGrpSpPr>
          <p:cNvPr id="5442" name="Google Shape;5442;p304"/>
          <p:cNvGrpSpPr/>
          <p:nvPr/>
        </p:nvGrpSpPr>
        <p:grpSpPr>
          <a:xfrm>
            <a:off x="488950" y="2035038"/>
            <a:ext cx="5808440" cy="720000"/>
            <a:chOff x="462442" y="1955625"/>
            <a:chExt cx="5808440" cy="597600"/>
          </a:xfrm>
        </p:grpSpPr>
        <p:sp>
          <p:nvSpPr>
            <p:cNvPr id="5443" name="Google Shape;5443;p304"/>
            <p:cNvSpPr/>
            <p:nvPr/>
          </p:nvSpPr>
          <p:spPr>
            <a:xfrm>
              <a:off x="2565974" y="1955625"/>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Reconcile and link financial results (GL) to operational drivers and transactional level  revenue and cost detail .  Enhance visibility and timeliness to reduce earnings volatility.</a:t>
              </a:r>
              <a:endParaRPr/>
            </a:p>
          </p:txBody>
        </p:sp>
        <p:sp>
          <p:nvSpPr>
            <p:cNvPr id="5444" name="Google Shape;5444;p304"/>
            <p:cNvSpPr/>
            <p:nvPr/>
          </p:nvSpPr>
          <p:spPr>
            <a:xfrm>
              <a:off x="462442" y="1955625"/>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Provide Greater Transparency </a:t>
              </a:r>
              <a:endParaRPr/>
            </a:p>
          </p:txBody>
        </p:sp>
      </p:grpSp>
      <p:grpSp>
        <p:nvGrpSpPr>
          <p:cNvPr id="5445" name="Google Shape;5445;p304"/>
          <p:cNvGrpSpPr/>
          <p:nvPr/>
        </p:nvGrpSpPr>
        <p:grpSpPr>
          <a:xfrm>
            <a:off x="488950" y="2793726"/>
            <a:ext cx="5800246" cy="720000"/>
            <a:chOff x="462442" y="2631411"/>
            <a:chExt cx="5800246" cy="597600"/>
          </a:xfrm>
        </p:grpSpPr>
        <p:sp>
          <p:nvSpPr>
            <p:cNvPr id="5446" name="Google Shape;5446;p304"/>
            <p:cNvSpPr/>
            <p:nvPr/>
          </p:nvSpPr>
          <p:spPr>
            <a:xfrm>
              <a:off x="2557780" y="2631411"/>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Adapting to market changes – Early insights into leading indicators.  Clear, aligned performance metrics to drive accountability.</a:t>
              </a:r>
              <a:endParaRPr/>
            </a:p>
          </p:txBody>
        </p:sp>
        <p:sp>
          <p:nvSpPr>
            <p:cNvPr id="5447" name="Google Shape;5447;p304"/>
            <p:cNvSpPr/>
            <p:nvPr/>
          </p:nvSpPr>
          <p:spPr>
            <a:xfrm>
              <a:off x="462442" y="2631411"/>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Make Faster, Better Decisions</a:t>
              </a:r>
              <a:endParaRPr/>
            </a:p>
          </p:txBody>
        </p:sp>
      </p:grpSp>
      <p:grpSp>
        <p:nvGrpSpPr>
          <p:cNvPr id="5448" name="Google Shape;5448;p304"/>
          <p:cNvGrpSpPr/>
          <p:nvPr/>
        </p:nvGrpSpPr>
        <p:grpSpPr>
          <a:xfrm>
            <a:off x="488950" y="3552414"/>
            <a:ext cx="5800246" cy="720000"/>
            <a:chOff x="462442" y="3299050"/>
            <a:chExt cx="5800246" cy="597600"/>
          </a:xfrm>
        </p:grpSpPr>
        <p:sp>
          <p:nvSpPr>
            <p:cNvPr id="5449" name="Google Shape;5449;p304"/>
            <p:cNvSpPr/>
            <p:nvPr/>
          </p:nvSpPr>
          <p:spPr>
            <a:xfrm>
              <a:off x="2557780" y="3299050"/>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Financial data is reliable, accurate, auditable, and traceable back to the source.  Less time is spent on data quality and more time spent on analyzing.</a:t>
              </a:r>
              <a:endParaRPr/>
            </a:p>
          </p:txBody>
        </p:sp>
        <p:sp>
          <p:nvSpPr>
            <p:cNvPr id="5450" name="Google Shape;5450;p304"/>
            <p:cNvSpPr/>
            <p:nvPr/>
          </p:nvSpPr>
          <p:spPr>
            <a:xfrm>
              <a:off x="462442" y="32990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quality and consistency</a:t>
              </a:r>
              <a:endParaRPr/>
            </a:p>
          </p:txBody>
        </p:sp>
      </p:gr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3" name="Shape 5473"/>
        <p:cNvGrpSpPr/>
        <p:nvPr/>
      </p:nvGrpSpPr>
      <p:grpSpPr>
        <a:xfrm>
          <a:off x="0" y="0"/>
          <a:ext cx="0" cy="0"/>
          <a:chOff x="0" y="0"/>
          <a:chExt cx="0" cy="0"/>
        </a:xfrm>
      </p:grpSpPr>
      <p:graphicFrame>
        <p:nvGraphicFramePr>
          <p:cNvPr id="5474" name="Google Shape;5474;p30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Statutory reports are produced on a largely automated basis from a single, integrated source of validated data.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Some companies may have outsourced this process, delivering data to eg. Audit Companies.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of the required data is available from a single, integrated source, although a small number of other data sources may exist. Regular reports &amp; extracts are available on a largely automated basis , as well as ad-hoc reports and queries using a single reporting/BI tool.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financial reporting is available from single source (based however on multiple data sources) using multiple tools and is subject to manual processes before use.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financial reporting is available from multiple sources. Most other / more detailed data needs to be collected from multiple sources using multiple tools and is subject to manual processes before use.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Statutory Financial Reports are manually prepared from multiple, disparate data sources. Considerable time is spent collecting, validating and integrating data prior to its use in reporting. Multiple reporting, BI, spreadsheet tools are used.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475" name="Google Shape;5475;p306"/>
          <p:cNvGrpSpPr/>
          <p:nvPr/>
        </p:nvGrpSpPr>
        <p:grpSpPr>
          <a:xfrm>
            <a:off x="469900" y="3819680"/>
            <a:ext cx="8455025" cy="732866"/>
            <a:chOff x="211138" y="3972860"/>
            <a:chExt cx="8713787" cy="642437"/>
          </a:xfrm>
        </p:grpSpPr>
        <p:sp>
          <p:nvSpPr>
            <p:cNvPr id="5476" name="Google Shape;5476;p30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477" name="Google Shape;5477;p30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478" name="Google Shape;5478;p306"/>
          <p:cNvGrpSpPr/>
          <p:nvPr/>
        </p:nvGrpSpPr>
        <p:grpSpPr>
          <a:xfrm>
            <a:off x="7971865" y="980278"/>
            <a:ext cx="949325" cy="2867825"/>
            <a:chOff x="7941888" y="1062037"/>
            <a:chExt cx="983037" cy="2695575"/>
          </a:xfrm>
        </p:grpSpPr>
        <p:sp>
          <p:nvSpPr>
            <p:cNvPr id="5479" name="Google Shape;5479;p30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480" name="Google Shape;5480;p30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481" name="Google Shape;5481;p30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a:solidFill>
                <a:schemeClr val="accent6"/>
              </a:solidFill>
            </a:endParaRPr>
          </a:p>
        </p:txBody>
      </p:sp>
      <p:sp>
        <p:nvSpPr>
          <p:cNvPr id="5482" name="Google Shape;5482;p3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5" name="Shape 5505"/>
        <p:cNvGrpSpPr/>
        <p:nvPr/>
      </p:nvGrpSpPr>
      <p:grpSpPr>
        <a:xfrm>
          <a:off x="0" y="0"/>
          <a:ext cx="0" cy="0"/>
          <a:chOff x="0" y="0"/>
          <a:chExt cx="0" cy="0"/>
        </a:xfrm>
      </p:grpSpPr>
      <p:graphicFrame>
        <p:nvGraphicFramePr>
          <p:cNvPr id="5506" name="Google Shape;5506;p30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Regulatory and Compliance reporting requirements are addressed on an systematic and integrated basis. A comprehensive common data platform is used. Where possible common calculation and reporting tools are used, however specific solutions for particular pieces of regulation/compliance may be used if appropriate. Data used is clearly documented and understood, subject to comprehensive data governance, and data quality and lineage can be clearly demonstrated.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Most of the required data is available from a single, integrated source, although some supplementary data sources may exist. Regular reports &amp; extracts to downstream regulatory and compliance solutions are available on a largely automated basis. Ad-hoc reports and queries can easily be produced using a single reporting/BI tool.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Data for core summary-level financial reporting is available from a single source, however most other / more detailed data needs to be collected from multiple sources using multiple tools, and is subject to manual processes before use.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Each different Regulatory and Compliance reporting requirement is delivered on a siloed basis, using different data sourcing and tools with some level of automation.</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Each different Regulatory and Compliance reporting requirement is gathered manually from multiple sources using elementary tools e.g. spreadsheets.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507" name="Google Shape;5507;p308"/>
          <p:cNvGrpSpPr/>
          <p:nvPr/>
        </p:nvGrpSpPr>
        <p:grpSpPr>
          <a:xfrm>
            <a:off x="469900" y="3835582"/>
            <a:ext cx="8455025" cy="732866"/>
            <a:chOff x="211138" y="3972860"/>
            <a:chExt cx="8713787" cy="642437"/>
          </a:xfrm>
        </p:grpSpPr>
        <p:sp>
          <p:nvSpPr>
            <p:cNvPr id="5508" name="Google Shape;5508;p30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09" name="Google Shape;5509;p30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510" name="Google Shape;5510;p308"/>
          <p:cNvGrpSpPr/>
          <p:nvPr/>
        </p:nvGrpSpPr>
        <p:grpSpPr>
          <a:xfrm>
            <a:off x="7971865" y="980278"/>
            <a:ext cx="949325" cy="2867825"/>
            <a:chOff x="7941888" y="1062037"/>
            <a:chExt cx="983037" cy="2695575"/>
          </a:xfrm>
        </p:grpSpPr>
        <p:sp>
          <p:nvSpPr>
            <p:cNvPr id="5511" name="Google Shape;5511;p30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12" name="Google Shape;5512;p30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513" name="Google Shape;5513;p30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a:solidFill>
                <a:schemeClr val="accent6"/>
              </a:solidFill>
            </a:endParaRPr>
          </a:p>
        </p:txBody>
      </p:sp>
      <p:sp>
        <p:nvSpPr>
          <p:cNvPr id="5514" name="Google Shape;5514;p3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7" name="Shape 5537"/>
        <p:cNvGrpSpPr/>
        <p:nvPr/>
      </p:nvGrpSpPr>
      <p:grpSpPr>
        <a:xfrm>
          <a:off x="0" y="0"/>
          <a:ext cx="0" cy="0"/>
          <a:chOff x="0" y="0"/>
          <a:chExt cx="0" cy="0"/>
        </a:xfrm>
      </p:grpSpPr>
      <p:graphicFrame>
        <p:nvGraphicFramePr>
          <p:cNvPr id="5538" name="Google Shape;5538;p31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0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68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Sales reporting exists as part of an integrated environment which enables close monitoring and reporting of performance against objectives, targets and plans.  It utilises a common source of high quality, validated and integrated data subject to comprehensive data governance. Daily and intra-day monitoring and alerts are supported. Advanced analytics are used to more accurately pinpoint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is generally centralised and utilises a common source of integrated data and reporting tools. Reporting is possible on a daily basis, and ability to drill down to granular level to identify areas and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is centralised, however the data which is required is obtained from many different sources and requires integration and validation effort. Reporting is on a more frequent basis (minimum weekly)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for different products is delivered on a fragmented basis across different sources/siloes of data, and requires significant manual effort. Reporting takes place on an infrequent (monthly)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Sales reporting is aggregated summary data and there is no link to detailed products and sales orders. Everything is managed in elementary tooling, e.g. Excel. Reporting takes place on an infrequent basis.</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37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1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1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1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539" name="Google Shape;5539;p310"/>
          <p:cNvGrpSpPr/>
          <p:nvPr/>
        </p:nvGrpSpPr>
        <p:grpSpPr>
          <a:xfrm>
            <a:off x="469900" y="3835582"/>
            <a:ext cx="8455025" cy="732866"/>
            <a:chOff x="211138" y="3972860"/>
            <a:chExt cx="8713787" cy="642437"/>
          </a:xfrm>
        </p:grpSpPr>
        <p:sp>
          <p:nvSpPr>
            <p:cNvPr id="5540" name="Google Shape;5540;p31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41" name="Google Shape;5541;p31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542" name="Google Shape;5542;p310"/>
          <p:cNvGrpSpPr/>
          <p:nvPr/>
        </p:nvGrpSpPr>
        <p:grpSpPr>
          <a:xfrm>
            <a:off x="7971865" y="980278"/>
            <a:ext cx="949325" cy="2867825"/>
            <a:chOff x="7941888" y="1062037"/>
            <a:chExt cx="983037" cy="2695575"/>
          </a:xfrm>
        </p:grpSpPr>
        <p:sp>
          <p:nvSpPr>
            <p:cNvPr id="5543" name="Google Shape;5543;p31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44" name="Google Shape;5544;p31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545" name="Google Shape;5545;p31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a:solidFill>
                <a:schemeClr val="accent6"/>
              </a:solidFill>
            </a:endParaRPr>
          </a:p>
        </p:txBody>
      </p:sp>
      <p:sp>
        <p:nvSpPr>
          <p:cNvPr id="5546" name="Google Shape;5546;p3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9" name="Shape 5569"/>
        <p:cNvGrpSpPr/>
        <p:nvPr/>
      </p:nvGrpSpPr>
      <p:grpSpPr>
        <a:xfrm>
          <a:off x="0" y="0"/>
          <a:ext cx="0" cy="0"/>
          <a:chOff x="0" y="0"/>
          <a:chExt cx="0" cy="0"/>
        </a:xfrm>
      </p:grpSpPr>
      <p:graphicFrame>
        <p:nvGraphicFramePr>
          <p:cNvPr id="5570" name="Google Shape;5570;p31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0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68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Performance reporting exists as part of an integrated environment which enables close monitoring and reporting of performance against objectives, targets and plans.  It utilises a common source of high quality, validated and integrated data subject to comprehensive data governance. Daily and intra-day monitoring and alerts are supported. Advanced analytics are used to more accurately pinpoint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is generally centralised and utilises a common source of integrated data and reporting tools. Reporting is possible on a daily basis, and ability to drill down to granular level to identify areas and causes of poor performance.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is centralised, however the data which is required is obtained from many different sources and requires integration and validation effort. Reporting is on a more frequent basis (minimum weekly)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3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is delivered on a fragmented basis across different sources/siloes of data, and requires significant manual effort. Reporting takes place on an infrequent (monthly) basis.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2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Performance reporting takes place on demand only, based on aggregated summary data. Manual rekeying data into elementary tooling, e.g. Excel.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37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1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1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1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571" name="Google Shape;5571;p312"/>
          <p:cNvGrpSpPr/>
          <p:nvPr/>
        </p:nvGrpSpPr>
        <p:grpSpPr>
          <a:xfrm>
            <a:off x="469900" y="3835582"/>
            <a:ext cx="8455025" cy="732866"/>
            <a:chOff x="211138" y="3972860"/>
            <a:chExt cx="8713787" cy="642437"/>
          </a:xfrm>
        </p:grpSpPr>
        <p:sp>
          <p:nvSpPr>
            <p:cNvPr id="5572" name="Google Shape;5572;p31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73" name="Google Shape;5573;p31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574" name="Google Shape;5574;p312"/>
          <p:cNvGrpSpPr/>
          <p:nvPr/>
        </p:nvGrpSpPr>
        <p:grpSpPr>
          <a:xfrm>
            <a:off x="7971865" y="980278"/>
            <a:ext cx="949325" cy="2867825"/>
            <a:chOff x="7941888" y="1062037"/>
            <a:chExt cx="983037" cy="2695575"/>
          </a:xfrm>
        </p:grpSpPr>
        <p:sp>
          <p:nvSpPr>
            <p:cNvPr id="5575" name="Google Shape;5575;p31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576" name="Google Shape;5576;p31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577" name="Google Shape;5577;p31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a:solidFill>
                <a:schemeClr val="accent6"/>
              </a:solidFill>
            </a:endParaRPr>
          </a:p>
        </p:txBody>
      </p:sp>
      <p:sp>
        <p:nvSpPr>
          <p:cNvPr id="5578" name="Google Shape;5578;p3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1" name="Shape 5601"/>
        <p:cNvGrpSpPr/>
        <p:nvPr/>
      </p:nvGrpSpPr>
      <p:grpSpPr>
        <a:xfrm>
          <a:off x="0" y="0"/>
          <a:ext cx="0" cy="0"/>
          <a:chOff x="0" y="0"/>
          <a:chExt cx="0" cy="0"/>
        </a:xfrm>
      </p:grpSpPr>
      <p:graphicFrame>
        <p:nvGraphicFramePr>
          <p:cNvPr id="5602" name="Google Shape;5602;p31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Exception reporting is centralised, with well-defined and documented responsibilities and processes. Exception rules, variances and parameters are routinely quantified and agreed. A best-in-class tool or solution is used to perform comparisons and process exception rules on an automated basis. All data is available from a single, integrated and validated source. Exceptions requiring action are delivered via workflow functionality.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centralised, with well-defined and documented responsibilities and processes. Exception rules, variances and parameters are routinely quantified and agreed. A dedicated tool or solution is used to perform these processes on a largely automated basis against data which is largely available from a single source.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subject to some centralisation, with some use of common tools and processes. Some exception rules, variances and parameters are quantified and agreed. However the underlying data upon which is operates is still fragmented, and needs to be sourced directly.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fragmented and distributed widely across the organisation. Exception rules, variances and parameters are not routinely quantified. It is largely manual, and involves extensive manual review of reports and spreadsheets.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Exception reporting is based on aggregated summary level data, requires huge manual effort in gathering and preparing the report and it is (often) static.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603" name="Google Shape;5603;p314"/>
          <p:cNvGrpSpPr/>
          <p:nvPr/>
        </p:nvGrpSpPr>
        <p:grpSpPr>
          <a:xfrm>
            <a:off x="469900" y="3835582"/>
            <a:ext cx="8455025" cy="732866"/>
            <a:chOff x="211138" y="3972860"/>
            <a:chExt cx="8713787" cy="642437"/>
          </a:xfrm>
        </p:grpSpPr>
        <p:sp>
          <p:nvSpPr>
            <p:cNvPr id="5604" name="Google Shape;5604;p31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05" name="Google Shape;5605;p31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606" name="Google Shape;5606;p314"/>
          <p:cNvGrpSpPr/>
          <p:nvPr/>
        </p:nvGrpSpPr>
        <p:grpSpPr>
          <a:xfrm>
            <a:off x="7971865" y="980278"/>
            <a:ext cx="949325" cy="2867825"/>
            <a:chOff x="7941888" y="1062037"/>
            <a:chExt cx="983037" cy="2695575"/>
          </a:xfrm>
        </p:grpSpPr>
        <p:sp>
          <p:nvSpPr>
            <p:cNvPr id="5607" name="Google Shape;5607;p31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08" name="Google Shape;5608;p31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609" name="Google Shape;5609;p31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a:solidFill>
                <a:schemeClr val="accent6"/>
              </a:solidFill>
            </a:endParaRPr>
          </a:p>
        </p:txBody>
      </p:sp>
      <p:sp>
        <p:nvSpPr>
          <p:cNvPr id="5610" name="Google Shape;5610;p3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3" name="Shape 5633"/>
        <p:cNvGrpSpPr/>
        <p:nvPr/>
      </p:nvGrpSpPr>
      <p:grpSpPr>
        <a:xfrm>
          <a:off x="0" y="0"/>
          <a:ext cx="0" cy="0"/>
          <a:chOff x="0" y="0"/>
          <a:chExt cx="0" cy="0"/>
        </a:xfrm>
      </p:grpSpPr>
      <p:graphicFrame>
        <p:nvGraphicFramePr>
          <p:cNvPr id="5634" name="Google Shape;5634;p316"/>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15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7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Executives have direct access to comprehensive Dashboards based on a single integrated set of validated and agreed data which is updated on a daily or intra-day basis. Dashboards display information using a variety of appropriate visualisations (e.g. charts, geographic, RAG status), with slice/drill-down capabilities. Exceptions and potential issues are highlighted based on defined business rules.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1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Executives have direct access to Dashboards which deliver information sourced primarily from a single integrated set of validated and agreed data, which is updated on a daily basis. Non-standard reports can be quickly delivered by staff from the same integrated source.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Paper reports are supplemented by direct executive access to electronic reporting via a standard BI/Reporting tool. The available reports are prepared automatically but utilise data which is sourced from a number of disparate sources and is subject to specific quality and validation processes.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9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Executive reporting is largely paper based and consists largely of standard reports, delivered on an infrequent basis (monthly or less) from disparate sources of data. Requests for non-standard information by executives are delivered via largely manual processes.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Executive reporting is not common in an organization. Reporting only exists on ad-hoc basis and requires huge manual interventions to collect data and aggregate. No standards exist for reports.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74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422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422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422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5635" name="Google Shape;5635;p316"/>
          <p:cNvGrpSpPr/>
          <p:nvPr/>
        </p:nvGrpSpPr>
        <p:grpSpPr>
          <a:xfrm>
            <a:off x="469900" y="3835582"/>
            <a:ext cx="8455025" cy="732866"/>
            <a:chOff x="211138" y="3972860"/>
            <a:chExt cx="8713787" cy="642437"/>
          </a:xfrm>
        </p:grpSpPr>
        <p:sp>
          <p:nvSpPr>
            <p:cNvPr id="5636" name="Google Shape;5636;p31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37" name="Google Shape;5637;p31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5638" name="Google Shape;5638;p316"/>
          <p:cNvGrpSpPr/>
          <p:nvPr/>
        </p:nvGrpSpPr>
        <p:grpSpPr>
          <a:xfrm>
            <a:off x="7971865" y="980278"/>
            <a:ext cx="949325" cy="2867825"/>
            <a:chOff x="7941888" y="1062037"/>
            <a:chExt cx="983037" cy="2695575"/>
          </a:xfrm>
        </p:grpSpPr>
        <p:sp>
          <p:nvSpPr>
            <p:cNvPr id="5639" name="Google Shape;5639;p31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5640" name="Google Shape;5640;p31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5641" name="Google Shape;5641;p316"/>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a:solidFill>
                <a:schemeClr val="accent6"/>
              </a:solidFill>
            </a:endParaRPr>
          </a:p>
        </p:txBody>
      </p:sp>
      <p:sp>
        <p:nvSpPr>
          <p:cNvPr id="5642" name="Google Shape;5642;p3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