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2.xml" ContentType="application/vnd.openxmlformats-officedocument.presentationml.notesSlide+xml"/>
  <Override PartName="/ppt/notesSlides/notesSlide104.xml" ContentType="application/vnd.openxmlformats-officedocument.presentationml.notesSlide+xml"/>
  <Override PartName="/ppt/notesSlides/notesSlide106.xml" ContentType="application/vnd.openxmlformats-officedocument.presentationml.notesSlide+xml"/>
  <Override PartName="/ppt/notesSlides/notesSlide108.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2.xml" ContentType="application/vnd.openxmlformats-officedocument.presentationml.notesSlide+xml"/>
  <Override PartName="/ppt/notesSlides/notesSlide115.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7.xml" ContentType="application/vnd.openxmlformats-officedocument.presentationml.notesSlide+xml"/>
  <Override PartName="/ppt/notesSlides/notesSlide199.xml" ContentType="application/vnd.openxmlformats-officedocument.presentationml.notesSlide+xml"/>
  <Override PartName="/ppt/notesSlides/notesSlide20.xml" ContentType="application/vnd.openxmlformats-officedocument.presentationml.notesSlide+xml"/>
  <Override PartName="/ppt/notesSlides/notesSlide204.xml" ContentType="application/vnd.openxmlformats-officedocument.presentationml.notesSlide+xml"/>
  <Override PartName="/ppt/notesSlides/notesSlide206.xml" ContentType="application/vnd.openxmlformats-officedocument.presentationml.notesSlide+xml"/>
  <Override PartName="/ppt/notesSlides/notesSlide208.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4.xml" ContentType="application/vnd.openxmlformats-officedocument.presentationml.notesSlide+xml"/>
  <Override PartName="/ppt/notesSlides/notesSlide216.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2.xml" ContentType="application/vnd.openxmlformats-officedocument.presentationml.notesSlide+xml"/>
  <Override PartName="/ppt/notesSlides/notesSlide224.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1.xml" ContentType="application/vnd.openxmlformats-officedocument.presentationml.notesSlide+xml"/>
  <Override PartName="/ppt/notesSlides/notesSlide233.xml" ContentType="application/vnd.openxmlformats-officedocument.presentationml.notesSlide+xml"/>
  <Override PartName="/ppt/notesSlides/notesSlide235.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1.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7.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1.xml" ContentType="application/vnd.openxmlformats-officedocument.presentationml.notesSlide+xml"/>
  <Override PartName="/ppt/notesSlides/notesSlide256.xml" ContentType="application/vnd.openxmlformats-officedocument.presentationml.notesSlide+xml"/>
  <Override PartName="/ppt/notesSlides/notesSlide258.xml" ContentType="application/vnd.openxmlformats-officedocument.presentationml.notesSlide+xml"/>
  <Override PartName="/ppt/notesSlides/notesSlide260.xml" ContentType="application/vnd.openxmlformats-officedocument.presentationml.notesSlide+xml"/>
  <Override PartName="/ppt/notesSlides/notesSlide262.xml" ContentType="application/vnd.openxmlformats-officedocument.presentationml.notesSlide+xml"/>
  <Override PartName="/ppt/notesSlides/notesSlide264.xml" ContentType="application/vnd.openxmlformats-officedocument.presentationml.notesSlide+xml"/>
  <Override PartName="/ppt/notesSlides/notesSlide266.xml" ContentType="application/vnd.openxmlformats-officedocument.presentationml.notesSlide+xml"/>
  <Override PartName="/ppt/notesSlides/notesSlide268.xml" ContentType="application/vnd.openxmlformats-officedocument.presentationml.notesSlide+xml"/>
  <Override PartName="/ppt/notesSlides/notesSlide270.xml" ContentType="application/vnd.openxmlformats-officedocument.presentationml.notesSlide+xml"/>
  <Override PartName="/ppt/notesSlides/notesSlide275.xml" ContentType="application/vnd.openxmlformats-officedocument.presentationml.notesSlide+xml"/>
  <Override PartName="/ppt/notesSlides/notesSlide277.xml" ContentType="application/vnd.openxmlformats-officedocument.presentationml.notesSlide+xml"/>
  <Override PartName="/ppt/notesSlides/notesSlide279.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5.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6.xml" ContentType="application/vnd.openxmlformats-officedocument.presentationml.notesSlide+xml"/>
  <Override PartName="/ppt/notesSlides/notesSlide329.xml" ContentType="application/vnd.openxmlformats-officedocument.presentationml.notesSlide+xml"/>
  <Override PartName="/ppt/notesSlides/notesSlide337.xml" ContentType="application/vnd.openxmlformats-officedocument.presentationml.notesSlide+xml"/>
  <Override PartName="/ppt/notesSlides/notesSlide339.xml" ContentType="application/vnd.openxmlformats-officedocument.presentationml.notesSlide+xml"/>
  <Override PartName="/ppt/notesSlides/notesSlide341.xml" ContentType="application/vnd.openxmlformats-officedocument.presentationml.notesSlide+xml"/>
  <Override PartName="/ppt/notesSlides/notesSlide343.xml" ContentType="application/vnd.openxmlformats-officedocument.presentationml.notesSlide+xml"/>
  <Override PartName="/ppt/notesSlides/notesSlide345.xml" ContentType="application/vnd.openxmlformats-officedocument.presentationml.notesSlide+xml"/>
  <Override PartName="/ppt/notesSlides/notesSlide347.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1.xml" ContentType="application/vnd.openxmlformats-officedocument.presentationml.notesSlide+xml"/>
  <Override PartName="/ppt/notesSlides/notesSlide353.xml" ContentType="application/vnd.openxmlformats-officedocument.presentationml.notesSlide+xml"/>
  <Override PartName="/ppt/notesSlides/notesSlide355.xml" ContentType="application/vnd.openxmlformats-officedocument.presentationml.notesSlide+xml"/>
  <Override PartName="/ppt/notesSlides/notesSlide357.xml" ContentType="application/vnd.openxmlformats-officedocument.presentationml.notesSlide+xml"/>
  <Override PartName="/ppt/notesSlides/notesSlide359.xml" ContentType="application/vnd.openxmlformats-officedocument.presentationml.notesSlide+xml"/>
  <Override PartName="/ppt/notesSlides/notesSlide361.xml" ContentType="application/vnd.openxmlformats-officedocument.presentationml.notesSlide+xml"/>
  <Override PartName="/ppt/notesSlides/notesSlide363.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401.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6.xml" ContentType="application/vnd.openxmlformats-officedocument.presentationml.notesSlide+xml"/>
  <Override PartName="/ppt/notesSlides/notesSlide418.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4.xml" ContentType="application/vnd.openxmlformats-officedocument.presentationml.notesSlide+xml"/>
  <Override PartName="/ppt/notesSlides/notesSlide426.xml" ContentType="application/vnd.openxmlformats-officedocument.presentationml.notesSlide+xml"/>
  <Override PartName="/ppt/notesSlides/notesSlide428.xml" ContentType="application/vnd.openxmlformats-officedocument.presentationml.notesSlide+xml"/>
  <Override PartName="/ppt/notesSlides/notesSlide430.xml" ContentType="application/vnd.openxmlformats-officedocument.presentationml.notesSlide+xml"/>
  <Override PartName="/ppt/notesSlides/notesSlide432.xml" ContentType="application/vnd.openxmlformats-officedocument.presentationml.notesSlide+xml"/>
  <Override PartName="/ppt/notesSlides/notesSlide434.xml" ContentType="application/vnd.openxmlformats-officedocument.presentationml.notesSlide+xml"/>
  <Override PartName="/ppt/notesSlides/notesSlide436.xml" ContentType="application/vnd.openxmlformats-officedocument.presentationml.notesSlide+xml"/>
  <Override PartName="/ppt/notesSlides/notesSlide438.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3.xml" ContentType="application/vnd.openxmlformats-officedocument.presentationml.notesSlide+xml"/>
  <Override PartName="/ppt/notesSlides/notesSlide445.xml" ContentType="application/vnd.openxmlformats-officedocument.presentationml.notesSlide+xml"/>
  <Override PartName="/ppt/notesSlides/notesSlide448.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6.xml" ContentType="application/vnd.openxmlformats-officedocument.presentationml.notesSlide+xml"/>
  <Override PartName="/ppt/notesSlides/notesSlide489.xml" ContentType="application/vnd.openxmlformats-officedocument.presentationml.notesSlide+xml"/>
  <Override PartName="/ppt/notesSlides/notesSlide491.xml" ContentType="application/vnd.openxmlformats-officedocument.presentationml.notesSlide+xml"/>
  <Override PartName="/ppt/notesSlides/notesSlide493.xml" ContentType="application/vnd.openxmlformats-officedocument.presentationml.notesSlide+xml"/>
  <Override PartName="/ppt/notesSlides/notesSlide495.xml" ContentType="application/vnd.openxmlformats-officedocument.presentationml.notesSlide+xml"/>
  <Override PartName="/ppt/notesSlides/notesSlide497.xml" ContentType="application/vnd.openxmlformats-officedocument.presentationml.notesSlide+xml"/>
  <Override PartName="/ppt/notesSlides/notesSlide499.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3.xml" ContentType="application/vnd.openxmlformats-officedocument.presentationml.notesSlide+xml"/>
  <Override PartName="/ppt/notesSlides/notesSlide505.xml" ContentType="application/vnd.openxmlformats-officedocument.presentationml.notesSlide+xml"/>
  <Override PartName="/ppt/notesSlides/notesSlide507.xml" ContentType="application/vnd.openxmlformats-officedocument.presentationml.notesSlide+xml"/>
  <Override PartName="/ppt/notesSlides/notesSlide509.xml" ContentType="application/vnd.openxmlformats-officedocument.presentationml.notesSlide+xml"/>
  <Override PartName="/ppt/notesSlides/notesSlide511.xml" ContentType="application/vnd.openxmlformats-officedocument.presentationml.notesSlide+xml"/>
  <Override PartName="/ppt/notesSlides/notesSlide513.xml" ContentType="application/vnd.openxmlformats-officedocument.presentationml.notesSlide+xml"/>
  <Override PartName="/ppt/notesSlides/notesSlide517.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1.xml" ContentType="application/vnd.openxmlformats-officedocument.presentationml.notesSlide+xml"/>
  <Override PartName="/ppt/notesSlides/notesSlide523.xml" ContentType="application/vnd.openxmlformats-officedocument.presentationml.notesSlide+xml"/>
  <Override PartName="/ppt/notesSlides/notesSlide525.xml" ContentType="application/vnd.openxmlformats-officedocument.presentationml.notesSlide+xml"/>
  <Override PartName="/ppt/notesSlides/notesSlide528.xml" ContentType="application/vnd.openxmlformats-officedocument.presentationml.notesSlide+xml"/>
  <Override PartName="/ppt/notesSlides/notesSlide530.xml" ContentType="application/vnd.openxmlformats-officedocument.presentationml.notesSlide+xml"/>
  <Override PartName="/ppt/notesSlides/notesSlide532.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8.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8.xml" ContentType="application/vnd.openxmlformats-officedocument.presentationml.notesSlide+xml"/>
  <Override PartName="/ppt/notesSlides/notesSlide583.xml" ContentType="application/vnd.openxmlformats-officedocument.presentationml.notesSlide+xml"/>
  <Override PartName="/ppt/notesSlides/notesSlide586.xml" ContentType="application/vnd.openxmlformats-officedocument.presentationml.notesSlide+xml"/>
  <Override PartName="/ppt/notesSlides/notesSlide588.xml" ContentType="application/vnd.openxmlformats-officedocument.presentationml.notesSlide+xml"/>
  <Override PartName="/ppt/notesSlides/notesSlide590.xml" ContentType="application/vnd.openxmlformats-officedocument.presentationml.notesSlide+xml"/>
  <Override PartName="/ppt/notesSlides/notesSlide592.xml" ContentType="application/vnd.openxmlformats-officedocument.presentationml.notesSlide+xml"/>
  <Override PartName="/ppt/notesSlides/notesSlide594.xml" ContentType="application/vnd.openxmlformats-officedocument.presentationml.notesSlide+xml"/>
  <Override PartName="/ppt/notesSlides/notesSlide596.xml" ContentType="application/vnd.openxmlformats-officedocument.presentationml.notesSlide+xml"/>
  <Override PartName="/ppt/notesSlides/notesSlide598.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2.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4.xml" ContentType="application/vnd.openxmlformats-officedocument.presentationml.notesSlide+xml"/>
  <Override PartName="/ppt/notesSlides/notesSlide66.xml" ContentType="application/vnd.openxmlformats-officedocument.presentationml.notesSlide+xml"/>
  <Override PartName="/ppt/notesSlides/notesSlide68.xml" ContentType="application/vnd.openxmlformats-officedocument.presentationml.notesSlide+xml"/>
  <Override PartName="/ppt/notesSlides/notesSlide70.xml" ContentType="application/vnd.openxmlformats-officedocument.presentationml.notesSlide+xml"/>
  <Override PartName="/ppt/notesSlides/notesSlide72.xml" ContentType="application/vnd.openxmlformats-officedocument.presentationml.notesSlide+xml"/>
  <Override PartName="/ppt/notesSlides/notesSlide74.xml" ContentType="application/vnd.openxmlformats-officedocument.presentationml.notesSlide+xml"/>
  <Override PartName="/ppt/notesSlides/notesSlide76.xml" ContentType="application/vnd.openxmlformats-officedocument.presentationml.notesSlide+xml"/>
  <Override PartName="/ppt/notesSlides/notesSlide78.xml" ContentType="application/vnd.openxmlformats-officedocument.presentationml.notesSlide+xml"/>
  <Override PartName="/ppt/notesSlides/notesSlide80.xml" ContentType="application/vnd.openxmlformats-officedocument.presentationml.notesSlide+xml"/>
  <Override PartName="/ppt/notesSlides/notesSlide84.xml" ContentType="application/vnd.openxmlformats-officedocument.presentationml.notesSlide+xml"/>
  <Override PartName="/ppt/notesSlides/notesSlide86.xml" ContentType="application/vnd.openxmlformats-officedocument.presentationml.notesSlide+xml"/>
  <Override PartName="/ppt/notesSlides/notesSlide88.xml" ContentType="application/vnd.openxmlformats-officedocument.presentationml.notesSlide+xml"/>
  <Override PartName="/ppt/notesSlides/notesSlide90.xml" ContentType="application/vnd.openxmlformats-officedocument.presentationml.notesSlide+xml"/>
  <Override PartName="/ppt/notesSlides/notesSlide92.xml" ContentType="application/vnd.openxmlformats-officedocument.presentationml.notesSlide+xml"/>
  <Override PartName="/ppt/notesSlides/notesSlide94.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0.xml" ContentType="application/vnd.openxmlformats-officedocument.presentationml.slide+xml"/>
  <Override PartName="/ppt/slides/slide100.xml" ContentType="application/vnd.openxmlformats-officedocument.presentationml.slide+xml"/>
  <Override PartName="/ppt/slides/slide102.xml" ContentType="application/vnd.openxmlformats-officedocument.presentationml.slide+xml"/>
  <Override PartName="/ppt/slides/slide104.xml" ContentType="application/vnd.openxmlformats-officedocument.presentationml.slide+xml"/>
  <Override PartName="/ppt/slides/slide106.xml" ContentType="application/vnd.openxmlformats-officedocument.presentationml.slide+xml"/>
  <Override PartName="/ppt/slides/slide108.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2.xml" ContentType="application/vnd.openxmlformats-officedocument.presentationml.slide+xml"/>
  <Override PartName="/ppt/slides/slide115.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7.xml" ContentType="application/vnd.openxmlformats-officedocument.presentationml.slide+xml"/>
  <Override PartName="/ppt/slides/slide199.xml" ContentType="application/vnd.openxmlformats-officedocument.presentationml.slide+xml"/>
  <Override PartName="/ppt/slides/slide20.xml" ContentType="application/vnd.openxmlformats-officedocument.presentationml.slide+xml"/>
  <Override PartName="/ppt/slides/slide204.xml" ContentType="application/vnd.openxmlformats-officedocument.presentationml.slide+xml"/>
  <Override PartName="/ppt/slides/slide206.xml" ContentType="application/vnd.openxmlformats-officedocument.presentationml.slide+xml"/>
  <Override PartName="/ppt/slides/slide208.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2.xml" ContentType="application/vnd.openxmlformats-officedocument.presentationml.slide+xml"/>
  <Override PartName="/ppt/slides/slide214.xml" ContentType="application/vnd.openxmlformats-officedocument.presentationml.slide+xml"/>
  <Override PartName="/ppt/slides/slide216.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2.xml" ContentType="application/vnd.openxmlformats-officedocument.presentationml.slide+xml"/>
  <Override PartName="/ppt/slides/slide224.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1.xml" ContentType="application/vnd.openxmlformats-officedocument.presentationml.slide+xml"/>
  <Override PartName="/ppt/slides/slide233.xml" ContentType="application/vnd.openxmlformats-officedocument.presentationml.slide+xml"/>
  <Override PartName="/ppt/slides/slide235.xml" ContentType="application/vnd.openxmlformats-officedocument.presentationml.slide+xml"/>
  <Override PartName="/ppt/slides/slide237.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1.xml" ContentType="application/vnd.openxmlformats-officedocument.presentationml.slide+xml"/>
  <Override PartName="/ppt/slides/slide243.xml" ContentType="application/vnd.openxmlformats-officedocument.presentationml.slide+xml"/>
  <Override PartName="/ppt/slides/slide245.xml" ContentType="application/vnd.openxmlformats-officedocument.presentationml.slide+xml"/>
  <Override PartName="/ppt/slides/slide247.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1.xml" ContentType="application/vnd.openxmlformats-officedocument.presentationml.slide+xml"/>
  <Override PartName="/ppt/slides/slide256.xml" ContentType="application/vnd.openxmlformats-officedocument.presentationml.slide+xml"/>
  <Override PartName="/ppt/slides/slide258.xml" ContentType="application/vnd.openxmlformats-officedocument.presentationml.slide+xml"/>
  <Override PartName="/ppt/slides/slide260.xml" ContentType="application/vnd.openxmlformats-officedocument.presentationml.slide+xml"/>
  <Override PartName="/ppt/slides/slide262.xml" ContentType="application/vnd.openxmlformats-officedocument.presentationml.slide+xml"/>
  <Override PartName="/ppt/slides/slide264.xml" ContentType="application/vnd.openxmlformats-officedocument.presentationml.slide+xml"/>
  <Override PartName="/ppt/slides/slide266.xml" ContentType="application/vnd.openxmlformats-officedocument.presentationml.slide+xml"/>
  <Override PartName="/ppt/slides/slide268.xml" ContentType="application/vnd.openxmlformats-officedocument.presentationml.slide+xml"/>
  <Override PartName="/ppt/slides/slide270.xml" ContentType="application/vnd.openxmlformats-officedocument.presentationml.slide+xml"/>
  <Override PartName="/ppt/slides/slide275.xml" ContentType="application/vnd.openxmlformats-officedocument.presentationml.slide+xml"/>
  <Override PartName="/ppt/slides/slide277.xml" ContentType="application/vnd.openxmlformats-officedocument.presentationml.slide+xml"/>
  <Override PartName="/ppt/slides/slide279.xml" ContentType="application/vnd.openxmlformats-officedocument.presentationml.slide+xml"/>
  <Override PartName="/ppt/slides/slide281.xml" ContentType="application/vnd.openxmlformats-officedocument.presentationml.slide+xml"/>
  <Override PartName="/ppt/slides/slide283.xml" ContentType="application/vnd.openxmlformats-officedocument.presentationml.slide+xml"/>
  <Override PartName="/ppt/slides/slide285.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6.xml" ContentType="application/vnd.openxmlformats-officedocument.presentationml.slide+xml"/>
  <Override PartName="/ppt/slides/slide329.xml" ContentType="application/vnd.openxmlformats-officedocument.presentationml.slide+xml"/>
  <Override PartName="/ppt/slides/slide337.xml" ContentType="application/vnd.openxmlformats-officedocument.presentationml.slide+xml"/>
  <Override PartName="/ppt/slides/slide339.xml" ContentType="application/vnd.openxmlformats-officedocument.presentationml.slide+xml"/>
  <Override PartName="/ppt/slides/slide341.xml" ContentType="application/vnd.openxmlformats-officedocument.presentationml.slide+xml"/>
  <Override PartName="/ppt/slides/slide343.xml" ContentType="application/vnd.openxmlformats-officedocument.presentationml.slide+xml"/>
  <Override PartName="/ppt/slides/slide345.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1.xml" ContentType="application/vnd.openxmlformats-officedocument.presentationml.slide+xml"/>
  <Override PartName="/ppt/slides/slide353.xml" ContentType="application/vnd.openxmlformats-officedocument.presentationml.slide+xml"/>
  <Override PartName="/ppt/slides/slide355.xml" ContentType="application/vnd.openxmlformats-officedocument.presentationml.slide+xml"/>
  <Override PartName="/ppt/slides/slide357.xml" ContentType="application/vnd.openxmlformats-officedocument.presentationml.slide+xml"/>
  <Override PartName="/ppt/slides/slide359.xml" ContentType="application/vnd.openxmlformats-officedocument.presentationml.slide+xml"/>
  <Override PartName="/ppt/slides/slide361.xml" ContentType="application/vnd.openxmlformats-officedocument.presentationml.slide+xml"/>
  <Override PartName="/ppt/slides/slide363.xml" ContentType="application/vnd.openxmlformats-officedocument.presentationml.slide+xml"/>
  <Override PartName="/ppt/slides/slide365.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1.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01.xml" ContentType="application/vnd.openxmlformats-officedocument.presentationml.slide+xml"/>
  <Override PartName="/ppt/slides/slide406.xml" ContentType="application/vnd.openxmlformats-officedocument.presentationml.slide+xml"/>
  <Override PartName="/ppt/slides/slide408.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2.xml" ContentType="application/vnd.openxmlformats-officedocument.presentationml.slide+xml"/>
  <Override PartName="/ppt/slides/slide414.xml" ContentType="application/vnd.openxmlformats-officedocument.presentationml.slide+xml"/>
  <Override PartName="/ppt/slides/slide416.xml" ContentType="application/vnd.openxmlformats-officedocument.presentationml.slide+xml"/>
  <Override PartName="/ppt/slides/slide418.xml" ContentType="application/vnd.openxmlformats-officedocument.presentationml.slide+xml"/>
  <Override PartName="/ppt/slides/slide420.xml" ContentType="application/vnd.openxmlformats-officedocument.presentationml.slide+xml"/>
  <Override PartName="/ppt/slides/slide422.xml" ContentType="application/vnd.openxmlformats-officedocument.presentationml.slide+xml"/>
  <Override PartName="/ppt/slides/slide424.xml" ContentType="application/vnd.openxmlformats-officedocument.presentationml.slide+xml"/>
  <Override PartName="/ppt/slides/slide426.xml" ContentType="application/vnd.openxmlformats-officedocument.presentationml.slide+xml"/>
  <Override PartName="/ppt/slides/slide428.xml" ContentType="application/vnd.openxmlformats-officedocument.presentationml.slide+xml"/>
  <Override PartName="/ppt/slides/slide430.xml" ContentType="application/vnd.openxmlformats-officedocument.presentationml.slide+xml"/>
  <Override PartName="/ppt/slides/slide432.xml" ContentType="application/vnd.openxmlformats-officedocument.presentationml.slide+xml"/>
  <Override PartName="/ppt/slides/slide434.xml" ContentType="application/vnd.openxmlformats-officedocument.presentationml.slide+xml"/>
  <Override PartName="/ppt/slides/slide436.xml" ContentType="application/vnd.openxmlformats-officedocument.presentationml.slide+xml"/>
  <Override PartName="/ppt/slides/slide438.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3.xml" ContentType="application/vnd.openxmlformats-officedocument.presentationml.slide+xml"/>
  <Override PartName="/ppt/slides/slide445.xml" ContentType="application/vnd.openxmlformats-officedocument.presentationml.slide+xml"/>
  <Override PartName="/ppt/slides/slide448.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6.xml" ContentType="application/vnd.openxmlformats-officedocument.presentationml.slide+xml"/>
  <Override PartName="/ppt/slides/slide489.xml" ContentType="application/vnd.openxmlformats-officedocument.presentationml.slide+xml"/>
  <Override PartName="/ppt/slides/slide491.xml" ContentType="application/vnd.openxmlformats-officedocument.presentationml.slide+xml"/>
  <Override PartName="/ppt/slides/slide493.xml" ContentType="application/vnd.openxmlformats-officedocument.presentationml.slide+xml"/>
  <Override PartName="/ppt/slides/slide495.xml" ContentType="application/vnd.openxmlformats-officedocument.presentationml.slide+xml"/>
  <Override PartName="/ppt/slides/slide497.xml" ContentType="application/vnd.openxmlformats-officedocument.presentationml.slide+xml"/>
  <Override PartName="/ppt/slides/slide499.xml" ContentType="application/vnd.openxmlformats-officedocument.presentationml.slide+xml"/>
  <Override PartName="/ppt/slides/slide50.xml" ContentType="application/vnd.openxmlformats-officedocument.presentationml.slide+xml"/>
  <Override PartName="/ppt/slides/slide501.xml" ContentType="application/vnd.openxmlformats-officedocument.presentationml.slide+xml"/>
  <Override PartName="/ppt/slides/slide503.xml" ContentType="application/vnd.openxmlformats-officedocument.presentationml.slide+xml"/>
  <Override PartName="/ppt/slides/slide505.xml" ContentType="application/vnd.openxmlformats-officedocument.presentationml.slide+xml"/>
  <Override PartName="/ppt/slides/slide507.xml" ContentType="application/vnd.openxmlformats-officedocument.presentationml.slide+xml"/>
  <Override PartName="/ppt/slides/slide509.xml" ContentType="application/vnd.openxmlformats-officedocument.presentationml.slide+xml"/>
  <Override PartName="/ppt/slides/slide511.xml" ContentType="application/vnd.openxmlformats-officedocument.presentationml.slide+xml"/>
  <Override PartName="/ppt/slides/slide513.xml" ContentType="application/vnd.openxmlformats-officedocument.presentationml.slide+xml"/>
  <Override PartName="/ppt/slides/slide517.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1.xml" ContentType="application/vnd.openxmlformats-officedocument.presentationml.slide+xml"/>
  <Override PartName="/ppt/slides/slide523.xml" ContentType="application/vnd.openxmlformats-officedocument.presentationml.slide+xml"/>
  <Override PartName="/ppt/slides/slide525.xml" ContentType="application/vnd.openxmlformats-officedocument.presentationml.slide+xml"/>
  <Override PartName="/ppt/slides/slide528.xml" ContentType="application/vnd.openxmlformats-officedocument.presentationml.slide+xml"/>
  <Override PartName="/ppt/slides/slide530.xml" ContentType="application/vnd.openxmlformats-officedocument.presentationml.slide+xml"/>
  <Override PartName="/ppt/slides/slide532.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8.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8.xml" ContentType="application/vnd.openxmlformats-officedocument.presentationml.slide+xml"/>
  <Override PartName="/ppt/slides/slide583.xml" ContentType="application/vnd.openxmlformats-officedocument.presentationml.slide+xml"/>
  <Override PartName="/ppt/slides/slide586.xml" ContentType="application/vnd.openxmlformats-officedocument.presentationml.slide+xml"/>
  <Override PartName="/ppt/slides/slide588.xml" ContentType="application/vnd.openxmlformats-officedocument.presentationml.slide+xml"/>
  <Override PartName="/ppt/slides/slide590.xml" ContentType="application/vnd.openxmlformats-officedocument.presentationml.slide+xml"/>
  <Override PartName="/ppt/slides/slide592.xml" ContentType="application/vnd.openxmlformats-officedocument.presentationml.slide+xml"/>
  <Override PartName="/ppt/slides/slide594.xml" ContentType="application/vnd.openxmlformats-officedocument.presentationml.slide+xml"/>
  <Override PartName="/ppt/slides/slide596.xml" ContentType="application/vnd.openxmlformats-officedocument.presentationml.slide+xml"/>
  <Override PartName="/ppt/slides/slide598.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2.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4.xml" ContentType="application/vnd.openxmlformats-officedocument.presentationml.slide+xml"/>
  <Override PartName="/ppt/slides/slide66.xml" ContentType="application/vnd.openxmlformats-officedocument.presentationml.slide+xml"/>
  <Override PartName="/ppt/slides/slide68.xml" ContentType="application/vnd.openxmlformats-officedocument.presentationml.slide+xml"/>
  <Override PartName="/ppt/slides/slide70.xml" ContentType="application/vnd.openxmlformats-officedocument.presentationml.slide+xml"/>
  <Override PartName="/ppt/slides/slide72.xml" ContentType="application/vnd.openxmlformats-officedocument.presentationml.slide+xml"/>
  <Override PartName="/ppt/slides/slide74.xml" ContentType="application/vnd.openxmlformats-officedocument.presentationml.slide+xml"/>
  <Override PartName="/ppt/slides/slide76.xml" ContentType="application/vnd.openxmlformats-officedocument.presentationml.slide+xml"/>
  <Override PartName="/ppt/slides/slide78.xml" ContentType="application/vnd.openxmlformats-officedocument.presentationml.slide+xml"/>
  <Override PartName="/ppt/slides/slide80.xml" ContentType="application/vnd.openxmlformats-officedocument.presentationml.slide+xml"/>
  <Override PartName="/ppt/slides/slide84.xml" ContentType="application/vnd.openxmlformats-officedocument.presentationml.slide+xml"/>
  <Override PartName="/ppt/slides/slide86.xml" ContentType="application/vnd.openxmlformats-officedocument.presentationml.slide+xml"/>
  <Override PartName="/ppt/slides/slide88.xml" ContentType="application/vnd.openxmlformats-officedocument.presentationml.slide+xml"/>
  <Override PartName="/ppt/slides/slide90.xml" ContentType="application/vnd.openxmlformats-officedocument.presentationml.slide+xml"/>
  <Override PartName="/ppt/slides/slide92.xml" ContentType="application/vnd.openxmlformats-officedocument.presentationml.slide+xml"/>
  <Override PartName="/ppt/slides/slide94.xml" ContentType="application/vnd.openxmlformats-officedocument.presentationml.slide+xml"/>
  <Override PartName="/ppt/slides/slide96.xml" ContentType="application/vnd.openxmlformats-officedocument.presentationml.slide+xml"/>
  <Override PartName="/ppt/slides/slide98.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628" r:id="rId379"/>
    <p:sldId id="629" r:id="rId380"/>
    <p:sldId id="630" r:id="rId381"/>
    <p:sldId id="631" r:id="rId382"/>
    <p:sldId id="632" r:id="rId383"/>
    <p:sldId id="633" r:id="rId384"/>
    <p:sldId id="634" r:id="rId385"/>
    <p:sldId id="635" r:id="rId386"/>
    <p:sldId id="636" r:id="rId387"/>
    <p:sldId id="637" r:id="rId388"/>
    <p:sldId id="638" r:id="rId389"/>
    <p:sldId id="639" r:id="rId390"/>
    <p:sldId id="640" r:id="rId391"/>
    <p:sldId id="641" r:id="rId392"/>
    <p:sldId id="642" r:id="rId393"/>
    <p:sldId id="643" r:id="rId394"/>
    <p:sldId id="644" r:id="rId395"/>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379" Type="http://schemas.openxmlformats.org/officeDocument/2006/relationships/slide" Target="slides/slide373.xml"/><Relationship Id="rId380" Type="http://schemas.openxmlformats.org/officeDocument/2006/relationships/slide" Target="slides/slide374.xml"/><Relationship Id="rId381" Type="http://schemas.openxmlformats.org/officeDocument/2006/relationships/slide" Target="slides/slide375.xml"/><Relationship Id="rId382" Type="http://schemas.openxmlformats.org/officeDocument/2006/relationships/slide" Target="slides/slide376.xml"/><Relationship Id="rId383" Type="http://schemas.openxmlformats.org/officeDocument/2006/relationships/slide" Target="slides/slide377.xml"/><Relationship Id="rId384" Type="http://schemas.openxmlformats.org/officeDocument/2006/relationships/slide" Target="slides/slide378.xml"/><Relationship Id="rId385" Type="http://schemas.openxmlformats.org/officeDocument/2006/relationships/slide" Target="slides/slide379.xml"/><Relationship Id="rId386" Type="http://schemas.openxmlformats.org/officeDocument/2006/relationships/slide" Target="slides/slide380.xml"/><Relationship Id="rId387" Type="http://schemas.openxmlformats.org/officeDocument/2006/relationships/slide" Target="slides/slide381.xml"/><Relationship Id="rId388" Type="http://schemas.openxmlformats.org/officeDocument/2006/relationships/slide" Target="slides/slide382.xml"/><Relationship Id="rId389" Type="http://schemas.openxmlformats.org/officeDocument/2006/relationships/slide" Target="slides/slide383.xml"/><Relationship Id="rId390" Type="http://schemas.openxmlformats.org/officeDocument/2006/relationships/slide" Target="slides/slide384.xml"/><Relationship Id="rId391" Type="http://schemas.openxmlformats.org/officeDocument/2006/relationships/slide" Target="slides/slide385.xml"/><Relationship Id="rId392" Type="http://schemas.openxmlformats.org/officeDocument/2006/relationships/slide" Target="slides/slide386.xml"/><Relationship Id="rId393" Type="http://schemas.openxmlformats.org/officeDocument/2006/relationships/slide" Target="slides/slide387.xml"/><Relationship Id="rId394" Type="http://schemas.openxmlformats.org/officeDocument/2006/relationships/slide" Target="slides/slide388.xml"/><Relationship Id="rId395" Type="http://schemas.openxmlformats.org/officeDocument/2006/relationships/slide" Target="slides/slide389.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www.discoverfinancial.com/" TargetMode="Externa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sz="1200"/>
              <a:t>Customer experience is the process  of designing Customer interactions and reacting consistently to individual Customer behaviours across all touch points in the Customer journey for the purpose of meeting or exceeding customer expectations, thereby, increasing Customer satisfaction, loyalty and brand advocacy.</a:t>
            </a:r>
            <a:br>
              <a:rPr lang="en-GB" sz="1200"/>
            </a:br>
            <a:endParaRPr sz="1200"/>
          </a:p>
          <a:p>
            <a:pPr indent="-96838" lvl="0" marL="173038" rtl="0" algn="l">
              <a:lnSpc>
                <a:spcPct val="95000"/>
              </a:lnSpc>
              <a:spcBef>
                <a:spcPts val="400"/>
              </a:spcBef>
              <a:spcAft>
                <a:spcPts val="0"/>
              </a:spcAft>
              <a:buClr>
                <a:schemeClr val="dk1"/>
              </a:buClr>
              <a:buSzPts val="1200"/>
              <a:buNone/>
            </a:pPr>
            <a:r>
              <a:t/>
            </a:r>
            <a:endParaRP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84" name="Shape 7084"/>
        <p:cNvGrpSpPr/>
        <p:nvPr/>
      </p:nvGrpSpPr>
      <p:grpSpPr>
        <a:xfrm>
          <a:off x="0" y="0"/>
          <a:ext cx="0" cy="0"/>
          <a:chOff x="0" y="0"/>
          <a:chExt cx="0" cy="0"/>
        </a:xfrm>
      </p:grpSpPr>
      <p:sp>
        <p:nvSpPr>
          <p:cNvPr id="7085" name="Google Shape;7085;p37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086" name="Google Shape;7086;p3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31" name="Shape 7231"/>
        <p:cNvGrpSpPr/>
        <p:nvPr/>
      </p:nvGrpSpPr>
      <p:grpSpPr>
        <a:xfrm>
          <a:off x="0" y="0"/>
          <a:ext cx="0" cy="0"/>
          <a:chOff x="0" y="0"/>
          <a:chExt cx="0" cy="0"/>
        </a:xfrm>
      </p:grpSpPr>
      <p:sp>
        <p:nvSpPr>
          <p:cNvPr id="7232" name="Google Shape;7232;p381: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33" name="Google Shape;7233;p3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34" name="Google Shape;7234;p3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45" name="Shape 7345"/>
        <p:cNvGrpSpPr/>
        <p:nvPr/>
      </p:nvGrpSpPr>
      <p:grpSpPr>
        <a:xfrm>
          <a:off x="0" y="0"/>
          <a:ext cx="0" cy="0"/>
          <a:chOff x="0" y="0"/>
          <a:chExt cx="0" cy="0"/>
        </a:xfrm>
      </p:grpSpPr>
      <p:sp>
        <p:nvSpPr>
          <p:cNvPr id="7346" name="Google Shape;7346;p38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47" name="Google Shape;7347;p3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48" name="Google Shape;7348;p3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79" name="Shape 7379"/>
        <p:cNvGrpSpPr/>
        <p:nvPr/>
      </p:nvGrpSpPr>
      <p:grpSpPr>
        <a:xfrm>
          <a:off x="0" y="0"/>
          <a:ext cx="0" cy="0"/>
          <a:chOff x="0" y="0"/>
          <a:chExt cx="0" cy="0"/>
        </a:xfrm>
      </p:grpSpPr>
      <p:sp>
        <p:nvSpPr>
          <p:cNvPr id="7380" name="Google Shape;7380;p3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81" name="Google Shape;7381;p3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b="1" lang="en-GB"/>
              <a:t>Q1-2009</a:t>
            </a:r>
            <a:endParaRPr/>
          </a:p>
          <a:p>
            <a:pPr indent="-173038" lvl="0" marL="173038" rtl="0" algn="l">
              <a:lnSpc>
                <a:spcPct val="95000"/>
              </a:lnSpc>
              <a:spcBef>
                <a:spcPts val="400"/>
              </a:spcBef>
              <a:spcAft>
                <a:spcPts val="0"/>
              </a:spcAft>
              <a:buClr>
                <a:schemeClr val="dk1"/>
              </a:buClr>
              <a:buSzPts val="1200"/>
              <a:buChar char="•"/>
            </a:pPr>
            <a:r>
              <a:rPr b="1" lang="en-GB"/>
              <a:t>Cache Back</a:t>
            </a:r>
            <a:endParaRPr/>
          </a:p>
          <a:p>
            <a:pPr indent="-173038" lvl="0" marL="173038" rtl="0" algn="l">
              <a:lnSpc>
                <a:spcPct val="95000"/>
              </a:lnSpc>
              <a:spcBef>
                <a:spcPts val="400"/>
              </a:spcBef>
              <a:spcAft>
                <a:spcPts val="0"/>
              </a:spcAft>
              <a:buClr>
                <a:schemeClr val="dk1"/>
              </a:buClr>
              <a:buSzPts val="1200"/>
              <a:buChar char="•"/>
            </a:pPr>
            <a:r>
              <a:rPr lang="en-GB"/>
              <a:t>Enterprise Data Warehouse</a:t>
            </a:r>
            <a:br>
              <a:rPr lang="en-GB"/>
            </a:br>
            <a:r>
              <a:rPr lang="en-GB"/>
              <a:t>Helps Drive Further</a:t>
            </a:r>
            <a:br>
              <a:rPr lang="en-GB"/>
            </a:br>
            <a:r>
              <a:rPr lang="en-GB"/>
              <a:t>Innovation at Discover</a:t>
            </a:r>
            <a:endParaRPr/>
          </a:p>
          <a:p>
            <a:pPr indent="-173038" lvl="0" marL="173038" rtl="0" algn="l">
              <a:lnSpc>
                <a:spcPct val="95000"/>
              </a:lnSpc>
              <a:spcBef>
                <a:spcPts val="400"/>
              </a:spcBef>
              <a:spcAft>
                <a:spcPts val="0"/>
              </a:spcAft>
              <a:buClr>
                <a:schemeClr val="dk1"/>
              </a:buClr>
              <a:buSzPts val="1200"/>
              <a:buChar char="•"/>
            </a:pPr>
            <a:r>
              <a:rPr lang="en-GB"/>
              <a:t>by Cheryl D. Krivda</a:t>
            </a:r>
            <a:endParaRPr/>
          </a:p>
          <a:p>
            <a:pPr indent="-173038" lvl="0" marL="173038" rtl="0" algn="l">
              <a:lnSpc>
                <a:spcPct val="95000"/>
              </a:lnSpc>
              <a:spcBef>
                <a:spcPts val="400"/>
              </a:spcBef>
              <a:spcAft>
                <a:spcPts val="0"/>
              </a:spcAft>
              <a:buClr>
                <a:schemeClr val="dk1"/>
              </a:buClr>
              <a:buSzPts val="1200"/>
              <a:buChar char="•"/>
            </a:pPr>
            <a:r>
              <a:rPr lang="en-GB"/>
              <a:t>Engaging in innovative business practices can lead to tremendous market advantage, especially for companies willing to take the risks involved in blazing a new path. Just ask Discover Financial Services. One of the world's leading credit card issuers and a pioneer of cash rewards, Discover understands firsthand the benefits of developing a pioneering corporate culture. </a:t>
            </a:r>
            <a:endParaRPr/>
          </a:p>
          <a:p>
            <a:pPr indent="-173038" lvl="0" marL="173038" rtl="0" algn="l">
              <a:lnSpc>
                <a:spcPct val="95000"/>
              </a:lnSpc>
              <a:spcBef>
                <a:spcPts val="400"/>
              </a:spcBef>
              <a:spcAft>
                <a:spcPts val="0"/>
              </a:spcAft>
              <a:buClr>
                <a:schemeClr val="dk1"/>
              </a:buClr>
              <a:buSzPts val="1200"/>
              <a:buChar char="•"/>
            </a:pPr>
            <a:r>
              <a:rPr lang="en-GB"/>
              <a:t>As part of its effort to continually enhance customer service and satisfaction, Discover has used analytic tools from SAS extensively. Yet the company spotted an opportunity to improve the caliber of its analysis by initiating a cultural change in the relationship between business users and IT. By bringing together its analytic tools with an enterprise data warehouse (EDW) from Teradata, Discover aimed to give analysts in its customer information and decision management group the ability to generate new insights and understanding of critical market and consumer trends.</a:t>
            </a:r>
            <a:endParaRPr/>
          </a:p>
          <a:p>
            <a:pPr indent="-173038" lvl="0" marL="173038" rtl="0" algn="l">
              <a:lnSpc>
                <a:spcPct val="95000"/>
              </a:lnSpc>
              <a:spcBef>
                <a:spcPts val="400"/>
              </a:spcBef>
              <a:spcAft>
                <a:spcPts val="0"/>
              </a:spcAft>
              <a:buClr>
                <a:schemeClr val="dk1"/>
              </a:buClr>
              <a:buSzPts val="1200"/>
              <a:buChar char="•"/>
            </a:pPr>
            <a:r>
              <a:rPr lang="en-GB"/>
              <a:t>Today, Discover analysts use SAS and other tools to perform cross-line-of-business (LOB) analysis on data stored in the EDW. It is providing the company with leading-edge decision support capabilities, which are helping analysts identify innovative new revenue and customer service opportunities. This integrated platform has resulted in significant savings through cost takeout, revenue generation, enhanced productivity and reduced IT run rates. All of which help keep Discover at the top of the card industry.</a:t>
            </a:r>
            <a:endParaRPr/>
          </a:p>
          <a:p>
            <a:pPr indent="-173038" lvl="0" marL="173038" rtl="0" algn="l">
              <a:lnSpc>
                <a:spcPct val="95000"/>
              </a:lnSpc>
              <a:spcBef>
                <a:spcPts val="400"/>
              </a:spcBef>
              <a:spcAft>
                <a:spcPts val="0"/>
              </a:spcAft>
              <a:buClr>
                <a:schemeClr val="dk1"/>
              </a:buClr>
              <a:buSzPts val="1200"/>
              <a:buChar char="•"/>
            </a:pPr>
            <a:r>
              <a:rPr b="1" lang="en-GB"/>
              <a:t>Opportunity for new insight</a:t>
            </a:r>
            <a:endParaRPr/>
          </a:p>
          <a:p>
            <a:pPr indent="-173038" lvl="0" marL="173038" rtl="0" algn="l">
              <a:lnSpc>
                <a:spcPct val="95000"/>
              </a:lnSpc>
              <a:spcBef>
                <a:spcPts val="400"/>
              </a:spcBef>
              <a:spcAft>
                <a:spcPts val="0"/>
              </a:spcAft>
              <a:buClr>
                <a:schemeClr val="dk1"/>
              </a:buClr>
              <a:buSzPts val="1200"/>
              <a:buChar char="•"/>
            </a:pPr>
            <a:r>
              <a:rPr lang="en-GB"/>
              <a:t>Discover's vision was to create a centralized repository for clean, reliable and consistent data that could be used for risk analytics and decision support. Executives therefore decided an EDW was core to the success of this direction. The EDW would be the central location for analytic data and feed daily operational decisions. Utilizing data in this capacity required the EDW solution to optimize the timeliness, accuracy, quality and consistency of Discover's risk decision making.</a:t>
            </a:r>
            <a:endParaRPr/>
          </a:p>
          <a:p>
            <a:pPr indent="-173038" lvl="0" marL="173038" rtl="0" algn="l">
              <a:lnSpc>
                <a:spcPct val="95000"/>
              </a:lnSpc>
              <a:spcBef>
                <a:spcPts val="400"/>
              </a:spcBef>
              <a:spcAft>
                <a:spcPts val="0"/>
              </a:spcAft>
              <a:buClr>
                <a:schemeClr val="dk1"/>
              </a:buClr>
              <a:buSzPts val="1200"/>
              <a:buChar char="•"/>
            </a:pPr>
            <a:r>
              <a:rPr lang="en-GB"/>
              <a:t>The company also knew it needed a solution that provided superior performance, availability and scalability. In March 2005, Discover deployed its new data warehouse from Teradata.</a:t>
            </a:r>
            <a:endParaRPr/>
          </a:p>
          <a:p>
            <a:pPr indent="-173038" lvl="0" marL="173038" rtl="0" algn="l">
              <a:lnSpc>
                <a:spcPct val="95000"/>
              </a:lnSpc>
              <a:spcBef>
                <a:spcPts val="400"/>
              </a:spcBef>
              <a:spcAft>
                <a:spcPts val="0"/>
              </a:spcAft>
              <a:buClr>
                <a:schemeClr val="dk1"/>
              </a:buClr>
              <a:buSzPts val="1200"/>
              <a:buChar char="•"/>
            </a:pPr>
            <a:r>
              <a:rPr b="1" lang="en-GB"/>
              <a:t>Cultural evolution</a:t>
            </a:r>
            <a:endParaRPr/>
          </a:p>
          <a:p>
            <a:pPr indent="-173038" lvl="0" marL="173038" rtl="0" algn="l">
              <a:lnSpc>
                <a:spcPct val="95000"/>
              </a:lnSpc>
              <a:spcBef>
                <a:spcPts val="400"/>
              </a:spcBef>
              <a:spcAft>
                <a:spcPts val="0"/>
              </a:spcAft>
              <a:buClr>
                <a:schemeClr val="dk1"/>
              </a:buClr>
              <a:buSzPts val="1200"/>
              <a:buChar char="•"/>
            </a:pPr>
            <a:r>
              <a:rPr lang="en-GB"/>
              <a:t>Implementing the infrastructure so that the Teradata and SAS technologies could work together was a challenging process. Discover's IT group began to consolidate and integrate data needed to perform risk analytics, systematically integrating frequently used subject areas into the EDW. These steps eliminated the need for multiple sources and simplified data access. IT has also built necessary balance and control functions to ensure data integrity.</a:t>
            </a:r>
            <a:endParaRPr/>
          </a:p>
          <a:p>
            <a:pPr indent="-173038" lvl="0" marL="173038" rtl="0" algn="l">
              <a:lnSpc>
                <a:spcPct val="95000"/>
              </a:lnSpc>
              <a:spcBef>
                <a:spcPts val="400"/>
              </a:spcBef>
              <a:spcAft>
                <a:spcPts val="0"/>
              </a:spcAft>
              <a:buClr>
                <a:schemeClr val="dk1"/>
              </a:buClr>
              <a:buSzPts val="1200"/>
              <a:buChar char="•"/>
            </a:pPr>
            <a:r>
              <a:rPr lang="en-GB"/>
              <a:t>To enhance the risk analytics process, the IT group created a centralized and reusable set of analytic data that could be shared among users. They did so by identifying the most frequently used predictive variables and loading those into the data warehouse. Other subject areas were similarly designed and deployed. </a:t>
            </a:r>
            <a:endParaRPr/>
          </a:p>
          <a:p>
            <a:pPr indent="-173038" lvl="0" marL="173038" rtl="0" algn="l">
              <a:lnSpc>
                <a:spcPct val="95000"/>
              </a:lnSpc>
              <a:spcBef>
                <a:spcPts val="400"/>
              </a:spcBef>
              <a:spcAft>
                <a:spcPts val="0"/>
              </a:spcAft>
              <a:buClr>
                <a:schemeClr val="dk1"/>
              </a:buClr>
              <a:buSzPts val="1200"/>
              <a:buChar char="•"/>
            </a:pPr>
            <a:r>
              <a:rPr lang="en-GB"/>
              <a:t>To maximize the new system's benefits, Discover executives decided to give analysts a way to retrieve their own information, thereby minimizing the workload they passed to IT. "To do this, we had to deploy the technology in a way that allowed the analysts easy access to the data and maintained our change management policies," explains Glenn Schneider, senior vice president and chief information officer of Business Technology at Discover. "We needed to create a cultural evolution-a change that would integrate the analytical culture into the system and provide the analysts with the right level of technology training."</a:t>
            </a:r>
            <a:endParaRPr/>
          </a:p>
          <a:p>
            <a:pPr indent="-173038" lvl="0" marL="173038" rtl="0" algn="l">
              <a:lnSpc>
                <a:spcPct val="95000"/>
              </a:lnSpc>
              <a:spcBef>
                <a:spcPts val="400"/>
              </a:spcBef>
              <a:spcAft>
                <a:spcPts val="0"/>
              </a:spcAft>
              <a:buClr>
                <a:schemeClr val="dk1"/>
              </a:buClr>
              <a:buSzPts val="1200"/>
              <a:buChar char="•"/>
            </a:pPr>
            <a:r>
              <a:rPr lang="en-GB"/>
              <a:t>Discover worked with Teradata Professional Services to develop a customized education curriculum. Teradata provided a curriculum writer who created training sessions and materials that referenced Discover's specific tables and attributes. This helped the analysts learn how to leverage the data warehouse for better analysis.</a:t>
            </a:r>
            <a:endParaRPr/>
          </a:p>
          <a:p>
            <a:pPr indent="-173038" lvl="0" marL="173038" rtl="0" algn="l">
              <a:lnSpc>
                <a:spcPct val="95000"/>
              </a:lnSpc>
              <a:spcBef>
                <a:spcPts val="400"/>
              </a:spcBef>
              <a:spcAft>
                <a:spcPts val="0"/>
              </a:spcAft>
              <a:buClr>
                <a:schemeClr val="dk1"/>
              </a:buClr>
              <a:buSzPts val="1200"/>
              <a:buChar char="•"/>
            </a:pPr>
            <a:r>
              <a:rPr b="1" lang="en-GB"/>
              <a:t>SIDEBAR: Responding to disaster</a:t>
            </a:r>
            <a:endParaRPr/>
          </a:p>
          <a:p>
            <a:pPr indent="-173038" lvl="0" marL="173038" rtl="0" algn="l">
              <a:lnSpc>
                <a:spcPct val="95000"/>
              </a:lnSpc>
              <a:spcBef>
                <a:spcPts val="400"/>
              </a:spcBef>
              <a:spcAft>
                <a:spcPts val="0"/>
              </a:spcAft>
              <a:buClr>
                <a:schemeClr val="dk1"/>
              </a:buClr>
              <a:buSzPts val="1200"/>
              <a:buChar char="•"/>
            </a:pPr>
            <a:r>
              <a:rPr lang="en-GB"/>
              <a:t>Understanding the benefits of Discover's new Teradata/SAS environment didn't take long. A few months after the new data warehouse was launched, Hurricane Katrina struck the Gulf Coast of the United States.</a:t>
            </a:r>
            <a:endParaRPr/>
          </a:p>
          <a:p>
            <a:pPr indent="-173038" lvl="0" marL="173038" rtl="0" algn="l">
              <a:lnSpc>
                <a:spcPct val="95000"/>
              </a:lnSpc>
              <a:spcBef>
                <a:spcPts val="400"/>
              </a:spcBef>
              <a:spcAft>
                <a:spcPts val="0"/>
              </a:spcAft>
              <a:buClr>
                <a:schemeClr val="dk1"/>
              </a:buClr>
              <a:buSzPts val="1200"/>
              <a:buChar char="•"/>
            </a:pPr>
            <a:r>
              <a:rPr lang="en-GB"/>
              <a:t>Within 90 minutes, Discover analysts were supplying metrics to decision makers to help determine the cost and risk of extending credit to cardholders in the affected areas. </a:t>
            </a:r>
            <a:endParaRPr/>
          </a:p>
          <a:p>
            <a:pPr indent="-173038" lvl="0" marL="173038" rtl="0" algn="l">
              <a:lnSpc>
                <a:spcPct val="95000"/>
              </a:lnSpc>
              <a:spcBef>
                <a:spcPts val="400"/>
              </a:spcBef>
              <a:spcAft>
                <a:spcPts val="0"/>
              </a:spcAft>
              <a:buClr>
                <a:schemeClr val="dk1"/>
              </a:buClr>
              <a:buSzPts val="1200"/>
              <a:buChar char="•"/>
            </a:pPr>
            <a:r>
              <a:rPr lang="en-GB"/>
              <a:t>"Even with the limited information we had in our database at that time, we were quickly able to identify that population of our cardholders, bringing together sales, activation, performance and bankruptcy data and their active status," says Aldo Mancini, who managed the project for Discover. "We provided significant support to help these people when they needed it most." - C.K.</a:t>
            </a:r>
            <a:endParaRPr/>
          </a:p>
          <a:p>
            <a:pPr indent="-173038" lvl="0" marL="173038" rtl="0" algn="l">
              <a:lnSpc>
                <a:spcPct val="95000"/>
              </a:lnSpc>
              <a:spcBef>
                <a:spcPts val="400"/>
              </a:spcBef>
              <a:spcAft>
                <a:spcPts val="0"/>
              </a:spcAft>
              <a:buClr>
                <a:schemeClr val="dk1"/>
              </a:buClr>
              <a:buSzPts val="1200"/>
              <a:buChar char="•"/>
            </a:pPr>
            <a:r>
              <a:rPr b="1" lang="en-GB"/>
              <a:t>Under (peer) pressure</a:t>
            </a:r>
            <a:endParaRPr/>
          </a:p>
          <a:p>
            <a:pPr indent="-173038" lvl="0" marL="173038" rtl="0" algn="l">
              <a:lnSpc>
                <a:spcPct val="95000"/>
              </a:lnSpc>
              <a:spcBef>
                <a:spcPts val="400"/>
              </a:spcBef>
              <a:spcAft>
                <a:spcPts val="0"/>
              </a:spcAft>
              <a:buClr>
                <a:schemeClr val="dk1"/>
              </a:buClr>
              <a:buSzPts val="1200"/>
              <a:buChar char="•"/>
            </a:pPr>
            <a:r>
              <a:rPr lang="en-GB"/>
              <a:t>Next, Discover's team surveyed the analysts to understand their skill set. </a:t>
            </a:r>
            <a:endParaRPr/>
          </a:p>
          <a:p>
            <a:pPr indent="-173038" lvl="0" marL="173038" rtl="0" algn="l">
              <a:lnSpc>
                <a:spcPct val="95000"/>
              </a:lnSpc>
              <a:spcBef>
                <a:spcPts val="400"/>
              </a:spcBef>
              <a:spcAft>
                <a:spcPts val="0"/>
              </a:spcAft>
              <a:buClr>
                <a:schemeClr val="dk1"/>
              </a:buClr>
              <a:buSzPts val="1200"/>
              <a:buChar char="•"/>
            </a:pPr>
            <a:r>
              <a:rPr lang="en-GB"/>
              <a:t>Analysts with both SAS and structured query language (SQL) experience became power users. These analysts underwent Teradata training that included education on data models, data warehouse construction, sources and targets, and transformations. The course also showed analysts how these elements tied to Discover's financials systems.</a:t>
            </a:r>
            <a:endParaRPr/>
          </a:p>
          <a:p>
            <a:pPr indent="-173038" lvl="0" marL="173038" rtl="0" algn="l">
              <a:lnSpc>
                <a:spcPct val="95000"/>
              </a:lnSpc>
              <a:spcBef>
                <a:spcPts val="400"/>
              </a:spcBef>
              <a:spcAft>
                <a:spcPts val="0"/>
              </a:spcAft>
              <a:buClr>
                <a:schemeClr val="dk1"/>
              </a:buClr>
              <a:buSzPts val="1200"/>
              <a:buChar char="•"/>
            </a:pPr>
            <a:r>
              <a:rPr lang="en-GB"/>
              <a:t>A second course, for analysts with no Teradata or SQL experience, explained how Teradata systems are built and how SQL is used. The third course addressed the marriage of the SAS and Teradata tools, discussing how SAS users could access the data warehouse. The final course offered more advanced SQL/SAS education, teaching analysts how to create multiple steps in a job, extract data from a table and perform SAS statistical analysis on the data. </a:t>
            </a:r>
            <a:endParaRPr/>
          </a:p>
          <a:p>
            <a:pPr indent="-173038" lvl="0" marL="173038" rtl="0" algn="l">
              <a:lnSpc>
                <a:spcPct val="95000"/>
              </a:lnSpc>
              <a:spcBef>
                <a:spcPts val="400"/>
              </a:spcBef>
              <a:spcAft>
                <a:spcPts val="0"/>
              </a:spcAft>
              <a:buClr>
                <a:schemeClr val="dk1"/>
              </a:buClr>
              <a:buSzPts val="1200"/>
              <a:buChar char="•"/>
            </a:pPr>
            <a:r>
              <a:rPr lang="en-GB"/>
              <a:t>As successive groups of analysts were trained, the team used their feedback to further refine and customize the courses. To promote widespread education on the system, users were not issued a system ID until they underwent instruction. Once training was complete, analysts were assigned a power-user buddy to answer questions.</a:t>
            </a:r>
            <a:endParaRPr/>
          </a:p>
          <a:p>
            <a:pPr indent="-173038" lvl="0" marL="173038" rtl="0" algn="l">
              <a:lnSpc>
                <a:spcPct val="95000"/>
              </a:lnSpc>
              <a:spcBef>
                <a:spcPts val="400"/>
              </a:spcBef>
              <a:spcAft>
                <a:spcPts val="0"/>
              </a:spcAft>
              <a:buClr>
                <a:schemeClr val="dk1"/>
              </a:buClr>
              <a:buSzPts val="1200"/>
              <a:buChar char="•"/>
            </a:pPr>
            <a:r>
              <a:rPr lang="en-GB"/>
              <a:t>The power users also played another role: evangelist. "Their job was to propagate the utility of this environment," says Aldo Mancini, who managed the project for Discover. "Analysts could go to their bosses with the right information, validated by the financials systems, much faster than ever before." </a:t>
            </a:r>
            <a:endParaRPr/>
          </a:p>
          <a:p>
            <a:pPr indent="-173038" lvl="0" marL="173038" rtl="0" algn="l">
              <a:lnSpc>
                <a:spcPct val="95000"/>
              </a:lnSpc>
              <a:spcBef>
                <a:spcPts val="400"/>
              </a:spcBef>
              <a:spcAft>
                <a:spcPts val="0"/>
              </a:spcAft>
              <a:buClr>
                <a:schemeClr val="dk1"/>
              </a:buClr>
              <a:buSzPts val="1200"/>
              <a:buChar char="•"/>
            </a:pPr>
            <a:r>
              <a:rPr b="1" lang="en-GB"/>
              <a:t>SIDEBAR: At a glance</a:t>
            </a:r>
            <a:endParaRPr/>
          </a:p>
          <a:p>
            <a:pPr indent="-173038" lvl="0" marL="173038" rtl="0" algn="l">
              <a:lnSpc>
                <a:spcPct val="95000"/>
              </a:lnSpc>
              <a:spcBef>
                <a:spcPts val="400"/>
              </a:spcBef>
              <a:spcAft>
                <a:spcPts val="0"/>
              </a:spcAft>
              <a:buClr>
                <a:schemeClr val="dk1"/>
              </a:buClr>
              <a:buSzPts val="1200"/>
              <a:buChar char="•"/>
            </a:pPr>
            <a:r>
              <a:rPr lang="en-GB"/>
              <a:t>Headquarters: Riverwoods, Ill.</a:t>
            </a:r>
            <a:endParaRPr/>
          </a:p>
          <a:p>
            <a:pPr indent="-173038" lvl="0" marL="173038" rtl="0" algn="l">
              <a:lnSpc>
                <a:spcPct val="95000"/>
              </a:lnSpc>
              <a:spcBef>
                <a:spcPts val="400"/>
              </a:spcBef>
              <a:spcAft>
                <a:spcPts val="0"/>
              </a:spcAft>
              <a:buClr>
                <a:schemeClr val="dk1"/>
              </a:buClr>
              <a:buSzPts val="1200"/>
              <a:buChar char="•"/>
            </a:pPr>
            <a:r>
              <a:rPr lang="en-GB"/>
              <a:t>Vision: To be the most rewarding relationship consumers and businesses have with a financial services company</a:t>
            </a:r>
            <a:endParaRPr/>
          </a:p>
          <a:p>
            <a:pPr indent="-173038" lvl="0" marL="173038" rtl="0" algn="l">
              <a:lnSpc>
                <a:spcPct val="95000"/>
              </a:lnSpc>
              <a:spcBef>
                <a:spcPts val="400"/>
              </a:spcBef>
              <a:spcAft>
                <a:spcPts val="0"/>
              </a:spcAft>
              <a:buClr>
                <a:schemeClr val="dk1"/>
              </a:buClr>
              <a:buSzPts val="1200"/>
              <a:buChar char="•"/>
            </a:pPr>
            <a:r>
              <a:rPr lang="en-GB"/>
              <a:t>Market position: A leading card issuer in the U.S.</a:t>
            </a:r>
            <a:endParaRPr/>
          </a:p>
          <a:p>
            <a:pPr indent="-173038" lvl="0" marL="173038" rtl="0" algn="l">
              <a:lnSpc>
                <a:spcPct val="95000"/>
              </a:lnSpc>
              <a:spcBef>
                <a:spcPts val="400"/>
              </a:spcBef>
              <a:spcAft>
                <a:spcPts val="0"/>
              </a:spcAft>
              <a:buClr>
                <a:schemeClr val="dk1"/>
              </a:buClr>
              <a:buSzPts val="1200"/>
              <a:buChar char="•"/>
            </a:pPr>
            <a:r>
              <a:rPr lang="en-GB"/>
              <a:t>Businesses: Credit cards (Discover Card and others), electronic payment services (Discover Network, PULSE and Diners Club International), banking (Discover Bank and Bank of New Castle)</a:t>
            </a:r>
            <a:endParaRPr/>
          </a:p>
          <a:p>
            <a:pPr indent="-173038" lvl="0" marL="173038" rtl="0" algn="l">
              <a:lnSpc>
                <a:spcPct val="95000"/>
              </a:lnSpc>
              <a:spcBef>
                <a:spcPts val="400"/>
              </a:spcBef>
              <a:spcAft>
                <a:spcPts val="0"/>
              </a:spcAft>
              <a:buClr>
                <a:schemeClr val="dk1"/>
              </a:buClr>
              <a:buSzPts val="1200"/>
              <a:buChar char="•"/>
            </a:pPr>
            <a:r>
              <a:rPr lang="en-GB"/>
              <a:t>Employees: 12,000-plus</a:t>
            </a:r>
            <a:endParaRPr/>
          </a:p>
          <a:p>
            <a:pPr indent="-173038" lvl="0" marL="173038" rtl="0" algn="l">
              <a:lnSpc>
                <a:spcPct val="95000"/>
              </a:lnSpc>
              <a:spcBef>
                <a:spcPts val="400"/>
              </a:spcBef>
              <a:spcAft>
                <a:spcPts val="0"/>
              </a:spcAft>
              <a:buClr>
                <a:schemeClr val="dk1"/>
              </a:buClr>
              <a:buSzPts val="1200"/>
              <a:buChar char="•"/>
            </a:pPr>
            <a:r>
              <a:rPr lang="en-GB"/>
              <a:t>Network volume: $185.5 billion in 2007</a:t>
            </a:r>
            <a:endParaRPr/>
          </a:p>
          <a:p>
            <a:pPr indent="-173038" lvl="0" marL="173038" rtl="0" algn="l">
              <a:lnSpc>
                <a:spcPct val="95000"/>
              </a:lnSpc>
              <a:spcBef>
                <a:spcPts val="400"/>
              </a:spcBef>
              <a:spcAft>
                <a:spcPts val="0"/>
              </a:spcAft>
              <a:buClr>
                <a:schemeClr val="dk1"/>
              </a:buClr>
              <a:buSzPts val="1200"/>
              <a:buChar char="•"/>
            </a:pPr>
            <a:r>
              <a:rPr lang="en-GB"/>
              <a:t>Stock symbol: DFS (NYSE)</a:t>
            </a:r>
            <a:endParaRPr/>
          </a:p>
          <a:p>
            <a:pPr indent="-173038" lvl="0" marL="173038" rtl="0" algn="l">
              <a:lnSpc>
                <a:spcPct val="95000"/>
              </a:lnSpc>
              <a:spcBef>
                <a:spcPts val="400"/>
              </a:spcBef>
              <a:spcAft>
                <a:spcPts val="0"/>
              </a:spcAft>
              <a:buClr>
                <a:schemeClr val="dk1"/>
              </a:buClr>
              <a:buSzPts val="1200"/>
              <a:buChar char="•"/>
            </a:pPr>
            <a:r>
              <a:rPr lang="en-GB"/>
              <a:t>Founded: 1986</a:t>
            </a:r>
            <a:endParaRPr/>
          </a:p>
          <a:p>
            <a:pPr indent="-173038" lvl="0" marL="173038" rtl="0" algn="l">
              <a:lnSpc>
                <a:spcPct val="95000"/>
              </a:lnSpc>
              <a:spcBef>
                <a:spcPts val="400"/>
              </a:spcBef>
              <a:spcAft>
                <a:spcPts val="0"/>
              </a:spcAft>
              <a:buClr>
                <a:schemeClr val="dk1"/>
              </a:buClr>
              <a:buSzPts val="1200"/>
              <a:buChar char="•"/>
            </a:pPr>
            <a:r>
              <a:rPr lang="en-GB"/>
              <a:t>Web site: </a:t>
            </a:r>
            <a:r>
              <a:rPr lang="en-GB" u="sng">
                <a:solidFill>
                  <a:schemeClr val="hlink"/>
                </a:solidFill>
                <a:hlinkClick r:id="rId2"/>
              </a:rPr>
              <a:t>www.discoverfinancial.com</a:t>
            </a:r>
            <a:endParaRPr/>
          </a:p>
          <a:p>
            <a:pPr indent="-173038" lvl="0" marL="173038" rtl="0" algn="l">
              <a:lnSpc>
                <a:spcPct val="95000"/>
              </a:lnSpc>
              <a:spcBef>
                <a:spcPts val="400"/>
              </a:spcBef>
              <a:spcAft>
                <a:spcPts val="0"/>
              </a:spcAft>
              <a:buClr>
                <a:schemeClr val="dk1"/>
              </a:buClr>
              <a:buSzPts val="1200"/>
              <a:buChar char="•"/>
            </a:pPr>
            <a:r>
              <a:rPr b="1" lang="en-GB"/>
              <a:t>Ask better questions</a:t>
            </a:r>
            <a:endParaRPr/>
          </a:p>
          <a:p>
            <a:pPr indent="-173038" lvl="0" marL="173038" rtl="0" algn="l">
              <a:lnSpc>
                <a:spcPct val="95000"/>
              </a:lnSpc>
              <a:spcBef>
                <a:spcPts val="400"/>
              </a:spcBef>
              <a:spcAft>
                <a:spcPts val="0"/>
              </a:spcAft>
              <a:buClr>
                <a:schemeClr val="dk1"/>
              </a:buClr>
              <a:buSzPts val="1200"/>
              <a:buChar char="•"/>
            </a:pPr>
            <a:r>
              <a:rPr lang="en-GB"/>
              <a:t>Discover is realizing considerable value from its Teradata/SAS environment. All of the LOBs are represented in the data warehouse, allowing the analysts to perform previously impossible cross-LOB analysis. </a:t>
            </a:r>
            <a:endParaRPr/>
          </a:p>
          <a:p>
            <a:pPr indent="-173038" lvl="0" marL="173038" rtl="0" algn="l">
              <a:lnSpc>
                <a:spcPct val="95000"/>
              </a:lnSpc>
              <a:spcBef>
                <a:spcPts val="400"/>
              </a:spcBef>
              <a:spcAft>
                <a:spcPts val="0"/>
              </a:spcAft>
              <a:buClr>
                <a:schemeClr val="dk1"/>
              </a:buClr>
              <a:buSzPts val="1200"/>
              <a:buChar char="•"/>
            </a:pPr>
            <a:r>
              <a:rPr lang="en-GB"/>
              <a:t>For example, if Discover analysts recognized that cash usage rates were down, they could use Teradata and SAS to find out why. By querying the authorization, new account and merchant systems, they could investigate potential problems: Are consumers receiving adequate materials to understand how they can use their Discover Card to get cash at a merchant or ATM? Is the price of obtaining the cash right for the market? Which merchants are most successful in offering cash to consumers and why? </a:t>
            </a:r>
            <a:endParaRPr/>
          </a:p>
          <a:p>
            <a:pPr indent="-173038" lvl="0" marL="173038" rtl="0" algn="l">
              <a:lnSpc>
                <a:spcPct val="95000"/>
              </a:lnSpc>
              <a:spcBef>
                <a:spcPts val="400"/>
              </a:spcBef>
              <a:spcAft>
                <a:spcPts val="0"/>
              </a:spcAft>
              <a:buClr>
                <a:schemeClr val="dk1"/>
              </a:buClr>
              <a:buSzPts val="1200"/>
              <a:buChar char="•"/>
            </a:pPr>
            <a:r>
              <a:rPr b="1" lang="en-GB"/>
              <a:t>Pursue new frontiers</a:t>
            </a:r>
            <a:endParaRPr/>
          </a:p>
          <a:p>
            <a:pPr indent="-173038" lvl="0" marL="173038" rtl="0" algn="l">
              <a:lnSpc>
                <a:spcPct val="95000"/>
              </a:lnSpc>
              <a:spcBef>
                <a:spcPts val="400"/>
              </a:spcBef>
              <a:spcAft>
                <a:spcPts val="0"/>
              </a:spcAft>
              <a:buClr>
                <a:schemeClr val="dk1"/>
              </a:buClr>
              <a:buSzPts val="1200"/>
              <a:buChar char="•"/>
            </a:pPr>
            <a:r>
              <a:rPr lang="en-GB"/>
              <a:t>By using the new system, not only can risk management analysts better identify customer and market trends but the IT organization can also better serve the business. "IT is now more focused on data generation than on supporting analyst queries and data requests," explains Schneider. As a result, "IT can interact more with the business, which helps us rapidly identify business needs and implement those solutions quickly."</a:t>
            </a:r>
            <a:endParaRPr/>
          </a:p>
          <a:p>
            <a:pPr indent="-173038" lvl="0" marL="173038" rtl="0" algn="l">
              <a:lnSpc>
                <a:spcPct val="95000"/>
              </a:lnSpc>
              <a:spcBef>
                <a:spcPts val="400"/>
              </a:spcBef>
              <a:spcAft>
                <a:spcPts val="0"/>
              </a:spcAft>
              <a:buClr>
                <a:schemeClr val="dk1"/>
              </a:buClr>
              <a:buSzPts val="1200"/>
              <a:buChar char="•"/>
            </a:pPr>
            <a:r>
              <a:rPr lang="en-GB"/>
              <a:t>"Although it is difficult to pinpoint the precise value delivered to Discover by the new system, we have clearly seen benefit in the form of higher revenues, expense takeout and improved customer satisfaction," says Schneider. The run rate and support requirements of the data warehouse are much less when compared with the predecessor environment. The new method of preparing the data in the EDW allows users to accelerate development of analytics through SAS. </a:t>
            </a:r>
            <a:endParaRPr/>
          </a:p>
          <a:p>
            <a:pPr indent="-173038" lvl="0" marL="173038" rtl="0" algn="l">
              <a:lnSpc>
                <a:spcPct val="95000"/>
              </a:lnSpc>
              <a:spcBef>
                <a:spcPts val="400"/>
              </a:spcBef>
              <a:spcAft>
                <a:spcPts val="0"/>
              </a:spcAft>
              <a:buClr>
                <a:schemeClr val="dk1"/>
              </a:buClr>
              <a:buSzPts val="1200"/>
              <a:buChar char="•"/>
            </a:pPr>
            <a:r>
              <a:rPr lang="en-GB"/>
              <a:t>Then there are the harder-to-measure benefits. "This technology is enabling the business to think differently," notes Schneider. "The focus is on getting more data into the environment as quickly as possible, not only for analytics but also for decision support. Now that we have all of this data available, the challenge is to optimize our ability to leverage it."</a:t>
            </a:r>
            <a:endParaRPr/>
          </a:p>
          <a:p>
            <a:pPr indent="-173038" lvl="0" marL="173038" rtl="0" algn="l">
              <a:lnSpc>
                <a:spcPct val="95000"/>
              </a:lnSpc>
              <a:spcBef>
                <a:spcPts val="400"/>
              </a:spcBef>
              <a:spcAft>
                <a:spcPts val="0"/>
              </a:spcAft>
              <a:buClr>
                <a:schemeClr val="dk1"/>
              </a:buClr>
              <a:buSzPts val="1200"/>
              <a:buChar char="•"/>
            </a:pPr>
            <a:r>
              <a:rPr lang="en-GB"/>
              <a:t>“IT can interact more with the business, which helps us rapidly identify business needs and implement those solutions quickly.”</a:t>
            </a:r>
            <a:endParaRPr/>
          </a:p>
          <a:p>
            <a:pPr indent="-173038" lvl="0" marL="173038" rtl="0" algn="l">
              <a:lnSpc>
                <a:spcPct val="95000"/>
              </a:lnSpc>
              <a:spcBef>
                <a:spcPts val="400"/>
              </a:spcBef>
              <a:spcAft>
                <a:spcPts val="0"/>
              </a:spcAft>
              <a:buClr>
                <a:schemeClr val="dk1"/>
              </a:buClr>
              <a:buSzPts val="1200"/>
              <a:buChar char="•"/>
            </a:pPr>
            <a:r>
              <a:rPr lang="en-GB"/>
              <a:t>- Glenn Schneider, Discover Financial Services</a:t>
            </a:r>
            <a:endParaRPr/>
          </a:p>
          <a:p>
            <a:pPr indent="-173038" lvl="0" marL="173038" rtl="0" algn="l">
              <a:lnSpc>
                <a:spcPct val="95000"/>
              </a:lnSpc>
              <a:spcBef>
                <a:spcPts val="400"/>
              </a:spcBef>
              <a:spcAft>
                <a:spcPts val="0"/>
              </a:spcAft>
              <a:buClr>
                <a:schemeClr val="dk1"/>
              </a:buClr>
              <a:buSzPts val="1200"/>
              <a:buChar char="•"/>
            </a:pPr>
            <a:r>
              <a:rPr b="1" lang="en-GB"/>
              <a:t>Path to active data warehousing</a:t>
            </a:r>
            <a:endParaRPr/>
          </a:p>
          <a:p>
            <a:pPr indent="-173038" lvl="0" marL="173038" rtl="0" algn="l">
              <a:lnSpc>
                <a:spcPct val="95000"/>
              </a:lnSpc>
              <a:spcBef>
                <a:spcPts val="400"/>
              </a:spcBef>
              <a:spcAft>
                <a:spcPts val="0"/>
              </a:spcAft>
              <a:buClr>
                <a:schemeClr val="dk1"/>
              </a:buClr>
              <a:buSzPts val="1200"/>
              <a:buChar char="•"/>
            </a:pPr>
            <a:r>
              <a:rPr lang="en-GB"/>
              <a:t>Looking forward, Discover will continue to expand its data warehouse to support its growing business needs. For example, making the Teradata environment available in real time is planned through the enablement of Discover's new customer contact strategy. Company sales representatives will be able to accurately and efficiently serve customers with specific products and services tailored to a particular individual's needs. Phone representatives will soon have next-best-offer information available on the spot, which will help them provide even more effective customer service and drive increased revenues.</a:t>
            </a:r>
            <a:endParaRPr/>
          </a:p>
        </p:txBody>
      </p:sp>
      <p:sp>
        <p:nvSpPr>
          <p:cNvPr id="7382" name="Google Shape;7382;p3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2016 Teradata</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On analytic techniques, if the answer is reporting or BI I would list the technique as “Descriptive Statistics” or “Visualization”. I’m not sure what Limits Management is as a technique, and stress testing can be teased out into it’s analytic components (e.g. control limit elasticity)</a:t>
            </a:r>
            <a:endParaRPr/>
          </a:p>
          <a:p>
            <a:pPr indent="-173038" lvl="0" marL="173038" rtl="0" algn="l">
              <a:lnSpc>
                <a:spcPct val="95000"/>
              </a:lnSpc>
              <a:spcBef>
                <a:spcPts val="400"/>
              </a:spcBef>
              <a:spcAft>
                <a:spcPts val="0"/>
              </a:spcAft>
              <a:buClr>
                <a:schemeClr val="dk1"/>
              </a:buClr>
              <a:buSzPts val="1200"/>
              <a:buChar char="•"/>
            </a:pPr>
            <a:r>
              <a:rPr lang="en-GB"/>
              <a:t>On Business Benefit – could any of this be put into simple bullets around $$ saved for risk mitigation?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Needs more specificity on source data – what systems on the trade desk are utilized?</a:t>
            </a:r>
            <a:endParaRPr/>
          </a:p>
          <a:p>
            <a:pPr indent="-173038" lvl="0" marL="173038" rtl="0" algn="l">
              <a:lnSpc>
                <a:spcPct val="95000"/>
              </a:lnSpc>
              <a:spcBef>
                <a:spcPts val="400"/>
              </a:spcBef>
              <a:spcAft>
                <a:spcPts val="0"/>
              </a:spcAft>
              <a:buClr>
                <a:schemeClr val="dk1"/>
              </a:buClr>
              <a:buSzPts val="1200"/>
              <a:buChar char="•"/>
            </a:pPr>
            <a:r>
              <a:rPr lang="en-GB"/>
              <a:t>Analytic techniques look great!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 Id="rId3" Type="http://schemas.openxmlformats.org/officeDocument/2006/relationships/slide" Target="slide12.xml"/><Relationship Id="rId4" Type="http://schemas.openxmlformats.org/officeDocument/2006/relationships/slide" Target="slide11.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slide" Target="slide12.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slide" Target="slide11.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slide" Target="slide10.xml"/><Relationship Id="rId4" Type="http://schemas.openxmlformats.org/officeDocument/2006/relationships/slide" Target="slide15.xml"/><Relationship Id="rId5" Type="http://schemas.openxmlformats.org/officeDocument/2006/relationships/slide" Target="slide16.xml"/><Relationship Id="rId6" Type="http://schemas.openxmlformats.org/officeDocument/2006/relationships/slide" Target="slide17.xml"/><Relationship Id="rId7" Type="http://schemas.openxmlformats.org/officeDocument/2006/relationships/slide" Target="slide18.xml"/><Relationship Id="rId8" Type="http://schemas.openxmlformats.org/officeDocument/2006/relationships/slide" Target="slide25.xml"/><Relationship Id="rId9" Type="http://schemas.openxmlformats.org/officeDocument/2006/relationships/slide" Target="slide20.xml"/><Relationship Id="rId10" Type="http://schemas.openxmlformats.org/officeDocument/2006/relationships/slide" Target="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slide" Target="slide14.xml"/><Relationship Id="rId4" Type="http://schemas.openxmlformats.org/officeDocument/2006/relationships/slide" Target="slide35.xml"/><Relationship Id="rId5" Type="http://schemas.openxmlformats.org/officeDocument/2006/relationships/slide" Target="slide37.xml"/><Relationship Id="rId6" Type="http://schemas.openxmlformats.org/officeDocument/2006/relationships/slide" Target="slide39.xml"/><Relationship Id="rId7" Type="http://schemas.openxmlformats.org/officeDocument/2006/relationships/slide" Target="slide20.xml"/><Relationship Id="rId8" Type="http://schemas.openxmlformats.org/officeDocument/2006/relationships/slide" Target="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slide" Target="slide14.xml"/><Relationship Id="rId4" Type="http://schemas.openxmlformats.org/officeDocument/2006/relationships/slide" Target="slide41.xml"/><Relationship Id="rId5" Type="http://schemas.openxmlformats.org/officeDocument/2006/relationships/slide" Target="slide44.xml"/><Relationship Id="rId6" Type="http://schemas.openxmlformats.org/officeDocument/2006/relationships/slide" Target="slide52.xml"/><Relationship Id="rId7" Type="http://schemas.openxmlformats.org/officeDocument/2006/relationships/slide" Target="slide56.xml"/><Relationship Id="rId8" Type="http://schemas.openxmlformats.org/officeDocument/2006/relationships/slide" Target="slide46.xml"/><Relationship Id="rId9" Type="http://schemas.openxmlformats.org/officeDocument/2006/relationships/slide" Target="slide54.xml"/><Relationship Id="rId10" Type="http://schemas.openxmlformats.org/officeDocument/2006/relationships/slide" Target="slide58.xml"/><Relationship Id="rId11" Type="http://schemas.openxmlformats.org/officeDocument/2006/relationships/slide" Target="slide50.xml"/><Relationship Id="rId12" Type="http://schemas.openxmlformats.org/officeDocument/2006/relationships/slide" Target="slide60.xml"/><Relationship Id="rId13" Type="http://schemas.openxmlformats.org/officeDocument/2006/relationships/slide" Target="slide62.xml"/><Relationship Id="rId14" Type="http://schemas.openxmlformats.org/officeDocument/2006/relationships/slide" Target="slide20.xml"/><Relationship Id="rId15" Type="http://schemas.openxmlformats.org/officeDocument/2006/relationships/slide" Target="slide48.xml"/><Relationship Id="rId16" Type="http://schemas.openxmlformats.org/officeDocument/2006/relationships/slide" Target="slide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slide" Target="slide14.xml"/><Relationship Id="rId4" Type="http://schemas.openxmlformats.org/officeDocument/2006/relationships/slide" Target="slide64.xml"/><Relationship Id="rId5" Type="http://schemas.openxmlformats.org/officeDocument/2006/relationships/slide" Target="slide66.xml"/><Relationship Id="rId6" Type="http://schemas.openxmlformats.org/officeDocument/2006/relationships/slide" Target="slide70.xml"/><Relationship Id="rId7" Type="http://schemas.openxmlformats.org/officeDocument/2006/relationships/slide" Target="slide76.xml"/><Relationship Id="rId8" Type="http://schemas.openxmlformats.org/officeDocument/2006/relationships/slide" Target="slide68.xml"/><Relationship Id="rId9" Type="http://schemas.openxmlformats.org/officeDocument/2006/relationships/slide" Target="slide72.xml"/><Relationship Id="rId10" Type="http://schemas.openxmlformats.org/officeDocument/2006/relationships/slide" Target="slide78.xml"/><Relationship Id="rId11" Type="http://schemas.openxmlformats.org/officeDocument/2006/relationships/slide" Target="slide74.xml"/><Relationship Id="rId12" Type="http://schemas.openxmlformats.org/officeDocument/2006/relationships/slide" Target="slide22.xml"/><Relationship Id="rId13" Type="http://schemas.openxmlformats.org/officeDocument/2006/relationships/slide" Target="slide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slide" Target="slide14.xml"/><Relationship Id="rId4" Type="http://schemas.openxmlformats.org/officeDocument/2006/relationships/slide" Target="slide80.xml"/><Relationship Id="rId5" Type="http://schemas.openxmlformats.org/officeDocument/2006/relationships/slide" Target="slide84.xml"/><Relationship Id="rId6" Type="http://schemas.openxmlformats.org/officeDocument/2006/relationships/slide" Target="slide92.xml"/><Relationship Id="rId7" Type="http://schemas.openxmlformats.org/officeDocument/2006/relationships/slide" Target="slide100.xml"/><Relationship Id="rId8" Type="http://schemas.openxmlformats.org/officeDocument/2006/relationships/slide" Target="slide86.xml"/><Relationship Id="rId9" Type="http://schemas.openxmlformats.org/officeDocument/2006/relationships/slide" Target="slide90.xml"/><Relationship Id="rId10" Type="http://schemas.openxmlformats.org/officeDocument/2006/relationships/slide" Target="slide102.xml"/><Relationship Id="rId11" Type="http://schemas.openxmlformats.org/officeDocument/2006/relationships/slide" Target="slide88.xml"/><Relationship Id="rId12" Type="http://schemas.openxmlformats.org/officeDocument/2006/relationships/slide" Target="slide96.xml"/><Relationship Id="rId13" Type="http://schemas.openxmlformats.org/officeDocument/2006/relationships/slide" Target="slide106.xml"/><Relationship Id="rId14" Type="http://schemas.openxmlformats.org/officeDocument/2006/relationships/slide" Target="slide98.xml"/><Relationship Id="rId15" Type="http://schemas.openxmlformats.org/officeDocument/2006/relationships/slide" Target="slide104.xml"/><Relationship Id="rId16" Type="http://schemas.openxmlformats.org/officeDocument/2006/relationships/slide" Target="slide23.xml"/><Relationship Id="rId17" Type="http://schemas.openxmlformats.org/officeDocument/2006/relationships/slide" Target="slide94.xml"/><Relationship Id="rId18" Type="http://schemas.openxmlformats.org/officeDocument/2006/relationships/slide" Target="slide19.xml"/><Relationship Id="rId19" Type="http://schemas.openxmlformats.org/officeDocument/2006/relationships/slide" Target="slide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slide" Target="slide14.xml"/><Relationship Id="rId4" Type="http://schemas.openxmlformats.org/officeDocument/2006/relationships/slide" Target="slide110.xml"/><Relationship Id="rId5" Type="http://schemas.openxmlformats.org/officeDocument/2006/relationships/slide" Target="slide112.xml"/><Relationship Id="rId6" Type="http://schemas.openxmlformats.org/officeDocument/2006/relationships/slide" Target="slide23.xml"/><Relationship Id="rId7" Type="http://schemas.openxmlformats.org/officeDocument/2006/relationships/slide" Target="slide108.xml"/><Relationship Id="rId8" Type="http://schemas.openxmlformats.org/officeDocument/2006/relationships/slide" Target="slide18.xml"/><Relationship Id="rId9" Type="http://schemas.openxmlformats.org/officeDocument/2006/relationships/slide" Target="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slide" Target="slide115.xml"/><Relationship Id="rId4" Type="http://schemas.openxmlformats.org/officeDocument/2006/relationships/slide" Target="slide15.xml"/><Relationship Id="rId5" Type="http://schemas.openxmlformats.org/officeDocument/2006/relationships/slide" Target="slide14.xml"/><Relationship Id="rId6" Type="http://schemas.openxmlformats.org/officeDocument/2006/relationships/slide" Target="slide16.xml"/><Relationship Id="rId7" Type="http://schemas.openxmlformats.org/officeDocument/2006/relationships/slide" Target="slide118.xml"/><Relationship Id="rId8" Type="http://schemas.openxmlformats.org/officeDocument/2006/relationships/slide" Target="slide117.xml"/><Relationship Id="rId9" Type="http://schemas.openxmlformats.org/officeDocument/2006/relationships/slide" Target="slide120.xml"/><Relationship Id="rId10" Type="http://schemas.openxmlformats.org/officeDocument/2006/relationships/slide" Target="slide119.xml"/><Relationship Id="rId11" Type="http://schemas.openxmlformats.org/officeDocument/2006/relationships/slide" Target="slide121.xml"/><Relationship Id="rId12" Type="http://schemas.openxmlformats.org/officeDocument/2006/relationships/slide" Target="slide122.xml"/><Relationship Id="rId13" Type="http://schemas.openxmlformats.org/officeDocument/2006/relationships/slide" Target="slide123.xml"/><Relationship Id="rId14" Type="http://schemas.openxmlformats.org/officeDocument/2006/relationships/slide" Target="slide126.xml"/><Relationship Id="rId15" Type="http://schemas.openxmlformats.org/officeDocument/2006/relationships/slide" Target="slide124.xml"/><Relationship Id="rId16" Type="http://schemas.openxmlformats.org/officeDocument/2006/relationships/slide" Target="slide127.xml"/><Relationship Id="rId17" Type="http://schemas.openxmlformats.org/officeDocument/2006/relationships/slide" Target="slide128.xml"/><Relationship Id="rId18" Type="http://schemas.openxmlformats.org/officeDocument/2006/relationships/slide" Target="slide130.xml"/><Relationship Id="rId19" Type="http://schemas.openxmlformats.org/officeDocument/2006/relationships/slide" Target="slide2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slide" Target="slide20.xml"/><Relationship Id="rId4" Type="http://schemas.openxmlformats.org/officeDocument/2006/relationships/slide" Target="slide16.xml"/><Relationship Id="rId5" Type="http://schemas.openxmlformats.org/officeDocument/2006/relationships/slide" Target="slide131.xml"/><Relationship Id="rId6" Type="http://schemas.openxmlformats.org/officeDocument/2006/relationships/slide" Target="slide132.xml"/><Relationship Id="rId7" Type="http://schemas.openxmlformats.org/officeDocument/2006/relationships/slide" Target="slide133.xml"/><Relationship Id="rId8" Type="http://schemas.openxmlformats.org/officeDocument/2006/relationships/slide" Target="slide136.xml"/><Relationship Id="rId9" Type="http://schemas.openxmlformats.org/officeDocument/2006/relationships/slide" Target="slide135.xml"/><Relationship Id="rId10" Type="http://schemas.openxmlformats.org/officeDocument/2006/relationships/slide" Target="slide134.xml"/><Relationship Id="rId11" Type="http://schemas.openxmlformats.org/officeDocument/2006/relationships/slide" Target="slide137.xml"/><Relationship Id="rId12" Type="http://schemas.openxmlformats.org/officeDocument/2006/relationships/slide" Target="slide138.xml"/><Relationship Id="rId13" Type="http://schemas.openxmlformats.org/officeDocument/2006/relationships/slide" Target="slide141.xml"/><Relationship Id="rId14" Type="http://schemas.openxmlformats.org/officeDocument/2006/relationships/slide" Target="slide138.xml"/><Relationship Id="rId15" Type="http://schemas.openxmlformats.org/officeDocument/2006/relationships/slide" Target="slide139.xml"/><Relationship Id="rId16" Type="http://schemas.openxmlformats.org/officeDocument/2006/relationships/slide" Target="slide143.xml"/><Relationship Id="rId17" Type="http://schemas.openxmlformats.org/officeDocument/2006/relationships/slide" Target="slide142.xml"/><Relationship Id="rId18" Type="http://schemas.openxmlformats.org/officeDocument/2006/relationships/slide" Target="slide145.xml"/><Relationship Id="rId19" Type="http://schemas.openxmlformats.org/officeDocument/2006/relationships/slide" Target="slide144.xml"/><Relationship Id="rId20" Type="http://schemas.openxmlformats.org/officeDocument/2006/relationships/slide" Target="slide146.xml"/><Relationship Id="rId21" Type="http://schemas.openxmlformats.org/officeDocument/2006/relationships/slide" Target="slide22.xml"/><Relationship Id="rId22" Type="http://schemas.openxmlformats.org/officeDocument/2006/relationships/slide" Target="slide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21.xml"/><Relationship Id="rId4" Type="http://schemas.openxmlformats.org/officeDocument/2006/relationships/slide" Target="slide16.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17.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23.xml"/><Relationship Id="rId21" Type="http://schemas.openxmlformats.org/officeDocument/2006/relationships/slide" Target="slide1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22.xml"/><Relationship Id="rId8" Type="http://schemas.openxmlformats.org/officeDocument/2006/relationships/slide" Target="slide18.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24.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23.xml"/><Relationship Id="rId4" Type="http://schemas.openxmlformats.org/officeDocument/2006/relationships/slide" Target="slide18.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8.jpg"/><Relationship Id="rId4" Type="http://schemas.openxmlformats.org/officeDocument/2006/relationships/slide" Target="slide1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8.jpg"/><Relationship Id="rId4" Type="http://schemas.openxmlformats.org/officeDocument/2006/relationships/slide" Target="slide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slide" Target="slide20.xml"/><Relationship Id="rId4" Type="http://schemas.openxmlformats.org/officeDocument/2006/relationships/slide" Target="slide15.xml"/><Relationship Id="rId5" Type="http://schemas.openxmlformats.org/officeDocument/2006/relationships/image" Target="../media/image1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 Id="rId3" Type="http://schemas.openxmlformats.org/officeDocument/2006/relationships/image" Target="../media/image19.png"/><Relationship Id="rId4" Type="http://schemas.openxmlformats.org/officeDocument/2006/relationships/slide" Target="slide15.xml"/><Relationship Id="rId5" Type="http://schemas.openxmlformats.org/officeDocument/2006/relationships/slide" Target="slide2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image" Target="../media/image21.jpg"/><Relationship Id="rId4" Type="http://schemas.openxmlformats.org/officeDocument/2006/relationships/slide" Target="slide1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xml"/><Relationship Id="rId3" Type="http://schemas.openxmlformats.org/officeDocument/2006/relationships/slide" Target="slide16.xml"/><Relationship Id="rId4" Type="http://schemas.openxmlformats.org/officeDocument/2006/relationships/slide" Target="slide2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16.xml"/><Relationship Id="rId4" Type="http://schemas.openxmlformats.org/officeDocument/2006/relationships/slide" Target="slide2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16.xml"/><Relationship Id="rId4" Type="http://schemas.openxmlformats.org/officeDocument/2006/relationships/slide" Target="slide2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16.xml"/><Relationship Id="rId4" Type="http://schemas.openxmlformats.org/officeDocument/2006/relationships/slide" Target="slide2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16.xml"/><Relationship Id="rId4" Type="http://schemas.openxmlformats.org/officeDocument/2006/relationships/slide" Target="slide2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16.xml"/><Relationship Id="rId4" Type="http://schemas.openxmlformats.org/officeDocument/2006/relationships/slide" Target="slide2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16.xml"/><Relationship Id="rId4" Type="http://schemas.openxmlformats.org/officeDocument/2006/relationships/slide" Target="slide2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16.xml"/><Relationship Id="rId4" Type="http://schemas.openxmlformats.org/officeDocument/2006/relationships/slide" Target="slide2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16.xml"/><Relationship Id="rId4" Type="http://schemas.openxmlformats.org/officeDocument/2006/relationships/slide" Target="slide2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16.xml"/><Relationship Id="rId4" Type="http://schemas.openxmlformats.org/officeDocument/2006/relationships/slide" Target="slide2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17.xml"/><Relationship Id="rId4" Type="http://schemas.openxmlformats.org/officeDocument/2006/relationships/slide" Target="slide2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17.xml"/><Relationship Id="rId4" Type="http://schemas.openxmlformats.org/officeDocument/2006/relationships/slide" Target="slide2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17.xml"/><Relationship Id="rId4" Type="http://schemas.openxmlformats.org/officeDocument/2006/relationships/slide" Target="slide2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17.xml"/><Relationship Id="rId4" Type="http://schemas.openxmlformats.org/officeDocument/2006/relationships/slide" Target="slide2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17.xml"/><Relationship Id="rId4" Type="http://schemas.openxmlformats.org/officeDocument/2006/relationships/slide" Target="slide2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17.xml"/><Relationship Id="rId4" Type="http://schemas.openxmlformats.org/officeDocument/2006/relationships/slide" Target="slide2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17.xml"/><Relationship Id="rId4" Type="http://schemas.openxmlformats.org/officeDocument/2006/relationships/slide" Target="slide2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1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18.xml"/><Relationship Id="rId4" Type="http://schemas.openxmlformats.org/officeDocument/2006/relationships/slide" Target="slide2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18.xml"/><Relationship Id="rId4" Type="http://schemas.openxmlformats.org/officeDocument/2006/relationships/slide" Target="slide2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18.xml"/><Relationship Id="rId4" Type="http://schemas.openxmlformats.org/officeDocument/2006/relationships/slide" Target="slide2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18.xml"/><Relationship Id="rId4" Type="http://schemas.openxmlformats.org/officeDocument/2006/relationships/slide" Target="slide2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18.xml"/><Relationship Id="rId4" Type="http://schemas.openxmlformats.org/officeDocument/2006/relationships/slide" Target="slide2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18.xml"/><Relationship Id="rId4" Type="http://schemas.openxmlformats.org/officeDocument/2006/relationships/slide" Target="slide2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18.xml"/><Relationship Id="rId4" Type="http://schemas.openxmlformats.org/officeDocument/2006/relationships/slide" Target="slide2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18.xml"/><Relationship Id="rId4" Type="http://schemas.openxmlformats.org/officeDocument/2006/relationships/slide" Target="slide2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18.xml"/><Relationship Id="rId4" Type="http://schemas.openxmlformats.org/officeDocument/2006/relationships/slide" Target="slide2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18.xml"/><Relationship Id="rId4" Type="http://schemas.openxmlformats.org/officeDocument/2006/relationships/slide" Target="slide2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18.xml"/><Relationship Id="rId4" Type="http://schemas.openxmlformats.org/officeDocument/2006/relationships/slide" Target="slide2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18.xml"/><Relationship Id="rId4" Type="http://schemas.openxmlformats.org/officeDocument/2006/relationships/slide" Target="slide2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19.xml"/><Relationship Id="rId4" Type="http://schemas.openxmlformats.org/officeDocument/2006/relationships/slide" Target="slide2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19.xml"/><Relationship Id="rId4" Type="http://schemas.openxmlformats.org/officeDocument/2006/relationships/slide" Target="slide2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19.xml"/><Relationship Id="rId4" Type="http://schemas.openxmlformats.org/officeDocument/2006/relationships/slide" Target="slide2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20.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2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2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2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20.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2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2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2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2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2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2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2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2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2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2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2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2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2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2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2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2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2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2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2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2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2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2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2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2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2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2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2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2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373.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1.xml"/><Relationship Id="rId3" Type="http://schemas.openxmlformats.org/officeDocument/2006/relationships/image" Target="../media/image76.png"/><Relationship Id="rId4"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7.xml"/><Relationship Id="rId3" Type="http://schemas.openxmlformats.org/officeDocument/2006/relationships/image" Target="../media/image75.png"/><Relationship Id="rId4" Type="http://schemas.openxmlformats.org/officeDocument/2006/relationships/image" Target="../media/image74.png"/><Relationship Id="rId5"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89.xml"/><Relationship Id="rId3" Type="http://schemas.openxmlformats.org/officeDocument/2006/relationships/image" Target="../media/image86.jpg"/></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22.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576.xml"/><Relationship Id="rId5" Type="http://schemas.openxmlformats.org/officeDocument/2006/relationships/slide" Target="slide329.xml"/><Relationship Id="rId6" Type="http://schemas.openxmlformats.org/officeDocument/2006/relationships/slide" Target="slide577.xml"/><Relationship Id="rId7" Type="http://schemas.openxmlformats.org/officeDocument/2006/relationships/slide" Target="slide576.xml"/><Relationship Id="rId8" Type="http://schemas.openxmlformats.org/officeDocument/2006/relationships/slide" Target="slide10.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575.xml"/><Relationship Id="rId4" Type="http://schemas.openxmlformats.org/officeDocument/2006/relationships/slide" Target="slide583.xml"/><Relationship Id="rId5" Type="http://schemas.openxmlformats.org/officeDocument/2006/relationships/slide" Target="slide586.xml"/><Relationship Id="rId6" Type="http://schemas.openxmlformats.org/officeDocument/2006/relationships/slide" Target="slide588.xml"/><Relationship Id="rId7" Type="http://schemas.openxmlformats.org/officeDocument/2006/relationships/slide" Target="slide590.xml"/><Relationship Id="rId8" Type="http://schemas.openxmlformats.org/officeDocument/2006/relationships/slide" Target="slide592.xml"/><Relationship Id="rId9" Type="http://schemas.openxmlformats.org/officeDocument/2006/relationships/slide" Target="slide577.xml"/><Relationship Id="rId10" Type="http://schemas.openxmlformats.org/officeDocument/2006/relationships/slide" Target="slide575.xml"/><Relationship Id="rId11" Type="http://schemas.openxmlformats.org/officeDocument/2006/relationships/slide" Target="slide594.xml"/><Relationship Id="rId12" Type="http://schemas.openxmlformats.org/officeDocument/2006/relationships/slide" Target="slide596.xml"/><Relationship Id="rId13" Type="http://schemas.openxmlformats.org/officeDocument/2006/relationships/slide" Target="slide598.xml"/><Relationship Id="rId14" Type="http://schemas.openxmlformats.org/officeDocument/2006/relationships/slide" Target="slide600.xml"/><Relationship Id="rId15" Type="http://schemas.openxmlformats.org/officeDocument/2006/relationships/slide" Target="slide602.xml"/><Relationship Id="rId16" Type="http://schemas.openxmlformats.org/officeDocument/2006/relationships/slide" Target="slide575.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614.xml"/><Relationship Id="rId4" Type="http://schemas.openxmlformats.org/officeDocument/2006/relationships/slide" Target="slide613.xml"/><Relationship Id="rId5" Type="http://schemas.openxmlformats.org/officeDocument/2006/relationships/slide" Target="slide615.xml"/><Relationship Id="rId6" Type="http://schemas.openxmlformats.org/officeDocument/2006/relationships/slide" Target="slide611.xml"/><Relationship Id="rId7" Type="http://schemas.openxmlformats.org/officeDocument/2006/relationships/slide" Target="slide610.xml"/><Relationship Id="rId8" Type="http://schemas.openxmlformats.org/officeDocument/2006/relationships/slide" Target="slide609.xml"/><Relationship Id="rId9" Type="http://schemas.openxmlformats.org/officeDocument/2006/relationships/slide" Target="slide608.xml"/><Relationship Id="rId10" Type="http://schemas.openxmlformats.org/officeDocument/2006/relationships/slide" Target="slide607.xml"/><Relationship Id="rId11" Type="http://schemas.openxmlformats.org/officeDocument/2006/relationships/slide" Target="slide606.xml"/><Relationship Id="rId12" Type="http://schemas.openxmlformats.org/officeDocument/2006/relationships/slide" Target="slide605.xml"/><Relationship Id="rId13" Type="http://schemas.openxmlformats.org/officeDocument/2006/relationships/slide" Target="slide184.xml"/><Relationship Id="rId14" Type="http://schemas.openxmlformats.org/officeDocument/2006/relationships/slide" Target="slide578.xml"/><Relationship Id="rId15" Type="http://schemas.openxmlformats.org/officeDocument/2006/relationships/slide" Target="slide575.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619.xml"/><Relationship Id="rId4" Type="http://schemas.openxmlformats.org/officeDocument/2006/relationships/slide" Target="slide618.xml"/><Relationship Id="rId5" Type="http://schemas.openxmlformats.org/officeDocument/2006/relationships/slide" Target="slide617.xml"/><Relationship Id="rId6" Type="http://schemas.openxmlformats.org/officeDocument/2006/relationships/slide" Target="slide616.xml"/><Relationship Id="rId7" Type="http://schemas.openxmlformats.org/officeDocument/2006/relationships/slide" Target="slide184.xml"/><Relationship Id="rId8" Type="http://schemas.openxmlformats.org/officeDocument/2006/relationships/slide" Target="slide577.xml"/><Relationship Id="rId9" Type="http://schemas.openxmlformats.org/officeDocument/2006/relationships/slide" Target="slide575.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57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576.xml"/><Relationship Id="rId4" Type="http://schemas.openxmlformats.org/officeDocument/2006/relationships/slide" Target="slide57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576.xml"/><Relationship Id="rId5" Type="http://schemas.openxmlformats.org/officeDocument/2006/relationships/slide" Target="slide57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576.xml"/><Relationship Id="rId4" Type="http://schemas.openxmlformats.org/officeDocument/2006/relationships/slide" Target="slide57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576.xml"/><Relationship Id="rId4" Type="http://schemas.openxmlformats.org/officeDocument/2006/relationships/slide" Target="slide57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576.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576.xml"/><Relationship Id="rId4" Type="http://schemas.openxmlformats.org/officeDocument/2006/relationships/slide" Target="slide578.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576.xml"/><Relationship Id="rId4" Type="http://schemas.openxmlformats.org/officeDocument/2006/relationships/slide" Target="slide578.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576.xml"/><Relationship Id="rId4" Type="http://schemas.openxmlformats.org/officeDocument/2006/relationships/slide" Target="slide578.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576.xml"/><Relationship Id="rId4" Type="http://schemas.openxmlformats.org/officeDocument/2006/relationships/slide" Target="slide578.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57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57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57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57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57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57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57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57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57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578.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578.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57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578.xml"/></Relationships>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40"/>
          <p:cNvSpPr/>
          <p:nvPr/>
        </p:nvSpPr>
        <p:spPr>
          <a:xfrm>
            <a:off x="459950" y="378248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 name="Google Shape;290;p40">
            <a:hlinkClick action="ppaction://hlinksldjump" r:id="rId3"/>
          </p:cNvPr>
          <p:cNvSpPr/>
          <p:nvPr/>
        </p:nvSpPr>
        <p:spPr>
          <a:xfrm>
            <a:off x="578169" y="3903881"/>
            <a:ext cx="7997739" cy="378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291" name="Google Shape;291;p40"/>
          <p:cNvSpPr/>
          <p:nvPr/>
        </p:nvSpPr>
        <p:spPr>
          <a:xfrm>
            <a:off x="459950" y="3073400"/>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 name="Google Shape;292;p40">
            <a:hlinkClick action="ppaction://hlinksldjump" r:id="rId4"/>
          </p:cNvPr>
          <p:cNvSpPr/>
          <p:nvPr/>
        </p:nvSpPr>
        <p:spPr>
          <a:xfrm>
            <a:off x="578168" y="3186991"/>
            <a:ext cx="7997739" cy="36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 Infrastructure</a:t>
            </a:r>
            <a:endParaRPr sz="1200">
              <a:solidFill>
                <a:srgbClr val="FFFFFF"/>
              </a:solidFill>
              <a:latin typeface="Century Gothic"/>
              <a:ea typeface="Century Gothic"/>
              <a:cs typeface="Century Gothic"/>
              <a:sym typeface="Century Gothic"/>
            </a:endParaRPr>
          </a:p>
        </p:txBody>
      </p:sp>
      <p:sp>
        <p:nvSpPr>
          <p:cNvPr id="293" name="Google Shape;293;p40"/>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 name="Google Shape;294;p40">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295" name="Google Shape;295;p40">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296" name="Google Shape;296;p40">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297" name="Google Shape;297;p40">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298" name="Google Shape;298;p40">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299" name="Google Shape;299;p40">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
        <p:nvSpPr>
          <p:cNvPr id="300" name="Google Shape;300;p40"/>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01" name="Google Shape;301;p4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02" name="Google Shape;302;p4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03" name="Google Shape;303;p40"/>
          <p:cNvSpPr/>
          <p:nvPr/>
        </p:nvSpPr>
        <p:spPr>
          <a:xfrm>
            <a:off x="6389788" y="-875464"/>
            <a:ext cx="1762241" cy="11407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 name="Shape 308"/>
        <p:cNvGrpSpPr/>
        <p:nvPr/>
      </p:nvGrpSpPr>
      <p:grpSpPr>
        <a:xfrm>
          <a:off x="0" y="0"/>
          <a:ext cx="0" cy="0"/>
          <a:chOff x="0" y="0"/>
          <a:chExt cx="0" cy="0"/>
        </a:xfrm>
      </p:grpSpPr>
      <p:sp>
        <p:nvSpPr>
          <p:cNvPr id="309" name="Google Shape;309;p41"/>
          <p:cNvSpPr/>
          <p:nvPr/>
        </p:nvSpPr>
        <p:spPr>
          <a:xfrm>
            <a:off x="459950"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0" name="Google Shape;310;p41">
            <a:hlinkClick action="ppaction://hlinksldjump" r:id="rId3"/>
          </p:cNvPr>
          <p:cNvSpPr/>
          <p:nvPr/>
        </p:nvSpPr>
        <p:spPr>
          <a:xfrm>
            <a:off x="578169" y="4237225"/>
            <a:ext cx="7997739"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311" name="Google Shape;311;p41"/>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 name="Google Shape;312;p41"/>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13" name="Google Shape;313;p41"/>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14" name="Google Shape;314;p41"/>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15" name="Google Shape;315;p41"/>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16" name="Google Shape;316;p41"/>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17" name="Google Shape;317;p41"/>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 name="Google Shape;318;p41">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19" name="Google Shape;319;p4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20" name="Google Shape;320;p4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21" name="Google Shape;321;p41">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22" name="Google Shape;322;p41">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23" name="Google Shape;323;p41">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24" name="Google Shape;324;p41">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25" name="Google Shape;325;p41">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26" name="Google Shape;326;p41">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p:nvPr/>
        </p:nvSpPr>
        <p:spPr>
          <a:xfrm>
            <a:off x="463961"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 name="Google Shape;332;p42"/>
          <p:cNvSpPr txBox="1"/>
          <p:nvPr/>
        </p:nvSpPr>
        <p:spPr>
          <a:xfrm rot="-5400000">
            <a:off x="-16622" y="4244047"/>
            <a:ext cx="601225"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231F20"/>
                </a:solidFill>
                <a:latin typeface="Century Gothic"/>
                <a:ea typeface="Century Gothic"/>
                <a:cs typeface="Century Gothic"/>
                <a:sym typeface="Century Gothic"/>
              </a:rPr>
              <a:t>Data</a:t>
            </a:r>
            <a:br>
              <a:rPr lang="en-GB" sz="900">
                <a:solidFill>
                  <a:srgbClr val="231F20"/>
                </a:solidFill>
                <a:latin typeface="Century Gothic"/>
                <a:ea typeface="Century Gothic"/>
                <a:cs typeface="Century Gothic"/>
                <a:sym typeface="Century Gothic"/>
              </a:rPr>
            </a:br>
            <a:r>
              <a:rPr lang="en-GB" sz="900">
                <a:solidFill>
                  <a:srgbClr val="231F20"/>
                </a:solidFill>
                <a:latin typeface="Century Gothic"/>
                <a:ea typeface="Century Gothic"/>
                <a:cs typeface="Century Gothic"/>
                <a:sym typeface="Century Gothic"/>
              </a:rPr>
              <a:t>Sources</a:t>
            </a:r>
            <a:endParaRPr sz="900">
              <a:solidFill>
                <a:srgbClr val="231F20"/>
              </a:solidFill>
              <a:latin typeface="Century Gothic"/>
              <a:ea typeface="Century Gothic"/>
              <a:cs typeface="Century Gothic"/>
              <a:sym typeface="Century Gothic"/>
            </a:endParaRPr>
          </a:p>
        </p:txBody>
      </p:sp>
      <p:sp>
        <p:nvSpPr>
          <p:cNvPr id="333" name="Google Shape;333;p42"/>
          <p:cNvSpPr/>
          <p:nvPr/>
        </p:nvSpPr>
        <p:spPr>
          <a:xfrm>
            <a:off x="7782189"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Master &amp; Reference Data</a:t>
            </a:r>
            <a:endParaRPr sz="800">
              <a:solidFill>
                <a:srgbClr val="FFFFFF"/>
              </a:solidFill>
              <a:latin typeface="Century Gothic"/>
              <a:ea typeface="Century Gothic"/>
              <a:cs typeface="Century Gothic"/>
              <a:sym typeface="Century Gothic"/>
            </a:endParaRPr>
          </a:p>
        </p:txBody>
      </p:sp>
      <p:sp>
        <p:nvSpPr>
          <p:cNvPr id="334" name="Google Shape;334;p42"/>
          <p:cNvSpPr/>
          <p:nvPr/>
        </p:nvSpPr>
        <p:spPr>
          <a:xfrm>
            <a:off x="68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Multi-structured Data </a:t>
            </a:r>
            <a:endParaRPr sz="800">
              <a:solidFill>
                <a:srgbClr val="FFFFFF"/>
              </a:solidFill>
              <a:latin typeface="Century Gothic"/>
              <a:ea typeface="Century Gothic"/>
              <a:cs typeface="Century Gothic"/>
              <a:sym typeface="Century Gothic"/>
            </a:endParaRPr>
          </a:p>
        </p:txBody>
      </p:sp>
      <p:sp>
        <p:nvSpPr>
          <p:cNvPr id="335" name="Google Shape;335;p42"/>
          <p:cNvSpPr/>
          <p:nvPr/>
        </p:nvSpPr>
        <p:spPr>
          <a:xfrm>
            <a:off x="59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General Ledger &amp; ERP</a:t>
            </a:r>
            <a:endParaRPr sz="800">
              <a:solidFill>
                <a:srgbClr val="FFFFFF"/>
              </a:solidFill>
              <a:latin typeface="Century Gothic"/>
              <a:ea typeface="Century Gothic"/>
              <a:cs typeface="Century Gothic"/>
              <a:sym typeface="Century Gothic"/>
            </a:endParaRPr>
          </a:p>
        </p:txBody>
      </p:sp>
      <p:sp>
        <p:nvSpPr>
          <p:cNvPr id="336" name="Google Shape;336;p42"/>
          <p:cNvSpPr/>
          <p:nvPr/>
        </p:nvSpPr>
        <p:spPr>
          <a:xfrm>
            <a:off x="50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Limits, Collateral, Provisions</a:t>
            </a:r>
            <a:endParaRPr sz="800">
              <a:solidFill>
                <a:srgbClr val="FFFFFF"/>
              </a:solidFill>
              <a:latin typeface="Century Gothic"/>
              <a:ea typeface="Century Gothic"/>
              <a:cs typeface="Century Gothic"/>
              <a:sym typeface="Century Gothic"/>
            </a:endParaRPr>
          </a:p>
        </p:txBody>
      </p:sp>
      <p:sp>
        <p:nvSpPr>
          <p:cNvPr id="337" name="Google Shape;337;p42"/>
          <p:cNvSpPr/>
          <p:nvPr/>
        </p:nvSpPr>
        <p:spPr>
          <a:xfrm>
            <a:off x="41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Transactions &amp;</a:t>
            </a:r>
            <a:br>
              <a:rPr lang="en-GB" sz="800">
                <a:solidFill>
                  <a:srgbClr val="FFFFFF"/>
                </a:solidFill>
                <a:latin typeface="Century Gothic"/>
                <a:ea typeface="Century Gothic"/>
                <a:cs typeface="Century Gothic"/>
                <a:sym typeface="Century Gothic"/>
              </a:rPr>
            </a:br>
            <a:r>
              <a:rPr lang="en-GB" sz="800">
                <a:solidFill>
                  <a:srgbClr val="FFFFFF"/>
                </a:solidFill>
                <a:latin typeface="Century Gothic"/>
                <a:ea typeface="Century Gothic"/>
                <a:cs typeface="Century Gothic"/>
                <a:sym typeface="Century Gothic"/>
              </a:rPr>
              <a:t>Interactions</a:t>
            </a:r>
            <a:endParaRPr sz="800">
              <a:solidFill>
                <a:srgbClr val="FFFFFF"/>
              </a:solidFill>
              <a:latin typeface="Century Gothic"/>
              <a:ea typeface="Century Gothic"/>
              <a:cs typeface="Century Gothic"/>
              <a:sym typeface="Century Gothic"/>
            </a:endParaRPr>
          </a:p>
        </p:txBody>
      </p:sp>
      <p:sp>
        <p:nvSpPr>
          <p:cNvPr id="338" name="Google Shape;338;p42"/>
          <p:cNvSpPr/>
          <p:nvPr/>
        </p:nvSpPr>
        <p:spPr>
          <a:xfrm>
            <a:off x="327119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Balances &amp; Interest Rates</a:t>
            </a:r>
            <a:endParaRPr sz="800">
              <a:solidFill>
                <a:srgbClr val="FFFFFF"/>
              </a:solidFill>
              <a:latin typeface="Century Gothic"/>
              <a:ea typeface="Century Gothic"/>
              <a:cs typeface="Century Gothic"/>
              <a:sym typeface="Century Gothic"/>
            </a:endParaRPr>
          </a:p>
        </p:txBody>
      </p:sp>
      <p:sp>
        <p:nvSpPr>
          <p:cNvPr id="339" name="Google Shape;339;p42"/>
          <p:cNvSpPr/>
          <p:nvPr/>
        </p:nvSpPr>
        <p:spPr>
          <a:xfrm>
            <a:off x="236274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Account,  Policy  &amp; Service Details</a:t>
            </a:r>
            <a:endParaRPr sz="800">
              <a:solidFill>
                <a:srgbClr val="FFFFFF"/>
              </a:solidFill>
              <a:latin typeface="Century Gothic"/>
              <a:ea typeface="Century Gothic"/>
              <a:cs typeface="Century Gothic"/>
              <a:sym typeface="Century Gothic"/>
            </a:endParaRPr>
          </a:p>
        </p:txBody>
      </p:sp>
      <p:sp>
        <p:nvSpPr>
          <p:cNvPr id="340" name="Google Shape;340;p42"/>
          <p:cNvSpPr/>
          <p:nvPr/>
        </p:nvSpPr>
        <p:spPr>
          <a:xfrm>
            <a:off x="1469912"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Demographics &amp; Preferences</a:t>
            </a:r>
            <a:endParaRPr sz="800">
              <a:solidFill>
                <a:srgbClr val="FFFFFF"/>
              </a:solidFill>
              <a:latin typeface="Century Gothic"/>
              <a:ea typeface="Century Gothic"/>
              <a:cs typeface="Century Gothic"/>
              <a:sym typeface="Century Gothic"/>
            </a:endParaRPr>
          </a:p>
        </p:txBody>
      </p:sp>
      <p:sp>
        <p:nvSpPr>
          <p:cNvPr id="341" name="Google Shape;341;p42"/>
          <p:cNvSpPr/>
          <p:nvPr/>
        </p:nvSpPr>
        <p:spPr>
          <a:xfrm>
            <a:off x="58218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360</a:t>
            </a:r>
            <a:r>
              <a:rPr lang="en-GB" sz="800">
                <a:solidFill>
                  <a:srgbClr val="FFFFFF"/>
                </a:solidFill>
                <a:latin typeface="Arial"/>
                <a:ea typeface="Arial"/>
                <a:cs typeface="Arial"/>
                <a:sym typeface="Arial"/>
              </a:rPr>
              <a:t>º</a:t>
            </a:r>
            <a:r>
              <a:rPr lang="en-GB" sz="800">
                <a:solidFill>
                  <a:srgbClr val="FFFFFF"/>
                </a:solidFill>
                <a:latin typeface="Century Gothic"/>
                <a:ea typeface="Century Gothic"/>
                <a:cs typeface="Century Gothic"/>
                <a:sym typeface="Century Gothic"/>
              </a:rPr>
              <a:t> Customer View</a:t>
            </a:r>
            <a:endParaRPr sz="800">
              <a:solidFill>
                <a:srgbClr val="FFFFFF"/>
              </a:solidFill>
              <a:latin typeface="Century Gothic"/>
              <a:ea typeface="Century Gothic"/>
              <a:cs typeface="Century Gothic"/>
              <a:sym typeface="Century Gothic"/>
            </a:endParaRPr>
          </a:p>
        </p:txBody>
      </p:sp>
      <p:sp>
        <p:nvSpPr>
          <p:cNvPr id="342" name="Google Shape;342;p42"/>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 name="Google Shape;343;p42">
            <a:hlinkClick action="ppaction://hlinksldjump" r:id="rId3"/>
          </p:cNvPr>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44" name="Google Shape;344;p42"/>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45" name="Google Shape;345;p42"/>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46" name="Google Shape;346;p42"/>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47" name="Google Shape;347;p42"/>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48" name="Google Shape;348;p42"/>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 name="Google Shape;349;p42">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50" name="Google Shape;350;p4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51" name="Google Shape;351;p4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52" name="Google Shape;352;p42">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53" name="Google Shape;353;p42">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54" name="Google Shape;354;p42">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55" name="Google Shape;355;p42">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56" name="Google Shape;356;p42">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57" name="Google Shape;357;p42">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Marketing and Customer Experience</a:t>
            </a:r>
            <a:endParaRPr sz="1600"/>
          </a:p>
        </p:txBody>
      </p:sp>
      <p:sp>
        <p:nvSpPr>
          <p:cNvPr id="369" name="Google Shape;369;p4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370" name="Google Shape;370;p4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 name="Google Shape;371;p44">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Marketing and Customer Experience</a:t>
            </a:r>
            <a:endParaRPr sz="1100">
              <a:solidFill>
                <a:srgbClr val="FFFFFF"/>
              </a:solidFill>
              <a:latin typeface="Century Gothic"/>
              <a:ea typeface="Century Gothic"/>
              <a:cs typeface="Century Gothic"/>
              <a:sym typeface="Century Gothic"/>
            </a:endParaRPr>
          </a:p>
        </p:txBody>
      </p:sp>
      <p:sp>
        <p:nvSpPr>
          <p:cNvPr id="372" name="Google Shape;372;p44">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Information Management</a:t>
            </a:r>
            <a:endParaRPr sz="1100">
              <a:solidFill>
                <a:srgbClr val="FFFFFF"/>
              </a:solidFill>
              <a:latin typeface="Century Gothic"/>
              <a:ea typeface="Century Gothic"/>
              <a:cs typeface="Century Gothic"/>
              <a:sym typeface="Century Gothic"/>
            </a:endParaRPr>
          </a:p>
        </p:txBody>
      </p:sp>
      <p:sp>
        <p:nvSpPr>
          <p:cNvPr id="373" name="Google Shape;373;p44">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374" name="Google Shape;374;p44">
            <a:hlinkClick action="ppaction://hlinksldjump" r:id="rId6"/>
          </p:cNvPr>
          <p:cNvSpPr/>
          <p:nvPr/>
        </p:nvSpPr>
        <p:spPr>
          <a:xfrm>
            <a:off x="646992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375" name="Google Shape;375;p44">
            <a:hlinkClick action="ppaction://hlinksldjump" r:id="rId7"/>
          </p:cNvPr>
          <p:cNvSpPr/>
          <p:nvPr/>
        </p:nvSpPr>
        <p:spPr>
          <a:xfrm>
            <a:off x="2099735" y="2604823"/>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376" name="Google Shape;376;p44"/>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77" name="Google Shape;377;p44">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78" name="Google Shape;378;p44"/>
          <p:cNvGrpSpPr/>
          <p:nvPr/>
        </p:nvGrpSpPr>
        <p:grpSpPr>
          <a:xfrm>
            <a:off x="7717533" y="4360377"/>
            <a:ext cx="1058348" cy="347375"/>
            <a:chOff x="7651698" y="4287227"/>
            <a:chExt cx="1058348" cy="347375"/>
          </a:xfrm>
        </p:grpSpPr>
        <p:grpSp>
          <p:nvGrpSpPr>
            <p:cNvPr id="379" name="Google Shape;379;p44"/>
            <p:cNvGrpSpPr/>
            <p:nvPr/>
          </p:nvGrpSpPr>
          <p:grpSpPr>
            <a:xfrm>
              <a:off x="7714163" y="4337598"/>
              <a:ext cx="995883" cy="297004"/>
              <a:chOff x="7711013" y="3986494"/>
              <a:chExt cx="995883" cy="297004"/>
            </a:xfrm>
          </p:grpSpPr>
          <p:sp>
            <p:nvSpPr>
              <p:cNvPr id="380" name="Google Shape;380;p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81" name="Google Shape;381;p44"/>
              <p:cNvGrpSpPr/>
              <p:nvPr/>
            </p:nvGrpSpPr>
            <p:grpSpPr>
              <a:xfrm>
                <a:off x="7711013" y="4002615"/>
                <a:ext cx="281520" cy="241973"/>
                <a:chOff x="5652748" y="4066000"/>
                <a:chExt cx="906498" cy="747974"/>
              </a:xfrm>
            </p:grpSpPr>
            <p:sp>
              <p:nvSpPr>
                <p:cNvPr id="382" name="Google Shape;382;p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83" name="Google Shape;383;p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4" name="Google Shape;384;p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85" name="Google Shape;385;p44">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86" name="Google Shape;386;p44"/>
          <p:cNvSpPr/>
          <p:nvPr/>
        </p:nvSpPr>
        <p:spPr>
          <a:xfrm>
            <a:off x="6898877" y="-29356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7" name="Google Shape;387;p44"/>
          <p:cNvSpPr/>
          <p:nvPr/>
        </p:nvSpPr>
        <p:spPr>
          <a:xfrm rot="5400000">
            <a:off x="8412064" y="6418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8" name="Google Shape;388;p44">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5"/>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 name="Google Shape;395;p4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396" name="Google Shape;396;p4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7" name="Google Shape;397;p4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8" name="Google Shape;398;p4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Single View Of Customer</a:t>
            </a:r>
            <a:endParaRPr sz="1100">
              <a:solidFill>
                <a:schemeClr val="dk1"/>
              </a:solidFill>
              <a:latin typeface="Century Gothic"/>
              <a:ea typeface="Century Gothic"/>
              <a:cs typeface="Century Gothic"/>
              <a:sym typeface="Century Gothic"/>
            </a:endParaRPr>
          </a:p>
        </p:txBody>
      </p:sp>
      <p:sp>
        <p:nvSpPr>
          <p:cNvPr id="399" name="Google Shape;399;p4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Multi-Dimensional Customer View</a:t>
            </a:r>
            <a:endParaRPr sz="1100">
              <a:solidFill>
                <a:schemeClr val="dk1"/>
              </a:solidFill>
              <a:latin typeface="Century Gothic"/>
              <a:ea typeface="Century Gothic"/>
              <a:cs typeface="Century Gothic"/>
              <a:sym typeface="Century Gothic"/>
            </a:endParaRPr>
          </a:p>
        </p:txBody>
      </p:sp>
      <p:sp>
        <p:nvSpPr>
          <p:cNvPr id="400" name="Google Shape;400;p4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01" name="Google Shape;401;p4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02" name="Google Shape;402;p4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03" name="Google Shape;403;p4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04" name="Google Shape;404;p45"/>
          <p:cNvGrpSpPr/>
          <p:nvPr/>
        </p:nvGrpSpPr>
        <p:grpSpPr>
          <a:xfrm>
            <a:off x="7717533" y="4360377"/>
            <a:ext cx="1058348" cy="347375"/>
            <a:chOff x="7651698" y="4287227"/>
            <a:chExt cx="1058348" cy="347375"/>
          </a:xfrm>
        </p:grpSpPr>
        <p:grpSp>
          <p:nvGrpSpPr>
            <p:cNvPr id="405" name="Google Shape;405;p45"/>
            <p:cNvGrpSpPr/>
            <p:nvPr/>
          </p:nvGrpSpPr>
          <p:grpSpPr>
            <a:xfrm>
              <a:off x="7714163" y="4337598"/>
              <a:ext cx="995883" cy="297004"/>
              <a:chOff x="7711013" y="3986494"/>
              <a:chExt cx="995883" cy="297004"/>
            </a:xfrm>
          </p:grpSpPr>
          <p:sp>
            <p:nvSpPr>
              <p:cNvPr id="406" name="Google Shape;406;p4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7" name="Google Shape;407;p45"/>
              <p:cNvGrpSpPr/>
              <p:nvPr/>
            </p:nvGrpSpPr>
            <p:grpSpPr>
              <a:xfrm>
                <a:off x="7711013" y="4002615"/>
                <a:ext cx="281520" cy="241973"/>
                <a:chOff x="5652748" y="4066000"/>
                <a:chExt cx="906498" cy="747974"/>
              </a:xfrm>
            </p:grpSpPr>
            <p:sp>
              <p:nvSpPr>
                <p:cNvPr id="408" name="Google Shape;408;p4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9" name="Google Shape;409;p4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 name="Google Shape;410;p4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11" name="Google Shape;411;p45">
              <a:hlinkClick action="ppaction://hlinksldjump" r:id="rId7"/>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12" name="Google Shape;412;p4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9" name="Google Shape;419;p4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420" name="Google Shape;420;p4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21" name="Google Shape;421;p4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22" name="Google Shape;422;p4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Value &amp; Profitability</a:t>
            </a:r>
            <a:endParaRPr sz="1100">
              <a:solidFill>
                <a:schemeClr val="dk1"/>
              </a:solidFill>
              <a:latin typeface="Century Gothic"/>
              <a:ea typeface="Century Gothic"/>
              <a:cs typeface="Century Gothic"/>
              <a:sym typeface="Century Gothic"/>
            </a:endParaRPr>
          </a:p>
        </p:txBody>
      </p:sp>
      <p:sp>
        <p:nvSpPr>
          <p:cNvPr id="423" name="Google Shape;423;p46">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Journey Analysis</a:t>
            </a:r>
            <a:endParaRPr/>
          </a:p>
        </p:txBody>
      </p:sp>
      <p:sp>
        <p:nvSpPr>
          <p:cNvPr id="424" name="Google Shape;424;p46">
            <a:hlinkClick action="ppaction://hlinksldjump" r:id="rId7"/>
          </p:cNvPr>
          <p:cNvSpPr/>
          <p:nvPr/>
        </p:nvSpPr>
        <p:spPr>
          <a:xfrm>
            <a:off x="2093595" y="3012784"/>
            <a:ext cx="2065200" cy="5226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Segmentation</a:t>
            </a:r>
            <a:endParaRPr sz="1100">
              <a:solidFill>
                <a:schemeClr val="dk1"/>
              </a:solidFill>
              <a:latin typeface="Century Gothic"/>
              <a:ea typeface="Century Gothic"/>
              <a:cs typeface="Century Gothic"/>
              <a:sym typeface="Century Gothic"/>
            </a:endParaRPr>
          </a:p>
        </p:txBody>
      </p:sp>
      <p:sp>
        <p:nvSpPr>
          <p:cNvPr id="425" name="Google Shape;425;p46">
            <a:hlinkClick action="ppaction://hlinksldjump" r:id="rId8"/>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Satisfaction Indexing</a:t>
            </a:r>
            <a:endParaRPr sz="1100">
              <a:solidFill>
                <a:schemeClr val="dk1"/>
              </a:solidFill>
              <a:latin typeface="Century Gothic"/>
              <a:ea typeface="Century Gothic"/>
              <a:cs typeface="Century Gothic"/>
              <a:sym typeface="Century Gothic"/>
            </a:endParaRPr>
          </a:p>
        </p:txBody>
      </p:sp>
      <p:sp>
        <p:nvSpPr>
          <p:cNvPr id="426" name="Google Shape;426;p46">
            <a:hlinkClick action="ppaction://hlinksldjump" r:id="rId9"/>
          </p:cNvPr>
          <p:cNvSpPr/>
          <p:nvPr/>
        </p:nvSpPr>
        <p:spPr>
          <a:xfrm>
            <a:off x="6475527"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Event Analytics</a:t>
            </a:r>
            <a:endParaRPr sz="1100">
              <a:solidFill>
                <a:schemeClr val="dk1"/>
              </a:solidFill>
              <a:latin typeface="Century Gothic"/>
              <a:ea typeface="Century Gothic"/>
              <a:cs typeface="Century Gothic"/>
              <a:sym typeface="Century Gothic"/>
            </a:endParaRPr>
          </a:p>
        </p:txBody>
      </p:sp>
      <p:sp>
        <p:nvSpPr>
          <p:cNvPr id="427" name="Google Shape;427;p46">
            <a:hlinkClick action="ppaction://hlinksldjump" r:id="rId10"/>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Connection Analytics</a:t>
            </a:r>
            <a:endParaRPr sz="1100">
              <a:solidFill>
                <a:schemeClr val="dk1"/>
              </a:solidFill>
              <a:latin typeface="Century Gothic"/>
              <a:ea typeface="Century Gothic"/>
              <a:cs typeface="Century Gothic"/>
              <a:sym typeface="Century Gothic"/>
            </a:endParaRPr>
          </a:p>
        </p:txBody>
      </p:sp>
      <p:sp>
        <p:nvSpPr>
          <p:cNvPr id="428" name="Google Shape;428;p46">
            <a:hlinkClick action="ppaction://hlinksldjump" r:id="rId11"/>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Transaction Clasification</a:t>
            </a:r>
            <a:endParaRPr sz="1100">
              <a:solidFill>
                <a:schemeClr val="dk1"/>
              </a:solidFill>
              <a:latin typeface="Century Gothic"/>
              <a:ea typeface="Century Gothic"/>
              <a:cs typeface="Century Gothic"/>
              <a:sym typeface="Century Gothic"/>
            </a:endParaRPr>
          </a:p>
        </p:txBody>
      </p:sp>
      <p:sp>
        <p:nvSpPr>
          <p:cNvPr id="429" name="Google Shape;429;p46">
            <a:hlinkClick action="ppaction://hlinksldjump" r:id="rId12"/>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Behavioural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 Preference Analytics</a:t>
            </a:r>
            <a:endParaRPr/>
          </a:p>
        </p:txBody>
      </p:sp>
      <p:sp>
        <p:nvSpPr>
          <p:cNvPr id="430" name="Google Shape;430;p46">
            <a:hlinkClick action="ppaction://hlinksldjump" r:id="rId13"/>
          </p:cNvPr>
          <p:cNvSpPr/>
          <p:nvPr/>
        </p:nvSpPr>
        <p:spPr>
          <a:xfrm>
            <a:off x="2099732"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Life Stage</a:t>
            </a:r>
            <a:endParaRPr sz="1100">
              <a:solidFill>
                <a:schemeClr val="dk1"/>
              </a:solidFill>
              <a:latin typeface="Century Gothic"/>
              <a:ea typeface="Century Gothic"/>
              <a:cs typeface="Century Gothic"/>
              <a:sym typeface="Century Gothic"/>
            </a:endParaRPr>
          </a:p>
        </p:txBody>
      </p:sp>
      <p:sp>
        <p:nvSpPr>
          <p:cNvPr id="431" name="Google Shape;431;p4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32" name="Google Shape;432;p4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33" name="Google Shape;433;p4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34" name="Google Shape;434;p4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35" name="Google Shape;435;p46"/>
          <p:cNvGrpSpPr/>
          <p:nvPr/>
        </p:nvGrpSpPr>
        <p:grpSpPr>
          <a:xfrm>
            <a:off x="7717533" y="4360377"/>
            <a:ext cx="1058348" cy="347375"/>
            <a:chOff x="7651698" y="4287227"/>
            <a:chExt cx="1058348" cy="347375"/>
          </a:xfrm>
        </p:grpSpPr>
        <p:grpSp>
          <p:nvGrpSpPr>
            <p:cNvPr id="436" name="Google Shape;436;p46"/>
            <p:cNvGrpSpPr/>
            <p:nvPr/>
          </p:nvGrpSpPr>
          <p:grpSpPr>
            <a:xfrm>
              <a:off x="7714163" y="4337598"/>
              <a:ext cx="995883" cy="297004"/>
              <a:chOff x="7711013" y="3986494"/>
              <a:chExt cx="995883" cy="297004"/>
            </a:xfrm>
          </p:grpSpPr>
          <p:sp>
            <p:nvSpPr>
              <p:cNvPr id="437" name="Google Shape;437;p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8" name="Google Shape;438;p46"/>
              <p:cNvGrpSpPr/>
              <p:nvPr/>
            </p:nvGrpSpPr>
            <p:grpSpPr>
              <a:xfrm>
                <a:off x="7711013" y="4002615"/>
                <a:ext cx="281520" cy="241973"/>
                <a:chOff x="5652748" y="4066000"/>
                <a:chExt cx="906498" cy="747974"/>
              </a:xfrm>
            </p:grpSpPr>
            <p:sp>
              <p:nvSpPr>
                <p:cNvPr id="439" name="Google Shape;439;p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0" name="Google Shape;440;p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1" name="Google Shape;441;p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 name="Google Shape;442;p46">
              <a:hlinkClick action="ppaction://hlinksldjump" r:id="rId1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43" name="Google Shape;443;p46">
            <a:hlinkClick action="ppaction://hlinksldjump" r:id="rId15"/>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Experience Analytics</a:t>
            </a:r>
            <a:endParaRPr sz="1100">
              <a:solidFill>
                <a:schemeClr val="dk1"/>
              </a:solidFill>
              <a:latin typeface="Century Gothic"/>
              <a:ea typeface="Century Gothic"/>
              <a:cs typeface="Century Gothic"/>
              <a:sym typeface="Century Gothic"/>
            </a:endParaRPr>
          </a:p>
        </p:txBody>
      </p:sp>
      <p:sp>
        <p:nvSpPr>
          <p:cNvPr id="444" name="Google Shape;444;p4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7"/>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1" name="Google Shape;451;p4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452" name="Google Shape;452;p4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53" name="Google Shape;453;p4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54" name="Google Shape;454;p4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Acquisiton</a:t>
            </a:r>
            <a:endParaRPr sz="1100">
              <a:solidFill>
                <a:schemeClr val="dk1"/>
              </a:solidFill>
              <a:latin typeface="Century Gothic"/>
              <a:ea typeface="Century Gothic"/>
              <a:cs typeface="Century Gothic"/>
              <a:sym typeface="Century Gothic"/>
            </a:endParaRPr>
          </a:p>
        </p:txBody>
      </p:sp>
      <p:sp>
        <p:nvSpPr>
          <p:cNvPr id="455" name="Google Shape;455;p47">
            <a:hlinkClick action="ppaction://hlinksldjump" r:id="rId6"/>
          </p:cNvPr>
          <p:cNvSpPr/>
          <p:nvPr/>
        </p:nvSpPr>
        <p:spPr>
          <a:xfrm>
            <a:off x="6475527" y="1762241"/>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Retention</a:t>
            </a:r>
            <a:endParaRPr sz="1100">
              <a:solidFill>
                <a:schemeClr val="dk1"/>
              </a:solidFill>
              <a:latin typeface="Century Gothic"/>
              <a:ea typeface="Century Gothic"/>
              <a:cs typeface="Century Gothic"/>
              <a:sym typeface="Century Gothic"/>
            </a:endParaRPr>
          </a:p>
        </p:txBody>
      </p:sp>
      <p:sp>
        <p:nvSpPr>
          <p:cNvPr id="456" name="Google Shape;456;p47">
            <a:hlinkClick action="ppaction://hlinksldjump" r:id="rId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Loyalty</a:t>
            </a:r>
            <a:endParaRPr sz="1100">
              <a:solidFill>
                <a:schemeClr val="dk1"/>
              </a:solidFill>
              <a:latin typeface="Century Gothic"/>
              <a:ea typeface="Century Gothic"/>
              <a:cs typeface="Century Gothic"/>
              <a:sym typeface="Century Gothic"/>
            </a:endParaRPr>
          </a:p>
        </p:txBody>
      </p:sp>
      <p:sp>
        <p:nvSpPr>
          <p:cNvPr id="457" name="Google Shape;457;p47">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On-Boarding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and Development</a:t>
            </a:r>
            <a:endParaRPr sz="1100">
              <a:solidFill>
                <a:schemeClr val="dk1"/>
              </a:solidFill>
              <a:latin typeface="Century Gothic"/>
              <a:ea typeface="Century Gothic"/>
              <a:cs typeface="Century Gothic"/>
              <a:sym typeface="Century Gothic"/>
            </a:endParaRPr>
          </a:p>
        </p:txBody>
      </p:sp>
      <p:sp>
        <p:nvSpPr>
          <p:cNvPr id="458" name="Google Shape;458;p47">
            <a:hlinkClick action="ppaction://hlinksldjump" r:id="rId9"/>
          </p:cNvPr>
          <p:cNvSpPr/>
          <p:nvPr/>
        </p:nvSpPr>
        <p:spPr>
          <a:xfrm>
            <a:off x="2099731"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Churn</a:t>
            </a:r>
            <a:endParaRPr sz="1100">
              <a:solidFill>
                <a:schemeClr val="dk1"/>
              </a:solidFill>
              <a:latin typeface="Century Gothic"/>
              <a:ea typeface="Century Gothic"/>
              <a:cs typeface="Century Gothic"/>
              <a:sym typeface="Century Gothic"/>
            </a:endParaRPr>
          </a:p>
        </p:txBody>
      </p:sp>
      <p:sp>
        <p:nvSpPr>
          <p:cNvPr id="459" name="Google Shape;459;p47">
            <a:hlinkClick action="ppaction://hlinksldjump" r:id="rId10"/>
          </p:cNvPr>
          <p:cNvSpPr/>
          <p:nvPr/>
        </p:nvSpPr>
        <p:spPr>
          <a:xfrm>
            <a:off x="207374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 Sell / Up Sell</a:t>
            </a:r>
            <a:endParaRPr sz="1100">
              <a:solidFill>
                <a:schemeClr val="dk1"/>
              </a:solidFill>
              <a:latin typeface="Century Gothic"/>
              <a:ea typeface="Century Gothic"/>
              <a:cs typeface="Century Gothic"/>
              <a:sym typeface="Century Gothic"/>
            </a:endParaRPr>
          </a:p>
        </p:txBody>
      </p:sp>
      <p:sp>
        <p:nvSpPr>
          <p:cNvPr id="460" name="Google Shape;460;p47">
            <a:hlinkClick action="ppaction://hlinksldjump" r:id="rId11"/>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Re-engagement</a:t>
            </a:r>
            <a:endParaRPr sz="1100">
              <a:solidFill>
                <a:schemeClr val="dk1"/>
              </a:solidFill>
              <a:latin typeface="Century Gothic"/>
              <a:ea typeface="Century Gothic"/>
              <a:cs typeface="Century Gothic"/>
              <a:sym typeface="Century Gothic"/>
            </a:endParaRPr>
          </a:p>
        </p:txBody>
      </p:sp>
      <p:sp>
        <p:nvSpPr>
          <p:cNvPr id="461" name="Google Shape;461;p4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62" name="Google Shape;462;p4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63" name="Google Shape;463;p4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64" name="Google Shape;464;p4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65" name="Google Shape;465;p47"/>
          <p:cNvGrpSpPr/>
          <p:nvPr/>
        </p:nvGrpSpPr>
        <p:grpSpPr>
          <a:xfrm>
            <a:off x="7717533" y="4360377"/>
            <a:ext cx="1058348" cy="347375"/>
            <a:chOff x="7651698" y="4287227"/>
            <a:chExt cx="1058348" cy="347375"/>
          </a:xfrm>
        </p:grpSpPr>
        <p:grpSp>
          <p:nvGrpSpPr>
            <p:cNvPr id="466" name="Google Shape;466;p47"/>
            <p:cNvGrpSpPr/>
            <p:nvPr/>
          </p:nvGrpSpPr>
          <p:grpSpPr>
            <a:xfrm>
              <a:off x="7714163" y="4337598"/>
              <a:ext cx="995883" cy="297004"/>
              <a:chOff x="7711013" y="3986494"/>
              <a:chExt cx="995883" cy="297004"/>
            </a:xfrm>
          </p:grpSpPr>
          <p:sp>
            <p:nvSpPr>
              <p:cNvPr id="467" name="Google Shape;467;p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8" name="Google Shape;468;p47"/>
              <p:cNvGrpSpPr/>
              <p:nvPr/>
            </p:nvGrpSpPr>
            <p:grpSpPr>
              <a:xfrm>
                <a:off x="7711013" y="4002615"/>
                <a:ext cx="281520" cy="241973"/>
                <a:chOff x="5652748" y="4066000"/>
                <a:chExt cx="906498" cy="747974"/>
              </a:xfrm>
            </p:grpSpPr>
            <p:sp>
              <p:nvSpPr>
                <p:cNvPr id="469" name="Google Shape;469;p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0" name="Google Shape;470;p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1" name="Google Shape;471;p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2" name="Google Shape;472;p47">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3" name="Google Shape;473;p47">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8"/>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0" name="Google Shape;480;p48">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481" name="Google Shape;481;p4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82" name="Google Shape;482;p48">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83" name="Google Shape;483;p48">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Communication Targeting</a:t>
            </a:r>
            <a:endParaRPr sz="1100">
              <a:solidFill>
                <a:schemeClr val="dk1"/>
              </a:solidFill>
              <a:latin typeface="Century Gothic"/>
              <a:ea typeface="Century Gothic"/>
              <a:cs typeface="Century Gothic"/>
              <a:sym typeface="Century Gothic"/>
            </a:endParaRPr>
          </a:p>
        </p:txBody>
      </p:sp>
      <p:sp>
        <p:nvSpPr>
          <p:cNvPr id="484" name="Google Shape;484;p48">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Contextual Decisioning</a:t>
            </a:r>
            <a:endParaRPr sz="1100">
              <a:solidFill>
                <a:schemeClr val="dk1"/>
              </a:solidFill>
              <a:latin typeface="Century Gothic"/>
              <a:ea typeface="Century Gothic"/>
              <a:cs typeface="Century Gothic"/>
              <a:sym typeface="Century Gothic"/>
            </a:endParaRPr>
          </a:p>
        </p:txBody>
      </p:sp>
      <p:sp>
        <p:nvSpPr>
          <p:cNvPr id="485" name="Google Shape;485;p48">
            <a:hlinkClick action="ppaction://hlinksldjump" r:id="rId7"/>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Personalization</a:t>
            </a:r>
            <a:endParaRPr sz="1100">
              <a:solidFill>
                <a:schemeClr val="dk1"/>
              </a:solidFill>
              <a:latin typeface="Century Gothic"/>
              <a:ea typeface="Century Gothic"/>
              <a:cs typeface="Century Gothic"/>
              <a:sym typeface="Century Gothic"/>
            </a:endParaRPr>
          </a:p>
        </p:txBody>
      </p:sp>
      <p:sp>
        <p:nvSpPr>
          <p:cNvPr id="486" name="Google Shape;486;p48">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Contact Optimization</a:t>
            </a:r>
            <a:endParaRPr sz="1100">
              <a:solidFill>
                <a:schemeClr val="dk1"/>
              </a:solidFill>
              <a:latin typeface="Century Gothic"/>
              <a:ea typeface="Century Gothic"/>
              <a:cs typeface="Century Gothic"/>
              <a:sym typeface="Century Gothic"/>
            </a:endParaRPr>
          </a:p>
        </p:txBody>
      </p:sp>
      <p:sp>
        <p:nvSpPr>
          <p:cNvPr id="487" name="Google Shape;487;p48">
            <a:hlinkClick action="ppaction://hlinksldjump" r:id="rId9"/>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Cross-Channel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Customer Experience</a:t>
            </a:r>
            <a:endParaRPr sz="1100">
              <a:solidFill>
                <a:schemeClr val="dk1"/>
              </a:solidFill>
              <a:latin typeface="Century Gothic"/>
              <a:ea typeface="Century Gothic"/>
              <a:cs typeface="Century Gothic"/>
              <a:sym typeface="Century Gothic"/>
            </a:endParaRPr>
          </a:p>
        </p:txBody>
      </p:sp>
      <p:sp>
        <p:nvSpPr>
          <p:cNvPr id="488" name="Google Shape;488;p48">
            <a:hlinkClick action="ppaction://hlinksldjump" r:id="rId10"/>
          </p:cNvPr>
          <p:cNvSpPr/>
          <p:nvPr/>
        </p:nvSpPr>
        <p:spPr>
          <a:xfrm>
            <a:off x="2099731"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Next Best Action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Arbitration</a:t>
            </a:r>
            <a:endParaRPr sz="1100">
              <a:solidFill>
                <a:schemeClr val="dk1"/>
              </a:solidFill>
              <a:latin typeface="Century Gothic"/>
              <a:ea typeface="Century Gothic"/>
              <a:cs typeface="Century Gothic"/>
              <a:sym typeface="Century Gothic"/>
            </a:endParaRPr>
          </a:p>
        </p:txBody>
      </p:sp>
      <p:sp>
        <p:nvSpPr>
          <p:cNvPr id="489" name="Google Shape;489;p48">
            <a:hlinkClick action="ppaction://hlinksldjump" r:id="rId11"/>
          </p:cNvPr>
          <p:cNvSpPr/>
          <p:nvPr/>
        </p:nvSpPr>
        <p:spPr>
          <a:xfrm>
            <a:off x="645754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Response Optimization</a:t>
            </a:r>
            <a:endParaRPr sz="1100">
              <a:solidFill>
                <a:schemeClr val="dk1"/>
              </a:solidFill>
              <a:latin typeface="Century Gothic"/>
              <a:ea typeface="Century Gothic"/>
              <a:cs typeface="Century Gothic"/>
              <a:sym typeface="Century Gothic"/>
            </a:endParaRPr>
          </a:p>
        </p:txBody>
      </p:sp>
      <p:sp>
        <p:nvSpPr>
          <p:cNvPr id="490" name="Google Shape;490;p48">
            <a:hlinkClick action="ppaction://hlinksldjump" r:id="rId12"/>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Digital Optimization</a:t>
            </a:r>
            <a:endParaRPr sz="1100">
              <a:solidFill>
                <a:schemeClr val="dk1"/>
              </a:solidFill>
              <a:latin typeface="Century Gothic"/>
              <a:ea typeface="Century Gothic"/>
              <a:cs typeface="Century Gothic"/>
              <a:sym typeface="Century Gothic"/>
            </a:endParaRPr>
          </a:p>
        </p:txBody>
      </p:sp>
      <p:sp>
        <p:nvSpPr>
          <p:cNvPr id="491" name="Google Shape;491;p48">
            <a:hlinkClick action="ppaction://hlinksldjump" r:id="rId13"/>
          </p:cNvPr>
          <p:cNvSpPr/>
          <p:nvPr/>
        </p:nvSpPr>
        <p:spPr>
          <a:xfrm>
            <a:off x="6475527"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Multi-Step Campaigns</a:t>
            </a:r>
            <a:endParaRPr sz="1100">
              <a:solidFill>
                <a:schemeClr val="dk1"/>
              </a:solidFill>
              <a:latin typeface="Century Gothic"/>
              <a:ea typeface="Century Gothic"/>
              <a:cs typeface="Century Gothic"/>
              <a:sym typeface="Century Gothic"/>
            </a:endParaRPr>
          </a:p>
        </p:txBody>
      </p:sp>
      <p:sp>
        <p:nvSpPr>
          <p:cNvPr id="492" name="Google Shape;492;p48">
            <a:hlinkClick action="ppaction://hlinksldjump" r:id="rId14"/>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Search Engine Optimization</a:t>
            </a:r>
            <a:endParaRPr sz="1100">
              <a:solidFill>
                <a:schemeClr val="dk1"/>
              </a:solidFill>
              <a:latin typeface="Century Gothic"/>
              <a:ea typeface="Century Gothic"/>
              <a:cs typeface="Century Gothic"/>
              <a:sym typeface="Century Gothic"/>
            </a:endParaRPr>
          </a:p>
        </p:txBody>
      </p:sp>
      <p:sp>
        <p:nvSpPr>
          <p:cNvPr id="493" name="Google Shape;493;p48">
            <a:hlinkClick action="ppaction://hlinksldjump" r:id="rId15"/>
          </p:cNvPr>
          <p:cNvSpPr/>
          <p:nvPr/>
        </p:nvSpPr>
        <p:spPr>
          <a:xfrm>
            <a:off x="4290974"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Product Recommendations</a:t>
            </a:r>
            <a:endParaRPr sz="1100">
              <a:solidFill>
                <a:schemeClr val="dk1"/>
              </a:solidFill>
              <a:latin typeface="Century Gothic"/>
              <a:ea typeface="Century Gothic"/>
              <a:cs typeface="Century Gothic"/>
              <a:sym typeface="Century Gothic"/>
            </a:endParaRPr>
          </a:p>
        </p:txBody>
      </p:sp>
      <p:sp>
        <p:nvSpPr>
          <p:cNvPr id="494" name="Google Shape;494;p48"/>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95" name="Google Shape;495;p4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96" name="Google Shape;496;p4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97" name="Google Shape;497;p4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98" name="Google Shape;498;p48"/>
          <p:cNvGrpSpPr/>
          <p:nvPr/>
        </p:nvGrpSpPr>
        <p:grpSpPr>
          <a:xfrm>
            <a:off x="7717533" y="4360377"/>
            <a:ext cx="1058348" cy="347375"/>
            <a:chOff x="7651698" y="4287227"/>
            <a:chExt cx="1058348" cy="347375"/>
          </a:xfrm>
        </p:grpSpPr>
        <p:grpSp>
          <p:nvGrpSpPr>
            <p:cNvPr id="499" name="Google Shape;499;p48"/>
            <p:cNvGrpSpPr/>
            <p:nvPr/>
          </p:nvGrpSpPr>
          <p:grpSpPr>
            <a:xfrm>
              <a:off x="7714163" y="4337598"/>
              <a:ext cx="995883" cy="297004"/>
              <a:chOff x="7711013" y="3986494"/>
              <a:chExt cx="995883" cy="297004"/>
            </a:xfrm>
          </p:grpSpPr>
          <p:sp>
            <p:nvSpPr>
              <p:cNvPr id="500" name="Google Shape;500;p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1" name="Google Shape;501;p48"/>
              <p:cNvGrpSpPr/>
              <p:nvPr/>
            </p:nvGrpSpPr>
            <p:grpSpPr>
              <a:xfrm>
                <a:off x="7711013" y="4002615"/>
                <a:ext cx="281520" cy="241973"/>
                <a:chOff x="5652748" y="4066000"/>
                <a:chExt cx="906498" cy="747974"/>
              </a:xfrm>
            </p:grpSpPr>
            <p:sp>
              <p:nvSpPr>
                <p:cNvPr id="502" name="Google Shape;502;p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3" name="Google Shape;503;p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 name="Google Shape;504;p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5" name="Google Shape;505;p48">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06" name="Google Shape;506;p48">
            <a:hlinkClick action="ppaction://hlinksldjump" r:id="rId1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Call / Contact Centre Optimization</a:t>
            </a:r>
            <a:endParaRPr sz="1100">
              <a:solidFill>
                <a:schemeClr val="dk1"/>
              </a:solidFill>
              <a:latin typeface="Century Gothic"/>
              <a:ea typeface="Century Gothic"/>
              <a:cs typeface="Century Gothic"/>
              <a:sym typeface="Century Gothic"/>
            </a:endParaRPr>
          </a:p>
        </p:txBody>
      </p:sp>
      <p:sp>
        <p:nvSpPr>
          <p:cNvPr id="507" name="Google Shape;507;p48">
            <a:hlinkClick action="ppaction://hlinksldjump" r:id="rId18"/>
          </p:cNvPr>
          <p:cNvSpPr/>
          <p:nvPr/>
        </p:nvSpPr>
        <p:spPr>
          <a:xfrm rot="5400000">
            <a:off x="5064095" y="4164719"/>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txBox="1"/>
          <p:nvPr/>
        </p:nvSpPr>
        <p:spPr>
          <a:xfrm>
            <a:off x="4868417" y="4360358"/>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09" name="Google Shape;509;p48">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9"/>
          <p:cNvSpPr/>
          <p:nvPr/>
        </p:nvSpPr>
        <p:spPr>
          <a:xfrm>
            <a:off x="42301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6" name="Google Shape;516;p49">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517" name="Google Shape;517;p4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518" name="Google Shape;518;p49"/>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519" name="Google Shape;519;p49">
            <a:hlinkClick action="ppaction://hlinksldjump" r:id="rId4"/>
          </p:cNvPr>
          <p:cNvSpPr/>
          <p:nvPr/>
        </p:nvSpPr>
        <p:spPr>
          <a:xfrm>
            <a:off x="4277281"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Attribution</a:t>
            </a:r>
            <a:endParaRPr sz="1100">
              <a:solidFill>
                <a:schemeClr val="dk1"/>
              </a:solidFill>
              <a:latin typeface="Century Gothic"/>
              <a:ea typeface="Century Gothic"/>
              <a:cs typeface="Century Gothic"/>
              <a:sym typeface="Century Gothic"/>
            </a:endParaRPr>
          </a:p>
        </p:txBody>
      </p:sp>
      <p:sp>
        <p:nvSpPr>
          <p:cNvPr id="520" name="Google Shape;520;p49">
            <a:hlinkClick action="ppaction://hlinksldjump" r:id="rId5"/>
          </p:cNvPr>
          <p:cNvSpPr/>
          <p:nvPr/>
        </p:nvSpPr>
        <p:spPr>
          <a:xfrm>
            <a:off x="6460207"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Brand Analytics</a:t>
            </a:r>
            <a:endParaRPr sz="1100">
              <a:solidFill>
                <a:schemeClr val="dk1"/>
              </a:solidFill>
              <a:latin typeface="Century Gothic"/>
              <a:ea typeface="Century Gothic"/>
              <a:cs typeface="Century Gothic"/>
              <a:sym typeface="Century Gothic"/>
            </a:endParaRPr>
          </a:p>
        </p:txBody>
      </p:sp>
      <p:sp>
        <p:nvSpPr>
          <p:cNvPr id="521" name="Google Shape;521;p49"/>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522" name="Google Shape;522;p4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23" name="Google Shape;523;p4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524" name="Google Shape;524;p49"/>
          <p:cNvSpPr/>
          <p:nvPr/>
        </p:nvSpPr>
        <p:spPr>
          <a:xfrm rot="5400000">
            <a:off x="5522922" y="-112038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25" name="Google Shape;525;p49"/>
          <p:cNvGrpSpPr/>
          <p:nvPr/>
        </p:nvGrpSpPr>
        <p:grpSpPr>
          <a:xfrm>
            <a:off x="7717533" y="4360377"/>
            <a:ext cx="1058348" cy="347375"/>
            <a:chOff x="7651698" y="4287227"/>
            <a:chExt cx="1058348" cy="347375"/>
          </a:xfrm>
        </p:grpSpPr>
        <p:grpSp>
          <p:nvGrpSpPr>
            <p:cNvPr id="526" name="Google Shape;526;p49"/>
            <p:cNvGrpSpPr/>
            <p:nvPr/>
          </p:nvGrpSpPr>
          <p:grpSpPr>
            <a:xfrm>
              <a:off x="7714163" y="4337598"/>
              <a:ext cx="995883" cy="297004"/>
              <a:chOff x="7711013" y="3986494"/>
              <a:chExt cx="995883" cy="297004"/>
            </a:xfrm>
          </p:grpSpPr>
          <p:sp>
            <p:nvSpPr>
              <p:cNvPr id="527" name="Google Shape;527;p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28" name="Google Shape;528;p49"/>
              <p:cNvGrpSpPr/>
              <p:nvPr/>
            </p:nvGrpSpPr>
            <p:grpSpPr>
              <a:xfrm>
                <a:off x="7711013" y="4002615"/>
                <a:ext cx="281520" cy="241973"/>
                <a:chOff x="5652748" y="4066000"/>
                <a:chExt cx="906498" cy="747974"/>
              </a:xfrm>
            </p:grpSpPr>
            <p:sp>
              <p:nvSpPr>
                <p:cNvPr id="529" name="Google Shape;529;p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 name="Google Shape;530;p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1" name="Google Shape;531;p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2" name="Google Shape;532;p49">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33" name="Google Shape;533;p49">
            <a:hlinkClick action="ppaction://hlinksldjump" r:id="rId7"/>
          </p:cNvPr>
          <p:cNvSpPr/>
          <p:nvPr/>
        </p:nvSpPr>
        <p:spPr>
          <a:xfrm>
            <a:off x="2099732" y="174258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Effectiveness</a:t>
            </a:r>
            <a:endParaRPr sz="1100">
              <a:solidFill>
                <a:schemeClr val="dk1"/>
              </a:solidFill>
              <a:latin typeface="Century Gothic"/>
              <a:ea typeface="Century Gothic"/>
              <a:cs typeface="Century Gothic"/>
              <a:sym typeface="Century Gothic"/>
            </a:endParaRPr>
          </a:p>
        </p:txBody>
      </p:sp>
      <p:sp>
        <p:nvSpPr>
          <p:cNvPr id="534" name="Google Shape;534;p49">
            <a:hlinkClick action="ppaction://hlinksldjump" r:id="rId8"/>
          </p:cNvPr>
          <p:cNvSpPr/>
          <p:nvPr/>
        </p:nvSpPr>
        <p:spPr>
          <a:xfrm flipH="1" rot="5400000">
            <a:off x="5064095" y="8410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txBox="1"/>
          <p:nvPr/>
        </p:nvSpPr>
        <p:spPr>
          <a:xfrm flipH="1">
            <a:off x="4868417" y="10874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36" name="Google Shape;536;p49">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 name="Google Shape;543;p50">
            <a:hlinkClick action="ppaction://hlinksldjump" r:id="rId3"/>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spcBef>
                <a:spcPts val="0"/>
              </a:spcBef>
              <a:spcAft>
                <a:spcPts val="0"/>
              </a:spcAft>
              <a:buNone/>
            </a:pPr>
            <a:r>
              <a:rPr lang="en-GB" sz="1000">
                <a:solidFill>
                  <a:srgbClr val="3C3C3B"/>
                </a:solidFill>
                <a:latin typeface="Century Gothic"/>
                <a:ea typeface="Century Gothic"/>
                <a:cs typeface="Century Gothic"/>
                <a:sym typeface="Century Gothic"/>
              </a:rPr>
              <a:t>Multi-Dimensional Customer View</a:t>
            </a:r>
            <a:endParaRPr sz="1000">
              <a:solidFill>
                <a:srgbClr val="3C3C3B"/>
              </a:solidFill>
              <a:latin typeface="Century Gothic"/>
              <a:ea typeface="Century Gothic"/>
              <a:cs typeface="Century Gothic"/>
              <a:sym typeface="Century Gothic"/>
            </a:endParaRPr>
          </a:p>
        </p:txBody>
      </p:sp>
      <p:sp>
        <p:nvSpPr>
          <p:cNvPr id="544" name="Google Shape;544;p50"/>
          <p:cNvSpPr/>
          <p:nvPr/>
        </p:nvSpPr>
        <p:spPr>
          <a:xfrm rot="5400000">
            <a:off x="2079372" y="193276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5" name="Google Shape;545;p5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46" name="Google Shape;546;p5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47" name="Google Shape;547;p50"/>
          <p:cNvGrpSpPr/>
          <p:nvPr/>
        </p:nvGrpSpPr>
        <p:grpSpPr>
          <a:xfrm>
            <a:off x="2100364" y="1348315"/>
            <a:ext cx="281520" cy="241973"/>
            <a:chOff x="5652748" y="4066000"/>
            <a:chExt cx="906498" cy="747974"/>
          </a:xfrm>
        </p:grpSpPr>
        <p:sp>
          <p:nvSpPr>
            <p:cNvPr id="548" name="Google Shape;548;p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 name="Google Shape;549;p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0" name="Google Shape;550;p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51" name="Google Shape;551;p5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52" name="Google Shape;552;p5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53" name="Google Shape;553;p50">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554" name="Google Shape;554;p50">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
        <p:nvSpPr>
          <p:cNvPr id="555" name="Google Shape;555;p50">
            <a:hlinkClick action="ppaction://hlinksldjump" r:id="rId6"/>
          </p:cNvPr>
          <p:cNvSpPr/>
          <p:nvPr/>
        </p:nvSpPr>
        <p:spPr>
          <a:xfrm>
            <a:off x="565902" y="2393118"/>
            <a:ext cx="1395519" cy="2115625"/>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56" name="Google Shape;556;p50">
            <a:hlinkClick action="ppaction://hlinksldjump" r:id="rId7"/>
          </p:cNvPr>
          <p:cNvSpPr/>
          <p:nvPr/>
        </p:nvSpPr>
        <p:spPr>
          <a:xfrm>
            <a:off x="3734907"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Life Time Value</a:t>
            </a:r>
            <a:endParaRPr sz="1000">
              <a:solidFill>
                <a:schemeClr val="dk1"/>
              </a:solidFill>
              <a:latin typeface="Century Gothic"/>
              <a:ea typeface="Century Gothic"/>
              <a:cs typeface="Century Gothic"/>
              <a:sym typeface="Century Gothic"/>
            </a:endParaRPr>
          </a:p>
        </p:txBody>
      </p:sp>
      <p:sp>
        <p:nvSpPr>
          <p:cNvPr id="557" name="Google Shape;557;p50"/>
          <p:cNvSpPr/>
          <p:nvPr/>
        </p:nvSpPr>
        <p:spPr>
          <a:xfrm rot="5400000">
            <a:off x="3721906"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8" name="Google Shape;558;p50">
            <a:hlinkClick action="ppaction://hlinksldjump" r:id="rId8"/>
          </p:cNvPr>
          <p:cNvSpPr/>
          <p:nvPr/>
        </p:nvSpPr>
        <p:spPr>
          <a:xfrm>
            <a:off x="2094914"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Profitable/</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Unprofitable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Customers</a:t>
            </a:r>
            <a:endParaRPr sz="700">
              <a:solidFill>
                <a:schemeClr val="dk1"/>
              </a:solidFill>
              <a:latin typeface="Century Gothic"/>
              <a:ea typeface="Century Gothic"/>
              <a:cs typeface="Century Gothic"/>
              <a:sym typeface="Century Gothic"/>
            </a:endParaRPr>
          </a:p>
        </p:txBody>
      </p:sp>
      <p:sp>
        <p:nvSpPr>
          <p:cNvPr id="559" name="Google Shape;559;p50"/>
          <p:cNvSpPr/>
          <p:nvPr/>
        </p:nvSpPr>
        <p:spPr>
          <a:xfrm rot="5400000">
            <a:off x="2079372"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0" name="Google Shape;560;p50">
            <a:hlinkClick action="ppaction://hlinksldjump" r:id="rId9"/>
          </p:cNvPr>
          <p:cNvSpPr/>
          <p:nvPr/>
        </p:nvSpPr>
        <p:spPr>
          <a:xfrm>
            <a:off x="7010783"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Satisfaction Index</a:t>
            </a:r>
            <a:endParaRPr sz="1000">
              <a:solidFill>
                <a:schemeClr val="dk1"/>
              </a:solidFill>
              <a:latin typeface="Century Gothic"/>
              <a:ea typeface="Century Gothic"/>
              <a:cs typeface="Century Gothic"/>
              <a:sym typeface="Century Gothic"/>
            </a:endParaRPr>
          </a:p>
        </p:txBody>
      </p:sp>
      <p:sp>
        <p:nvSpPr>
          <p:cNvPr id="561" name="Google Shape;561;p50">
            <a:hlinkClick action="ppaction://hlinksldjump" r:id="rId10"/>
          </p:cNvPr>
          <p:cNvSpPr/>
          <p:nvPr/>
        </p:nvSpPr>
        <p:spPr>
          <a:xfrm>
            <a:off x="5375890"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Satisfaction NPS</a:t>
            </a:r>
            <a:endParaRPr sz="1000">
              <a:solidFill>
                <a:schemeClr val="dk1"/>
              </a:solidFill>
              <a:latin typeface="Century Gothic"/>
              <a:ea typeface="Century Gothic"/>
              <a:cs typeface="Century Gothic"/>
              <a:sym typeface="Century Gothic"/>
            </a:endParaRPr>
          </a:p>
        </p:txBody>
      </p:sp>
      <p:sp>
        <p:nvSpPr>
          <p:cNvPr id="562" name="Google Shape;562;p50"/>
          <p:cNvSpPr/>
          <p:nvPr/>
        </p:nvSpPr>
        <p:spPr>
          <a:xfrm rot="5400000">
            <a:off x="5362889"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3" name="Google Shape;563;p50"/>
          <p:cNvSpPr/>
          <p:nvPr/>
        </p:nvSpPr>
        <p:spPr>
          <a:xfrm rot="5400000">
            <a:off x="6994654"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4" name="Google Shape;564;p50">
            <a:hlinkClick action="ppaction://hlinksldjump" r:id="rId11"/>
          </p:cNvPr>
          <p:cNvSpPr/>
          <p:nvPr/>
        </p:nvSpPr>
        <p:spPr>
          <a:xfrm>
            <a:off x="2095501"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Predict Complaint</a:t>
            </a:r>
            <a:endParaRPr sz="700">
              <a:solidFill>
                <a:schemeClr val="dk1"/>
              </a:solidFill>
              <a:latin typeface="Century Gothic"/>
              <a:ea typeface="Century Gothic"/>
              <a:cs typeface="Century Gothic"/>
              <a:sym typeface="Century Gothic"/>
            </a:endParaRPr>
          </a:p>
        </p:txBody>
      </p:sp>
      <p:sp>
        <p:nvSpPr>
          <p:cNvPr id="565" name="Google Shape;565;p50">
            <a:hlinkClick action="ppaction://hlinksldjump" r:id="rId12"/>
          </p:cNvPr>
          <p:cNvSpPr/>
          <p:nvPr/>
        </p:nvSpPr>
        <p:spPr>
          <a:xfrm>
            <a:off x="3740832" y="31364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Broken</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Sub Optimal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Processes</a:t>
            </a:r>
            <a:endParaRPr sz="700">
              <a:solidFill>
                <a:schemeClr val="dk1"/>
              </a:solidFill>
              <a:latin typeface="Century Gothic"/>
              <a:ea typeface="Century Gothic"/>
              <a:cs typeface="Century Gothic"/>
              <a:sym typeface="Century Gothic"/>
            </a:endParaRPr>
          </a:p>
        </p:txBody>
      </p:sp>
      <p:sp>
        <p:nvSpPr>
          <p:cNvPr id="566" name="Google Shape;566;p50"/>
          <p:cNvSpPr/>
          <p:nvPr/>
        </p:nvSpPr>
        <p:spPr>
          <a:xfrm rot="5400000">
            <a:off x="3721906" y="33988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 name="Google Shape;567;p50"/>
          <p:cNvSpPr/>
          <p:nvPr/>
        </p:nvSpPr>
        <p:spPr>
          <a:xfrm rot="5400000">
            <a:off x="2079372" y="338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8" name="Google Shape;568;p50">
            <a:hlinkClick action="ppaction://hlinksldjump" r:id="rId13"/>
          </p:cNvPr>
          <p:cNvSpPr/>
          <p:nvPr/>
        </p:nvSpPr>
        <p:spPr>
          <a:xfrm>
            <a:off x="5375889"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Call Centre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Sentiment</a:t>
            </a:r>
            <a:endParaRPr sz="700">
              <a:solidFill>
                <a:schemeClr val="dk1"/>
              </a:solidFill>
              <a:latin typeface="Century Gothic"/>
              <a:ea typeface="Century Gothic"/>
              <a:cs typeface="Century Gothic"/>
              <a:sym typeface="Century Gothic"/>
            </a:endParaRPr>
          </a:p>
        </p:txBody>
      </p:sp>
      <p:sp>
        <p:nvSpPr>
          <p:cNvPr id="569" name="Google Shape;569;p50"/>
          <p:cNvSpPr/>
          <p:nvPr/>
        </p:nvSpPr>
        <p:spPr>
          <a:xfrm rot="5400000">
            <a:off x="5347203" y="340064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0" name="Google Shape;570;p50">
            <a:hlinkClick action="ppaction://hlinksldjump" r:id="rId14"/>
          </p:cNvPr>
          <p:cNvSpPr/>
          <p:nvPr/>
        </p:nvSpPr>
        <p:spPr>
          <a:xfrm>
            <a:off x="209491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Process Improvement</a:t>
            </a:r>
            <a:endParaRPr sz="1000">
              <a:solidFill>
                <a:schemeClr val="dk1"/>
              </a:solidFill>
              <a:latin typeface="Century Gothic"/>
              <a:ea typeface="Century Gothic"/>
              <a:cs typeface="Century Gothic"/>
              <a:sym typeface="Century Gothic"/>
            </a:endParaRPr>
          </a:p>
        </p:txBody>
      </p:sp>
      <p:sp>
        <p:nvSpPr>
          <p:cNvPr id="571" name="Google Shape;571;p50">
            <a:hlinkClick action="ppaction://hlinksldjump" r:id="rId15"/>
          </p:cNvPr>
          <p:cNvSpPr/>
          <p:nvPr/>
        </p:nvSpPr>
        <p:spPr>
          <a:xfrm>
            <a:off x="7010783"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Transaction Classification</a:t>
            </a:r>
            <a:endParaRPr sz="1000">
              <a:solidFill>
                <a:schemeClr val="dk1"/>
              </a:solidFill>
              <a:latin typeface="Century Gothic"/>
              <a:ea typeface="Century Gothic"/>
              <a:cs typeface="Century Gothic"/>
              <a:sym typeface="Century Gothic"/>
            </a:endParaRPr>
          </a:p>
        </p:txBody>
      </p:sp>
      <p:sp>
        <p:nvSpPr>
          <p:cNvPr id="572" name="Google Shape;572;p50"/>
          <p:cNvSpPr/>
          <p:nvPr/>
        </p:nvSpPr>
        <p:spPr>
          <a:xfrm rot="5400000">
            <a:off x="6994654" y="34051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 name="Google Shape;573;p50"/>
          <p:cNvSpPr/>
          <p:nvPr/>
        </p:nvSpPr>
        <p:spPr>
          <a:xfrm rot="5400000">
            <a:off x="2078528" y="414693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4" name="Google Shape;574;p50">
            <a:hlinkClick action="ppaction://hlinksldjump" r:id="rId16"/>
          </p:cNvPr>
          <p:cNvSpPr/>
          <p:nvPr/>
        </p:nvSpPr>
        <p:spPr>
          <a:xfrm>
            <a:off x="3734906"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Purchase - Event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Based Marketing</a:t>
            </a:r>
            <a:endParaRPr sz="700">
              <a:solidFill>
                <a:schemeClr val="dk1"/>
              </a:solidFill>
              <a:latin typeface="Century Gothic"/>
              <a:ea typeface="Century Gothic"/>
              <a:cs typeface="Century Gothic"/>
              <a:sym typeface="Century Gothic"/>
            </a:endParaRPr>
          </a:p>
        </p:txBody>
      </p:sp>
      <p:sp>
        <p:nvSpPr>
          <p:cNvPr id="575" name="Google Shape;575;p50">
            <a:hlinkClick action="ppaction://hlinksldjump" r:id="rId17"/>
          </p:cNvPr>
          <p:cNvSpPr/>
          <p:nvPr/>
        </p:nvSpPr>
        <p:spPr>
          <a:xfrm>
            <a:off x="5374312"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Journey Analytics</a:t>
            </a:r>
            <a:endParaRPr sz="700">
              <a:solidFill>
                <a:schemeClr val="dk1"/>
              </a:solidFill>
              <a:latin typeface="Century Gothic"/>
              <a:ea typeface="Century Gothic"/>
              <a:cs typeface="Century Gothic"/>
              <a:sym typeface="Century Gothic"/>
            </a:endParaRPr>
          </a:p>
        </p:txBody>
      </p:sp>
      <p:sp>
        <p:nvSpPr>
          <p:cNvPr id="576" name="Google Shape;576;p50"/>
          <p:cNvSpPr/>
          <p:nvPr/>
        </p:nvSpPr>
        <p:spPr>
          <a:xfrm rot="5400000">
            <a:off x="5361311"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 name="Google Shape;577;p50"/>
          <p:cNvSpPr/>
          <p:nvPr/>
        </p:nvSpPr>
        <p:spPr>
          <a:xfrm rot="5400000">
            <a:off x="3718777"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8" name="Google Shape;578;p50">
            <a:hlinkClick action="ppaction://hlinksldjump" r:id="rId18"/>
          </p:cNvPr>
          <p:cNvSpPr/>
          <p:nvPr/>
        </p:nvSpPr>
        <p:spPr>
          <a:xfrm>
            <a:off x="701078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Appointment</a:t>
            </a:r>
            <a:endParaRPr sz="700">
              <a:solidFill>
                <a:schemeClr val="dk1"/>
              </a:solidFill>
              <a:latin typeface="Century Gothic"/>
              <a:ea typeface="Century Gothic"/>
              <a:cs typeface="Century Gothic"/>
              <a:sym typeface="Century Gothic"/>
            </a:endParaRPr>
          </a:p>
        </p:txBody>
      </p:sp>
      <p:sp>
        <p:nvSpPr>
          <p:cNvPr id="579" name="Google Shape;579;p50"/>
          <p:cNvSpPr/>
          <p:nvPr/>
        </p:nvSpPr>
        <p:spPr>
          <a:xfrm rot="5400000">
            <a:off x="6994654" y="41144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0" name="Google Shape;580;p50">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5</a:t>
            </a:r>
            <a:endParaRPr sz="800">
              <a:solidFill>
                <a:srgbClr val="FFFFFF"/>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8" name="Google Shape;588;p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89" name="Google Shape;589;p5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90" name="Google Shape;590;p51"/>
          <p:cNvGrpSpPr/>
          <p:nvPr/>
        </p:nvGrpSpPr>
        <p:grpSpPr>
          <a:xfrm>
            <a:off x="2100364" y="1348315"/>
            <a:ext cx="281520" cy="241973"/>
            <a:chOff x="5652748" y="4066000"/>
            <a:chExt cx="906498" cy="747974"/>
          </a:xfrm>
        </p:grpSpPr>
        <p:sp>
          <p:nvSpPr>
            <p:cNvPr id="591" name="Google Shape;591;p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92" name="Google Shape;592;p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3" name="Google Shape;593;p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94" name="Google Shape;594;p5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95" name="Google Shape;595;p5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96" name="Google Shape;596;p51">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a:p>
        </p:txBody>
      </p:sp>
      <p:sp>
        <p:nvSpPr>
          <p:cNvPr id="598" name="Google Shape;598;p51">
            <a:hlinkClick action="ppaction://hlinksldjump" r:id="rId4"/>
          </p:cNvPr>
          <p:cNvSpPr/>
          <p:nvPr/>
        </p:nvSpPr>
        <p:spPr>
          <a:xfrm>
            <a:off x="565902" y="1683866"/>
            <a:ext cx="1395519" cy="285733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99" name="Google Shape;599;p51"/>
          <p:cNvSpPr/>
          <p:nvPr/>
        </p:nvSpPr>
        <p:spPr>
          <a:xfrm rot="5400000">
            <a:off x="3721906"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0" name="Google Shape;600;p51">
            <a:hlinkClick action="ppaction://hlinksldjump" r:id="rId5"/>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700">
              <a:solidFill>
                <a:schemeClr val="dk1"/>
              </a:solidFill>
              <a:latin typeface="Century Gothic"/>
              <a:ea typeface="Century Gothic"/>
              <a:cs typeface="Century Gothic"/>
              <a:sym typeface="Century Gothic"/>
            </a:endParaRPr>
          </a:p>
        </p:txBody>
      </p:sp>
      <p:sp>
        <p:nvSpPr>
          <p:cNvPr id="601" name="Google Shape;601;p51"/>
          <p:cNvSpPr/>
          <p:nvPr/>
        </p:nvSpPr>
        <p:spPr>
          <a:xfrm rot="5400000">
            <a:off x="3716854"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2" name="Google Shape;602;p51">
            <a:hlinkClick action="ppaction://hlinksldjump" r:id="rId6"/>
          </p:cNvPr>
          <p:cNvSpPr/>
          <p:nvPr/>
        </p:nvSpPr>
        <p:spPr>
          <a:xfrm>
            <a:off x="3734907"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Spending Journey</a:t>
            </a:r>
            <a:endParaRPr sz="700">
              <a:solidFill>
                <a:schemeClr val="dk1"/>
              </a:solidFill>
              <a:latin typeface="Century Gothic"/>
              <a:ea typeface="Century Gothic"/>
              <a:cs typeface="Century Gothic"/>
              <a:sym typeface="Century Gothic"/>
            </a:endParaRPr>
          </a:p>
        </p:txBody>
      </p:sp>
      <p:sp>
        <p:nvSpPr>
          <p:cNvPr id="603" name="Google Shape;603;p51"/>
          <p:cNvSpPr/>
          <p:nvPr/>
        </p:nvSpPr>
        <p:spPr>
          <a:xfrm rot="5400000">
            <a:off x="3716854"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 name="Google Shape;604;p51"/>
          <p:cNvSpPr/>
          <p:nvPr/>
        </p:nvSpPr>
        <p:spPr>
          <a:xfrm rot="5400000">
            <a:off x="2079372"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5" name="Google Shape;605;p51">
            <a:hlinkClick action="ppaction://hlinksldjump" r:id="rId7"/>
          </p:cNvPr>
          <p:cNvSpPr/>
          <p:nvPr/>
        </p:nvSpPr>
        <p:spPr>
          <a:xfrm>
            <a:off x="5372103"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Abandoned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Online Purchase</a:t>
            </a:r>
            <a:endParaRPr sz="1000">
              <a:solidFill>
                <a:schemeClr val="dk1"/>
              </a:solidFill>
              <a:latin typeface="Century Gothic"/>
              <a:ea typeface="Century Gothic"/>
              <a:cs typeface="Century Gothic"/>
              <a:sym typeface="Century Gothic"/>
            </a:endParaRPr>
          </a:p>
        </p:txBody>
      </p:sp>
      <p:sp>
        <p:nvSpPr>
          <p:cNvPr id="606" name="Google Shape;606;p51">
            <a:hlinkClick action="ppaction://hlinksldjump" r:id="rId8"/>
          </p:cNvPr>
          <p:cNvSpPr/>
          <p:nvPr/>
        </p:nvSpPr>
        <p:spPr>
          <a:xfrm>
            <a:off x="373490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Lead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Generation From Branch Notes</a:t>
            </a:r>
            <a:endParaRPr sz="1000">
              <a:solidFill>
                <a:schemeClr val="dk1"/>
              </a:solidFill>
              <a:latin typeface="Century Gothic"/>
              <a:ea typeface="Century Gothic"/>
              <a:cs typeface="Century Gothic"/>
              <a:sym typeface="Century Gothic"/>
            </a:endParaRPr>
          </a:p>
        </p:txBody>
      </p:sp>
      <p:sp>
        <p:nvSpPr>
          <p:cNvPr id="607" name="Google Shape;607;p51">
            <a:hlinkClick action="ppaction://hlinksldjump" r:id="rId9"/>
          </p:cNvPr>
          <p:cNvSpPr/>
          <p:nvPr/>
        </p:nvSpPr>
        <p:spPr>
          <a:xfrm>
            <a:off x="20949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Increase and New ”Win Over”</a:t>
            </a:r>
            <a:endParaRPr sz="1000">
              <a:solidFill>
                <a:schemeClr val="dk1"/>
              </a:solidFill>
              <a:latin typeface="Century Gothic"/>
              <a:ea typeface="Century Gothic"/>
              <a:cs typeface="Century Gothic"/>
              <a:sym typeface="Century Gothic"/>
            </a:endParaRPr>
          </a:p>
        </p:txBody>
      </p:sp>
      <p:sp>
        <p:nvSpPr>
          <p:cNvPr id="608" name="Google Shape;608;p51">
            <a:hlinkClick action="ppaction://hlinksldjump" r:id="rId10"/>
          </p:cNvPr>
          <p:cNvSpPr/>
          <p:nvPr/>
        </p:nvSpPr>
        <p:spPr>
          <a:xfrm>
            <a:off x="7012096" y="166458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Wealth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Proactive Advice</a:t>
            </a:r>
            <a:endParaRPr sz="1000">
              <a:solidFill>
                <a:schemeClr val="dk1"/>
              </a:solidFill>
              <a:latin typeface="Century Gothic"/>
              <a:ea typeface="Century Gothic"/>
              <a:cs typeface="Century Gothic"/>
              <a:sym typeface="Century Gothic"/>
            </a:endParaRPr>
          </a:p>
        </p:txBody>
      </p:sp>
      <p:sp>
        <p:nvSpPr>
          <p:cNvPr id="609" name="Google Shape;609;p51"/>
          <p:cNvSpPr/>
          <p:nvPr/>
        </p:nvSpPr>
        <p:spPr>
          <a:xfrm rot="5400000">
            <a:off x="6999095"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0" name="Google Shape;610;p51"/>
          <p:cNvSpPr/>
          <p:nvPr/>
        </p:nvSpPr>
        <p:spPr>
          <a:xfrm rot="5400000">
            <a:off x="5356561"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 name="Google Shape;611;p51"/>
          <p:cNvSpPr/>
          <p:nvPr/>
        </p:nvSpPr>
        <p:spPr>
          <a:xfrm rot="5400000">
            <a:off x="3718521"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2" name="Google Shape;612;p51">
            <a:hlinkClick action="ppaction://hlinksldjump" r:id="rId11"/>
          </p:cNvPr>
          <p:cNvSpPr/>
          <p:nvPr/>
        </p:nvSpPr>
        <p:spPr>
          <a:xfrm>
            <a:off x="5372690" y="24526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Potential Money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To Retain</a:t>
            </a:r>
            <a:endParaRPr sz="700">
              <a:solidFill>
                <a:schemeClr val="dk1"/>
              </a:solidFill>
              <a:latin typeface="Century Gothic"/>
              <a:ea typeface="Century Gothic"/>
              <a:cs typeface="Century Gothic"/>
              <a:sym typeface="Century Gothic"/>
            </a:endParaRPr>
          </a:p>
        </p:txBody>
      </p:sp>
      <p:sp>
        <p:nvSpPr>
          <p:cNvPr id="613" name="Google Shape;613;p51"/>
          <p:cNvSpPr/>
          <p:nvPr/>
        </p:nvSpPr>
        <p:spPr>
          <a:xfrm rot="5400000">
            <a:off x="5356561" y="26986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4" name="Google Shape;614;p51"/>
          <p:cNvSpPr/>
          <p:nvPr/>
        </p:nvSpPr>
        <p:spPr>
          <a:xfrm rot="5400000">
            <a:off x="7004127" y="269609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5" name="Google Shape;615;p51">
            <a:hlinkClick action="ppaction://hlinksldjump" r:id="rId12"/>
          </p:cNvPr>
          <p:cNvSpPr/>
          <p:nvPr/>
        </p:nvSpPr>
        <p:spPr>
          <a:xfrm>
            <a:off x="701522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Investor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Segmentation</a:t>
            </a:r>
            <a:endParaRPr sz="700">
              <a:solidFill>
                <a:schemeClr val="dk1"/>
              </a:solidFill>
              <a:latin typeface="Century Gothic"/>
              <a:ea typeface="Century Gothic"/>
              <a:cs typeface="Century Gothic"/>
              <a:sym typeface="Century Gothic"/>
            </a:endParaRPr>
          </a:p>
        </p:txBody>
      </p:sp>
      <p:sp>
        <p:nvSpPr>
          <p:cNvPr id="616" name="Google Shape;616;p51"/>
          <p:cNvSpPr/>
          <p:nvPr/>
        </p:nvSpPr>
        <p:spPr>
          <a:xfrm rot="5400000">
            <a:off x="7004127" y="268253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 name="Google Shape;617;p51">
            <a:hlinkClick action="ppaction://hlinksldjump" r:id="rId13"/>
          </p:cNvPr>
          <p:cNvSpPr/>
          <p:nvPr/>
        </p:nvSpPr>
        <p:spPr>
          <a:xfrm>
            <a:off x="5380349"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People Like Me</a:t>
            </a:r>
            <a:endParaRPr sz="700">
              <a:solidFill>
                <a:schemeClr val="dk1"/>
              </a:solidFill>
              <a:latin typeface="Century Gothic"/>
              <a:ea typeface="Century Gothic"/>
              <a:cs typeface="Century Gothic"/>
              <a:sym typeface="Century Gothic"/>
            </a:endParaRPr>
          </a:p>
        </p:txBody>
      </p:sp>
      <p:sp>
        <p:nvSpPr>
          <p:cNvPr id="618" name="Google Shape;618;p51">
            <a:hlinkClick action="ppaction://hlinksldjump" r:id="rId14"/>
          </p:cNvPr>
          <p:cNvSpPr/>
          <p:nvPr/>
        </p:nvSpPr>
        <p:spPr>
          <a:xfrm>
            <a:off x="375911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Credit/Debit Card Spend Stimulation</a:t>
            </a:r>
            <a:endParaRPr sz="700">
              <a:solidFill>
                <a:schemeClr val="dk1"/>
              </a:solidFill>
              <a:latin typeface="Century Gothic"/>
              <a:ea typeface="Century Gothic"/>
              <a:cs typeface="Century Gothic"/>
              <a:sym typeface="Century Gothic"/>
            </a:endParaRPr>
          </a:p>
        </p:txBody>
      </p:sp>
      <p:sp>
        <p:nvSpPr>
          <p:cNvPr id="619" name="Google Shape;619;p51">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‘Hidden’ Individual Business Owners</a:t>
            </a:r>
            <a:endParaRPr sz="700">
              <a:solidFill>
                <a:schemeClr val="dk1"/>
              </a:solidFill>
              <a:latin typeface="Century Gothic"/>
              <a:ea typeface="Century Gothic"/>
              <a:cs typeface="Century Gothic"/>
              <a:sym typeface="Century Gothic"/>
            </a:endParaRPr>
          </a:p>
        </p:txBody>
      </p:sp>
      <p:sp>
        <p:nvSpPr>
          <p:cNvPr id="620" name="Google Shape;620;p51"/>
          <p:cNvSpPr/>
          <p:nvPr/>
        </p:nvSpPr>
        <p:spPr>
          <a:xfrm rot="5400000">
            <a:off x="3742983"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1" name="Google Shape;621;p51"/>
          <p:cNvSpPr/>
          <p:nvPr/>
        </p:nvSpPr>
        <p:spPr>
          <a:xfrm rot="5400000">
            <a:off x="5367908"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 name="Google Shape;622;p51"/>
          <p:cNvSpPr/>
          <p:nvPr/>
        </p:nvSpPr>
        <p:spPr>
          <a:xfrm rot="5400000">
            <a:off x="2084235"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3" name="Google Shape;623;p51">
            <a:hlinkClick action="ppaction://hlinksldjump" r:id="rId16"/>
          </p:cNvPr>
          <p:cNvSpPr/>
          <p:nvPr/>
        </p:nvSpPr>
        <p:spPr>
          <a:xfrm>
            <a:off x="2094912"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Hidden ‘Preferred’ Customers</a:t>
            </a:r>
            <a:endParaRPr sz="1000">
              <a:solidFill>
                <a:schemeClr val="dk1"/>
              </a:solidFill>
              <a:latin typeface="Century Gothic"/>
              <a:ea typeface="Century Gothic"/>
              <a:cs typeface="Century Gothic"/>
              <a:sym typeface="Century Gothic"/>
            </a:endParaRPr>
          </a:p>
        </p:txBody>
      </p:sp>
      <p:sp>
        <p:nvSpPr>
          <p:cNvPr id="624" name="Google Shape;624;p51"/>
          <p:cNvSpPr/>
          <p:nvPr/>
        </p:nvSpPr>
        <p:spPr>
          <a:xfrm rot="5400000">
            <a:off x="2081911" y="417700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 name="Google Shape;625;p51">
            <a:hlinkClick action="ppaction://hlinksldjump" r:id="rId17"/>
          </p:cNvPr>
          <p:cNvSpPr/>
          <p:nvPr/>
        </p:nvSpPr>
        <p:spPr>
          <a:xfrm>
            <a:off x="7012095"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Attitudinal Segmentation</a:t>
            </a:r>
            <a:endParaRPr sz="700">
              <a:solidFill>
                <a:schemeClr val="dk1"/>
              </a:solidFill>
              <a:latin typeface="Century Gothic"/>
              <a:ea typeface="Century Gothic"/>
              <a:cs typeface="Century Gothic"/>
              <a:sym typeface="Century Gothic"/>
            </a:endParaRPr>
          </a:p>
        </p:txBody>
      </p:sp>
      <p:sp>
        <p:nvSpPr>
          <p:cNvPr id="626" name="Google Shape;626;p51"/>
          <p:cNvSpPr/>
          <p:nvPr/>
        </p:nvSpPr>
        <p:spPr>
          <a:xfrm rot="5400000">
            <a:off x="6996553" y="34533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7" name="Google Shape;627;p51">
            <a:hlinkClick action="ppaction://hlinksldjump" r:id="rId18"/>
          </p:cNvPr>
          <p:cNvSpPr/>
          <p:nvPr/>
        </p:nvSpPr>
        <p:spPr>
          <a:xfrm>
            <a:off x="5374899"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Driven Potential Value”</a:t>
            </a:r>
            <a:endParaRPr sz="1000">
              <a:solidFill>
                <a:schemeClr val="dk1"/>
              </a:solidFill>
              <a:latin typeface="Century Gothic"/>
              <a:ea typeface="Century Gothic"/>
              <a:cs typeface="Century Gothic"/>
              <a:sym typeface="Century Gothic"/>
            </a:endParaRPr>
          </a:p>
        </p:txBody>
      </p:sp>
      <p:sp>
        <p:nvSpPr>
          <p:cNvPr id="628" name="Google Shape;628;p51"/>
          <p:cNvSpPr/>
          <p:nvPr/>
        </p:nvSpPr>
        <p:spPr>
          <a:xfrm rot="5400000">
            <a:off x="5355973"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 name="Google Shape;629;p51">
            <a:hlinkClick action="ppaction://hlinksldjump" r:id="rId19"/>
          </p:cNvPr>
          <p:cNvSpPr/>
          <p:nvPr/>
        </p:nvSpPr>
        <p:spPr>
          <a:xfrm>
            <a:off x="3734907"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Propensity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Modeling</a:t>
            </a:r>
            <a:endParaRPr sz="1000">
              <a:solidFill>
                <a:schemeClr val="dk1"/>
              </a:solidFill>
              <a:latin typeface="Century Gothic"/>
              <a:ea typeface="Century Gothic"/>
              <a:cs typeface="Century Gothic"/>
              <a:sym typeface="Century Gothic"/>
            </a:endParaRPr>
          </a:p>
        </p:txBody>
      </p:sp>
      <p:sp>
        <p:nvSpPr>
          <p:cNvPr id="630" name="Google Shape;630;p51"/>
          <p:cNvSpPr/>
          <p:nvPr/>
        </p:nvSpPr>
        <p:spPr>
          <a:xfrm rot="5400000">
            <a:off x="3721906"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 name="Google Shape;631;p51">
            <a:hlinkClick action="ppaction://hlinksldjump" r:id="rId20"/>
          </p:cNvPr>
          <p:cNvSpPr/>
          <p:nvPr/>
        </p:nvSpPr>
        <p:spPr>
          <a:xfrm>
            <a:off x="7012094"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Network Analysis</a:t>
            </a:r>
            <a:endParaRPr sz="700">
              <a:solidFill>
                <a:schemeClr val="dk1"/>
              </a:solidFill>
              <a:latin typeface="Century Gothic"/>
              <a:ea typeface="Century Gothic"/>
              <a:cs typeface="Century Gothic"/>
              <a:sym typeface="Century Gothic"/>
            </a:endParaRPr>
          </a:p>
        </p:txBody>
      </p:sp>
      <p:sp>
        <p:nvSpPr>
          <p:cNvPr id="632" name="Google Shape;632;p51"/>
          <p:cNvSpPr/>
          <p:nvPr/>
        </p:nvSpPr>
        <p:spPr>
          <a:xfrm rot="5400000">
            <a:off x="6995965" y="417366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 name="Google Shape;633;p51"/>
          <p:cNvSpPr/>
          <p:nvPr/>
        </p:nvSpPr>
        <p:spPr>
          <a:xfrm rot="5400000">
            <a:off x="2078784"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 name="Google Shape;634;p51">
            <a:hlinkClick action="ppaction://hlinksldjump" r:id="rId2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sz="800">
              <a:solidFill>
                <a:srgbClr val="FFFFFF"/>
              </a:solidFill>
              <a:latin typeface="Century Gothic"/>
              <a:ea typeface="Century Gothic"/>
              <a:cs typeface="Century Gothic"/>
              <a:sym typeface="Century Gothic"/>
            </a:endParaRPr>
          </a:p>
        </p:txBody>
      </p:sp>
      <p:sp>
        <p:nvSpPr>
          <p:cNvPr id="636" name="Google Shape;636;p51">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pic>
        <p:nvPicPr>
          <p:cNvPr descr="COM-1008-L.jpg" id="771" name="Google Shape;771;p5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72" name="Google Shape;772;p55"/>
          <p:cNvSpPr txBox="1"/>
          <p:nvPr>
            <p:ph idx="1" type="body"/>
          </p:nvPr>
        </p:nvSpPr>
        <p:spPr>
          <a:xfrm>
            <a:off x="455485" y="2133600"/>
            <a:ext cx="4662784"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110000"/>
              </a:lnSpc>
              <a:spcBef>
                <a:spcPts val="800"/>
              </a:spcBef>
              <a:spcAft>
                <a:spcPts val="0"/>
              </a:spcAft>
              <a:buClr>
                <a:schemeClr val="dk1"/>
              </a:buClr>
              <a:buSzPts val="1200"/>
              <a:buChar char="•"/>
            </a:pPr>
            <a:r>
              <a:rPr lang="en-GB" sz="1200"/>
              <a:t>Companies today are under increasing competitive pressure impacting their sales and margins as  Customers seek better price, quality and service</a:t>
            </a:r>
            <a:endParaRPr sz="1200"/>
          </a:p>
          <a:p>
            <a:pPr indent="-169863" lvl="0" marL="169863" rtl="0" algn="l">
              <a:lnSpc>
                <a:spcPct val="95000"/>
              </a:lnSpc>
              <a:spcBef>
                <a:spcPts val="200"/>
              </a:spcBef>
              <a:spcAft>
                <a:spcPts val="0"/>
              </a:spcAft>
              <a:buClr>
                <a:schemeClr val="dk1"/>
              </a:buClr>
              <a:buSzPts val="1200"/>
              <a:buChar char="•"/>
            </a:pPr>
            <a:r>
              <a:rPr lang="en-GB" sz="1200"/>
              <a:t>Companies are recognizing that to achieve sustained growth , they must  not only acquire customers but also understand their customers’ needs and wants to optimize customer experience and develop long term relationships</a:t>
            </a:r>
            <a:endParaRPr/>
          </a:p>
          <a:p>
            <a:pPr indent="-169863" lvl="0" marL="169863" rtl="0" algn="l">
              <a:lnSpc>
                <a:spcPct val="95000"/>
              </a:lnSpc>
              <a:spcBef>
                <a:spcPts val="600"/>
              </a:spcBef>
              <a:spcAft>
                <a:spcPts val="0"/>
              </a:spcAft>
              <a:buClr>
                <a:schemeClr val="dk1"/>
              </a:buClr>
              <a:buSzPts val="1200"/>
              <a:buChar char="•"/>
            </a:pPr>
            <a:r>
              <a:rPr lang="en-GB" sz="1200"/>
              <a:t>Customers expect companies to know them, make interactions relevant, and provide an easy, consistent, seamless experience across touch points</a:t>
            </a:r>
            <a:endParaRPr/>
          </a:p>
          <a:p>
            <a:pPr indent="-93663" lvl="0" marL="169863" rtl="0" algn="l">
              <a:lnSpc>
                <a:spcPct val="95000"/>
              </a:lnSpc>
              <a:spcBef>
                <a:spcPts val="600"/>
              </a:spcBef>
              <a:spcAft>
                <a:spcPts val="0"/>
              </a:spcAft>
              <a:buClr>
                <a:schemeClr val="dk1"/>
              </a:buClr>
              <a:buSzPts val="1200"/>
              <a:buNone/>
            </a:pPr>
            <a:r>
              <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773" name="Google Shape;773;p5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74" name="Google Shape;774;p55"/>
          <p:cNvSpPr/>
          <p:nvPr/>
        </p:nvSpPr>
        <p:spPr>
          <a:xfrm>
            <a:off x="1" y="914400"/>
            <a:ext cx="7205662" cy="1016000"/>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designing and managing Customer interactions  across all touch points to deliver a relevant, seamless experience that increases Customer satisfaction while driving revenue and marketing effectiveness </a:t>
            </a:r>
            <a:endParaRPr b="0" i="0" sz="1400" u="none" cap="none" strike="noStrike">
              <a:solidFill>
                <a:schemeClr val="lt1"/>
              </a:solidFill>
              <a:latin typeface="Century Gothic"/>
              <a:ea typeface="Century Gothic"/>
              <a:cs typeface="Century Gothic"/>
              <a:sym typeface="Century Gothic"/>
            </a:endParaRPr>
          </a:p>
        </p:txBody>
      </p:sp>
      <p:sp>
        <p:nvSpPr>
          <p:cNvPr id="775" name="Google Shape;775;p5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descr="COM-1013-L.jpg" id="873" name="Google Shape;873;p65"/>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74" name="Google Shape;874;p65"/>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Customers expect that companies know them across touch points. Companies need to capture and reconcile multiple customer identifiers such as cell phone, email, address, to one single customer ID.</a:t>
            </a:r>
            <a:endParaRPr/>
          </a:p>
          <a:p>
            <a:pPr indent="-169863" lvl="0" marL="169863" rtl="0" algn="l">
              <a:lnSpc>
                <a:spcPct val="95000"/>
              </a:lnSpc>
              <a:spcBef>
                <a:spcPts val="600"/>
              </a:spcBef>
              <a:spcAft>
                <a:spcPts val="0"/>
              </a:spcAft>
              <a:buClr>
                <a:schemeClr val="dk1"/>
              </a:buClr>
              <a:buSzPts val="1200"/>
              <a:buChar char="•"/>
            </a:pPr>
            <a:r>
              <a:rPr lang="en-GB" sz="1200"/>
              <a:t>Customers are increasingly using multiple channels in their interactions with companies and both traditional and digital data sources must be brought together to understand customers’ behaviors and needs</a:t>
            </a:r>
            <a:endParaRPr/>
          </a:p>
          <a:p>
            <a:pPr indent="-169863" lvl="0" marL="169863" rtl="0" algn="l">
              <a:lnSpc>
                <a:spcPct val="95000"/>
              </a:lnSpc>
              <a:spcBef>
                <a:spcPts val="600"/>
              </a:spcBef>
              <a:spcAft>
                <a:spcPts val="0"/>
              </a:spcAft>
              <a:buClr>
                <a:schemeClr val="dk1"/>
              </a:buClr>
              <a:buSzPts val="1200"/>
              <a:buChar char="•"/>
            </a:pPr>
            <a:r>
              <a:rPr lang="en-GB" sz="1200"/>
              <a:t>Customers expect and companies need to deliver real-time, contextually relevant experiences</a:t>
            </a:r>
            <a:endParaRPr sz="1200"/>
          </a:p>
        </p:txBody>
      </p:sp>
      <p:sp>
        <p:nvSpPr>
          <p:cNvPr id="875" name="Google Shape;875;p65"/>
          <p:cNvSpPr txBox="1"/>
          <p:nvPr>
            <p:ph type="title"/>
          </p:nvPr>
        </p:nvSpPr>
        <p:spPr>
          <a:xfrm>
            <a:off x="127987" y="174273"/>
            <a:ext cx="5435240" cy="44324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sp>
        <p:nvSpPr>
          <p:cNvPr id="876" name="Google Shape;876;p65"/>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The process of capturing all available data sources across channels to create a detailed 360 view of Customers in order to gain insights into individual Customers preferences and behaviors</a:t>
            </a:r>
            <a:endParaRPr b="0" i="0" sz="1600" u="none" cap="none" strike="noStrike">
              <a:solidFill>
                <a:schemeClr val="lt1"/>
              </a:solidFill>
              <a:latin typeface="Century Gothic"/>
              <a:ea typeface="Century Gothic"/>
              <a:cs typeface="Century Gothic"/>
              <a:sym typeface="Century Gothic"/>
            </a:endParaRPr>
          </a:p>
        </p:txBody>
      </p:sp>
      <p:sp>
        <p:nvSpPr>
          <p:cNvPr id="877" name="Google Shape;877;p6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aphicFrame>
        <p:nvGraphicFramePr>
          <p:cNvPr id="891" name="Google Shape;891;p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u="none" cap="none" strike="noStrike">
                          <a:solidFill>
                            <a:schemeClr val="dk2"/>
                          </a:solidFill>
                        </a:rPr>
                        <a:t>Business Objectives</a:t>
                      </a:r>
                      <a:endParaRPr b="1" sz="1400" u="none" cap="none" strike="noStrike">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Create a single view of the customer across the organisation</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Effectively manage customer relationships through a single customer view across business units, brands, channels and third party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Extend the single customer view to include identifiers across digital channels such as social media or non-authenticated websites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Measure the depth and value of the entire customer relationship </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Understand household customer relationships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Treat customers consistently across  brands and channels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u="none" cap="none" strike="noStrike">
                          <a:solidFill>
                            <a:schemeClr val="dk2"/>
                          </a:solidFill>
                          <a:latin typeface="Century Gothic"/>
                          <a:ea typeface="Century Gothic"/>
                          <a:cs typeface="Century Gothic"/>
                          <a:sym typeface="Century Gothic"/>
                        </a:rPr>
                        <a:t>Data &amp; Solution</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u="none" cap="none" strike="noStrike">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 channel,</a:t>
                      </a:r>
                      <a:r>
                        <a:rPr b="0" lang="en-GB" sz="900">
                          <a:solidFill>
                            <a:schemeClr val="dk1"/>
                          </a:solidFill>
                        </a:rPr>
                        <a:t> transactional</a:t>
                      </a:r>
                      <a:r>
                        <a:rPr b="0" lang="en-GB" sz="900">
                          <a:solidFill>
                            <a:schemeClr val="dk1"/>
                          </a:solidFill>
                        </a:rPr>
                        <a:t>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Master customer record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Inter party relationships between personal and business parties / individuals and households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Non-personal online identity data such as cookie / device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Enterprise data model with well defined subject areas to allow consistent storage of integrated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quality monitoring of core customer data items to ensure accuracy of cross-match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Extended matching process to link identity of customer in Non PII channels such social media and non authenticated web sites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pool of customers for personalized interactions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targeting of cross sell / up-sell offers through a more complete view of the customer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understanding of brand preference and affinity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cannibalisation and churn of existing product holdings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an extended set of 1:1 targeted distribution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Pre-requisite building block to create single view of customer interactions across the organisation and touch points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892" name="Google Shape;892;p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893" name="Google Shape;893;p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p>
        </p:txBody>
      </p:sp>
      <p:grpSp>
        <p:nvGrpSpPr>
          <p:cNvPr id="894" name="Google Shape;894;p67"/>
          <p:cNvGrpSpPr/>
          <p:nvPr/>
        </p:nvGrpSpPr>
        <p:grpSpPr>
          <a:xfrm>
            <a:off x="7717533" y="4360377"/>
            <a:ext cx="1058348" cy="347375"/>
            <a:chOff x="7651698" y="4287227"/>
            <a:chExt cx="1058348" cy="347375"/>
          </a:xfrm>
        </p:grpSpPr>
        <p:grpSp>
          <p:nvGrpSpPr>
            <p:cNvPr id="895" name="Google Shape;895;p67"/>
            <p:cNvGrpSpPr/>
            <p:nvPr/>
          </p:nvGrpSpPr>
          <p:grpSpPr>
            <a:xfrm>
              <a:off x="7714163" y="4337598"/>
              <a:ext cx="995883" cy="297004"/>
              <a:chOff x="7711013" y="3986494"/>
              <a:chExt cx="995883" cy="297004"/>
            </a:xfrm>
          </p:grpSpPr>
          <p:sp>
            <p:nvSpPr>
              <p:cNvPr id="896" name="Google Shape;896;p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7" name="Google Shape;897;p67"/>
              <p:cNvGrpSpPr/>
              <p:nvPr/>
            </p:nvGrpSpPr>
            <p:grpSpPr>
              <a:xfrm>
                <a:off x="7711013" y="4002615"/>
                <a:ext cx="281520" cy="241973"/>
                <a:chOff x="5652748" y="4066000"/>
                <a:chExt cx="906498" cy="747974"/>
              </a:xfrm>
            </p:grpSpPr>
            <p:sp>
              <p:nvSpPr>
                <p:cNvPr id="898" name="Google Shape;898;p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9" name="Google Shape;899;p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 name="Google Shape;900;p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01" name="Google Shape;901;p67">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02" name="Google Shape;902;p6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pic>
        <p:nvPicPr>
          <p:cNvPr id="903" name="Google Shape;903;p67"/>
          <p:cNvPicPr preferRelativeResize="0"/>
          <p:nvPr/>
        </p:nvPicPr>
        <p:blipFill rotWithShape="1">
          <a:blip r:embed="rId5">
            <a:alphaModFix/>
          </a:blip>
          <a:srcRect b="0" l="0" r="0" t="0"/>
          <a:stretch/>
        </p:blipFill>
        <p:spPr>
          <a:xfrm>
            <a:off x="6666624" y="205782"/>
            <a:ext cx="2457450" cy="153670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graphicFrame>
        <p:nvGraphicFramePr>
          <p:cNvPr id="923" name="Google Shape;923;p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robust</a:t>
                      </a:r>
                      <a:r>
                        <a:rPr b="1" lang="en-GB" sz="900">
                          <a:solidFill>
                            <a:schemeClr val="dk1"/>
                          </a:solidFill>
                        </a:rPr>
                        <a:t> 360 view of the customer across all channels and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and infer customer  attributes,</a:t>
                      </a:r>
                      <a:r>
                        <a:rPr b="0" lang="en-GB" sz="900">
                          <a:solidFill>
                            <a:schemeClr val="dk1"/>
                          </a:solidFill>
                        </a:rPr>
                        <a:t> </a:t>
                      </a:r>
                      <a:r>
                        <a:rPr b="0" lang="en-GB" sz="900">
                          <a:solidFill>
                            <a:schemeClr val="dk1"/>
                          </a:solidFill>
                        </a:rPr>
                        <a:t>experience ,wants and</a:t>
                      </a:r>
                      <a:r>
                        <a:rPr b="0" lang="en-GB" sz="900">
                          <a:solidFill>
                            <a:schemeClr val="dk1"/>
                          </a:solidFill>
                        </a:rPr>
                        <a:t> likes based on factual data about a customer’s interaction through different business lines and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Inferred demand and interest groups the customer may belong to, based on availability of connection data and behavioural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Create a rich set of  customer interactions/events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holistic customer relationships, offers and track drivers for customer making decisions across different business lines and in the context of a community</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Detailed customer, product, channel</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interactions /events across touch points </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Text</a:t>
                      </a:r>
                      <a:r>
                        <a:rPr b="0" lang="en-GB" sz="900">
                          <a:solidFill>
                            <a:schemeClr val="dk1"/>
                          </a:solidFill>
                        </a:rPr>
                        <a:t> data from reviews, email, call logs and social media</a:t>
                      </a:r>
                      <a:endParaRPr b="0" sz="900">
                        <a:solidFill>
                          <a:schemeClr val="dk1"/>
                        </a:solidFill>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 data where available (interactions between customers) and natural groupings of customers based on expressed interests-user</a:t>
                      </a:r>
                      <a:r>
                        <a:rPr b="0" lang="en-GB" sz="900">
                          <a:solidFill>
                            <a:schemeClr val="dk1"/>
                          </a:solidFill>
                        </a:rPr>
                        <a:t> profiles, etc.</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All forms of classification ,</a:t>
                      </a:r>
                      <a:r>
                        <a:rPr b="0" lang="en-GB" sz="900">
                          <a:solidFill>
                            <a:schemeClr val="dk1"/>
                          </a:solidFill>
                        </a:rPr>
                        <a:t> </a:t>
                      </a:r>
                      <a:r>
                        <a:rPr b="0" lang="en-GB" sz="900">
                          <a:solidFill>
                            <a:schemeClr val="dk1"/>
                          </a:solidFill>
                        </a:rPr>
                        <a:t>clustering and segmentation</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a:t>
                      </a:r>
                      <a:r>
                        <a:rPr b="0" lang="en-GB" sz="900">
                          <a:solidFill>
                            <a:schemeClr val="dk1"/>
                          </a:solidFill>
                        </a:rPr>
                        <a: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journey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Path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Sentiment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Predictive modeling and scoring</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accurate measurement of the depth and value of the entire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of customer interactions across channels and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Deeper understanding of customers decisions, needs and journeys to   tailor  relationship and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Predictive satisfaction levels and root causes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Customer experiences and influence across lines of business (e.g. A bad experience with the service provided at the home affects the individual’s perception when deciding for his company, etc.)</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Tailored marketing plans and communication</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 aimed at individuals and communities or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groups with common interests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Product design for groups joined by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nearness and common interests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924" name="Google Shape;924;p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5" name="Google Shape;925;p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p>
        </p:txBody>
      </p:sp>
      <p:pic>
        <p:nvPicPr>
          <p:cNvPr id="926" name="Google Shape;926;p69"/>
          <p:cNvPicPr preferRelativeResize="0"/>
          <p:nvPr/>
        </p:nvPicPr>
        <p:blipFill rotWithShape="1">
          <a:blip r:embed="rId3">
            <a:alphaModFix/>
          </a:blip>
          <a:srcRect b="0" l="0" r="0" t="0"/>
          <a:stretch/>
        </p:blipFill>
        <p:spPr>
          <a:xfrm>
            <a:off x="6666624" y="205782"/>
            <a:ext cx="2457450" cy="1536700"/>
          </a:xfrm>
          <a:prstGeom prst="rect">
            <a:avLst/>
          </a:prstGeom>
          <a:noFill/>
          <a:ln>
            <a:noFill/>
          </a:ln>
        </p:spPr>
      </p:pic>
      <p:sp>
        <p:nvSpPr>
          <p:cNvPr id="927" name="Google Shape;927;p6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grpSp>
        <p:nvGrpSpPr>
          <p:cNvPr id="928" name="Google Shape;928;p69"/>
          <p:cNvGrpSpPr/>
          <p:nvPr/>
        </p:nvGrpSpPr>
        <p:grpSpPr>
          <a:xfrm>
            <a:off x="7717533" y="4360377"/>
            <a:ext cx="1058348" cy="347375"/>
            <a:chOff x="7651698" y="4287227"/>
            <a:chExt cx="1058348" cy="347375"/>
          </a:xfrm>
        </p:grpSpPr>
        <p:grpSp>
          <p:nvGrpSpPr>
            <p:cNvPr id="929" name="Google Shape;929;p69"/>
            <p:cNvGrpSpPr/>
            <p:nvPr/>
          </p:nvGrpSpPr>
          <p:grpSpPr>
            <a:xfrm>
              <a:off x="7714163" y="4337598"/>
              <a:ext cx="995883" cy="297004"/>
              <a:chOff x="7711013" y="3986494"/>
              <a:chExt cx="995883" cy="297004"/>
            </a:xfrm>
          </p:grpSpPr>
          <p:sp>
            <p:nvSpPr>
              <p:cNvPr id="930" name="Google Shape;930;p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1" name="Google Shape;931;p69"/>
              <p:cNvGrpSpPr/>
              <p:nvPr/>
            </p:nvGrpSpPr>
            <p:grpSpPr>
              <a:xfrm>
                <a:off x="7711013" y="4002615"/>
                <a:ext cx="281520" cy="241973"/>
                <a:chOff x="5652748" y="4066000"/>
                <a:chExt cx="906498" cy="747974"/>
              </a:xfrm>
            </p:grpSpPr>
            <p:sp>
              <p:nvSpPr>
                <p:cNvPr id="932" name="Google Shape;932;p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3" name="Google Shape;933;p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4" name="Google Shape;934;p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5" name="Google Shape;935;p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pic>
        <p:nvPicPr>
          <p:cNvPr descr="COM-1010-L.jpg" id="954" name="Google Shape;954;p71"/>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55" name="Google Shape;955;p71"/>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Creates competitive advantage with unique customer insights  to drive interactions with customers</a:t>
            </a:r>
            <a:endParaRPr sz="1200"/>
          </a:p>
          <a:p>
            <a:pPr indent="-169863" lvl="0" marL="169863" rtl="0" algn="l">
              <a:lnSpc>
                <a:spcPct val="95000"/>
              </a:lnSpc>
              <a:spcBef>
                <a:spcPts val="600"/>
              </a:spcBef>
              <a:spcAft>
                <a:spcPts val="0"/>
              </a:spcAft>
              <a:buClr>
                <a:schemeClr val="dk1"/>
              </a:buClr>
              <a:buSzPts val="1200"/>
              <a:buChar char="•"/>
            </a:pPr>
            <a:r>
              <a:rPr lang="en-GB" sz="1200"/>
              <a:t>Enables increased personalization, relevance and real time messaging</a:t>
            </a:r>
            <a:endParaRPr/>
          </a:p>
          <a:p>
            <a:pPr indent="-169863" lvl="0" marL="169863" rtl="0" algn="l">
              <a:lnSpc>
                <a:spcPct val="95000"/>
              </a:lnSpc>
              <a:spcBef>
                <a:spcPts val="600"/>
              </a:spcBef>
              <a:spcAft>
                <a:spcPts val="0"/>
              </a:spcAft>
              <a:buClr>
                <a:schemeClr val="dk1"/>
              </a:buClr>
              <a:buSzPts val="1200"/>
              <a:buChar char="•"/>
            </a:pPr>
            <a:r>
              <a:rPr lang="en-GB" sz="1200"/>
              <a:t>Provides comprehensive insights to improve both customer interactions and internal processes</a:t>
            </a:r>
            <a:endParaRPr/>
          </a:p>
          <a:p>
            <a:pPr indent="-169863" lvl="0" marL="169863" rtl="0" algn="l">
              <a:lnSpc>
                <a:spcPct val="95000"/>
              </a:lnSpc>
              <a:spcBef>
                <a:spcPts val="600"/>
              </a:spcBef>
              <a:spcAft>
                <a:spcPts val="0"/>
              </a:spcAft>
              <a:buClr>
                <a:schemeClr val="dk1"/>
              </a:buClr>
              <a:buSzPts val="1200"/>
              <a:buChar char="•"/>
            </a:pPr>
            <a:r>
              <a:rPr lang="en-GB" sz="1200"/>
              <a:t>Provides a view of customer behaviors and ‘events’ across channels and over time to analyze customer journeys</a:t>
            </a:r>
            <a:endParaRPr/>
          </a:p>
          <a:p>
            <a:pPr indent="-169863" lvl="0" marL="169863" rtl="0" algn="l">
              <a:lnSpc>
                <a:spcPct val="95000"/>
              </a:lnSpc>
              <a:spcBef>
                <a:spcPts val="600"/>
              </a:spcBef>
              <a:spcAft>
                <a:spcPts val="0"/>
              </a:spcAft>
              <a:buClr>
                <a:schemeClr val="dk1"/>
              </a:buClr>
              <a:buSzPts val="1200"/>
              <a:buChar char="•"/>
            </a:pPr>
            <a:r>
              <a:rPr lang="en-GB" sz="1200"/>
              <a:t>Improves customer experience and satisfaction</a:t>
            </a:r>
            <a:endParaRPr/>
          </a:p>
          <a:p>
            <a:pPr indent="-93663" lvl="0" marL="169863" rtl="0" algn="l">
              <a:lnSpc>
                <a:spcPct val="95000"/>
              </a:lnSpc>
              <a:spcBef>
                <a:spcPts val="600"/>
              </a:spcBef>
              <a:spcAft>
                <a:spcPts val="0"/>
              </a:spcAft>
              <a:buClr>
                <a:schemeClr val="dk1"/>
              </a:buClr>
              <a:buSzPts val="1200"/>
              <a:buNone/>
            </a:pPr>
            <a:r>
              <a:t/>
            </a:r>
            <a:endParaRPr sz="1200"/>
          </a:p>
        </p:txBody>
      </p:sp>
      <p:sp>
        <p:nvSpPr>
          <p:cNvPr id="956" name="Google Shape;956;p71"/>
          <p:cNvSpPr txBox="1"/>
          <p:nvPr>
            <p:ph type="title"/>
          </p:nvPr>
        </p:nvSpPr>
        <p:spPr>
          <a:xfrm>
            <a:off x="127987"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br>
              <a:rPr lang="en-GB"/>
            </a:br>
            <a:endParaRPr/>
          </a:p>
        </p:txBody>
      </p:sp>
      <p:sp>
        <p:nvSpPr>
          <p:cNvPr id="957" name="Google Shape;957;p71"/>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572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Utilize advanced and multi-genre analytics to drive new Customer insights into behaviors, experiences, journeys over time and satisfaction. Leverage these new insights to drive customer interaction</a:t>
            </a:r>
            <a:endParaRPr b="0" i="0" sz="1600" u="none" cap="none" strike="noStrike">
              <a:solidFill>
                <a:schemeClr val="lt1"/>
              </a:solidFill>
              <a:latin typeface="Century Gothic"/>
              <a:ea typeface="Century Gothic"/>
              <a:cs typeface="Century Gothic"/>
              <a:sym typeface="Century Gothic"/>
            </a:endParaRPr>
          </a:p>
        </p:txBody>
      </p:sp>
      <p:sp>
        <p:nvSpPr>
          <p:cNvPr id="958" name="Google Shape;958;p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cxnSp>
        <p:nvCxnSpPr>
          <p:cNvPr id="980" name="Google Shape;980;p7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 name="Google Shape;981;p74"/>
          <p:cNvSpPr txBox="1"/>
          <p:nvPr>
            <p:ph type="title"/>
          </p:nvPr>
        </p:nvSpPr>
        <p:spPr>
          <a:xfrm>
            <a:off x="228600"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p>
        </p:txBody>
      </p:sp>
      <p:sp>
        <p:nvSpPr>
          <p:cNvPr id="982" name="Google Shape;982;p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aphicFrame>
        <p:nvGraphicFramePr>
          <p:cNvPr id="983" name="Google Shape;983;p74"/>
          <p:cNvGraphicFramePr/>
          <p:nvPr/>
        </p:nvGraphicFramePr>
        <p:xfrm>
          <a:off x="228600" y="514350"/>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222400">
                <a:tc>
                  <a:txBody>
                    <a:bodyPr/>
                    <a:lstStyle/>
                    <a:p>
                      <a:pPr indent="0" lvl="0" marL="0" marR="0" rtl="0" algn="l">
                        <a:spcBef>
                          <a:spcPts val="0"/>
                        </a:spcBef>
                        <a:spcAft>
                          <a:spcPts val="0"/>
                        </a:spcAft>
                        <a:buNone/>
                      </a:pPr>
                      <a:r>
                        <a:rPr b="1" lang="en-GB" sz="900">
                          <a:solidFill>
                            <a:schemeClr val="dk1"/>
                          </a:solidFill>
                        </a:rPr>
                        <a:t>Support customer-related</a:t>
                      </a:r>
                      <a:r>
                        <a:rPr b="1" lang="en-GB" sz="900">
                          <a:solidFill>
                            <a:schemeClr val="dk1"/>
                          </a:solidFill>
                        </a:rPr>
                        <a:t> processes (e.g., Marketing, Pricing, etc.) creating customer level measures of actual and potential value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Target new prospects, and manage existing customers based on their current &amp; future value potential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Provide ability to Implement relation based pricing,</a:t>
                      </a: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a:t>
                      </a:r>
                      <a:r>
                        <a:rPr b="0" lang="en-GB" sz="900">
                          <a:solidFill>
                            <a:schemeClr val="dk1"/>
                          </a:solidFill>
                          <a:latin typeface="Century Gothic"/>
                          <a:ea typeface="Century Gothic"/>
                          <a:cs typeface="Century Gothic"/>
                          <a:sym typeface="Century Gothic"/>
                        </a:rPr>
                        <a:t> customer interaction strategy </a:t>
                      </a:r>
                      <a:r>
                        <a:rPr b="0" lang="en-GB" sz="900">
                          <a:solidFill>
                            <a:schemeClr val="dk1"/>
                          </a:solidFill>
                          <a:latin typeface="Century Gothic"/>
                          <a:ea typeface="Century Gothic"/>
                          <a:cs typeface="Century Gothic"/>
                          <a:sym typeface="Century Gothic"/>
                        </a:rPr>
                        <a:t>based on profitability  &amp;</a:t>
                      </a:r>
                      <a:r>
                        <a:rPr b="0" lang="en-GB" sz="900">
                          <a:solidFill>
                            <a:schemeClr val="dk1"/>
                          </a:solidFill>
                          <a:latin typeface="Century Gothic"/>
                          <a:ea typeface="Century Gothic"/>
                          <a:cs typeface="Century Gothic"/>
                          <a:sym typeface="Century Gothic"/>
                        </a:rPr>
                        <a:t> 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Leverage the ability to drill down into detailed profitability component to identify value creation opportunities   and drivers of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network optimisation and portfolio redesign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effectiveness of customer strategy including impact on value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how cross-sell strategies and channel usage impact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relationship between customer satisfaction and customer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 product usage, transactions, account balances, channel usage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costing data</a:t>
                      </a:r>
                      <a:endParaRPr/>
                    </a:p>
                    <a:p>
                      <a:pPr indent="0" lvl="0" marL="17780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Bad debt/collections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Analytical process to calculate customer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into individual product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Monthly profit model reconciliation to general ledger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segmentation based on current / future value potential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Increase marketing ROI by better targeting budget allocations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Redesign products and packages to enhance profitability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most profitable customers and develop strategies to protect their value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Accelerate profit growth by identifying potentially valuable customers and investing in this segment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customers with a negative impact on profitability and develop strategies to reduce costs to serve or migrate to </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more profitable product 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Understand paths to value / loss and interactions</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 to create more profitable results</a:t>
                      </a:r>
                      <a:endParaRPr b="1" sz="85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984" name="Google Shape;984;p74"/>
          <p:cNvGrpSpPr/>
          <p:nvPr/>
        </p:nvGrpSpPr>
        <p:grpSpPr>
          <a:xfrm>
            <a:off x="6681181" y="227746"/>
            <a:ext cx="2432605" cy="1508418"/>
            <a:chOff x="3241483" y="678377"/>
            <a:chExt cx="2432605" cy="1508418"/>
          </a:xfrm>
        </p:grpSpPr>
        <p:sp>
          <p:nvSpPr>
            <p:cNvPr id="985" name="Google Shape;985;p7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986" name="Google Shape;986;p74"/>
            <p:cNvGrpSpPr/>
            <p:nvPr/>
          </p:nvGrpSpPr>
          <p:grpSpPr>
            <a:xfrm>
              <a:off x="3430680" y="814892"/>
              <a:ext cx="2230757" cy="1257815"/>
              <a:chOff x="6269745" y="1818918"/>
              <a:chExt cx="2825275" cy="1593033"/>
            </a:xfrm>
          </p:grpSpPr>
          <p:grpSp>
            <p:nvGrpSpPr>
              <p:cNvPr id="987" name="Google Shape;987;p74"/>
              <p:cNvGrpSpPr/>
              <p:nvPr/>
            </p:nvGrpSpPr>
            <p:grpSpPr>
              <a:xfrm>
                <a:off x="7216189" y="1999143"/>
                <a:ext cx="992955" cy="399680"/>
                <a:chOff x="1795630" y="3780481"/>
                <a:chExt cx="992955" cy="399680"/>
              </a:xfrm>
            </p:grpSpPr>
            <p:sp>
              <p:nvSpPr>
                <p:cNvPr id="988" name="Google Shape;988;p7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89" name="Google Shape;989;p7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990" name="Google Shape;990;p74"/>
              <p:cNvGrpSpPr/>
              <p:nvPr/>
            </p:nvGrpSpPr>
            <p:grpSpPr>
              <a:xfrm>
                <a:off x="8395782" y="1818918"/>
                <a:ext cx="582035" cy="745654"/>
                <a:chOff x="6632575" y="6389688"/>
                <a:chExt cx="739775" cy="947737"/>
              </a:xfrm>
            </p:grpSpPr>
            <p:sp>
              <p:nvSpPr>
                <p:cNvPr id="991" name="Google Shape;991;p7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2" name="Google Shape;992;p7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993" name="Google Shape;993;p7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4" name="Google Shape;994;p7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5" name="Google Shape;995;p7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6" name="Google Shape;996;p7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997" name="Google Shape;997;p74"/>
          <p:cNvGrpSpPr/>
          <p:nvPr/>
        </p:nvGrpSpPr>
        <p:grpSpPr>
          <a:xfrm>
            <a:off x="7717533" y="4360377"/>
            <a:ext cx="1058348" cy="347375"/>
            <a:chOff x="7651698" y="4287227"/>
            <a:chExt cx="1058348" cy="347375"/>
          </a:xfrm>
        </p:grpSpPr>
        <p:grpSp>
          <p:nvGrpSpPr>
            <p:cNvPr id="998" name="Google Shape;998;p74"/>
            <p:cNvGrpSpPr/>
            <p:nvPr/>
          </p:nvGrpSpPr>
          <p:grpSpPr>
            <a:xfrm>
              <a:off x="7714163" y="4337598"/>
              <a:ext cx="995883" cy="297004"/>
              <a:chOff x="7711013" y="3986494"/>
              <a:chExt cx="995883" cy="297004"/>
            </a:xfrm>
          </p:grpSpPr>
          <p:sp>
            <p:nvSpPr>
              <p:cNvPr id="999" name="Google Shape;999;p7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00" name="Google Shape;1000;p74"/>
              <p:cNvGrpSpPr/>
              <p:nvPr/>
            </p:nvGrpSpPr>
            <p:grpSpPr>
              <a:xfrm>
                <a:off x="7711013" y="4002615"/>
                <a:ext cx="281520" cy="241973"/>
                <a:chOff x="5652748" y="4066000"/>
                <a:chExt cx="906498" cy="747974"/>
              </a:xfrm>
            </p:grpSpPr>
            <p:sp>
              <p:nvSpPr>
                <p:cNvPr id="1001" name="Google Shape;1001;p7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02" name="Google Shape;1002;p7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3" name="Google Shape;1003;p7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04" name="Google Shape;1004;p7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Understand the network a customer is in to capture the most influential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retain/up sell</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behaviors to move less loyal customers to higher value (migration)</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and declining spending behaviors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for high value customers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Provide insights to drive strategies for stages of the customer life cycle of engagement with the company</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and execute strategies, supported by customer insights, to acquire new customers and then manage and grow profitable relationships over time</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Teradata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Teradata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87" name="Shape 7087"/>
        <p:cNvGrpSpPr/>
        <p:nvPr/>
      </p:nvGrpSpPr>
      <p:grpSpPr>
        <a:xfrm>
          <a:off x="0" y="0"/>
          <a:ext cx="0" cy="0"/>
          <a:chOff x="0" y="0"/>
          <a:chExt cx="0" cy="0"/>
        </a:xfrm>
      </p:grpSpPr>
      <p:sp>
        <p:nvSpPr>
          <p:cNvPr id="7088" name="Google Shape;7088;p403"/>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p>
            <a:pPr indent="0" lvl="0" marL="0" rtl="0" algn="ctr">
              <a:lnSpc>
                <a:spcPct val="110000"/>
              </a:lnSpc>
              <a:spcBef>
                <a:spcPts val="0"/>
              </a:spcBef>
              <a:spcAft>
                <a:spcPts val="0"/>
              </a:spcAft>
              <a:buClr>
                <a:schemeClr val="accent1"/>
              </a:buClr>
              <a:buSzPts val="2200"/>
              <a:buFont typeface="Century Gothic"/>
              <a:buNone/>
            </a:pPr>
            <a:r>
              <a:rPr lang="en-GB"/>
              <a:t>Product Management Use Cases</a:t>
            </a:r>
            <a:endParaRPr/>
          </a:p>
        </p:txBody>
      </p:sp>
      <p:sp>
        <p:nvSpPr>
          <p:cNvPr id="7089" name="Google Shape;7089;p403"/>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chemeClr val="lt1"/>
              </a:buClr>
              <a:buSzPts val="700"/>
              <a:buFont typeface="Century Gothic"/>
              <a:buNone/>
            </a:pPr>
            <a:r>
              <a:t/>
            </a:r>
            <a:endParaRPr/>
          </a:p>
        </p:txBody>
      </p:sp>
      <p:sp>
        <p:nvSpPr>
          <p:cNvPr id="7090" name="Google Shape;7090;p403"/>
          <p:cNvSpPr txBox="1"/>
          <p:nvPr>
            <p:ph idx="11" type="ftr"/>
          </p:nvPr>
        </p:nvSpPr>
        <p:spPr>
          <a:xfrm>
            <a:off x="0" y="4857750"/>
            <a:ext cx="3240088" cy="107950"/>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Tree>
  </p:cSld>
  <p:clrMapOvr>
    <a:masterClrMapping/>
  </p:clrMapOvr>
  <p:transition spd="med">
    <p:fade/>
  </p:transition>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35" name="Shape 7235"/>
        <p:cNvGrpSpPr/>
        <p:nvPr/>
      </p:nvGrpSpPr>
      <p:grpSpPr>
        <a:xfrm>
          <a:off x="0" y="0"/>
          <a:ext cx="0" cy="0"/>
          <a:chOff x="0" y="0"/>
          <a:chExt cx="0" cy="0"/>
        </a:xfrm>
      </p:grpSpPr>
      <p:cxnSp>
        <p:nvCxnSpPr>
          <p:cNvPr id="7236" name="Google Shape;7236;p411"/>
          <p:cNvCxnSpPr/>
          <p:nvPr/>
        </p:nvCxnSpPr>
        <p:spPr>
          <a:xfrm>
            <a:off x="4576599" y="810596"/>
            <a:ext cx="0" cy="3893399"/>
          </a:xfrm>
          <a:prstGeom prst="straightConnector1">
            <a:avLst/>
          </a:prstGeom>
          <a:noFill/>
          <a:ln cap="flat" cmpd="sng" w="12700">
            <a:solidFill>
              <a:schemeClr val="lt2"/>
            </a:solidFill>
            <a:prstDash val="solid"/>
            <a:round/>
            <a:headEnd len="sm" w="sm" type="none"/>
            <a:tailEnd len="sm" w="sm" type="none"/>
          </a:ln>
        </p:spPr>
      </p:cxnSp>
      <p:sp>
        <p:nvSpPr>
          <p:cNvPr id="7237" name="Google Shape;7237;p4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8" name="Google Shape;7238;p411"/>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9" name="Google Shape;7239;p411"/>
          <p:cNvSpPr/>
          <p:nvPr/>
        </p:nvSpPr>
        <p:spPr>
          <a:xfrm>
            <a:off x="423863" y="2377440"/>
            <a:ext cx="4048125" cy="2326554"/>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Example Analytic: NPath</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5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40" name="Google Shape;7240;p4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41" name="Google Shape;7241;p4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streamlined and effective Customer journey leading to increased sales and more repeat visits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42" name="Google Shape;7242;p4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pic>
        <p:nvPicPr>
          <p:cNvPr id="7243" name="Google Shape;7243;p411"/>
          <p:cNvPicPr preferRelativeResize="0"/>
          <p:nvPr/>
        </p:nvPicPr>
        <p:blipFill rotWithShape="1">
          <a:blip r:embed="rId3">
            <a:alphaModFix/>
          </a:blip>
          <a:srcRect b="25441" l="11217" r="7231" t="22947"/>
          <a:stretch/>
        </p:blipFill>
        <p:spPr>
          <a:xfrm>
            <a:off x="468288" y="2731880"/>
            <a:ext cx="3841938" cy="1479489"/>
          </a:xfrm>
          <a:prstGeom prst="rect">
            <a:avLst/>
          </a:prstGeom>
          <a:solidFill>
            <a:srgbClr val="FFFFFF"/>
          </a:solidFill>
          <a:ln>
            <a:noFill/>
          </a:ln>
        </p:spPr>
      </p:pic>
      <p:sp>
        <p:nvSpPr>
          <p:cNvPr id="7244" name="Google Shape;7244;p41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49" name="Shape 7349"/>
        <p:cNvGrpSpPr/>
        <p:nvPr/>
      </p:nvGrpSpPr>
      <p:grpSpPr>
        <a:xfrm>
          <a:off x="0" y="0"/>
          <a:ext cx="0" cy="0"/>
          <a:chOff x="0" y="0"/>
          <a:chExt cx="0" cy="0"/>
        </a:xfrm>
      </p:grpSpPr>
      <p:sp>
        <p:nvSpPr>
          <p:cNvPr id="7350" name="Google Shape;7350;p417"/>
          <p:cNvSpPr/>
          <p:nvPr/>
        </p:nvSpPr>
        <p:spPr>
          <a:xfrm rot="5400000">
            <a:off x="-86832" y="2531949"/>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1" name="Google Shape;7351;p417"/>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52" name="Google Shape;7352;p417"/>
          <p:cNvSpPr/>
          <p:nvPr/>
        </p:nvSpPr>
        <p:spPr>
          <a:xfrm>
            <a:off x="4795837" y="2376546"/>
            <a:ext cx="3949200" cy="2327448"/>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Example analytic flow:</a:t>
            </a:r>
            <a:endParaRPr/>
          </a:p>
        </p:txBody>
      </p:sp>
      <p:sp>
        <p:nvSpPr>
          <p:cNvPr id="7353" name="Google Shape;7353;p417"/>
          <p:cNvSpPr/>
          <p:nvPr/>
        </p:nvSpPr>
        <p:spPr>
          <a:xfrm>
            <a:off x="423863" y="2377440"/>
            <a:ext cx="4048125" cy="2326554"/>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Example Analytic output:</a:t>
            </a:r>
            <a:endParaRPr sz="900">
              <a:solidFill>
                <a:srgbClr val="3C3C3B"/>
              </a:solidFill>
              <a:latin typeface="Century Gothic"/>
              <a:ea typeface="Century Gothic"/>
              <a:cs typeface="Century Gothic"/>
              <a:sym typeface="Century Gothic"/>
            </a:endParaRPr>
          </a:p>
        </p:txBody>
      </p:sp>
      <p:sp>
        <p:nvSpPr>
          <p:cNvPr id="7354" name="Google Shape;7354;p41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55" name="Google Shape;7355;p417"/>
          <p:cNvSpPr/>
          <p:nvPr/>
        </p:nvSpPr>
        <p:spPr>
          <a:xfrm>
            <a:off x="423863" y="807897"/>
            <a:ext cx="832117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Analysis Detail:</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Centralize data from all customer interactions (Transaction, detail (POS and On Line)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“Path and Graph” Analysis to understand the path to purchase and  commonality in purchase path activity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Utilize Logistic regression to determine the relative importance of each touch point to high-$ customer vs. a low-$ customer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results to determine action plans for future promotions, targeting, segmentation driving sales and margin</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pic>
        <p:nvPicPr>
          <p:cNvPr descr="C:\Users\AC180010\Desktop\Picture1.png" id="7356" name="Google Shape;7356;p417"/>
          <p:cNvPicPr preferRelativeResize="0"/>
          <p:nvPr/>
        </p:nvPicPr>
        <p:blipFill rotWithShape="1">
          <a:blip r:embed="rId3">
            <a:alphaModFix/>
          </a:blip>
          <a:srcRect b="0" l="0" r="0" t="0"/>
          <a:stretch/>
        </p:blipFill>
        <p:spPr>
          <a:xfrm>
            <a:off x="436021" y="2524731"/>
            <a:ext cx="3754979" cy="2210193"/>
          </a:xfrm>
          <a:prstGeom prst="rect">
            <a:avLst/>
          </a:prstGeom>
          <a:noFill/>
          <a:ln>
            <a:noFill/>
          </a:ln>
        </p:spPr>
      </p:pic>
      <p:pic>
        <p:nvPicPr>
          <p:cNvPr id="7357" name="Google Shape;7357;p417"/>
          <p:cNvPicPr preferRelativeResize="0"/>
          <p:nvPr/>
        </p:nvPicPr>
        <p:blipFill rotWithShape="1">
          <a:blip r:embed="rId4">
            <a:alphaModFix/>
          </a:blip>
          <a:srcRect b="0" l="0" r="0" t="0"/>
          <a:stretch/>
        </p:blipFill>
        <p:spPr>
          <a:xfrm>
            <a:off x="5027670" y="2366755"/>
            <a:ext cx="3506730" cy="2324830"/>
          </a:xfrm>
          <a:prstGeom prst="rect">
            <a:avLst/>
          </a:prstGeom>
          <a:noFill/>
          <a:ln>
            <a:noFill/>
          </a:ln>
        </p:spPr>
      </p:pic>
      <p:sp>
        <p:nvSpPr>
          <p:cNvPr id="7358" name="Google Shape;7358;p417">
            <a:hlinkClick action="ppaction://hlinksldjump" r:id="rId5"/>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83" name="Shape 7383"/>
        <p:cNvGrpSpPr/>
        <p:nvPr/>
      </p:nvGrpSpPr>
      <p:grpSpPr>
        <a:xfrm>
          <a:off x="0" y="0"/>
          <a:ext cx="0" cy="0"/>
          <a:chOff x="0" y="0"/>
          <a:chExt cx="0" cy="0"/>
        </a:xfrm>
      </p:grpSpPr>
      <p:sp>
        <p:nvSpPr>
          <p:cNvPr id="7384" name="Google Shape;7384;p419"/>
          <p:cNvSpPr/>
          <p:nvPr/>
        </p:nvSpPr>
        <p:spPr>
          <a:xfrm>
            <a:off x="373063" y="4616291"/>
            <a:ext cx="8161337" cy="200055"/>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rPr lang="en-GB" sz="700">
                <a:solidFill>
                  <a:schemeClr val="dk1"/>
                </a:solidFill>
                <a:latin typeface="Century Gothic"/>
                <a:ea typeface="Century Gothic"/>
                <a:cs typeface="Century Gothic"/>
                <a:sym typeface="Century Gothic"/>
              </a:rPr>
              <a:t>http://www.teradatamagazine.com/v09n01/Features/Cache-Back/</a:t>
            </a:r>
            <a:endParaRPr/>
          </a:p>
        </p:txBody>
      </p:sp>
      <p:sp>
        <p:nvSpPr>
          <p:cNvPr id="7385" name="Google Shape;7385;p419"/>
          <p:cNvSpPr txBox="1"/>
          <p:nvPr>
            <p:ph idx="3" type="body"/>
          </p:nvPr>
        </p:nvSpPr>
        <p:spPr>
          <a:xfrm>
            <a:off x="3511295" y="1021976"/>
            <a:ext cx="5229479" cy="3585805"/>
          </a:xfrm>
          <a:prstGeom prst="rect">
            <a:avLst/>
          </a:prstGeom>
          <a:noFill/>
          <a:ln>
            <a:noFill/>
          </a:ln>
        </p:spPr>
        <p:txBody>
          <a:bodyPr anchorCtr="0" anchor="t" bIns="0" lIns="0" spcFirstLastPara="1" rIns="0" wrap="square" tIns="0">
            <a:noAutofit/>
          </a:bodyPr>
          <a:lstStyle/>
          <a:p>
            <a:pPr indent="-88900" lvl="0" marL="0" rtl="0" algn="l">
              <a:lnSpc>
                <a:spcPct val="95000"/>
              </a:lnSpc>
              <a:spcBef>
                <a:spcPts val="0"/>
              </a:spcBef>
              <a:spcAft>
                <a:spcPts val="0"/>
              </a:spcAft>
              <a:buClr>
                <a:schemeClr val="dk2"/>
              </a:buClr>
              <a:buSzPts val="1400"/>
              <a:buFont typeface="Arial"/>
              <a:buChar char="​"/>
            </a:pPr>
            <a:r>
              <a:rPr b="1" lang="en-GB" sz="1400">
                <a:solidFill>
                  <a:schemeClr val="dk2"/>
                </a:solidFill>
              </a:rPr>
              <a:t>Challenge</a:t>
            </a:r>
            <a:endParaRPr/>
          </a:p>
          <a:p>
            <a:pPr indent="-169863" lvl="0" marL="169863" rtl="0" algn="l">
              <a:lnSpc>
                <a:spcPct val="95000"/>
              </a:lnSpc>
              <a:spcBef>
                <a:spcPts val="0"/>
              </a:spcBef>
              <a:spcAft>
                <a:spcPts val="0"/>
              </a:spcAft>
              <a:buClr>
                <a:schemeClr val="dk1"/>
              </a:buClr>
              <a:buSzPts val="1100"/>
              <a:buChar char="•"/>
            </a:pPr>
            <a:r>
              <a:rPr lang="en-GB" sz="1100"/>
              <a:t>Vision was to create a centralized repository for clean, reliable and consistent data that could be used for risk analytics and decision support. </a:t>
            </a:r>
            <a:endParaRPr/>
          </a:p>
          <a:p>
            <a:pPr indent="0" lvl="0" marL="0" rtl="0" algn="l">
              <a:lnSpc>
                <a:spcPct val="95000"/>
              </a:lnSpc>
              <a:spcBef>
                <a:spcPts val="200"/>
              </a:spcBef>
              <a:spcAft>
                <a:spcPts val="0"/>
              </a:spcAft>
              <a:buClr>
                <a:schemeClr val="dk1"/>
              </a:buClr>
              <a:buSzPts val="1400"/>
              <a:buNone/>
            </a:pPr>
            <a:r>
              <a:t/>
            </a:r>
            <a:endParaRPr b="1" sz="1400">
              <a:solidFill>
                <a:schemeClr val="dk2"/>
              </a:solidFill>
            </a:endParaRPr>
          </a:p>
          <a:p>
            <a:pPr indent="0" lvl="0" marL="0" rtl="0" algn="l">
              <a:lnSpc>
                <a:spcPct val="95000"/>
              </a:lnSpc>
              <a:spcBef>
                <a:spcPts val="200"/>
              </a:spcBef>
              <a:spcAft>
                <a:spcPts val="0"/>
              </a:spcAft>
              <a:buClr>
                <a:schemeClr val="dk2"/>
              </a:buClr>
              <a:buSzPts val="1400"/>
              <a:buNone/>
            </a:pPr>
            <a:r>
              <a:rPr b="1" lang="en-GB" sz="1400">
                <a:solidFill>
                  <a:schemeClr val="dk2"/>
                </a:solidFill>
              </a:rPr>
              <a:t>Solution</a:t>
            </a:r>
            <a:endParaRPr/>
          </a:p>
          <a:p>
            <a:pPr indent="-169863" lvl="0" marL="169863" rtl="0" algn="l">
              <a:lnSpc>
                <a:spcPct val="95000"/>
              </a:lnSpc>
              <a:spcBef>
                <a:spcPts val="200"/>
              </a:spcBef>
              <a:spcAft>
                <a:spcPts val="0"/>
              </a:spcAft>
              <a:buClr>
                <a:schemeClr val="dk1"/>
              </a:buClr>
              <a:buSzPts val="1100"/>
              <a:buChar char="•"/>
            </a:pPr>
            <a:r>
              <a:rPr lang="en-GB" sz="1100"/>
              <a:t>Teradata Integrated Data Warehouse</a:t>
            </a:r>
            <a:endParaRPr/>
          </a:p>
          <a:p>
            <a:pPr indent="-169863" lvl="0" marL="169863" rtl="0" algn="l">
              <a:lnSpc>
                <a:spcPct val="95000"/>
              </a:lnSpc>
              <a:spcBef>
                <a:spcPts val="200"/>
              </a:spcBef>
              <a:spcAft>
                <a:spcPts val="0"/>
              </a:spcAft>
              <a:buClr>
                <a:schemeClr val="dk1"/>
              </a:buClr>
              <a:buSzPts val="1100"/>
              <a:buChar char="•"/>
            </a:pPr>
            <a:r>
              <a:rPr lang="en-GB" sz="1100"/>
              <a:t>All of the LOBs are represented in the data warehouse, allowing the analysts to perform previously impossible cross-LOB analysis (credit authorization, new account and merchant systems)</a:t>
            </a:r>
            <a:endParaRPr/>
          </a:p>
          <a:p>
            <a:pPr indent="0" lvl="0" marL="0" rtl="0" algn="l">
              <a:lnSpc>
                <a:spcPct val="95000"/>
              </a:lnSpc>
              <a:spcBef>
                <a:spcPts val="200"/>
              </a:spcBef>
              <a:spcAft>
                <a:spcPts val="0"/>
              </a:spcAft>
              <a:buClr>
                <a:schemeClr val="dk1"/>
              </a:buClr>
              <a:buSzPts val="1100"/>
              <a:buNone/>
            </a:pPr>
            <a:r>
              <a:t/>
            </a:r>
            <a:endParaRPr b="1" sz="1100">
              <a:solidFill>
                <a:schemeClr val="dk2"/>
              </a:solidFill>
            </a:endParaRPr>
          </a:p>
          <a:p>
            <a:pPr indent="0" lvl="0" marL="0" rtl="0" algn="l">
              <a:lnSpc>
                <a:spcPct val="95000"/>
              </a:lnSpc>
              <a:spcBef>
                <a:spcPts val="200"/>
              </a:spcBef>
              <a:spcAft>
                <a:spcPts val="0"/>
              </a:spcAft>
              <a:buClr>
                <a:schemeClr val="dk2"/>
              </a:buClr>
              <a:buSzPts val="1400"/>
              <a:buNone/>
            </a:pPr>
            <a:r>
              <a:rPr b="1" lang="en-GB" sz="1400">
                <a:solidFill>
                  <a:schemeClr val="dk2"/>
                </a:solidFill>
              </a:rPr>
              <a:t>Results</a:t>
            </a:r>
            <a:endParaRPr/>
          </a:p>
          <a:p>
            <a:pPr indent="-169863" lvl="0" marL="169863" rtl="0" algn="l">
              <a:lnSpc>
                <a:spcPct val="95000"/>
              </a:lnSpc>
              <a:spcBef>
                <a:spcPts val="200"/>
              </a:spcBef>
              <a:spcAft>
                <a:spcPts val="0"/>
              </a:spcAft>
              <a:buClr>
                <a:schemeClr val="dk1"/>
              </a:buClr>
              <a:buSzPts val="1100"/>
              <a:buChar char="•"/>
            </a:pPr>
            <a:r>
              <a:rPr lang="en-GB" sz="1100"/>
              <a:t>Higher revenues, expense takeout and improved customer satisfaction</a:t>
            </a:r>
            <a:endParaRPr/>
          </a:p>
          <a:p>
            <a:pPr indent="-169863" lvl="0" marL="169863" rtl="0" algn="l">
              <a:lnSpc>
                <a:spcPct val="95000"/>
              </a:lnSpc>
              <a:spcBef>
                <a:spcPts val="200"/>
              </a:spcBef>
              <a:spcAft>
                <a:spcPts val="0"/>
              </a:spcAft>
              <a:buClr>
                <a:schemeClr val="dk1"/>
              </a:buClr>
              <a:buSzPts val="1100"/>
              <a:buChar char="•"/>
            </a:pPr>
            <a:r>
              <a:rPr lang="en-GB" sz="1100"/>
              <a:t>Better identify customer and market trends</a:t>
            </a:r>
            <a:endParaRPr/>
          </a:p>
          <a:p>
            <a:pPr indent="-169863" lvl="0" marL="169863" rtl="0" algn="l">
              <a:lnSpc>
                <a:spcPct val="95000"/>
              </a:lnSpc>
              <a:spcBef>
                <a:spcPts val="200"/>
              </a:spcBef>
              <a:spcAft>
                <a:spcPts val="0"/>
              </a:spcAft>
              <a:buClr>
                <a:schemeClr val="dk1"/>
              </a:buClr>
              <a:buSzPts val="1100"/>
              <a:buChar char="•"/>
            </a:pPr>
            <a:r>
              <a:rPr lang="en-GB" sz="1100"/>
              <a:t>IT organization is now more focused on data generation than supporting analyst queries and data requests</a:t>
            </a:r>
            <a:endParaRPr/>
          </a:p>
          <a:p>
            <a:pPr indent="-169863" lvl="0" marL="169863" rtl="0" algn="l">
              <a:lnSpc>
                <a:spcPct val="95000"/>
              </a:lnSpc>
              <a:spcBef>
                <a:spcPts val="200"/>
              </a:spcBef>
              <a:spcAft>
                <a:spcPts val="0"/>
              </a:spcAft>
              <a:buClr>
                <a:schemeClr val="dk1"/>
              </a:buClr>
              <a:buSzPts val="1100"/>
              <a:buChar char="•"/>
            </a:pPr>
            <a:r>
              <a:rPr lang="en-GB" sz="1100"/>
              <a:t>Sales representatives will be able to provide specific products and services tailored to a particular individual's needs</a:t>
            </a:r>
            <a:endParaRPr/>
          </a:p>
          <a:p>
            <a:pPr indent="-169863" lvl="0" marL="169863" rtl="0" algn="l">
              <a:lnSpc>
                <a:spcPct val="95000"/>
              </a:lnSpc>
              <a:spcBef>
                <a:spcPts val="200"/>
              </a:spcBef>
              <a:spcAft>
                <a:spcPts val="0"/>
              </a:spcAft>
              <a:buClr>
                <a:schemeClr val="dk1"/>
              </a:buClr>
              <a:buSzPts val="1100"/>
              <a:buChar char="•"/>
            </a:pPr>
            <a:r>
              <a:rPr lang="en-GB" sz="1100"/>
              <a:t>Phone representatives will soon have next-best-offer information</a:t>
            </a:r>
            <a:endParaRPr sz="1100"/>
          </a:p>
        </p:txBody>
      </p:sp>
      <p:sp>
        <p:nvSpPr>
          <p:cNvPr id="7386" name="Google Shape;7386;p419"/>
          <p:cNvSpPr/>
          <p:nvPr/>
        </p:nvSpPr>
        <p:spPr>
          <a:xfrm>
            <a:off x="355600" y="594284"/>
            <a:ext cx="5910169" cy="270904"/>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600">
                <a:solidFill>
                  <a:srgbClr val="3C3C3B"/>
                </a:solidFill>
                <a:latin typeface="Century Gothic"/>
                <a:ea typeface="Century Gothic"/>
                <a:cs typeface="Century Gothic"/>
                <a:sym typeface="Century Gothic"/>
              </a:rPr>
              <a:t>Driving Further Innovation at Discover</a:t>
            </a:r>
            <a:endParaRPr sz="1600">
              <a:solidFill>
                <a:srgbClr val="3C3C3B"/>
              </a:solidFill>
              <a:latin typeface="Century Gothic"/>
              <a:ea typeface="Century Gothic"/>
              <a:cs typeface="Century Gothic"/>
              <a:sym typeface="Century Gothic"/>
            </a:endParaRPr>
          </a:p>
        </p:txBody>
      </p:sp>
      <p:sp>
        <p:nvSpPr>
          <p:cNvPr id="7387" name="Google Shape;7387;p419"/>
          <p:cNvSpPr txBox="1"/>
          <p:nvPr>
            <p:ph idx="4294967295" type="title"/>
          </p:nvPr>
        </p:nvSpPr>
        <p:spPr>
          <a:xfrm>
            <a:off x="425396" y="85725"/>
            <a:ext cx="8229600" cy="45696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Discover</a:t>
            </a:r>
            <a:endParaRPr sz="2400"/>
          </a:p>
        </p:txBody>
      </p:sp>
      <p:pic>
        <p:nvPicPr>
          <p:cNvPr id="7388" name="Google Shape;7388;p419"/>
          <p:cNvPicPr preferRelativeResize="0"/>
          <p:nvPr/>
        </p:nvPicPr>
        <p:blipFill rotWithShape="1">
          <a:blip r:embed="rId3">
            <a:alphaModFix/>
          </a:blip>
          <a:srcRect b="0" l="0" r="0" t="0"/>
          <a:stretch/>
        </p:blipFill>
        <p:spPr>
          <a:xfrm>
            <a:off x="72184" y="1490662"/>
            <a:ext cx="3238500" cy="2162175"/>
          </a:xfrm>
          <a:prstGeom prst="rect">
            <a:avLst/>
          </a:prstGeom>
          <a:noFill/>
          <a:ln>
            <a:noFill/>
          </a:ln>
        </p:spPr>
      </p:pic>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Karen Layfield</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0" lvl="2" marL="0" rtl="0" algn="l">
              <a:lnSpc>
                <a:spcPct val="110000"/>
              </a:lnSpc>
              <a:spcBef>
                <a:spcPts val="200"/>
              </a:spcBef>
              <a:spcAft>
                <a:spcPts val="0"/>
              </a:spcAft>
              <a:buClr>
                <a:schemeClr val="lt1"/>
              </a:buClr>
              <a:buSzPts val="1100"/>
              <a:buNone/>
            </a:pPr>
            <a:r>
              <a:rPr lang="en-GB" sz="1100">
                <a:solidFill>
                  <a:schemeClr val="lt1"/>
                </a:solidFill>
              </a:rPr>
              <a:t>and Forecasting.</a:t>
            </a:r>
            <a:endParaRPr sz="1100">
              <a:solidFill>
                <a:schemeClr val="lt1"/>
              </a:solidFill>
            </a:endParaRP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Revenue Integrity is defined as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