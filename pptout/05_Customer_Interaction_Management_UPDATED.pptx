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7" r:id="rId5"/>
  </p:sldMasterIdLst>
  <p:notesMasterIdLst>
    <p:notesMasterId r:id="rId6"/>
  </p:notesMasterIdLst>
  <p:sldIdLst>
    <p:sldId id="369" r:id="rId43"/>
    <p:sldId id="370" r:id="rId44"/>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71" r:id="rId45"/>
    <p:sldId id="367" r:id="rId118"/>
    <p:sldId id="368" r:id="rId119"/>
  </p:sldIdLst>
  <p:sldSz cy="5143500" cx="9144000"/>
  <p:notesSz cx="6858000" cy="9945675"/>
  <p:embeddedFontLst>
    <p:embeddedFont>
      <p:font typeface="Noto Sans Symbols"/>
      <p:regular r:id="rId626"/>
      <p:bold r:id="rId627"/>
    </p:embeddedFont>
    <p:embeddedFont>
      <p:font typeface="Century Gothic"/>
      <p:regular r:id="rId628"/>
      <p:bold r:id="rId629"/>
      <p:italic r:id="rId630"/>
      <p:boldItalic r:id="rId6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guide id="3" pos="776">
          <p15:clr>
            <a:srgbClr val="A4A3A4"/>
          </p15:clr>
        </p15:guide>
        <p15:guide id="4" pos="1764">
          <p15:clr>
            <a:srgbClr val="A4A3A4"/>
          </p15:clr>
        </p15:guide>
        <p15:guide id="5" orient="horz" pos="2229">
          <p15:clr>
            <a:srgbClr val="A4A3A4"/>
          </p15:clr>
        </p15:guide>
        <p15:guide id="6" orient="horz" pos="3140">
          <p15:clr>
            <a:srgbClr val="A4A3A4"/>
          </p15:clr>
        </p15:guide>
        <p15:guide id="7" orient="horz" pos="311">
          <p15:clr>
            <a:srgbClr val="A4A3A4"/>
          </p15:clr>
        </p15:guide>
        <p15:guide id="8" orient="horz" pos="1593">
          <p15:clr>
            <a:srgbClr val="A4A3A4"/>
          </p15:clr>
        </p15:guide>
        <p15:guide id="9" pos="5696">
          <p15:clr>
            <a:srgbClr val="A4A3A4"/>
          </p15:clr>
        </p15:guide>
        <p15:guide id="10" pos="706">
          <p15:clr>
            <a:srgbClr val="A4A3A4"/>
          </p15:clr>
        </p15:guide>
        <p15:guide id="11" pos="2941">
          <p15:clr>
            <a:srgbClr val="A4A3A4"/>
          </p15:clr>
        </p15:guide>
        <p15:guide id="12" pos="91">
          <p15:clr>
            <a:srgbClr val="A4A3A4"/>
          </p15:clr>
        </p15:guide>
        <p15:guide id="13" orient="horz" pos="105">
          <p15:clr>
            <a:srgbClr val="000000"/>
          </p15:clr>
        </p15:guide>
        <p15:guide id="14" orient="horz" pos="1616">
          <p15:clr>
            <a:srgbClr val="000000"/>
          </p15:clr>
        </p15:guide>
        <p15:guide id="15" orient="horz" pos="567">
          <p15:clr>
            <a:srgbClr val="000000"/>
          </p15:clr>
        </p15:guide>
        <p15:guide id="16" orient="horz" pos="3034">
          <p15:clr>
            <a:srgbClr val="000000"/>
          </p15:clr>
        </p15:guide>
        <p15:guide id="17" orient="horz" pos="332">
          <p15:clr>
            <a:srgbClr val="000000"/>
          </p15:clr>
        </p15:guide>
        <p15:guide id="18" pos="239">
          <p15:clr>
            <a:srgbClr val="000000"/>
          </p15:clr>
        </p15:guide>
        <p15:guide id="19" pos="5557">
          <p15:clr>
            <a:srgbClr val="000000"/>
          </p15:clr>
        </p15:guide>
        <p15:guide id="20" pos="2914">
          <p15:clr>
            <a:srgbClr val="000000"/>
          </p15:clr>
        </p15:guide>
      </p15:sldGuideLst>
    </p:ext>
    <p:ext uri="{2D200454-40CA-4A62-9FC3-DE9A4176ACB9}">
      <p15:notesGuideLst>
        <p15:guide id="1" orient="horz" pos="2880">
          <p15:clr>
            <a:srgbClr val="A4A3A4"/>
          </p15:clr>
        </p15:guide>
        <p15:guide id="2" pos="2160">
          <p15:clr>
            <a:srgbClr val="A4A3A4"/>
          </p15:clr>
        </p15:guide>
        <p15:guide id="3" orient="horz" pos="3133">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98BFCB-6916-41F2-A2A5-0DF0D5139B6F}">
  <a:tblStyle styleId="{D098BFCB-6916-41F2-A2A5-0DF0D5139B6F}"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BEDE7"/>
          </a:solidFill>
        </a:fill>
      </a:tcStyle>
    </a:wholeTbl>
    <a:band1H>
      <a:tcTxStyle/>
      <a:tcStyle>
        <a:fill>
          <a:solidFill>
            <a:srgbClr val="F8D9CB"/>
          </a:solidFill>
        </a:fill>
      </a:tcStyle>
    </a:band1H>
    <a:band2H>
      <a:tcTxStyle/>
    </a:band2H>
    <a:band1V>
      <a:tcTxStyle/>
      <a:tcStyle>
        <a:fill>
          <a:solidFill>
            <a:srgbClr val="F8D9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 pos="776"/>
        <p:guide pos="1764"/>
        <p:guide pos="2229" orient="horz"/>
        <p:guide pos="3140" orient="horz"/>
        <p:guide pos="311" orient="horz"/>
        <p:guide pos="1593" orient="horz"/>
        <p:guide pos="5696"/>
        <p:guide pos="706"/>
        <p:guide pos="2941"/>
        <p:guide pos="91"/>
        <p:guide pos="105" orient="horz"/>
        <p:guide pos="1616" orient="horz"/>
        <p:guide pos="567" orient="horz"/>
        <p:guide pos="3034" orient="horz"/>
        <p:guide pos="332" orient="horz"/>
        <p:guide pos="239"/>
        <p:guide pos="5557"/>
        <p:guide pos="2914"/>
      </p:guideLst>
    </p:cSldViewPr>
  </p:slideViewPr>
  <p:notesViewPr>
    <p:cSldViewPr snapToGrid="0">
      <p:cViewPr varScale="1">
        <p:scale>
          <a:sx n="100" d="100"/>
          <a:sy n="100" d="100"/>
        </p:scale>
        <p:origin x="0" y="0"/>
      </p:cViewPr>
      <p:guideLst>
        <p:guide pos="2880" orient="horz"/>
        <p:guide pos="2160"/>
        <p:guide pos="3133" orient="horz"/>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90" Type="http://schemas.openxmlformats.org/officeDocument/2006/relationships/slide" Target="slides/slide1.xml"/><Relationship Id="rId91" Type="http://schemas.openxmlformats.org/officeDocument/2006/relationships/slide" Target="slides/slide2.xml"/><Relationship Id="rId92" Type="http://schemas.openxmlformats.org/officeDocument/2006/relationships/slide" Target="slides/slide3.xml"/><Relationship Id="rId93" Type="http://schemas.openxmlformats.org/officeDocument/2006/relationships/slide" Target="slides/slide4.xml"/><Relationship Id="rId94" Type="http://schemas.openxmlformats.org/officeDocument/2006/relationships/slide" Target="slides/slide5.xml"/><Relationship Id="rId95" Type="http://schemas.openxmlformats.org/officeDocument/2006/relationships/slide" Target="slides/slide6.xml"/><Relationship Id="rId96" Type="http://schemas.openxmlformats.org/officeDocument/2006/relationships/slide" Target="slides/slide7.xml"/><Relationship Id="rId97" Type="http://schemas.openxmlformats.org/officeDocument/2006/relationships/slide" Target="slides/slide8.xml"/><Relationship Id="rId98" Type="http://schemas.openxmlformats.org/officeDocument/2006/relationships/slide" Target="slides/slide9.xml"/><Relationship Id="rId99" Type="http://schemas.openxmlformats.org/officeDocument/2006/relationships/slide" Target="slides/slide10.xml"/><Relationship Id="rId100" Type="http://schemas.openxmlformats.org/officeDocument/2006/relationships/slide" Target="slides/slide11.xml"/><Relationship Id="rId101" Type="http://schemas.openxmlformats.org/officeDocument/2006/relationships/slide" Target="slides/slide12.xml"/><Relationship Id="rId102" Type="http://schemas.openxmlformats.org/officeDocument/2006/relationships/slide" Target="slides/slide13.xml"/><Relationship Id="rId103" Type="http://schemas.openxmlformats.org/officeDocument/2006/relationships/slide" Target="slides/slide14.xml"/><Relationship Id="rId104" Type="http://schemas.openxmlformats.org/officeDocument/2006/relationships/slide" Target="slides/slide15.xml"/><Relationship Id="rId105" Type="http://schemas.openxmlformats.org/officeDocument/2006/relationships/slide" Target="slides/slide16.xml"/><Relationship Id="rId106" Type="http://schemas.openxmlformats.org/officeDocument/2006/relationships/slide" Target="slides/slide17.xml"/><Relationship Id="rId107" Type="http://schemas.openxmlformats.org/officeDocument/2006/relationships/slide" Target="slides/slide18.xml"/><Relationship Id="rId108" Type="http://schemas.openxmlformats.org/officeDocument/2006/relationships/slide" Target="slides/slide19.xml"/><Relationship Id="rId109" Type="http://schemas.openxmlformats.org/officeDocument/2006/relationships/slide" Target="slides/slide20.xml"/><Relationship Id="rId110" Type="http://schemas.openxmlformats.org/officeDocument/2006/relationships/slide" Target="slides/slide21.xml"/><Relationship Id="rId111" Type="http://schemas.openxmlformats.org/officeDocument/2006/relationships/slide" Target="slides/slide22.xml"/><Relationship Id="rId112" Type="http://schemas.openxmlformats.org/officeDocument/2006/relationships/slide" Target="slides/slide23.xml"/><Relationship Id="rId113" Type="http://schemas.openxmlformats.org/officeDocument/2006/relationships/slide" Target="slides/slide24.xml"/><Relationship Id="rId114" Type="http://schemas.openxmlformats.org/officeDocument/2006/relationships/slide" Target="slides/slide25.xml"/><Relationship Id="rId115" Type="http://schemas.openxmlformats.org/officeDocument/2006/relationships/slide" Target="slides/slide26.xml"/><Relationship Id="rId116" Type="http://schemas.openxmlformats.org/officeDocument/2006/relationships/slide" Target="slides/slide27.xml"/><Relationship Id="rId117" Type="http://schemas.openxmlformats.org/officeDocument/2006/relationships/slide" Target="slides/slide28.xml"/><Relationship Id="rId118" Type="http://schemas.openxmlformats.org/officeDocument/2006/relationships/slide" Target="slides/slide29.xml"/><Relationship Id="rId119" Type="http://schemas.openxmlformats.org/officeDocument/2006/relationships/slide" Target="slides/slide30.xml"/><Relationship Id="rId626" Type="http://schemas.openxmlformats.org/officeDocument/2006/relationships/font" Target="fonts/NotoSansSymbols-regular.fntdata"/><Relationship Id="rId627" Type="http://schemas.openxmlformats.org/officeDocument/2006/relationships/font" Target="fonts/NotoSansSymbols-bold.fntdata"/><Relationship Id="rId628" Type="http://schemas.openxmlformats.org/officeDocument/2006/relationships/font" Target="fonts/CenturyGothic-regular.fntdata"/><Relationship Id="rId629" Type="http://schemas.openxmlformats.org/officeDocument/2006/relationships/font" Target="fonts/CenturyGothic-bold.fntdata"/><Relationship Id="rId630" Type="http://schemas.openxmlformats.org/officeDocument/2006/relationships/font" Target="fonts/CenturyGothic-italic.fntdata"/><Relationship Id="rId631" Type="http://schemas.openxmlformats.org/officeDocument/2006/relationships/font" Target="fonts/CenturyGothic-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97284"/>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4" name="Google Shape;4;n"/>
          <p:cNvSpPr txBox="1"/>
          <p:nvPr>
            <p:ph idx="10" type="dt"/>
          </p:nvPr>
        </p:nvSpPr>
        <p:spPr>
          <a:xfrm>
            <a:off x="3884613" y="0"/>
            <a:ext cx="2971800" cy="497284"/>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5" name="Google Shape;5;n"/>
          <p:cNvSpPr/>
          <p:nvPr>
            <p:ph idx="3"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lvl1pPr indent="-304800" lvl="0" marL="457200" marR="0" rtl="0" algn="l">
              <a:lnSpc>
                <a:spcPct val="95000"/>
              </a:lnSpc>
              <a:spcBef>
                <a:spcPts val="4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1pPr>
            <a:lvl2pPr indent="-304800" lvl="1" marL="9144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2pPr>
            <a:lvl3pPr indent="-304800" lvl="2" marL="13716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3pPr>
            <a:lvl4pPr indent="-304800" lvl="3" marL="18288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4pPr>
            <a:lvl5pPr indent="-304800" lvl="4" marL="2286000" marR="0" rtl="0" algn="l">
              <a:lnSpc>
                <a:spcPct val="85000"/>
              </a:lnSpc>
              <a:spcBef>
                <a:spcPts val="100"/>
              </a:spcBef>
              <a:spcAft>
                <a:spcPts val="0"/>
              </a:spcAft>
              <a:buClr>
                <a:schemeClr val="dk1"/>
              </a:buClr>
              <a:buSzPts val="1200"/>
              <a:buFont typeface="Arial"/>
              <a:buChar char="•"/>
              <a:defRPr b="0" i="0" sz="1200" u="none" cap="none" strike="noStrike">
                <a:solidFill>
                  <a:schemeClr val="dk1"/>
                </a:solidFill>
                <a:latin typeface="Century Gothic"/>
                <a:ea typeface="Century Gothic"/>
                <a:cs typeface="Century Gothic"/>
                <a:sym typeface="Century Gothic"/>
              </a:defRPr>
            </a:lvl5pPr>
            <a:lvl6pPr indent="-228600" lvl="5" marL="27432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6pPr>
            <a:lvl7pPr indent="-228600" lvl="6" marL="32004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7pPr>
            <a:lvl8pPr indent="-228600" lvl="7" marL="36576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8pPr>
            <a:lvl9pPr indent="-228600" lvl="8" marL="4114800" marR="0" rtl="0" algn="l">
              <a:spcBef>
                <a:spcPts val="0"/>
              </a:spcBef>
              <a:spcAft>
                <a:spcPts val="0"/>
              </a:spcAft>
              <a:buSzPts val="1400"/>
              <a:buNone/>
              <a:defRPr b="0" i="0" sz="1200" u="none" cap="none" strike="noStrike">
                <a:solidFill>
                  <a:schemeClr val="dk1"/>
                </a:solidFill>
                <a:latin typeface="Century Gothic"/>
                <a:ea typeface="Century Gothic"/>
                <a:cs typeface="Century Gothic"/>
                <a:sym typeface="Century Gothic"/>
              </a:defRPr>
            </a:lvl9pPr>
          </a:lstStyle>
          <a:p/>
        </p:txBody>
      </p:sp>
      <p:sp>
        <p:nvSpPr>
          <p:cNvPr id="7" name="Google Shape;7;n"/>
          <p:cNvSpPr txBox="1"/>
          <p:nvPr/>
        </p:nvSpPr>
        <p:spPr>
          <a:xfrm>
            <a:off x="286468" y="9509858"/>
            <a:ext cx="109004"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b="0" i="0" lang="en-GB" sz="700" u="none" cap="none" strike="noStrike">
                <a:solidFill>
                  <a:schemeClr val="lt2"/>
                </a:solidFill>
                <a:latin typeface="Century Gothic"/>
                <a:ea typeface="Century Gothic"/>
                <a:cs typeface="Century Gothic"/>
                <a:sym typeface="Century Gothic"/>
              </a:rPr>
              <a:t>‹#›</a:t>
            </a:fld>
            <a:endParaRPr b="0" i="0" sz="700" u="none" cap="none" strike="noStrike">
              <a:solidFill>
                <a:schemeClr val="lt2"/>
              </a:solidFill>
              <a:latin typeface="Century Gothic"/>
              <a:ea typeface="Century Gothic"/>
              <a:cs typeface="Century Gothic"/>
              <a:sym typeface="Century Gothic"/>
            </a:endParaRPr>
          </a:p>
        </p:txBody>
      </p:sp>
      <p:grpSp>
        <p:nvGrpSpPr>
          <p:cNvPr id="8" name="Google Shape;8;n"/>
          <p:cNvGrpSpPr/>
          <p:nvPr/>
        </p:nvGrpSpPr>
        <p:grpSpPr>
          <a:xfrm>
            <a:off x="6010878" y="9504586"/>
            <a:ext cx="531812" cy="129502"/>
            <a:chOff x="5137" y="4139"/>
            <a:chExt cx="335" cy="75"/>
          </a:xfrm>
        </p:grpSpPr>
        <p:sp>
          <p:nvSpPr>
            <p:cNvPr id="9" name="Google Shape;9;n"/>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0" name="Google Shape;10;n"/>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11" name="Google Shape;11;n"/>
          <p:cNvSpPr txBox="1"/>
          <p:nvPr>
            <p:ph idx="11" type="ftr"/>
          </p:nvPr>
        </p:nvSpPr>
        <p:spPr>
          <a:xfrm>
            <a:off x="457200" y="9514580"/>
            <a:ext cx="2971800" cy="107722"/>
          </a:xfrm>
          <a:prstGeom prst="rect">
            <a:avLst/>
          </a:prstGeom>
          <a:noFill/>
          <a:ln>
            <a:noFill/>
          </a:ln>
        </p:spPr>
        <p:txBody>
          <a:bodyPr anchorCtr="0" anchor="ctr" bIns="0" lIns="0" spcFirstLastPara="1" rIns="0" wrap="square" tIns="0">
            <a:noAutofit/>
          </a:bodyPr>
          <a:lstStyle>
            <a:lvl1pPr lvl="0" marR="0" rtl="0" algn="l">
              <a:spcBef>
                <a:spcPts val="0"/>
              </a:spcBef>
              <a:spcAft>
                <a:spcPts val="0"/>
              </a:spcAft>
              <a:buSzPts val="1400"/>
              <a:buNone/>
              <a:defRPr sz="700">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CUSTOMER INTERACTION MANAGEMENT — DOMAIN DASHBOARD</a:t>
            </a:r>
          </a:p>
          <a:p/>
          <a:p>
            <a:r>
              <a:t>This slide provides a high-level comparison of Customer Interaction Management maturity across global, regional (South Asia &amp; Middle East), and Pakistan banking markets.</a:t>
            </a:r>
          </a:p>
          <a:p/>
          <a:p>
            <a:r>
              <a:t>Key Takeaways:</a:t>
            </a:r>
          </a:p>
          <a:p>
            <a:r>
              <a:t>- Pakistan lags significantly in marketing automation (&lt;15% adoption vs 75% global)</a:t>
            </a:r>
          </a:p>
          <a:p>
            <a:r>
              <a:t>- Real-time personalization exists at &lt;5% of Pakistan banks vs 50%+ of digital banks globally</a:t>
            </a:r>
          </a:p>
          <a:p>
            <a:r>
              <a:t>- NBA (Next Best Action) deployed at &lt;3% of Pakistan banks vs 40% of top global banks</a:t>
            </a:r>
          </a:p>
          <a:p>
            <a:r>
              <a:t>- Marketing attribution in place at &lt;5% of Pakistan banks vs 55% globally</a:t>
            </a:r>
          </a:p>
          <a:p>
            <a:r>
              <a:t>- Campaign ROI measurement is rare — most lack control groups</a:t>
            </a:r>
          </a:p>
          <a:p/>
          <a:p>
            <a:r>
              <a:t>This domain covers 15 BVF sub-capabilities with ~100+ FSDM entities across Campaign, Channel, Interaction, and Contact domains. BACR assessment covers ~80 maturity questions.</a:t>
            </a:r>
          </a:p>
          <a:p/>
          <a:p>
            <a:r>
              <a:t>Investment Justification: Moving from Developing to Innovating maturity across these 15 capabilities can deliver 3-5x marketing ROI improvement, 2x campaign response rates, and products/customer from 1.8 to 3.0+.</a:t>
            </a:r>
          </a:p>
          <a:p/>
          <a:p>
            <a:r>
              <a:t>FSDM Domains: Campaign (~100+ entities), Channel (~250+ entities), Interaction/Event (~700 entities)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PAKISTAN — CUSTOMER INTERACTION LANDSCAPE</a:t>
            </a:r>
          </a:p>
          <a:p/>
          <a:p>
            <a:r>
              <a:t>Channel Reach &amp; Effectiveness:</a:t>
            </a:r>
          </a:p>
          <a:p>
            <a:r>
              <a:t>- SMS: 95%+ reach (mobile penetration), 2-5% response rate, OVERUSED</a:t>
            </a:r>
          </a:p>
          <a:p>
            <a:r>
              <a:t>- Push Notification: 30% reach (app installed), 8-15% open rate, GROWING</a:t>
            </a:r>
          </a:p>
          <a:p>
            <a:r>
              <a:t>- WhatsApp Business: 20% reach, 40-60% open rate, EMERGING — highest engagement</a:t>
            </a:r>
          </a:p>
          <a:p>
            <a:r>
              <a:t>- Email: 15% reach (urban/corporate only), 5-10% open rate, LOW priority</a:t>
            </a:r>
          </a:p>
          <a:p>
            <a:r>
              <a:t>- In-App Messages: 25% reach, 15-25% engagement, HIGHEST conversion</a:t>
            </a:r>
          </a:p>
          <a:p>
            <a:r>
              <a:t>- Branch Face-to-Face: 100% for walk-ins, high conversion, HIGH cost</a:t>
            </a:r>
          </a:p>
          <a:p>
            <a:r>
              <a:t>- Contact Center: Urdu/English bilingual, 1M+ calls/month (top-5 banks), CRITICAL for complaints</a:t>
            </a:r>
          </a:p>
          <a:p>
            <a:r>
              <a:t>- Agent Network: 500,000+ agents, rural reach, ESSENTIAL for financial inclusion</a:t>
            </a:r>
          </a:p>
          <a:p/>
          <a:p>
            <a:r>
              <a:t>Key Challenges:</a:t>
            </a:r>
          </a:p>
          <a:p>
            <a:r>
              <a:t>1. SMS FATIGUE: Customers receive 5-10 bank SMS daily — regulatory crackdown looming</a:t>
            </a:r>
          </a:p>
          <a:p>
            <a:r>
              <a:t>2. NO CDP: &lt;5% of banks have Customer Data Platform — interactions siloed by channel</a:t>
            </a:r>
          </a:p>
          <a:p>
            <a:r>
              <a:t>3. BATCH-ONLY: Most campaigns run on monthly batch — no real-time personalization</a:t>
            </a:r>
          </a:p>
          <a:p>
            <a:r>
              <a:t>4. NO ATTRIBUTION: Marketing spend not tracked to conversion — budget allocation is gut-feel</a:t>
            </a:r>
          </a:p>
          <a:p>
            <a:r>
              <a:t>5. LANGUAGE: Must support Urdu, English, and increasingly Sindhi, Pashto, Punjabi</a:t>
            </a:r>
          </a:p>
          <a:p>
            <a:r>
              <a:t>6. COMPLIANCE: SBP Consumer Protection requires opt-in for marketing + complaint response SLAs</a:t>
            </a:r>
          </a:p>
          <a:p/>
          <a:p>
            <a:r>
              <a:t>Opportunity: Pakistan's unique combination of high mobile penetration, growing smartphone adoption, and emerging digital payment infrastructure (RAAST) creates a window for banks to leapfrog to omni-channel marketing.</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CUSTOMER INTERACTION MANAGEMENT — IMPLEMENTATION ROADMAP</a:t>
            </a:r>
          </a:p>
          <a:p/>
          <a:p>
            <a:r>
              <a:t>Phase 1: Foundation (0-6 months) — Investment: PKR 40-70M</a:t>
            </a:r>
          </a:p>
          <a:p>
            <a:r>
              <a:t>- Implement contact policy framework (prevent SMS fatigue)</a:t>
            </a:r>
          </a:p>
          <a:p>
            <a:r>
              <a:t>- Build unified customer contact history across channels</a:t>
            </a:r>
          </a:p>
          <a:p>
            <a:r>
              <a:t>- Launch WhatsApp Business channel for top 20% customers</a:t>
            </a:r>
          </a:p>
          <a:p>
            <a:r>
              <a:t>- A/B testing framework for SMS and push notifications</a:t>
            </a:r>
          </a:p>
          <a:p>
            <a:r>
              <a:t>Quick Win: 30% reduction in SMS opt-outs</a:t>
            </a:r>
          </a:p>
          <a:p/>
          <a:p>
            <a:r>
              <a:t>Phase 2: Intelligence (6-18 months) — Investment: PKR 100-180M</a:t>
            </a:r>
          </a:p>
          <a:p>
            <a:r>
              <a:t>- Customer Data Platform (CDP) implementation</a:t>
            </a:r>
          </a:p>
          <a:p>
            <a:r>
              <a:t>- Multi-step campaign automation (Ramadan, Eid, salary-day sequences)</a:t>
            </a:r>
          </a:p>
          <a:p>
            <a:r>
              <a:t>- Personalization engine — segment-level then individual-level</a:t>
            </a:r>
          </a:p>
          <a:p>
            <a:r>
              <a:t>- Call center optimization with customer 360 view for agents</a:t>
            </a:r>
          </a:p>
          <a:p>
            <a:r>
              <a:t>Expected: 2x campaign response rates</a:t>
            </a:r>
          </a:p>
          <a:p/>
          <a:p>
            <a:r>
              <a:t>Phase 3: Real-Time (18-36 months) — Investment: PKR 150-280M</a:t>
            </a:r>
          </a:p>
          <a:p>
            <a:r>
              <a:t>- Next Best Action engine across branch, mobile, contact center</a:t>
            </a:r>
          </a:p>
          <a:p>
            <a:r>
              <a:t>- Real-time contextual decisioning (location, transaction, app behavior)</a:t>
            </a:r>
          </a:p>
          <a:p>
            <a:r>
              <a:t>- Marketing attribution model (digital + branch + ATL integration)</a:t>
            </a:r>
          </a:p>
          <a:p>
            <a:r>
              <a:t>- AI-powered product recommendation at every touchpoint</a:t>
            </a:r>
          </a:p>
          <a:p>
            <a:r>
              <a:t>Expected: 3x marketing ROI, products/customer from 1.8 to 3.0+</a:t>
            </a:r>
          </a:p>
          <a:p/>
          <a:p>
            <a:r>
              <a:t>Total 3-Year Investment: PKR 290-530M (~USD 1-2M)</a:t>
            </a:r>
          </a:p>
          <a:p>
            <a:r>
              <a:t>Estimated Annual Revenue Impact: PKR 500M-1B from improved marketing effectiveness</a:t>
            </a: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p8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775" name="Google Shape;1775;p8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6" name="Google Shape;1776;p8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COMMUNICATION TARGETING — Capability Detail</a:t>
            </a:r>
            <a:endParaRPr/>
          </a:p>
          <a:p/>
          <a:p>
            <a:r>
              <a:t>PAKISTAN CHANNEL TARGETING MATRIX:</a:t>
            </a:r>
          </a:p>
          <a:p>
            <a:r>
              <a:t>| Segment | Primary Channel | Secondary | Tertiary |</a:t>
            </a:r>
          </a:p>
          <a:p>
            <a:r>
              <a:t>| Youth (&lt;30) | Push notification / In-app | WhatsApp | SMS |</a:t>
            </a:r>
          </a:p>
          <a:p>
            <a:r>
              <a:t>| Mass Market | SMS | Agent outreach | Branch |</a:t>
            </a:r>
          </a:p>
          <a:p>
            <a:r>
              <a:t>| Affluent | WhatsApp / RM call | In-app | Email |</a:t>
            </a:r>
          </a:p>
          <a:p>
            <a:r>
              <a:t>| HNW/Private | RM personal call | WhatsApp | Branch invitation |</a:t>
            </a:r>
          </a:p>
          <a:p>
            <a:r>
              <a:t>| Diaspora | Email / WhatsApp | In-app (RDA) | SMS |</a:t>
            </a:r>
          </a:p>
          <a:p>
            <a:r>
              <a:t>| Rural/Agent | Agent network | SMS (USSD) | Branch |</a:t>
            </a:r>
          </a:p>
          <a:p>
            <a:r>
              <a:t>| Islamic-pref | SMS (Urdu) | Branch (Islamic) | WhatsApp |</a:t>
            </a:r>
          </a:p>
          <a:p>
            <a:r>
              <a:t>| Corporate | Email | RM call | Branch visit |</a:t>
            </a:r>
          </a:p>
          <a:p/>
          <a:p>
            <a:r>
              <a:t>Key Pakistan regulations:</a:t>
            </a:r>
          </a:p>
          <a:p>
            <a:r>
              <a:t>- SBP requires explicit opt-in for marketing communications</a:t>
            </a:r>
          </a:p>
          <a:p>
            <a:r>
              <a:t>- PTA restricts bulk SMS sending — DND (Do Not Disturb) registry</a:t>
            </a:r>
          </a:p>
          <a:p>
            <a:r>
              <a:t>- PEMRA governs above-the-line advertising content</a:t>
            </a:r>
          </a:p>
          <a:p>
            <a:r>
              <a:t>- Data privacy considerations (no formal law yet, but SECP guidelines)</a:t>
            </a:r>
          </a:p>
          <a:p/>
          <a:p>
            <a:r>
              <a:t>FSDM: CMPGN (Campaign), CMPGN_TRGTS (Campaign Targets), SGMNT (Segment), ELIG (Eligibility), CHNL (Channel), OPT_IN (Opt-In), CNTCT_PREF (Contact Preference)</a:t>
            </a: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5" name="Shape 1815"/>
        <p:cNvGrpSpPr/>
        <p:nvPr/>
      </p:nvGrpSpPr>
      <p:grpSpPr>
        <a:xfrm>
          <a:off x="0" y="0"/>
          <a:ext cx="0" cy="0"/>
          <a:chOff x="0" y="0"/>
          <a:chExt cx="0" cy="0"/>
        </a:xfrm>
      </p:grpSpPr>
      <p:sp>
        <p:nvSpPr>
          <p:cNvPr id="1816" name="Google Shape;1816;p8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817" name="Google Shape;1817;p8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8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COMMUNICATION TARGETING — Maturity Assessment</a:t>
            </a:r>
            <a:endParaRPr/>
          </a:p>
          <a:p/>
          <a:p>
            <a:r>
              <a:t>Current State (Developing): Pakistan banks use basic segments — product ownership, channel registration, standard exclusions. Most campaigns target broad customer groups with minimal analytics.</a:t>
            </a:r>
          </a:p>
          <a:p/>
          <a:p>
            <a:r>
              <a:t>Target State (Innovating): Rich target segments built from offline + advanced analytics. Event-based and predictive targeting. Reusable segment library for rapid campaign deployment.</a:t>
            </a:r>
          </a:p>
          <a:p/>
          <a:p>
            <a:r>
              <a:t>Pakistan Maturity Context:</a:t>
            </a:r>
          </a:p>
          <a:p>
            <a:r>
              <a:t>- Leading (0% of PK banks): ML-based real-time micro-targeting, self-optimizing segments</a:t>
            </a:r>
          </a:p>
          <a:p>
            <a:r>
              <a:t>- Innovating (0%): Advanced analytics-based segments, event triggers</a:t>
            </a:r>
          </a:p>
          <a:p>
            <a:r>
              <a:t>- Practicing (&lt;5%): Comprehensive segments with change control processes</a:t>
            </a:r>
          </a:p>
          <a:p>
            <a:r>
              <a:t>- Developing (~15%): Basic product/channel segments for most campaigns</a:t>
            </a:r>
          </a:p>
          <a:p>
            <a:r>
              <a:t>- Emerging (~80%): Each campaign built from scratch, no segment reuse</a:t>
            </a:r>
          </a:p>
          <a:p/>
          <a:p>
            <a:r>
              <a:t>Key Gaps: No reusable segment library, no CNIC-based household targeting, no seasonal segment automation, limited analytics resources for target optimization.</a:t>
            </a:r>
          </a:p>
          <a:p/>
          <a:p>
            <a:r>
              <a:t>FSDM: CMPGN (Campaign), CMPGN_TRGTS (Campaign Targets), SGMNT (Segment), ELIG (Eligibility), CHNL (Channel), OPT_IN (Opt-In), CNTCT_PREF (Contact Preference)</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p8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831" name="Google Shape;1831;p8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p8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CONTACT OPTIMIZATION — Capability Detail</a:t>
            </a:r>
            <a:endParaRPr/>
          </a:p>
          <a:p/>
          <a:p>
            <a:r>
              <a:t>PAKISTAN CONTACT FATIGUE CRISIS:</a:t>
            </a:r>
          </a:p>
          <a:p>
            <a:r>
              <a:t>Average Pakistan bank customer receives:</a:t>
            </a:r>
          </a:p>
          <a:p>
            <a:r>
              <a:t>- 3-5 promotional SMS per day from their own bank</a:t>
            </a:r>
          </a:p>
          <a:p>
            <a:r>
              <a:t>- 2-3 promotional SMS from other banks (data sharing via third parties)</a:t>
            </a:r>
          </a:p>
          <a:p>
            <a:r>
              <a:t>- 5+ SMS from telcos, retailers, and service providers</a:t>
            </a:r>
          </a:p>
          <a:p>
            <a:r>
              <a:t>Total: 10-15+ promotional SMS daily = severe fatigue</a:t>
            </a:r>
          </a:p>
          <a:p/>
          <a:p>
            <a:r>
              <a:t>Result: &lt;2% response rates on SMS (was 5-8% five years ago), rising opt-out rates, customer complaints to SBP.</a:t>
            </a:r>
          </a:p>
          <a:p/>
          <a:p>
            <a:r>
              <a:t>Contact policy framework priorities for Pakistan:</a:t>
            </a:r>
          </a:p>
          <a:p>
            <a:r>
              <a:t>1. FREQUENCY CAP: Max 2 promotional SMS per week per customer (not per campaign)</a:t>
            </a:r>
          </a:p>
          <a:p>
            <a:r>
              <a:t>2. RECENCY RULE: Min 48-hour gap between promotional contacts to same customer</a:t>
            </a:r>
          </a:p>
          <a:p>
            <a:r>
              <a:t>3. COMPLAINT SUPPRESSION: 30-day marketing blackout after any complaint</a:t>
            </a:r>
          </a:p>
          <a:p>
            <a:r>
              <a:t>4. CHANNEL PREFERENCE: Respect stated preference (many customers prefer WhatsApp over SMS)</a:t>
            </a:r>
          </a:p>
          <a:p>
            <a:r>
              <a:t>5. RAMADAN RULES: Adjust frequency and timing — no hard-sell during Sehri/Iftar, focus on Zakat/Islamic products</a:t>
            </a:r>
          </a:p>
          <a:p>
            <a:r>
              <a:t>6. DO-NOT-DISTURB: Comply with PTA DND registry — auto-suppress registered numbers</a:t>
            </a:r>
          </a:p>
          <a:p>
            <a:r>
              <a:t>7. TRANSACTIONAL vs. PROMOTIONAL: Never mix promotional content in transactional notifications (SBP regulation)</a:t>
            </a:r>
          </a:p>
          <a:p/>
          <a:p>
            <a:r>
              <a:t>FSDM: CNTCT_PLCY (Contact Policy), CNTCT_FREQ (Contact Frequency), CNTCT_RCNCY (Contact Recency), SPRSN (Suppression), OPT_OUT (Opt-Out), CHNL_PREF (Channel Preference), CNTCT_HSTRY (Contact History)</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p8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873" name="Google Shape;1873;p8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4" name="Google Shape;1874;p8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CONTACT OPTIMIZATION — Maturity Assessment</a:t>
            </a:r>
            <a:endParaRPr/>
          </a:p>
          <a:p/>
          <a:p>
            <a:r>
              <a:t>Current State (Developing): Basic frequency caps exist at some banks but enforcement is inconsistent. No Ramadan/Friday timing rules. No unified contact policy across channels.</a:t>
            </a:r>
          </a:p>
          <a:p/>
          <a:p>
            <a:r>
              <a:t>Target State (Innovating): Enterprise contact policy engine governing all channels with cultural/regulatory timing rules, customer preference management, and SBP compliance.</a:t>
            </a:r>
          </a:p>
          <a:p/>
          <a:p>
            <a:r>
              <a:t>Pakistan Maturity Context:</a:t>
            </a:r>
          </a:p>
          <a:p>
            <a:r>
              <a:t>- Developing (~15%): Basic SMS frequency caps, product-level limits</a:t>
            </a:r>
          </a:p>
          <a:p>
            <a:r>
              <a:t>- Emerging (~85%): No contact policy, unlimited promotional SMS, no time-gating</a:t>
            </a:r>
          </a:p>
          <a:p/>
          <a:p>
            <a:r>
              <a:t>Critical Gap: Pakistan banks' lack of contact governance causes massive customer fatigue, leading to SMS blocking that impacts even critical transactional messages (OTP, fraud alerts).</a:t>
            </a:r>
          </a:p>
          <a:p/>
          <a:p>
            <a:r>
              <a:t>FSDM: CNTCT_PLCY (Contact Policy), CNTCT_FREQ (Contact Frequency), CNTCT_RCNCY (Contact Recency), SPRSN (Suppression), OPT_OUT (Opt-Out), CHNL_PREF (Channel Preference), CNTCT_HSTRY (Contact History)</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p8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887" name="Google Shape;1887;p8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8" name="Google Shape;1888;p8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RESPONSE OPTIMIZATION — Capability Detail</a:t>
            </a:r>
            <a:endParaRPr/>
          </a:p>
          <a:p/>
          <a:p>
            <a:r>
              <a:t>PAKISTAN RESPONSE OPTIMIZATION:</a:t>
            </a:r>
          </a:p>
          <a:p>
            <a:r>
              <a:t>Current state: Most Pakistan banks measure only "SMS delivered" and "call completed" — not actual response or conversion.</a:t>
            </a:r>
          </a:p>
          <a:p/>
          <a:p>
            <a:r>
              <a:t>Optimization opportunities:</a:t>
            </a:r>
          </a:p>
          <a:p>
            <a:r>
              <a:t>1. TIMING: Salary credit day (1st-5th) generates 3x response for lending products. Ramadan Zakat period generates 5x response for Islamic products. Friday afternoon generates lowest response (prayer time).</a:t>
            </a:r>
          </a:p>
          <a:p>
            <a:r>
              <a:t>2. LANGUAGE: Urdu SMS generates 40% higher response in mass market segment; English better for urban affluent.</a:t>
            </a:r>
          </a:p>
          <a:p>
            <a:r>
              <a:t>3. CHANNEL: WhatsApp generates 3-5x response vs. SMS for same offer (due to richer content + less fatigue).</a:t>
            </a:r>
          </a:p>
          <a:p>
            <a:r>
              <a:t>4. OFFER TYPE: Cashback offers outperform interest rate offers 2:1 in Pakistan's price-sensitive market.</a:t>
            </a:r>
          </a:p>
          <a:p>
            <a:r>
              <a:t>5. PERSONALIZATION: Using customer name + product they hold + specific benefit generates 2x vs. generic.</a:t>
            </a:r>
          </a:p>
          <a:p/>
          <a:p>
            <a:r>
              <a:t>A/B testing framework needed:</a:t>
            </a:r>
          </a:p>
          <a:p>
            <a:r>
              <a:t>- Test one variable at a time (channel, timing, language, offer, creative)</a:t>
            </a:r>
          </a:p>
          <a:p>
            <a:r>
              <a:t>- Minimum 10K control group per test</a:t>
            </a:r>
          </a:p>
          <a:p>
            <a:r>
              <a:t>- Measure through to activation, not just response</a:t>
            </a:r>
          </a:p>
          <a:p>
            <a:r>
              <a:t>- 2-week measurement window minimum (Pakistani customers take longer to act)</a:t>
            </a:r>
          </a:p>
          <a:p>
            <a:r>
              <a:t>- Document learnings in campaign knowledge base</a:t>
            </a:r>
          </a:p>
          <a:p/>
          <a:p>
            <a:r>
              <a:t>FSDM: CMPGN_RSPNS (Campaign Response), CNVRSN (Conversion), A_B_TST (A/B Test), CMPGN_KPI (Campaign KPI), RSP_RT (Response Rate), CMPGN_RSLT (Campaign Result)</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7" name="Shape 1927"/>
        <p:cNvGrpSpPr/>
        <p:nvPr/>
      </p:nvGrpSpPr>
      <p:grpSpPr>
        <a:xfrm>
          <a:off x="0" y="0"/>
          <a:ext cx="0" cy="0"/>
          <a:chOff x="0" y="0"/>
          <a:chExt cx="0" cy="0"/>
        </a:xfrm>
      </p:grpSpPr>
      <p:sp>
        <p:nvSpPr>
          <p:cNvPr id="1928" name="Google Shape;1928;p8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929" name="Google Shape;1929;p8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0" name="Google Shape;1930;p8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RESPONSE OPTIMIZATION — Maturity Assessment</a:t>
            </a:r>
            <a:endParaRPr/>
          </a:p>
          <a:p/>
          <a:p>
            <a:r>
              <a:t>Current State (Developing): Most Pakistan banks measure only "SMS delivered" — not actual response or conversion. No A/B testing culture. No systematic optimization.</a:t>
            </a:r>
          </a:p>
          <a:p/>
          <a:p>
            <a:r>
              <a:t>Target State (Innovating): Continuous A/B testing with automated optimization. Response analysis by segment, channel, timing, and language. 2-week measurement windows.</a:t>
            </a:r>
          </a:p>
          <a:p/>
          <a:p>
            <a:r>
              <a:t>Pakistan Benchmarks: SMS response 1-3% (industry), WhatsApp 3-5x higher for same offer. Massive optimization opportunity from untested campaigns.</a:t>
            </a:r>
          </a:p>
          <a:p/>
          <a:p>
            <a:r>
              <a:t>FSDM: CMPGN_RSPNS (Campaign Response), CNVRSN (Conversion), A_B_TST (A/B Test), CMPGN_KPI (Campaign KPI), RSP_RT (Response Rate), CMPGN_RSLT (Campaign Result)</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1" name="Shape 1941"/>
        <p:cNvGrpSpPr/>
        <p:nvPr/>
      </p:nvGrpSpPr>
      <p:grpSpPr>
        <a:xfrm>
          <a:off x="0" y="0"/>
          <a:ext cx="0" cy="0"/>
          <a:chOff x="0" y="0"/>
          <a:chExt cx="0" cy="0"/>
        </a:xfrm>
      </p:grpSpPr>
      <p:sp>
        <p:nvSpPr>
          <p:cNvPr id="1942" name="Google Shape;1942;p9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943" name="Google Shape;1943;p9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4" name="Google Shape;1944;p9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CROSS-CHANNEL CUSTOMER EXPERIENCE — Capability Detail</a:t>
            </a:r>
            <a:endParaRPr/>
          </a:p>
          <a:p/>
          <a:p>
            <a:r>
              <a:t>PAKISTAN CHANNEL ECOSYSTEM:</a:t>
            </a:r>
          </a:p>
          <a:p>
            <a:r>
              <a:t>| Channel | Reach | Cost/Interaction | Trend |</a:t>
            </a:r>
          </a:p>
          <a:p>
            <a:r>
              <a:t>| Branch (16,000+) | Universal | PKR 150-300 | Stable (declining share) |</a:t>
            </a:r>
          </a:p>
          <a:p>
            <a:r>
              <a:t>| ATM (16,000+) | 60M+ cardholders | PKR 30-50 | Stable |</a:t>
            </a:r>
          </a:p>
          <a:p>
            <a:r>
              <a:t>| Mobile App | 30M+ downloads | PKR 5-15 | Rapidly growing (40% YoY) |</a:t>
            </a:r>
          </a:p>
          <a:p>
            <a:r>
              <a:t>| Internet Banking | 15M+ users | PKR 10-20 | Growing |</a:t>
            </a:r>
          </a:p>
          <a:p>
            <a:r>
              <a:t>| Contact Center | Universal | PKR 80-150 per call | Stable |</a:t>
            </a:r>
          </a:p>
          <a:p>
            <a:r>
              <a:t>| USSD | 100M+ mobile users | PKR 2-5 | Stable (feature phones) |</a:t>
            </a:r>
          </a:p>
          <a:p>
            <a:r>
              <a:t>| Agent Network | 500,000+ agents | PKR 20-40 | Growing |</a:t>
            </a:r>
          </a:p>
          <a:p>
            <a:r>
              <a:t>| WhatsApp Business | Emerging | PKR 3-8 | New — high potential |</a:t>
            </a:r>
          </a:p>
          <a:p>
            <a:r>
              <a:t>| RAAST/IBFT | 50M+ monthly | PKR 2-5 | Explosive growth |</a:t>
            </a:r>
          </a:p>
          <a:p/>
          <a:p>
            <a:r>
              <a:t>Cross-channel challenge: Most Pakistan banks have NO unified interaction history. A customer who calls the contact center about a failed mobile transaction is asked to repeat everything because the agent cannot see the mobile app session.</a:t>
            </a:r>
          </a:p>
          <a:p/>
          <a:p>
            <a:r>
              <a:t>FSDM: CHNL (Channel), CHNL_INTN (Channel Interaction), CHNL_PRFNC (Channel Performance), CSTMR_CHNL_PREF (Customer Channel Preference), OMNI_CHNL (Omni-Channel), CHNL_INTGRTN (Channel Integration)</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3" name="Shape 1983"/>
        <p:cNvGrpSpPr/>
        <p:nvPr/>
      </p:nvGrpSpPr>
      <p:grpSpPr>
        <a:xfrm>
          <a:off x="0" y="0"/>
          <a:ext cx="0" cy="0"/>
          <a:chOff x="0" y="0"/>
          <a:chExt cx="0" cy="0"/>
        </a:xfrm>
      </p:grpSpPr>
      <p:sp>
        <p:nvSpPr>
          <p:cNvPr id="1984" name="Google Shape;1984;p9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985" name="Google Shape;1985;p9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6" name="Google Shape;1986;p9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CROSS-CHANNEL CUSTOMER EXPERIENCE — Maturity Assessment</a:t>
            </a:r>
            <a:endParaRPr/>
          </a:p>
          <a:p/>
          <a:p>
            <a:r>
              <a:t>Current State (Developing): Channels operate in silos. No unified view. No handoff capability. Agent and branch systems completely disconnected from digital.</a:t>
            </a:r>
          </a:p>
          <a:p/>
          <a:p>
            <a:r>
              <a:t>Target State (Innovating): Unified interaction view, seamless channel handoff, consistent experience regardless of touchpoint, journey-aware interactions.</a:t>
            </a:r>
          </a:p>
          <a:p/>
          <a:p>
            <a:r>
              <a:t>Pakistan Reality: 9 distinct channel systems with zero integration. Customer must repeat information at every touchpoint. Branch has no knowledge of digital engagement.</a:t>
            </a:r>
          </a:p>
          <a:p/>
          <a:p>
            <a:r>
              <a:t>FSDM: CHNL (Channel), CHNL_INTN (Channel Interaction), CHNL_PRFNC (Channel Performance), CSTMR_CHNL_PREF (Customer Channel Preference), OMNI_CHNL (Omni-Channel), CHNL_INTGRTN (Channel Integration)</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7" name="Shape 1997"/>
        <p:cNvGrpSpPr/>
        <p:nvPr/>
      </p:nvGrpSpPr>
      <p:grpSpPr>
        <a:xfrm>
          <a:off x="0" y="0"/>
          <a:ext cx="0" cy="0"/>
          <a:chOff x="0" y="0"/>
          <a:chExt cx="0" cy="0"/>
        </a:xfrm>
      </p:grpSpPr>
      <p:sp>
        <p:nvSpPr>
          <p:cNvPr id="1998" name="Google Shape;1998;p9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1999" name="Google Shape;1999;p9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0" name="Google Shape;2000;p9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CONTEXTUAL DECISIONING — Capability Detail</a:t>
            </a:r>
            <a:endParaRPr/>
          </a:p>
          <a:p/>
          <a:p>
            <a:r>
              <a:t>PAKISTAN CONTEXTUAL OPPORTUNITIES:</a:t>
            </a:r>
          </a:p>
          <a:p>
            <a:r>
              <a:t>Real-time context signals available in Pakistan banking:</a:t>
            </a:r>
          </a:p>
          <a:p>
            <a:r>
              <a:t>1. TRANSACTION: Salary credit, large deposit, large withdrawal, bill payment, international remittance</a:t>
            </a:r>
          </a:p>
          <a:p>
            <a:r>
              <a:t>2. APP BEHAVIOR: Product page browse, calculator use, loan eligibility check, FD rate comparison</a:t>
            </a:r>
          </a:p>
          <a:p>
            <a:r>
              <a:t>3. LOCATION: Branch proximity (GPS), merchant proximity, airport/travel detection</a:t>
            </a:r>
          </a:p>
          <a:p>
            <a:r>
              <a:t>4. TIME: Salary day (1st-5th), bill payment day, Ramadan/Eid, weekend vs. weekday</a:t>
            </a:r>
          </a:p>
          <a:p>
            <a:r>
              <a:t>5. LIFECYCLE: Just opened account, just activated card, just made first RAAST payment</a:t>
            </a:r>
          </a:p>
          <a:p>
            <a:r>
              <a:t>6. RISK: Failed transaction, login from new device, suspected fraud alert</a:t>
            </a:r>
          </a:p>
          <a:p/>
          <a:p>
            <a:r>
              <a:t>Current Pakistan reality: Almost zero contextual decisioning deployed. Offers are pre-generated in batch and pushed regardless of customer context. No bank is doing real-time NBA in Pakistan as of 2025.</a:t>
            </a:r>
          </a:p>
          <a:p/>
          <a:p>
            <a:r>
              <a:t>FSDM: CNTXT (Context), DCSNNG (Decisioning), RL_TM_EVNT (Real-Time Event), OFFR_ARBTTN (Offer Arbitration), TRGR (Trigger), CNTXT_DCSNNG (Contextual Decisioning)</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p9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041" name="Google Shape;2041;p9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2" name="Google Shape;2042;p9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CONTEXTUAL DECISIONING — Maturity Assessment</a:t>
            </a:r>
            <a:endParaRPr/>
          </a:p>
          <a:p/>
          <a:p>
            <a:r>
              <a:t>Current State (Developing): Batch-driven campaigns with no contextual awareness. No event triggers. No real-time decisioning.</a:t>
            </a:r>
          </a:p>
          <a:p/>
          <a:p>
            <a:r>
              <a:t>Target State (Innovating): Event-triggered contextual offers across multiple touchpoints with real-time decisioning and personalization.</a:t>
            </a:r>
          </a:p>
          <a:p/>
          <a:p>
            <a:r>
              <a:t>Pakistan Gap: Almost zero contextual decisioning deployed. Salary credit, RAAST, and branch walk-in contexts are completely untapped.</a:t>
            </a:r>
          </a:p>
          <a:p/>
          <a:p>
            <a:r>
              <a:t>FSDM: CNTXT (Context), DCSNNG (Decisioning), RL_TM_EVNT (Real-Time Event), OFFR_ARBTTN (Offer Arbitration), TRGR (Trigger), CNTXT_DCSNNG (Contextual Decisioning)</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3" name="Shape 2053"/>
        <p:cNvGrpSpPr/>
        <p:nvPr/>
      </p:nvGrpSpPr>
      <p:grpSpPr>
        <a:xfrm>
          <a:off x="0" y="0"/>
          <a:ext cx="0" cy="0"/>
          <a:chOff x="0" y="0"/>
          <a:chExt cx="0" cy="0"/>
        </a:xfrm>
      </p:grpSpPr>
      <p:sp>
        <p:nvSpPr>
          <p:cNvPr id="2054" name="Google Shape;2054;p9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055" name="Google Shape;2055;p9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6" name="Google Shape;2056;p9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CALL/CONTACT CENTER OPTIMIZATION — Capability Detail</a:t>
            </a:r>
            <a:endParaRPr/>
          </a:p>
          <a:p/>
          <a:p>
            <a:r>
              <a:t>PAKISTAN CONTACT CENTER LANDSCAPE:</a:t>
            </a:r>
          </a:p>
          <a:p>
            <a:r>
              <a:t>Top-5 banks handle 1M+ calls/month each. Typical contact center:</a:t>
            </a:r>
          </a:p>
          <a:p>
            <a:r>
              <a:t>- 200-500 agents per large bank</a:t>
            </a:r>
          </a:p>
          <a:p>
            <a:r>
              <a:t>- IVR handles 40-60% of calls (balance inquiry, mini-statement, card block)</a:t>
            </a:r>
          </a:p>
          <a:p>
            <a:r>
              <a:t>- Average handle time: 5-8 minutes (high — agents lack customer context)</a:t>
            </a:r>
          </a:p>
          <a:p>
            <a:r>
              <a:t>- First call resolution: 60-70% (low — requires callback or branch visit)</a:t>
            </a:r>
          </a:p>
          <a:p>
            <a:r>
              <a:t>- Languages: Urdu (70%), English (25%), Regional (5%)</a:t>
            </a:r>
          </a:p>
          <a:p/>
          <a:p>
            <a:r>
              <a:t>Key optimization opportunities:</a:t>
            </a:r>
          </a:p>
          <a:p>
            <a:r>
              <a:t>1. CUSTOMER 360 ON SCREEN: Show agent last 10 transactions, products held, pending complaints, segment, value tier, last campaign offered — saves 2-3 minutes per call</a:t>
            </a:r>
          </a:p>
          <a:p>
            <a:r>
              <a:t>2. IVR PERSONALIZATION: Greet by name, offer top 3 likely reasons for call based on recent activity</a:t>
            </a:r>
          </a:p>
          <a:p>
            <a:r>
              <a:t>3. SENTIMENT DETECTION: Real-time voice analysis to detect frustration, auto-escalate to supervisor</a:t>
            </a:r>
          </a:p>
          <a:p>
            <a:r>
              <a:t>4. CROSS-SELL AT RESOLUTION: After resolving issue, agent can offer relevant product</a:t>
            </a:r>
          </a:p>
          <a:p>
            <a:r>
              <a:t>5. COMPLAINT ROUTING: Auto-categorize per SBP Consumer Protection categories</a:t>
            </a:r>
          </a:p>
          <a:p/>
          <a:p>
            <a:r>
              <a:t>FSDM: CNTCT_CNTR (Contact Center), IVR (Interactive Voice Response), AGNT (Agent), CLL (Call), CLL_RSLN (Call Resolution), SNTMNT (Sentiment), CMPLNT (Complaint), ESCLTN (Escalation)</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5" name="Shape 2095"/>
        <p:cNvGrpSpPr/>
        <p:nvPr/>
      </p:nvGrpSpPr>
      <p:grpSpPr>
        <a:xfrm>
          <a:off x="0" y="0"/>
          <a:ext cx="0" cy="0"/>
          <a:chOff x="0" y="0"/>
          <a:chExt cx="0" cy="0"/>
        </a:xfrm>
      </p:grpSpPr>
      <p:sp>
        <p:nvSpPr>
          <p:cNvPr id="2096" name="Google Shape;2096;p9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097" name="Google Shape;2097;p9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8" name="Google Shape;2098;p9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CALL/CONTACT CENTER OPTIMIZATION — Maturity Assessment</a:t>
            </a:r>
            <a:endParaRPr/>
          </a:p>
          <a:p/>
          <a:p>
            <a:r>
              <a:t>Current State (Developing): Basic IVR (5+ levels), Urdu quality poor, no WhatsApp integration, no sentiment analysis, manual complaint tracking.</a:t>
            </a:r>
          </a:p>
          <a:p/>
          <a:p>
            <a:r>
              <a:t>Target State (Innovating): Simplified Urdu IVR, WhatsApp chatbot deflection, NLP sentiment analysis, agent NBA screen pop, automated SBP SLA compliance.</a:t>
            </a:r>
          </a:p>
          <a:p/>
          <a:p>
            <a:r>
              <a:t>Pakistan Benchmarks: 60-70% FCR vs 75-85% global. 5-8 min AHT vs 3-4 min. Massive efficiency opportunity.</a:t>
            </a:r>
          </a:p>
          <a:p/>
          <a:p>
            <a:r>
              <a:t>FSDM: CNTCT_CNTR (Contact Center), IVR (Interactive Voice Response), AGNT (Agent), CLL (Call), CLL_RSLN (Call Resolution), SNTMNT (Sentiment), CMPLNT (Complaint), ESCLTN (Escalation)</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p9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111" name="Google Shape;2111;p9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2" name="Google Shape;2112;p9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DIGITAL OPTIMIZATION — Capability Detail</a:t>
            </a:r>
            <a:endParaRPr/>
          </a:p>
          <a:p/>
          <a:p>
            <a:r>
              <a:t>PAKISTAN DIGITAL BANKING METRICS:</a:t>
            </a:r>
          </a:p>
          <a:p>
            <a:r>
              <a:t>Mobile App:</a:t>
            </a:r>
          </a:p>
          <a:p>
            <a:r>
              <a:t>- Downloads: 30M+ across top-10 banks</a:t>
            </a:r>
          </a:p>
          <a:p>
            <a:r>
              <a:t>- Monthly Active Users: ~40% of downloaders</a:t>
            </a:r>
          </a:p>
          <a:p>
            <a:r>
              <a:t>- Top features: Balance check (80%), fund transfer (60%), bill payment (40%)</a:t>
            </a:r>
          </a:p>
          <a:p>
            <a:r>
              <a:t>- Lowest adoption: Investment (5%), insurance (3%), loan application (2%)</a:t>
            </a:r>
          </a:p>
          <a:p>
            <a:r>
              <a:t>- OS split: Android 85%, iOS 15%</a:t>
            </a:r>
          </a:p>
          <a:p>
            <a:r>
              <a:t>- Key friction: NADRA biometric verification for high-value transactions</a:t>
            </a:r>
          </a:p>
          <a:p/>
          <a:p>
            <a:r>
              <a:t>Optimization priorities:</a:t>
            </a:r>
          </a:p>
          <a:p>
            <a:r>
              <a:t>1. SPEED: App load time &lt;3 seconds on 3G (many users in low-bandwidth areas)</a:t>
            </a:r>
          </a:p>
          <a:p>
            <a:r>
              <a:t>2. SIMPLICITY: Reduce steps for top 3 features (transfer, balance, bill pay)</a:t>
            </a:r>
          </a:p>
          <a:p>
            <a:r>
              <a:t>3. LANGUAGE: Toggle between Urdu/English without app restart</a:t>
            </a:r>
          </a:p>
          <a:p>
            <a:r>
              <a:t>4. BIOMETRIC: Fingerprint/face login for faster access</a:t>
            </a:r>
          </a:p>
          <a:p>
            <a:r>
              <a:t>5. ONBOARDING: Fix NADRA biometric dropoff — offer alternatives (video KYC, branch fallback)</a:t>
            </a:r>
          </a:p>
          <a:p/>
          <a:p>
            <a:r>
              <a:t>FSDM: DGTL_CHNL (Digital Channel), APP_EVNT (App Event), SSSN (Session), PG_VW (Page View), CLCK_STRM (Clickstream), FNNEL (Funnel), DRPFF (Dropoff)</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1" name="Shape 2151"/>
        <p:cNvGrpSpPr/>
        <p:nvPr/>
      </p:nvGrpSpPr>
      <p:grpSpPr>
        <a:xfrm>
          <a:off x="0" y="0"/>
          <a:ext cx="0" cy="0"/>
          <a:chOff x="0" y="0"/>
          <a:chExt cx="0" cy="0"/>
        </a:xfrm>
      </p:grpSpPr>
      <p:sp>
        <p:nvSpPr>
          <p:cNvPr id="2152" name="Google Shape;2152;p9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153" name="Google Shape;2153;p9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4" name="Google Shape;2154;p9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DIGITAL OPTIMIZATION — Maturity Assessment</a:t>
            </a:r>
            <a:endParaRPr/>
          </a:p>
          <a:p/>
          <a:p>
            <a:r>
              <a:t>Current State (Developing): English-only apps, heavy (60-100MB), slow on low-end devices. No USSD optimization. High browse-to-conversion dropoff.</a:t>
            </a:r>
          </a:p>
          <a:p/>
          <a:p>
            <a:r>
              <a:t>Target State (Innovating): Urdu-first responsive apps, lightweight, 3-persona UX tracks, USSD banking, data-driven conversion optimization.</a:t>
            </a:r>
          </a:p>
          <a:p/>
          <a:p>
            <a:r>
              <a:t>Pakistan Reality: SadaPay/NayaPay have set new UX benchmark. Traditional banks losing digital-first millennials.</a:t>
            </a:r>
          </a:p>
          <a:p/>
          <a:p>
            <a:r>
              <a:t>FSDM: DGTL_CHNL (Digital Channel), APP_EVNT (App Event), SSSN (Session), PG_VW (Page View), CLCK_STRM (Clickstream), FNNEL (Funnel), DRPFF (Dropoff)</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5" name="Shape 2165"/>
        <p:cNvGrpSpPr/>
        <p:nvPr/>
      </p:nvGrpSpPr>
      <p:grpSpPr>
        <a:xfrm>
          <a:off x="0" y="0"/>
          <a:ext cx="0" cy="0"/>
          <a:chOff x="0" y="0"/>
          <a:chExt cx="0" cy="0"/>
        </a:xfrm>
      </p:grpSpPr>
      <p:sp>
        <p:nvSpPr>
          <p:cNvPr id="2166" name="Google Shape;2166;p9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167" name="Google Shape;2167;p9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68" name="Google Shape;2168;p9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SEARCH ENGINE OPTIMIZATION — Capability Detail</a:t>
            </a:r>
            <a:endParaRPr/>
          </a:p>
          <a:p/>
          <a:p>
            <a:r>
              <a:t>PAKISTAN SEO CONTEXT:</a:t>
            </a:r>
          </a:p>
          <a:p>
            <a:r>
              <a:t>Pakistan has 120M+ internet users (mobile-first). Banking product search volume growing 30% YoY.</a:t>
            </a:r>
          </a:p>
          <a:p/>
          <a:p>
            <a:r>
              <a:t>Top banking search queries in Pakistan:</a:t>
            </a:r>
          </a:p>
          <a:p>
            <a:r>
              <a:t>1. "Best savings account Pakistan" / "Best bank Pakistan"</a:t>
            </a:r>
          </a:p>
          <a:p>
            <a:r>
              <a:t>2. "Car loan calculator" / "Home loan rate Pakistan"</a:t>
            </a:r>
          </a:p>
          <a:p>
            <a:r>
              <a:t>3. "Online account opening Pakistan"</a:t>
            </a:r>
          </a:p>
          <a:p>
            <a:r>
              <a:t>4. "RAAST payment" / "How to use RAAST"</a:t>
            </a:r>
          </a:p>
          <a:p>
            <a:r>
              <a:t>5. "Zakat calculator" / "Islamic banking Pakistan"</a:t>
            </a:r>
          </a:p>
          <a:p/>
          <a:p>
            <a:r>
              <a:t>SEO is immature in Pakistan banking — most bank websites have poor Urdu content, slow mobile load times, and thin product pages. First bank to invest captures organic acquisition at zero marginal cost.</a:t>
            </a:r>
          </a:p>
          <a:p/>
          <a:p>
            <a:r>
              <a:t>FSDM: WB_SRCH (Web Search), SRCH_QRY (Search Query), LNDNG_PG (Landing Page), CNVRSN_RT (Conversion Rate), KYWD (Keyword)</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7" name="Shape 2207"/>
        <p:cNvGrpSpPr/>
        <p:nvPr/>
      </p:nvGrpSpPr>
      <p:grpSpPr>
        <a:xfrm>
          <a:off x="0" y="0"/>
          <a:ext cx="0" cy="0"/>
          <a:chOff x="0" y="0"/>
          <a:chExt cx="0" cy="0"/>
        </a:xfrm>
      </p:grpSpPr>
      <p:sp>
        <p:nvSpPr>
          <p:cNvPr id="2208" name="Google Shape;2208;p9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209" name="Google Shape;2209;p9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0" name="Google Shape;2210;p9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SEARCH ENGINE OPTIMIZATION — Maturity Assessment</a:t>
            </a:r>
            <a:endParaRPr/>
          </a:p>
          <a:p/>
          <a:p>
            <a:r>
              <a:t>Current State (Developing): English-only SEO, no Urdu content optimization, basic Google My Business for some branches, no Islamic banking keyword strategy.</a:t>
            </a:r>
          </a:p>
          <a:p/>
          <a:p>
            <a:r>
              <a:t>Target State (Innovating): Bilingual SEO, Islamic banking keyword capture, comprehensive Google My Business for 16K+ branches, diaspora content strategy.</a:t>
            </a:r>
          </a:p>
          <a:p/>
          <a:p>
            <a:r>
              <a:t>Pakistan Opportunity: 120M+ internet users, banking searches +30% YoY, Urdu search growing rapidly, Islamic banking keywords have high intent and low competition.</a:t>
            </a:r>
          </a:p>
          <a:p/>
          <a:p>
            <a:r>
              <a:t>FSDM: WB_SRCH (Web Search), SRCH_QRY (Search Query), LNDNG_PG (Landing Page), CNVRSN_RT (Conversion Rate), KYWD (Keyword)</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1" name="Shape 2221"/>
        <p:cNvGrpSpPr/>
        <p:nvPr/>
      </p:nvGrpSpPr>
      <p:grpSpPr>
        <a:xfrm>
          <a:off x="0" y="0"/>
          <a:ext cx="0" cy="0"/>
          <a:chOff x="0" y="0"/>
          <a:chExt cx="0" cy="0"/>
        </a:xfrm>
      </p:grpSpPr>
      <p:sp>
        <p:nvSpPr>
          <p:cNvPr id="2222" name="Google Shape;2222;p10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223" name="Google Shape;2223;p10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24" name="Google Shape;2224;p10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PERSONALIZATION — Capability Detail</a:t>
            </a:r>
            <a:endParaRPr/>
          </a:p>
          <a:p/>
          <a:p>
            <a:r>
              <a:t>PAKISTAN PERSONALIZATION MATURITY:</a:t>
            </a:r>
          </a:p>
          <a:p>
            <a:r>
              <a:t>Current state: &lt;5% of Pakistan bank communications are personalized beyond customer name.</a:t>
            </a:r>
          </a:p>
          <a:p/>
          <a:p>
            <a:r>
              <a:t>Personalization ladder for Pakistan:</a:t>
            </a:r>
          </a:p>
          <a:p>
            <a:r>
              <a:t>Level 1 (Current): Name + product held in SMS</a:t>
            </a:r>
          </a:p>
          <a:p>
            <a:r>
              <a:t>Level 2 (Next): Segment-based offer (youth gets different offer than retiree)</a:t>
            </a:r>
          </a:p>
          <a:p>
            <a:r>
              <a:t>Level 3 (Target): Behavioral — based on actual transaction patterns, channel usage, life events</a:t>
            </a:r>
          </a:p>
          <a:p>
            <a:r>
              <a:t>Level 4 (Aspirational): Individual real-time — dynamic content based on context + history</a:t>
            </a:r>
          </a:p>
          <a:p/>
          <a:p>
            <a:r>
              <a:t>Quick win variables:</a:t>
            </a:r>
          </a:p>
          <a:p>
            <a:r>
              <a:t>- Salary amount tier determines lending offer amount</a:t>
            </a:r>
          </a:p>
          <a:p>
            <a:r>
              <a:t>- Transaction patterns drive spending category offers</a:t>
            </a:r>
          </a:p>
          <a:p>
            <a:r>
              <a:t>- Islamic product holding triggers Shariah-compliant alternatives</a:t>
            </a:r>
          </a:p>
          <a:p>
            <a:r>
              <a:t>- RAAST usage frequency drives digital-first feature promotions</a:t>
            </a:r>
          </a:p>
          <a:p>
            <a:r>
              <a:t>- Branch visit frequency drives digital migration nudges</a:t>
            </a:r>
          </a:p>
          <a:p/>
          <a:p>
            <a:r>
              <a:t>FSDM: PRSNLZTN (Personalization), CSTMR_PRFL (Customer Profile), BHVR_SGM (Behavioral Segment), DYNMC_CNTNT (Dynamic Content), OFFR_PRSNLZTN (Offer Personalization)</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3" name="Shape 2263"/>
        <p:cNvGrpSpPr/>
        <p:nvPr/>
      </p:nvGrpSpPr>
      <p:grpSpPr>
        <a:xfrm>
          <a:off x="0" y="0"/>
          <a:ext cx="0" cy="0"/>
          <a:chOff x="0" y="0"/>
          <a:chExt cx="0" cy="0"/>
        </a:xfrm>
      </p:grpSpPr>
      <p:sp>
        <p:nvSpPr>
          <p:cNvPr id="2264" name="Google Shape;2264;p10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265" name="Google Shape;2265;p10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6" name="Google Shape;2266;p10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PERSONALIZATION — Maturity Assessment</a:t>
            </a:r>
            <a:endParaRPr/>
          </a:p>
          <a:p/>
          <a:p>
            <a:r>
              <a:t>Current State (Developing): Name insertion at best. &lt;5% personalized beyond name. No language, Islamic, or value-tier personalization.</a:t>
            </a:r>
          </a:p>
          <a:p/>
          <a:p>
            <a:r>
              <a:t>Target State (Innovating): 4-level personalization ladder: name &gt; segment &gt; behavioral &gt; real-time individual. Language, Islamic preference, and life-stage aware.</a:t>
            </a:r>
          </a:p>
          <a:p/>
          <a:p>
            <a:r>
              <a:t>Pakistan Reality: No bank at Level 3+. Massive gap between broadcast SMS reality and 1:1 personalization aspiration.</a:t>
            </a:r>
          </a:p>
          <a:p/>
          <a:p>
            <a:r>
              <a:t>FSDM: PRSNLZTN (Personalization), CSTMR_PRFL (Customer Profile), BHVR_SGM (Behavioral Segment), DYNMC_CNTNT (Dynamic Content), OFFR_PRSNLZTN (Offer Personalization)</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p10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279" name="Google Shape;2279;p10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80" name="Google Shape;2280;p10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NEXT BEST ACTION ARBITRATION — Capability Detail</a:t>
            </a:r>
            <a:endParaRPr/>
          </a:p>
          <a:p/>
          <a:p>
            <a:r>
              <a:t>PAKISTAN NBA FRAMEWORK:</a:t>
            </a:r>
          </a:p>
          <a:p>
            <a:r>
              <a:t>1. RETAIN (highest priority): If churn risk &gt; threshold, retention offer first</a:t>
            </a:r>
          </a:p>
          <a:p>
            <a:r>
              <a:t>2. GROW (cross-sell): If eligible for next product in affinity chain, cross-sell offer</a:t>
            </a:r>
          </a:p>
          <a:p>
            <a:r>
              <a:t>3. SERVE: If recent complaint or low satisfaction, service recovery action</a:t>
            </a:r>
          </a:p>
          <a:p>
            <a:r>
              <a:t>4. MIGRATE: If branch-heavy, digital adoption nudge</a:t>
            </a:r>
          </a:p>
          <a:p>
            <a:r>
              <a:t>5. COMPLY: If KYC expiring or CDD refresh needed, compliance notification</a:t>
            </a:r>
          </a:p>
          <a:p/>
          <a:p>
            <a:r>
              <a:t>Pakistan-specific NBA rules:</a:t>
            </a:r>
          </a:p>
          <a:p>
            <a:r>
              <a:t>- NEVER offer conventional lending to Islamic-preference customers</a:t>
            </a:r>
          </a:p>
          <a:p>
            <a:r>
              <a:t>- ALWAYS check ECIB before lending offers</a:t>
            </a:r>
          </a:p>
          <a:p>
            <a:r>
              <a:t>- RESPECT Ramadan timing — spiritual/charity offers preferred</a:t>
            </a:r>
          </a:p>
          <a:p>
            <a:r>
              <a:t>- DIASPORA customers get Roshan Digital Account / NPC offers</a:t>
            </a:r>
          </a:p>
          <a:p>
            <a:r>
              <a:t>- SALARY-DAY timing: Cross-sell within 24 hours of salary credit</a:t>
            </a:r>
          </a:p>
          <a:p/>
          <a:p>
            <a:r>
              <a:t>Current state: NO Pakistan bank has deployed NBA. All interactions are product-push based on marketing calendar.</a:t>
            </a:r>
          </a:p>
          <a:p/>
          <a:p>
            <a:r>
              <a:t>FSDM: NBA (Next Best Action), ARBTTN (Arbitration), OFFR_PRTY (Offer Priority), PRPNSTY (Propensity), CSTMR_VALU (Customer Value), DCSNNG_ENGN (Decisioning Engine)</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9" name="Shape 2319"/>
        <p:cNvGrpSpPr/>
        <p:nvPr/>
      </p:nvGrpSpPr>
      <p:grpSpPr>
        <a:xfrm>
          <a:off x="0" y="0"/>
          <a:ext cx="0" cy="0"/>
          <a:chOff x="0" y="0"/>
          <a:chExt cx="0" cy="0"/>
        </a:xfrm>
      </p:grpSpPr>
      <p:sp>
        <p:nvSpPr>
          <p:cNvPr id="2320" name="Google Shape;2320;p10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321" name="Google Shape;2321;p10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2" name="Google Shape;2322;p10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NEXT BEST ACTION ARBITRATION — Maturity Assessment</a:t>
            </a:r>
            <a:endParaRPr/>
          </a:p>
          <a:p/>
          <a:p>
            <a:r>
              <a:t>Current State (Developing): No real-time NBA. RM uses intuition. Generic banners in app. No cross-sell in contact center.</a:t>
            </a:r>
          </a:p>
          <a:p/>
          <a:p>
            <a:r>
              <a:t>Target State (Innovating): Real-time NBA across branch, app, contact center with arbitration engine, propensity models, and feedback loop.</a:t>
            </a:r>
          </a:p>
          <a:p/>
          <a:p>
            <a:r>
              <a:t>Pakistan Reality: Zero banks have NBA capability. All interactions are product-push based on marketing calendar, not data-driven.</a:t>
            </a:r>
          </a:p>
          <a:p/>
          <a:p>
            <a:r>
              <a:t>FSDM: NBA (Next Best Action), ARBTTN (Arbitration), OFFR_PRTY (Offer Priority), PRPNSTY (Propensity), CSTMR_VALU (Customer Value), DCSNNG_ENGN (Decisioning Engine)</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3" name="Shape 2333"/>
        <p:cNvGrpSpPr/>
        <p:nvPr/>
      </p:nvGrpSpPr>
      <p:grpSpPr>
        <a:xfrm>
          <a:off x="0" y="0"/>
          <a:ext cx="0" cy="0"/>
          <a:chOff x="0" y="0"/>
          <a:chExt cx="0" cy="0"/>
        </a:xfrm>
      </p:grpSpPr>
      <p:sp>
        <p:nvSpPr>
          <p:cNvPr id="2334" name="Google Shape;2334;p104: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335" name="Google Shape;2335;p104: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6" name="Google Shape;2336;p104: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PRODUCT RECOMMENDATION — Capability Detail</a:t>
            </a:r>
            <a:endParaRPr/>
          </a:p>
          <a:p/>
          <a:p>
            <a:r>
              <a:t>PAKISTAN PRODUCT AFFINITY MAP:</a:t>
            </a:r>
          </a:p>
          <a:p>
            <a:r>
              <a:t>1. CASA to Debit Card to ATM to Mobile App (universal starter)</a:t>
            </a:r>
          </a:p>
          <a:p>
            <a:r>
              <a:t>2. Salary Account to Credit Card to Personal Loan (employed segment)</a:t>
            </a:r>
          </a:p>
          <a:p>
            <a:r>
              <a:t>3. CASA to Fixed Deposit to Mutual Fund to PIB/T-Bill (savings-focused)</a:t>
            </a:r>
          </a:p>
          <a:p>
            <a:r>
              <a:t>4. CASA to Islamic Savings to Diminishing Musharaka to Takaful (Islamic track)</a:t>
            </a:r>
          </a:p>
          <a:p>
            <a:r>
              <a:t>5. Current Account to Trade Finance to LC/LG to Working Capital (business track)</a:t>
            </a:r>
          </a:p>
          <a:p>
            <a:r>
              <a:t>6. Remittance to RDA to NPC to Property Investment (diaspora track)</a:t>
            </a:r>
          </a:p>
          <a:p/>
          <a:p>
            <a:r>
              <a:t>FSDM: PRDCT_RCMNDTN (Product Recommendation), PRDCT_AFFNTY (Product Affinity), RCMNDTN_ENGN (Recommendation Engine), PRDCT (Product), PRDCT_BNDL (Product Bundle)</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5" name="Shape 2375"/>
        <p:cNvGrpSpPr/>
        <p:nvPr/>
      </p:nvGrpSpPr>
      <p:grpSpPr>
        <a:xfrm>
          <a:off x="0" y="0"/>
          <a:ext cx="0" cy="0"/>
          <a:chOff x="0" y="0"/>
          <a:chExt cx="0" cy="0"/>
        </a:xfrm>
      </p:grpSpPr>
      <p:sp>
        <p:nvSpPr>
          <p:cNvPr id="2376" name="Google Shape;2376;p105: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377" name="Google Shape;2377;p105: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78" name="Google Shape;2378;p105: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PRODUCT RECOMMENDATION — Maturity Assessment</a:t>
            </a:r>
            <a:endParaRPr/>
          </a:p>
          <a:p/>
          <a:p>
            <a:r>
              <a:t>Current State (Developing): Static product push based on RM intuition. No data-driven recommendations. No trigger-based system.</a:t>
            </a:r>
          </a:p>
          <a:p/>
          <a:p>
            <a:r>
              <a:t>Target State (Innovating): Automated product recommendation engine with trigger-based rules, affinity pipeline, Islamic alternatives, and diaspora path.</a:t>
            </a:r>
          </a:p>
          <a:p/>
          <a:p>
            <a:r>
              <a:t>Pakistan Opportunity: Product-per-customer average 1.5 vs 3+ at leading banks. 6 defined affinity tracks (universal, employed, savings, Islamic, business, diaspora).</a:t>
            </a:r>
          </a:p>
          <a:p/>
          <a:p>
            <a:r>
              <a:t>FSDM: PRDCT_RCMNDTN (Product Recommendation), PRDCT_AFFNTY (Product Affinity), RCMNDTN_ENGN (Recommendation Engine), PRDCT (Product), PRDCT_BNDL (Product Bundle)</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9" name="Shape 2389"/>
        <p:cNvGrpSpPr/>
        <p:nvPr/>
      </p:nvGrpSpPr>
      <p:grpSpPr>
        <a:xfrm>
          <a:off x="0" y="0"/>
          <a:ext cx="0" cy="0"/>
          <a:chOff x="0" y="0"/>
          <a:chExt cx="0" cy="0"/>
        </a:xfrm>
      </p:grpSpPr>
      <p:sp>
        <p:nvSpPr>
          <p:cNvPr id="2390" name="Google Shape;2390;p106: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391" name="Google Shape;2391;p106: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2" name="Google Shape;2392;p106: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MULTI-STEP CAMPAIGNS — Capability Detail</a:t>
            </a:r>
            <a:endParaRPr/>
          </a:p>
          <a:p/>
          <a:p>
            <a:r>
              <a:t>PAKISTAN MULTI-STEP CAMPAIGN EXAMPLES:</a:t>
            </a:r>
          </a:p>
          <a:p/>
          <a:p>
            <a:r>
              <a:t>SEQUENCE 1: Ramadan Campaign (30 days)</a:t>
            </a:r>
          </a:p>
          <a:p>
            <a:r>
              <a:t>Day 1: Ramadan Mubarak + Zakat calculator link</a:t>
            </a:r>
          </a:p>
          <a:p>
            <a:r>
              <a:t>Day 5: Islamic savings account offer</a:t>
            </a:r>
          </a:p>
          <a:p>
            <a:r>
              <a:t>Day 15: Ramadan spending insights + cashback on groceries</a:t>
            </a:r>
          </a:p>
          <a:p>
            <a:r>
              <a:t>Day 20: Eid shopping pre-approved credit card limit increase</a:t>
            </a:r>
          </a:p>
          <a:p>
            <a:r>
              <a:t>Day 25: Zakat auto-deduction setup reminder</a:t>
            </a:r>
          </a:p>
          <a:p>
            <a:r>
              <a:t>Eid: Eid Mubarak greeting + Eid-ul-Adha savings plan</a:t>
            </a:r>
          </a:p>
          <a:p>
            <a:r>
              <a:t>Post-Eid: Financial health check + investment offer</a:t>
            </a:r>
          </a:p>
          <a:p/>
          <a:p>
            <a:r>
              <a:t>SEQUENCE 2: Salary Day Campaign (monthly)</a:t>
            </a:r>
          </a:p>
          <a:p>
            <a:r>
              <a:t>Day 0: Salary credited notification</a:t>
            </a:r>
          </a:p>
          <a:p>
            <a:r>
              <a:t>Day 1: Auto-savings nudge (transfer 10% to savings)</a:t>
            </a:r>
          </a:p>
          <a:p>
            <a:r>
              <a:t>Day 3: Bill payment reminders with auto-pay setup</a:t>
            </a:r>
          </a:p>
          <a:p>
            <a:r>
              <a:t>Day 7: Investment opportunity (mutual fund SIP)</a:t>
            </a:r>
          </a:p>
          <a:p>
            <a:r>
              <a:t>Day 14: Personal loan pre-approval (if eligible)</a:t>
            </a:r>
          </a:p>
          <a:p>
            <a:r>
              <a:t>Day 28: Month-end balance summary + spending insights</a:t>
            </a:r>
          </a:p>
          <a:p/>
          <a:p>
            <a:r>
              <a:t>SEQUENCE 3: New Customer Onboarding (90 days)</a:t>
            </a:r>
          </a:p>
          <a:p>
            <a:r>
              <a:t>Day 0: Welcome + app download link</a:t>
            </a:r>
          </a:p>
          <a:p>
            <a:r>
              <a:t>Day 1: Tutorial video (Urdu/English)</a:t>
            </a:r>
          </a:p>
          <a:p>
            <a:r>
              <a:t>Day 3: First RAAST transfer incentive</a:t>
            </a:r>
          </a:p>
          <a:p>
            <a:r>
              <a:t>Day 7: Debit card activation reminder</a:t>
            </a:r>
          </a:p>
          <a:p>
            <a:r>
              <a:t>Day 14: Internet banking registration nudge</a:t>
            </a:r>
          </a:p>
          <a:p>
            <a:r>
              <a:t>Day 30: First cross-sell (based on behavior so far)</a:t>
            </a:r>
          </a:p>
          <a:p>
            <a:r>
              <a:t>Day 60: Satisfaction survey</a:t>
            </a:r>
          </a:p>
          <a:p>
            <a:r>
              <a:t>Day 90: Loyalty program enrollment</a:t>
            </a:r>
          </a:p>
          <a:p/>
          <a:p>
            <a:r>
              <a:t>FSDM: MLT_STP_CMPGN (Multi-Step Campaign), CMPGN_STP (Campaign Step), CMPGN_SQNC (Campaign Sequence), TRGR (Trigger), RSPNS (Response), STPNG_LGIC (Stepping Logic)</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1" name="Shape 2431"/>
        <p:cNvGrpSpPr/>
        <p:nvPr/>
      </p:nvGrpSpPr>
      <p:grpSpPr>
        <a:xfrm>
          <a:off x="0" y="0"/>
          <a:ext cx="0" cy="0"/>
          <a:chOff x="0" y="0"/>
          <a:chExt cx="0" cy="0"/>
        </a:xfrm>
      </p:grpSpPr>
      <p:sp>
        <p:nvSpPr>
          <p:cNvPr id="2432" name="Google Shape;2432;p107: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433" name="Google Shape;2433;p107: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4" name="Google Shape;2434;p107: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MULTI-STEP CAMPAIGNS — Maturity Assessment</a:t>
            </a:r>
            <a:endParaRPr/>
          </a:p>
          <a:p/>
          <a:p>
            <a:r>
              <a:t>Current State (Developing): One-off campaigns. No automated sequences. No calendar-driven campaign library.</a:t>
            </a:r>
          </a:p>
          <a:p/>
          <a:p>
            <a:r>
              <a:t>Target State (Innovating): Automated multi-step sequences for lifecycle, seasonal, and win-back scenarios with conditional branching.</a:t>
            </a:r>
          </a:p>
          <a:p/>
          <a:p>
            <a:r>
              <a:t>Pakistan Calendar Advantage: Ramadan (30-day), Salary Day (monthly), and Onboarding (90-day) create natural multi-step campaign opportunities that few banks exploit systematically.</a:t>
            </a:r>
          </a:p>
          <a:p/>
          <a:p>
            <a:r>
              <a:t>FSDM: MLT_STP_CMPGN (Multi-Step Campaign), CMPGN_STP (Campaign Step), CMPGN_SQNC (Campaign Sequence), TRGR (Trigger), RSPNS (Response), STPNG_LGIC (Stepping Logic)</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5" name="Shape 2445"/>
        <p:cNvGrpSpPr/>
        <p:nvPr/>
      </p:nvGrpSpPr>
      <p:grpSpPr>
        <a:xfrm>
          <a:off x="0" y="0"/>
          <a:ext cx="0" cy="0"/>
          <a:chOff x="0" y="0"/>
          <a:chExt cx="0" cy="0"/>
        </a:xfrm>
      </p:grpSpPr>
      <p:sp>
        <p:nvSpPr>
          <p:cNvPr id="2446" name="Google Shape;2446;p108: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447" name="Google Shape;2447;p108: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8" name="Google Shape;2448;p108: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MARKETING EFFECTIVENESS — Capability Detail</a:t>
            </a:r>
            <a:endParaRPr/>
          </a:p>
          <a:p/>
          <a:p>
            <a:r>
              <a:t>PAKISTAN MARKETING EFFECTIVENESS GAP:</a:t>
            </a:r>
          </a:p>
          <a:p>
            <a:r>
              <a:t>Most Pakistan banks cannot answer basic questions:</a:t>
            </a:r>
          </a:p>
          <a:p>
            <a:r>
              <a:t>- "Which of our 50 campaigns last month generated the most revenue?" — Unknown</a:t>
            </a:r>
          </a:p>
          <a:p>
            <a:r>
              <a:t>- "What is our cost per acquisition by channel?" — Estimated at best</a:t>
            </a:r>
          </a:p>
          <a:p>
            <a:r>
              <a:t>- "Should we spend more on SMS or WhatsApp?" — No data to decide</a:t>
            </a:r>
          </a:p>
          <a:p>
            <a:r>
              <a:t>- "Did the Ramadan campaign increase deposits?" — Anecdotal only</a:t>
            </a:r>
          </a:p>
          <a:p/>
          <a:p>
            <a:r>
              <a:t>Minimum viable marketing effectiveness:</a:t>
            </a:r>
          </a:p>
          <a:p>
            <a:r>
              <a:t>1. CONTROL GROUPS: 10% holdout on every campaign — no exceptions</a:t>
            </a:r>
          </a:p>
          <a:p>
            <a:r>
              <a:t>2. RESPONSE TRACKING: Link campaign ID to product application to activation to 30-day usage</a:t>
            </a:r>
          </a:p>
          <a:p>
            <a:r>
              <a:t>3. ROI CALCULATION: (Incremental revenue from campaign group minus control) / Campaign cost</a:t>
            </a:r>
          </a:p>
          <a:p>
            <a:r>
              <a:t>4. CHANNEL COMPARISON: Same offer, same segment, different channel — A/B test</a:t>
            </a:r>
          </a:p>
          <a:p>
            <a:r>
              <a:t>5. DASHBOARD: Weekly automated report to marketing leadership</a:t>
            </a:r>
          </a:p>
          <a:p/>
          <a:p>
            <a:r>
              <a:t>FSDM: CMPGN_EFCTVNS (Campaign Effectiveness), ROI (Return on Investment), CNTRL_GRP (Control Group), INCRMNTL_VALU (Incremental Value), CMPGN_KPI (Campaign KPI)</a:t>
            </a: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7" name="Shape 2487"/>
        <p:cNvGrpSpPr/>
        <p:nvPr/>
      </p:nvGrpSpPr>
      <p:grpSpPr>
        <a:xfrm>
          <a:off x="0" y="0"/>
          <a:ext cx="0" cy="0"/>
          <a:chOff x="0" y="0"/>
          <a:chExt cx="0" cy="0"/>
        </a:xfrm>
      </p:grpSpPr>
      <p:sp>
        <p:nvSpPr>
          <p:cNvPr id="2488" name="Google Shape;2488;p109: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489" name="Google Shape;2489;p109: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0" name="Google Shape;2490;p109: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MARKETING EFFECTIVENESS — Maturity Assessment</a:t>
            </a:r>
            <a:endParaRPr/>
          </a:p>
          <a:p/>
          <a:p>
            <a:r>
              <a:t>Current State (Developing): Basic sent/response tracking. No ROI measurement. No control groups. Most banks cannot answer basic effectiveness questions.</a:t>
            </a:r>
          </a:p>
          <a:p/>
          <a:p>
            <a:r>
              <a:t>Target State (Innovating): Full marketing effectiveness framework: control groups on every campaign, CPA, ROI, incremental lift, LTV impact, channel efficiency, with CMO dashboard.</a:t>
            </a:r>
          </a:p>
          <a:p/>
          <a:p>
            <a:r>
              <a:t>Pakistan Gap: Marketing budgets (1-2% of revenue) are smallest globally. Control groups and effectiveness measurement would justify budget increases and optimize allocation.</a:t>
            </a:r>
          </a:p>
          <a:p/>
          <a:p>
            <a:r>
              <a:t>FSDM: CMPGN_EFCTVNS (Campaign Effectiveness), ROI (Return on Investment), CNTRL_GRP (Control Group), INCRMNTL_VALU (Incremental Value), CMPGN_KPI (Campaign KPI)</a:t>
            </a: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1" name="Shape 2501"/>
        <p:cNvGrpSpPr/>
        <p:nvPr/>
      </p:nvGrpSpPr>
      <p:grpSpPr>
        <a:xfrm>
          <a:off x="0" y="0"/>
          <a:ext cx="0" cy="0"/>
          <a:chOff x="0" y="0"/>
          <a:chExt cx="0" cy="0"/>
        </a:xfrm>
      </p:grpSpPr>
      <p:sp>
        <p:nvSpPr>
          <p:cNvPr id="2502" name="Google Shape;2502;p110: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503" name="Google Shape;2503;p110: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04" name="Google Shape;2504;p110: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MARKETING ATTRIBUTION — Capability Detail</a:t>
            </a:r>
            <a:endParaRPr/>
          </a:p>
          <a:p/>
          <a:p>
            <a:r>
              <a:t>PAKISTAN MARKETING MIX:</a:t>
            </a:r>
          </a:p>
          <a:p>
            <a:r>
              <a:t>- TV advertising: 35% of bank marketing spend</a:t>
            </a:r>
          </a:p>
          <a:p>
            <a:r>
              <a:t>- Billboards/outdoor: 20% of spend</a:t>
            </a:r>
          </a:p>
          <a:p>
            <a:r>
              <a:t>- Newspaper/print: 15% of spend</a:t>
            </a:r>
          </a:p>
          <a:p>
            <a:r>
              <a:t>- Digital: 15% of spend (growing fast)</a:t>
            </a:r>
          </a:p>
          <a:p>
            <a:r>
              <a:t>- Direct (SMS, branch): 10% of spend</a:t>
            </a:r>
          </a:p>
          <a:p>
            <a:r>
              <a:t>- Agent incentives: 5% of spend</a:t>
            </a:r>
          </a:p>
          <a:p/>
          <a:p>
            <a:r>
              <a:t>First steps for Pakistan attribution:</a:t>
            </a:r>
          </a:p>
          <a:p>
            <a:r>
              <a:t>- UTM tracking on all digital campaigns</a:t>
            </a:r>
          </a:p>
          <a:p>
            <a:r>
              <a:t>- Unique promo codes per channel/campaign</a:t>
            </a:r>
          </a:p>
          <a:p>
            <a:r>
              <a:t>- Ask "How did you hear about us?" at account opening</a:t>
            </a:r>
          </a:p>
          <a:p>
            <a:r>
              <a:t>- RAAST referral tracking (refer a friend via RAAST)</a:t>
            </a:r>
          </a:p>
          <a:p>
            <a:r>
              <a:t>- Build multi-touch model starting with digital channels only</a:t>
            </a:r>
          </a:p>
          <a:p/>
          <a:p>
            <a:r>
              <a:t>FSDM: MKTG_ATRBTN (Marketing Attribution), TCHPNT (Touchpoint), CNVRSN_PTH (Conversion Path), CHNL_CNTRBN (Channel Contribution), ATRBTN_MDL (Attribution Model)</a:t>
            </a: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3" name="Shape 2543"/>
        <p:cNvGrpSpPr/>
        <p:nvPr/>
      </p:nvGrpSpPr>
      <p:grpSpPr>
        <a:xfrm>
          <a:off x="0" y="0"/>
          <a:ext cx="0" cy="0"/>
          <a:chOff x="0" y="0"/>
          <a:chExt cx="0" cy="0"/>
        </a:xfrm>
      </p:grpSpPr>
      <p:sp>
        <p:nvSpPr>
          <p:cNvPr id="2544" name="Google Shape;2544;p111: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545" name="Google Shape;2545;p111: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6" name="Google Shape;2546;p111: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MARKETING ATTRIBUTION — Maturity Assessment</a:t>
            </a:r>
            <a:endParaRPr/>
          </a:p>
          <a:p/>
          <a:p>
            <a:r>
              <a:t>Current State (Developing): Last-touch attribution only. Branch gets all credit. No multi-touch model. No digital-to-branch tracking.</a:t>
            </a:r>
          </a:p>
          <a:p/>
          <a:p>
            <a:r>
              <a:t>Target State (Innovating): Multi-touch attribution across ATL (TV 35%, billboards 20%, print 15%), digital (15%), direct (10%), and agent (5%) with UTM tracking and time-decay weighting.</a:t>
            </a:r>
          </a:p>
          <a:p/>
          <a:p>
            <a:r>
              <a:t>Pakistan Challenge: 6 channel categories, long sales cycles, data silos. Need UTM tracking + promo codes + 12 months cross-channel data before ML attribution is feasible.</a:t>
            </a:r>
          </a:p>
          <a:p/>
          <a:p>
            <a:r>
              <a:t>FSDM: MKTG_ATRBTN (Marketing Attribution), TCHPNT (Touchpoint), CNVRSN_PTH (Conversion Path), CHNL_CNTRBN (Channel Contribution), ATRBTN_MDL (Attribution Model)</a:t>
            </a: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7" name="Shape 2557"/>
        <p:cNvGrpSpPr/>
        <p:nvPr/>
      </p:nvGrpSpPr>
      <p:grpSpPr>
        <a:xfrm>
          <a:off x="0" y="0"/>
          <a:ext cx="0" cy="0"/>
          <a:chOff x="0" y="0"/>
          <a:chExt cx="0" cy="0"/>
        </a:xfrm>
      </p:grpSpPr>
      <p:sp>
        <p:nvSpPr>
          <p:cNvPr id="2558" name="Google Shape;2558;p112: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559" name="Google Shape;2559;p112: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60" name="Google Shape;2560;p112: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173038" lvl="0" marL="173038" rtl="0" algn="l">
              <a:lnSpc>
                <a:spcPct val="95000"/>
              </a:lnSpc>
              <a:spcBef>
                <a:spcPts val="0"/>
              </a:spcBef>
              <a:spcAft>
                <a:spcPts val="0"/>
              </a:spcAft>
              <a:buClr>
                <a:schemeClr val="dk1"/>
              </a:buClr>
              <a:buSzPts val="1200"/>
              <a:buChar char="•"/>
            </a:pPr>
            <a:r>
              <a:t>BRAND ANALYTICS — Capability Detail</a:t>
            </a:r>
            <a:endParaRPr/>
          </a:p>
          <a:p/>
          <a:p>
            <a:r>
              <a:t>PAKISTAN BRAND LANDSCAPE:</a:t>
            </a:r>
          </a:p>
          <a:p>
            <a:r>
              <a:t>| Bank Type | Trust | Innovation | Service | Islamic | Digital |</a:t>
            </a:r>
          </a:p>
          <a:p>
            <a:r>
              <a:t>| Big 5 (HBL, UBL, MCB, ABL, NBP) | High | Medium | Medium | Medium | Medium |</a:t>
            </a:r>
          </a:p>
          <a:p>
            <a:r>
              <a:t>| Islamic (Meezan, BankIslami) | High | Medium | Medium | Very High | Medium |</a:t>
            </a:r>
          </a:p>
          <a:p>
            <a:r>
              <a:t>| Fintech (SadaPay, NayaPay) | Medium | Very High | High | Low | Very High |</a:t>
            </a:r>
          </a:p>
          <a:p>
            <a:r>
              <a:t>| Digital Banks (new licensees) | Low | High | Unknown | Varies | High |</a:t>
            </a:r>
          </a:p>
          <a:p/>
          <a:p>
            <a:r>
              <a:t>Brand analytics priorities:</a:t>
            </a:r>
          </a:p>
          <a:p>
            <a:r>
              <a:t>1. NPS TRACKING: Quarterly NPS by segment vs. fintech benchmarks</a:t>
            </a:r>
          </a:p>
          <a:p>
            <a:r>
              <a:t>2. SOCIAL LISTENING: Monitor Urdu + English social media</a:t>
            </a:r>
          </a:p>
          <a:p>
            <a:r>
              <a:t>3. APP STORE RATINGS: Track Google Play rating and reviews</a:t>
            </a:r>
          </a:p>
          <a:p>
            <a:r>
              <a:t>4. EMPLOYER BRAND: Survey HR managers on preferred salary banking partner</a:t>
            </a:r>
          </a:p>
          <a:p>
            <a:r>
              <a:t>5. ISLAMIC BRAND: Measure Shariah compliance perception</a:t>
            </a:r>
          </a:p>
          <a:p/>
          <a:p>
            <a:r>
              <a:t>FSDM: BRND (Brand), BRND_HLTH (Brand Health), NPS (Net Promoter Score), BRND_PRCP (Brand Perception), SCIAL_MDIA (Social Media), SNTMNT (Sentiment)</a:t>
            </a: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9" name="Shape 2599"/>
        <p:cNvGrpSpPr/>
        <p:nvPr/>
      </p:nvGrpSpPr>
      <p:grpSpPr>
        <a:xfrm>
          <a:off x="0" y="0"/>
          <a:ext cx="0" cy="0"/>
          <a:chOff x="0" y="0"/>
          <a:chExt cx="0" cy="0"/>
        </a:xfrm>
      </p:grpSpPr>
      <p:sp>
        <p:nvSpPr>
          <p:cNvPr id="2600" name="Google Shape;2600;p113:notes"/>
          <p:cNvSpPr txBox="1"/>
          <p:nvPr>
            <p:ph idx="12" type="sldNum"/>
          </p:nvPr>
        </p:nvSpPr>
        <p:spPr>
          <a:xfrm>
            <a:off x="3885012" y="9446102"/>
            <a:ext cx="2971800" cy="49728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GB" sz="1800">
                <a:solidFill>
                  <a:srgbClr val="000000"/>
                </a:solidFill>
                <a:latin typeface="Calibri"/>
                <a:ea typeface="Calibri"/>
                <a:cs typeface="Calibri"/>
                <a:sym typeface="Calibri"/>
              </a:rPr>
              <a:t>‹#›</a:t>
            </a:fld>
            <a:endParaRPr sz="1800">
              <a:solidFill>
                <a:srgbClr val="000000"/>
              </a:solidFill>
              <a:latin typeface="Calibri"/>
              <a:ea typeface="Calibri"/>
              <a:cs typeface="Calibri"/>
              <a:sym typeface="Calibri"/>
            </a:endParaRPr>
          </a:p>
        </p:txBody>
      </p:sp>
      <p:sp>
        <p:nvSpPr>
          <p:cNvPr id="2601" name="Google Shape;2601;p113:notes"/>
          <p:cNvSpPr/>
          <p:nvPr>
            <p:ph idx="2" type="sldImg"/>
          </p:nvPr>
        </p:nvSpPr>
        <p:spPr>
          <a:xfrm>
            <a:off x="114300" y="746125"/>
            <a:ext cx="6629400" cy="3729038"/>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2" name="Google Shape;2602;p113:notes"/>
          <p:cNvSpPr txBox="1"/>
          <p:nvPr>
            <p:ph idx="1" type="body"/>
          </p:nvPr>
        </p:nvSpPr>
        <p:spPr>
          <a:xfrm>
            <a:off x="685800" y="4724202"/>
            <a:ext cx="5486400" cy="4475560"/>
          </a:xfrm>
          <a:prstGeom prst="rect">
            <a:avLst/>
          </a:prstGeom>
          <a:noFill/>
          <a:ln>
            <a:noFill/>
          </a:ln>
        </p:spPr>
        <p:txBody>
          <a:bodyPr anchorCtr="0" anchor="t" bIns="45700" lIns="91425" spcFirstLastPara="1" rIns="91425" wrap="square" tIns="45700">
            <a:noAutofit/>
          </a:bodyPr>
          <a:lstStyle/>
          <a:p>
            <a:pPr indent="-96838" lvl="0" marL="173038" rtl="0" algn="l">
              <a:lnSpc>
                <a:spcPct val="95000"/>
              </a:lnSpc>
              <a:spcBef>
                <a:spcPts val="0"/>
              </a:spcBef>
              <a:spcAft>
                <a:spcPts val="0"/>
              </a:spcAft>
              <a:buClr>
                <a:schemeClr val="dk1"/>
              </a:buClr>
              <a:buSzPts val="1200"/>
              <a:buNone/>
            </a:pPr>
            <a:r>
              <a:t>BRAND ANALYTICS — Maturity Assessment</a:t>
            </a:r>
            <a:endParaRPr/>
          </a:p>
          <a:p/>
          <a:p>
            <a:r>
              <a:t>Current State (Developing): Annual brand survey only. No real-time social monitoring. No app store analysis. No competitive brand benchmarking.</a:t>
            </a:r>
          </a:p>
          <a:p/>
          <a:p>
            <a:r>
              <a:t>Target State (Innovating): Real-time brand health dashboard, social sentiment monitoring, competitive benchmarking across Big 5, Islamic, fintech, and digital bank categories, employer brand tracking.</a:t>
            </a:r>
          </a:p>
          <a:p/>
          <a:p>
            <a:r>
              <a:t>Pakistan Reality: Fintechs (SadaPay, NayaPay) rate Very High on Innovation and Digital. Traditional banks rate High on Trust only. Gap in brand perception is a key competitive vulnerability.</a:t>
            </a:r>
          </a:p>
          <a:p/>
          <a:p>
            <a:r>
              <a:t>FSDM: BRND (Brand), BRND_HLTH (Brand Health), NPS (Net Promoter Score), BRND_PRCP (Brand Perception), SCIAL_MDIA (Social Media), SNTMNT (Sentiment)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Alternate Title Slide" showMasterSp="0">
  <p:cSld name="1_Alternate Title Slide">
    <p:spTree>
      <p:nvGrpSpPr>
        <p:cNvPr id="20" name="Shape 20"/>
        <p:cNvGrpSpPr/>
        <p:nvPr/>
      </p:nvGrpSpPr>
      <p:grpSpPr>
        <a:xfrm>
          <a:off x="0" y="0"/>
          <a:ext cx="0" cy="0"/>
          <a:chOff x="0" y="0"/>
          <a:chExt cx="0" cy="0"/>
        </a:xfrm>
      </p:grpSpPr>
      <p:pic>
        <p:nvPicPr>
          <p:cNvPr id="21" name="Google Shape;21;p2"/>
          <p:cNvPicPr preferRelativeResize="0"/>
          <p:nvPr/>
        </p:nvPicPr>
        <p:blipFill rotWithShape="1">
          <a:blip r:embed="rId2">
            <a:alphaModFix/>
          </a:blip>
          <a:srcRect b="-80" l="5141" r="6732" t="25561"/>
          <a:stretch/>
        </p:blipFill>
        <p:spPr>
          <a:xfrm>
            <a:off x="0" y="-5583"/>
            <a:ext cx="9144000" cy="5154666"/>
          </a:xfrm>
          <a:prstGeom prst="rect">
            <a:avLst/>
          </a:prstGeom>
          <a:noFill/>
          <a:ln>
            <a:noFill/>
          </a:ln>
        </p:spPr>
      </p:pic>
      <p:sp>
        <p:nvSpPr>
          <p:cNvPr id="22" name="Google Shape;22;p2"/>
          <p:cNvSpPr/>
          <p:nvPr/>
        </p:nvSpPr>
        <p:spPr>
          <a:xfrm>
            <a:off x="457200" y="-9525"/>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23" name="Google Shape;23;p2"/>
          <p:cNvGrpSpPr/>
          <p:nvPr/>
        </p:nvGrpSpPr>
        <p:grpSpPr>
          <a:xfrm>
            <a:off x="994118" y="305466"/>
            <a:ext cx="1362335" cy="305001"/>
            <a:chOff x="5137" y="4139"/>
            <a:chExt cx="335" cy="75"/>
          </a:xfrm>
        </p:grpSpPr>
        <p:sp>
          <p:nvSpPr>
            <p:cNvPr id="24" name="Google Shape;24;p2"/>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 name="Google Shape;25;p2"/>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sp>
        <p:nvSpPr>
          <p:cNvPr id="26" name="Google Shape;26;p2"/>
          <p:cNvSpPr txBox="1"/>
          <p:nvPr>
            <p:ph idx="1" type="body"/>
          </p:nvPr>
        </p:nvSpPr>
        <p:spPr>
          <a:xfrm>
            <a:off x="0" y="2915344"/>
            <a:ext cx="9144000" cy="106542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55600" lvl="0" marL="457200" algn="ctr">
              <a:lnSpc>
                <a:spcPct val="85000"/>
              </a:lnSpc>
              <a:spcBef>
                <a:spcPts val="200"/>
              </a:spcBef>
              <a:spcAft>
                <a:spcPts val="0"/>
              </a:spcAft>
              <a:buClr>
                <a:schemeClr val="lt1"/>
              </a:buClr>
              <a:buSzPts val="2000"/>
              <a:buFont typeface="Arial"/>
              <a:buChar char="​"/>
              <a:defRPr b="0" sz="2000">
                <a:solidFill>
                  <a:schemeClr val="lt1"/>
                </a:solidFill>
              </a:defRPr>
            </a:lvl1pPr>
            <a:lvl2pPr indent="-317500" lvl="1" marL="914400" algn="ctr">
              <a:lnSpc>
                <a:spcPct val="85000"/>
              </a:lnSpc>
              <a:spcBef>
                <a:spcPts val="200"/>
              </a:spcBef>
              <a:spcAft>
                <a:spcPts val="0"/>
              </a:spcAft>
              <a:buClr>
                <a:schemeClr val="lt1"/>
              </a:buClr>
              <a:buSzPts val="1400"/>
              <a:buFont typeface="Arial"/>
              <a:buChar char="​"/>
              <a:defRPr b="0" sz="1400">
                <a:solidFill>
                  <a:schemeClr val="lt1"/>
                </a:solidFill>
              </a:defRPr>
            </a:lvl2pPr>
            <a:lvl3pPr indent="-330200" lvl="2" marL="1371600" algn="ctr">
              <a:lnSpc>
                <a:spcPct val="85000"/>
              </a:lnSpc>
              <a:spcBef>
                <a:spcPts val="600"/>
              </a:spcBef>
              <a:spcAft>
                <a:spcPts val="0"/>
              </a:spcAft>
              <a:buClr>
                <a:schemeClr val="lt1"/>
              </a:buClr>
              <a:buSzPts val="1600"/>
              <a:buFont typeface="Arial"/>
              <a:buChar char="​"/>
              <a:defRPr b="1" sz="16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Tree>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7" name="Shape 27"/>
        <p:cNvGrpSpPr/>
        <p:nvPr/>
      </p:nvGrpSpPr>
      <p:grpSpPr>
        <a:xfrm>
          <a:off x="0" y="0"/>
          <a:ext cx="0" cy="0"/>
          <a:chOff x="0" y="0"/>
          <a:chExt cx="0" cy="0"/>
        </a:xfrm>
      </p:grpSpPr>
      <p:sp>
        <p:nvSpPr>
          <p:cNvPr id="28" name="Google Shape;28;p3"/>
          <p:cNvSpPr txBox="1"/>
          <p:nvPr>
            <p:ph idx="1" type="body"/>
          </p:nvPr>
        </p:nvSpPr>
        <p:spPr>
          <a:xfrm>
            <a:off x="457200" y="1115806"/>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29" name="Google Shape;29;p3"/>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0" name="Google Shape;30;p3"/>
          <p:cNvSpPr txBox="1"/>
          <p:nvPr>
            <p:ph type="title"/>
          </p:nvPr>
        </p:nvSpPr>
        <p:spPr>
          <a:xfrm>
            <a:off x="457200" y="128588"/>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Title and Content">
  <p:cSld name="17_Title and Content">
    <p:spTree>
      <p:nvGrpSpPr>
        <p:cNvPr id="32" name="Shape 32"/>
        <p:cNvGrpSpPr/>
        <p:nvPr/>
      </p:nvGrpSpPr>
      <p:grpSpPr>
        <a:xfrm>
          <a:off x="0" y="0"/>
          <a:ext cx="0" cy="0"/>
          <a:chOff x="0" y="0"/>
          <a:chExt cx="0" cy="0"/>
        </a:xfrm>
      </p:grpSpPr>
      <p:sp>
        <p:nvSpPr>
          <p:cNvPr id="33" name="Google Shape;33;p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4" name="Google Shape;34;p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Subtitle Only">
  <p:cSld name="1_Title and Subtitle Only">
    <p:spTree>
      <p:nvGrpSpPr>
        <p:cNvPr id="35" name="Shape 35"/>
        <p:cNvGrpSpPr/>
        <p:nvPr/>
      </p:nvGrpSpPr>
      <p:grpSpPr>
        <a:xfrm>
          <a:off x="0" y="0"/>
          <a:ext cx="0" cy="0"/>
          <a:chOff x="0" y="0"/>
          <a:chExt cx="0" cy="0"/>
        </a:xfrm>
      </p:grpSpPr>
      <p:sp>
        <p:nvSpPr>
          <p:cNvPr id="36" name="Google Shape;36;p5"/>
          <p:cNvSpPr txBox="1"/>
          <p:nvPr>
            <p:ph idx="1"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7" name="Google Shape;37;p5"/>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38" name="Google Shape;38;p5"/>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Title and Content">
  <p:cSld name="15_Title and Content">
    <p:spTree>
      <p:nvGrpSpPr>
        <p:cNvPr id="39" name="Shape 39"/>
        <p:cNvGrpSpPr/>
        <p:nvPr/>
      </p:nvGrpSpPr>
      <p:grpSpPr>
        <a:xfrm>
          <a:off x="0" y="0"/>
          <a:ext cx="0" cy="0"/>
          <a:chOff x="0" y="0"/>
          <a:chExt cx="0" cy="0"/>
        </a:xfrm>
      </p:grpSpPr>
      <p:sp>
        <p:nvSpPr>
          <p:cNvPr id="40" name="Google Shape;40;p6"/>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6"/>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2" name="Google Shape;42;p6"/>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Title and Content">
  <p:cSld name="16_Title and Content">
    <p:spTree>
      <p:nvGrpSpPr>
        <p:cNvPr id="43" name="Shape 43"/>
        <p:cNvGrpSpPr/>
        <p:nvPr/>
      </p:nvGrpSpPr>
      <p:grpSpPr>
        <a:xfrm>
          <a:off x="0" y="0"/>
          <a:ext cx="0" cy="0"/>
          <a:chOff x="0" y="0"/>
          <a:chExt cx="0" cy="0"/>
        </a:xfrm>
      </p:grpSpPr>
      <p:sp>
        <p:nvSpPr>
          <p:cNvPr id="44" name="Google Shape;44;p7"/>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7"/>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46" name="Google Shape;46;p7"/>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7" name="Shape 47"/>
        <p:cNvGrpSpPr/>
        <p:nvPr/>
      </p:nvGrpSpPr>
      <p:grpSpPr>
        <a:xfrm>
          <a:off x="0" y="0"/>
          <a:ext cx="0" cy="0"/>
          <a:chOff x="0" y="0"/>
          <a:chExt cx="0" cy="0"/>
        </a:xfrm>
      </p:grpSpPr>
      <p:sp>
        <p:nvSpPr>
          <p:cNvPr id="48" name="Google Shape;48;p8"/>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8"/>
          <p:cNvSpPr txBox="1"/>
          <p:nvPr>
            <p:ph idx="1" type="body"/>
          </p:nvPr>
        </p:nvSpPr>
        <p:spPr>
          <a:xfrm>
            <a:off x="457200" y="865188"/>
            <a:ext cx="8229600" cy="369499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0" name="Google Shape;50;p8"/>
          <p:cNvSpPr txBox="1"/>
          <p:nvPr>
            <p:ph idx="2" type="body"/>
          </p:nvPr>
        </p:nvSpPr>
        <p:spPr>
          <a:xfrm>
            <a:off x="3297994" y="492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Title and Content">
  <p:cSld name="21_Title and Content">
    <p:spTree>
      <p:nvGrpSpPr>
        <p:cNvPr id="51" name="Shape 51"/>
        <p:cNvGrpSpPr/>
        <p:nvPr/>
      </p:nvGrpSpPr>
      <p:grpSpPr>
        <a:xfrm>
          <a:off x="0" y="0"/>
          <a:ext cx="0" cy="0"/>
          <a:chOff x="0" y="0"/>
          <a:chExt cx="0" cy="0"/>
        </a:xfrm>
      </p:grpSpPr>
      <p:sp>
        <p:nvSpPr>
          <p:cNvPr id="52" name="Google Shape;52;p9"/>
          <p:cNvSpPr txBox="1"/>
          <p:nvPr>
            <p:ph type="title"/>
          </p:nvPr>
        </p:nvSpPr>
        <p:spPr>
          <a:xfrm>
            <a:off x="457200" y="173736"/>
            <a:ext cx="8229600" cy="698572"/>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9"/>
          <p:cNvSpPr txBox="1"/>
          <p:nvPr>
            <p:ph idx="1" type="body"/>
          </p:nvPr>
        </p:nvSpPr>
        <p:spPr>
          <a:xfrm>
            <a:off x="457200" y="1216152"/>
            <a:ext cx="8229600" cy="3344033"/>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4" name="Google Shape;54;p9"/>
          <p:cNvSpPr txBox="1"/>
          <p:nvPr>
            <p:ph idx="2"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gue" showMasterSp="0">
  <p:cSld name="Segue">
    <p:bg>
      <p:bgPr>
        <a:solidFill>
          <a:schemeClr val="accent1"/>
        </a:solidFill>
      </p:bgPr>
    </p:bg>
    <p:spTree>
      <p:nvGrpSpPr>
        <p:cNvPr id="55" name="Shape 55"/>
        <p:cNvGrpSpPr/>
        <p:nvPr/>
      </p:nvGrpSpPr>
      <p:grpSpPr>
        <a:xfrm>
          <a:off x="0" y="0"/>
          <a:ext cx="0" cy="0"/>
          <a:chOff x="0" y="0"/>
          <a:chExt cx="0" cy="0"/>
        </a:xfrm>
      </p:grpSpPr>
      <p:sp>
        <p:nvSpPr>
          <p:cNvPr id="56" name="Google Shape;56;p10"/>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57" name="Google Shape;57;p10"/>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D8D8D8"/>
                </a:solidFill>
                <a:latin typeface="Century Gothic"/>
                <a:ea typeface="Century Gothic"/>
                <a:cs typeface="Century Gothic"/>
                <a:sym typeface="Century Gothic"/>
              </a:rPr>
              <a:t>‹#›</a:t>
            </a:fld>
            <a:endParaRPr sz="850">
              <a:solidFill>
                <a:srgbClr val="D8D8D8"/>
              </a:solidFill>
              <a:latin typeface="Century Gothic"/>
              <a:ea typeface="Century Gothic"/>
              <a:cs typeface="Century Gothic"/>
              <a:sym typeface="Century Gothic"/>
            </a:endParaRPr>
          </a:p>
        </p:txBody>
      </p:sp>
      <p:sp>
        <p:nvSpPr>
          <p:cNvPr id="58" name="Google Shape;58;p10"/>
          <p:cNvSpPr txBox="1"/>
          <p:nvPr>
            <p:ph idx="2" type="body"/>
          </p:nvPr>
        </p:nvSpPr>
        <p:spPr>
          <a:xfrm>
            <a:off x="3242535" y="4855464"/>
            <a:ext cx="2658930"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chemeClr val="lt1"/>
              </a:buClr>
              <a:buSzPts val="700"/>
              <a:buFont typeface="Century Gothic"/>
              <a:buNone/>
              <a:defRPr b="1" sz="700">
                <a:solidFill>
                  <a:schemeClr val="lt1"/>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Subtitle Only">
  <p:cSld name="2_Title and Subtitle Only">
    <p:spTree>
      <p:nvGrpSpPr>
        <p:cNvPr id="59" name="Shape 59"/>
        <p:cNvGrpSpPr/>
        <p:nvPr/>
      </p:nvGrpSpPr>
      <p:grpSpPr>
        <a:xfrm>
          <a:off x="0" y="0"/>
          <a:ext cx="0" cy="0"/>
          <a:chOff x="0" y="0"/>
          <a:chExt cx="0" cy="0"/>
        </a:xfrm>
      </p:grpSpPr>
      <p:sp>
        <p:nvSpPr>
          <p:cNvPr id="60" name="Google Shape;60;p11"/>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and Subtitle Only">
  <p:cSld name="4_Title and Subtitle Only">
    <p:spTree>
      <p:nvGrpSpPr>
        <p:cNvPr id="61" name="Shape 61"/>
        <p:cNvGrpSpPr/>
        <p:nvPr/>
      </p:nvGrpSpPr>
      <p:grpSpPr>
        <a:xfrm>
          <a:off x="0" y="0"/>
          <a:ext cx="0" cy="0"/>
          <a:chOff x="0" y="0"/>
          <a:chExt cx="0" cy="0"/>
        </a:xfrm>
      </p:grpSpPr>
      <p:sp>
        <p:nvSpPr>
          <p:cNvPr id="62" name="Google Shape;62;p12"/>
          <p:cNvSpPr txBox="1"/>
          <p:nvPr>
            <p:ph type="title"/>
          </p:nvPr>
        </p:nvSpPr>
        <p:spPr>
          <a:xfrm>
            <a:off x="457200" y="173736"/>
            <a:ext cx="8229600" cy="704088"/>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Image">
  <p:cSld name="Content Image">
    <p:spTree>
      <p:nvGrpSpPr>
        <p:cNvPr id="63" name="Shape 63"/>
        <p:cNvGrpSpPr/>
        <p:nvPr/>
      </p:nvGrpSpPr>
      <p:grpSpPr>
        <a:xfrm>
          <a:off x="0" y="0"/>
          <a:ext cx="0" cy="0"/>
          <a:chOff x="0" y="0"/>
          <a:chExt cx="0" cy="0"/>
        </a:xfrm>
      </p:grpSpPr>
      <p:sp>
        <p:nvSpPr>
          <p:cNvPr id="64" name="Google Shape;64;p13"/>
          <p:cNvSpPr/>
          <p:nvPr>
            <p:ph idx="2" type="pic"/>
          </p:nvPr>
        </p:nvSpPr>
        <p:spPr>
          <a:xfrm>
            <a:off x="4800600" y="1216152"/>
            <a:ext cx="3886200" cy="3069714"/>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65" name="Google Shape;65;p13"/>
          <p:cNvSpPr txBox="1"/>
          <p:nvPr>
            <p:ph idx="1" type="body"/>
          </p:nvPr>
        </p:nvSpPr>
        <p:spPr>
          <a:xfrm>
            <a:off x="457200" y="1216152"/>
            <a:ext cx="3886200" cy="335059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6" name="Google Shape;66;p1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67" name="Google Shape;67;p1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68" name="Shape 68"/>
        <p:cNvGrpSpPr/>
        <p:nvPr/>
      </p:nvGrpSpPr>
      <p:grpSpPr>
        <a:xfrm>
          <a:off x="0" y="0"/>
          <a:ext cx="0" cy="0"/>
          <a:chOff x="0" y="0"/>
          <a:chExt cx="0" cy="0"/>
        </a:xfrm>
      </p:grpSpPr>
      <p:sp>
        <p:nvSpPr>
          <p:cNvPr id="69" name="Google Shape;69;p14"/>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a:lvl1pPr>
            <a:lvl2pPr indent="-342900" lvl="1" marL="914400" algn="l">
              <a:lnSpc>
                <a:spcPct val="85000"/>
              </a:lnSpc>
              <a:spcBef>
                <a:spcPts val="200"/>
              </a:spcBef>
              <a:spcAft>
                <a:spcPts val="0"/>
              </a:spcAft>
              <a:buClr>
                <a:schemeClr val="dk1"/>
              </a:buClr>
              <a:buSzPts val="1800"/>
              <a:buChar char="–"/>
              <a:defRPr/>
            </a:lvl2pPr>
            <a:lvl3pPr indent="-342900" lvl="2" marL="1371600" algn="l">
              <a:lnSpc>
                <a:spcPct val="85000"/>
              </a:lnSpc>
              <a:spcBef>
                <a:spcPts val="2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0" name="Google Shape;70;p14"/>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accent1"/>
        </a:solidFill>
      </p:bgPr>
    </p:bg>
    <p:spTree>
      <p:nvGrpSpPr>
        <p:cNvPr id="71" name="Shape 71"/>
        <p:cNvGrpSpPr/>
        <p:nvPr/>
      </p:nvGrpSpPr>
      <p:grpSpPr>
        <a:xfrm>
          <a:off x="0" y="0"/>
          <a:ext cx="0" cy="0"/>
          <a:chOff x="0" y="0"/>
          <a:chExt cx="0" cy="0"/>
        </a:xfrm>
      </p:grpSpPr>
      <p:sp>
        <p:nvSpPr>
          <p:cNvPr id="72" name="Google Shape;72;p15"/>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3" name="Google Shape;73;p15"/>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egue" showMasterSp="0">
  <p:cSld name="2_Segue">
    <p:bg>
      <p:bgPr>
        <a:solidFill>
          <a:schemeClr val="accent1"/>
        </a:solidFill>
      </p:bgPr>
    </p:bg>
    <p:spTree>
      <p:nvGrpSpPr>
        <p:cNvPr id="74" name="Shape 74"/>
        <p:cNvGrpSpPr/>
        <p:nvPr/>
      </p:nvGrpSpPr>
      <p:grpSpPr>
        <a:xfrm>
          <a:off x="0" y="0"/>
          <a:ext cx="0" cy="0"/>
          <a:chOff x="0" y="0"/>
          <a:chExt cx="0" cy="0"/>
        </a:xfrm>
      </p:grpSpPr>
      <p:sp>
        <p:nvSpPr>
          <p:cNvPr id="75" name="Google Shape;75;p16"/>
          <p:cNvSpPr txBox="1"/>
          <p:nvPr>
            <p:ph idx="1" type="body"/>
          </p:nvPr>
        </p:nvSpPr>
        <p:spPr>
          <a:xfrm>
            <a:off x="0" y="2342217"/>
            <a:ext cx="9144000" cy="459100"/>
          </a:xfrm>
          <a:prstGeom prst="rect">
            <a:avLst/>
          </a:prstGeom>
          <a:solidFill>
            <a:schemeClr val="lt1"/>
          </a:solidFill>
          <a:ln>
            <a:noFill/>
          </a:ln>
        </p:spPr>
        <p:txBody>
          <a:bodyPr anchorCtr="1" anchor="ctr" bIns="45700" lIns="457200" spcFirstLastPara="1" rIns="457200" wrap="square" tIns="45700">
            <a:noAutofit/>
          </a:bodyPr>
          <a:lstStyle>
            <a:lvl1pPr indent="-228600" lvl="0" marL="457200" algn="ctr">
              <a:lnSpc>
                <a:spcPct val="110000"/>
              </a:lnSpc>
              <a:spcBef>
                <a:spcPts val="200"/>
              </a:spcBef>
              <a:spcAft>
                <a:spcPts val="0"/>
              </a:spcAft>
              <a:buClr>
                <a:schemeClr val="accent1"/>
              </a:buClr>
              <a:buSzPts val="2200"/>
              <a:buFont typeface="Century Gothic"/>
              <a:buNone/>
              <a:defRPr sz="2200">
                <a:solidFill>
                  <a:schemeClr val="accent1"/>
                </a:solidFill>
              </a:defRPr>
            </a:lvl1pPr>
            <a:lvl2pPr indent="-342900" lvl="1" marL="914400" algn="ctr">
              <a:lnSpc>
                <a:spcPct val="100000"/>
              </a:lnSpc>
              <a:spcBef>
                <a:spcPts val="200"/>
              </a:spcBef>
              <a:spcAft>
                <a:spcPts val="0"/>
              </a:spcAft>
              <a:buClr>
                <a:schemeClr val="accent1"/>
              </a:buClr>
              <a:buSzPts val="1800"/>
              <a:buFont typeface="Arial"/>
              <a:buChar char="​"/>
              <a:defRPr sz="1800">
                <a:solidFill>
                  <a:schemeClr val="accent1"/>
                </a:solidFill>
              </a:defRPr>
            </a:lvl2pPr>
            <a:lvl3pPr indent="-317500" lvl="2" marL="1371600" algn="ctr">
              <a:lnSpc>
                <a:spcPct val="85000"/>
              </a:lnSpc>
              <a:spcBef>
                <a:spcPts val="600"/>
              </a:spcBef>
              <a:spcAft>
                <a:spcPts val="0"/>
              </a:spcAft>
              <a:buClr>
                <a:schemeClr val="accent1"/>
              </a:buClr>
              <a:buSzPts val="1400"/>
              <a:buFont typeface="Arial"/>
              <a:buChar char="​"/>
              <a:defRPr b="1" sz="1400">
                <a:solidFill>
                  <a:schemeClr val="accent1"/>
                </a:solidFill>
              </a:defRPr>
            </a:lvl3pPr>
            <a:lvl4pPr indent="-317500" lvl="3" marL="1828800" algn="ctr">
              <a:lnSpc>
                <a:spcPct val="85000"/>
              </a:lnSpc>
              <a:spcBef>
                <a:spcPts val="200"/>
              </a:spcBef>
              <a:spcAft>
                <a:spcPts val="0"/>
              </a:spcAft>
              <a:buClr>
                <a:schemeClr val="accent1"/>
              </a:buClr>
              <a:buSzPts val="1400"/>
              <a:buFont typeface="Arial"/>
              <a:buChar char="​"/>
              <a:defRPr b="0" sz="1400">
                <a:solidFill>
                  <a:schemeClr val="accent1"/>
                </a:solidFill>
              </a:defRPr>
            </a:lvl4pPr>
            <a:lvl5pPr indent="-317500" lvl="4" marL="2286000" algn="ctr">
              <a:lnSpc>
                <a:spcPct val="85000"/>
              </a:lnSpc>
              <a:spcBef>
                <a:spcPts val="200"/>
              </a:spcBef>
              <a:spcAft>
                <a:spcPts val="0"/>
              </a:spcAft>
              <a:buClr>
                <a:schemeClr val="accent1"/>
              </a:buClr>
              <a:buSzPts val="1400"/>
              <a:buFont typeface="Arial"/>
              <a:buChar char="​"/>
              <a:defRPr b="0" sz="1400">
                <a:solidFill>
                  <a:schemeClr val="accent1"/>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76" name="Google Shape;76;p16"/>
          <p:cNvSpPr txBox="1"/>
          <p:nvPr/>
        </p:nvSpPr>
        <p:spPr>
          <a:xfrm>
            <a:off x="153254" y="4837176"/>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chemeClr val="lt2"/>
                </a:solidFill>
                <a:latin typeface="Century Gothic"/>
                <a:ea typeface="Century Gothic"/>
                <a:cs typeface="Century Gothic"/>
                <a:sym typeface="Century Gothic"/>
              </a:rPr>
              <a:t>‹#›</a:t>
            </a:fld>
            <a:endParaRPr sz="850">
              <a:solidFill>
                <a:schemeClr val="lt2"/>
              </a:solidFill>
              <a:latin typeface="Century Gothic"/>
              <a:ea typeface="Century Gothic"/>
              <a:cs typeface="Century Gothic"/>
              <a:sym typeface="Century Gothic"/>
            </a:endParaRPr>
          </a:p>
        </p:txBody>
      </p:sp>
    </p:spTree>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Text, and 2 Content">
  <p:cSld name="1_Title, Text, and 2 Content">
    <p:spTree>
      <p:nvGrpSpPr>
        <p:cNvPr id="77" name="Shape 77"/>
        <p:cNvGrpSpPr/>
        <p:nvPr/>
      </p:nvGrpSpPr>
      <p:grpSpPr>
        <a:xfrm>
          <a:off x="0" y="0"/>
          <a:ext cx="0" cy="0"/>
          <a:chOff x="0" y="0"/>
          <a:chExt cx="0" cy="0"/>
        </a:xfrm>
      </p:grpSpPr>
      <p:sp>
        <p:nvSpPr>
          <p:cNvPr id="78" name="Google Shape;78;p17"/>
          <p:cNvSpPr txBox="1"/>
          <p:nvPr>
            <p:ph type="title"/>
          </p:nvPr>
        </p:nvSpPr>
        <p:spPr>
          <a:xfrm>
            <a:off x="466725" y="3747"/>
            <a:ext cx="5087938" cy="61760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7"/>
          <p:cNvSpPr/>
          <p:nvPr/>
        </p:nvSpPr>
        <p:spPr>
          <a:xfrm>
            <a:off x="0" y="777875"/>
            <a:ext cx="7205662" cy="1160709"/>
          </a:xfrm>
          <a:prstGeom prst="rect">
            <a:avLst/>
          </a:prstGeom>
          <a:solidFill>
            <a:srgbClr val="005AA4"/>
          </a:solidFill>
          <a:ln>
            <a:noFill/>
          </a:ln>
          <a:effectLst>
            <a:outerShdw blurRad="50800" rotWithShape="0" algn="tl" dir="2700000" dist="38100">
              <a:srgbClr val="000000">
                <a:alpha val="40000"/>
              </a:srgbClr>
            </a:outerShdw>
          </a:effectLst>
        </p:spPr>
        <p:txBody>
          <a:bodyPr anchorCtr="0" anchor="ctr" bIns="91425" lIns="91425" spcFirstLastPara="1" rIns="91425" wrap="square" tIns="91425">
            <a:noAutofit/>
          </a:bodyPr>
          <a:lstStyle/>
          <a:p>
            <a:pPr indent="0" lvl="1" marL="406400" marR="0" rtl="0" algn="l">
              <a:spcBef>
                <a:spcPts val="0"/>
              </a:spcBef>
              <a:spcAft>
                <a:spcPts val="0"/>
              </a:spcAft>
              <a:buNone/>
            </a:pPr>
            <a:r>
              <a:t/>
            </a:r>
            <a:endParaRPr b="0" i="0" sz="1400" u="none" cap="none" strike="noStrike">
              <a:solidFill>
                <a:schemeClr val="lt1"/>
              </a:solidFill>
              <a:latin typeface="Century Gothic"/>
              <a:ea typeface="Century Gothic"/>
              <a:cs typeface="Century Gothic"/>
              <a:sym typeface="Century Gothic"/>
            </a:endParaRPr>
          </a:p>
        </p:txBody>
      </p:sp>
      <p:sp>
        <p:nvSpPr>
          <p:cNvPr id="80" name="Google Shape;80;p17"/>
          <p:cNvSpPr txBox="1"/>
          <p:nvPr>
            <p:ph idx="1" type="body"/>
          </p:nvPr>
        </p:nvSpPr>
        <p:spPr>
          <a:xfrm>
            <a:off x="449263" y="2201863"/>
            <a:ext cx="4866449" cy="2652712"/>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dk2"/>
              </a:buClr>
              <a:buSzPts val="1800"/>
              <a:buNone/>
              <a:defRPr sz="1800">
                <a:solidFill>
                  <a:schemeClr val="dk2"/>
                </a:solidFill>
              </a:defRPr>
            </a:lvl1pPr>
            <a:lvl2pPr indent="-317500" lvl="1" marL="914400" algn="l">
              <a:lnSpc>
                <a:spcPct val="100000"/>
              </a:lnSpc>
              <a:spcBef>
                <a:spcPts val="200"/>
              </a:spcBef>
              <a:spcAft>
                <a:spcPts val="0"/>
              </a:spcAft>
              <a:buClr>
                <a:schemeClr val="dk1"/>
              </a:buClr>
              <a:buSzPts val="1400"/>
              <a:buFont typeface="Arial"/>
              <a:buChar char="•"/>
              <a:defRPr sz="1400"/>
            </a:lvl2pPr>
            <a:lvl3pPr indent="-342900" lvl="2" marL="1371600" algn="l">
              <a:lnSpc>
                <a:spcPct val="85000"/>
              </a:lnSpc>
              <a:spcBef>
                <a:spcPts val="600"/>
              </a:spcBef>
              <a:spcAft>
                <a:spcPts val="0"/>
              </a:spcAft>
              <a:buClr>
                <a:schemeClr val="dk1"/>
              </a:buClr>
              <a:buSzPts val="1800"/>
              <a:buChar char="-"/>
              <a:defRPr/>
            </a:lvl3pPr>
            <a:lvl4pPr indent="-342900" lvl="3" marL="1828800" algn="l">
              <a:lnSpc>
                <a:spcPct val="95000"/>
              </a:lnSpc>
              <a:spcBef>
                <a:spcPts val="600"/>
              </a:spcBef>
              <a:spcAft>
                <a:spcPts val="0"/>
              </a:spcAft>
              <a:buClr>
                <a:schemeClr val="dk1"/>
              </a:buClr>
              <a:buSzPts val="1800"/>
              <a:buChar char="​"/>
              <a:defRPr/>
            </a:lvl4pPr>
            <a:lvl5pPr indent="-342900" lvl="4" marL="2286000" algn="l">
              <a:lnSpc>
                <a:spcPct val="95000"/>
              </a:lnSpc>
              <a:spcBef>
                <a:spcPts val="600"/>
              </a:spcBef>
              <a:spcAft>
                <a:spcPts val="0"/>
              </a:spcAft>
              <a:buClr>
                <a:schemeClr val="accent1"/>
              </a:buClr>
              <a:buSzPts val="1800"/>
              <a:buChar char="​"/>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81" name="Google Shape;81;p17"/>
          <p:cNvSpPr txBox="1"/>
          <p:nvPr>
            <p:ph idx="2" type="body"/>
          </p:nvPr>
        </p:nvSpPr>
        <p:spPr>
          <a:xfrm>
            <a:off x="449262" y="904312"/>
            <a:ext cx="6622097" cy="1029264"/>
          </a:xfrm>
          <a:prstGeom prst="rect">
            <a:avLst/>
          </a:prstGeom>
          <a:noFill/>
          <a:ln>
            <a:noFill/>
          </a:ln>
        </p:spPr>
        <p:txBody>
          <a:bodyPr anchorCtr="0" anchor="t" bIns="0" lIns="0" spcFirstLastPara="1" rIns="0" wrap="square" tIns="0">
            <a:noAutofit/>
          </a:bodyPr>
          <a:lstStyle>
            <a:lvl1pPr indent="-228600" lvl="0" marL="457200" algn="l">
              <a:lnSpc>
                <a:spcPct val="95000"/>
              </a:lnSpc>
              <a:spcBef>
                <a:spcPts val="600"/>
              </a:spcBef>
              <a:spcAft>
                <a:spcPts val="0"/>
              </a:spcAft>
              <a:buClr>
                <a:schemeClr val="lt1"/>
              </a:buClr>
              <a:buSzPts val="1800"/>
              <a:buNone/>
              <a:defRPr sz="1800">
                <a:solidFill>
                  <a:schemeClr val="lt1"/>
                </a:solidFill>
              </a:defRPr>
            </a:lvl1pPr>
            <a:lvl2pPr indent="-342900" lvl="1" marL="914400" algn="l">
              <a:lnSpc>
                <a:spcPct val="85000"/>
              </a:lnSpc>
              <a:spcBef>
                <a:spcPts val="200"/>
              </a:spcBef>
              <a:spcAft>
                <a:spcPts val="0"/>
              </a:spcAft>
              <a:buClr>
                <a:schemeClr val="dk1"/>
              </a:buClr>
              <a:buSzPts val="1800"/>
              <a:buChar char="–"/>
              <a:defRPr sz="1800"/>
            </a:lvl2pPr>
            <a:lvl3pPr indent="-342900" lvl="2" marL="1371600" algn="l">
              <a:lnSpc>
                <a:spcPct val="85000"/>
              </a:lnSpc>
              <a:spcBef>
                <a:spcPts val="200"/>
              </a:spcBef>
              <a:spcAft>
                <a:spcPts val="0"/>
              </a:spcAft>
              <a:buClr>
                <a:schemeClr val="dk1"/>
              </a:buClr>
              <a:buSzPts val="1800"/>
              <a:buChar char="-"/>
              <a:defRPr sz="18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ase Study_Option2">
  <p:cSld name="2_Case Study_Option2">
    <p:spTree>
      <p:nvGrpSpPr>
        <p:cNvPr id="82" name="Shape 82"/>
        <p:cNvGrpSpPr/>
        <p:nvPr/>
      </p:nvGrpSpPr>
      <p:grpSpPr>
        <a:xfrm>
          <a:off x="0" y="0"/>
          <a:ext cx="0" cy="0"/>
          <a:chOff x="0" y="0"/>
          <a:chExt cx="0" cy="0"/>
        </a:xfrm>
      </p:grpSpPr>
      <p:sp>
        <p:nvSpPr>
          <p:cNvPr id="83" name="Google Shape;83;p18"/>
          <p:cNvSpPr txBox="1"/>
          <p:nvPr>
            <p:ph idx="1" type="body"/>
          </p:nvPr>
        </p:nvSpPr>
        <p:spPr>
          <a:xfrm>
            <a:off x="3495437" y="128016"/>
            <a:ext cx="5648693" cy="914400"/>
          </a:xfrm>
          <a:prstGeom prst="rect">
            <a:avLst/>
          </a:prstGeom>
          <a:solidFill>
            <a:srgbClr val="0079DB"/>
          </a:solidFill>
          <a:ln>
            <a:noFill/>
          </a:ln>
        </p:spPr>
        <p:txBody>
          <a:bodyPr anchorCtr="0" anchor="b" bIns="227825" lIns="227825" spcFirstLastPara="1" rIns="455800" wrap="square" tIns="136775">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4" name="Google Shape;84;p1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85" name="Google Shape;85;p1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lternate Title Slide" showMasterSp="0">
  <p:cSld name="Alternate Title Slide">
    <p:spTree>
      <p:nvGrpSpPr>
        <p:cNvPr id="86" name="Shape 86"/>
        <p:cNvGrpSpPr/>
        <p:nvPr/>
      </p:nvGrpSpPr>
      <p:grpSpPr>
        <a:xfrm>
          <a:off x="0" y="0"/>
          <a:ext cx="0" cy="0"/>
          <a:chOff x="0" y="0"/>
          <a:chExt cx="0" cy="0"/>
        </a:xfrm>
      </p:grpSpPr>
      <p:sp>
        <p:nvSpPr>
          <p:cNvPr id="87" name="Google Shape;87;p19"/>
          <p:cNvSpPr txBox="1"/>
          <p:nvPr>
            <p:ph idx="1" type="body"/>
          </p:nvPr>
        </p:nvSpPr>
        <p:spPr>
          <a:xfrm>
            <a:off x="0" y="1765763"/>
            <a:ext cx="9144000" cy="1611980"/>
          </a:xfrm>
          <a:prstGeom prst="rect">
            <a:avLst/>
          </a:prstGeom>
          <a:solidFill>
            <a:schemeClr val="accent1">
              <a:alpha val="89803"/>
            </a:schemeClr>
          </a:solidFill>
          <a:ln>
            <a:noFill/>
          </a:ln>
        </p:spPr>
        <p:txBody>
          <a:bodyPr anchorCtr="1" anchor="ctr" bIns="137150" lIns="457200" spcFirstLastPara="1" rIns="457200" wrap="square" tIns="137150">
            <a:noAutofit/>
          </a:bodyPr>
          <a:lstStyle>
            <a:lvl1pPr indent="-381000" lvl="0" marL="457200" algn="ctr">
              <a:lnSpc>
                <a:spcPct val="85000"/>
              </a:lnSpc>
              <a:spcBef>
                <a:spcPts val="200"/>
              </a:spcBef>
              <a:spcAft>
                <a:spcPts val="0"/>
              </a:spcAft>
              <a:buClr>
                <a:schemeClr val="lt1"/>
              </a:buClr>
              <a:buSzPts val="2400"/>
              <a:buFont typeface="Arial"/>
              <a:buChar char="​"/>
              <a:defRPr b="1" sz="2400">
                <a:solidFill>
                  <a:schemeClr val="lt1"/>
                </a:solidFill>
              </a:defRPr>
            </a:lvl1pPr>
            <a:lvl2pPr indent="-342900" lvl="1" marL="914400" algn="ctr">
              <a:lnSpc>
                <a:spcPct val="85000"/>
              </a:lnSpc>
              <a:spcBef>
                <a:spcPts val="200"/>
              </a:spcBef>
              <a:spcAft>
                <a:spcPts val="0"/>
              </a:spcAft>
              <a:buClr>
                <a:schemeClr val="lt1"/>
              </a:buClr>
              <a:buSzPts val="1800"/>
              <a:buFont typeface="Arial"/>
              <a:buChar char="​"/>
              <a:defRPr b="1" sz="1800">
                <a:solidFill>
                  <a:schemeClr val="lt1"/>
                </a:solidFill>
              </a:defRPr>
            </a:lvl2pPr>
            <a:lvl3pPr indent="-317500" lvl="2" marL="1371600" algn="ctr">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ctr">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ctr">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88" name="Google Shape;88;p19"/>
          <p:cNvSpPr/>
          <p:nvPr/>
        </p:nvSpPr>
        <p:spPr>
          <a:xfrm>
            <a:off x="457200" y="0"/>
            <a:ext cx="2438400" cy="9144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nvGrpSpPr>
          <p:cNvPr id="89" name="Google Shape;89;p19"/>
          <p:cNvGrpSpPr/>
          <p:nvPr/>
        </p:nvGrpSpPr>
        <p:grpSpPr>
          <a:xfrm>
            <a:off x="994117" y="305466"/>
            <a:ext cx="1362335" cy="305001"/>
            <a:chOff x="5137" y="4139"/>
            <a:chExt cx="335" cy="75"/>
          </a:xfrm>
        </p:grpSpPr>
        <p:sp>
          <p:nvSpPr>
            <p:cNvPr id="90" name="Google Shape;90;p19"/>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91" name="Google Shape;91;p19"/>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Table Contents">
  <p:cSld name="Agenda/Table Contents">
    <p:spTree>
      <p:nvGrpSpPr>
        <p:cNvPr id="92" name="Shape 92"/>
        <p:cNvGrpSpPr/>
        <p:nvPr/>
      </p:nvGrpSpPr>
      <p:grpSpPr>
        <a:xfrm>
          <a:off x="0" y="0"/>
          <a:ext cx="0" cy="0"/>
          <a:chOff x="0" y="0"/>
          <a:chExt cx="0" cy="0"/>
        </a:xfrm>
      </p:grpSpPr>
      <p:sp>
        <p:nvSpPr>
          <p:cNvPr id="93" name="Google Shape;93;p20"/>
          <p:cNvSpPr txBox="1"/>
          <p:nvPr>
            <p:ph idx="1" type="body"/>
          </p:nvPr>
        </p:nvSpPr>
        <p:spPr>
          <a:xfrm>
            <a:off x="4800600" y="1216152"/>
            <a:ext cx="3886200" cy="3349777"/>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4" name="Google Shape;94;p20"/>
          <p:cNvSpPr txBox="1"/>
          <p:nvPr>
            <p:ph type="title"/>
          </p:nvPr>
        </p:nvSpPr>
        <p:spPr>
          <a:xfrm>
            <a:off x="4800600" y="263385"/>
            <a:ext cx="3886200" cy="704088"/>
          </a:xfrm>
          <a:prstGeom prst="rect">
            <a:avLst/>
          </a:prstGeom>
          <a:noFill/>
          <a:ln>
            <a:noFill/>
          </a:ln>
        </p:spPr>
        <p:txBody>
          <a:bodyPr anchorCtr="0" anchor="b" bIns="0" lIns="0" spcFirstLastPara="1" rIns="0" wrap="square" tIns="0">
            <a:noAutofit/>
          </a:bodyPr>
          <a:lstStyle>
            <a:lvl1pPr lvl="0" algn="l">
              <a:lnSpc>
                <a:spcPct val="90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0"/>
          <p:cNvSpPr/>
          <p:nvPr/>
        </p:nvSpPr>
        <p:spPr>
          <a:xfrm>
            <a:off x="99060" y="4858087"/>
            <a:ext cx="236220" cy="177165"/>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96" name="Google Shape;96;p20"/>
          <p:cNvSpPr/>
          <p:nvPr>
            <p:ph idx="2" type="pic"/>
          </p:nvPr>
        </p:nvSpPr>
        <p:spPr>
          <a:xfrm>
            <a:off x="0" y="0"/>
            <a:ext cx="43434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200"/>
              <a:buFont typeface="Arial"/>
              <a:buNone/>
              <a:defRPr b="0" i="0" sz="12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97" name="Shape 97"/>
        <p:cNvGrpSpPr/>
        <p:nvPr/>
      </p:nvGrpSpPr>
      <p:grpSpPr>
        <a:xfrm>
          <a:off x="0" y="0"/>
          <a:ext cx="0" cy="0"/>
          <a:chOff x="0" y="0"/>
          <a:chExt cx="0" cy="0"/>
        </a:xfrm>
      </p:grpSpPr>
      <p:sp>
        <p:nvSpPr>
          <p:cNvPr id="98" name="Google Shape;98;p21"/>
          <p:cNvSpPr txBox="1"/>
          <p:nvPr>
            <p:ph idx="1" type="body"/>
          </p:nvPr>
        </p:nvSpPr>
        <p:spPr>
          <a:xfrm>
            <a:off x="4800600" y="1216188"/>
            <a:ext cx="3886200" cy="3343998"/>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99" name="Google Shape;99;p21"/>
          <p:cNvSpPr txBox="1"/>
          <p:nvPr>
            <p:ph idx="2" type="body"/>
          </p:nvPr>
        </p:nvSpPr>
        <p:spPr>
          <a:xfrm>
            <a:off x="457200" y="1216152"/>
            <a:ext cx="3886200" cy="3344436"/>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0" name="Google Shape;100;p21"/>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1" name="Google Shape;101;p21"/>
          <p:cNvSpPr txBox="1"/>
          <p:nvPr>
            <p:ph type="title"/>
          </p:nvPr>
        </p:nvSpPr>
        <p:spPr>
          <a:xfrm>
            <a:off x="457200" y="173735"/>
            <a:ext cx="8229600" cy="70003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102" name="Shape 102"/>
        <p:cNvGrpSpPr/>
        <p:nvPr/>
      </p:nvGrpSpPr>
      <p:grpSpPr>
        <a:xfrm>
          <a:off x="0" y="0"/>
          <a:ext cx="0" cy="0"/>
          <a:chOff x="0" y="0"/>
          <a:chExt cx="0" cy="0"/>
        </a:xfrm>
      </p:grpSpPr>
      <p:sp>
        <p:nvSpPr>
          <p:cNvPr id="103" name="Google Shape;103;p22"/>
          <p:cNvSpPr txBox="1"/>
          <p:nvPr>
            <p:ph idx="1" type="body"/>
          </p:nvPr>
        </p:nvSpPr>
        <p:spPr>
          <a:xfrm>
            <a:off x="4572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4" name="Google Shape;104;p22"/>
          <p:cNvSpPr txBox="1"/>
          <p:nvPr>
            <p:ph idx="2" type="body"/>
          </p:nvPr>
        </p:nvSpPr>
        <p:spPr>
          <a:xfrm>
            <a:off x="33528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5" name="Google Shape;105;p22"/>
          <p:cNvSpPr txBox="1"/>
          <p:nvPr>
            <p:ph idx="3" type="body"/>
          </p:nvPr>
        </p:nvSpPr>
        <p:spPr>
          <a:xfrm>
            <a:off x="6248400" y="1216152"/>
            <a:ext cx="24384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6" name="Google Shape;106;p22"/>
          <p:cNvSpPr txBox="1"/>
          <p:nvPr>
            <p:ph idx="4"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07" name="Google Shape;107;p22"/>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eft Weighted">
  <p:cSld name="Title and Two Left Weighted">
    <p:spTree>
      <p:nvGrpSpPr>
        <p:cNvPr id="108" name="Shape 108"/>
        <p:cNvGrpSpPr/>
        <p:nvPr/>
      </p:nvGrpSpPr>
      <p:grpSpPr>
        <a:xfrm>
          <a:off x="0" y="0"/>
          <a:ext cx="0" cy="0"/>
          <a:chOff x="0" y="0"/>
          <a:chExt cx="0" cy="0"/>
        </a:xfrm>
      </p:grpSpPr>
      <p:sp>
        <p:nvSpPr>
          <p:cNvPr id="109" name="Google Shape;109;p23"/>
          <p:cNvSpPr/>
          <p:nvPr>
            <p:ph idx="2" type="pic"/>
          </p:nvPr>
        </p:nvSpPr>
        <p:spPr>
          <a:xfrm>
            <a:off x="6258796" y="1216152"/>
            <a:ext cx="2438400" cy="3068356"/>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0" name="Google Shape;110;p23"/>
          <p:cNvSpPr txBox="1"/>
          <p:nvPr>
            <p:ph idx="1" type="body"/>
          </p:nvPr>
        </p:nvSpPr>
        <p:spPr>
          <a:xfrm>
            <a:off x="457200" y="1216152"/>
            <a:ext cx="5334000" cy="3344035"/>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1" name="Google Shape;111;p23"/>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2" name="Google Shape;112;p23"/>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Right Weighted">
  <p:cSld name="Title and Two Right Weighted">
    <p:spTree>
      <p:nvGrpSpPr>
        <p:cNvPr id="113" name="Shape 113"/>
        <p:cNvGrpSpPr/>
        <p:nvPr/>
      </p:nvGrpSpPr>
      <p:grpSpPr>
        <a:xfrm>
          <a:off x="0" y="0"/>
          <a:ext cx="0" cy="0"/>
          <a:chOff x="0" y="0"/>
          <a:chExt cx="0" cy="0"/>
        </a:xfrm>
      </p:grpSpPr>
      <p:sp>
        <p:nvSpPr>
          <p:cNvPr id="114" name="Google Shape;114;p24"/>
          <p:cNvSpPr/>
          <p:nvPr>
            <p:ph idx="2" type="pic"/>
          </p:nvPr>
        </p:nvSpPr>
        <p:spPr>
          <a:xfrm>
            <a:off x="457200" y="1216152"/>
            <a:ext cx="2438400" cy="3070129"/>
          </a:xfrm>
          <a:prstGeom prst="rect">
            <a:avLst/>
          </a:prstGeom>
          <a:noFill/>
          <a:ln>
            <a:noFill/>
          </a:ln>
        </p:spPr>
        <p:txBody>
          <a:bodyPr anchorCtr="0" anchor="t" bIns="0" lIns="0" spcFirstLastPara="1" rIns="0" wrap="square" tIns="0">
            <a:noAutofit/>
          </a:bodyPr>
          <a:lstStyle>
            <a:lvl1pPr lvl="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15" name="Google Shape;115;p24"/>
          <p:cNvSpPr txBox="1"/>
          <p:nvPr>
            <p:ph idx="1" type="body"/>
          </p:nvPr>
        </p:nvSpPr>
        <p:spPr>
          <a:xfrm>
            <a:off x="3352800" y="1216152"/>
            <a:ext cx="5334000" cy="3344034"/>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6" name="Google Shape;116;p24"/>
          <p:cNvSpPr txBox="1"/>
          <p:nvPr>
            <p:ph idx="3"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17" name="Google Shape;117;p24"/>
          <p:cNvSpPr txBox="1"/>
          <p:nvPr>
            <p:ph type="title"/>
          </p:nvPr>
        </p:nvSpPr>
        <p:spPr>
          <a:xfrm>
            <a:off x="457200" y="173736"/>
            <a:ext cx="8229600" cy="70408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Only">
  <p:cSld name="Title and Subtitle Only">
    <p:spTree>
      <p:nvGrpSpPr>
        <p:cNvPr id="118" name="Shape 118"/>
        <p:cNvGrpSpPr/>
        <p:nvPr/>
      </p:nvGrpSpPr>
      <p:grpSpPr>
        <a:xfrm>
          <a:off x="0" y="0"/>
          <a:ext cx="0" cy="0"/>
          <a:chOff x="0" y="0"/>
          <a:chExt cx="0" cy="0"/>
        </a:xfrm>
      </p:grpSpPr>
      <p:sp>
        <p:nvSpPr>
          <p:cNvPr id="119" name="Google Shape;119;p25"/>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0" name="Google Shape;120;p25"/>
          <p:cNvSpPr txBox="1"/>
          <p:nvPr>
            <p:ph type="title"/>
          </p:nvPr>
        </p:nvSpPr>
        <p:spPr>
          <a:xfrm>
            <a:off x="457200" y="173736"/>
            <a:ext cx="8229600" cy="413639"/>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1" name="Shape 121"/>
        <p:cNvGrpSpPr/>
        <p:nvPr/>
      </p:nvGrpSpPr>
      <p:grpSpPr>
        <a:xfrm>
          <a:off x="0" y="0"/>
          <a:ext cx="0" cy="0"/>
          <a:chOff x="0" y="0"/>
          <a:chExt cx="0" cy="0"/>
        </a:xfrm>
      </p:grpSpPr>
      <p:sp>
        <p:nvSpPr>
          <p:cNvPr id="122" name="Google Shape;122;p26"/>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se Study">
  <p:cSld name="Case Study">
    <p:spTree>
      <p:nvGrpSpPr>
        <p:cNvPr id="123" name="Shape 123"/>
        <p:cNvGrpSpPr/>
        <p:nvPr/>
      </p:nvGrpSpPr>
      <p:grpSpPr>
        <a:xfrm>
          <a:off x="0" y="0"/>
          <a:ext cx="0" cy="0"/>
          <a:chOff x="0" y="0"/>
          <a:chExt cx="0" cy="0"/>
        </a:xfrm>
      </p:grpSpPr>
      <p:sp>
        <p:nvSpPr>
          <p:cNvPr id="124" name="Google Shape;124;p27"/>
          <p:cNvSpPr txBox="1"/>
          <p:nvPr>
            <p:ph idx="1" type="body"/>
          </p:nvPr>
        </p:nvSpPr>
        <p:spPr>
          <a:xfrm>
            <a:off x="3514722" y="777240"/>
            <a:ext cx="5629278"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25" name="Google Shape;125;p27"/>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26" name="Google Shape;126;p27"/>
          <p:cNvSpPr txBox="1"/>
          <p:nvPr>
            <p:ph idx="3" type="body"/>
          </p:nvPr>
        </p:nvSpPr>
        <p:spPr>
          <a:xfrm>
            <a:off x="3511296" y="1878314"/>
            <a:ext cx="5146943" cy="2783250"/>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400"/>
              </a:spcBef>
              <a:spcAft>
                <a:spcPts val="0"/>
              </a:spcAft>
              <a:buClr>
                <a:schemeClr val="dk1"/>
              </a:buClr>
              <a:buSzPts val="1800"/>
              <a:buChar char="•"/>
              <a:defRPr sz="1800"/>
            </a:lvl1pPr>
            <a:lvl2pPr indent="-330200" lvl="1" marL="914400" algn="l">
              <a:lnSpc>
                <a:spcPct val="85000"/>
              </a:lnSpc>
              <a:spcBef>
                <a:spcPts val="200"/>
              </a:spcBef>
              <a:spcAft>
                <a:spcPts val="0"/>
              </a:spcAft>
              <a:buClr>
                <a:schemeClr val="dk1"/>
              </a:buClr>
              <a:buSzPts val="1600"/>
              <a:buChar char="–"/>
              <a:defRPr sz="1600"/>
            </a:lvl2pPr>
            <a:lvl3pPr indent="-317500" lvl="2" marL="1371600" algn="l">
              <a:lnSpc>
                <a:spcPct val="85000"/>
              </a:lnSpc>
              <a:spcBef>
                <a:spcPts val="200"/>
              </a:spcBef>
              <a:spcAft>
                <a:spcPts val="0"/>
              </a:spcAft>
              <a:buClr>
                <a:schemeClr val="dk1"/>
              </a:buClr>
              <a:buSzPts val="1400"/>
              <a:buChar char="-"/>
              <a:defRPr sz="14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27" name="Google Shape;127;p27"/>
          <p:cNvSpPr/>
          <p:nvPr>
            <p:ph idx="4" type="pic"/>
          </p:nvPr>
        </p:nvSpPr>
        <p:spPr>
          <a:xfrm>
            <a:off x="3505200" y="73152"/>
            <a:ext cx="1371600" cy="621792"/>
          </a:xfrm>
          <a:prstGeom prst="rect">
            <a:avLst/>
          </a:prstGeom>
          <a:noFill/>
          <a:ln>
            <a:noFill/>
          </a:ln>
        </p:spPr>
        <p:txBody>
          <a:bodyPr anchorCtr="0" anchor="ctr" bIns="0" lIns="0" spcFirstLastPara="1" rIns="0" wrap="square" tIns="0">
            <a:noAutofit/>
          </a:bodyPr>
          <a:lstStyle>
            <a:lvl1pPr lvl="0" marR="0" rtl="0" algn="ctr">
              <a:lnSpc>
                <a:spcPct val="95000"/>
              </a:lnSpc>
              <a:spcBef>
                <a:spcPts val="600"/>
              </a:spcBef>
              <a:spcAft>
                <a:spcPts val="0"/>
              </a:spcAft>
              <a:buClr>
                <a:schemeClr val="dk1"/>
              </a:buClr>
              <a:buSzPts val="900"/>
              <a:buFont typeface="Arial"/>
              <a:buNone/>
              <a:defRPr b="0" i="0" sz="9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Tree>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ase Study_Option2">
  <p:cSld name="1_Case Study_Option2">
    <p:spTree>
      <p:nvGrpSpPr>
        <p:cNvPr id="128" name="Shape 128"/>
        <p:cNvGrpSpPr/>
        <p:nvPr/>
      </p:nvGrpSpPr>
      <p:grpSpPr>
        <a:xfrm>
          <a:off x="0" y="0"/>
          <a:ext cx="0" cy="0"/>
          <a:chOff x="0" y="0"/>
          <a:chExt cx="0" cy="0"/>
        </a:xfrm>
      </p:grpSpPr>
      <p:sp>
        <p:nvSpPr>
          <p:cNvPr id="129" name="Google Shape;129;p28"/>
          <p:cNvSpPr txBox="1"/>
          <p:nvPr>
            <p:ph idx="1" type="body"/>
          </p:nvPr>
        </p:nvSpPr>
        <p:spPr>
          <a:xfrm>
            <a:off x="3495307" y="128016"/>
            <a:ext cx="5648693" cy="914400"/>
          </a:xfrm>
          <a:prstGeom prst="rect">
            <a:avLst/>
          </a:prstGeom>
          <a:solidFill>
            <a:srgbClr val="0079DB"/>
          </a:solidFill>
          <a:ln>
            <a:noFill/>
          </a:ln>
        </p:spPr>
        <p:txBody>
          <a:bodyPr anchorCtr="0" anchor="b" bIns="228600" lIns="228600" spcFirstLastPara="1" rIns="457200" wrap="square" tIns="137150">
            <a:noAutofit/>
          </a:bodyPr>
          <a:lstStyle>
            <a:lvl1pPr indent="-368300" lvl="0" marL="457200" algn="l">
              <a:lnSpc>
                <a:spcPct val="85000"/>
              </a:lnSpc>
              <a:spcBef>
                <a:spcPts val="200"/>
              </a:spcBef>
              <a:spcAft>
                <a:spcPts val="0"/>
              </a:spcAft>
              <a:buClr>
                <a:schemeClr val="lt1"/>
              </a:buClr>
              <a:buSzPts val="2200"/>
              <a:buFont typeface="Arial"/>
              <a:buChar char="​"/>
              <a:defRPr sz="2200">
                <a:solidFill>
                  <a:schemeClr val="lt1"/>
                </a:solidFill>
              </a:defRPr>
            </a:lvl1pPr>
            <a:lvl2pPr indent="-342900" lvl="1" marL="914400" algn="l">
              <a:lnSpc>
                <a:spcPct val="85000"/>
              </a:lnSpc>
              <a:spcBef>
                <a:spcPts val="200"/>
              </a:spcBef>
              <a:spcAft>
                <a:spcPts val="0"/>
              </a:spcAft>
              <a:buClr>
                <a:schemeClr val="lt1"/>
              </a:buClr>
              <a:buSzPts val="1800"/>
              <a:buFont typeface="Arial"/>
              <a:buChar char="​"/>
              <a:defRPr sz="1800">
                <a:solidFill>
                  <a:schemeClr val="lt1"/>
                </a:solidFill>
              </a:defRPr>
            </a:lvl2pPr>
            <a:lvl3pPr indent="-317500" lvl="2" marL="1371600" algn="l">
              <a:lnSpc>
                <a:spcPct val="85000"/>
              </a:lnSpc>
              <a:spcBef>
                <a:spcPts val="600"/>
              </a:spcBef>
              <a:spcAft>
                <a:spcPts val="0"/>
              </a:spcAft>
              <a:buClr>
                <a:schemeClr val="lt1"/>
              </a:buClr>
              <a:buSzPts val="1400"/>
              <a:buFont typeface="Arial"/>
              <a:buChar char="​"/>
              <a:defRPr b="1" sz="1400">
                <a:solidFill>
                  <a:schemeClr val="lt1"/>
                </a:solidFill>
              </a:defRPr>
            </a:lvl3pPr>
            <a:lvl4pPr indent="-317500" lvl="3" marL="1828800" algn="l">
              <a:lnSpc>
                <a:spcPct val="85000"/>
              </a:lnSpc>
              <a:spcBef>
                <a:spcPts val="200"/>
              </a:spcBef>
              <a:spcAft>
                <a:spcPts val="0"/>
              </a:spcAft>
              <a:buClr>
                <a:schemeClr val="lt1"/>
              </a:buClr>
              <a:buSzPts val="1400"/>
              <a:buFont typeface="Arial"/>
              <a:buChar char="​"/>
              <a:defRPr b="0" sz="1400">
                <a:solidFill>
                  <a:schemeClr val="lt1"/>
                </a:solidFill>
              </a:defRPr>
            </a:lvl4pPr>
            <a:lvl5pPr indent="-317500" lvl="4" marL="2286000" algn="l">
              <a:lnSpc>
                <a:spcPct val="85000"/>
              </a:lnSpc>
              <a:spcBef>
                <a:spcPts val="200"/>
              </a:spcBef>
              <a:spcAft>
                <a:spcPts val="0"/>
              </a:spcAft>
              <a:buClr>
                <a:schemeClr val="lt1"/>
              </a:buClr>
              <a:buSzPts val="1400"/>
              <a:buFont typeface="Arial"/>
              <a:buChar char="​"/>
              <a:defRPr b="0" sz="1400">
                <a:solidFill>
                  <a:schemeClr val="lt1"/>
                </a:solidFill>
              </a:defRPr>
            </a:lvl5pPr>
            <a:lvl6pPr indent="-317500" lvl="5" marL="2743200" algn="ctr">
              <a:lnSpc>
                <a:spcPct val="85000"/>
              </a:lnSpc>
              <a:spcBef>
                <a:spcPts val="200"/>
              </a:spcBef>
              <a:spcAft>
                <a:spcPts val="0"/>
              </a:spcAft>
              <a:buClr>
                <a:schemeClr val="lt1"/>
              </a:buClr>
              <a:buSzPts val="1400"/>
              <a:buFont typeface="Arial"/>
              <a:buChar char="​"/>
              <a:defRPr b="0" sz="1400">
                <a:solidFill>
                  <a:schemeClr val="lt1"/>
                </a:solidFill>
              </a:defRPr>
            </a:lvl6pPr>
            <a:lvl7pPr indent="-317500" lvl="6" marL="3200400" algn="ctr">
              <a:lnSpc>
                <a:spcPct val="85000"/>
              </a:lnSpc>
              <a:spcBef>
                <a:spcPts val="200"/>
              </a:spcBef>
              <a:spcAft>
                <a:spcPts val="0"/>
              </a:spcAft>
              <a:buClr>
                <a:schemeClr val="lt1"/>
              </a:buClr>
              <a:buSzPts val="1400"/>
              <a:buFont typeface="Arial"/>
              <a:buChar char="​"/>
              <a:defRPr b="0" sz="1400">
                <a:solidFill>
                  <a:schemeClr val="lt1"/>
                </a:solidFill>
              </a:defRPr>
            </a:lvl7pPr>
            <a:lvl8pPr indent="-317500" lvl="7" marL="3657600" algn="ctr">
              <a:lnSpc>
                <a:spcPct val="85000"/>
              </a:lnSpc>
              <a:spcBef>
                <a:spcPts val="200"/>
              </a:spcBef>
              <a:spcAft>
                <a:spcPts val="0"/>
              </a:spcAft>
              <a:buClr>
                <a:schemeClr val="lt1"/>
              </a:buClr>
              <a:buSzPts val="1400"/>
              <a:buFont typeface="Arial"/>
              <a:buChar char="​"/>
              <a:defRPr b="0" sz="1400">
                <a:solidFill>
                  <a:schemeClr val="lt1"/>
                </a:solidFill>
              </a:defRPr>
            </a:lvl8pPr>
            <a:lvl9pPr indent="-317500" lvl="8" marL="4114800" algn="ctr">
              <a:lnSpc>
                <a:spcPct val="85000"/>
              </a:lnSpc>
              <a:spcBef>
                <a:spcPts val="200"/>
              </a:spcBef>
              <a:spcAft>
                <a:spcPts val="200"/>
              </a:spcAft>
              <a:buClr>
                <a:schemeClr val="lt1"/>
              </a:buClr>
              <a:buSzPts val="1400"/>
              <a:buFont typeface="Arial"/>
              <a:buChar char="​"/>
              <a:defRPr b="0" sz="1400">
                <a:solidFill>
                  <a:schemeClr val="lt1"/>
                </a:solidFill>
              </a:defRPr>
            </a:lvl9pPr>
          </a:lstStyle>
          <a:p/>
        </p:txBody>
      </p:sp>
      <p:sp>
        <p:nvSpPr>
          <p:cNvPr id="130" name="Google Shape;130;p28"/>
          <p:cNvSpPr/>
          <p:nvPr>
            <p:ph idx="2" type="pic"/>
          </p:nvPr>
        </p:nvSpPr>
        <p:spPr>
          <a:xfrm>
            <a:off x="0" y="0"/>
            <a:ext cx="2971800" cy="5143500"/>
          </a:xfrm>
          <a:prstGeom prst="rect">
            <a:avLst/>
          </a:prstGeom>
          <a:noFill/>
          <a:ln>
            <a:noFill/>
          </a:ln>
        </p:spPr>
        <p:txBody>
          <a:bodyPr anchorCtr="0" anchor="t" bIns="0" lIns="0" spcFirstLastPara="1" rIns="0" wrap="square" tIns="0">
            <a:noAutofit/>
          </a:bodyPr>
          <a:lstStyle>
            <a:lvl1pPr lvl="0" marR="0" rtl="0" algn="ctr">
              <a:lnSpc>
                <a:spcPct val="95000"/>
              </a:lnSpc>
              <a:spcBef>
                <a:spcPts val="600"/>
              </a:spcBef>
              <a:spcAft>
                <a:spcPts val="0"/>
              </a:spcAft>
              <a:buClr>
                <a:schemeClr val="dk1"/>
              </a:buClr>
              <a:buSzPts val="1600"/>
              <a:buFont typeface="Arial"/>
              <a:buNone/>
              <a:defRPr b="0" i="0" sz="1600" u="none" cap="none" strike="noStrike">
                <a:solidFill>
                  <a:schemeClr val="dk1"/>
                </a:solidFill>
                <a:latin typeface="Century Gothic"/>
                <a:ea typeface="Century Gothic"/>
                <a:cs typeface="Century Gothic"/>
                <a:sym typeface="Century Gothic"/>
              </a:defRPr>
            </a:lvl1pPr>
            <a:lvl2pPr lvl="1"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lvl="2"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lvl="3"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lvl="4"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lvl="5"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lvl="6"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lvl="7"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lvl="8"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31" name="Google Shape;131;p28"/>
          <p:cNvSpPr txBox="1"/>
          <p:nvPr>
            <p:ph idx="3" type="body"/>
          </p:nvPr>
        </p:nvSpPr>
        <p:spPr>
          <a:xfrm>
            <a:off x="3511296" y="1152143"/>
            <a:ext cx="5164694" cy="3511296"/>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400"/>
              </a:spcBef>
              <a:spcAft>
                <a:spcPts val="0"/>
              </a:spcAft>
              <a:buClr>
                <a:schemeClr val="dk1"/>
              </a:buClr>
              <a:buSzPts val="2000"/>
              <a:buChar char="•"/>
              <a:defRPr sz="2000"/>
            </a:lvl1pPr>
            <a:lvl2pPr indent="-342900" lvl="1" marL="914400" algn="l">
              <a:lnSpc>
                <a:spcPct val="85000"/>
              </a:lnSpc>
              <a:spcBef>
                <a:spcPts val="200"/>
              </a:spcBef>
              <a:spcAft>
                <a:spcPts val="0"/>
              </a:spcAft>
              <a:buClr>
                <a:schemeClr val="dk1"/>
              </a:buClr>
              <a:buSzPts val="1800"/>
              <a:buChar char="–"/>
              <a:defRPr sz="1800"/>
            </a:lvl2pPr>
            <a:lvl3pPr indent="-330200" lvl="2" marL="1371600" algn="l">
              <a:lnSpc>
                <a:spcPct val="85000"/>
              </a:lnSpc>
              <a:spcBef>
                <a:spcPts val="200"/>
              </a:spcBef>
              <a:spcAft>
                <a:spcPts val="0"/>
              </a:spcAft>
              <a:buClr>
                <a:schemeClr val="dk1"/>
              </a:buClr>
              <a:buSzPts val="1600"/>
              <a:buChar char="-"/>
              <a:defRPr sz="1600"/>
            </a:lvl3pPr>
            <a:lvl4pPr indent="-342900" lvl="3" marL="1828800" algn="l">
              <a:lnSpc>
                <a:spcPct val="95000"/>
              </a:lnSpc>
              <a:spcBef>
                <a:spcPts val="600"/>
              </a:spcBef>
              <a:spcAft>
                <a:spcPts val="0"/>
              </a:spcAft>
              <a:buClr>
                <a:schemeClr val="dk1"/>
              </a:buClr>
              <a:buSzPts val="1800"/>
              <a:buChar char="​"/>
              <a:defRPr sz="1800"/>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showMasterSp="0">
  <p:cSld name="End Slide">
    <p:spTree>
      <p:nvGrpSpPr>
        <p:cNvPr id="132" name="Shape 132"/>
        <p:cNvGrpSpPr/>
        <p:nvPr/>
      </p:nvGrpSpPr>
      <p:grpSpPr>
        <a:xfrm>
          <a:off x="0" y="0"/>
          <a:ext cx="0" cy="0"/>
          <a:chOff x="0" y="0"/>
          <a:chExt cx="0" cy="0"/>
        </a:xfrm>
      </p:grpSpPr>
      <p:sp>
        <p:nvSpPr>
          <p:cNvPr id="133" name="Google Shape;133;p29"/>
          <p:cNvSpPr txBox="1"/>
          <p:nvPr/>
        </p:nvSpPr>
        <p:spPr>
          <a:xfrm>
            <a:off x="171052" y="4837176"/>
            <a:ext cx="115416" cy="107722"/>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700">
                <a:solidFill>
                  <a:srgbClr val="A2A2A2"/>
                </a:solidFill>
                <a:latin typeface="Century Gothic"/>
                <a:ea typeface="Century Gothic"/>
                <a:cs typeface="Century Gothic"/>
                <a:sym typeface="Century Gothic"/>
              </a:rPr>
              <a:t>‹#›</a:t>
            </a:fld>
            <a:endParaRPr sz="700">
              <a:solidFill>
                <a:srgbClr val="A2A2A2"/>
              </a:solidFill>
              <a:latin typeface="Century Gothic"/>
              <a:ea typeface="Century Gothic"/>
              <a:cs typeface="Century Gothic"/>
              <a:sym typeface="Century Gothic"/>
            </a:endParaRPr>
          </a:p>
        </p:txBody>
      </p:sp>
      <p:sp>
        <p:nvSpPr>
          <p:cNvPr id="134" name="Google Shape;134;p29"/>
          <p:cNvSpPr txBox="1"/>
          <p:nvPr>
            <p:ph idx="1" type="body"/>
          </p:nvPr>
        </p:nvSpPr>
        <p:spPr>
          <a:xfrm>
            <a:off x="3297994" y="4855464"/>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35" name="Google Shape;135;p29"/>
          <p:cNvSpPr txBox="1"/>
          <p:nvPr/>
        </p:nvSpPr>
        <p:spPr>
          <a:xfrm>
            <a:off x="153254" y="4837176"/>
            <a:ext cx="133221" cy="130805"/>
          </a:xfrm>
          <a:prstGeom prst="rect">
            <a:avLst/>
          </a:prstGeom>
          <a:solidFill>
            <a:schemeClr val="lt1"/>
          </a:solid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grpSp>
        <p:nvGrpSpPr>
          <p:cNvPr id="136" name="Google Shape;136;p29"/>
          <p:cNvGrpSpPr/>
          <p:nvPr/>
        </p:nvGrpSpPr>
        <p:grpSpPr>
          <a:xfrm>
            <a:off x="2742406" y="2158207"/>
            <a:ext cx="3659188" cy="827087"/>
            <a:chOff x="1728" y="1805"/>
            <a:chExt cx="2305" cy="521"/>
          </a:xfrm>
        </p:grpSpPr>
        <p:sp>
          <p:nvSpPr>
            <p:cNvPr id="137" name="Google Shape;137;p29"/>
            <p:cNvSpPr/>
            <p:nvPr/>
          </p:nvSpPr>
          <p:spPr>
            <a:xfrm>
              <a:off x="1728" y="1805"/>
              <a:ext cx="2231" cy="521"/>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38" name="Google Shape;138;p29"/>
            <p:cNvSpPr/>
            <p:nvPr/>
          </p:nvSpPr>
          <p:spPr>
            <a:xfrm>
              <a:off x="3974" y="2210"/>
              <a:ext cx="59" cy="5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Tree>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and Content">
  <p:cSld name="5_Title and Content">
    <p:spTree>
      <p:nvGrpSpPr>
        <p:cNvPr id="139" name="Shape 139"/>
        <p:cNvGrpSpPr/>
        <p:nvPr/>
      </p:nvGrpSpPr>
      <p:grpSpPr>
        <a:xfrm>
          <a:off x="0" y="0"/>
          <a:ext cx="0" cy="0"/>
          <a:chOff x="0" y="0"/>
          <a:chExt cx="0" cy="0"/>
        </a:xfrm>
      </p:grpSpPr>
      <p:sp>
        <p:nvSpPr>
          <p:cNvPr id="140" name="Google Shape;140;p30"/>
          <p:cNvSpPr txBox="1"/>
          <p:nvPr>
            <p:ph idx="1" type="body"/>
          </p:nvPr>
        </p:nvSpPr>
        <p:spPr>
          <a:xfrm>
            <a:off x="457200" y="1115840"/>
            <a:ext cx="8229600" cy="3507581"/>
          </a:xfrm>
          <a:prstGeom prst="rect">
            <a:avLst/>
          </a:prstGeom>
          <a:noFill/>
          <a:ln>
            <a:noFill/>
          </a:ln>
        </p:spPr>
        <p:txBody>
          <a:bodyPr anchorCtr="0" anchor="t" bIns="0" lIns="0" spcFirstLastPara="1" rIns="0" wrap="square" tIns="0">
            <a:noAutofit/>
          </a:bodyPr>
          <a:lstStyle>
            <a:lvl1pPr indent="-342900" lvl="0" marL="457200" algn="l">
              <a:lnSpc>
                <a:spcPct val="95000"/>
              </a:lnSpc>
              <a:spcBef>
                <a:spcPts val="600"/>
              </a:spcBef>
              <a:spcAft>
                <a:spcPts val="0"/>
              </a:spcAft>
              <a:buClr>
                <a:schemeClr val="dk1"/>
              </a:buClr>
              <a:buSzPts val="1800"/>
              <a:buChar char="•"/>
              <a:defRPr sz="1800">
                <a:solidFill>
                  <a:schemeClr val="dk1"/>
                </a:solidFill>
              </a:defRPr>
            </a:lvl1pPr>
            <a:lvl2pPr indent="-330200" lvl="1" marL="914400" algn="l">
              <a:lnSpc>
                <a:spcPct val="85000"/>
              </a:lnSpc>
              <a:spcBef>
                <a:spcPts val="200"/>
              </a:spcBef>
              <a:spcAft>
                <a:spcPts val="0"/>
              </a:spcAft>
              <a:buClr>
                <a:schemeClr val="dk1"/>
              </a:buClr>
              <a:buSzPts val="1600"/>
              <a:buChar char="–"/>
              <a:defRPr sz="1600">
                <a:solidFill>
                  <a:schemeClr val="dk1"/>
                </a:solidFill>
              </a:defRPr>
            </a:lvl2pPr>
            <a:lvl3pPr indent="-317500" lvl="2" marL="1371600" algn="l">
              <a:lnSpc>
                <a:spcPct val="85000"/>
              </a:lnSpc>
              <a:spcBef>
                <a:spcPts val="200"/>
              </a:spcBef>
              <a:spcAft>
                <a:spcPts val="0"/>
              </a:spcAft>
              <a:buClr>
                <a:schemeClr val="dk1"/>
              </a:buClr>
              <a:buSzPts val="1400"/>
              <a:buChar char="-"/>
              <a:defRPr sz="1400">
                <a:solidFill>
                  <a:schemeClr val="dk1"/>
                </a:solidFill>
              </a:defRPr>
            </a:lvl3pPr>
            <a:lvl4pPr indent="-342900" lvl="3" marL="1828800" algn="l">
              <a:lnSpc>
                <a:spcPct val="95000"/>
              </a:lnSpc>
              <a:spcBef>
                <a:spcPts val="600"/>
              </a:spcBef>
              <a:spcAft>
                <a:spcPts val="0"/>
              </a:spcAft>
              <a:buClr>
                <a:schemeClr val="dk1"/>
              </a:buClr>
              <a:buSzPts val="1800"/>
              <a:buChar char="​"/>
              <a:defRPr sz="1800">
                <a:solidFill>
                  <a:schemeClr val="dk1"/>
                </a:solidFill>
              </a:defRPr>
            </a:lvl4pPr>
            <a:lvl5pPr indent="-342900" lvl="4" marL="2286000" algn="l">
              <a:lnSpc>
                <a:spcPct val="95000"/>
              </a:lnSpc>
              <a:spcBef>
                <a:spcPts val="600"/>
              </a:spcBef>
              <a:spcAft>
                <a:spcPts val="0"/>
              </a:spcAft>
              <a:buClr>
                <a:schemeClr val="accent1"/>
              </a:buClr>
              <a:buSzPts val="1800"/>
              <a:buChar char="​"/>
              <a:defRPr sz="1800"/>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1" name="Google Shape;141;p30"/>
          <p:cNvSpPr txBox="1"/>
          <p:nvPr>
            <p:ph idx="2" type="body"/>
          </p:nvPr>
        </p:nvSpPr>
        <p:spPr>
          <a:xfrm>
            <a:off x="457200" y="703405"/>
            <a:ext cx="8229600" cy="353174"/>
          </a:xfrm>
          <a:prstGeom prst="rect">
            <a:avLst/>
          </a:prstGeom>
          <a:noFill/>
          <a:ln>
            <a:noFill/>
          </a:ln>
        </p:spPr>
        <p:txBody>
          <a:bodyPr anchorCtr="0" anchor="t" bIns="0" lIns="0" spcFirstLastPara="1" rIns="0" wrap="square" tIns="0">
            <a:noAutofit/>
          </a:bodyPr>
          <a:lstStyle>
            <a:lvl1pPr indent="-228600" lvl="0" marL="457200" algn="l">
              <a:lnSpc>
                <a:spcPct val="85000"/>
              </a:lnSpc>
              <a:spcBef>
                <a:spcPts val="0"/>
              </a:spcBef>
              <a:spcAft>
                <a:spcPts val="0"/>
              </a:spcAft>
              <a:buClr>
                <a:schemeClr val="dk1"/>
              </a:buClr>
              <a:buSzPts val="1800"/>
              <a:buFont typeface="Century Gothic"/>
              <a:buNone/>
              <a:defRPr sz="1800">
                <a:solidFill>
                  <a:schemeClr val="dk1"/>
                </a:solidFill>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
        <p:nvSpPr>
          <p:cNvPr id="142" name="Google Shape;142;p30"/>
          <p:cNvSpPr txBox="1"/>
          <p:nvPr>
            <p:ph type="title"/>
          </p:nvPr>
        </p:nvSpPr>
        <p:spPr>
          <a:xfrm>
            <a:off x="457200" y="128590"/>
            <a:ext cx="8229600" cy="526298"/>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accent1"/>
              </a:buClr>
              <a:buSzPts val="2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30"/>
          <p:cNvSpPr txBox="1"/>
          <p:nvPr>
            <p:ph idx="3" type="body"/>
          </p:nvPr>
        </p:nvSpPr>
        <p:spPr>
          <a:xfrm>
            <a:off x="3297994" y="4943703"/>
            <a:ext cx="2548012" cy="106186"/>
          </a:xfrm>
          <a:prstGeom prst="rect">
            <a:avLst/>
          </a:prstGeom>
          <a:noFill/>
          <a:ln>
            <a:noFill/>
          </a:ln>
        </p:spPr>
        <p:txBody>
          <a:bodyPr anchorCtr="0" anchor="t" bIns="0" lIns="0" spcFirstLastPara="1" rIns="0" wrap="square" tIns="0">
            <a:noAutofit/>
          </a:bodyPr>
          <a:lstStyle>
            <a:lvl1pPr indent="-228600" lvl="0" marL="457200" algn="ctr">
              <a:lnSpc>
                <a:spcPct val="85000"/>
              </a:lnSpc>
              <a:spcBef>
                <a:spcPts val="0"/>
              </a:spcBef>
              <a:spcAft>
                <a:spcPts val="0"/>
              </a:spcAft>
              <a:buClr>
                <a:srgbClr val="4FB0FF"/>
              </a:buClr>
              <a:buSzPts val="700"/>
              <a:buFont typeface="Century Gothic"/>
              <a:buNone/>
              <a:defRPr b="1" sz="700">
                <a:solidFill>
                  <a:srgbClr val="4FB0FF"/>
                </a:solidFill>
                <a:latin typeface="Century Gothic"/>
                <a:ea typeface="Century Gothic"/>
                <a:cs typeface="Century Gothic"/>
                <a:sym typeface="Century Gothic"/>
              </a:defRPr>
            </a:lvl1pPr>
            <a:lvl2pPr indent="-228600" lvl="1" marL="914400" algn="l">
              <a:lnSpc>
                <a:spcPct val="85000"/>
              </a:lnSpc>
              <a:spcBef>
                <a:spcPts val="200"/>
              </a:spcBef>
              <a:spcAft>
                <a:spcPts val="0"/>
              </a:spcAft>
              <a:buClr>
                <a:schemeClr val="accent2"/>
              </a:buClr>
              <a:buSzPts val="1600"/>
              <a:buFont typeface="Century Gothic"/>
              <a:buNone/>
              <a:defRPr sz="1600">
                <a:solidFill>
                  <a:schemeClr val="accent2"/>
                </a:solidFill>
              </a:defRPr>
            </a:lvl2pPr>
            <a:lvl3pPr indent="-228600" lvl="2" marL="1371600" algn="l">
              <a:lnSpc>
                <a:spcPct val="85000"/>
              </a:lnSpc>
              <a:spcBef>
                <a:spcPts val="200"/>
              </a:spcBef>
              <a:spcAft>
                <a:spcPts val="0"/>
              </a:spcAft>
              <a:buClr>
                <a:schemeClr val="accent2"/>
              </a:buClr>
              <a:buSzPts val="1600"/>
              <a:buFont typeface="Century Gothic"/>
              <a:buNone/>
              <a:defRPr sz="1600">
                <a:solidFill>
                  <a:schemeClr val="accent2"/>
                </a:solidFill>
              </a:defRPr>
            </a:lvl3pPr>
            <a:lvl4pPr indent="-228600" lvl="3" marL="1828800" algn="l">
              <a:lnSpc>
                <a:spcPct val="95000"/>
              </a:lnSpc>
              <a:spcBef>
                <a:spcPts val="600"/>
              </a:spcBef>
              <a:spcAft>
                <a:spcPts val="0"/>
              </a:spcAft>
              <a:buClr>
                <a:schemeClr val="accent2"/>
              </a:buClr>
              <a:buSzPts val="1600"/>
              <a:buFont typeface="Century Gothic"/>
              <a:buNone/>
              <a:defRPr sz="1600">
                <a:solidFill>
                  <a:schemeClr val="accent2"/>
                </a:solidFill>
              </a:defRPr>
            </a:lvl4pPr>
            <a:lvl5pPr indent="-228600" lvl="4" marL="2286000" algn="l">
              <a:lnSpc>
                <a:spcPct val="95000"/>
              </a:lnSpc>
              <a:spcBef>
                <a:spcPts val="600"/>
              </a:spcBef>
              <a:spcAft>
                <a:spcPts val="0"/>
              </a:spcAft>
              <a:buClr>
                <a:schemeClr val="accent2"/>
              </a:buClr>
              <a:buSzPts val="1600"/>
              <a:buFont typeface="Century Gothic"/>
              <a:buNone/>
              <a:defRPr sz="1600">
                <a:solidFill>
                  <a:schemeClr val="accent2"/>
                </a:solidFill>
              </a:defRPr>
            </a:lvl5pPr>
            <a:lvl6pPr indent="-342900" lvl="5" marL="2743200" algn="l">
              <a:lnSpc>
                <a:spcPct val="95000"/>
              </a:lnSpc>
              <a:spcBef>
                <a:spcPts val="600"/>
              </a:spcBef>
              <a:spcAft>
                <a:spcPts val="0"/>
              </a:spcAft>
              <a:buClr>
                <a:schemeClr val="accent2"/>
              </a:buClr>
              <a:buSzPts val="1800"/>
              <a:buChar char="​"/>
              <a:defRPr/>
            </a:lvl6pPr>
            <a:lvl7pPr indent="-342900" lvl="6" marL="3200400" algn="l">
              <a:lnSpc>
                <a:spcPct val="95000"/>
              </a:lnSpc>
              <a:spcBef>
                <a:spcPts val="1000"/>
              </a:spcBef>
              <a:spcAft>
                <a:spcPts val="0"/>
              </a:spcAft>
              <a:buClr>
                <a:schemeClr val="dk1"/>
              </a:buClr>
              <a:buSzPts val="1800"/>
              <a:buChar char="​"/>
              <a:defRPr/>
            </a:lvl7pPr>
            <a:lvl8pPr indent="-342900" lvl="7" marL="3657600" algn="l">
              <a:lnSpc>
                <a:spcPct val="95000"/>
              </a:lnSpc>
              <a:spcBef>
                <a:spcPts val="200"/>
              </a:spcBef>
              <a:spcAft>
                <a:spcPts val="0"/>
              </a:spcAft>
              <a:buClr>
                <a:schemeClr val="dk1"/>
              </a:buClr>
              <a:buSzPts val="1800"/>
              <a:buAutoNum type="arabicPeriod"/>
              <a:defRPr/>
            </a:lvl8pPr>
            <a:lvl9pPr indent="-342900" lvl="8" marL="4114800" algn="l">
              <a:lnSpc>
                <a:spcPct val="95000"/>
              </a:lnSpc>
              <a:spcBef>
                <a:spcPts val="400"/>
              </a:spcBef>
              <a:spcAft>
                <a:spcPts val="400"/>
              </a:spcAft>
              <a:buClr>
                <a:schemeClr val="accent6"/>
              </a:buClr>
              <a:buSzPts val="1800"/>
              <a:buChar char="​"/>
              <a:defRPr/>
            </a:lvl9pPr>
          </a:lstStyle>
          <a:p/>
        </p:txBody>
      </p:sp>
    </p:spTree>
  </p:cSld>
  <p:clrMapOvr>
    <a:masterClrMapping/>
  </p:clrMapOvr>
  <p:transition spd="med">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 name="Shape 12"/>
        <p:cNvGrpSpPr/>
        <p:nvPr/>
      </p:nvGrpSpPr>
      <p:grpSpPr>
        <a:xfrm>
          <a:off x="0" y="0"/>
          <a:ext cx="0" cy="0"/>
          <a:chOff x="0" y="0"/>
          <a:chExt cx="0" cy="0"/>
        </a:xfrm>
      </p:grpSpPr>
      <p:sp>
        <p:nvSpPr>
          <p:cNvPr id="13" name="Google Shape;13;p1"/>
          <p:cNvSpPr txBox="1"/>
          <p:nvPr>
            <p:ph idx="1" type="body"/>
          </p:nvPr>
        </p:nvSpPr>
        <p:spPr>
          <a:xfrm>
            <a:off x="457200" y="1216372"/>
            <a:ext cx="8229600" cy="3340559"/>
          </a:xfrm>
          <a:prstGeom prst="rect">
            <a:avLst/>
          </a:prstGeom>
          <a:noFill/>
          <a:ln>
            <a:noFill/>
          </a:ln>
        </p:spPr>
        <p:txBody>
          <a:bodyPr anchorCtr="0" anchor="t" bIns="0" lIns="0" spcFirstLastPara="1" rIns="0" wrap="square" tIns="0">
            <a:noAutofit/>
          </a:bodyPr>
          <a:lstStyle>
            <a:lvl1pPr indent="-342900" lvl="0" marL="4572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1pPr>
            <a:lvl2pPr indent="-330200" lvl="1" marL="914400" marR="0" rtl="0" algn="l">
              <a:lnSpc>
                <a:spcPct val="85000"/>
              </a:lnSpc>
              <a:spcBef>
                <a:spcPts val="200"/>
              </a:spcBef>
              <a:spcAft>
                <a:spcPts val="0"/>
              </a:spcAft>
              <a:buClr>
                <a:schemeClr val="dk1"/>
              </a:buClr>
              <a:buSzPts val="1600"/>
              <a:buFont typeface="Arial"/>
              <a:buChar char="–"/>
              <a:defRPr b="0" i="0" sz="1600" u="none" cap="none" strike="noStrike">
                <a:solidFill>
                  <a:schemeClr val="dk1"/>
                </a:solidFill>
                <a:latin typeface="Century Gothic"/>
                <a:ea typeface="Century Gothic"/>
                <a:cs typeface="Century Gothic"/>
                <a:sym typeface="Century Gothic"/>
              </a:defRPr>
            </a:lvl2pPr>
            <a:lvl3pPr indent="-317500" lvl="2" marL="1371600" marR="0" rtl="0" algn="l">
              <a:lnSpc>
                <a:spcPct val="85000"/>
              </a:lnSpc>
              <a:spcBef>
                <a:spcPts val="200"/>
              </a:spcBef>
              <a:spcAft>
                <a:spcPts val="0"/>
              </a:spcAft>
              <a:buClr>
                <a:schemeClr val="dk1"/>
              </a:buClr>
              <a:buSzPts val="1400"/>
              <a:buFont typeface="Arial"/>
              <a:buChar char="-"/>
              <a:defRPr b="0" i="0" sz="1400" u="none" cap="none" strike="noStrike">
                <a:solidFill>
                  <a:schemeClr val="dk1"/>
                </a:solidFill>
                <a:latin typeface="Century Gothic"/>
                <a:ea typeface="Century Gothic"/>
                <a:cs typeface="Century Gothic"/>
                <a:sym typeface="Century Gothic"/>
              </a:defRPr>
            </a:lvl3pPr>
            <a:lvl4pPr indent="-342900" lvl="3" marL="1828800" marR="0" rtl="0" algn="l">
              <a:lnSpc>
                <a:spcPct val="95000"/>
              </a:lnSpc>
              <a:spcBef>
                <a:spcPts val="600"/>
              </a:spcBef>
              <a:spcAft>
                <a:spcPts val="0"/>
              </a:spcAft>
              <a:buClr>
                <a:schemeClr val="dk1"/>
              </a:buClr>
              <a:buSzPts val="1800"/>
              <a:buFont typeface="Arial"/>
              <a:buChar char="​"/>
              <a:defRPr b="0" i="0" sz="1800" u="none" cap="none" strike="noStrike">
                <a:solidFill>
                  <a:schemeClr val="dk1"/>
                </a:solidFill>
                <a:latin typeface="Century Gothic"/>
                <a:ea typeface="Century Gothic"/>
                <a:cs typeface="Century Gothic"/>
                <a:sym typeface="Century Gothic"/>
              </a:defRPr>
            </a:lvl4pPr>
            <a:lvl5pPr indent="-342900" lvl="4" marL="2286000" marR="0" rtl="0" algn="l">
              <a:lnSpc>
                <a:spcPct val="95000"/>
              </a:lnSpc>
              <a:spcBef>
                <a:spcPts val="600"/>
              </a:spcBef>
              <a:spcAft>
                <a:spcPts val="0"/>
              </a:spcAft>
              <a:buClr>
                <a:schemeClr val="accent1"/>
              </a:buClr>
              <a:buSzPts val="1800"/>
              <a:buFont typeface="Arial"/>
              <a:buChar char="​"/>
              <a:defRPr b="0" i="0" sz="1800" u="none" cap="none" strike="noStrike">
                <a:solidFill>
                  <a:schemeClr val="accent1"/>
                </a:solidFill>
                <a:latin typeface="Century Gothic"/>
                <a:ea typeface="Century Gothic"/>
                <a:cs typeface="Century Gothic"/>
                <a:sym typeface="Century Gothic"/>
              </a:defRPr>
            </a:lvl5pPr>
            <a:lvl6pPr indent="-342900" lvl="5" marL="2743200" marR="0" rtl="0" algn="l">
              <a:lnSpc>
                <a:spcPct val="95000"/>
              </a:lnSpc>
              <a:spcBef>
                <a:spcPts val="600"/>
              </a:spcBef>
              <a:spcAft>
                <a:spcPts val="0"/>
              </a:spcAft>
              <a:buClr>
                <a:schemeClr val="accent2"/>
              </a:buClr>
              <a:buSzPts val="1800"/>
              <a:buFont typeface="Arial"/>
              <a:buChar char="​"/>
              <a:defRPr b="0" i="0" sz="1800" u="none" cap="none" strike="noStrike">
                <a:solidFill>
                  <a:schemeClr val="accent2"/>
                </a:solidFill>
                <a:latin typeface="Century Gothic"/>
                <a:ea typeface="Century Gothic"/>
                <a:cs typeface="Century Gothic"/>
                <a:sym typeface="Century Gothic"/>
              </a:defRPr>
            </a:lvl6pPr>
            <a:lvl7pPr indent="-342900" lvl="6" marL="3200400" marR="0" rtl="0" algn="l">
              <a:lnSpc>
                <a:spcPct val="95000"/>
              </a:lnSpc>
              <a:spcBef>
                <a:spcPts val="1000"/>
              </a:spcBef>
              <a:spcAft>
                <a:spcPts val="0"/>
              </a:spcAft>
              <a:buClr>
                <a:schemeClr val="dk1"/>
              </a:buClr>
              <a:buSzPts val="1800"/>
              <a:buFont typeface="Arial"/>
              <a:buChar char="​"/>
              <a:defRPr b="1" i="0" sz="1800" u="none" cap="none" strike="noStrike">
                <a:solidFill>
                  <a:schemeClr val="dk1"/>
                </a:solidFill>
                <a:latin typeface="Century Gothic"/>
                <a:ea typeface="Century Gothic"/>
                <a:cs typeface="Century Gothic"/>
                <a:sym typeface="Century Gothic"/>
              </a:defRPr>
            </a:lvl7pPr>
            <a:lvl8pPr indent="-342900" lvl="7" marL="3657600" marR="0" rtl="0" algn="l">
              <a:lnSpc>
                <a:spcPct val="95000"/>
              </a:lnSpc>
              <a:spcBef>
                <a:spcPts val="200"/>
              </a:spcBef>
              <a:spcAft>
                <a:spcPts val="0"/>
              </a:spcAft>
              <a:buClr>
                <a:schemeClr val="dk1"/>
              </a:buClr>
              <a:buSzPts val="1800"/>
              <a:buFont typeface="Century Gothic"/>
              <a:buAutoNum type="arabicPeriod"/>
              <a:defRPr b="0" i="0" sz="1800" u="none" cap="none" strike="noStrike">
                <a:solidFill>
                  <a:schemeClr val="dk1"/>
                </a:solidFill>
                <a:latin typeface="Century Gothic"/>
                <a:ea typeface="Century Gothic"/>
                <a:cs typeface="Century Gothic"/>
                <a:sym typeface="Century Gothic"/>
              </a:defRPr>
            </a:lvl8pPr>
            <a:lvl9pPr indent="-285750" lvl="8" marL="4114800" marR="0" rtl="0" algn="l">
              <a:lnSpc>
                <a:spcPct val="95000"/>
              </a:lnSpc>
              <a:spcBef>
                <a:spcPts val="400"/>
              </a:spcBef>
              <a:spcAft>
                <a:spcPts val="400"/>
              </a:spcAft>
              <a:buClr>
                <a:schemeClr val="accent6"/>
              </a:buClr>
              <a:buSzPts val="900"/>
              <a:buFont typeface="Arial"/>
              <a:buChar char="​"/>
              <a:defRPr b="0" i="0" sz="900" u="none" cap="none" strike="noStrike">
                <a:solidFill>
                  <a:schemeClr val="accent6"/>
                </a:solidFill>
                <a:latin typeface="Century Gothic"/>
                <a:ea typeface="Century Gothic"/>
                <a:cs typeface="Century Gothic"/>
                <a:sym typeface="Century Gothic"/>
              </a:defRPr>
            </a:lvl9pPr>
          </a:lstStyle>
          <a:p/>
        </p:txBody>
      </p:sp>
      <p:sp>
        <p:nvSpPr>
          <p:cNvPr id="14" name="Google Shape;14;p1"/>
          <p:cNvSpPr txBox="1"/>
          <p:nvPr/>
        </p:nvSpPr>
        <p:spPr>
          <a:xfrm>
            <a:off x="153254" y="4896022"/>
            <a:ext cx="133221" cy="130805"/>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fld id="{00000000-1234-1234-1234-123412341234}" type="slidenum">
              <a:rPr lang="en-GB" sz="850">
                <a:solidFill>
                  <a:srgbClr val="6C6C6C"/>
                </a:solidFill>
                <a:latin typeface="Century Gothic"/>
                <a:ea typeface="Century Gothic"/>
                <a:cs typeface="Century Gothic"/>
                <a:sym typeface="Century Gothic"/>
              </a:rPr>
              <a:t>‹#›</a:t>
            </a:fld>
            <a:endParaRPr sz="850">
              <a:solidFill>
                <a:srgbClr val="6C6C6C"/>
              </a:solidFill>
              <a:latin typeface="Century Gothic"/>
              <a:ea typeface="Century Gothic"/>
              <a:cs typeface="Century Gothic"/>
              <a:sym typeface="Century Gothic"/>
            </a:endParaRPr>
          </a:p>
        </p:txBody>
      </p:sp>
      <p:sp>
        <p:nvSpPr>
          <p:cNvPr id="15" name="Google Shape;15;p1"/>
          <p:cNvSpPr txBox="1"/>
          <p:nvPr>
            <p:ph type="title"/>
          </p:nvPr>
        </p:nvSpPr>
        <p:spPr>
          <a:xfrm>
            <a:off x="457200" y="164592"/>
            <a:ext cx="8229600" cy="704088"/>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chemeClr val="accent1"/>
              </a:buClr>
              <a:buSzPts val="2200"/>
              <a:buFont typeface="Century Gothic"/>
              <a:buNone/>
              <a:defRPr b="1" i="0" sz="2200" u="none" cap="none" strike="noStrike">
                <a:solidFill>
                  <a:schemeClr val="accen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6" name="Google Shape;16;p1"/>
          <p:cNvGrpSpPr/>
          <p:nvPr/>
        </p:nvGrpSpPr>
        <p:grpSpPr>
          <a:xfrm>
            <a:off x="7772401" y="4853350"/>
            <a:ext cx="914400" cy="204717"/>
            <a:chOff x="5137" y="4139"/>
            <a:chExt cx="335" cy="75"/>
          </a:xfrm>
        </p:grpSpPr>
        <p:sp>
          <p:nvSpPr>
            <p:cNvPr id="17" name="Google Shape;17;p1"/>
            <p:cNvSpPr/>
            <p:nvPr/>
          </p:nvSpPr>
          <p:spPr>
            <a:xfrm>
              <a:off x="5137" y="4139"/>
              <a:ext cx="324" cy="75"/>
            </a:xfrm>
            <a:custGeom>
              <a:rect b="b" l="l" r="r" t="t"/>
              <a:pathLst>
                <a:path extrusionOk="0" h="863" w="3745">
                  <a:moveTo>
                    <a:pt x="660" y="0"/>
                  </a:moveTo>
                  <a:lnTo>
                    <a:pt x="660" y="0"/>
                  </a:lnTo>
                  <a:lnTo>
                    <a:pt x="22" y="0"/>
                  </a:lnTo>
                  <a:lnTo>
                    <a:pt x="0" y="73"/>
                  </a:lnTo>
                  <a:lnTo>
                    <a:pt x="292" y="73"/>
                  </a:lnTo>
                  <a:lnTo>
                    <a:pt x="292" y="804"/>
                  </a:lnTo>
                  <a:cubicBezTo>
                    <a:pt x="292" y="843"/>
                    <a:pt x="316" y="863"/>
                    <a:pt x="360" y="863"/>
                  </a:cubicBezTo>
                  <a:lnTo>
                    <a:pt x="399" y="863"/>
                  </a:lnTo>
                  <a:lnTo>
                    <a:pt x="399" y="73"/>
                  </a:lnTo>
                  <a:lnTo>
                    <a:pt x="637" y="73"/>
                  </a:lnTo>
                  <a:lnTo>
                    <a:pt x="660" y="0"/>
                  </a:lnTo>
                  <a:lnTo>
                    <a:pt x="660" y="0"/>
                  </a:lnTo>
                  <a:close/>
                  <a:moveTo>
                    <a:pt x="2673" y="181"/>
                  </a:moveTo>
                  <a:lnTo>
                    <a:pt x="2673" y="181"/>
                  </a:lnTo>
                  <a:cubicBezTo>
                    <a:pt x="2647" y="181"/>
                    <a:pt x="2626" y="190"/>
                    <a:pt x="2621" y="203"/>
                  </a:cubicBezTo>
                  <a:lnTo>
                    <a:pt x="2408" y="768"/>
                  </a:lnTo>
                  <a:lnTo>
                    <a:pt x="2448" y="768"/>
                  </a:lnTo>
                  <a:cubicBezTo>
                    <a:pt x="2491" y="768"/>
                    <a:pt x="2509" y="764"/>
                    <a:pt x="2522" y="729"/>
                  </a:cubicBezTo>
                  <a:lnTo>
                    <a:pt x="2570" y="596"/>
                  </a:lnTo>
                  <a:lnTo>
                    <a:pt x="2698" y="596"/>
                  </a:lnTo>
                  <a:lnTo>
                    <a:pt x="2679" y="533"/>
                  </a:lnTo>
                  <a:lnTo>
                    <a:pt x="2590" y="533"/>
                  </a:lnTo>
                  <a:lnTo>
                    <a:pt x="2669" y="310"/>
                  </a:lnTo>
                  <a:lnTo>
                    <a:pt x="2812" y="729"/>
                  </a:lnTo>
                  <a:cubicBezTo>
                    <a:pt x="2824" y="764"/>
                    <a:pt x="2845" y="768"/>
                    <a:pt x="2891" y="768"/>
                  </a:cubicBezTo>
                  <a:lnTo>
                    <a:pt x="2941" y="768"/>
                  </a:lnTo>
                  <a:lnTo>
                    <a:pt x="2725" y="203"/>
                  </a:lnTo>
                  <a:cubicBezTo>
                    <a:pt x="2720" y="190"/>
                    <a:pt x="2697" y="181"/>
                    <a:pt x="2673" y="181"/>
                  </a:cubicBezTo>
                  <a:close/>
                  <a:moveTo>
                    <a:pt x="3529" y="203"/>
                  </a:moveTo>
                  <a:lnTo>
                    <a:pt x="3529" y="203"/>
                  </a:lnTo>
                  <a:cubicBezTo>
                    <a:pt x="3524" y="190"/>
                    <a:pt x="3501" y="181"/>
                    <a:pt x="3477" y="181"/>
                  </a:cubicBezTo>
                  <a:cubicBezTo>
                    <a:pt x="3451" y="181"/>
                    <a:pt x="3430" y="190"/>
                    <a:pt x="3425" y="203"/>
                  </a:cubicBezTo>
                  <a:lnTo>
                    <a:pt x="3212" y="768"/>
                  </a:lnTo>
                  <a:lnTo>
                    <a:pt x="3252" y="768"/>
                  </a:lnTo>
                  <a:cubicBezTo>
                    <a:pt x="3294" y="768"/>
                    <a:pt x="3313" y="764"/>
                    <a:pt x="3326" y="729"/>
                  </a:cubicBezTo>
                  <a:lnTo>
                    <a:pt x="3374" y="596"/>
                  </a:lnTo>
                  <a:lnTo>
                    <a:pt x="3502" y="596"/>
                  </a:lnTo>
                  <a:lnTo>
                    <a:pt x="3483" y="533"/>
                  </a:lnTo>
                  <a:lnTo>
                    <a:pt x="3394" y="533"/>
                  </a:lnTo>
                  <a:lnTo>
                    <a:pt x="3473" y="310"/>
                  </a:lnTo>
                  <a:lnTo>
                    <a:pt x="3616" y="729"/>
                  </a:lnTo>
                  <a:cubicBezTo>
                    <a:pt x="3628" y="764"/>
                    <a:pt x="3649" y="768"/>
                    <a:pt x="3695" y="768"/>
                  </a:cubicBezTo>
                  <a:lnTo>
                    <a:pt x="3745" y="768"/>
                  </a:lnTo>
                  <a:lnTo>
                    <a:pt x="3529" y="203"/>
                  </a:lnTo>
                  <a:lnTo>
                    <a:pt x="3529" y="203"/>
                  </a:lnTo>
                  <a:close/>
                  <a:moveTo>
                    <a:pt x="1655" y="181"/>
                  </a:moveTo>
                  <a:lnTo>
                    <a:pt x="1655" y="181"/>
                  </a:lnTo>
                  <a:cubicBezTo>
                    <a:pt x="1630" y="181"/>
                    <a:pt x="1608" y="190"/>
                    <a:pt x="1603" y="203"/>
                  </a:cubicBezTo>
                  <a:lnTo>
                    <a:pt x="1399" y="746"/>
                  </a:lnTo>
                  <a:lnTo>
                    <a:pt x="1247" y="515"/>
                  </a:lnTo>
                  <a:cubicBezTo>
                    <a:pt x="1327" y="501"/>
                    <a:pt x="1374" y="459"/>
                    <a:pt x="1374" y="387"/>
                  </a:cubicBezTo>
                  <a:lnTo>
                    <a:pt x="1374" y="336"/>
                  </a:lnTo>
                  <a:cubicBezTo>
                    <a:pt x="1374" y="232"/>
                    <a:pt x="1277" y="189"/>
                    <a:pt x="1149" y="189"/>
                  </a:cubicBezTo>
                  <a:lnTo>
                    <a:pt x="969" y="189"/>
                  </a:lnTo>
                  <a:lnTo>
                    <a:pt x="969" y="704"/>
                  </a:lnTo>
                  <a:lnTo>
                    <a:pt x="737" y="704"/>
                  </a:lnTo>
                  <a:cubicBezTo>
                    <a:pt x="646" y="704"/>
                    <a:pt x="625" y="684"/>
                    <a:pt x="625" y="590"/>
                  </a:cubicBezTo>
                  <a:lnTo>
                    <a:pt x="625" y="488"/>
                  </a:lnTo>
                  <a:lnTo>
                    <a:pt x="797" y="488"/>
                  </a:lnTo>
                  <a:lnTo>
                    <a:pt x="816" y="424"/>
                  </a:lnTo>
                  <a:lnTo>
                    <a:pt x="625" y="424"/>
                  </a:lnTo>
                  <a:lnTo>
                    <a:pt x="625" y="253"/>
                  </a:lnTo>
                  <a:lnTo>
                    <a:pt x="878" y="253"/>
                  </a:lnTo>
                  <a:lnTo>
                    <a:pt x="897" y="189"/>
                  </a:lnTo>
                  <a:lnTo>
                    <a:pt x="520" y="189"/>
                  </a:lnTo>
                  <a:lnTo>
                    <a:pt x="520" y="590"/>
                  </a:lnTo>
                  <a:cubicBezTo>
                    <a:pt x="520" y="724"/>
                    <a:pt x="552" y="768"/>
                    <a:pt x="735" y="768"/>
                  </a:cubicBezTo>
                  <a:lnTo>
                    <a:pt x="1074" y="766"/>
                  </a:lnTo>
                  <a:lnTo>
                    <a:pt x="1074" y="253"/>
                  </a:lnTo>
                  <a:lnTo>
                    <a:pt x="1149" y="253"/>
                  </a:lnTo>
                  <a:cubicBezTo>
                    <a:pt x="1230" y="253"/>
                    <a:pt x="1271" y="282"/>
                    <a:pt x="1271" y="337"/>
                  </a:cubicBezTo>
                  <a:lnTo>
                    <a:pt x="1271" y="387"/>
                  </a:lnTo>
                  <a:cubicBezTo>
                    <a:pt x="1271" y="443"/>
                    <a:pt x="1220" y="461"/>
                    <a:pt x="1157" y="461"/>
                  </a:cubicBezTo>
                  <a:lnTo>
                    <a:pt x="1110" y="461"/>
                  </a:lnTo>
                  <a:lnTo>
                    <a:pt x="1269" y="733"/>
                  </a:lnTo>
                  <a:cubicBezTo>
                    <a:pt x="1287" y="765"/>
                    <a:pt x="1296" y="768"/>
                    <a:pt x="1338" y="768"/>
                  </a:cubicBezTo>
                  <a:lnTo>
                    <a:pt x="1430" y="768"/>
                  </a:lnTo>
                  <a:cubicBezTo>
                    <a:pt x="1473" y="768"/>
                    <a:pt x="1492" y="764"/>
                    <a:pt x="1505" y="729"/>
                  </a:cubicBezTo>
                  <a:lnTo>
                    <a:pt x="1552" y="596"/>
                  </a:lnTo>
                  <a:lnTo>
                    <a:pt x="1680" y="596"/>
                  </a:lnTo>
                  <a:lnTo>
                    <a:pt x="1661" y="533"/>
                  </a:lnTo>
                  <a:lnTo>
                    <a:pt x="1573" y="533"/>
                  </a:lnTo>
                  <a:lnTo>
                    <a:pt x="1652" y="310"/>
                  </a:lnTo>
                  <a:lnTo>
                    <a:pt x="1795" y="729"/>
                  </a:lnTo>
                  <a:cubicBezTo>
                    <a:pt x="1807" y="764"/>
                    <a:pt x="1827" y="768"/>
                    <a:pt x="1873" y="768"/>
                  </a:cubicBezTo>
                  <a:lnTo>
                    <a:pt x="1923" y="768"/>
                  </a:lnTo>
                  <a:lnTo>
                    <a:pt x="1707" y="203"/>
                  </a:lnTo>
                  <a:cubicBezTo>
                    <a:pt x="1702" y="190"/>
                    <a:pt x="1679" y="181"/>
                    <a:pt x="1655" y="181"/>
                  </a:cubicBezTo>
                  <a:close/>
                  <a:moveTo>
                    <a:pt x="2304" y="530"/>
                  </a:moveTo>
                  <a:lnTo>
                    <a:pt x="2304" y="530"/>
                  </a:lnTo>
                  <a:cubicBezTo>
                    <a:pt x="2304" y="647"/>
                    <a:pt x="2266" y="704"/>
                    <a:pt x="2162" y="704"/>
                  </a:cubicBezTo>
                  <a:lnTo>
                    <a:pt x="2068" y="704"/>
                  </a:lnTo>
                  <a:lnTo>
                    <a:pt x="2068" y="253"/>
                  </a:lnTo>
                  <a:lnTo>
                    <a:pt x="2159" y="253"/>
                  </a:lnTo>
                  <a:cubicBezTo>
                    <a:pt x="2266" y="253"/>
                    <a:pt x="2304" y="316"/>
                    <a:pt x="2304" y="433"/>
                  </a:cubicBezTo>
                  <a:lnTo>
                    <a:pt x="2304" y="530"/>
                  </a:lnTo>
                  <a:lnTo>
                    <a:pt x="2304" y="530"/>
                  </a:lnTo>
                  <a:close/>
                  <a:moveTo>
                    <a:pt x="2409" y="432"/>
                  </a:moveTo>
                  <a:lnTo>
                    <a:pt x="2409" y="432"/>
                  </a:lnTo>
                  <a:cubicBezTo>
                    <a:pt x="2409" y="270"/>
                    <a:pt x="2326" y="189"/>
                    <a:pt x="2159" y="189"/>
                  </a:cubicBezTo>
                  <a:lnTo>
                    <a:pt x="1963" y="189"/>
                  </a:lnTo>
                  <a:lnTo>
                    <a:pt x="1963" y="709"/>
                  </a:lnTo>
                  <a:cubicBezTo>
                    <a:pt x="1963" y="748"/>
                    <a:pt x="1984" y="768"/>
                    <a:pt x="2029" y="768"/>
                  </a:cubicBezTo>
                  <a:lnTo>
                    <a:pt x="2159" y="768"/>
                  </a:lnTo>
                  <a:lnTo>
                    <a:pt x="2180" y="767"/>
                  </a:lnTo>
                  <a:cubicBezTo>
                    <a:pt x="2337" y="761"/>
                    <a:pt x="2409" y="693"/>
                    <a:pt x="2409" y="530"/>
                  </a:cubicBezTo>
                  <a:lnTo>
                    <a:pt x="2409" y="432"/>
                  </a:lnTo>
                  <a:lnTo>
                    <a:pt x="2409" y="432"/>
                  </a:lnTo>
                  <a:close/>
                  <a:moveTo>
                    <a:pt x="3332" y="190"/>
                  </a:moveTo>
                  <a:lnTo>
                    <a:pt x="3332" y="190"/>
                  </a:lnTo>
                  <a:lnTo>
                    <a:pt x="2851" y="190"/>
                  </a:lnTo>
                  <a:lnTo>
                    <a:pt x="2831" y="254"/>
                  </a:lnTo>
                  <a:lnTo>
                    <a:pt x="3028" y="254"/>
                  </a:lnTo>
                  <a:lnTo>
                    <a:pt x="3028" y="710"/>
                  </a:lnTo>
                  <a:cubicBezTo>
                    <a:pt x="3028" y="749"/>
                    <a:pt x="3052" y="768"/>
                    <a:pt x="3096" y="768"/>
                  </a:cubicBezTo>
                  <a:lnTo>
                    <a:pt x="3135" y="768"/>
                  </a:lnTo>
                  <a:lnTo>
                    <a:pt x="3135" y="254"/>
                  </a:lnTo>
                  <a:lnTo>
                    <a:pt x="3313" y="254"/>
                  </a:lnTo>
                  <a:lnTo>
                    <a:pt x="3332" y="19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sp>
          <p:nvSpPr>
            <p:cNvPr id="18" name="Google Shape;18;p1"/>
            <p:cNvSpPr/>
            <p:nvPr/>
          </p:nvSpPr>
          <p:spPr>
            <a:xfrm>
              <a:off x="5464" y="4197"/>
              <a:ext cx="8" cy="9"/>
            </a:xfrm>
            <a:custGeom>
              <a:rect b="b" l="l" r="r" t="t"/>
              <a:pathLst>
                <a:path extrusionOk="0" h="98" w="99">
                  <a:moveTo>
                    <a:pt x="59" y="30"/>
                  </a:moveTo>
                  <a:lnTo>
                    <a:pt x="59" y="30"/>
                  </a:lnTo>
                  <a:cubicBezTo>
                    <a:pt x="57" y="29"/>
                    <a:pt x="53" y="28"/>
                    <a:pt x="47" y="28"/>
                  </a:cubicBezTo>
                  <a:lnTo>
                    <a:pt x="39" y="28"/>
                  </a:lnTo>
                  <a:lnTo>
                    <a:pt x="39" y="48"/>
                  </a:lnTo>
                  <a:lnTo>
                    <a:pt x="48" y="48"/>
                  </a:lnTo>
                  <a:cubicBezTo>
                    <a:pt x="52" y="48"/>
                    <a:pt x="55" y="47"/>
                    <a:pt x="57" y="46"/>
                  </a:cubicBezTo>
                  <a:cubicBezTo>
                    <a:pt x="61" y="45"/>
                    <a:pt x="63" y="42"/>
                    <a:pt x="63" y="38"/>
                  </a:cubicBezTo>
                  <a:cubicBezTo>
                    <a:pt x="63" y="34"/>
                    <a:pt x="61" y="31"/>
                    <a:pt x="59" y="30"/>
                  </a:cubicBezTo>
                  <a:close/>
                  <a:moveTo>
                    <a:pt x="49" y="22"/>
                  </a:moveTo>
                  <a:lnTo>
                    <a:pt x="49" y="22"/>
                  </a:lnTo>
                  <a:cubicBezTo>
                    <a:pt x="55" y="22"/>
                    <a:pt x="60" y="22"/>
                    <a:pt x="63" y="23"/>
                  </a:cubicBezTo>
                  <a:cubicBezTo>
                    <a:pt x="69" y="26"/>
                    <a:pt x="72" y="30"/>
                    <a:pt x="72" y="37"/>
                  </a:cubicBezTo>
                  <a:cubicBezTo>
                    <a:pt x="72" y="42"/>
                    <a:pt x="70" y="46"/>
                    <a:pt x="66" y="48"/>
                  </a:cubicBezTo>
                  <a:cubicBezTo>
                    <a:pt x="65" y="49"/>
                    <a:pt x="62" y="50"/>
                    <a:pt x="59" y="51"/>
                  </a:cubicBezTo>
                  <a:cubicBezTo>
                    <a:pt x="63" y="51"/>
                    <a:pt x="66" y="53"/>
                    <a:pt x="68" y="56"/>
                  </a:cubicBezTo>
                  <a:cubicBezTo>
                    <a:pt x="70" y="59"/>
                    <a:pt x="71" y="62"/>
                    <a:pt x="71" y="64"/>
                  </a:cubicBezTo>
                  <a:lnTo>
                    <a:pt x="71" y="68"/>
                  </a:lnTo>
                  <a:cubicBezTo>
                    <a:pt x="71" y="69"/>
                    <a:pt x="71" y="71"/>
                    <a:pt x="71" y="72"/>
                  </a:cubicBezTo>
                  <a:cubicBezTo>
                    <a:pt x="71" y="74"/>
                    <a:pt x="71" y="75"/>
                    <a:pt x="72" y="75"/>
                  </a:cubicBezTo>
                  <a:lnTo>
                    <a:pt x="72" y="76"/>
                  </a:lnTo>
                  <a:lnTo>
                    <a:pt x="63" y="76"/>
                  </a:lnTo>
                  <a:cubicBezTo>
                    <a:pt x="63" y="76"/>
                    <a:pt x="63" y="75"/>
                    <a:pt x="63" y="75"/>
                  </a:cubicBezTo>
                  <a:cubicBezTo>
                    <a:pt x="63" y="75"/>
                    <a:pt x="63" y="75"/>
                    <a:pt x="63" y="75"/>
                  </a:cubicBezTo>
                  <a:lnTo>
                    <a:pt x="62" y="73"/>
                  </a:lnTo>
                  <a:lnTo>
                    <a:pt x="62" y="69"/>
                  </a:lnTo>
                  <a:cubicBezTo>
                    <a:pt x="62" y="62"/>
                    <a:pt x="61" y="58"/>
                    <a:pt x="57" y="56"/>
                  </a:cubicBezTo>
                  <a:cubicBezTo>
                    <a:pt x="55" y="55"/>
                    <a:pt x="52" y="54"/>
                    <a:pt x="47" y="54"/>
                  </a:cubicBezTo>
                  <a:lnTo>
                    <a:pt x="39" y="54"/>
                  </a:lnTo>
                  <a:lnTo>
                    <a:pt x="39" y="76"/>
                  </a:lnTo>
                  <a:lnTo>
                    <a:pt x="30" y="76"/>
                  </a:lnTo>
                  <a:lnTo>
                    <a:pt x="30" y="22"/>
                  </a:lnTo>
                  <a:lnTo>
                    <a:pt x="49" y="22"/>
                  </a:lnTo>
                  <a:lnTo>
                    <a:pt x="49" y="22"/>
                  </a:lnTo>
                  <a:close/>
                  <a:moveTo>
                    <a:pt x="20" y="19"/>
                  </a:moveTo>
                  <a:lnTo>
                    <a:pt x="20" y="19"/>
                  </a:lnTo>
                  <a:cubicBezTo>
                    <a:pt x="11" y="27"/>
                    <a:pt x="7" y="37"/>
                    <a:pt x="7" y="49"/>
                  </a:cubicBezTo>
                  <a:cubicBezTo>
                    <a:pt x="7" y="61"/>
                    <a:pt x="11" y="71"/>
                    <a:pt x="20" y="79"/>
                  </a:cubicBezTo>
                  <a:cubicBezTo>
                    <a:pt x="28" y="87"/>
                    <a:pt x="38" y="92"/>
                    <a:pt x="50" y="92"/>
                  </a:cubicBezTo>
                  <a:cubicBezTo>
                    <a:pt x="61" y="92"/>
                    <a:pt x="71" y="87"/>
                    <a:pt x="80" y="79"/>
                  </a:cubicBezTo>
                  <a:cubicBezTo>
                    <a:pt x="88" y="71"/>
                    <a:pt x="92" y="61"/>
                    <a:pt x="92" y="49"/>
                  </a:cubicBezTo>
                  <a:cubicBezTo>
                    <a:pt x="92" y="37"/>
                    <a:pt x="88" y="27"/>
                    <a:pt x="80" y="19"/>
                  </a:cubicBezTo>
                  <a:cubicBezTo>
                    <a:pt x="71" y="10"/>
                    <a:pt x="61" y="6"/>
                    <a:pt x="50" y="6"/>
                  </a:cubicBezTo>
                  <a:cubicBezTo>
                    <a:pt x="38" y="6"/>
                    <a:pt x="28" y="10"/>
                    <a:pt x="20" y="19"/>
                  </a:cubicBezTo>
                  <a:close/>
                  <a:moveTo>
                    <a:pt x="85" y="84"/>
                  </a:moveTo>
                  <a:lnTo>
                    <a:pt x="85" y="84"/>
                  </a:lnTo>
                  <a:cubicBezTo>
                    <a:pt x="75" y="94"/>
                    <a:pt x="63" y="98"/>
                    <a:pt x="50" y="98"/>
                  </a:cubicBezTo>
                  <a:cubicBezTo>
                    <a:pt x="36" y="98"/>
                    <a:pt x="24" y="94"/>
                    <a:pt x="15" y="84"/>
                  </a:cubicBezTo>
                  <a:cubicBezTo>
                    <a:pt x="5" y="74"/>
                    <a:pt x="0" y="63"/>
                    <a:pt x="0" y="49"/>
                  </a:cubicBezTo>
                  <a:cubicBezTo>
                    <a:pt x="0" y="35"/>
                    <a:pt x="5" y="24"/>
                    <a:pt x="15" y="14"/>
                  </a:cubicBezTo>
                  <a:cubicBezTo>
                    <a:pt x="24" y="4"/>
                    <a:pt x="36" y="0"/>
                    <a:pt x="50" y="0"/>
                  </a:cubicBezTo>
                  <a:cubicBezTo>
                    <a:pt x="63" y="0"/>
                    <a:pt x="75" y="4"/>
                    <a:pt x="85" y="14"/>
                  </a:cubicBezTo>
                  <a:cubicBezTo>
                    <a:pt x="94" y="24"/>
                    <a:pt x="99" y="35"/>
                    <a:pt x="99" y="49"/>
                  </a:cubicBezTo>
                  <a:cubicBezTo>
                    <a:pt x="99" y="63"/>
                    <a:pt x="94" y="74"/>
                    <a:pt x="85" y="84"/>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3C3B"/>
                </a:solidFill>
                <a:latin typeface="Century Gothic"/>
                <a:ea typeface="Century Gothic"/>
                <a:cs typeface="Century Gothic"/>
                <a:sym typeface="Century Gothic"/>
              </a:endParaRPr>
            </a:p>
          </p:txBody>
        </p:sp>
      </p:grpSp>
      <p:sp>
        <p:nvSpPr>
          <p:cNvPr id="19" name="Google Shape;19;p1"/>
          <p:cNvSpPr txBox="1"/>
          <p:nvPr/>
        </p:nvSpPr>
        <p:spPr>
          <a:xfrm>
            <a:off x="457200" y="4867275"/>
            <a:ext cx="3214489" cy="232042"/>
          </a:xfrm>
          <a:prstGeom prst="rect">
            <a:avLst/>
          </a:prstGeom>
          <a:noFill/>
          <a:ln>
            <a:noFill/>
          </a:ln>
        </p:spPr>
        <p:txBody>
          <a:bodyPr anchorCtr="0" anchor="ctr" bIns="45700" lIns="46800" spcFirstLastPara="1" rIns="91425" wrap="square" tIns="45700">
            <a:noAutofit/>
          </a:bodyPr>
          <a:lstStyle/>
          <a:p>
            <a:pPr indent="0" lvl="0" marL="0" marR="0" rtl="0" algn="l">
              <a:lnSpc>
                <a:spcPct val="100000"/>
              </a:lnSpc>
              <a:spcBef>
                <a:spcPts val="0"/>
              </a:spcBef>
              <a:spcAft>
                <a:spcPts val="0"/>
              </a:spcAft>
              <a:buClr>
                <a:schemeClr val="dk1"/>
              </a:buClr>
              <a:buSzPts val="800"/>
              <a:buFont typeface="Century Gothic"/>
              <a:buNone/>
            </a:pPr>
            <a:r>
              <a:rPr b="0" baseline="30000" lang="en-GB" sz="800">
                <a:solidFill>
                  <a:schemeClr val="dk1"/>
                </a:solidFill>
                <a:latin typeface="Century Gothic"/>
                <a:ea typeface="Century Gothic"/>
                <a:cs typeface="Century Gothic"/>
                <a:sym typeface="Century Gothic"/>
              </a:rPr>
              <a:t>© </a:t>
            </a:r>
            <a:r>
              <a:rPr b="0" lang="en-GB" sz="800">
                <a:solidFill>
                  <a:schemeClr val="dk1"/>
                </a:solidFill>
                <a:latin typeface="Century Gothic"/>
                <a:ea typeface="Century Gothic"/>
                <a:cs typeface="Century Gothic"/>
                <a:sym typeface="Century Gothic"/>
              </a:rPr>
              <a:t>2017 Teradata Confidential Information</a:t>
            </a:r>
            <a:endParaRPr/>
          </a:p>
          <a:p>
            <a:pPr indent="0" lvl="0" marL="0" marR="0" rtl="0" algn="l">
              <a:spcBef>
                <a:spcPts val="0"/>
              </a:spcBef>
              <a:spcAft>
                <a:spcPts val="0"/>
              </a:spcAft>
              <a:buNone/>
            </a:pPr>
            <a:r>
              <a:t/>
            </a:r>
            <a:endParaRPr b="0" sz="100">
              <a:solidFill>
                <a:srgbClr val="A2A2A2"/>
              </a:solidFill>
              <a:latin typeface="Century Gothic"/>
              <a:ea typeface="Century Gothic"/>
              <a:cs typeface="Century Gothic"/>
              <a:sym typeface="Century Gothic"/>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7" name="Shape 1777"/>
        <p:cNvGrpSpPr/>
        <p:nvPr/>
      </p:nvGrpSpPr>
      <p:grpSpPr>
        <a:xfrm>
          <a:off x="0" y="0"/>
          <a:ext cx="0" cy="0"/>
          <a:chOff x="0" y="0"/>
          <a:chExt cx="0" cy="0"/>
        </a:xfrm>
      </p:grpSpPr>
      <p:cxnSp>
        <p:nvCxnSpPr>
          <p:cNvPr id="1778" name="Google Shape;1778;p11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779" name="Google Shape;1779;p11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
        <p:nvSpPr>
          <p:cNvPr id="1780" name="Google Shape;1780;p11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Communication Targeting</a:t>
            </a:r>
            <a:endParaRPr/>
          </a:p>
        </p:txBody>
      </p:sp>
      <p:graphicFrame>
        <p:nvGraphicFramePr>
          <p:cNvPr id="1781" name="Google Shape;1781;p11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Create a best practice framework</a:t>
                      </a:r>
                      <a:r>
                        <a:rPr b="1" lang="en-GB" sz="900">
                          <a:solidFill>
                            <a:schemeClr val="dk1"/>
                          </a:solidFill>
                        </a:rPr>
                        <a:t> for targeting customer communications</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Create a standard </a:t>
                      </a:r>
                      <a:r>
                        <a:rPr b="0" lang="en-GB" sz="900">
                          <a:solidFill>
                            <a:schemeClr val="dk1"/>
                          </a:solidFill>
                        </a:rPr>
                        <a:t>definition of eligibility for channels, products and offers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Codify events, triggers and predictive selections based on insight and 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Create flexible, targeted audiences that can be used in campaigns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Ensure consistency is applied in the targeting of customer groups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the efficiency of campaign design, build and execution</a:t>
                      </a:r>
                      <a:endParaRPr b="0" sz="900">
                        <a:solidFill>
                          <a:schemeClr val="dk1"/>
                        </a:solidFill>
                      </a:endParaRPr>
                    </a:p>
                    <a:p>
                      <a:r>
                        <a:rPr sz="900"/>
                        <a:t>Build targeting across Pakistan's channel mix: SMS (95% reach), push, WhatsApp, in-app, branch, agent</a:t>
                      </a:r>
                    </a:p>
                    <a:p>
                      <a:r>
                        <a:rPr sz="900"/>
                        <a:t>Define opt-in/opt-out rules per SBP Consumer Protection guidelines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Detailed customer, product,</a:t>
                      </a:r>
                      <a:r>
                        <a:rPr b="0" lang="en-GB" sz="900">
                          <a:solidFill>
                            <a:schemeClr val="dk1"/>
                          </a:solidFill>
                        </a:rPr>
                        <a:t> service, contact, opt in &amp;</a:t>
                      </a:r>
                      <a:r>
                        <a:rPr b="0" lang="en-GB" sz="900">
                          <a:solidFill>
                            <a:schemeClr val="dk1"/>
                          </a:solidFill>
                        </a:rPr>
                        <a:t> channel data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Standard derived data attributes that can be used to build segments – for</a:t>
                      </a:r>
                      <a:r>
                        <a:rPr b="0" lang="en-GB" sz="900">
                          <a:solidFill>
                            <a:schemeClr val="dk1"/>
                          </a:solidFill>
                        </a:rPr>
                        <a:t> use in audience selection and application of standard exclusions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Events and triggers formatted and optimized for easy selection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rPr>
                        <a:t>Predictive model outputs formatted and optimized for easy selection </a:t>
                      </a:r>
                      <a:endParaRPr b="1" sz="900">
                        <a:solidFill>
                          <a:schemeClr val="dk1"/>
                        </a:solidFill>
                      </a:endParaRPr>
                    </a:p>
                    <a:p>
                      <a:pPr indent="0" lvl="0" marL="0" marR="0" rtl="0" algn="l">
                        <a:spcBef>
                          <a:spcPts val="0"/>
                        </a:spcBef>
                        <a:spcAft>
                          <a:spcPts val="0"/>
                        </a:spcAft>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Response</a:t>
                      </a:r>
                      <a:r>
                        <a:rPr b="0" lang="en-GB" sz="900">
                          <a:solidFill>
                            <a:schemeClr val="dk1"/>
                          </a:solidFill>
                        </a:rPr>
                        <a:t> analysis and attribute profiling to define optimum target segments, including time and channel type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Campaign ROI reporting to select optimum cut-offs to apply to model scores / balance thresholds etc.</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Self learning analytics to automatically optimise targeting criteria</a:t>
                      </a:r>
                      <a:endParaRPr b="0" sz="900">
                        <a:solidFill>
                          <a:schemeClr val="dk1"/>
                        </a:solidFill>
                      </a:endParaRPr>
                    </a:p>
                    <a:p>
                      <a:r>
                        <a:rPr sz="900"/>
                        <a:t>Pre-approved segments: salary holders, RAAST-active, dormant, Islamic-pref, diaspora, youth, HNW</a:t>
                      </a:r>
                    </a:p>
                    <a:p>
                      <a:r>
                        <a:rPr sz="900"/>
                        <a:t>CNIC-based household targeting for family product bundles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Faster campaign design, build and execution from reuse of pre-built target segments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consistency of customer selection and targeting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Reduced maintenance overhead of managing existing communication activity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response from use of optimised target segments – refined through continuous test and learn activity.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Savings in contact costs  driven by more precise combination of message, offer, channel and time</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Urdu and English message variants for all targeted communications</a:t>
                      </a:r>
                    </a:p>
                    <a:p>
                      <a:r>
                        <a:rPr sz="900"/>
                        <a:t>Compliant targeting via SBP consent management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782" name="Google Shape;1782;p114"/>
          <p:cNvGrpSpPr/>
          <p:nvPr/>
        </p:nvGrpSpPr>
        <p:grpSpPr>
          <a:xfrm>
            <a:off x="6659508" y="225152"/>
            <a:ext cx="2432605" cy="1508418"/>
            <a:chOff x="6030133" y="723902"/>
            <a:chExt cx="2432605" cy="1508418"/>
          </a:xfrm>
        </p:grpSpPr>
        <p:sp>
          <p:nvSpPr>
            <p:cNvPr id="1783" name="Google Shape;1783;p114"/>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784" name="Google Shape;1784;p114"/>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85" name="Google Shape;1785;p114"/>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86" name="Google Shape;1786;p114"/>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87" name="Google Shape;1787;p114"/>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788" name="Google Shape;1788;p114"/>
            <p:cNvGrpSpPr/>
            <p:nvPr/>
          </p:nvGrpSpPr>
          <p:grpSpPr>
            <a:xfrm>
              <a:off x="8107751" y="1342792"/>
              <a:ext cx="276507" cy="393460"/>
              <a:chOff x="6954288" y="1678075"/>
              <a:chExt cx="679456" cy="947737"/>
            </a:xfrm>
          </p:grpSpPr>
          <p:sp>
            <p:nvSpPr>
              <p:cNvPr id="1789" name="Google Shape;1789;p114"/>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0" name="Google Shape;1790;p114"/>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1" name="Google Shape;1791;p114"/>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2" name="Google Shape;1792;p114"/>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793" name="Google Shape;1793;p114"/>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794" name="Google Shape;1794;p114"/>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95" name="Google Shape;1795;p114"/>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96" name="Google Shape;1796;p114"/>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797" name="Google Shape;1797;p114"/>
            <p:cNvGrpSpPr/>
            <p:nvPr/>
          </p:nvGrpSpPr>
          <p:grpSpPr>
            <a:xfrm>
              <a:off x="6671216" y="765814"/>
              <a:ext cx="308250" cy="494711"/>
              <a:chOff x="2125012" y="-1063625"/>
              <a:chExt cx="1420813" cy="2235201"/>
            </a:xfrm>
          </p:grpSpPr>
          <p:sp>
            <p:nvSpPr>
              <p:cNvPr id="1798" name="Google Shape;1798;p114"/>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799" name="Google Shape;1799;p114"/>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800" name="Google Shape;1800;p114"/>
            <p:cNvGrpSpPr/>
            <p:nvPr/>
          </p:nvGrpSpPr>
          <p:grpSpPr>
            <a:xfrm>
              <a:off x="7987780" y="1794063"/>
              <a:ext cx="243489" cy="387124"/>
              <a:chOff x="6417856" y="340853"/>
              <a:chExt cx="217304" cy="589385"/>
            </a:xfrm>
          </p:grpSpPr>
          <p:sp>
            <p:nvSpPr>
              <p:cNvPr id="1801" name="Google Shape;1801;p114"/>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02" name="Google Shape;1802;p114"/>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803" name="Google Shape;1803;p114"/>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804" name="Google Shape;1804;p114"/>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1805" name="Google Shape;1805;p114"/>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06" name="Google Shape;1806;p114"/>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807" name="Google Shape;1807;p114"/>
          <p:cNvGrpSpPr/>
          <p:nvPr/>
        </p:nvGrpSpPr>
        <p:grpSpPr>
          <a:xfrm>
            <a:off x="7717533" y="4360377"/>
            <a:ext cx="1058348" cy="347375"/>
            <a:chOff x="7651698" y="4287227"/>
            <a:chExt cx="1058348" cy="347375"/>
          </a:xfrm>
        </p:grpSpPr>
        <p:grpSp>
          <p:nvGrpSpPr>
            <p:cNvPr id="1808" name="Google Shape;1808;p114"/>
            <p:cNvGrpSpPr/>
            <p:nvPr/>
          </p:nvGrpSpPr>
          <p:grpSpPr>
            <a:xfrm>
              <a:off x="7714163" y="4337598"/>
              <a:ext cx="995883" cy="297004"/>
              <a:chOff x="7711013" y="3986494"/>
              <a:chExt cx="995883" cy="297004"/>
            </a:xfrm>
          </p:grpSpPr>
          <p:sp>
            <p:nvSpPr>
              <p:cNvPr id="1809" name="Google Shape;1809;p11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810" name="Google Shape;1810;p114"/>
              <p:cNvGrpSpPr/>
              <p:nvPr/>
            </p:nvGrpSpPr>
            <p:grpSpPr>
              <a:xfrm>
                <a:off x="7711013" y="4002615"/>
                <a:ext cx="281520" cy="241973"/>
                <a:chOff x="5652748" y="4066000"/>
                <a:chExt cx="906498" cy="747974"/>
              </a:xfrm>
            </p:grpSpPr>
            <p:sp>
              <p:nvSpPr>
                <p:cNvPr id="1811" name="Google Shape;1811;p11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12" name="Google Shape;1812;p11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813" name="Google Shape;1813;p11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814" name="Google Shape;1814;p11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graphicFrame>
        <p:nvGraphicFramePr>
          <p:cNvPr id="1820" name="Google Shape;1820;p115"/>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Rich set of target segments defined, built and executed for use within campaigns. Built based upon a range of traditional and advanced analytical techniques to optimise target audiences. Machine learning techniques used to constantly optimise targeting based on near real time response feedback.</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Rich set of target segments defined, built and executed for use within campaigns. Built based upon a range of offline traditional and advanced analytical techniques to optimise target audiences.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Comprehensive range of target segments defined, built and executed for use within campaigns. Management of target segments with change control processes to amend target segment definitions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Key targets segments such standard exclusions, product ownership and channel / service registration defined and used for most selections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Communications built from scratch for each campaign with little re-use of pre-built segments or previous selection criteria.</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Move from untargeted bulk SMS to segment-based targeting</a:t>
                      </a:r>
                    </a:p>
                    <a:p>
                      <a:r>
                        <a:rPr sz="800"/>
                        <a:t>Build SBP opt-in/opt-out compliant targeting framework</a:t>
                      </a:r>
                    </a:p>
                    <a:p>
                      <a:r>
                        <a:rPr sz="800"/>
                        <a:t>CNIC-based household segmentation for family product bundles</a:t>
                      </a:r>
                    </a:p>
                    <a:p>
                      <a:r>
                        <a:rPr sz="800"/>
                        <a:t>Seasonal segment library: Ramadan, Eid, Hajj, tax season</a:t>
                      </a:r>
                    </a:p>
                    <a:p>
                      <a:r>
                        <a:rPr sz="800"/>
                        <a:t>WhatsApp Business API integration for high-engagement targeting</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2-3x campaign response rate from targeted vs broadcast</a:t>
                      </a:r>
                      <a:endParaRPr/>
                    </a:p>
                    <a:p>
                      <a:r>
                        <a:rPr sz="800"/>
                        <a:t>30% reduction in SMS costs via precision targeting</a:t>
                      </a:r>
                    </a:p>
                    <a:p>
                      <a:r>
                        <a:rPr sz="800"/>
                        <a:t>SBP compliance for consumer protection opt-in rules</a:t>
                      </a:r>
                    </a:p>
                    <a:p>
                      <a:r>
                        <a:rPr sz="800"/>
                        <a:t>Higher ROI from seasonal campaign segments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1821" name="Google Shape;1821;p115"/>
          <p:cNvGrpSpPr/>
          <p:nvPr/>
        </p:nvGrpSpPr>
        <p:grpSpPr>
          <a:xfrm>
            <a:off x="469900" y="3839136"/>
            <a:ext cx="8455025" cy="732866"/>
            <a:chOff x="211138" y="3972860"/>
            <a:chExt cx="8713787" cy="642437"/>
          </a:xfrm>
        </p:grpSpPr>
        <p:sp>
          <p:nvSpPr>
            <p:cNvPr id="1822" name="Google Shape;1822;p115"/>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823" name="Google Shape;1823;p115"/>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1824" name="Google Shape;1824;p115"/>
          <p:cNvGrpSpPr/>
          <p:nvPr/>
        </p:nvGrpSpPr>
        <p:grpSpPr>
          <a:xfrm>
            <a:off x="7971865" y="980278"/>
            <a:ext cx="949325" cy="2867825"/>
            <a:chOff x="7941888" y="1062037"/>
            <a:chExt cx="983037" cy="2695575"/>
          </a:xfrm>
        </p:grpSpPr>
        <p:sp>
          <p:nvSpPr>
            <p:cNvPr id="1825" name="Google Shape;1825;p115"/>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826" name="Google Shape;1826;p115"/>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1827" name="Google Shape;1827;p115"/>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Communication Targeting</a:t>
            </a:r>
            <a:endParaRPr>
              <a:solidFill>
                <a:schemeClr val="accent6"/>
              </a:solidFill>
            </a:endParaRPr>
          </a:p>
        </p:txBody>
      </p:sp>
      <p:sp>
        <p:nvSpPr>
          <p:cNvPr id="1828" name="Google Shape;1828;p11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3" name="Shape 1833"/>
        <p:cNvGrpSpPr/>
        <p:nvPr/>
      </p:nvGrpSpPr>
      <p:grpSpPr>
        <a:xfrm>
          <a:off x="0" y="0"/>
          <a:ext cx="0" cy="0"/>
          <a:chOff x="0" y="0"/>
          <a:chExt cx="0" cy="0"/>
        </a:xfrm>
      </p:grpSpPr>
      <p:cxnSp>
        <p:nvCxnSpPr>
          <p:cNvPr id="1834" name="Google Shape;1834;p11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835" name="Google Shape;1835;p11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Contact Optimization</a:t>
            </a:r>
            <a:endParaRPr/>
          </a:p>
        </p:txBody>
      </p:sp>
      <p:graphicFrame>
        <p:nvGraphicFramePr>
          <p:cNvPr id="1836" name="Google Shape;1836;p116"/>
          <p:cNvGraphicFramePr/>
          <p:nvPr/>
        </p:nvGraphicFramePr>
        <p:xfrm>
          <a:off x="414866" y="98151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536600">
                <a:tc>
                  <a:txBody>
                    <a:bodyPr/>
                    <a:lstStyle/>
                    <a:p>
                      <a:pPr indent="0" lvl="0" marL="0" marR="0" rtl="0" algn="l">
                        <a:spcBef>
                          <a:spcPts val="0"/>
                        </a:spcBef>
                        <a:spcAft>
                          <a:spcPts val="0"/>
                        </a:spcAft>
                        <a:buNone/>
                      </a:pPr>
                      <a:r>
                        <a:rPr b="1" lang="en-GB" sz="900">
                          <a:solidFill>
                            <a:schemeClr val="dk1"/>
                          </a:solidFill>
                        </a:rPr>
                        <a:t>Create a contact policy framework to regulate the interactions and</a:t>
                      </a:r>
                      <a:r>
                        <a:rPr b="1" lang="en-GB" sz="900">
                          <a:solidFill>
                            <a:schemeClr val="dk1"/>
                          </a:solidFill>
                        </a:rPr>
                        <a:t> </a:t>
                      </a:r>
                      <a:r>
                        <a:rPr b="1" lang="en-GB" sz="900">
                          <a:solidFill>
                            <a:schemeClr val="dk1"/>
                          </a:solidFill>
                        </a:rPr>
                        <a:t>contacts</a:t>
                      </a:r>
                      <a:r>
                        <a:rPr b="1" lang="en-GB" sz="900">
                          <a:solidFill>
                            <a:schemeClr val="dk1"/>
                          </a:solidFill>
                        </a:rPr>
                        <a:t> </a:t>
                      </a:r>
                      <a:r>
                        <a:rPr b="1" lang="en-GB" sz="900">
                          <a:solidFill>
                            <a:schemeClr val="dk1"/>
                          </a:solidFill>
                        </a:rPr>
                        <a:t> to customers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Traditional marketing activity was</a:t>
                      </a:r>
                      <a:r>
                        <a:rPr b="0" lang="en-GB" sz="900">
                          <a:solidFill>
                            <a:schemeClr val="dk1"/>
                          </a:solidFill>
                        </a:rPr>
                        <a:t> </a:t>
                      </a:r>
                      <a:r>
                        <a:rPr b="0" lang="en-GB" sz="900">
                          <a:solidFill>
                            <a:schemeClr val="dk1"/>
                          </a:solidFill>
                        </a:rPr>
                        <a:t>product based mass market outbound contacts executed according to pre-planned and initiated agenda. In today’s customer centric world, frequency</a:t>
                      </a:r>
                      <a:r>
                        <a:rPr b="0" lang="en-GB" sz="900">
                          <a:solidFill>
                            <a:schemeClr val="dk1"/>
                          </a:solidFill>
                        </a:rPr>
                        <a:t> and recency of contacts need to match customer needs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Employ a contact policy framework to prevent re-solicitation of the same activity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Optimise contact based on business objectives</a:t>
                      </a:r>
                      <a:r>
                        <a:rPr b="0" lang="en-GB" sz="900">
                          <a:solidFill>
                            <a:schemeClr val="dk1"/>
                          </a:solidFill>
                        </a:rPr>
                        <a:t>, constraints and customer response</a:t>
                      </a:r>
                      <a:endParaRPr b="0" sz="900">
                        <a:solidFill>
                          <a:schemeClr val="dk1"/>
                        </a:solidFill>
                      </a:endParaRPr>
                    </a:p>
                    <a:p>
                      <a:pPr indent="-114300" lvl="0" marL="171450" marR="0" rtl="0" algn="l">
                        <a:spcBef>
                          <a:spcPts val="0"/>
                        </a:spcBef>
                        <a:spcAft>
                          <a:spcPts val="0"/>
                        </a:spcAft>
                        <a:buClr>
                          <a:schemeClr val="dk1"/>
                        </a:buClr>
                        <a:buSzPts val="900"/>
                        <a:buFont typeface="Arial"/>
                        <a:buNone/>
                      </a:pPr>
                      <a:r>
                        <a:t/>
                      </a:r>
                      <a:endParaRPr b="0" sz="900">
                        <a:solidFill>
                          <a:schemeClr val="dk1"/>
                        </a:solidFill>
                      </a:endParaRPr>
                    </a:p>
                    <a:p>
                      <a:r>
                        <a:rPr sz="900"/>
                        <a:t>Solve Pakistan's SMS fatigue — customers receive 5-10 promotional SMS daily across banks</a:t>
                      </a:r>
                    </a:p>
                    <a:p>
                      <a:r>
                        <a:rPr sz="900"/>
                        <a:t>Channel-specific frequency limits: SMS max 2/week, push max 3/week, WhatsApp max 1/week</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Single interaction view of the customer –consolidated view of inbound and outbound contacts by channel, customer opt-in/out data</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Lead / offer metadata detailing timestamp of contact, product / area / activity promoted and feedback data </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Customer segment / profile data used o differentiate contact rules application</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Operational process to apply contact rules based on content, channel, timeliness of offer and previous contact recency / frequency</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Ability to apply contact limiting at both a customer / subject matter level – differentiated by channel</a:t>
                      </a:r>
                      <a:endParaRPr/>
                    </a:p>
                    <a:p>
                      <a:pPr indent="-179388" lvl="0" marL="179388" marR="0" rtl="0" algn="l">
                        <a:lnSpc>
                          <a:spcPct val="95000"/>
                        </a:lnSpc>
                        <a:spcBef>
                          <a:spcPts val="0"/>
                        </a:spcBef>
                        <a:spcAft>
                          <a:spcPts val="0"/>
                        </a:spcAft>
                        <a:buClr>
                          <a:schemeClr val="dk1"/>
                        </a:buClr>
                        <a:buSzPts val="900"/>
                        <a:buFont typeface="Arial"/>
                        <a:buChar char="•"/>
                      </a:pPr>
                      <a:r>
                        <a:rPr lang="en-GB" sz="900">
                          <a:solidFill>
                            <a:schemeClr val="dk1"/>
                          </a:solidFill>
                        </a:rPr>
                        <a:t>Ability to model the impact of applying different rule sets on activity volumes</a:t>
                      </a:r>
                      <a:endParaRPr/>
                    </a:p>
                    <a:p>
                      <a:r>
                        <a:rPr sz="900"/>
                        <a:t>Longer suppression after customer complaint (SBP Consumer Protection requirement)</a:t>
                      </a:r>
                    </a:p>
                    <a:p>
                      <a:r>
                        <a:rPr sz="900"/>
                        <a:t>Differentiate contact rules for Ramadan (higher spiritual content, lower hard-sell)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timely customer interactions and messaging</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Recency rules prevent the Customers from receiving too much activity within a short period of time – across the full range of channels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Frequency rules prevents the same activities being continuously solicited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Contact rules can apply longer suppression periods when customers are dis-satisfied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Contact rules applied through inbound less intrusive channels can be differentiated from outbound contacts – with shorter blackout periods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Timestamps allow determination of success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rate vs time of contact analysis</a:t>
                      </a:r>
                      <a:endParaRPr/>
                    </a:p>
                    <a:p>
                      <a:r>
                        <a:rPr sz="900"/>
                        <a:t>Coordinate outbound marketing with SBP-mandated service notifications (OTP, alerts)</a:t>
                      </a:r>
                    </a:p>
                    <a:p>
                      <a:r>
                        <a:rPr sz="900"/>
                        <a:t>30% reduction in SMS opt-outs via contact policy framework</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837" name="Google Shape;1837;p116"/>
          <p:cNvGrpSpPr/>
          <p:nvPr/>
        </p:nvGrpSpPr>
        <p:grpSpPr>
          <a:xfrm>
            <a:off x="6659508" y="225152"/>
            <a:ext cx="2432605" cy="1508418"/>
            <a:chOff x="6030133" y="723902"/>
            <a:chExt cx="2432605" cy="1508418"/>
          </a:xfrm>
        </p:grpSpPr>
        <p:sp>
          <p:nvSpPr>
            <p:cNvPr id="1838" name="Google Shape;1838;p116"/>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839" name="Google Shape;1839;p116"/>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40" name="Google Shape;1840;p116"/>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41" name="Google Shape;1841;p116"/>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42" name="Google Shape;1842;p116"/>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843" name="Google Shape;1843;p116"/>
            <p:cNvGrpSpPr/>
            <p:nvPr/>
          </p:nvGrpSpPr>
          <p:grpSpPr>
            <a:xfrm>
              <a:off x="8107751" y="1342792"/>
              <a:ext cx="276507" cy="393460"/>
              <a:chOff x="6954288" y="1678075"/>
              <a:chExt cx="679456" cy="947737"/>
            </a:xfrm>
          </p:grpSpPr>
          <p:sp>
            <p:nvSpPr>
              <p:cNvPr id="1844" name="Google Shape;1844;p116"/>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5" name="Google Shape;1845;p116"/>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6" name="Google Shape;1846;p116"/>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7" name="Google Shape;1847;p116"/>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848" name="Google Shape;1848;p116"/>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849" name="Google Shape;1849;p116"/>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0" name="Google Shape;1850;p116"/>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1" name="Google Shape;1851;p116"/>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852" name="Google Shape;1852;p116"/>
            <p:cNvGrpSpPr/>
            <p:nvPr/>
          </p:nvGrpSpPr>
          <p:grpSpPr>
            <a:xfrm>
              <a:off x="6671216" y="765814"/>
              <a:ext cx="308250" cy="494711"/>
              <a:chOff x="2125012" y="-1063625"/>
              <a:chExt cx="1420813" cy="2235201"/>
            </a:xfrm>
          </p:grpSpPr>
          <p:sp>
            <p:nvSpPr>
              <p:cNvPr id="1853" name="Google Shape;1853;p116"/>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4" name="Google Shape;1854;p116"/>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855" name="Google Shape;1855;p116"/>
            <p:cNvGrpSpPr/>
            <p:nvPr/>
          </p:nvGrpSpPr>
          <p:grpSpPr>
            <a:xfrm>
              <a:off x="7987780" y="1794063"/>
              <a:ext cx="243489" cy="387124"/>
              <a:chOff x="6417856" y="340853"/>
              <a:chExt cx="217304" cy="589385"/>
            </a:xfrm>
          </p:grpSpPr>
          <p:sp>
            <p:nvSpPr>
              <p:cNvPr id="1856" name="Google Shape;1856;p116"/>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57" name="Google Shape;1857;p116"/>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858" name="Google Shape;1858;p116"/>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859" name="Google Shape;1859;p116"/>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1860" name="Google Shape;1860;p116"/>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61" name="Google Shape;1861;p116"/>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1862" name="Google Shape;1862;p11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1863" name="Google Shape;1863;p116"/>
          <p:cNvGrpSpPr/>
          <p:nvPr/>
        </p:nvGrpSpPr>
        <p:grpSpPr>
          <a:xfrm>
            <a:off x="7717533" y="4360377"/>
            <a:ext cx="1058348" cy="347375"/>
            <a:chOff x="7651698" y="4287227"/>
            <a:chExt cx="1058348" cy="347375"/>
          </a:xfrm>
        </p:grpSpPr>
        <p:grpSp>
          <p:nvGrpSpPr>
            <p:cNvPr id="1864" name="Google Shape;1864;p116"/>
            <p:cNvGrpSpPr/>
            <p:nvPr/>
          </p:nvGrpSpPr>
          <p:grpSpPr>
            <a:xfrm>
              <a:off x="7714163" y="4337598"/>
              <a:ext cx="995883" cy="297004"/>
              <a:chOff x="7711013" y="3986494"/>
              <a:chExt cx="995883" cy="297004"/>
            </a:xfrm>
          </p:grpSpPr>
          <p:sp>
            <p:nvSpPr>
              <p:cNvPr id="1865" name="Google Shape;1865;p11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866" name="Google Shape;1866;p116"/>
              <p:cNvGrpSpPr/>
              <p:nvPr/>
            </p:nvGrpSpPr>
            <p:grpSpPr>
              <a:xfrm>
                <a:off x="7711013" y="4002615"/>
                <a:ext cx="281520" cy="241973"/>
                <a:chOff x="5652748" y="4066000"/>
                <a:chExt cx="906498" cy="747974"/>
              </a:xfrm>
            </p:grpSpPr>
            <p:sp>
              <p:nvSpPr>
                <p:cNvPr id="1867" name="Google Shape;1867;p11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868" name="Google Shape;1868;p11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869" name="Google Shape;1869;p11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870" name="Google Shape;1870;p11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5" name="Shape 1875"/>
        <p:cNvGrpSpPr/>
        <p:nvPr/>
      </p:nvGrpSpPr>
      <p:grpSpPr>
        <a:xfrm>
          <a:off x="0" y="0"/>
          <a:ext cx="0" cy="0"/>
          <a:chOff x="0" y="0"/>
          <a:chExt cx="0" cy="0"/>
        </a:xfrm>
      </p:grpSpPr>
      <p:graphicFrame>
        <p:nvGraphicFramePr>
          <p:cNvPr id="1876" name="Google Shape;1876;p117"/>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9545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Overarching contact framework controls customer solicitation levels across all channels for all activity - based on multiple dimensions such as timeliness of event, channel medium and direction, recency, frequency, objective and reason of previous contact and outcome detail. Contacts optimised based on business objectives and constraints. Contacts optimization dimension include inbound interactions.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Overarching contact framework controls customer solicitation levels across all channels for all activity optimised for time of contact- based on multiple dimensions such as timeliness of event, channel medium and direction, recency, frequency, objective and reason of previous contact and outcome detail. Contacts optimised based on business objectives and constraints.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Cross channel contact policy rules regulate solicitation rules based on recency, frequency and outcome of contact</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Channel level contact policy rules regulate customer solicitation based on recency and frequency contact</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Simple contact policy rules operate at campaign level within channel – controlling solicitation levels based on previous campaign selections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Unified contact policy across SMS, call, push, WhatsApp, branch, agent</a:t>
                      </a:r>
                    </a:p>
                    <a:p>
                      <a:r>
                        <a:rPr sz="800"/>
                        <a:t>Frequency caps: SMS max 2/week, push max 3/week, WhatsApp max 1/week</a:t>
                      </a:r>
                    </a:p>
                    <a:p>
                      <a:r>
                        <a:rPr sz="800"/>
                        <a:t>Time-gating: no promos before 9AM/after 9PM; Ramadan sehri/iftar blocks</a:t>
                      </a:r>
                    </a:p>
                    <a:p>
                      <a:r>
                        <a:rPr sz="800"/>
                        <a:t>Comply with PTA DND registry — auto-suppress registered numbers</a:t>
                      </a:r>
                    </a:p>
                    <a:p>
                      <a:r>
                        <a:rPr sz="800"/>
                        <a:t>30-day marketing blackout after any customer complaint (SBP requirement)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30% reduction in contact fatigue complaints</a:t>
                      </a:r>
                      <a:endParaRPr/>
                    </a:p>
                    <a:p>
                      <a:r>
                        <a:rPr sz="800"/>
                        <a:t>SBP consumer protection compliance + PTA DND registry compliance</a:t>
                      </a:r>
                    </a:p>
                    <a:p>
                      <a:r>
                        <a:rPr sz="800"/>
                        <a:t>Higher engagement: customers receive fewer, more relevant messages</a:t>
                      </a:r>
                    </a:p>
                    <a:p>
                      <a:r>
                        <a:rPr sz="800"/>
                        <a:t>Reduced SMS cost from elimination of wasted contacts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1877" name="Google Shape;1877;p117"/>
          <p:cNvGrpSpPr/>
          <p:nvPr/>
        </p:nvGrpSpPr>
        <p:grpSpPr>
          <a:xfrm>
            <a:off x="466165" y="3936425"/>
            <a:ext cx="8455025" cy="732866"/>
            <a:chOff x="211138" y="3972860"/>
            <a:chExt cx="8713787" cy="642437"/>
          </a:xfrm>
        </p:grpSpPr>
        <p:sp>
          <p:nvSpPr>
            <p:cNvPr id="1878" name="Google Shape;1878;p117"/>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879" name="Google Shape;1879;p117"/>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1880" name="Google Shape;1880;p117"/>
          <p:cNvGrpSpPr/>
          <p:nvPr/>
        </p:nvGrpSpPr>
        <p:grpSpPr>
          <a:xfrm>
            <a:off x="7971865" y="980278"/>
            <a:ext cx="949325" cy="2966972"/>
            <a:chOff x="7941888" y="1062037"/>
            <a:chExt cx="983037" cy="2695575"/>
          </a:xfrm>
        </p:grpSpPr>
        <p:sp>
          <p:nvSpPr>
            <p:cNvPr id="1881" name="Google Shape;1881;p117"/>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882" name="Google Shape;1882;p117"/>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1883" name="Google Shape;1883;p117"/>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Contact Optimization</a:t>
            </a:r>
            <a:endParaRPr/>
          </a:p>
        </p:txBody>
      </p:sp>
      <p:sp>
        <p:nvSpPr>
          <p:cNvPr id="1884" name="Google Shape;1884;p11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9" name="Shape 1889"/>
        <p:cNvGrpSpPr/>
        <p:nvPr/>
      </p:nvGrpSpPr>
      <p:grpSpPr>
        <a:xfrm>
          <a:off x="0" y="0"/>
          <a:ext cx="0" cy="0"/>
          <a:chOff x="0" y="0"/>
          <a:chExt cx="0" cy="0"/>
        </a:xfrm>
      </p:grpSpPr>
      <p:cxnSp>
        <p:nvCxnSpPr>
          <p:cNvPr id="1890" name="Google Shape;1890;p11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891" name="Google Shape;1891;p11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Response Optimization</a:t>
            </a:r>
            <a:endParaRPr sz="1600"/>
          </a:p>
        </p:txBody>
      </p:sp>
      <p:graphicFrame>
        <p:nvGraphicFramePr>
          <p:cNvPr id="1892" name="Google Shape;1892;p11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200">
                          <a:solidFill>
                            <a:schemeClr val="dk2"/>
                          </a:solidFill>
                          <a:latin typeface="Century Gothic"/>
                          <a:ea typeface="Century Gothic"/>
                          <a:cs typeface="Century Gothic"/>
                          <a:sym typeface="Century Gothic"/>
                        </a:rPr>
                        <a:t>Business Objectives</a:t>
                      </a:r>
                      <a:endParaRPr b="1" sz="12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Arial"/>
                        <a:buNone/>
                      </a:pPr>
                      <a:r>
                        <a:rPr b="1" i="0" lang="en-GB" sz="900" u="none" cap="none" strike="noStrike">
                          <a:solidFill>
                            <a:schemeClr val="dk1"/>
                          </a:solidFill>
                          <a:latin typeface="Century Gothic"/>
                          <a:ea typeface="Century Gothic"/>
                          <a:cs typeface="Century Gothic"/>
                          <a:sym typeface="Century Gothic"/>
                        </a:rPr>
                        <a:t>Optimize marketing campaigns to achieve the highest response and conversion rates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Optimize the response including multiple marketing levers like channel, timing, promotion, message, layout, pricing structures etc. </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Conduct a deep analytical driven A/B testing of marketing messages incl. a solid and segmented target group and a test group</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Collect  and consolidate the responses to enable tracking of the result with deep insights to customer initial and long term response to marketing campaigns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Feedback  results into subsequent campaigns and build an infinity loop of testing and tracking responses</a:t>
                      </a:r>
                      <a:endParaRPr/>
                    </a:p>
                    <a:p>
                      <a:r>
                        <a:rPr sz="900"/>
                        <a:t>Optimize response across mobile-first audience — 85% of digital banking via smartphone</a:t>
                      </a:r>
                    </a:p>
                    <a:p>
                      <a:r>
                        <a:rPr sz="900"/>
                        <a:t>Test Urdu vs English vs bilingual variants — response rates differ 30%+ by segment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a:t>
                      </a:r>
                      <a:endParaRPr/>
                    </a:p>
                    <a:p>
                      <a:pPr indent="-179388" lvl="0" marL="179388" marR="0" rtl="0" algn="l">
                        <a:spcBef>
                          <a:spcPts val="0"/>
                        </a:spcBef>
                        <a:spcAft>
                          <a:spcPts val="0"/>
                        </a:spcAft>
                        <a:buClr>
                          <a:schemeClr val="dk1"/>
                        </a:buClr>
                        <a:buSzPts val="900"/>
                        <a:buFont typeface="Arial"/>
                        <a:buChar char="•"/>
                      </a:pPr>
                      <a:r>
                        <a:rPr b="1" i="0" lang="en-GB" sz="900">
                          <a:latin typeface="Century Gothic"/>
                          <a:ea typeface="Century Gothic"/>
                          <a:cs typeface="Century Gothic"/>
                          <a:sym typeface="Century Gothic"/>
                        </a:rPr>
                        <a:t>Campaign data</a:t>
                      </a:r>
                      <a:r>
                        <a:rPr b="1" i="0" lang="en-GB" sz="900">
                          <a:latin typeface="Century Gothic"/>
                          <a:ea typeface="Century Gothic"/>
                          <a:cs typeface="Century Gothic"/>
                          <a:sym typeface="Century Gothic"/>
                        </a:rPr>
                        <a:t> </a:t>
                      </a:r>
                      <a:r>
                        <a:rPr b="0" i="0" lang="en-GB" sz="900">
                          <a:latin typeface="Century Gothic"/>
                          <a:ea typeface="Century Gothic"/>
                          <a:cs typeface="Century Gothic"/>
                          <a:sym typeface="Century Gothic"/>
                        </a:rPr>
                        <a:t>incl. channel, device, sent, read, open, etc.</a:t>
                      </a:r>
                      <a:endParaRPr/>
                    </a:p>
                    <a:p>
                      <a:pPr indent="-179388" lvl="0" marL="179388" marR="0" rtl="0" algn="l">
                        <a:spcBef>
                          <a:spcPts val="0"/>
                        </a:spcBef>
                        <a:spcAft>
                          <a:spcPts val="0"/>
                        </a:spcAft>
                        <a:buClr>
                          <a:schemeClr val="dk1"/>
                        </a:buClr>
                        <a:buSzPts val="900"/>
                        <a:buFont typeface="Arial"/>
                        <a:buChar char="•"/>
                      </a:pPr>
                      <a:r>
                        <a:rPr b="1" i="0" lang="en-GB" sz="900">
                          <a:latin typeface="Century Gothic"/>
                          <a:ea typeface="Century Gothic"/>
                          <a:cs typeface="Century Gothic"/>
                          <a:sym typeface="Century Gothic"/>
                        </a:rPr>
                        <a:t>Transaction data </a:t>
                      </a:r>
                      <a:r>
                        <a:rPr b="0" i="0" lang="en-GB" sz="900">
                          <a:latin typeface="Century Gothic"/>
                          <a:ea typeface="Century Gothic"/>
                          <a:cs typeface="Century Gothic"/>
                          <a:sym typeface="Century Gothic"/>
                        </a:rPr>
                        <a:t>incl. time, product, sales/revenue, profit</a:t>
                      </a:r>
                      <a:endParaRPr/>
                    </a:p>
                    <a:p>
                      <a:pPr indent="-179388" lvl="0" marL="179388" marR="0" rtl="0" algn="l">
                        <a:spcBef>
                          <a:spcPts val="0"/>
                        </a:spcBef>
                        <a:spcAft>
                          <a:spcPts val="0"/>
                        </a:spcAft>
                        <a:buClr>
                          <a:schemeClr val="dk1"/>
                        </a:buClr>
                        <a:buSzPts val="900"/>
                        <a:buFont typeface="Arial"/>
                        <a:buChar char="•"/>
                      </a:pPr>
                      <a:r>
                        <a:rPr b="1" i="0" lang="en-GB" sz="900">
                          <a:latin typeface="Century Gothic"/>
                          <a:ea typeface="Century Gothic"/>
                          <a:cs typeface="Century Gothic"/>
                          <a:sym typeface="Century Gothic"/>
                        </a:rPr>
                        <a:t>Customer contact history </a:t>
                      </a:r>
                      <a:r>
                        <a:rPr b="0" i="0" lang="en-GB" sz="900">
                          <a:latin typeface="Century Gothic"/>
                          <a:ea typeface="Century Gothic"/>
                          <a:cs typeface="Century Gothic"/>
                          <a:sym typeface="Century Gothic"/>
                        </a:rPr>
                        <a:t>incl. control groups</a:t>
                      </a:r>
                      <a:endParaRPr sz="900">
                        <a:latin typeface="Century Gothic"/>
                        <a:ea typeface="Century Gothic"/>
                        <a:cs typeface="Century Gothic"/>
                        <a:sym typeface="Century Gothic"/>
                      </a:endParaRPr>
                    </a:p>
                    <a:p>
                      <a:pPr indent="0" lvl="0" marL="0" marR="0" rtl="0" algn="l">
                        <a:spcBef>
                          <a:spcPts val="0"/>
                        </a:spcBef>
                        <a:spcAft>
                          <a:spcPts val="0"/>
                        </a:spcAft>
                        <a:buNone/>
                      </a:pPr>
                      <a:r>
                        <a:t/>
                      </a:r>
                      <a:endParaRPr b="1" sz="900">
                        <a:latin typeface="Century Gothic"/>
                        <a:ea typeface="Century Gothic"/>
                        <a:cs typeface="Century Gothic"/>
                        <a:sym typeface="Century Gothic"/>
                      </a:endParaRPr>
                    </a:p>
                    <a:p>
                      <a:pPr indent="0" lvl="0" marL="0" marR="0" rtl="0" algn="l">
                        <a:spcBef>
                          <a:spcPts val="0"/>
                        </a:spcBef>
                        <a:spcAft>
                          <a:spcPts val="0"/>
                        </a:spcAft>
                        <a:buNone/>
                      </a:pPr>
                      <a:r>
                        <a:rPr b="1" lang="en-GB" sz="900">
                          <a:latin typeface="Century Gothic"/>
                          <a:ea typeface="Century Gothic"/>
                          <a:cs typeface="Century Gothic"/>
                          <a:sym typeface="Century Gothic"/>
                        </a:rPr>
                        <a:t>Analytics</a:t>
                      </a:r>
                      <a:endParaRPr b="0" sz="900">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Create standard set of  marketing KPI’s  including  response rate, conversion rate , ROI trends over time</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Track  and analyze A/B testing response and utilize root cause analysis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Measure incremental value added by campaign activity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Dashboard presentation of results with ability to drill into detail and ‘slice n dice’ activity by a number of dimensions including channel</a:t>
                      </a:r>
                      <a:endParaRPr b="0" i="0" sz="900">
                        <a:latin typeface="Century Gothic"/>
                        <a:ea typeface="Century Gothic"/>
                        <a:cs typeface="Century Gothic"/>
                        <a:sym typeface="Century Gothic"/>
                      </a:endParaRPr>
                    </a:p>
                    <a:p>
                      <a:r>
                        <a:rPr sz="900"/>
                        <a:t>Optimize timing: salary-day (1st-5th), Eid-season, Ramadan, back-to-school (August)</a:t>
                      </a:r>
                    </a:p>
                    <a:p>
                      <a:r>
                        <a:rPr sz="900"/>
                        <a:t>Measure response beyond click — track through to product purchase/activation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i="0" lang="en-GB" sz="900">
                          <a:latin typeface="Century Gothic"/>
                          <a:ea typeface="Century Gothic"/>
                          <a:cs typeface="Century Gothic"/>
                          <a:sym typeface="Century Gothic"/>
                        </a:rPr>
                        <a:t>Drive revenue with more effective and efficient marketing campaigns </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Increase response and conversion rates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Understand key drivers and levers of  marketing performance to optimize design and personal marketing</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Re-allocate budgets to higher performing activities</a:t>
                      </a:r>
                      <a:endParaRPr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t/>
                      </a:r>
                      <a:endParaRPr b="1" sz="9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latin typeface="Century Gothic"/>
                          <a:ea typeface="Century Gothic"/>
                          <a:cs typeface="Century Gothic"/>
                          <a:sym typeface="Century Gothic"/>
                        </a:rPr>
                        <a:t>Reduce costs by:</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Removing campaigns that don’t meet minimum performance thresholds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Faster identification of poor performing campaigns requiring remedial action</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Build A/B testing culture — most Pakistan banks do zero controlled testing</a:t>
                      </a:r>
                    </a:p>
                    <a:p>
                      <a:r>
                        <a:rPr sz="900"/>
                        <a:t>2x response rates via channel, timing, and language optimization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893" name="Google Shape;1893;p118"/>
          <p:cNvGrpSpPr/>
          <p:nvPr/>
        </p:nvGrpSpPr>
        <p:grpSpPr>
          <a:xfrm>
            <a:off x="6659508" y="225152"/>
            <a:ext cx="2432605" cy="1508418"/>
            <a:chOff x="6030133" y="723902"/>
            <a:chExt cx="2432605" cy="1508418"/>
          </a:xfrm>
        </p:grpSpPr>
        <p:sp>
          <p:nvSpPr>
            <p:cNvPr id="1894" name="Google Shape;1894;p118"/>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895" name="Google Shape;1895;p118"/>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96" name="Google Shape;1896;p118"/>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97" name="Google Shape;1897;p118"/>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898" name="Google Shape;1898;p118"/>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899" name="Google Shape;1899;p118"/>
            <p:cNvGrpSpPr/>
            <p:nvPr/>
          </p:nvGrpSpPr>
          <p:grpSpPr>
            <a:xfrm>
              <a:off x="8107751" y="1342792"/>
              <a:ext cx="276507" cy="393460"/>
              <a:chOff x="6954288" y="1678075"/>
              <a:chExt cx="679456" cy="947737"/>
            </a:xfrm>
          </p:grpSpPr>
          <p:sp>
            <p:nvSpPr>
              <p:cNvPr id="1900" name="Google Shape;1900;p118"/>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1" name="Google Shape;1901;p118"/>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2" name="Google Shape;1902;p118"/>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3" name="Google Shape;1903;p118"/>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04" name="Google Shape;1904;p118"/>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905" name="Google Shape;1905;p118"/>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06" name="Google Shape;1906;p118"/>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07" name="Google Shape;1907;p118"/>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908" name="Google Shape;1908;p118"/>
            <p:cNvGrpSpPr/>
            <p:nvPr/>
          </p:nvGrpSpPr>
          <p:grpSpPr>
            <a:xfrm>
              <a:off x="6671216" y="765814"/>
              <a:ext cx="308250" cy="494711"/>
              <a:chOff x="2125012" y="-1063625"/>
              <a:chExt cx="1420813" cy="2235201"/>
            </a:xfrm>
          </p:grpSpPr>
          <p:sp>
            <p:nvSpPr>
              <p:cNvPr id="1909" name="Google Shape;1909;p118"/>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10" name="Google Shape;1910;p118"/>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911" name="Google Shape;1911;p118"/>
            <p:cNvGrpSpPr/>
            <p:nvPr/>
          </p:nvGrpSpPr>
          <p:grpSpPr>
            <a:xfrm>
              <a:off x="7987780" y="1794063"/>
              <a:ext cx="243489" cy="387124"/>
              <a:chOff x="6417856" y="340853"/>
              <a:chExt cx="217304" cy="589385"/>
            </a:xfrm>
          </p:grpSpPr>
          <p:sp>
            <p:nvSpPr>
              <p:cNvPr id="1912" name="Google Shape;1912;p118"/>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13" name="Google Shape;1913;p118"/>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914" name="Google Shape;1914;p118"/>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915" name="Google Shape;1915;p118"/>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1916" name="Google Shape;1916;p118"/>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17" name="Google Shape;1917;p118"/>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1918" name="Google Shape;1918;p11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1919" name="Google Shape;1919;p118"/>
          <p:cNvGrpSpPr/>
          <p:nvPr/>
        </p:nvGrpSpPr>
        <p:grpSpPr>
          <a:xfrm>
            <a:off x="7717533" y="4360377"/>
            <a:ext cx="1058348" cy="347375"/>
            <a:chOff x="7651698" y="4287227"/>
            <a:chExt cx="1058348" cy="347375"/>
          </a:xfrm>
        </p:grpSpPr>
        <p:grpSp>
          <p:nvGrpSpPr>
            <p:cNvPr id="1920" name="Google Shape;1920;p118"/>
            <p:cNvGrpSpPr/>
            <p:nvPr/>
          </p:nvGrpSpPr>
          <p:grpSpPr>
            <a:xfrm>
              <a:off x="7714163" y="4337598"/>
              <a:ext cx="995883" cy="297004"/>
              <a:chOff x="7711013" y="3986494"/>
              <a:chExt cx="995883" cy="297004"/>
            </a:xfrm>
          </p:grpSpPr>
          <p:sp>
            <p:nvSpPr>
              <p:cNvPr id="1921" name="Google Shape;1921;p11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922" name="Google Shape;1922;p118"/>
              <p:cNvGrpSpPr/>
              <p:nvPr/>
            </p:nvGrpSpPr>
            <p:grpSpPr>
              <a:xfrm>
                <a:off x="7711013" y="4002615"/>
                <a:ext cx="281520" cy="241973"/>
                <a:chOff x="5652748" y="4066000"/>
                <a:chExt cx="906498" cy="747974"/>
              </a:xfrm>
            </p:grpSpPr>
            <p:sp>
              <p:nvSpPr>
                <p:cNvPr id="1923" name="Google Shape;1923;p11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924" name="Google Shape;1924;p11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925" name="Google Shape;1925;p11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926" name="Google Shape;1926;p118">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1" name="Shape 1931"/>
        <p:cNvGrpSpPr/>
        <p:nvPr/>
      </p:nvGrpSpPr>
      <p:grpSpPr>
        <a:xfrm>
          <a:off x="0" y="0"/>
          <a:ext cx="0" cy="0"/>
          <a:chOff x="0" y="0"/>
          <a:chExt cx="0" cy="0"/>
        </a:xfrm>
      </p:grpSpPr>
      <p:graphicFrame>
        <p:nvGraphicFramePr>
          <p:cNvPr id="1932" name="Google Shape;1932;p119"/>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rPr lang="en-GB" sz="800"/>
                        <a:t>Provide real</a:t>
                      </a:r>
                      <a:r>
                        <a:rPr lang="en-GB" sz="800"/>
                        <a:t> time, contextual marketing. Create predictive models to forecast response and embed scenario planning into the marketing campaign planning and execution. Automated management of  marketing levers ; time, channel, device, product, pricing etc. including for real time. Contextual marketing. Real time streaming of responses (A/B test)and ability to adjust marketing based on real time results. </a:t>
                      </a:r>
                      <a:endParaRPr sz="8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rPr lang="en-GB" sz="800"/>
                        <a:t>Add contextual features like geo/location to the marketing campaign and optimize</a:t>
                      </a:r>
                      <a:r>
                        <a:rPr lang="en-GB" sz="800"/>
                        <a:t> the response accordingly. Embed dynamically adaptive messages into the campaign process. Understand impact of campaign in present and trends over time. Intra day dashboard to measure campaign response. </a:t>
                      </a:r>
                      <a:endParaRPr sz="8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rPr lang="en-GB" sz="800"/>
                        <a:t>Run response optimization in an automated</a:t>
                      </a:r>
                      <a:r>
                        <a:rPr lang="en-GB" sz="800"/>
                        <a:t> fashion where workflows are outlined and next marketing activity is triggered based on customers’  individual responses.  Daily reporting of marketing responses.  </a:t>
                      </a:r>
                      <a:endParaRPr sz="8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rPr lang="en-GB" sz="800"/>
                        <a:t>Expand A/B testing</a:t>
                      </a:r>
                      <a:r>
                        <a:rPr lang="en-GB" sz="800"/>
                        <a:t> with more advanced parameters like time, more granular segmentation. Modify marketing campaigns to fit accordingly. Build a response flow that includes marketing KPI’s as well as conversation rate to purchase/transaction response</a:t>
                      </a:r>
                      <a:endParaRPr sz="8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spcBef>
                          <a:spcPts val="0"/>
                        </a:spcBef>
                        <a:spcAft>
                          <a:spcPts val="0"/>
                        </a:spcAft>
                        <a:buNone/>
                      </a:pPr>
                      <a:r>
                        <a:rPr lang="en-GB" sz="800"/>
                        <a:t>Limited</a:t>
                      </a:r>
                      <a:r>
                        <a:rPr lang="en-GB" sz="800"/>
                        <a:t> </a:t>
                      </a:r>
                      <a:r>
                        <a:rPr lang="en-GB" sz="800"/>
                        <a:t>A/B testing for</a:t>
                      </a:r>
                      <a:r>
                        <a:rPr lang="en-GB" sz="800"/>
                        <a:t> outbound marketing core messages and  campaigns. Manual response loop on single campaign performance. Weekly campaign response reporting focused on sales and response/conversion rate.</a:t>
                      </a:r>
                      <a:endParaRPr sz="800"/>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Build A/B testing culture — most Pakistan banks do zero controlled testing</a:t>
                      </a:r>
                    </a:p>
                    <a:p>
                      <a:r>
                        <a:rPr sz="800"/>
                        <a:t>Test Urdu vs English vs bilingual variants — 30%+ response difference</a:t>
                      </a:r>
                    </a:p>
                    <a:p>
                      <a:r>
                        <a:rPr sz="800"/>
                        <a:t>Optimize timing: salary-day (1st-5th), Ramadan, Eid, back-to-school</a:t>
                      </a:r>
                    </a:p>
                    <a:p>
                      <a:r>
                        <a:rPr sz="800"/>
                        <a:t>Measure beyond click — track through to product purchase/activation</a:t>
                      </a:r>
                    </a:p>
                    <a:p>
                      <a:r>
                        <a:rPr sz="800"/>
                        <a:t>2-week measurement window minimum (Pakistan customers take longer to act)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2x response rates from optimized content and timing</a:t>
                      </a:r>
                      <a:endParaRPr/>
                    </a:p>
                    <a:p>
                      <a:r>
                        <a:rPr sz="800"/>
                        <a:t>WhatsApp 3-5x response vs SMS for same offer</a:t>
                      </a:r>
                    </a:p>
                    <a:p>
                      <a:r>
                        <a:rPr sz="800"/>
                        <a:t>40% higher response with Urdu SMS in mass market segment</a:t>
                      </a:r>
                    </a:p>
                    <a:p>
                      <a:r>
                        <a:rPr sz="800"/>
                        <a:t>Data-driven campaign timing for Pakistan-specific patterns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1933" name="Google Shape;1933;p119"/>
          <p:cNvGrpSpPr/>
          <p:nvPr/>
        </p:nvGrpSpPr>
        <p:grpSpPr>
          <a:xfrm>
            <a:off x="469900" y="3839136"/>
            <a:ext cx="8455025" cy="732866"/>
            <a:chOff x="211138" y="3972860"/>
            <a:chExt cx="8713787" cy="642437"/>
          </a:xfrm>
        </p:grpSpPr>
        <p:sp>
          <p:nvSpPr>
            <p:cNvPr id="1934" name="Google Shape;1934;p119"/>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935" name="Google Shape;1935;p119"/>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1936" name="Google Shape;1936;p119"/>
          <p:cNvGrpSpPr/>
          <p:nvPr/>
        </p:nvGrpSpPr>
        <p:grpSpPr>
          <a:xfrm>
            <a:off x="7971865" y="980278"/>
            <a:ext cx="949325" cy="2867825"/>
            <a:chOff x="7941888" y="1062037"/>
            <a:chExt cx="983037" cy="2695575"/>
          </a:xfrm>
        </p:grpSpPr>
        <p:sp>
          <p:nvSpPr>
            <p:cNvPr id="1937" name="Google Shape;1937;p119"/>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938" name="Google Shape;1938;p119"/>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1939" name="Google Shape;1939;p119"/>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Response Optimization</a:t>
            </a:r>
            <a:endParaRPr>
              <a:solidFill>
                <a:schemeClr val="accent6"/>
              </a:solidFill>
            </a:endParaRPr>
          </a:p>
        </p:txBody>
      </p:sp>
      <p:sp>
        <p:nvSpPr>
          <p:cNvPr id="1940" name="Google Shape;1940;p11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cxnSp>
        <p:nvCxnSpPr>
          <p:cNvPr id="1946" name="Google Shape;1946;p12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1947" name="Google Shape;1947;p12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Cross Channel Customer Experience</a:t>
            </a:r>
            <a:endParaRPr/>
          </a:p>
        </p:txBody>
      </p:sp>
      <p:graphicFrame>
        <p:nvGraphicFramePr>
          <p:cNvPr id="1948" name="Google Shape;1948;p12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Develop appropriate and cost effective cross</a:t>
                      </a:r>
                      <a:r>
                        <a:rPr b="1" lang="en-GB" sz="900">
                          <a:solidFill>
                            <a:schemeClr val="dk1"/>
                          </a:solidFill>
                        </a:rPr>
                        <a:t> channel communication and interactions</a:t>
                      </a:r>
                      <a:r>
                        <a:rPr b="1" lang="en-GB" sz="900">
                          <a:solidFill>
                            <a:schemeClr val="dk1"/>
                          </a:solidFill>
                        </a:rPr>
                        <a:t>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Allow customers to connect and interact with a wide range of channels to receive a seamless anywhere, anytime experience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Choose the right mix of channels to engage customers in meaningful two-way dialogues across sales, service and brand building activity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the characteristics of each channel in deciding its appropriateness to enact customer communications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 a channel integration strategy to ensure successful execution of communication programs</a:t>
                      </a:r>
                      <a:endParaRPr/>
                    </a:p>
                    <a:p>
                      <a:r>
                        <a:rPr sz="900"/>
                        <a:t>Seamless experience across 7+ channels: branch (16K+), ATM, mobile, internet, CC, USSD, agent (500K+)</a:t>
                      </a:r>
                    </a:p>
                    <a:p>
                      <a:r>
                        <a:rPr sz="900"/>
                        <a:t>Enable branch-to-digital handoff: start application in branch, complete on mobile app</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t>Core customer data including contact details and preferences</a:t>
                      </a:r>
                      <a:endParaRPr/>
                    </a:p>
                    <a:p>
                      <a:pPr indent="-179388" lvl="0" marL="179388" marR="0" rtl="0" algn="l">
                        <a:spcBef>
                          <a:spcPts val="0"/>
                        </a:spcBef>
                        <a:spcAft>
                          <a:spcPts val="0"/>
                        </a:spcAft>
                        <a:buClr>
                          <a:schemeClr val="dk1"/>
                        </a:buClr>
                        <a:buSzPts val="900"/>
                        <a:buFont typeface="Arial"/>
                        <a:buChar char="•"/>
                      </a:pPr>
                      <a:r>
                        <a:rPr lang="en-GB" sz="900"/>
                        <a:t>Channel / service registrations</a:t>
                      </a:r>
                      <a:endParaRPr/>
                    </a:p>
                    <a:p>
                      <a:pPr indent="-179388" lvl="0" marL="179388" marR="0" rtl="0" algn="l">
                        <a:spcBef>
                          <a:spcPts val="0"/>
                        </a:spcBef>
                        <a:spcAft>
                          <a:spcPts val="0"/>
                        </a:spcAft>
                        <a:buClr>
                          <a:schemeClr val="dk1"/>
                        </a:buClr>
                        <a:buSzPts val="900"/>
                        <a:buFont typeface="Arial"/>
                        <a:buChar char="•"/>
                      </a:pPr>
                      <a:r>
                        <a:rPr lang="en-GB" sz="900"/>
                        <a:t>Collection of social media memberships</a:t>
                      </a:r>
                      <a:endParaRPr/>
                    </a:p>
                    <a:p>
                      <a:pPr indent="-179388" lvl="0" marL="179388" marR="0" rtl="0" algn="l">
                        <a:spcBef>
                          <a:spcPts val="0"/>
                        </a:spcBef>
                        <a:spcAft>
                          <a:spcPts val="0"/>
                        </a:spcAft>
                        <a:buClr>
                          <a:schemeClr val="dk1"/>
                        </a:buClr>
                        <a:buSzPts val="900"/>
                        <a:buFont typeface="Arial"/>
                        <a:buChar char="•"/>
                      </a:pPr>
                      <a:r>
                        <a:rPr lang="en-GB" sz="900"/>
                        <a:t>Customer channel usage data  over time</a:t>
                      </a:r>
                      <a:endParaRPr/>
                    </a:p>
                    <a:p>
                      <a:pPr indent="-179388" lvl="0" marL="179388" marR="0" rtl="0" algn="l">
                        <a:spcBef>
                          <a:spcPts val="0"/>
                        </a:spcBef>
                        <a:spcAft>
                          <a:spcPts val="0"/>
                        </a:spcAft>
                        <a:buClr>
                          <a:schemeClr val="dk1"/>
                        </a:buClr>
                        <a:buSzPts val="900"/>
                        <a:buFont typeface="Arial"/>
                        <a:buChar char="•"/>
                      </a:pPr>
                      <a:r>
                        <a:rPr lang="en-GB" sz="900"/>
                        <a:t>Customer  interactions and communication history </a:t>
                      </a:r>
                      <a:endParaRPr/>
                    </a:p>
                    <a:p>
                      <a:pPr indent="0" lvl="0" marL="0" marR="0" rtl="0" algn="l">
                        <a:spcBef>
                          <a:spcPts val="0"/>
                        </a:spcBef>
                        <a:spcAft>
                          <a:spcPts val="0"/>
                        </a:spcAft>
                        <a:buClr>
                          <a:schemeClr val="dk1"/>
                        </a:buClr>
                        <a:buSzPts val="900"/>
                        <a:buFont typeface="Arial"/>
                        <a:buNone/>
                      </a:pPr>
                      <a:r>
                        <a:rPr b="1" lang="en-GB" sz="900"/>
                        <a:t>Analytics</a:t>
                      </a:r>
                      <a:endParaRPr/>
                    </a:p>
                    <a:p>
                      <a:pPr indent="-179388" lvl="0" marL="179388" marR="0" rtl="0" algn="l">
                        <a:spcBef>
                          <a:spcPts val="0"/>
                        </a:spcBef>
                        <a:spcAft>
                          <a:spcPts val="0"/>
                        </a:spcAft>
                        <a:buClr>
                          <a:schemeClr val="dk1"/>
                        </a:buClr>
                        <a:buSzPts val="900"/>
                        <a:buFont typeface="Arial"/>
                        <a:buChar char="•"/>
                      </a:pPr>
                      <a:r>
                        <a:rPr lang="en-GB" sz="900"/>
                        <a:t>Customer pathing</a:t>
                      </a:r>
                      <a:r>
                        <a:rPr lang="en-GB" sz="900"/>
                        <a:t> and pattern</a:t>
                      </a:r>
                      <a:r>
                        <a:rPr lang="en-GB" sz="900"/>
                        <a:t> analytics to understand customer interactions</a:t>
                      </a:r>
                      <a:r>
                        <a:rPr lang="en-GB" sz="900"/>
                        <a:t> across channels and over time</a:t>
                      </a:r>
                      <a:endParaRPr sz="900"/>
                    </a:p>
                    <a:p>
                      <a:pPr indent="-179388" lvl="0" marL="179388" marR="0" rtl="0" algn="l">
                        <a:spcBef>
                          <a:spcPts val="0"/>
                        </a:spcBef>
                        <a:spcAft>
                          <a:spcPts val="0"/>
                        </a:spcAft>
                        <a:buClr>
                          <a:schemeClr val="dk1"/>
                        </a:buClr>
                        <a:buSzPts val="900"/>
                        <a:buFont typeface="Arial"/>
                        <a:buChar char="•"/>
                      </a:pPr>
                      <a:r>
                        <a:rPr lang="en-GB" sz="900"/>
                        <a:t>Recency / frequency data to understand customer channel preference</a:t>
                      </a:r>
                      <a:endParaRPr/>
                    </a:p>
                    <a:p>
                      <a:pPr indent="-179388" lvl="0" marL="179388" marR="0" rtl="0" algn="l">
                        <a:spcBef>
                          <a:spcPts val="0"/>
                        </a:spcBef>
                        <a:spcAft>
                          <a:spcPts val="0"/>
                        </a:spcAft>
                        <a:buClr>
                          <a:schemeClr val="dk1"/>
                        </a:buClr>
                        <a:buSzPts val="900"/>
                        <a:buFont typeface="Arial"/>
                        <a:buChar char="•"/>
                      </a:pPr>
                      <a:r>
                        <a:rPr lang="en-GB" sz="900"/>
                        <a:t>Channel substitution analysis to understand benefits and costs of changing customer behaviour or migrating channel usage</a:t>
                      </a:r>
                      <a:endParaRPr/>
                    </a:p>
                    <a:p>
                      <a:r>
                        <a:rPr sz="900"/>
                        <a:t>Integrate RAAST/IBFT as interaction channels — they generate customer events</a:t>
                      </a:r>
                    </a:p>
                    <a:p>
                      <a:r>
                        <a:rPr sz="900"/>
                        <a:t>Design for Pakistan's digital divide: full digital urban, assisted Tier 2/3, agent-led rural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 communication reach into your prospect and customer  base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customer experience by more seamless cross channel interactions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Optimise marketing effectiveness through use of more cost effective channels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Reduced costs by encouraging customers to  self serve through  new convenient channels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Create clear development roadmap and secure budget to invest in new channels or advance the capabilities of existing channels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Unified interaction view across all Pakistan banking channels</a:t>
                      </a:r>
                    </a:p>
                    <a:p>
                      <a:r>
                        <a:rPr sz="900"/>
                        <a:t>Cross-channel continuity: agent never asks customer to repeat information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1949" name="Google Shape;1949;p120"/>
          <p:cNvGrpSpPr/>
          <p:nvPr/>
        </p:nvGrpSpPr>
        <p:grpSpPr>
          <a:xfrm>
            <a:off x="6659508" y="225152"/>
            <a:ext cx="2432605" cy="1508418"/>
            <a:chOff x="6030133" y="723902"/>
            <a:chExt cx="2432605" cy="1508418"/>
          </a:xfrm>
        </p:grpSpPr>
        <p:sp>
          <p:nvSpPr>
            <p:cNvPr id="1950" name="Google Shape;1950;p120"/>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1951" name="Google Shape;1951;p120"/>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52" name="Google Shape;1952;p120"/>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53" name="Google Shape;1953;p120"/>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54" name="Google Shape;1954;p120"/>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955" name="Google Shape;1955;p120"/>
            <p:cNvGrpSpPr/>
            <p:nvPr/>
          </p:nvGrpSpPr>
          <p:grpSpPr>
            <a:xfrm>
              <a:off x="8107751" y="1342792"/>
              <a:ext cx="276507" cy="393460"/>
              <a:chOff x="6954288" y="1678075"/>
              <a:chExt cx="679456" cy="947737"/>
            </a:xfrm>
          </p:grpSpPr>
          <p:sp>
            <p:nvSpPr>
              <p:cNvPr id="1956" name="Google Shape;1956;p120"/>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57" name="Google Shape;1957;p120"/>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58" name="Google Shape;1958;p120"/>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59" name="Google Shape;1959;p120"/>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1960" name="Google Shape;1960;p120"/>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1961" name="Google Shape;1961;p120"/>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2" name="Google Shape;1962;p120"/>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3" name="Google Shape;1963;p120"/>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1964" name="Google Shape;1964;p120"/>
            <p:cNvGrpSpPr/>
            <p:nvPr/>
          </p:nvGrpSpPr>
          <p:grpSpPr>
            <a:xfrm>
              <a:off x="6671216" y="765814"/>
              <a:ext cx="308250" cy="494711"/>
              <a:chOff x="2125012" y="-1063625"/>
              <a:chExt cx="1420813" cy="2235201"/>
            </a:xfrm>
          </p:grpSpPr>
          <p:sp>
            <p:nvSpPr>
              <p:cNvPr id="1965" name="Google Shape;1965;p120"/>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6" name="Google Shape;1966;p120"/>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1967" name="Google Shape;1967;p120"/>
            <p:cNvGrpSpPr/>
            <p:nvPr/>
          </p:nvGrpSpPr>
          <p:grpSpPr>
            <a:xfrm>
              <a:off x="7987780" y="1794063"/>
              <a:ext cx="243489" cy="387124"/>
              <a:chOff x="6417856" y="340853"/>
              <a:chExt cx="217304" cy="589385"/>
            </a:xfrm>
          </p:grpSpPr>
          <p:sp>
            <p:nvSpPr>
              <p:cNvPr id="1968" name="Google Shape;1968;p120"/>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69" name="Google Shape;1969;p120"/>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1970" name="Google Shape;1970;p120"/>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1971" name="Google Shape;1971;p120"/>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1972" name="Google Shape;1972;p120"/>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1973" name="Google Shape;1973;p120"/>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1974" name="Google Shape;1974;p12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1975" name="Google Shape;1975;p120"/>
          <p:cNvGrpSpPr/>
          <p:nvPr/>
        </p:nvGrpSpPr>
        <p:grpSpPr>
          <a:xfrm>
            <a:off x="7717533" y="4360377"/>
            <a:ext cx="1058348" cy="347375"/>
            <a:chOff x="7651698" y="4287227"/>
            <a:chExt cx="1058348" cy="347375"/>
          </a:xfrm>
        </p:grpSpPr>
        <p:grpSp>
          <p:nvGrpSpPr>
            <p:cNvPr id="1976" name="Google Shape;1976;p120"/>
            <p:cNvGrpSpPr/>
            <p:nvPr/>
          </p:nvGrpSpPr>
          <p:grpSpPr>
            <a:xfrm>
              <a:off x="7714163" y="4337598"/>
              <a:ext cx="995883" cy="297004"/>
              <a:chOff x="7711013" y="3986494"/>
              <a:chExt cx="995883" cy="297004"/>
            </a:xfrm>
          </p:grpSpPr>
          <p:sp>
            <p:nvSpPr>
              <p:cNvPr id="1977" name="Google Shape;1977;p12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1978" name="Google Shape;1978;p120"/>
              <p:cNvGrpSpPr/>
              <p:nvPr/>
            </p:nvGrpSpPr>
            <p:grpSpPr>
              <a:xfrm>
                <a:off x="7711013" y="4002615"/>
                <a:ext cx="281520" cy="241973"/>
                <a:chOff x="5652748" y="4066000"/>
                <a:chExt cx="906498" cy="747974"/>
              </a:xfrm>
            </p:grpSpPr>
            <p:sp>
              <p:nvSpPr>
                <p:cNvPr id="1979" name="Google Shape;1979;p12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1980" name="Google Shape;1980;p12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1981" name="Google Shape;1981;p12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1982" name="Google Shape;1982;p120">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7" name="Shape 1987"/>
        <p:cNvGrpSpPr/>
        <p:nvPr/>
      </p:nvGrpSpPr>
      <p:grpSpPr>
        <a:xfrm>
          <a:off x="0" y="0"/>
          <a:ext cx="0" cy="0"/>
          <a:chOff x="0" y="0"/>
          <a:chExt cx="0" cy="0"/>
        </a:xfrm>
      </p:grpSpPr>
      <p:graphicFrame>
        <p:nvGraphicFramePr>
          <p:cNvPr id="1988" name="Google Shape;1988;p121"/>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Comprehensive channel coverage across all inbound and outbound channels enabling omni-channel campaign execution across a range of business objectives. Extended reach into digital channels with ability to target at  one to one level for non authenticated web site , mobile (anonymous user)and 3rd party and social media sites using paid media.</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Comprehensive channel coverage across all inbound and outbound channels enabling omni-channel campaign execution and customer interactions across a range of business objectives.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Expanding range of channels integrated to increase customer reach including some inbound channels such as Call Centres, physical locations (branches, stores) or  online. Channel selection utilises intelligent mix of inbound and outbound channels aligning business objectives with customer preference and usage patterns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Expanding range of channels integrated to increase customer reach including some inbound channels such as Call Centres, physical locations (branches, stores) or online. Channel selection starts to be aligned to customer preference and usage patterns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Traditional outbound channels as such direct mail, email and telephone primarily used for customer communication. Channel selection based on ability to meet volume based targets.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Unified interaction view across 7 channels (branch, ATM, mobile, USSD, CC, agent, WhatsApp)</a:t>
                      </a:r>
                    </a:p>
                    <a:p>
                      <a:r>
                        <a:rPr sz="800"/>
                        <a:t>Branch-to-digital handoff: start in branch, complete on mobile</a:t>
                      </a:r>
                    </a:p>
                    <a:p>
                      <a:r>
                        <a:rPr sz="800"/>
                        <a:t>USSD optimization for 30-40% feature phone users</a:t>
                      </a:r>
                    </a:p>
                    <a:p>
                      <a:r>
                        <a:rPr sz="800"/>
                        <a:t>Agent-to-bank transition path for financial inclusion customers</a:t>
                      </a:r>
                    </a:p>
                    <a:p>
                      <a:r>
                        <a:rPr sz="800"/>
                        <a:t>WhatsApp conversational banking integration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Eliminate channel silos: RM sees full digital + branch history</a:t>
                      </a:r>
                      <a:endParaRPr/>
                    </a:p>
                    <a:p>
                      <a:r>
                        <a:rPr sz="800"/>
                        <a:t>Increased digital adoption through smooth branch handoff</a:t>
                      </a:r>
                    </a:p>
                    <a:p>
                      <a:r>
                        <a:rPr sz="800"/>
                        <a:t>Financial inclusion retention: agent &gt; branch &gt; digital journey</a:t>
                      </a:r>
                    </a:p>
                    <a:p>
                      <a:r>
                        <a:rPr sz="800"/>
                        <a:t>Reduced service cost via WhatsApp deflection of routine queries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1989" name="Google Shape;1989;p121"/>
          <p:cNvGrpSpPr/>
          <p:nvPr/>
        </p:nvGrpSpPr>
        <p:grpSpPr>
          <a:xfrm>
            <a:off x="469900" y="3839136"/>
            <a:ext cx="8455025" cy="732866"/>
            <a:chOff x="211138" y="3972860"/>
            <a:chExt cx="8713787" cy="642437"/>
          </a:xfrm>
        </p:grpSpPr>
        <p:sp>
          <p:nvSpPr>
            <p:cNvPr id="1990" name="Google Shape;1990;p121"/>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991" name="Google Shape;1991;p121"/>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1992" name="Google Shape;1992;p121"/>
          <p:cNvGrpSpPr/>
          <p:nvPr/>
        </p:nvGrpSpPr>
        <p:grpSpPr>
          <a:xfrm>
            <a:off x="7971865" y="938151"/>
            <a:ext cx="949325" cy="2707573"/>
            <a:chOff x="7941888" y="1062037"/>
            <a:chExt cx="983037" cy="2695575"/>
          </a:xfrm>
        </p:grpSpPr>
        <p:sp>
          <p:nvSpPr>
            <p:cNvPr id="1993" name="Google Shape;1993;p121"/>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994" name="Google Shape;1994;p121"/>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1995" name="Google Shape;1995;p121"/>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Cross Channel Customer Experience</a:t>
            </a:r>
            <a:endParaRPr/>
          </a:p>
        </p:txBody>
      </p:sp>
      <p:sp>
        <p:nvSpPr>
          <p:cNvPr id="1996" name="Google Shape;1996;p12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cxnSp>
        <p:nvCxnSpPr>
          <p:cNvPr id="2002" name="Google Shape;2002;p12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003" name="Google Shape;2003;p12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Contextual Decisioning</a:t>
            </a:r>
            <a:endParaRPr sz="1600"/>
          </a:p>
        </p:txBody>
      </p:sp>
      <p:graphicFrame>
        <p:nvGraphicFramePr>
          <p:cNvPr id="2004" name="Google Shape;2004;p122"/>
          <p:cNvGraphicFramePr/>
          <p:nvPr/>
        </p:nvGraphicFramePr>
        <p:xfrm>
          <a:off x="457200" y="70130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Make interactions more relevant by considering other events over space and time as context of the customer interaction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There is an increasing number of opportunities to interact with customers through an expanding number of channels and devices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As the duration of interaction cycles reduces and the frequency of interactions increase customer dialogues need to be orchestrated in real time considering short term context in order that the communication remains meaningful and relevant</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and consider the detailed context of the current interaction</a:t>
                      </a:r>
                      <a:r>
                        <a:rPr b="0" lang="en-GB" sz="900">
                          <a:solidFill>
                            <a:schemeClr val="dk1"/>
                          </a:solidFill>
                        </a:rPr>
                        <a:t> </a:t>
                      </a:r>
                      <a:r>
                        <a:rPr b="0" lang="en-GB" sz="900">
                          <a:solidFill>
                            <a:schemeClr val="dk1"/>
                          </a:solidFill>
                        </a:rPr>
                        <a:t> as </a:t>
                      </a:r>
                      <a:r>
                        <a:rPr b="0" lang="en-GB" sz="900">
                          <a:solidFill>
                            <a:schemeClr val="dk1"/>
                          </a:solidFill>
                        </a:rPr>
                        <a:t> well as past events to deliver more relevant message or offer</a:t>
                      </a:r>
                      <a:endParaRPr b="0" sz="900">
                        <a:solidFill>
                          <a:schemeClr val="dk1"/>
                        </a:solidFill>
                      </a:endParaRPr>
                    </a:p>
                    <a:p>
                      <a:r>
                        <a:rPr sz="900"/>
                        <a:t>Use RAAST/IBFT transaction context to trigger real-time offers (salary &gt; loan within 1 hour)</a:t>
                      </a:r>
                    </a:p>
                    <a:p>
                      <a:r>
                        <a:rPr sz="900"/>
                        <a:t>Mobile app context: browsing home finance page triggers RM callback or WhatsApp message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Context</a:t>
                      </a:r>
                      <a:r>
                        <a:rPr b="0" lang="en-GB" sz="900">
                          <a:solidFill>
                            <a:schemeClr val="dk1"/>
                          </a:solidFill>
                        </a:rPr>
                        <a:t> of the current customer online or offline process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Time sensitive detail</a:t>
                      </a:r>
                      <a:r>
                        <a:rPr b="0" lang="en-GB" sz="900">
                          <a:solidFill>
                            <a:schemeClr val="dk1"/>
                          </a:solidFill>
                        </a:rPr>
                        <a:t> context </a:t>
                      </a:r>
                      <a:r>
                        <a:rPr b="0" lang="en-GB" sz="900">
                          <a:solidFill>
                            <a:schemeClr val="dk1"/>
                          </a:solidFill>
                        </a:rPr>
                        <a:t>such as device / location / time spent on page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Summarised customer profile to be used in the decisioning logic</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Pre scored models and customer segmentations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Single Interaction history in order to apply contact rules </a:t>
                      </a:r>
                      <a:endParaRPr/>
                    </a:p>
                    <a:p>
                      <a:pPr indent="0" lvl="0" marL="0" marR="0" rtl="0" algn="l">
                        <a:spcBef>
                          <a:spcPts val="0"/>
                        </a:spcBef>
                        <a:spcAft>
                          <a:spcPts val="0"/>
                        </a:spcAft>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Real-time arbitration of customer offers and treatments to deliver the next best action based on the current context</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Self learning algorithms able to optimize response as data profiles change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Complex, time based event processing</a:t>
                      </a:r>
                      <a:endParaRPr/>
                    </a:p>
                    <a:p>
                      <a:r>
                        <a:rPr sz="900"/>
                        <a:t>Branch context: customer queuing triggers relevant product on branch display</a:t>
                      </a:r>
                    </a:p>
                    <a:p>
                      <a:r>
                        <a:rPr sz="900"/>
                        <a:t>Islamic calendar context: Ramadan triggers Zakat calculator + Islamic investment offers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relevance and response to offers/messaging through</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Ability to respond to current actions and behaviour of the customer in the channel rather than based on a previous day</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Ability to orchestrate interactions occurring across different channels within a business day – to reinforce or prevent the presentation of a product, service or offer</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Creating true omni-channel customer treatments - such as promotion of location based offers</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Enrich existing recommendation with a specific event or series of combined relevant events as a trigger that raises the need for the action</a:t>
                      </a:r>
                      <a:endParaRPr sz="900" u="none" cap="none" strike="noStrike">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Location-based: near branch &gt; walk-in notification, at mall &gt; POS cashback offer</a:t>
                      </a:r>
                    </a:p>
                    <a:p>
                      <a:r>
                        <a:rPr sz="900"/>
                        <a:t>Real-time contextual offers vs current batch-driven, context-free SMS blasts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005" name="Google Shape;2005;p122"/>
          <p:cNvGrpSpPr/>
          <p:nvPr/>
        </p:nvGrpSpPr>
        <p:grpSpPr>
          <a:xfrm>
            <a:off x="6659508" y="225152"/>
            <a:ext cx="2432605" cy="1508418"/>
            <a:chOff x="6030133" y="723902"/>
            <a:chExt cx="2432605" cy="1508418"/>
          </a:xfrm>
        </p:grpSpPr>
        <p:sp>
          <p:nvSpPr>
            <p:cNvPr id="2006" name="Google Shape;2006;p122"/>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007" name="Google Shape;2007;p122"/>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08" name="Google Shape;2008;p122"/>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09" name="Google Shape;2009;p122"/>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10" name="Google Shape;2010;p122"/>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11" name="Google Shape;2011;p122"/>
            <p:cNvGrpSpPr/>
            <p:nvPr/>
          </p:nvGrpSpPr>
          <p:grpSpPr>
            <a:xfrm>
              <a:off x="8107751" y="1342792"/>
              <a:ext cx="276507" cy="393460"/>
              <a:chOff x="6954288" y="1678075"/>
              <a:chExt cx="679456" cy="947737"/>
            </a:xfrm>
          </p:grpSpPr>
          <p:sp>
            <p:nvSpPr>
              <p:cNvPr id="2012" name="Google Shape;2012;p122"/>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3" name="Google Shape;2013;p122"/>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4" name="Google Shape;2014;p122"/>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5" name="Google Shape;2015;p122"/>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16" name="Google Shape;2016;p122"/>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017" name="Google Shape;2017;p122"/>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18" name="Google Shape;2018;p122"/>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19" name="Google Shape;2019;p122"/>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20" name="Google Shape;2020;p122"/>
            <p:cNvGrpSpPr/>
            <p:nvPr/>
          </p:nvGrpSpPr>
          <p:grpSpPr>
            <a:xfrm>
              <a:off x="6671216" y="765814"/>
              <a:ext cx="308250" cy="494711"/>
              <a:chOff x="2125012" y="-1063625"/>
              <a:chExt cx="1420813" cy="2235201"/>
            </a:xfrm>
          </p:grpSpPr>
          <p:sp>
            <p:nvSpPr>
              <p:cNvPr id="2021" name="Google Shape;2021;p122"/>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22" name="Google Shape;2022;p122"/>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023" name="Google Shape;2023;p122"/>
            <p:cNvGrpSpPr/>
            <p:nvPr/>
          </p:nvGrpSpPr>
          <p:grpSpPr>
            <a:xfrm>
              <a:off x="7987780" y="1794063"/>
              <a:ext cx="243489" cy="387124"/>
              <a:chOff x="6417856" y="340853"/>
              <a:chExt cx="217304" cy="589385"/>
            </a:xfrm>
          </p:grpSpPr>
          <p:sp>
            <p:nvSpPr>
              <p:cNvPr id="2024" name="Google Shape;2024;p122"/>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25" name="Google Shape;2025;p122"/>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026" name="Google Shape;2026;p122"/>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027" name="Google Shape;2027;p122"/>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028" name="Google Shape;2028;p122"/>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29" name="Google Shape;2029;p122"/>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030" name="Google Shape;2030;p12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031" name="Google Shape;2031;p122"/>
          <p:cNvGrpSpPr/>
          <p:nvPr/>
        </p:nvGrpSpPr>
        <p:grpSpPr>
          <a:xfrm>
            <a:off x="7717533" y="4360377"/>
            <a:ext cx="1058348" cy="347375"/>
            <a:chOff x="7651698" y="4287227"/>
            <a:chExt cx="1058348" cy="347375"/>
          </a:xfrm>
        </p:grpSpPr>
        <p:grpSp>
          <p:nvGrpSpPr>
            <p:cNvPr id="2032" name="Google Shape;2032;p122"/>
            <p:cNvGrpSpPr/>
            <p:nvPr/>
          </p:nvGrpSpPr>
          <p:grpSpPr>
            <a:xfrm>
              <a:off x="7714163" y="4337598"/>
              <a:ext cx="995883" cy="297004"/>
              <a:chOff x="7711013" y="3986494"/>
              <a:chExt cx="995883" cy="297004"/>
            </a:xfrm>
          </p:grpSpPr>
          <p:sp>
            <p:nvSpPr>
              <p:cNvPr id="2033" name="Google Shape;2033;p12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034" name="Google Shape;2034;p122"/>
              <p:cNvGrpSpPr/>
              <p:nvPr/>
            </p:nvGrpSpPr>
            <p:grpSpPr>
              <a:xfrm>
                <a:off x="7711013" y="4002615"/>
                <a:ext cx="281520" cy="241973"/>
                <a:chOff x="5652748" y="4066000"/>
                <a:chExt cx="906498" cy="747974"/>
              </a:xfrm>
            </p:grpSpPr>
            <p:sp>
              <p:nvSpPr>
                <p:cNvPr id="2035" name="Google Shape;2035;p12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36" name="Google Shape;2036;p12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037" name="Google Shape;2037;p12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038" name="Google Shape;2038;p122">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3" name="Shape 2043"/>
        <p:cNvGrpSpPr/>
        <p:nvPr/>
      </p:nvGrpSpPr>
      <p:grpSpPr>
        <a:xfrm>
          <a:off x="0" y="0"/>
          <a:ext cx="0" cy="0"/>
          <a:chOff x="0" y="0"/>
          <a:chExt cx="0" cy="0"/>
        </a:xfrm>
      </p:grpSpPr>
      <p:graphicFrame>
        <p:nvGraphicFramePr>
          <p:cNvPr id="2044" name="Google Shape;2044;p123"/>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Automated real-time interactions driven by context input from complex events involving location, transaction detail, step of process, status of request or browsing history plus automated response adaptation driving more refined decisioning and improved relevance of offers.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Micro context identified in channel such as location, transaction detail, step of process, status of request or browsing history driving improved relevance of offers.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Context identified, classified and passed all from inbound channels including face to face and digital channels. Allows context of interaction to be included in arbitration / prioritisation rules.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Some channel systems able to identify high level process being undertaken for customer and pass this information to decision environment at point of interaction. Context drives simple weighted prioritisation of batch pre-generated offers.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Leads/customer segments and offers  generated in batch and presented to channels without regard for context of customer interaction. Manual decisioning used in some channels to select from multiple offers that fits best with interaction reason.</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Salary credit event trigger for instant pre-approved offers</a:t>
                      </a:r>
                    </a:p>
                    <a:p>
                      <a:r>
                        <a:rPr sz="800"/>
                        <a:t>Ramadan contextual engine: Islamic product promotion, post-iftar timing</a:t>
                      </a:r>
                    </a:p>
                    <a:p>
                      <a:r>
                        <a:rPr sz="800"/>
                        <a:t>Branch walk-in context: RM tablet with 360° view + recommended action</a:t>
                      </a:r>
                    </a:p>
                    <a:p>
                      <a:r>
                        <a:rPr sz="800"/>
                        <a:t>RAAST/IBFT large transfer triggers: wealth management or retention follow-up</a:t>
                      </a:r>
                    </a:p>
                    <a:p>
                      <a:r>
                        <a:rPr sz="800"/>
                        <a:t>Post-complaint suppression rules (14-day marketing blackout)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10-15% offer response when contextually triggered vs 1-3% batch</a:t>
                      </a:r>
                      <a:endParaRPr/>
                    </a:p>
                    <a:p>
                      <a:r>
                        <a:rPr sz="800"/>
                        <a:t>Salary-day offers: highest conversion window in Pakistan banking</a:t>
                      </a:r>
                    </a:p>
                    <a:p>
                      <a:r>
                        <a:rPr sz="800"/>
                        <a:t>Branch RM productivity: data-driven recommendations vs intuition</a:t>
                      </a:r>
                    </a:p>
                    <a:p>
                      <a:r>
                        <a:rPr sz="800"/>
                        <a:t>Customer satisfaction from relevant, timely contextual offers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045" name="Google Shape;2045;p123"/>
          <p:cNvGrpSpPr/>
          <p:nvPr/>
        </p:nvGrpSpPr>
        <p:grpSpPr>
          <a:xfrm>
            <a:off x="469900" y="3839136"/>
            <a:ext cx="8455025" cy="732866"/>
            <a:chOff x="211138" y="3972860"/>
            <a:chExt cx="8713787" cy="642437"/>
          </a:xfrm>
        </p:grpSpPr>
        <p:sp>
          <p:nvSpPr>
            <p:cNvPr id="2046" name="Google Shape;2046;p123"/>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047" name="Google Shape;2047;p123"/>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048" name="Google Shape;2048;p123"/>
          <p:cNvGrpSpPr/>
          <p:nvPr/>
        </p:nvGrpSpPr>
        <p:grpSpPr>
          <a:xfrm>
            <a:off x="7971865" y="980279"/>
            <a:ext cx="949325" cy="2677322"/>
            <a:chOff x="7941888" y="1062037"/>
            <a:chExt cx="983037" cy="2695575"/>
          </a:xfrm>
        </p:grpSpPr>
        <p:sp>
          <p:nvSpPr>
            <p:cNvPr id="2049" name="Google Shape;2049;p123"/>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050" name="Google Shape;2050;p123"/>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051" name="Google Shape;2051;p123"/>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Contextual Decisioning</a:t>
            </a:r>
            <a:endParaRPr>
              <a:solidFill>
                <a:schemeClr val="accent6"/>
              </a:solidFill>
            </a:endParaRPr>
          </a:p>
        </p:txBody>
      </p:sp>
      <p:sp>
        <p:nvSpPr>
          <p:cNvPr id="2052" name="Google Shape;2052;p12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cxnSp>
        <p:nvCxnSpPr>
          <p:cNvPr id="2058" name="Google Shape;2058;p12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059" name="Google Shape;2059;p12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Call/Contact Center Optimization</a:t>
            </a:r>
            <a:endParaRPr sz="1600"/>
          </a:p>
        </p:txBody>
      </p:sp>
      <p:graphicFrame>
        <p:nvGraphicFramePr>
          <p:cNvPr id="2060" name="Google Shape;2060;p124"/>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200">
                          <a:solidFill>
                            <a:schemeClr val="dk2"/>
                          </a:solidFill>
                          <a:latin typeface="Century Gothic"/>
                          <a:ea typeface="Century Gothic"/>
                          <a:cs typeface="Century Gothic"/>
                          <a:sym typeface="Century Gothic"/>
                        </a:rPr>
                        <a:t>Business Objectives</a:t>
                      </a:r>
                      <a:endParaRPr b="1" sz="12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Arial"/>
                        <a:buNone/>
                      </a:pPr>
                      <a:r>
                        <a:rPr b="1" i="0" lang="en-GB" sz="900" u="none" cap="none" strike="noStrike">
                          <a:solidFill>
                            <a:schemeClr val="dk1"/>
                          </a:solidFill>
                          <a:latin typeface="Century Gothic"/>
                          <a:ea typeface="Century Gothic"/>
                          <a:cs typeface="Century Gothic"/>
                          <a:sym typeface="Century Gothic"/>
                        </a:rPr>
                        <a:t>Increase the first call resolution and reduce customers returning calls on same topic</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Capture the contact with customers across channels like IVR, call center, chat, social media etc. to build a comprehensive view and actionable insights on how to interact with customers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Improve interactions with customers by utilizing techniques such as topic and sentiment analysis for call classification,  prediction of customers who may be about to complain, prediction of call volumes based on “hot topics” from other channels.</a:t>
                      </a:r>
                      <a:endParaRPr/>
                    </a:p>
                    <a:p>
                      <a:pPr indent="-171450" lvl="0" marL="171450" marR="0" rtl="0" algn="l">
                        <a:lnSpc>
                          <a:spcPct val="100000"/>
                        </a:lnSpc>
                        <a:spcBef>
                          <a:spcPts val="0"/>
                        </a:spcBef>
                        <a:spcAft>
                          <a:spcPts val="0"/>
                        </a:spcAft>
                        <a:buClr>
                          <a:schemeClr val="dk1"/>
                        </a:buClr>
                        <a:buSzPts val="900"/>
                        <a:buFont typeface="Arial"/>
                        <a:buChar char="•"/>
                      </a:pPr>
                      <a:r>
                        <a:rPr b="0" i="0" lang="en-GB" sz="900" u="none" cap="none" strike="noStrike">
                          <a:solidFill>
                            <a:schemeClr val="dk1"/>
                          </a:solidFill>
                          <a:latin typeface="Century Gothic"/>
                          <a:ea typeface="Century Gothic"/>
                          <a:cs typeface="Century Gothic"/>
                          <a:sym typeface="Century Gothic"/>
                        </a:rPr>
                        <a:t>Increase the up-selling and cross-selling capabilities of additional products and services by CSRs at the moment of interaction.</a:t>
                      </a:r>
                      <a:endParaRPr/>
                    </a:p>
                    <a:p>
                      <a:r>
                        <a:rPr sz="900"/>
                        <a:t>Optimize Urdu/English bilingual contact center (some banks add Sindhi, Pashto, Punjabi IVR)</a:t>
                      </a:r>
                    </a:p>
                    <a:p>
                      <a:r>
                        <a:rPr sz="900"/>
                        <a:t>Provide agents with customer 360 view: RAAST/IBFT transactions, app activity, branch visits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latin typeface="Century Gothic"/>
                          <a:ea typeface="Century Gothic"/>
                          <a:cs typeface="Century Gothic"/>
                          <a:sym typeface="Century Gothic"/>
                        </a:rPr>
                        <a:t>Data:</a:t>
                      </a:r>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Interaction</a:t>
                      </a:r>
                      <a:r>
                        <a:rPr b="0" i="0" lang="en-GB" sz="900">
                          <a:latin typeface="Century Gothic"/>
                          <a:ea typeface="Century Gothic"/>
                          <a:cs typeface="Century Gothic"/>
                          <a:sym typeface="Century Gothic"/>
                        </a:rPr>
                        <a:t> </a:t>
                      </a:r>
                      <a:r>
                        <a:rPr b="0" i="0" lang="en-GB" sz="900">
                          <a:latin typeface="Century Gothic"/>
                          <a:ea typeface="Century Gothic"/>
                          <a:cs typeface="Century Gothic"/>
                          <a:sym typeface="Century Gothic"/>
                        </a:rPr>
                        <a:t>data</a:t>
                      </a:r>
                      <a:r>
                        <a:rPr b="0" i="0" lang="en-GB" sz="900">
                          <a:latin typeface="Century Gothic"/>
                          <a:ea typeface="Century Gothic"/>
                          <a:cs typeface="Century Gothic"/>
                          <a:sym typeface="Century Gothic"/>
                        </a:rPr>
                        <a:t> </a:t>
                      </a:r>
                      <a:r>
                        <a:rPr b="0" lang="en-GB" sz="900">
                          <a:latin typeface="Century Gothic"/>
                          <a:ea typeface="Century Gothic"/>
                          <a:cs typeface="Century Gothic"/>
                          <a:sym typeface="Century Gothic"/>
                        </a:rPr>
                        <a:t>from multiple contact channels like IVR, Call center, CRM systems, email, chat functions, social media,</a:t>
                      </a:r>
                      <a:r>
                        <a:rPr b="0" lang="en-GB" sz="900">
                          <a:latin typeface="Century Gothic"/>
                          <a:ea typeface="Century Gothic"/>
                          <a:cs typeface="Century Gothic"/>
                          <a:sym typeface="Century Gothic"/>
                        </a:rPr>
                        <a:t> social </a:t>
                      </a:r>
                      <a:r>
                        <a:rPr b="0" lang="en-GB" sz="900">
                          <a:latin typeface="Century Gothic"/>
                          <a:ea typeface="Century Gothic"/>
                          <a:cs typeface="Century Gothic"/>
                          <a:sym typeface="Century Gothic"/>
                        </a:rPr>
                        <a:t>chat etc.</a:t>
                      </a:r>
                      <a:endParaRPr b="0" sz="900">
                        <a:latin typeface="Century Gothic"/>
                        <a:ea typeface="Century Gothic"/>
                        <a:cs typeface="Century Gothic"/>
                        <a:sym typeface="Century Gothic"/>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Data </a:t>
                      </a:r>
                      <a:r>
                        <a:rPr b="0" i="0" lang="en-GB" sz="900" u="none">
                          <a:latin typeface="Century Gothic"/>
                          <a:ea typeface="Century Gothic"/>
                          <a:cs typeface="Century Gothic"/>
                          <a:sym typeface="Century Gothic"/>
                        </a:rPr>
                        <a:t>format </a:t>
                      </a:r>
                      <a:r>
                        <a:rPr b="0" i="0" lang="en-GB" sz="900">
                          <a:latin typeface="Century Gothic"/>
                          <a:ea typeface="Century Gothic"/>
                          <a:cs typeface="Century Gothic"/>
                          <a:sym typeface="Century Gothic"/>
                        </a:rPr>
                        <a:t>can be text, voice, forms etc. </a:t>
                      </a:r>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Customer events</a:t>
                      </a:r>
                      <a:endParaRPr/>
                    </a:p>
                    <a:p>
                      <a:pPr indent="-179388" lvl="0" marL="179388"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Customer profile and 360 view</a:t>
                      </a:r>
                      <a:endParaRPr/>
                    </a:p>
                    <a:p>
                      <a:pPr indent="0" lvl="0" marL="0" marR="0" rtl="0" algn="l">
                        <a:spcBef>
                          <a:spcPts val="0"/>
                        </a:spcBef>
                        <a:spcAft>
                          <a:spcPts val="0"/>
                        </a:spcAft>
                        <a:buNone/>
                      </a:pPr>
                      <a:r>
                        <a:rPr b="1" lang="en-GB" sz="900">
                          <a:latin typeface="Century Gothic"/>
                          <a:ea typeface="Century Gothic"/>
                          <a:cs typeface="Century Gothic"/>
                          <a:sym typeface="Century Gothic"/>
                        </a:rPr>
                        <a:t>Analytics</a:t>
                      </a:r>
                      <a:endParaRPr b="0" sz="900">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Create sentiment and key words from text analytics</a:t>
                      </a:r>
                      <a:endParaRPr/>
                    </a:p>
                    <a:p>
                      <a:pPr indent="-285750" lvl="0" marL="285750" marR="0" rtl="0" algn="l">
                        <a:lnSpc>
                          <a:spcPct val="100000"/>
                        </a:lnSpc>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Enhance customer (prediction) models</a:t>
                      </a:r>
                      <a:r>
                        <a:rPr b="0" i="0" lang="en-GB" sz="900">
                          <a:latin typeface="Century Gothic"/>
                          <a:ea typeface="Century Gothic"/>
                          <a:cs typeface="Century Gothic"/>
                          <a:sym typeface="Century Gothic"/>
                        </a:rPr>
                        <a:t> and scoring </a:t>
                      </a:r>
                      <a:r>
                        <a:rPr b="0" i="0" lang="en-GB" sz="900">
                          <a:latin typeface="Century Gothic"/>
                          <a:ea typeface="Century Gothic"/>
                          <a:cs typeface="Century Gothic"/>
                          <a:sym typeface="Century Gothic"/>
                        </a:rPr>
                        <a:t>like churn, propensity to buy, customer experience index etc</a:t>
                      </a:r>
                      <a:endParaRPr b="0" i="0" sz="900">
                        <a:latin typeface="Century Gothic"/>
                        <a:ea typeface="Century Gothic"/>
                        <a:cs typeface="Century Gothic"/>
                        <a:sym typeface="Century Gothic"/>
                      </a:endParaRPr>
                    </a:p>
                    <a:p>
                      <a:pPr indent="-285750" lvl="0" marL="285750" marR="0" rtl="0" algn="l">
                        <a:spcBef>
                          <a:spcPts val="0"/>
                        </a:spcBef>
                        <a:spcAft>
                          <a:spcPts val="0"/>
                        </a:spcAft>
                        <a:buClr>
                          <a:schemeClr val="dk1"/>
                        </a:buClr>
                        <a:buSzPts val="900"/>
                        <a:buFont typeface="Arial"/>
                        <a:buChar char="•"/>
                      </a:pPr>
                      <a:r>
                        <a:rPr b="0" i="0" lang="en-GB" sz="900">
                          <a:latin typeface="Century Gothic"/>
                          <a:ea typeface="Century Gothic"/>
                          <a:cs typeface="Century Gothic"/>
                          <a:sym typeface="Century Gothic"/>
                        </a:rPr>
                        <a:t>Identify path/customer journey </a:t>
                      </a:r>
                      <a:r>
                        <a:rPr b="0" i="0" lang="en-GB" sz="900">
                          <a:latin typeface="Century Gothic"/>
                          <a:ea typeface="Century Gothic"/>
                          <a:cs typeface="Century Gothic"/>
                          <a:sym typeface="Century Gothic"/>
                        </a:rPr>
                        <a:t>for process optimization, call center agent resolution, broken processes etc. </a:t>
                      </a:r>
                      <a:endParaRPr/>
                    </a:p>
                    <a:p>
                      <a:r>
                        <a:rPr sz="900"/>
                        <a:t>Implement sentiment analysis on call recordings — detect frustrated customers in real-time</a:t>
                      </a:r>
                    </a:p>
                    <a:p>
                      <a:r>
                        <a:rPr sz="900"/>
                        <a:t>Pre-load customer context when CNIC/mobile number identified via IVR</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900"/>
                        <a:buFont typeface="Arial"/>
                        <a:buNone/>
                      </a:pPr>
                      <a:r>
                        <a:rPr b="1" i="0" lang="en-GB" sz="900">
                          <a:latin typeface="Century Gothic"/>
                          <a:ea typeface="Century Gothic"/>
                          <a:cs typeface="Century Gothic"/>
                          <a:sym typeface="Century Gothic"/>
                        </a:rPr>
                        <a:t>Improve custoemr experience with call center and optimize call center staff operations</a:t>
                      </a:r>
                      <a:endParaRPr b="1" i="0" sz="900">
                        <a:latin typeface="Century Gothic"/>
                        <a:ea typeface="Century Gothic"/>
                        <a:cs typeface="Century Gothic"/>
                        <a:sym typeface="Century Gothic"/>
                      </a:endParaRPr>
                    </a:p>
                    <a:p>
                      <a:pPr indent="0" lvl="0" marL="0" marR="0" rtl="0" algn="l">
                        <a:spcBef>
                          <a:spcPts val="0"/>
                        </a:spcBef>
                        <a:spcAft>
                          <a:spcPts val="0"/>
                        </a:spcAft>
                        <a:buClr>
                          <a:schemeClr val="dk1"/>
                        </a:buClr>
                        <a:buSzPts val="900"/>
                        <a:buFont typeface="Arial"/>
                        <a:buNone/>
                      </a:pPr>
                      <a:r>
                        <a:rPr b="1" i="1" lang="en-GB" sz="900">
                          <a:latin typeface="Century Gothic"/>
                          <a:ea typeface="Century Gothic"/>
                          <a:cs typeface="Century Gothic"/>
                          <a:sym typeface="Century Gothic"/>
                        </a:rPr>
                        <a:t> </a:t>
                      </a:r>
                      <a:r>
                        <a:rPr b="0" i="0" lang="en-GB" sz="900">
                          <a:latin typeface="Century Gothic"/>
                          <a:ea typeface="Century Gothic"/>
                          <a:cs typeface="Century Gothic"/>
                          <a:sym typeface="Century Gothic"/>
                        </a:rPr>
                        <a:t>- higher degree of customer satisfaction</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faster resolution</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optimization and simplification of processes </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Upsell and resell</a:t>
                      </a:r>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 Customer interaction and adaptation of multiple channels</a:t>
                      </a:r>
                      <a:endParaRPr b="0" i="0" sz="900">
                        <a:latin typeface="Century Gothic"/>
                        <a:ea typeface="Century Gothic"/>
                        <a:cs typeface="Century Gothic"/>
                        <a:sym typeface="Century Gothic"/>
                      </a:endParaRPr>
                    </a:p>
                    <a:p>
                      <a:pPr indent="0" lvl="0" marL="0" marR="0" rtl="0" algn="l">
                        <a:spcBef>
                          <a:spcPts val="0"/>
                        </a:spcBef>
                        <a:spcAft>
                          <a:spcPts val="0"/>
                        </a:spcAft>
                        <a:buClr>
                          <a:schemeClr val="dk1"/>
                        </a:buClr>
                        <a:buSzPts val="900"/>
                        <a:buFont typeface="Arial"/>
                        <a:buNone/>
                      </a:pPr>
                      <a:r>
                        <a:rPr b="0" i="0" lang="en-GB" sz="900">
                          <a:latin typeface="Century Gothic"/>
                          <a:ea typeface="Century Gothic"/>
                          <a:cs typeface="Century Gothic"/>
                          <a:sym typeface="Century Gothic"/>
                        </a:rPr>
                        <a:t>-  Automation of some processes , e.g. automated routing of insurance claims based on claim form contents and complexity</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Route Islamic banking queries to Shariah-trained agents</a:t>
                      </a:r>
                    </a:p>
                    <a:p>
                      <a:r>
                        <a:rPr sz="900"/>
                        <a:t>Reduce average handle time by 2-3 minutes via pre-loaded customer context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061" name="Google Shape;2061;p124"/>
          <p:cNvGrpSpPr/>
          <p:nvPr/>
        </p:nvGrpSpPr>
        <p:grpSpPr>
          <a:xfrm>
            <a:off x="6659508" y="225152"/>
            <a:ext cx="2432605" cy="1508418"/>
            <a:chOff x="6030133" y="723902"/>
            <a:chExt cx="2432605" cy="1508418"/>
          </a:xfrm>
        </p:grpSpPr>
        <p:sp>
          <p:nvSpPr>
            <p:cNvPr id="2062" name="Google Shape;2062;p124"/>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063" name="Google Shape;2063;p124"/>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64" name="Google Shape;2064;p124"/>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65" name="Google Shape;2065;p124"/>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66" name="Google Shape;2066;p124"/>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67" name="Google Shape;2067;p124"/>
            <p:cNvGrpSpPr/>
            <p:nvPr/>
          </p:nvGrpSpPr>
          <p:grpSpPr>
            <a:xfrm>
              <a:off x="8107751" y="1342792"/>
              <a:ext cx="276507" cy="393460"/>
              <a:chOff x="6954288" y="1678075"/>
              <a:chExt cx="679456" cy="947737"/>
            </a:xfrm>
          </p:grpSpPr>
          <p:sp>
            <p:nvSpPr>
              <p:cNvPr id="2068" name="Google Shape;2068;p124"/>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69" name="Google Shape;2069;p124"/>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70" name="Google Shape;2070;p124"/>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71" name="Google Shape;2071;p124"/>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072" name="Google Shape;2072;p124"/>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073" name="Google Shape;2073;p124"/>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74" name="Google Shape;2074;p124"/>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75" name="Google Shape;2075;p124"/>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076" name="Google Shape;2076;p124"/>
            <p:cNvGrpSpPr/>
            <p:nvPr/>
          </p:nvGrpSpPr>
          <p:grpSpPr>
            <a:xfrm>
              <a:off x="6671216" y="765814"/>
              <a:ext cx="308250" cy="494711"/>
              <a:chOff x="2125012" y="-1063625"/>
              <a:chExt cx="1420813" cy="2235201"/>
            </a:xfrm>
          </p:grpSpPr>
          <p:sp>
            <p:nvSpPr>
              <p:cNvPr id="2077" name="Google Shape;2077;p124"/>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78" name="Google Shape;2078;p124"/>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079" name="Google Shape;2079;p124"/>
            <p:cNvGrpSpPr/>
            <p:nvPr/>
          </p:nvGrpSpPr>
          <p:grpSpPr>
            <a:xfrm>
              <a:off x="7987780" y="1794063"/>
              <a:ext cx="243489" cy="387124"/>
              <a:chOff x="6417856" y="340853"/>
              <a:chExt cx="217304" cy="589385"/>
            </a:xfrm>
          </p:grpSpPr>
          <p:sp>
            <p:nvSpPr>
              <p:cNvPr id="2080" name="Google Shape;2080;p124"/>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81" name="Google Shape;2081;p124"/>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082" name="Google Shape;2082;p124"/>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083" name="Google Shape;2083;p124"/>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084" name="Google Shape;2084;p124"/>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085" name="Google Shape;2085;p124"/>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086" name="Google Shape;2086;p12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087" name="Google Shape;2087;p124"/>
          <p:cNvGrpSpPr/>
          <p:nvPr/>
        </p:nvGrpSpPr>
        <p:grpSpPr>
          <a:xfrm>
            <a:off x="7717533" y="4360377"/>
            <a:ext cx="1058348" cy="347375"/>
            <a:chOff x="7651698" y="4287227"/>
            <a:chExt cx="1058348" cy="347375"/>
          </a:xfrm>
        </p:grpSpPr>
        <p:grpSp>
          <p:nvGrpSpPr>
            <p:cNvPr id="2088" name="Google Shape;2088;p124"/>
            <p:cNvGrpSpPr/>
            <p:nvPr/>
          </p:nvGrpSpPr>
          <p:grpSpPr>
            <a:xfrm>
              <a:off x="7714163" y="4337598"/>
              <a:ext cx="995883" cy="297004"/>
              <a:chOff x="7711013" y="3986494"/>
              <a:chExt cx="995883" cy="297004"/>
            </a:xfrm>
          </p:grpSpPr>
          <p:sp>
            <p:nvSpPr>
              <p:cNvPr id="2089" name="Google Shape;2089;p12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090" name="Google Shape;2090;p124"/>
              <p:cNvGrpSpPr/>
              <p:nvPr/>
            </p:nvGrpSpPr>
            <p:grpSpPr>
              <a:xfrm>
                <a:off x="7711013" y="4002615"/>
                <a:ext cx="281520" cy="241973"/>
                <a:chOff x="5652748" y="4066000"/>
                <a:chExt cx="906498" cy="747974"/>
              </a:xfrm>
            </p:grpSpPr>
            <p:sp>
              <p:nvSpPr>
                <p:cNvPr id="2091" name="Google Shape;2091;p12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092" name="Google Shape;2092;p12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093" name="Google Shape;2093;p12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094" name="Google Shape;2094;p12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9" name="Shape 2099"/>
        <p:cNvGrpSpPr/>
        <p:nvPr/>
      </p:nvGrpSpPr>
      <p:grpSpPr>
        <a:xfrm>
          <a:off x="0" y="0"/>
          <a:ext cx="0" cy="0"/>
          <a:chOff x="0" y="0"/>
          <a:chExt cx="0" cy="0"/>
        </a:xfrm>
      </p:grpSpPr>
      <p:graphicFrame>
        <p:nvGraphicFramePr>
          <p:cNvPr id="2100" name="Google Shape;2100;p125"/>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8357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Real –time decisioning presents best message/offer based on context of current and/or  last customer interaction. Create prediction models for when a customer or situation will lead to increased likelihood to complain. Provide call center agents with  prioritized list of remediation. Actions.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1" marL="0" marR="0" rtl="0" algn="l">
                        <a:lnSpc>
                          <a:spcPct val="100000"/>
                        </a:lnSpc>
                        <a:spcBef>
                          <a:spcPts val="0"/>
                        </a:spcBef>
                        <a:spcAft>
                          <a:spcPts val="0"/>
                        </a:spcAft>
                        <a:buClr>
                          <a:schemeClr val="dk1"/>
                        </a:buClr>
                        <a:buSzPts val="800"/>
                        <a:buFont typeface="Century Gothic"/>
                        <a:buNone/>
                      </a:pPr>
                      <a:r>
                        <a:rPr lang="en-GB" sz="800" u="none" cap="none" strike="noStrike"/>
                        <a:t>Apply text and sentiment analytics to  call center logs to capture customer feedback. Utilize text and sentiment analytics to enhance customer  models and satisfaction measures.  Leverage customer pathing analytics to identify process or service issues and address. </a:t>
                      </a:r>
                      <a:endParaRPr b="0" sz="800" u="none" cap="none" strike="noStrike">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1" marL="0" marR="0" rtl="0" algn="l">
                        <a:lnSpc>
                          <a:spcPct val="100000"/>
                        </a:lnSpc>
                        <a:spcBef>
                          <a:spcPts val="0"/>
                        </a:spcBef>
                        <a:spcAft>
                          <a:spcPts val="0"/>
                        </a:spcAft>
                        <a:buClr>
                          <a:schemeClr val="dk1"/>
                        </a:buClr>
                        <a:buSzPts val="800"/>
                        <a:buFont typeface="Century Gothic"/>
                        <a:buNone/>
                      </a:pPr>
                      <a:r>
                        <a:rPr lang="en-GB" sz="800" u="none" cap="none" strike="noStrike"/>
                        <a:t>Understand whether some agents consistently handle complaints better than others - do they resolve complaints more quickly &amp; are there fewer follow on complaints? </a:t>
                      </a:r>
                      <a:r>
                        <a:rPr i="0" lang="en-GB" sz="800" u="none" cap="none" strike="noStrike"/>
                        <a:t>Use customer data to  begin to optimize operational efficiency </a:t>
                      </a:r>
                      <a:r>
                        <a:rPr b="0" i="0" lang="en-GB" sz="800" u="none" cap="none" strike="noStrike">
                          <a:solidFill>
                            <a:schemeClr val="dk1"/>
                          </a:solidFill>
                          <a:latin typeface="Century Gothic"/>
                          <a:ea typeface="Century Gothic"/>
                          <a:cs typeface="Century Gothic"/>
                          <a:sym typeface="Century Gothic"/>
                        </a:rPr>
                        <a:t> such as </a:t>
                      </a:r>
                      <a:r>
                        <a:rPr b="0" lang="en-GB" sz="800" u="none" cap="none" strike="noStrike">
                          <a:solidFill>
                            <a:schemeClr val="dk1"/>
                          </a:solidFill>
                          <a:latin typeface="Century Gothic"/>
                          <a:ea typeface="Century Gothic"/>
                          <a:cs typeface="Century Gothic"/>
                          <a:sym typeface="Century Gothic"/>
                        </a:rPr>
                        <a:t>route handling, optimised IVR,</a:t>
                      </a:r>
                      <a:endParaRPr/>
                    </a:p>
                    <a:p>
                      <a:pPr indent="0" lvl="1" marL="0" marR="0" rtl="0" algn="l">
                        <a:lnSpc>
                          <a:spcPct val="100000"/>
                        </a:lnSpc>
                        <a:spcBef>
                          <a:spcPts val="0"/>
                        </a:spcBef>
                        <a:spcAft>
                          <a:spcPts val="0"/>
                        </a:spcAft>
                        <a:buClr>
                          <a:schemeClr val="dk1"/>
                        </a:buClr>
                        <a:buSzPts val="800"/>
                        <a:buFont typeface="Century Gothic"/>
                        <a:buNone/>
                      </a:pPr>
                      <a:r>
                        <a:t/>
                      </a:r>
                      <a:endParaRPr b="0" sz="800" u="none" cap="none" strike="noStrike">
                        <a:solidFill>
                          <a:schemeClr val="dk1"/>
                        </a:solidFill>
                        <a:latin typeface="Century Gothic"/>
                        <a:ea typeface="Century Gothic"/>
                        <a:cs typeface="Century Gothic"/>
                        <a:sym typeface="Century Gothic"/>
                      </a:endParaRPr>
                    </a:p>
                    <a:p>
                      <a:pPr indent="0" lvl="1" marL="0" marR="0" rtl="0" algn="l">
                        <a:lnSpc>
                          <a:spcPct val="100000"/>
                        </a:lnSpc>
                        <a:spcBef>
                          <a:spcPts val="0"/>
                        </a:spcBef>
                        <a:spcAft>
                          <a:spcPts val="0"/>
                        </a:spcAft>
                        <a:buClr>
                          <a:schemeClr val="dk1"/>
                        </a:buClr>
                        <a:buSzPts val="800"/>
                        <a:buFont typeface="Century Gothic"/>
                        <a:buNone/>
                      </a:pPr>
                      <a:r>
                        <a:t/>
                      </a:r>
                      <a:endParaRPr b="0" sz="800" u="none" cap="none" strike="noStrike">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Provide call centre agent </a:t>
                      </a:r>
                      <a:r>
                        <a:rPr lang="en-GB" sz="800">
                          <a:solidFill>
                            <a:schemeClr val="dk1"/>
                          </a:solidFill>
                        </a:rPr>
                        <a:t>relevant customer</a:t>
                      </a:r>
                      <a:r>
                        <a:rPr lang="en-GB" sz="800">
                          <a:solidFill>
                            <a:schemeClr val="dk1"/>
                          </a:solidFill>
                        </a:rPr>
                        <a:t> data including </a:t>
                      </a:r>
                      <a:r>
                        <a:rPr lang="en-GB" sz="800">
                          <a:solidFill>
                            <a:schemeClr val="dk1"/>
                          </a:solidFill>
                        </a:rPr>
                        <a:t>access to customer events, products</a:t>
                      </a:r>
                      <a:r>
                        <a:rPr lang="en-GB" sz="800">
                          <a:solidFill>
                            <a:schemeClr val="dk1"/>
                          </a:solidFill>
                        </a:rPr>
                        <a:t> purchased </a:t>
                      </a:r>
                      <a:r>
                        <a:rPr lang="en-GB" sz="800">
                          <a:solidFill>
                            <a:schemeClr val="dk1"/>
                          </a:solidFill>
                        </a:rPr>
                        <a:t>, channel interaction</a:t>
                      </a:r>
                      <a:r>
                        <a:rPr lang="en-GB" sz="800">
                          <a:solidFill>
                            <a:schemeClr val="dk1"/>
                          </a:solidFill>
                        </a:rPr>
                        <a:t> updated daily.  Provide recommedned action or product by customer segment via models updated weekly.</a:t>
                      </a:r>
                      <a:endParaRPr sz="800">
                        <a:solidFill>
                          <a:schemeClr val="dk1"/>
                        </a:solidFill>
                      </a:endParaRPr>
                    </a:p>
                    <a:p>
                      <a:pPr indent="0" lvl="0" marL="0" marR="0" rtl="0" algn="l">
                        <a:lnSpc>
                          <a:spcPct val="100000"/>
                        </a:lnSpc>
                        <a:spcBef>
                          <a:spcPts val="0"/>
                        </a:spcBef>
                        <a:spcAft>
                          <a:spcPts val="0"/>
                        </a:spcAft>
                        <a:buClr>
                          <a:schemeClr val="dk1"/>
                        </a:buClr>
                        <a:buSzPts val="800"/>
                        <a:buFont typeface="Century Gothic"/>
                        <a:buNone/>
                      </a:pPr>
                      <a:r>
                        <a:t/>
                      </a:r>
                      <a:endParaRPr sz="800">
                        <a:solidFill>
                          <a:schemeClr val="dk1"/>
                        </a:solidFill>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Provide call centre agent </a:t>
                      </a:r>
                      <a:r>
                        <a:rPr lang="en-GB" sz="800">
                          <a:solidFill>
                            <a:schemeClr val="dk1"/>
                          </a:solidFill>
                        </a:rPr>
                        <a:t>relevant customer</a:t>
                      </a:r>
                      <a:r>
                        <a:rPr lang="en-GB" sz="800">
                          <a:solidFill>
                            <a:schemeClr val="dk1"/>
                          </a:solidFill>
                        </a:rPr>
                        <a:t> data including </a:t>
                      </a:r>
                      <a:r>
                        <a:rPr lang="en-GB" sz="800">
                          <a:solidFill>
                            <a:schemeClr val="dk1"/>
                          </a:solidFill>
                        </a:rPr>
                        <a:t>access to customer events, products</a:t>
                      </a:r>
                      <a:r>
                        <a:rPr lang="en-GB" sz="800">
                          <a:solidFill>
                            <a:schemeClr val="dk1"/>
                          </a:solidFill>
                        </a:rPr>
                        <a:t> purchased </a:t>
                      </a:r>
                      <a:r>
                        <a:rPr lang="en-GB" sz="800">
                          <a:solidFill>
                            <a:schemeClr val="dk1"/>
                          </a:solidFill>
                        </a:rPr>
                        <a:t>, channel interaction</a:t>
                      </a:r>
                      <a:r>
                        <a:rPr lang="en-GB" sz="800">
                          <a:solidFill>
                            <a:schemeClr val="dk1"/>
                          </a:solidFill>
                        </a:rPr>
                        <a:t> updated weekly.  Provide recommedned action or product by customer segment via models updated weekly.</a:t>
                      </a:r>
                      <a:endParaRPr sz="800">
                        <a:solidFill>
                          <a:schemeClr val="dk1"/>
                        </a:solidFill>
                      </a:endParaRPr>
                    </a:p>
                    <a:p>
                      <a:pPr indent="0" lvl="0" marL="0" marR="0" rtl="0" algn="l">
                        <a:lnSpc>
                          <a:spcPct val="100000"/>
                        </a:lnSpc>
                        <a:spcBef>
                          <a:spcPts val="0"/>
                        </a:spcBef>
                        <a:spcAft>
                          <a:spcPts val="0"/>
                        </a:spcAft>
                        <a:buClr>
                          <a:schemeClr val="dk1"/>
                        </a:buClr>
                        <a:buSzPts val="800"/>
                        <a:buFont typeface="Century Gothic"/>
                        <a:buNone/>
                      </a:pPr>
                      <a:r>
                        <a:t/>
                      </a:r>
                      <a:endParaRPr sz="800">
                        <a:solidFill>
                          <a:schemeClr val="dk1"/>
                        </a:solidFill>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Urdu IVR redesign: 3-level menu, natural language, voice biometric auth</a:t>
                      </a:r>
                    </a:p>
                    <a:p>
                      <a:r>
                        <a:rPr sz="800"/>
                        <a:t>WhatsApp chatbot for Tier 1 queries: balance, mini-statement, branch locator</a:t>
                      </a:r>
                    </a:p>
                    <a:p>
                      <a:r>
                        <a:rPr sz="800"/>
                        <a:t>Urdu NLP for sentiment analysis on call recordings</a:t>
                      </a:r>
                    </a:p>
                    <a:p>
                      <a:r>
                        <a:rPr sz="800"/>
                        <a:t>Agent assist: real-time screen pop with customer 360° and recommendations</a:t>
                      </a:r>
                    </a:p>
                    <a:p>
                      <a:r>
                        <a:rPr sz="800"/>
                        <a:t>SBP complaint SLA tracking: 2-day ack, 15-day resolution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20-30% call volume reduction via WhatsApp deflection</a:t>
                      </a:r>
                      <a:endParaRPr/>
                    </a:p>
                    <a:p>
                      <a:r>
                        <a:rPr sz="800"/>
                        <a:t>First call resolution: from 55-65% to 75-85%</a:t>
                      </a:r>
                    </a:p>
                    <a:p>
                      <a:r>
                        <a:rPr sz="800"/>
                        <a:t>5-8% cross-sell conversion on inbound calls with NBA</a:t>
                      </a:r>
                    </a:p>
                    <a:p>
                      <a:r>
                        <a:rPr sz="800"/>
                        <a:t>SBP complaint compliance and reduced regulatory risk</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101" name="Google Shape;2101;p125"/>
          <p:cNvGrpSpPr/>
          <p:nvPr/>
        </p:nvGrpSpPr>
        <p:grpSpPr>
          <a:xfrm>
            <a:off x="469900" y="4041163"/>
            <a:ext cx="8455025" cy="732866"/>
            <a:chOff x="211138" y="3972860"/>
            <a:chExt cx="8713787" cy="642437"/>
          </a:xfrm>
        </p:grpSpPr>
        <p:sp>
          <p:nvSpPr>
            <p:cNvPr id="2102" name="Google Shape;2102;p125"/>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103" name="Google Shape;2103;p125"/>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104" name="Google Shape;2104;p125"/>
          <p:cNvGrpSpPr/>
          <p:nvPr/>
        </p:nvGrpSpPr>
        <p:grpSpPr>
          <a:xfrm>
            <a:off x="7971865" y="980278"/>
            <a:ext cx="949325" cy="2867825"/>
            <a:chOff x="7941888" y="1062037"/>
            <a:chExt cx="983037" cy="2695575"/>
          </a:xfrm>
        </p:grpSpPr>
        <p:sp>
          <p:nvSpPr>
            <p:cNvPr id="2105" name="Google Shape;2105;p125"/>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106" name="Google Shape;2106;p125"/>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107" name="Google Shape;2107;p125"/>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Call/Contact Center Optimization</a:t>
            </a:r>
            <a:endParaRPr>
              <a:solidFill>
                <a:schemeClr val="accent6"/>
              </a:solidFill>
            </a:endParaRPr>
          </a:p>
        </p:txBody>
      </p:sp>
      <p:sp>
        <p:nvSpPr>
          <p:cNvPr id="2108" name="Google Shape;2108;p12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cxnSp>
        <p:nvCxnSpPr>
          <p:cNvPr id="2114" name="Google Shape;2114;p12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115" name="Google Shape;2115;p12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Digital Optimization</a:t>
            </a:r>
            <a:endParaRPr sz="1600"/>
          </a:p>
        </p:txBody>
      </p:sp>
      <p:graphicFrame>
        <p:nvGraphicFramePr>
          <p:cNvPr id="2116" name="Google Shape;2116;p12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rPr>
                        <a:t>Use customers’ on-line journey’s and browsing behaviors to streamline website and mobile app navigation </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endParaRPr>
                    </a:p>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rPr>
                        <a:t>Customers can quickly become frustrated with the time taken to access information or complete a transaction within</a:t>
                      </a:r>
                      <a:r>
                        <a:rPr b="0" lang="en-GB" sz="900">
                          <a:solidFill>
                            <a:schemeClr val="dk1"/>
                          </a:solidFill>
                        </a:rPr>
                        <a:t> a web or mobile application. </a:t>
                      </a:r>
                      <a:r>
                        <a:rPr b="0" lang="en-GB" sz="900">
                          <a:solidFill>
                            <a:schemeClr val="dk1"/>
                          </a:solidFill>
                        </a:rPr>
                        <a:t>It is difficult for organizations to fully understand this issue that leads to abandonment</a:t>
                      </a:r>
                      <a:r>
                        <a:rPr b="0" lang="en-GB" sz="900">
                          <a:solidFill>
                            <a:schemeClr val="dk1"/>
                          </a:solidFill>
                        </a:rPr>
                        <a:t> and </a:t>
                      </a:r>
                      <a:r>
                        <a:rPr b="0" lang="en-GB" sz="900">
                          <a:solidFill>
                            <a:schemeClr val="dk1"/>
                          </a:solidFill>
                        </a:rPr>
                        <a:t>channel switching behavior.</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endParaRPr>
                    </a:p>
                    <a:p>
                      <a:pPr indent="0" lvl="0" marL="0" marR="0" rtl="0" algn="l">
                        <a:spcBef>
                          <a:spcPts val="0"/>
                        </a:spcBef>
                        <a:spcAft>
                          <a:spcPts val="0"/>
                        </a:spcAft>
                        <a:buNone/>
                      </a:pPr>
                      <a:r>
                        <a:rPr b="0" lang="en-GB" sz="900">
                          <a:solidFill>
                            <a:schemeClr val="dk1"/>
                          </a:solidFill>
                        </a:rPr>
                        <a:t>Companies can use customers on-line journey’s and browsing behaviors to streamline website and mobile app navigation and correct technical, content, </a:t>
                      </a:r>
                      <a:r>
                        <a:rPr b="0" lang="en-GB" sz="900">
                          <a:solidFill>
                            <a:schemeClr val="dk1"/>
                          </a:solidFill>
                        </a:rPr>
                        <a:t>and user interface </a:t>
                      </a:r>
                      <a:r>
                        <a:rPr b="0" lang="en-GB" sz="900">
                          <a:solidFill>
                            <a:schemeClr val="dk1"/>
                          </a:solidFill>
                        </a:rPr>
                        <a:t>issues, optimizing the on-line Customer experience and driving higher sales conversion.</a:t>
                      </a:r>
                      <a:endParaRPr/>
                    </a:p>
                    <a:p>
                      <a:pPr indent="0" lvl="0" marL="0" marR="0" rtl="0" algn="l">
                        <a:spcBef>
                          <a:spcPts val="0"/>
                        </a:spcBef>
                        <a:spcAft>
                          <a:spcPts val="0"/>
                        </a:spcAft>
                        <a:buNone/>
                      </a:pPr>
                      <a:r>
                        <a:t/>
                      </a:r>
                      <a:endParaRPr b="0" sz="900">
                        <a:solidFill>
                          <a:schemeClr val="dk1"/>
                        </a:solidFill>
                      </a:endParaRPr>
                    </a:p>
                    <a:p>
                      <a:pPr indent="0" lvl="0" marL="0" marR="0" rtl="0" algn="l">
                        <a:spcBef>
                          <a:spcPts val="0"/>
                        </a:spcBef>
                        <a:spcAft>
                          <a:spcPts val="0"/>
                        </a:spcAft>
                        <a:buNone/>
                      </a:pPr>
                      <a:r>
                        <a:t/>
                      </a:r>
                      <a:endParaRPr b="0" sz="900">
                        <a:solidFill>
                          <a:schemeClr val="dk1"/>
                        </a:solidFill>
                      </a:endParaRPr>
                    </a:p>
                    <a:p>
                      <a:r>
                        <a:rPr sz="900"/>
                        <a:t>Optimize mobile banking app for Pakistan — 85% Android, low-bandwidth conditions</a:t>
                      </a:r>
                    </a:p>
                    <a:p>
                      <a:r>
                        <a:rPr sz="900"/>
                        <a:t>Track and fix digital onboarding dropoff (40-60% at NADRA biometric step)</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Weblog data from website using tools such as Celebrus</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Mobile app usage data</a:t>
                      </a:r>
                      <a:endParaRPr/>
                    </a:p>
                    <a:p>
                      <a:pPr indent="-179388" lvl="0" marL="179388" marR="0" rtl="0" algn="l">
                        <a:lnSpc>
                          <a:spcPct val="100000"/>
                        </a:lnSpc>
                        <a:spcBef>
                          <a:spcPts val="0"/>
                        </a:spcBef>
                        <a:spcAft>
                          <a:spcPts val="0"/>
                        </a:spcAft>
                        <a:buClr>
                          <a:schemeClr val="dk1"/>
                        </a:buClr>
                        <a:buSzPts val="900"/>
                        <a:buFont typeface="Arial"/>
                        <a:buChar char="•"/>
                      </a:pPr>
                      <a:r>
                        <a:rPr lang="en-GB" sz="900">
                          <a:solidFill>
                            <a:schemeClr val="dk1"/>
                          </a:solidFill>
                        </a:rPr>
                        <a:t>Customer profiles, event and transaction history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Filtering and segmentation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Sessionization of data to identify the whole interaction within and across all channels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Path analysis to identify all Customer journeys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rPr>
                        <a:t>Visualization to display results in a sankey chart</a:t>
                      </a:r>
                      <a:endParaRPr/>
                    </a:p>
                    <a:p>
                      <a:r>
                        <a:rPr sz="900"/>
                        <a:t>A/B test Urdu vs English app interface — significant impact on feature adoption</a:t>
                      </a:r>
                    </a:p>
                    <a:p>
                      <a:r>
                        <a:rPr sz="900"/>
                        <a:t>Optimize RAAST/IBFT transfer flow: reduce taps from 5 to 3</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Identification  of opportunities to improve  website and mobile app navigation/pathing such as:</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Site landing/departure pages</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Error pages and page before/after</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Effectiveness of landing pages</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Checkout </a:t>
                      </a:r>
                      <a:endParaRPr/>
                    </a:p>
                    <a:p>
                      <a:pPr indent="-171450" lvl="1" marL="628650" marR="0" rtl="0" algn="l">
                        <a:lnSpc>
                          <a:spcPct val="100000"/>
                        </a:lnSpc>
                        <a:spcBef>
                          <a:spcPts val="0"/>
                        </a:spcBef>
                        <a:spcAft>
                          <a:spcPts val="0"/>
                        </a:spcAft>
                        <a:buClr>
                          <a:schemeClr val="dk1"/>
                        </a:buClr>
                        <a:buSzPts val="900"/>
                        <a:buFont typeface="Arial"/>
                        <a:buChar char="•"/>
                      </a:pPr>
                      <a:r>
                        <a:rPr lang="en-GB" sz="900" u="none" cap="none" strike="noStrike">
                          <a:solidFill>
                            <a:schemeClr val="dk1"/>
                          </a:solidFill>
                          <a:latin typeface="Century Gothic"/>
                          <a:ea typeface="Century Gothic"/>
                          <a:cs typeface="Century Gothic"/>
                          <a:sym typeface="Century Gothic"/>
                        </a:rPr>
                        <a:t>Product affinity based on page views</a:t>
                      </a:r>
                      <a:endParaRPr sz="900" u="none" cap="none" strike="noStrike">
                        <a:solidFill>
                          <a:schemeClr val="dk1"/>
                        </a:solidFill>
                        <a:latin typeface="Century Gothic"/>
                        <a:ea typeface="Century Gothic"/>
                        <a:cs typeface="Century Gothic"/>
                        <a:sym typeface="Century Gothic"/>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and higher cross sell rates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customer experience and lower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cost to serve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Enhanced operational efficiency and </a:t>
                      </a:r>
                      <a:br>
                        <a:rPr lang="en-GB" sz="900">
                          <a:solidFill>
                            <a:schemeClr val="dk1"/>
                          </a:solidFill>
                          <a:latin typeface="Century Gothic"/>
                          <a:ea typeface="Century Gothic"/>
                          <a:cs typeface="Century Gothic"/>
                          <a:sym typeface="Century Gothic"/>
                        </a:rPr>
                      </a:br>
                      <a:r>
                        <a:rPr lang="en-GB" sz="900">
                          <a:solidFill>
                            <a:schemeClr val="dk1"/>
                          </a:solidFill>
                          <a:latin typeface="Century Gothic"/>
                          <a:ea typeface="Century Gothic"/>
                          <a:cs typeface="Century Gothic"/>
                          <a:sym typeface="Century Gothic"/>
                        </a:rPr>
                        <a:t>profitability</a:t>
                      </a:r>
                      <a:endParaRPr sz="900">
                        <a:solidFill>
                          <a:schemeClr val="dk1"/>
                        </a:solidFill>
                        <a:latin typeface="Century Gothic"/>
                        <a:ea typeface="Century Gothic"/>
                        <a:cs typeface="Century Gothic"/>
                        <a:sym typeface="Century Gothic"/>
                      </a:endParaRPr>
                    </a:p>
                    <a:p>
                      <a:r>
                        <a:rPr sz="900"/>
                        <a:t>Monitor internet banking low-adoption features and redesign or remove</a:t>
                      </a:r>
                    </a:p>
                    <a:p>
                      <a:r>
                        <a:rPr sz="900"/>
                        <a:t>App load time &lt;3s on 3G; key action in &lt;5 taps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117" name="Google Shape;2117;p126"/>
          <p:cNvGrpSpPr/>
          <p:nvPr/>
        </p:nvGrpSpPr>
        <p:grpSpPr>
          <a:xfrm>
            <a:off x="6659508" y="225152"/>
            <a:ext cx="2432605" cy="1508418"/>
            <a:chOff x="6030133" y="723902"/>
            <a:chExt cx="2432605" cy="1508418"/>
          </a:xfrm>
        </p:grpSpPr>
        <p:sp>
          <p:nvSpPr>
            <p:cNvPr id="2118" name="Google Shape;2118;p126"/>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119" name="Google Shape;2119;p126"/>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20" name="Google Shape;2120;p126"/>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21" name="Google Shape;2121;p126"/>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22" name="Google Shape;2122;p126"/>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23" name="Google Shape;2123;p126"/>
            <p:cNvGrpSpPr/>
            <p:nvPr/>
          </p:nvGrpSpPr>
          <p:grpSpPr>
            <a:xfrm>
              <a:off x="8107751" y="1342792"/>
              <a:ext cx="276507" cy="393460"/>
              <a:chOff x="6954288" y="1678075"/>
              <a:chExt cx="679456" cy="947737"/>
            </a:xfrm>
          </p:grpSpPr>
          <p:sp>
            <p:nvSpPr>
              <p:cNvPr id="2124" name="Google Shape;2124;p126"/>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5" name="Google Shape;2125;p126"/>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6" name="Google Shape;2126;p126"/>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7" name="Google Shape;2127;p126"/>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28" name="Google Shape;2128;p126"/>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129" name="Google Shape;2129;p126"/>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0" name="Google Shape;2130;p126"/>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1" name="Google Shape;2131;p126"/>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32" name="Google Shape;2132;p126"/>
            <p:cNvGrpSpPr/>
            <p:nvPr/>
          </p:nvGrpSpPr>
          <p:grpSpPr>
            <a:xfrm>
              <a:off x="6671216" y="765814"/>
              <a:ext cx="308250" cy="494711"/>
              <a:chOff x="2125012" y="-1063625"/>
              <a:chExt cx="1420813" cy="2235201"/>
            </a:xfrm>
          </p:grpSpPr>
          <p:sp>
            <p:nvSpPr>
              <p:cNvPr id="2133" name="Google Shape;2133;p126"/>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4" name="Google Shape;2134;p126"/>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135" name="Google Shape;2135;p126"/>
            <p:cNvGrpSpPr/>
            <p:nvPr/>
          </p:nvGrpSpPr>
          <p:grpSpPr>
            <a:xfrm>
              <a:off x="7987780" y="1794063"/>
              <a:ext cx="243489" cy="387124"/>
              <a:chOff x="6417856" y="340853"/>
              <a:chExt cx="217304" cy="589385"/>
            </a:xfrm>
          </p:grpSpPr>
          <p:sp>
            <p:nvSpPr>
              <p:cNvPr id="2136" name="Google Shape;2136;p126"/>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37" name="Google Shape;2137;p126"/>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138" name="Google Shape;2138;p126"/>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139" name="Google Shape;2139;p126"/>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140" name="Google Shape;2140;p126"/>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41" name="Google Shape;2141;p126"/>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142" name="Google Shape;2142;p12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143" name="Google Shape;2143;p126"/>
          <p:cNvGrpSpPr/>
          <p:nvPr/>
        </p:nvGrpSpPr>
        <p:grpSpPr>
          <a:xfrm>
            <a:off x="7717533" y="4360377"/>
            <a:ext cx="1058348" cy="347375"/>
            <a:chOff x="7651698" y="4287227"/>
            <a:chExt cx="1058348" cy="347375"/>
          </a:xfrm>
        </p:grpSpPr>
        <p:grpSp>
          <p:nvGrpSpPr>
            <p:cNvPr id="2144" name="Google Shape;2144;p126"/>
            <p:cNvGrpSpPr/>
            <p:nvPr/>
          </p:nvGrpSpPr>
          <p:grpSpPr>
            <a:xfrm>
              <a:off x="7714163" y="4337598"/>
              <a:ext cx="995883" cy="297004"/>
              <a:chOff x="7711013" y="3986494"/>
              <a:chExt cx="995883" cy="297004"/>
            </a:xfrm>
          </p:grpSpPr>
          <p:sp>
            <p:nvSpPr>
              <p:cNvPr id="2145" name="Google Shape;2145;p12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146" name="Google Shape;2146;p126"/>
              <p:cNvGrpSpPr/>
              <p:nvPr/>
            </p:nvGrpSpPr>
            <p:grpSpPr>
              <a:xfrm>
                <a:off x="7711013" y="4002615"/>
                <a:ext cx="281520" cy="241973"/>
                <a:chOff x="5652748" y="4066000"/>
                <a:chExt cx="906498" cy="747974"/>
              </a:xfrm>
            </p:grpSpPr>
            <p:sp>
              <p:nvSpPr>
                <p:cNvPr id="2147" name="Google Shape;2147;p12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148" name="Google Shape;2148;p12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149" name="Google Shape;2149;p12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150" name="Google Shape;2150;p12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5" name="Shape 2155"/>
        <p:cNvGrpSpPr/>
        <p:nvPr/>
      </p:nvGrpSpPr>
      <p:grpSpPr>
        <a:xfrm>
          <a:off x="0" y="0"/>
          <a:ext cx="0" cy="0"/>
          <a:chOff x="0" y="0"/>
          <a:chExt cx="0" cy="0"/>
        </a:xfrm>
      </p:grpSpPr>
      <p:graphicFrame>
        <p:nvGraphicFramePr>
          <p:cNvPr id="2156" name="Google Shape;2156;p127"/>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Automated monitoring of digital journeys with alerts to significant changes in behaviors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Sessionization and path analytics to fully understand customer interactions with channel and across channels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Traditional statistics based root cause analysis and funnel reporting to identify customer drop out. </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Merging abandonment /bounce statistics  with customer data and transaction data to  identify impact of website/mobile  issues.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website and mobile application abandonment /bounce statistics and reporting. Issue identified through manual testing process.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Urdu-first mobile UI (not translated English) for 65%+ of market</a:t>
                      </a:r>
                    </a:p>
                    <a:p>
                      <a:r>
                        <a:rPr sz="800"/>
                        <a:t>Low-bandwidth optimization: &lt;30MB app, works on 3G/Edge</a:t>
                      </a:r>
                    </a:p>
                    <a:p>
                      <a:r>
                        <a:rPr sz="800"/>
                        <a:t>3 persona UX tracks: Digital Native (18-30), Adopter (30-50), Hesitant (50+)</a:t>
                      </a:r>
                    </a:p>
                    <a:p>
                      <a:r>
                        <a:rPr sz="800"/>
                        <a:t>USSD menu streamlining for feature phone banking</a:t>
                      </a:r>
                    </a:p>
                    <a:p>
                      <a:r>
                        <a:rPr sz="800"/>
                        <a:t>Session-to-conversion optimization: reduce 80% browse, &lt;5% complete gap</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3x digital adoption with Urdu-first interface</a:t>
                      </a:r>
                      <a:endParaRPr/>
                    </a:p>
                    <a:p>
                      <a:r>
                        <a:rPr sz="800"/>
                        <a:t>Competitive parity with SadaPay/NayaPay polished UX</a:t>
                      </a:r>
                    </a:p>
                    <a:p>
                      <a:r>
                        <a:rPr sz="800"/>
                        <a:t>Rural/Tier 3 coverage via USSD channel optimization</a:t>
                      </a:r>
                    </a:p>
                    <a:p>
                      <a:r>
                        <a:rPr sz="800"/>
                        <a:t>Revenue uplift from improved conversion funnel</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157" name="Google Shape;2157;p127"/>
          <p:cNvGrpSpPr/>
          <p:nvPr/>
        </p:nvGrpSpPr>
        <p:grpSpPr>
          <a:xfrm>
            <a:off x="469900" y="3839136"/>
            <a:ext cx="8455025" cy="732866"/>
            <a:chOff x="211138" y="3972860"/>
            <a:chExt cx="8713787" cy="642437"/>
          </a:xfrm>
        </p:grpSpPr>
        <p:sp>
          <p:nvSpPr>
            <p:cNvPr id="2158" name="Google Shape;2158;p127"/>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159" name="Google Shape;2159;p127"/>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160" name="Google Shape;2160;p127"/>
          <p:cNvGrpSpPr/>
          <p:nvPr/>
        </p:nvGrpSpPr>
        <p:grpSpPr>
          <a:xfrm>
            <a:off x="7971865" y="980278"/>
            <a:ext cx="949325" cy="2867825"/>
            <a:chOff x="7941888" y="1062037"/>
            <a:chExt cx="983037" cy="2695575"/>
          </a:xfrm>
        </p:grpSpPr>
        <p:sp>
          <p:nvSpPr>
            <p:cNvPr id="2161" name="Google Shape;2161;p127"/>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162" name="Google Shape;2162;p127"/>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163" name="Google Shape;2163;p127"/>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Digital Optimization</a:t>
            </a:r>
            <a:endParaRPr>
              <a:solidFill>
                <a:schemeClr val="accent6"/>
              </a:solidFill>
            </a:endParaRPr>
          </a:p>
        </p:txBody>
      </p:sp>
      <p:sp>
        <p:nvSpPr>
          <p:cNvPr id="2164" name="Google Shape;2164;p12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9" name="Shape 2169"/>
        <p:cNvGrpSpPr/>
        <p:nvPr/>
      </p:nvGrpSpPr>
      <p:grpSpPr>
        <a:xfrm>
          <a:off x="0" y="0"/>
          <a:ext cx="0" cy="0"/>
          <a:chOff x="0" y="0"/>
          <a:chExt cx="0" cy="0"/>
        </a:xfrm>
      </p:grpSpPr>
      <p:cxnSp>
        <p:nvCxnSpPr>
          <p:cNvPr id="2170" name="Google Shape;2170;p12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171" name="Google Shape;2171;p12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Search Engine Optimization</a:t>
            </a:r>
            <a:endParaRPr sz="1600"/>
          </a:p>
        </p:txBody>
      </p:sp>
      <p:graphicFrame>
        <p:nvGraphicFramePr>
          <p:cNvPr id="2172" name="Google Shape;2172;p12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Improve relevancy of web site search results to</a:t>
                      </a:r>
                      <a:r>
                        <a:rPr b="1" lang="en-GB" sz="900">
                          <a:solidFill>
                            <a:schemeClr val="dk1"/>
                          </a:solidFill>
                        </a:rPr>
                        <a:t> drive higher conversion</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Reduce number of zero result </a:t>
                      </a:r>
                      <a:r>
                        <a:rPr b="0" lang="en-GB" sz="900">
                          <a:solidFill>
                            <a:schemeClr val="dk1"/>
                          </a:solidFill>
                        </a:rPr>
                        <a:t> and underperforming search </a:t>
                      </a:r>
                      <a:r>
                        <a:rPr b="0" lang="en-GB" sz="900">
                          <a:solidFill>
                            <a:schemeClr val="dk1"/>
                          </a:solidFill>
                        </a:rPr>
                        <a:t>queries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breadth</a:t>
                      </a:r>
                      <a:r>
                        <a:rPr b="0" lang="en-GB" sz="900">
                          <a:solidFill>
                            <a:schemeClr val="dk1"/>
                          </a:solidFill>
                        </a:rPr>
                        <a:t> of keywords  most  closely associated with products  by utilizing customer search behaviour</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Enable search queries to return more products associated with the search words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product ranking algorithms to present most relevant products  first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Understand nuances of language, alternative terms and factor in popularity and “related search” terms.</a:t>
                      </a:r>
                      <a:endParaRPr/>
                    </a:p>
                    <a:p>
                      <a:pPr indent="0" lvl="0" marL="0" marR="0" rtl="0" algn="l">
                        <a:spcBef>
                          <a:spcPts val="0"/>
                        </a:spcBef>
                        <a:spcAft>
                          <a:spcPts val="0"/>
                        </a:spcAft>
                        <a:buClr>
                          <a:schemeClr val="dk1"/>
                        </a:buClr>
                        <a:buSzPts val="900"/>
                        <a:buFont typeface="Arial"/>
                        <a:buNone/>
                      </a:pPr>
                      <a:r>
                        <a:t/>
                      </a:r>
                      <a:endParaRPr b="0" sz="900">
                        <a:solidFill>
                          <a:schemeClr val="dk1"/>
                        </a:solidFill>
                      </a:endParaRPr>
                    </a:p>
                    <a:p>
                      <a:r>
                        <a:rPr sz="900"/>
                        <a:t>Optimize for Urdu + English bilingual search — Pakistan is 60% English, 40% Urdu/Roman Urdu</a:t>
                      </a:r>
                    </a:p>
                    <a:p>
                      <a:r>
                        <a:rPr sz="900"/>
                        <a:t>Target product search terms: 'bank account kholna', 'car loan Pakistan', 'best rate Pakistan'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Web/mobile sales transactions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Web/mobile browsing</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Product taxonomy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Search tool thesaurus and dictionary</a:t>
                      </a:r>
                      <a:endParaRPr/>
                    </a:p>
                    <a:p>
                      <a:pPr indent="-122238" lvl="0" marL="179388" marR="0" rtl="0" algn="l">
                        <a:spcBef>
                          <a:spcPts val="0"/>
                        </a:spcBef>
                        <a:spcAft>
                          <a:spcPts val="0"/>
                        </a:spcAft>
                        <a:buClr>
                          <a:schemeClr val="dk1"/>
                        </a:buClr>
                        <a:buSzPts val="900"/>
                        <a:buFont typeface="Arial"/>
                        <a:buNone/>
                      </a:pPr>
                      <a:r>
                        <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TF-IDF, Cosine similarity</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Naïve Bayes </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Pathing</a:t>
                      </a:r>
                      <a:endParaRPr sz="900">
                        <a:solidFill>
                          <a:schemeClr val="dk1"/>
                        </a:solidFill>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Collaborative filtering</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Support vector machines</a:t>
                      </a:r>
                      <a:endParaRPr/>
                    </a:p>
                    <a:p>
                      <a:r>
                        <a:rPr sz="900"/>
                        <a:t>Optimize mobile web experience — 85% of Pakistan internet access is mobile</a:t>
                      </a:r>
                    </a:p>
                    <a:p>
                      <a:r>
                        <a:rPr sz="900"/>
                        <a:t>Target financial literacy searches: 'RAAST kya hai', 'Zakat calculator', 'SBP rate today'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manual maintenance and intervention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items returned per searched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relevancy of products returned and in order presented ion the web page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 conversion</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zero and underperforming queries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Reduce customer drop-out/abandonment.</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Capture organic acquisition at zero marginal cost — first bank to invest wins</a:t>
                      </a:r>
                    </a:p>
                    <a:p>
                      <a:r>
                        <a:rPr sz="900"/>
                        <a:t>Islamic banking keyword capture: halal investment, Shariah-compliant savings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173" name="Google Shape;2173;p128"/>
          <p:cNvGrpSpPr/>
          <p:nvPr/>
        </p:nvGrpSpPr>
        <p:grpSpPr>
          <a:xfrm>
            <a:off x="6659508" y="225152"/>
            <a:ext cx="2432605" cy="1508418"/>
            <a:chOff x="6030133" y="723902"/>
            <a:chExt cx="2432605" cy="1508418"/>
          </a:xfrm>
        </p:grpSpPr>
        <p:sp>
          <p:nvSpPr>
            <p:cNvPr id="2174" name="Google Shape;2174;p128"/>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175" name="Google Shape;2175;p128"/>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76" name="Google Shape;2176;p128"/>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77" name="Google Shape;2177;p128"/>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78" name="Google Shape;2178;p128"/>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79" name="Google Shape;2179;p128"/>
            <p:cNvGrpSpPr/>
            <p:nvPr/>
          </p:nvGrpSpPr>
          <p:grpSpPr>
            <a:xfrm>
              <a:off x="8107751" y="1342792"/>
              <a:ext cx="276507" cy="393460"/>
              <a:chOff x="6954288" y="1678075"/>
              <a:chExt cx="679456" cy="947737"/>
            </a:xfrm>
          </p:grpSpPr>
          <p:sp>
            <p:nvSpPr>
              <p:cNvPr id="2180" name="Google Shape;2180;p128"/>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1" name="Google Shape;2181;p128"/>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2" name="Google Shape;2182;p128"/>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3" name="Google Shape;2183;p128"/>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184" name="Google Shape;2184;p128"/>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185" name="Google Shape;2185;p128"/>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86" name="Google Shape;2186;p128"/>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87" name="Google Shape;2187;p128"/>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188" name="Google Shape;2188;p128"/>
            <p:cNvGrpSpPr/>
            <p:nvPr/>
          </p:nvGrpSpPr>
          <p:grpSpPr>
            <a:xfrm>
              <a:off x="6671216" y="765814"/>
              <a:ext cx="308250" cy="494711"/>
              <a:chOff x="2125012" y="-1063625"/>
              <a:chExt cx="1420813" cy="2235201"/>
            </a:xfrm>
          </p:grpSpPr>
          <p:sp>
            <p:nvSpPr>
              <p:cNvPr id="2189" name="Google Shape;2189;p128"/>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90" name="Google Shape;2190;p128"/>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191" name="Google Shape;2191;p128"/>
            <p:cNvGrpSpPr/>
            <p:nvPr/>
          </p:nvGrpSpPr>
          <p:grpSpPr>
            <a:xfrm>
              <a:off x="7987780" y="1794063"/>
              <a:ext cx="243489" cy="387124"/>
              <a:chOff x="6417856" y="340853"/>
              <a:chExt cx="217304" cy="589385"/>
            </a:xfrm>
          </p:grpSpPr>
          <p:sp>
            <p:nvSpPr>
              <p:cNvPr id="2192" name="Google Shape;2192;p128"/>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93" name="Google Shape;2193;p128"/>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194" name="Google Shape;2194;p128"/>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195" name="Google Shape;2195;p128"/>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196" name="Google Shape;2196;p128"/>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197" name="Google Shape;2197;p128"/>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198" name="Google Shape;2198;p12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199" name="Google Shape;2199;p128"/>
          <p:cNvGrpSpPr/>
          <p:nvPr/>
        </p:nvGrpSpPr>
        <p:grpSpPr>
          <a:xfrm>
            <a:off x="7717533" y="4360377"/>
            <a:ext cx="1058348" cy="347375"/>
            <a:chOff x="7651698" y="4287227"/>
            <a:chExt cx="1058348" cy="347375"/>
          </a:xfrm>
        </p:grpSpPr>
        <p:grpSp>
          <p:nvGrpSpPr>
            <p:cNvPr id="2200" name="Google Shape;2200;p128"/>
            <p:cNvGrpSpPr/>
            <p:nvPr/>
          </p:nvGrpSpPr>
          <p:grpSpPr>
            <a:xfrm>
              <a:off x="7714163" y="4337598"/>
              <a:ext cx="995883" cy="297004"/>
              <a:chOff x="7711013" y="3986494"/>
              <a:chExt cx="995883" cy="297004"/>
            </a:xfrm>
          </p:grpSpPr>
          <p:sp>
            <p:nvSpPr>
              <p:cNvPr id="2201" name="Google Shape;2201;p12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202" name="Google Shape;2202;p128"/>
              <p:cNvGrpSpPr/>
              <p:nvPr/>
            </p:nvGrpSpPr>
            <p:grpSpPr>
              <a:xfrm>
                <a:off x="7711013" y="4002615"/>
                <a:ext cx="281520" cy="241973"/>
                <a:chOff x="5652748" y="4066000"/>
                <a:chExt cx="906498" cy="747974"/>
              </a:xfrm>
            </p:grpSpPr>
            <p:sp>
              <p:nvSpPr>
                <p:cNvPr id="2203" name="Google Shape;2203;p12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04" name="Google Shape;2204;p12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205" name="Google Shape;2205;p12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206" name="Google Shape;2206;p128">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1" name="Shape 2211"/>
        <p:cNvGrpSpPr/>
        <p:nvPr/>
      </p:nvGrpSpPr>
      <p:grpSpPr>
        <a:xfrm>
          <a:off x="0" y="0"/>
          <a:ext cx="0" cy="0"/>
          <a:chOff x="0" y="0"/>
          <a:chExt cx="0" cy="0"/>
        </a:xfrm>
      </p:grpSpPr>
      <p:graphicFrame>
        <p:nvGraphicFramePr>
          <p:cNvPr id="2212" name="Google Shape;2212;p129"/>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Automated process to predict and update key words. Ranking algorithms are optimized for best results. Performance of search queries is monitored on a regular basis and declining performance is identified. A/B testing is utilized to measure search query and conversion improvement.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Automated process to create keywords and update. Beginning to develop and test improvements to ranking algorithms. Active measurement of customer abandonment both of search process directly and several “steps down the journey” from search.</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Reporting in place to identify zero and other under performing queries. Testing automated process to predict keywords. Proportionately higher utilisation and success of search versus less developed capability.</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Reports identify zero result queries. Manual process is in place  to add reduce zero result queries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Limited visibility and measurement of search query performance. Limited on-going maintenance of keywords to improve query results. Higher levels of customer abandonment.</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Bilingual SEO: Google.pk in Urdu + English content</a:t>
                      </a:r>
                    </a:p>
                    <a:p>
                      <a:r>
                        <a:rPr sz="800"/>
                        <a:t>Islamic banking keyword strategy: halal, Shariah-compliant, Islamic finance</a:t>
                      </a:r>
                    </a:p>
                    <a:p>
                      <a:r>
                        <a:rPr sz="800"/>
                        <a:t>Google My Business for 16,000+ branch locations (bank near me)</a:t>
                      </a:r>
                    </a:p>
                    <a:p>
                      <a:r>
                        <a:rPr sz="800"/>
                        <a:t>Diaspora SEO: Roshan Digital Account, NRP banking, send money to Pakistan</a:t>
                      </a:r>
                    </a:p>
                    <a:p>
                      <a:r>
                        <a:rPr sz="800"/>
                        <a:t>Seasonal SEO: Hajj savings, Ramadan banking, Eid loans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Capture 30%+ YoY growing banking search demand</a:t>
                      </a:r>
                      <a:endParaRPr/>
                    </a:p>
                    <a:p>
                      <a:r>
                        <a:rPr sz="800"/>
                        <a:t>First-mover advantage in Urdu banking content SEO</a:t>
                      </a:r>
                    </a:p>
                    <a:p>
                      <a:r>
                        <a:rPr sz="800"/>
                        <a:t>Local branch discovery: high-intent 'bank near me' searches</a:t>
                      </a:r>
                    </a:p>
                    <a:p>
                      <a:r>
                        <a:rPr sz="800"/>
                        <a:t>Diaspora account acquisition via targeted search keywords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213" name="Google Shape;2213;p129"/>
          <p:cNvGrpSpPr/>
          <p:nvPr/>
        </p:nvGrpSpPr>
        <p:grpSpPr>
          <a:xfrm>
            <a:off x="469900" y="3839136"/>
            <a:ext cx="8455025" cy="732866"/>
            <a:chOff x="211138" y="3972860"/>
            <a:chExt cx="8713787" cy="642437"/>
          </a:xfrm>
        </p:grpSpPr>
        <p:sp>
          <p:nvSpPr>
            <p:cNvPr id="2214" name="Google Shape;2214;p129"/>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215" name="Google Shape;2215;p129"/>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216" name="Google Shape;2216;p129"/>
          <p:cNvGrpSpPr/>
          <p:nvPr/>
        </p:nvGrpSpPr>
        <p:grpSpPr>
          <a:xfrm>
            <a:off x="7971865" y="980278"/>
            <a:ext cx="949325" cy="2867825"/>
            <a:chOff x="7941888" y="1062037"/>
            <a:chExt cx="983037" cy="2695575"/>
          </a:xfrm>
        </p:grpSpPr>
        <p:sp>
          <p:nvSpPr>
            <p:cNvPr id="2217" name="Google Shape;2217;p129"/>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218" name="Google Shape;2218;p129"/>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219" name="Google Shape;2219;p129"/>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Search Engine Optimization</a:t>
            </a:r>
            <a:endParaRPr>
              <a:solidFill>
                <a:schemeClr val="accent6"/>
              </a:solidFill>
            </a:endParaRPr>
          </a:p>
        </p:txBody>
      </p:sp>
      <p:sp>
        <p:nvSpPr>
          <p:cNvPr id="2220" name="Google Shape;2220;p12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5" name="Shape 2225"/>
        <p:cNvGrpSpPr/>
        <p:nvPr/>
      </p:nvGrpSpPr>
      <p:grpSpPr>
        <a:xfrm>
          <a:off x="0" y="0"/>
          <a:ext cx="0" cy="0"/>
          <a:chOff x="0" y="0"/>
          <a:chExt cx="0" cy="0"/>
        </a:xfrm>
      </p:grpSpPr>
      <p:cxnSp>
        <p:nvCxnSpPr>
          <p:cNvPr id="2226" name="Google Shape;2226;p13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227" name="Google Shape;2227;p13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Personalization</a:t>
            </a:r>
            <a:endParaRPr sz="1600"/>
          </a:p>
        </p:txBody>
      </p:sp>
      <p:graphicFrame>
        <p:nvGraphicFramePr>
          <p:cNvPr id="2228" name="Google Shape;2228;p13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Century Gothic"/>
                        <a:buNone/>
                      </a:pPr>
                      <a:r>
                        <a:rPr b="1" lang="en-GB" sz="900">
                          <a:solidFill>
                            <a:schemeClr val="dk1"/>
                          </a:solidFill>
                        </a:rPr>
                        <a:t>Move from mass customisation of offers (based on broad segments)</a:t>
                      </a:r>
                      <a:r>
                        <a:rPr b="1" lang="en-GB" sz="900">
                          <a:solidFill>
                            <a:schemeClr val="dk1"/>
                          </a:solidFill>
                        </a:rPr>
                        <a:t> </a:t>
                      </a:r>
                      <a:r>
                        <a:rPr b="1" lang="en-GB" sz="900">
                          <a:solidFill>
                            <a:schemeClr val="dk1"/>
                          </a:solidFill>
                        </a:rPr>
                        <a:t> to 1to</a:t>
                      </a:r>
                      <a:r>
                        <a:rPr b="1" lang="en-GB" sz="900">
                          <a:solidFill>
                            <a:schemeClr val="dk1"/>
                          </a:solidFill>
                        </a:rPr>
                        <a:t> 1</a:t>
                      </a:r>
                      <a:r>
                        <a:rPr b="1" lang="en-GB" sz="900">
                          <a:solidFill>
                            <a:schemeClr val="dk1"/>
                          </a:solidFill>
                        </a:rPr>
                        <a:t> personalisation of customer communications using individual customer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Reduce the level of ‘broadcast’ communication and engage with customers on a one to one basis.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Establish a more engaging dialogue with customers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Improve the perception of the brand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Increase the relevance of each communication to improve response</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Optimize marketing spend ROI by increasing leads effectiveness</a:t>
                      </a:r>
                      <a:endParaRPr/>
                    </a:p>
                    <a:p>
                      <a:r>
                        <a:rPr sz="900"/>
                        <a:t>Move from 'Dear Customer' SMS blasts to personalized offers based on individual behavior</a:t>
                      </a:r>
                    </a:p>
                    <a:p>
                      <a:r>
                        <a:rPr sz="900"/>
                        <a:t>Personalize by Islamic preference — detected from transaction patterns (Zakat, Islamic FD)</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Clr>
                          <a:schemeClr val="dk1"/>
                        </a:buClr>
                        <a:buSzPts val="900"/>
                        <a:buFont typeface="Arial"/>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Demographic, geo-demographic, behavioral or attitudinal 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Data from 1st party sources such as financial transactions, balances, account demographics, spending, attitudes or browsing behavior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Data from 3rd party sources such as social media including hobbies, interests or brand affinities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Individually personalized quotes or illustrations based on customer circumstances, feedback or enquiries</a:t>
                      </a:r>
                      <a:endParaRPr/>
                    </a:p>
                    <a:p>
                      <a:pPr indent="0" lvl="0" marL="0" marR="0" rtl="0" algn="l">
                        <a:spcBef>
                          <a:spcPts val="0"/>
                        </a:spcBef>
                        <a:spcAft>
                          <a:spcPts val="0"/>
                        </a:spcAft>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Analysis of individual personalized elements of an offer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Affinities, behavioral</a:t>
                      </a:r>
                      <a:r>
                        <a:rPr b="0" lang="en-GB" sz="900">
                          <a:solidFill>
                            <a:schemeClr val="dk1"/>
                          </a:solidFill>
                        </a:rPr>
                        <a:t> segmentation</a:t>
                      </a:r>
                      <a:endParaRPr b="0" sz="900">
                        <a:solidFill>
                          <a:schemeClr val="dk1"/>
                        </a:solidFill>
                      </a:endParaRPr>
                    </a:p>
                    <a:p>
                      <a:r>
                        <a:rPr sz="900"/>
                        <a:t>Language personalization: Urdu for mass market, English for corporate/affluent, bilingual hybrid</a:t>
                      </a:r>
                    </a:p>
                    <a:p>
                      <a:r>
                        <a:rPr sz="900"/>
                        <a:t>Life-stage personalization: youth/student, working professional, family, retired, diaspora</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response from content that customers find more relevant to their individual circumstances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Dynamical adaptation of customer interface</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conversion through more specific explanation of benefits / features or products and services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Higher levels of engagement and satisfaction with a companies’ brand due to more accurate messaging </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streamline creative production processes as result of move from segment based composition to individual construction of media using technologies like inline digital print</a:t>
                      </a:r>
                      <a:endParaRPr/>
                    </a:p>
                    <a:p>
                      <a:r>
                        <a:rPr sz="900"/>
                        <a:t>Personalize digital experience — relevant products on mobile app home screen</a:t>
                      </a:r>
                    </a:p>
                    <a:p>
                      <a:r>
                        <a:rPr sz="900"/>
                        <a:t>4-level personalization ladder: name &gt; segment &gt; behavioral &gt; individual real-time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229" name="Google Shape;2229;p130"/>
          <p:cNvGrpSpPr/>
          <p:nvPr/>
        </p:nvGrpSpPr>
        <p:grpSpPr>
          <a:xfrm>
            <a:off x="6659508" y="225152"/>
            <a:ext cx="2432605" cy="1508418"/>
            <a:chOff x="6030133" y="723902"/>
            <a:chExt cx="2432605" cy="1508418"/>
          </a:xfrm>
        </p:grpSpPr>
        <p:sp>
          <p:nvSpPr>
            <p:cNvPr id="2230" name="Google Shape;2230;p130"/>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231" name="Google Shape;2231;p130"/>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32" name="Google Shape;2232;p130"/>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33" name="Google Shape;2233;p130"/>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34" name="Google Shape;2234;p130"/>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235" name="Google Shape;2235;p130"/>
            <p:cNvGrpSpPr/>
            <p:nvPr/>
          </p:nvGrpSpPr>
          <p:grpSpPr>
            <a:xfrm>
              <a:off x="8107751" y="1342792"/>
              <a:ext cx="276507" cy="393460"/>
              <a:chOff x="6954288" y="1678075"/>
              <a:chExt cx="679456" cy="947737"/>
            </a:xfrm>
          </p:grpSpPr>
          <p:sp>
            <p:nvSpPr>
              <p:cNvPr id="2236" name="Google Shape;2236;p130"/>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37" name="Google Shape;2237;p130"/>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38" name="Google Shape;2238;p130"/>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39" name="Google Shape;2239;p130"/>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40" name="Google Shape;2240;p130"/>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241" name="Google Shape;2241;p130"/>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2" name="Google Shape;2242;p130"/>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3" name="Google Shape;2243;p130"/>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244" name="Google Shape;2244;p130"/>
            <p:cNvGrpSpPr/>
            <p:nvPr/>
          </p:nvGrpSpPr>
          <p:grpSpPr>
            <a:xfrm>
              <a:off x="6671216" y="765814"/>
              <a:ext cx="308250" cy="494711"/>
              <a:chOff x="2125012" y="-1063625"/>
              <a:chExt cx="1420813" cy="2235201"/>
            </a:xfrm>
          </p:grpSpPr>
          <p:sp>
            <p:nvSpPr>
              <p:cNvPr id="2245" name="Google Shape;2245;p130"/>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6" name="Google Shape;2246;p130"/>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247" name="Google Shape;2247;p130"/>
            <p:cNvGrpSpPr/>
            <p:nvPr/>
          </p:nvGrpSpPr>
          <p:grpSpPr>
            <a:xfrm>
              <a:off x="7987780" y="1794063"/>
              <a:ext cx="243489" cy="387124"/>
              <a:chOff x="6417856" y="340853"/>
              <a:chExt cx="217304" cy="589385"/>
            </a:xfrm>
          </p:grpSpPr>
          <p:sp>
            <p:nvSpPr>
              <p:cNvPr id="2248" name="Google Shape;2248;p130"/>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49" name="Google Shape;2249;p130"/>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250" name="Google Shape;2250;p130"/>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251" name="Google Shape;2251;p130"/>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252" name="Google Shape;2252;p130"/>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53" name="Google Shape;2253;p130"/>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254" name="Google Shape;2254;p13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255" name="Google Shape;2255;p130"/>
          <p:cNvGrpSpPr/>
          <p:nvPr/>
        </p:nvGrpSpPr>
        <p:grpSpPr>
          <a:xfrm>
            <a:off x="7717533" y="4360377"/>
            <a:ext cx="1058348" cy="347375"/>
            <a:chOff x="7651698" y="4287227"/>
            <a:chExt cx="1058348" cy="347375"/>
          </a:xfrm>
        </p:grpSpPr>
        <p:grpSp>
          <p:nvGrpSpPr>
            <p:cNvPr id="2256" name="Google Shape;2256;p130"/>
            <p:cNvGrpSpPr/>
            <p:nvPr/>
          </p:nvGrpSpPr>
          <p:grpSpPr>
            <a:xfrm>
              <a:off x="7714163" y="4337598"/>
              <a:ext cx="995883" cy="297004"/>
              <a:chOff x="7711013" y="3986494"/>
              <a:chExt cx="995883" cy="297004"/>
            </a:xfrm>
          </p:grpSpPr>
          <p:sp>
            <p:nvSpPr>
              <p:cNvPr id="2257" name="Google Shape;2257;p13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258" name="Google Shape;2258;p130"/>
              <p:cNvGrpSpPr/>
              <p:nvPr/>
            </p:nvGrpSpPr>
            <p:grpSpPr>
              <a:xfrm>
                <a:off x="7711013" y="4002615"/>
                <a:ext cx="281520" cy="241973"/>
                <a:chOff x="5652748" y="4066000"/>
                <a:chExt cx="906498" cy="747974"/>
              </a:xfrm>
            </p:grpSpPr>
            <p:sp>
              <p:nvSpPr>
                <p:cNvPr id="2259" name="Google Shape;2259;p13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260" name="Google Shape;2260;p13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261" name="Google Shape;2261;p13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262" name="Google Shape;2262;p130">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7" name="Shape 2267"/>
        <p:cNvGrpSpPr/>
        <p:nvPr/>
      </p:nvGrpSpPr>
      <p:grpSpPr>
        <a:xfrm>
          <a:off x="0" y="0"/>
          <a:ext cx="0" cy="0"/>
          <a:chOff x="0" y="0"/>
          <a:chExt cx="0" cy="0"/>
        </a:xfrm>
      </p:grpSpPr>
      <p:graphicFrame>
        <p:nvGraphicFramePr>
          <p:cNvPr id="2268" name="Google Shape;2268;p131"/>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Personalisation beyond simple customer data. Offers can also be dynamically flexed based on advanced analytics, 3rd party data (e.g. Social Media) and complex business rules. Multiple assets within a creative can be personalised using document composition technology. Campaigns have millions of unique variants.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Personalisation at individual customer level  and dynamically driven based on details data (transactions, interactions, demographics, derived data or scores) and business rules. Copy and content within an execution can be personalised with individual illustrations. Campaigns can have 000’s of variants.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 Personalisation and customisation can happen beyond basic fields. Micro segmentation drives better offer choices and campaign details can be applied, using business rules.</a:t>
                      </a:r>
                      <a:endParaRPr/>
                    </a:p>
                    <a:p>
                      <a:pPr indent="0" lvl="0" marL="0" marR="0" rtl="0" algn="l">
                        <a:lnSpc>
                          <a:spcPct val="100000"/>
                        </a:lnSpc>
                        <a:spcBef>
                          <a:spcPts val="0"/>
                        </a:spcBef>
                        <a:spcAft>
                          <a:spcPts val="0"/>
                        </a:spcAft>
                        <a:buClr>
                          <a:schemeClr val="dk1"/>
                        </a:buClr>
                        <a:buSzPts val="900"/>
                        <a:buFont typeface="Century Gothic"/>
                        <a:buNone/>
                      </a:pPr>
                      <a:r>
                        <a:t/>
                      </a:r>
                      <a:endParaRPr b="0" sz="900">
                        <a:solidFill>
                          <a:schemeClr val="dk1"/>
                        </a:solidFill>
                        <a:latin typeface="Century Gothic"/>
                        <a:ea typeface="Century Gothic"/>
                        <a:cs typeface="Century Gothic"/>
                        <a:sym typeface="Century Gothic"/>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Personalization of banners or images based on large customer segments and simple business rules or analytics (example: product preference)</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900"/>
                        <a:buFont typeface="Century Gothic"/>
                        <a:buNone/>
                      </a:pPr>
                      <a:r>
                        <a:rPr b="0" lang="en-GB" sz="900">
                          <a:solidFill>
                            <a:schemeClr val="dk1"/>
                          </a:solidFill>
                          <a:latin typeface="Century Gothic"/>
                          <a:ea typeface="Century Gothic"/>
                          <a:cs typeface="Century Gothic"/>
                          <a:sym typeface="Century Gothic"/>
                        </a:rPr>
                        <a:t>Limited personalisation of basic fields (eg, name). Campaign activity still cell based with no offer customisation capabilities.</a:t>
                      </a:r>
                      <a:endParaRPr/>
                    </a:p>
                  </a:txBody>
                  <a:tcPr marT="46800" marB="46800" marR="46800" marL="468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Move from broadcast to 5-layer personalization: name &gt; segment &gt; behavioral &gt; context &gt; predictive</a:t>
                      </a:r>
                    </a:p>
                    <a:p>
                      <a:r>
                        <a:rPr sz="800"/>
                        <a:t>Islamic preference personalization: Shariah-compliant product recommendations</a:t>
                      </a:r>
                    </a:p>
                    <a:p>
                      <a:r>
                        <a:rPr sz="800"/>
                        <a:t>Language personalization: Urdu mass, English HNW, bilingual youth</a:t>
                      </a:r>
                    </a:p>
                    <a:p>
                      <a:r>
                        <a:rPr sz="800"/>
                        <a:t>Life-stage personalization: student &gt; professional &gt; home buyer &gt; retiree</a:t>
                      </a:r>
                    </a:p>
                    <a:p>
                      <a:r>
                        <a:rPr sz="800"/>
                        <a:t>Islamic calendar-aware content: Ramadan, Eid, Shab-e-Qadr</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3-5x lift from segment-based vs broadcast marketing</a:t>
                      </a:r>
                      <a:endParaRPr/>
                    </a:p>
                    <a:p>
                      <a:r>
                        <a:rPr sz="800"/>
                        <a:t>15-20% higher response with Urdu personalization in Tier 2/3</a:t>
                      </a:r>
                    </a:p>
                    <a:p>
                      <a:r>
                        <a:rPr sz="800"/>
                        <a:t>Islamic preference routing captures Shariah-conscious market share</a:t>
                      </a:r>
                    </a:p>
                    <a:p>
                      <a:r>
                        <a:rPr sz="800"/>
                        <a:t>Life-stage relevance increases product adoption rates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269" name="Google Shape;2269;p131"/>
          <p:cNvGrpSpPr/>
          <p:nvPr/>
        </p:nvGrpSpPr>
        <p:grpSpPr>
          <a:xfrm>
            <a:off x="469900" y="3839136"/>
            <a:ext cx="8455025" cy="732866"/>
            <a:chOff x="211138" y="3972860"/>
            <a:chExt cx="8713787" cy="642437"/>
          </a:xfrm>
        </p:grpSpPr>
        <p:sp>
          <p:nvSpPr>
            <p:cNvPr id="2270" name="Google Shape;2270;p131"/>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271" name="Google Shape;2271;p131"/>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272" name="Google Shape;2272;p131"/>
          <p:cNvGrpSpPr/>
          <p:nvPr/>
        </p:nvGrpSpPr>
        <p:grpSpPr>
          <a:xfrm>
            <a:off x="7971865" y="980278"/>
            <a:ext cx="949325" cy="2867825"/>
            <a:chOff x="7941888" y="1062037"/>
            <a:chExt cx="983037" cy="2695575"/>
          </a:xfrm>
        </p:grpSpPr>
        <p:sp>
          <p:nvSpPr>
            <p:cNvPr id="2273" name="Google Shape;2273;p131"/>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274" name="Google Shape;2274;p131"/>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275" name="Google Shape;2275;p131"/>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Personalization</a:t>
            </a:r>
            <a:endParaRPr>
              <a:solidFill>
                <a:schemeClr val="accent6"/>
              </a:solidFill>
            </a:endParaRPr>
          </a:p>
        </p:txBody>
      </p:sp>
      <p:sp>
        <p:nvSpPr>
          <p:cNvPr id="2276" name="Google Shape;2276;p13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1" name="Shape 2281"/>
        <p:cNvGrpSpPr/>
        <p:nvPr/>
      </p:nvGrpSpPr>
      <p:grpSpPr>
        <a:xfrm>
          <a:off x="0" y="0"/>
          <a:ext cx="0" cy="0"/>
          <a:chOff x="0" y="0"/>
          <a:chExt cx="0" cy="0"/>
        </a:xfrm>
      </p:grpSpPr>
      <p:cxnSp>
        <p:nvCxnSpPr>
          <p:cNvPr id="2282" name="Google Shape;2282;p13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283" name="Google Shape;2283;p13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Next Best Action Arbitration </a:t>
            </a:r>
            <a:endParaRPr/>
          </a:p>
        </p:txBody>
      </p:sp>
      <p:graphicFrame>
        <p:nvGraphicFramePr>
          <p:cNvPr id="2284" name="Google Shape;2284;p13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Determining the next best action for a customer when they interact with the company</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Calculate the next best action for a customer by arbitrating across the possible customer treatments that could be presented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Prioritise possible customer treatments using models and segmentation based on the current value, potential value, propensity and status of the customer relationship</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 customer treatment strategies based on strategic objectives such as retain, cross sell, reduce risk, reduce cost or exit</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Create customer differentiated actions relevant to the status of the customer relationship and the recommendation – i.e. preferential service / pricing / relationship offer etc.</a:t>
                      </a:r>
                      <a:endParaRPr/>
                    </a:p>
                    <a:p>
                      <a:r>
                        <a:rPr sz="900"/>
                        <a:t>NBA arbitrates: cross-sell, retention, service recovery, risk alerts, compliance notifications</a:t>
                      </a:r>
                    </a:p>
                    <a:p>
                      <a:r>
                        <a:rPr sz="900"/>
                        <a:t>NBA must consider Islamic preference — never recommend conventional to Islamic-pref customer</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Value – current, potential and remaining</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segmentation, satisfaction scores, complaints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Propensity Models for a number of outcomes including leave, cross-sell, up-sell, use service,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context when interacting in channel &amp; contact history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Development of arbitration algorithms / decisioning to prioritize Next Best Action recommendation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Tracking of recommendation uptake – including product purchase / service usage / channel usage / product usage behavior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Longer term tracking of strategic customer measures such as profitability / satisfaction / average product holdings / channel usage</a:t>
                      </a:r>
                      <a:endParaRPr/>
                    </a:p>
                    <a:p>
                      <a:r>
                        <a:rPr sz="900"/>
                        <a:t>Prioritize by: customer value, propensity, recency of last contact, channel context, urgency</a:t>
                      </a:r>
                    </a:p>
                    <a:p>
                      <a:r>
                        <a:rPr sz="900"/>
                        <a:t>Deploy NBA at: branch counter, mobile app home, contact center agent screen, ATM message</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More appropriate customer  messaging (not just cross sales or offers) based on depth and nature of customer relationship</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focus on retention of profitable customer relationships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Better alignment between strategy and execution of activity</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More balanced offer solicitation across both sales and service – with the objective of deepening customer relationships and improving customer satisfaction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customer perception of company communications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Lower marketing opt out rates caused by over solicitation</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Branch cross-sell: from &lt;5% to 15-20% response with data-driven recommendations</a:t>
                      </a:r>
                    </a:p>
                    <a:p>
                      <a:r>
                        <a:rPr sz="900"/>
                        <a:t>Contact center: from zero cross-sell to 5-8% conversion on inbound calls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285" name="Google Shape;2285;p132"/>
          <p:cNvGrpSpPr/>
          <p:nvPr/>
        </p:nvGrpSpPr>
        <p:grpSpPr>
          <a:xfrm>
            <a:off x="6659508" y="225152"/>
            <a:ext cx="2432605" cy="1508418"/>
            <a:chOff x="6030133" y="723902"/>
            <a:chExt cx="2432605" cy="1508418"/>
          </a:xfrm>
        </p:grpSpPr>
        <p:sp>
          <p:nvSpPr>
            <p:cNvPr id="2286" name="Google Shape;2286;p132"/>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287" name="Google Shape;2287;p132"/>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88" name="Google Shape;2288;p132"/>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89" name="Google Shape;2289;p132"/>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90" name="Google Shape;2290;p132"/>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291" name="Google Shape;2291;p132"/>
            <p:cNvGrpSpPr/>
            <p:nvPr/>
          </p:nvGrpSpPr>
          <p:grpSpPr>
            <a:xfrm>
              <a:off x="8107751" y="1342792"/>
              <a:ext cx="276507" cy="393460"/>
              <a:chOff x="6954288" y="1678075"/>
              <a:chExt cx="679456" cy="947737"/>
            </a:xfrm>
          </p:grpSpPr>
          <p:sp>
            <p:nvSpPr>
              <p:cNvPr id="2292" name="Google Shape;2292;p132"/>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3" name="Google Shape;2293;p132"/>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4" name="Google Shape;2294;p132"/>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5" name="Google Shape;2295;p132"/>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296" name="Google Shape;2296;p132"/>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297" name="Google Shape;2297;p132"/>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98" name="Google Shape;2298;p132"/>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299" name="Google Shape;2299;p132"/>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300" name="Google Shape;2300;p132"/>
            <p:cNvGrpSpPr/>
            <p:nvPr/>
          </p:nvGrpSpPr>
          <p:grpSpPr>
            <a:xfrm>
              <a:off x="6671216" y="765814"/>
              <a:ext cx="308250" cy="494711"/>
              <a:chOff x="2125012" y="-1063625"/>
              <a:chExt cx="1420813" cy="2235201"/>
            </a:xfrm>
          </p:grpSpPr>
          <p:sp>
            <p:nvSpPr>
              <p:cNvPr id="2301" name="Google Shape;2301;p132"/>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02" name="Google Shape;2302;p132"/>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303" name="Google Shape;2303;p132"/>
            <p:cNvGrpSpPr/>
            <p:nvPr/>
          </p:nvGrpSpPr>
          <p:grpSpPr>
            <a:xfrm>
              <a:off x="7987780" y="1794063"/>
              <a:ext cx="243489" cy="387124"/>
              <a:chOff x="6417856" y="340853"/>
              <a:chExt cx="217304" cy="589385"/>
            </a:xfrm>
          </p:grpSpPr>
          <p:sp>
            <p:nvSpPr>
              <p:cNvPr id="2304" name="Google Shape;2304;p132"/>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05" name="Google Shape;2305;p132"/>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06" name="Google Shape;2306;p132"/>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307" name="Google Shape;2307;p132"/>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308" name="Google Shape;2308;p132"/>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09" name="Google Shape;2309;p132"/>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310" name="Google Shape;2310;p13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311" name="Google Shape;2311;p132"/>
          <p:cNvGrpSpPr/>
          <p:nvPr/>
        </p:nvGrpSpPr>
        <p:grpSpPr>
          <a:xfrm>
            <a:off x="7717533" y="4360377"/>
            <a:ext cx="1058348" cy="347375"/>
            <a:chOff x="7651698" y="4287227"/>
            <a:chExt cx="1058348" cy="347375"/>
          </a:xfrm>
        </p:grpSpPr>
        <p:grpSp>
          <p:nvGrpSpPr>
            <p:cNvPr id="2312" name="Google Shape;2312;p132"/>
            <p:cNvGrpSpPr/>
            <p:nvPr/>
          </p:nvGrpSpPr>
          <p:grpSpPr>
            <a:xfrm>
              <a:off x="7714163" y="4337598"/>
              <a:ext cx="995883" cy="297004"/>
              <a:chOff x="7711013" y="3986494"/>
              <a:chExt cx="995883" cy="297004"/>
            </a:xfrm>
          </p:grpSpPr>
          <p:sp>
            <p:nvSpPr>
              <p:cNvPr id="2313" name="Google Shape;2313;p13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314" name="Google Shape;2314;p132"/>
              <p:cNvGrpSpPr/>
              <p:nvPr/>
            </p:nvGrpSpPr>
            <p:grpSpPr>
              <a:xfrm>
                <a:off x="7711013" y="4002615"/>
                <a:ext cx="281520" cy="241973"/>
                <a:chOff x="5652748" y="4066000"/>
                <a:chExt cx="906498" cy="747974"/>
              </a:xfrm>
            </p:grpSpPr>
            <p:sp>
              <p:nvSpPr>
                <p:cNvPr id="2315" name="Google Shape;2315;p13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16" name="Google Shape;2316;p13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317" name="Google Shape;2317;p13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318" name="Google Shape;2318;p132">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3" name="Shape 2323"/>
        <p:cNvGrpSpPr/>
        <p:nvPr/>
      </p:nvGrpSpPr>
      <p:grpSpPr>
        <a:xfrm>
          <a:off x="0" y="0"/>
          <a:ext cx="0" cy="0"/>
          <a:chOff x="0" y="0"/>
          <a:chExt cx="0" cy="0"/>
        </a:xfrm>
      </p:grpSpPr>
      <p:graphicFrame>
        <p:nvGraphicFramePr>
          <p:cNvPr id="2324" name="Google Shape;2324;p133"/>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Next best action arbitration applied consistently across real time and batch campaign engines. NBA logic dynamically calculated in real-time using context of interaction in inbound channels. NBA addresses different business objectives such as cross sales, retention, cost reduction or risk reduction.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Next best action arbitration for a broad range of customer treatments across a wide range of inbound channels. NBA logic uses diverse sources of data such as customer segmentation, predictive models, triggers and customer value measures.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Next best action arbitration extended to  a comprehensive set of customer actions driven primarily from individual level decisioning performed against an expanding set of data sources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Next best action arbitration extended to cover broader set of customer actions driven primarily from individual level decisioning performed against  predictive models.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Simple next best action arbitration performed in batch using prioritisation of a limited set of offers and actions across a small number of customer segments.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NBA deployment at branch (RM tablet), mobile app, contact center</a:t>
                      </a:r>
                    </a:p>
                    <a:p>
                      <a:r>
                        <a:rPr sz="800"/>
                        <a:t>Arbitration engine: value x propensity x offer value x business priority x contact policy</a:t>
                      </a:r>
                    </a:p>
                    <a:p>
                      <a:r>
                        <a:rPr sz="800"/>
                        <a:t>Islamic product alternative in every arbitration set</a:t>
                      </a:r>
                    </a:p>
                    <a:p>
                      <a:r>
                        <a:rPr sz="800"/>
                        <a:t>Real-time NBA for RAAST/IBFT transaction triggers</a:t>
                      </a:r>
                    </a:p>
                    <a:p>
                      <a:r>
                        <a:rPr sz="800"/>
                        <a:t>SBP cooling-off period and suitability constraints in arbitration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Branch cross-sell: &lt;5% to 15-20% response with data-driven NBA</a:t>
                      </a:r>
                      <a:endParaRPr/>
                    </a:p>
                    <a:p>
                      <a:r>
                        <a:rPr sz="800"/>
                        <a:t>Contact center: zero to 5-8% cross-sell on inbound calls</a:t>
                      </a:r>
                    </a:p>
                    <a:p>
                      <a:r>
                        <a:rPr sz="800"/>
                        <a:t>Mobile app: &lt;1% banner click to 5-10% personalized engagement</a:t>
                      </a:r>
                    </a:p>
                    <a:p>
                      <a:r>
                        <a:rPr sz="800"/>
                        <a:t>Holistic customer treatment: right offer, right channel, right time</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325" name="Google Shape;2325;p133"/>
          <p:cNvGrpSpPr/>
          <p:nvPr/>
        </p:nvGrpSpPr>
        <p:grpSpPr>
          <a:xfrm>
            <a:off x="469900" y="3839136"/>
            <a:ext cx="8455025" cy="732866"/>
            <a:chOff x="211138" y="3972860"/>
            <a:chExt cx="8713787" cy="642437"/>
          </a:xfrm>
        </p:grpSpPr>
        <p:sp>
          <p:nvSpPr>
            <p:cNvPr id="2326" name="Google Shape;2326;p133"/>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327" name="Google Shape;2327;p133"/>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328" name="Google Shape;2328;p133"/>
          <p:cNvGrpSpPr/>
          <p:nvPr/>
        </p:nvGrpSpPr>
        <p:grpSpPr>
          <a:xfrm>
            <a:off x="7971865" y="980278"/>
            <a:ext cx="949325" cy="2867825"/>
            <a:chOff x="7941888" y="1062037"/>
            <a:chExt cx="983037" cy="2695575"/>
          </a:xfrm>
        </p:grpSpPr>
        <p:sp>
          <p:nvSpPr>
            <p:cNvPr id="2329" name="Google Shape;2329;p133"/>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330" name="Google Shape;2330;p133"/>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331" name="Google Shape;2331;p133"/>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Next Best Action Arbitration</a:t>
            </a:r>
            <a:endParaRPr/>
          </a:p>
        </p:txBody>
      </p:sp>
      <p:sp>
        <p:nvSpPr>
          <p:cNvPr id="2332" name="Google Shape;2332;p13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7" name="Shape 2337"/>
        <p:cNvGrpSpPr/>
        <p:nvPr/>
      </p:nvGrpSpPr>
      <p:grpSpPr>
        <a:xfrm>
          <a:off x="0" y="0"/>
          <a:ext cx="0" cy="0"/>
          <a:chOff x="0" y="0"/>
          <a:chExt cx="0" cy="0"/>
        </a:xfrm>
      </p:grpSpPr>
      <p:cxnSp>
        <p:nvCxnSpPr>
          <p:cNvPr id="2338" name="Google Shape;2338;p134"/>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339" name="Google Shape;2339;p134"/>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Recommendation</a:t>
            </a:r>
            <a:endParaRPr sz="1600"/>
          </a:p>
        </p:txBody>
      </p:sp>
      <p:grpSp>
        <p:nvGrpSpPr>
          <p:cNvPr id="2340" name="Google Shape;2340;p134"/>
          <p:cNvGrpSpPr/>
          <p:nvPr/>
        </p:nvGrpSpPr>
        <p:grpSpPr>
          <a:xfrm>
            <a:off x="6659508" y="225152"/>
            <a:ext cx="2432605" cy="1508418"/>
            <a:chOff x="6030133" y="723902"/>
            <a:chExt cx="2432605" cy="1508418"/>
          </a:xfrm>
        </p:grpSpPr>
        <p:sp>
          <p:nvSpPr>
            <p:cNvPr id="2341" name="Google Shape;2341;p134"/>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342" name="Google Shape;2342;p134"/>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43" name="Google Shape;2343;p134"/>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44" name="Google Shape;2344;p134"/>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45" name="Google Shape;2345;p134"/>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346" name="Google Shape;2346;p134"/>
            <p:cNvGrpSpPr/>
            <p:nvPr/>
          </p:nvGrpSpPr>
          <p:grpSpPr>
            <a:xfrm>
              <a:off x="8107751" y="1342792"/>
              <a:ext cx="276507" cy="393460"/>
              <a:chOff x="6954288" y="1678075"/>
              <a:chExt cx="679456" cy="947737"/>
            </a:xfrm>
          </p:grpSpPr>
          <p:sp>
            <p:nvSpPr>
              <p:cNvPr id="2347" name="Google Shape;2347;p134"/>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48" name="Google Shape;2348;p134"/>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49" name="Google Shape;2349;p134"/>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50" name="Google Shape;2350;p134"/>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351" name="Google Shape;2351;p134"/>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352" name="Google Shape;2352;p134"/>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53" name="Google Shape;2353;p134"/>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54" name="Google Shape;2354;p134"/>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355" name="Google Shape;2355;p134"/>
            <p:cNvGrpSpPr/>
            <p:nvPr/>
          </p:nvGrpSpPr>
          <p:grpSpPr>
            <a:xfrm>
              <a:off x="6671216" y="765814"/>
              <a:ext cx="308250" cy="494711"/>
              <a:chOff x="2125012" y="-1063625"/>
              <a:chExt cx="1420813" cy="2235201"/>
            </a:xfrm>
          </p:grpSpPr>
          <p:sp>
            <p:nvSpPr>
              <p:cNvPr id="2356" name="Google Shape;2356;p134"/>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57" name="Google Shape;2357;p134"/>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358" name="Google Shape;2358;p134"/>
            <p:cNvGrpSpPr/>
            <p:nvPr/>
          </p:nvGrpSpPr>
          <p:grpSpPr>
            <a:xfrm>
              <a:off x="7987780" y="1794063"/>
              <a:ext cx="243489" cy="387124"/>
              <a:chOff x="6417856" y="340853"/>
              <a:chExt cx="217304" cy="589385"/>
            </a:xfrm>
          </p:grpSpPr>
          <p:sp>
            <p:nvSpPr>
              <p:cNvPr id="2359" name="Google Shape;2359;p134"/>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60" name="Google Shape;2360;p134"/>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61" name="Google Shape;2361;p134"/>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362" name="Google Shape;2362;p134"/>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363" name="Google Shape;2363;p134"/>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364" name="Google Shape;2364;p134"/>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aphicFrame>
        <p:nvGraphicFramePr>
          <p:cNvPr id="2365" name="Google Shape;2365;p134"/>
          <p:cNvGraphicFramePr/>
          <p:nvPr/>
        </p:nvGraphicFramePr>
        <p:xfrm>
          <a:off x="382967" y="707190"/>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Present the most relevant product</a:t>
                      </a:r>
                      <a:r>
                        <a:rPr b="1" lang="en-GB" sz="900">
                          <a:solidFill>
                            <a:schemeClr val="dk1"/>
                          </a:solidFill>
                        </a:rPr>
                        <a:t> recommendation(s) based upon a customer/prospects interactions and previous behaviour</a:t>
                      </a:r>
                      <a:endParaRPr b="1" sz="900">
                        <a:solidFill>
                          <a:schemeClr val="dk1"/>
                        </a:solidFill>
                      </a:endParaRPr>
                    </a:p>
                    <a:p>
                      <a:pPr indent="0" lvl="0" marL="0" marR="0" rtl="0" algn="l">
                        <a:spcBef>
                          <a:spcPts val="0"/>
                        </a:spcBef>
                        <a:spcAft>
                          <a:spcPts val="0"/>
                        </a:spcAft>
                        <a:buNone/>
                      </a:pPr>
                      <a:r>
                        <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Drive</a:t>
                      </a:r>
                      <a:r>
                        <a:rPr b="0" lang="en-GB" sz="900">
                          <a:solidFill>
                            <a:schemeClr val="dk1"/>
                          </a:solidFill>
                        </a:rPr>
                        <a:t> increased transaction or basket size through product recommendations</a:t>
                      </a:r>
                      <a:endParaRPr b="0" sz="900">
                        <a:solidFill>
                          <a:schemeClr val="dk1"/>
                        </a:solidFill>
                      </a:endParaRPr>
                    </a:p>
                    <a:p>
                      <a:r>
                        <a:rPr sz="900"/>
                        <a:t>Pakistan product affinity: CASA &gt; Debit &gt; Credit Card &gt; Personal Loan &gt; Auto &gt; Home &gt; Insurance &gt; Investment</a:t>
                      </a:r>
                    </a:p>
                    <a:p>
                      <a:r>
                        <a:rPr sz="900"/>
                        <a:t>Factor in Islamic product alternatives for every conventional recommendation</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Extensive past</a:t>
                      </a:r>
                      <a:r>
                        <a:rPr b="0" lang="en-GB" sz="900">
                          <a:solidFill>
                            <a:schemeClr val="dk1"/>
                          </a:solidFill>
                        </a:rPr>
                        <a:t> customer purchasing histories</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demographics &amp; segmentation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context when interacting in channel</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Customer contact history</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Multiple affinity analysis techniques – EG C Filter, Graph</a:t>
                      </a:r>
                      <a:r>
                        <a:rPr b="0" lang="en-GB" sz="900">
                          <a:solidFill>
                            <a:schemeClr val="dk1"/>
                          </a:solidFill>
                        </a:rPr>
                        <a:t> Analysis, Propensity Modelling</a:t>
                      </a:r>
                      <a:endParaRPr b="0"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Development of arbitration algorithms / decisioning to prioritise product recommendation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Tracking of recommendation uptake – including product purchase / service usage / channel usage / product usage behavior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Longer term tracking of strategic customer measures such as profitability / satisfaction / average product holdings / channel usa</a:t>
                      </a:r>
                      <a:endParaRPr b="0" sz="900">
                        <a:solidFill>
                          <a:schemeClr val="dk1"/>
                        </a:solidFill>
                      </a:endParaRPr>
                    </a:p>
                    <a:p>
                      <a:r>
                        <a:rPr sz="900"/>
                        <a:t>Leverage transaction classification for relevant recs (frequent remitter &gt; forex card, travel insurance)</a:t>
                      </a:r>
                    </a:p>
                    <a:p>
                      <a:r>
                        <a:rPr sz="900"/>
                        <a:t>Recommend government savings products (NSS, PIBs) for conservative/senior segments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product sales and margin driven from improved recommendations and better targeted offers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Increased Customer Satisfaction &amp; Engagement</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Islamic alternative in every recommendation (conventional + Shariah option)</a:t>
                      </a:r>
                    </a:p>
                    <a:p>
                      <a:r>
                        <a:rPr sz="900"/>
                        <a:t>Products-per-customer from 1.8 to 3.0+ via data-driven recommendations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366" name="Google Shape;2366;p134">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367" name="Google Shape;2367;p134"/>
          <p:cNvGrpSpPr/>
          <p:nvPr/>
        </p:nvGrpSpPr>
        <p:grpSpPr>
          <a:xfrm>
            <a:off x="7717533" y="4360377"/>
            <a:ext cx="1058348" cy="347375"/>
            <a:chOff x="7651698" y="4287227"/>
            <a:chExt cx="1058348" cy="347375"/>
          </a:xfrm>
        </p:grpSpPr>
        <p:grpSp>
          <p:nvGrpSpPr>
            <p:cNvPr id="2368" name="Google Shape;2368;p134"/>
            <p:cNvGrpSpPr/>
            <p:nvPr/>
          </p:nvGrpSpPr>
          <p:grpSpPr>
            <a:xfrm>
              <a:off x="7714163" y="4337598"/>
              <a:ext cx="995883" cy="297004"/>
              <a:chOff x="7711013" y="3986494"/>
              <a:chExt cx="995883" cy="297004"/>
            </a:xfrm>
          </p:grpSpPr>
          <p:sp>
            <p:nvSpPr>
              <p:cNvPr id="2369" name="Google Shape;2369;p134"/>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370" name="Google Shape;2370;p134"/>
              <p:cNvGrpSpPr/>
              <p:nvPr/>
            </p:nvGrpSpPr>
            <p:grpSpPr>
              <a:xfrm>
                <a:off x="7711013" y="4002615"/>
                <a:ext cx="281520" cy="241973"/>
                <a:chOff x="5652748" y="4066000"/>
                <a:chExt cx="906498" cy="747974"/>
              </a:xfrm>
            </p:grpSpPr>
            <p:sp>
              <p:nvSpPr>
                <p:cNvPr id="2371" name="Google Shape;2371;p134"/>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372" name="Google Shape;2372;p134"/>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373" name="Google Shape;2373;p134"/>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374" name="Google Shape;2374;p134">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9" name="Shape 2379"/>
        <p:cNvGrpSpPr/>
        <p:nvPr/>
      </p:nvGrpSpPr>
      <p:grpSpPr>
        <a:xfrm>
          <a:off x="0" y="0"/>
          <a:ext cx="0" cy="0"/>
          <a:chOff x="0" y="0"/>
          <a:chExt cx="0" cy="0"/>
        </a:xfrm>
      </p:grpSpPr>
      <p:graphicFrame>
        <p:nvGraphicFramePr>
          <p:cNvPr id="2380" name="Google Shape;2380;p135"/>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Highly contextual product offers based upon personal past purchase/browsing histories over extended timescales, fully automated real time delivery, utilising  the fullest extent of external data  (eg. location/weather ) and internal data (store range and stock) and profit optimisation strategies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More extended affinity considerations/models potentially with more diverse offers (eg link or bridge products, directional affinities). Extending the recommendation outside of product only to wider offers – eg based upon past interactions (dropped basket due to excess delivery charges – offer – free delivery). Utilise predictive techniques on attributes driving customer behaviour.</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154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Move to individual customer-level recommendations with increasing scope and time horizons – eg product purchase patterns over time  and overlaid with external factors (weather)</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More complex recommendations based upon segment based customer behaviours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Simple (often binary) product recommendation based upon average customer behaviour (typically at gross product level)</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Product affinity pipeline: CASA &gt; debit &gt; credit card &gt; loan &gt; auto &gt; home &gt; insurance</a:t>
                      </a:r>
                    </a:p>
                    <a:p>
                      <a:r>
                        <a:rPr sz="800"/>
                        <a:t>Salary-triggered recommendations within 24 hours of salary credit</a:t>
                      </a:r>
                    </a:p>
                    <a:p>
                      <a:r>
                        <a:rPr sz="800"/>
                        <a:t>Life-event detection: marriage, child, Hajj intent, retirement triggers</a:t>
                      </a:r>
                    </a:p>
                    <a:p>
                      <a:r>
                        <a:rPr sz="800"/>
                        <a:t>Diaspora pipeline: remittance &gt; Roshan Digital &gt; NPC &gt; property</a:t>
                      </a:r>
                    </a:p>
                    <a:p>
                      <a:r>
                        <a:rPr sz="800"/>
                        <a:t>Islamic alternative in every product recommendation set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Higher product holdings per customer (from 1.5 to 3+ products)</a:t>
                      </a:r>
                      <a:endParaRPr/>
                    </a:p>
                    <a:p>
                      <a:r>
                        <a:rPr sz="800"/>
                        <a:t>Salary-day conversion: highest response window in Pakistan banking</a:t>
                      </a:r>
                    </a:p>
                    <a:p>
                      <a:r>
                        <a:rPr sz="800"/>
                        <a:t>Islamic product capture: 40%+ customers prefer Shariah-compliant</a:t>
                      </a:r>
                    </a:p>
                    <a:p>
                      <a:r>
                        <a:rPr sz="800"/>
                        <a:t>Diaspora monetization: high-value Roshan Digital products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381" name="Google Shape;2381;p135"/>
          <p:cNvGrpSpPr/>
          <p:nvPr/>
        </p:nvGrpSpPr>
        <p:grpSpPr>
          <a:xfrm>
            <a:off x="469900" y="3839136"/>
            <a:ext cx="8455025" cy="732866"/>
            <a:chOff x="211138" y="3972860"/>
            <a:chExt cx="8713787" cy="642437"/>
          </a:xfrm>
        </p:grpSpPr>
        <p:sp>
          <p:nvSpPr>
            <p:cNvPr id="2382" name="Google Shape;2382;p135"/>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383" name="Google Shape;2383;p135"/>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384" name="Google Shape;2384;p135"/>
          <p:cNvGrpSpPr/>
          <p:nvPr/>
        </p:nvGrpSpPr>
        <p:grpSpPr>
          <a:xfrm>
            <a:off x="7971865" y="980278"/>
            <a:ext cx="949325" cy="2867825"/>
            <a:chOff x="7941888" y="1062037"/>
            <a:chExt cx="983037" cy="2695575"/>
          </a:xfrm>
        </p:grpSpPr>
        <p:sp>
          <p:nvSpPr>
            <p:cNvPr id="2385" name="Google Shape;2385;p135"/>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386" name="Google Shape;2386;p135"/>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387" name="Google Shape;2387;p135"/>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Product Recommendation</a:t>
            </a:r>
            <a:endParaRPr>
              <a:solidFill>
                <a:schemeClr val="accent6"/>
              </a:solidFill>
            </a:endParaRPr>
          </a:p>
        </p:txBody>
      </p:sp>
      <p:sp>
        <p:nvSpPr>
          <p:cNvPr id="2388" name="Google Shape;2388;p135">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3" name="Shape 2393"/>
        <p:cNvGrpSpPr/>
        <p:nvPr/>
      </p:nvGrpSpPr>
      <p:grpSpPr>
        <a:xfrm>
          <a:off x="0" y="0"/>
          <a:ext cx="0" cy="0"/>
          <a:chOff x="0" y="0"/>
          <a:chExt cx="0" cy="0"/>
        </a:xfrm>
      </p:grpSpPr>
      <p:cxnSp>
        <p:nvCxnSpPr>
          <p:cNvPr id="2394" name="Google Shape;2394;p136"/>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395" name="Google Shape;2395;p136"/>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Multi-step Campaigns</a:t>
            </a:r>
            <a:endParaRPr/>
          </a:p>
        </p:txBody>
      </p:sp>
      <p:graphicFrame>
        <p:nvGraphicFramePr>
          <p:cNvPr id="2396" name="Google Shape;2396;p136"/>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Create relevant 2-way dialogue </a:t>
                      </a:r>
                      <a:r>
                        <a:rPr b="1" lang="en-GB" sz="900">
                          <a:solidFill>
                            <a:schemeClr val="dk1"/>
                          </a:solidFill>
                        </a:rPr>
                        <a:t> with customers by determining next interaction based on outcome of previous  interactions</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Traditional directly marketing activity employed single step episodic approaches when communicating with customers – largely ignoring any feedback received  from the customer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Use multi-step dialogues to improve the relevance of customer communications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Tailor the content of each step based on the outcomes (or lack of outcome) received from the previous step of a campaign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Orchestrate complex customer journeys - as the detail of outcomes / feedback captured improves and channel coverage expands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Dynamically react to customer journeys at a micro level as the interaction progresses E.g. online customer journey click by click</a:t>
                      </a:r>
                      <a:endParaRPr/>
                    </a:p>
                    <a:p>
                      <a:r>
                        <a:rPr sz="900"/>
                        <a:t>Islamic-calendar-aware sequences: Ramadan awareness, Zakat, Islamic investment, Eid greeting</a:t>
                      </a:r>
                    </a:p>
                    <a:p>
                      <a:r>
                        <a:rPr sz="900"/>
                        <a:t>Salary-day sequence: Day 1 savings nudge, Day 7 investment, Day 14 lending, Day 28 reminder</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Event triggers and customer listening agents to trigger contact opportunities / measure success</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Detailed closed loop outcomes from channels to trigger stepping of campaign activity</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Campaign management functionality to orchestrate customer journey steps and automate campaign execution</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Contact policy framework to control solicitation</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Detailed campaign analysis – show proportion of customers being stepped through campaign communications and measurement of success criteria at each stage</a:t>
                      </a:r>
                      <a:endParaRPr/>
                    </a:p>
                    <a:p>
                      <a:pPr indent="-171450" lvl="0" marL="171450" marR="0" rtl="0" algn="l">
                        <a:lnSpc>
                          <a:spcPct val="95000"/>
                        </a:lnSpc>
                        <a:spcBef>
                          <a:spcPts val="0"/>
                        </a:spcBef>
                        <a:spcAft>
                          <a:spcPts val="0"/>
                        </a:spcAft>
                        <a:buClr>
                          <a:schemeClr val="dk1"/>
                        </a:buClr>
                        <a:buSzPts val="800"/>
                        <a:buFont typeface="Arial"/>
                        <a:buChar char="•"/>
                      </a:pPr>
                      <a:r>
                        <a:rPr b="0" lang="en-GB" sz="800">
                          <a:solidFill>
                            <a:schemeClr val="dk1"/>
                          </a:solidFill>
                        </a:rPr>
                        <a:t>Test &amp; learn analytics to optimise content / targeting within and across campaign steps</a:t>
                      </a:r>
                      <a:endParaRPr/>
                    </a:p>
                    <a:p>
                      <a:r>
                        <a:rPr sz="900"/>
                        <a:t>Onboarding sequence: welcome &gt; app download &gt; first txn &gt; card activation &gt; cross-sell &gt; 90-day check</a:t>
                      </a:r>
                    </a:p>
                    <a:p>
                      <a:r>
                        <a:rPr sz="900"/>
                        <a:t>Design sequences that work across SMS to WhatsApp to in-app to branch handoff</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response to campaigns as a result of relevant and linked communication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Reduced cost of activity through qualified follow-ups and channel optimisation for follow-up messaging</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 customer perception of relevance of communications with reduction in the number of marketing opt outs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Efficiency improvements from ability to automate activity using campaign management tools</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Seasonal campaign lift: 3-5x response during Ramadan/Eid windows</a:t>
                      </a:r>
                    </a:p>
                    <a:p>
                      <a:r>
                        <a:rPr sz="900"/>
                        <a:t>Onboarding completion from 30% to 60%+ via automated drip sequences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397" name="Google Shape;2397;p136"/>
          <p:cNvGrpSpPr/>
          <p:nvPr/>
        </p:nvGrpSpPr>
        <p:grpSpPr>
          <a:xfrm>
            <a:off x="6659508" y="225152"/>
            <a:ext cx="2432605" cy="1508418"/>
            <a:chOff x="6030133" y="723902"/>
            <a:chExt cx="2432605" cy="1508418"/>
          </a:xfrm>
        </p:grpSpPr>
        <p:sp>
          <p:nvSpPr>
            <p:cNvPr id="2398" name="Google Shape;2398;p136"/>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399" name="Google Shape;2399;p136"/>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00" name="Google Shape;2400;p136"/>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01" name="Google Shape;2401;p136"/>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02" name="Google Shape;2402;p136"/>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03" name="Google Shape;2403;p136"/>
            <p:cNvGrpSpPr/>
            <p:nvPr/>
          </p:nvGrpSpPr>
          <p:grpSpPr>
            <a:xfrm>
              <a:off x="8107751" y="1342792"/>
              <a:ext cx="276507" cy="393460"/>
              <a:chOff x="6954288" y="1678075"/>
              <a:chExt cx="679456" cy="947737"/>
            </a:xfrm>
          </p:grpSpPr>
          <p:sp>
            <p:nvSpPr>
              <p:cNvPr id="2404" name="Google Shape;2404;p136"/>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5" name="Google Shape;2405;p136"/>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6" name="Google Shape;2406;p136"/>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7" name="Google Shape;2407;p136"/>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08" name="Google Shape;2408;p136"/>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409" name="Google Shape;2409;p136"/>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0" name="Google Shape;2410;p136"/>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1" name="Google Shape;2411;p136"/>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12" name="Google Shape;2412;p136"/>
            <p:cNvGrpSpPr/>
            <p:nvPr/>
          </p:nvGrpSpPr>
          <p:grpSpPr>
            <a:xfrm>
              <a:off x="6671216" y="765814"/>
              <a:ext cx="308250" cy="494711"/>
              <a:chOff x="2125012" y="-1063625"/>
              <a:chExt cx="1420813" cy="2235201"/>
            </a:xfrm>
          </p:grpSpPr>
          <p:sp>
            <p:nvSpPr>
              <p:cNvPr id="2413" name="Google Shape;2413;p136"/>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4" name="Google Shape;2414;p136"/>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415" name="Google Shape;2415;p136"/>
            <p:cNvGrpSpPr/>
            <p:nvPr/>
          </p:nvGrpSpPr>
          <p:grpSpPr>
            <a:xfrm>
              <a:off x="7987780" y="1794063"/>
              <a:ext cx="243489" cy="387124"/>
              <a:chOff x="6417856" y="340853"/>
              <a:chExt cx="217304" cy="589385"/>
            </a:xfrm>
          </p:grpSpPr>
          <p:sp>
            <p:nvSpPr>
              <p:cNvPr id="2416" name="Google Shape;2416;p136"/>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17" name="Google Shape;2417;p136"/>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18" name="Google Shape;2418;p136"/>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419" name="Google Shape;2419;p136"/>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420" name="Google Shape;2420;p136"/>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21" name="Google Shape;2421;p136"/>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422" name="Google Shape;2422;p136">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423" name="Google Shape;2423;p136"/>
          <p:cNvGrpSpPr/>
          <p:nvPr/>
        </p:nvGrpSpPr>
        <p:grpSpPr>
          <a:xfrm>
            <a:off x="7717533" y="4360377"/>
            <a:ext cx="1058348" cy="347375"/>
            <a:chOff x="7651698" y="4287227"/>
            <a:chExt cx="1058348" cy="347375"/>
          </a:xfrm>
        </p:grpSpPr>
        <p:grpSp>
          <p:nvGrpSpPr>
            <p:cNvPr id="2424" name="Google Shape;2424;p136"/>
            <p:cNvGrpSpPr/>
            <p:nvPr/>
          </p:nvGrpSpPr>
          <p:grpSpPr>
            <a:xfrm>
              <a:off x="7714163" y="4337598"/>
              <a:ext cx="995883" cy="297004"/>
              <a:chOff x="7711013" y="3986494"/>
              <a:chExt cx="995883" cy="297004"/>
            </a:xfrm>
          </p:grpSpPr>
          <p:sp>
            <p:nvSpPr>
              <p:cNvPr id="2425" name="Google Shape;2425;p136"/>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426" name="Google Shape;2426;p136"/>
              <p:cNvGrpSpPr/>
              <p:nvPr/>
            </p:nvGrpSpPr>
            <p:grpSpPr>
              <a:xfrm>
                <a:off x="7711013" y="4002615"/>
                <a:ext cx="281520" cy="241973"/>
                <a:chOff x="5652748" y="4066000"/>
                <a:chExt cx="906498" cy="747974"/>
              </a:xfrm>
            </p:grpSpPr>
            <p:sp>
              <p:nvSpPr>
                <p:cNvPr id="2427" name="Google Shape;2427;p136"/>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428" name="Google Shape;2428;p136"/>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429" name="Google Shape;2429;p136"/>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430" name="Google Shape;2430;p136">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5" name="Shape 2435"/>
        <p:cNvGrpSpPr/>
        <p:nvPr/>
      </p:nvGrpSpPr>
      <p:grpSpPr>
        <a:xfrm>
          <a:off x="0" y="0"/>
          <a:ext cx="0" cy="0"/>
          <a:chOff x="0" y="0"/>
          <a:chExt cx="0" cy="0"/>
        </a:xfrm>
      </p:grpSpPr>
      <p:graphicFrame>
        <p:nvGraphicFramePr>
          <p:cNvPr id="2436" name="Google Shape;2436;p137"/>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Advanced use of multi-step techniques to orchestrate customer journeys across channels and create dialogue based approaches. Stepping criteria  uses a variety of events, triggers and customer listening techniques such as response outcomes and inferred responses. Subsequent steps always re-qualify initial product / offer and channel eligibility criteria. Real-time event may over-ride or change  timing or content of next action.</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Multi-step approach embedded into campaign design. Stepping criteria  uses a variety of events and triggers such as customer response outcomes  and inferred responses. Subsequent steps always re-qualify initial eligibility criteria.</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Multi-step approach largely embedded into campaign design. Stepping criteria  uses a small selection of events and triggers such as  customer response outcomes  or non-response</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Use of multi-step starting to be used in some campaigns – primarily to trigger follow up activity to non responders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Majority of campaigns are single step – monologue based repeated on regular basis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Ramadan 30-day campaign sequence: Zakat &gt; invest &gt; Sadaqah &gt; Eid</a:t>
                      </a:r>
                    </a:p>
                    <a:p>
                      <a:r>
                        <a:rPr sz="800"/>
                        <a:t>Salary-day monthly sequence: savings nudge &gt; bill pay &gt; invest &gt; lending</a:t>
                      </a:r>
                    </a:p>
                    <a:p>
                      <a:r>
                        <a:rPr sz="800"/>
                        <a:t>90-day onboarding drip: welcome &gt; app &gt; first RAAST &gt; card &gt; cross-sell</a:t>
                      </a:r>
                    </a:p>
                    <a:p>
                      <a:r>
                        <a:rPr sz="800"/>
                        <a:t>Win-back campaign: dormancy &gt; re-engage &gt; RM call &gt; offer &gt; notice</a:t>
                      </a:r>
                    </a:p>
                    <a:p>
                      <a:r>
                        <a:rPr sz="800"/>
                        <a:t>Cross-channel sequences: SMS &gt; WhatsApp &gt; In-app &gt; Branch handoff</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3-5x campaign lift during Ramadan/Eid seasonal windows</a:t>
                      </a:r>
                      <a:endParaRPr/>
                    </a:p>
                    <a:p>
                      <a:r>
                        <a:rPr sz="800"/>
                        <a:t>60% onboarding completion vs 30% without drip sequence</a:t>
                      </a:r>
                    </a:p>
                    <a:p>
                      <a:r>
                        <a:rPr sz="800"/>
                        <a:t>Reduced dormancy through automated win-back sequences</a:t>
                      </a:r>
                    </a:p>
                    <a:p>
                      <a:r>
                        <a:rPr sz="800"/>
                        <a:t>Calendar-driven revenue from Islamic seasonal opportunities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437" name="Google Shape;2437;p137"/>
          <p:cNvGrpSpPr/>
          <p:nvPr/>
        </p:nvGrpSpPr>
        <p:grpSpPr>
          <a:xfrm>
            <a:off x="469900" y="3839136"/>
            <a:ext cx="8455025" cy="732866"/>
            <a:chOff x="211138" y="3972860"/>
            <a:chExt cx="8713787" cy="642437"/>
          </a:xfrm>
        </p:grpSpPr>
        <p:sp>
          <p:nvSpPr>
            <p:cNvPr id="2438" name="Google Shape;2438;p137"/>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439" name="Google Shape;2439;p137"/>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440" name="Google Shape;2440;p137"/>
          <p:cNvGrpSpPr/>
          <p:nvPr/>
        </p:nvGrpSpPr>
        <p:grpSpPr>
          <a:xfrm>
            <a:off x="7971865" y="980278"/>
            <a:ext cx="949325" cy="2867825"/>
            <a:chOff x="7941888" y="1062037"/>
            <a:chExt cx="983037" cy="2695575"/>
          </a:xfrm>
        </p:grpSpPr>
        <p:sp>
          <p:nvSpPr>
            <p:cNvPr id="2441" name="Google Shape;2441;p137"/>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442" name="Google Shape;2442;p137"/>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443" name="Google Shape;2443;p137"/>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Multi-step Campaigns</a:t>
            </a:r>
            <a:endParaRPr/>
          </a:p>
        </p:txBody>
      </p:sp>
      <p:sp>
        <p:nvSpPr>
          <p:cNvPr id="2444" name="Google Shape;2444;p137">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9" name="Shape 2449"/>
        <p:cNvGrpSpPr/>
        <p:nvPr/>
      </p:nvGrpSpPr>
      <p:grpSpPr>
        <a:xfrm>
          <a:off x="0" y="0"/>
          <a:ext cx="0" cy="0"/>
          <a:chOff x="0" y="0"/>
          <a:chExt cx="0" cy="0"/>
        </a:xfrm>
      </p:grpSpPr>
      <p:graphicFrame>
        <p:nvGraphicFramePr>
          <p:cNvPr id="2450" name="Google Shape;2450;p138"/>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lnSpc>
                          <a:spcPct val="100000"/>
                        </a:lnSpc>
                        <a:spcBef>
                          <a:spcPts val="0"/>
                        </a:spcBef>
                        <a:spcAft>
                          <a:spcPts val="0"/>
                        </a:spcAft>
                        <a:buClr>
                          <a:schemeClr val="dk1"/>
                        </a:buClr>
                        <a:buSzPts val="900"/>
                        <a:buFont typeface="Century Gothic"/>
                        <a:buNone/>
                      </a:pPr>
                      <a:r>
                        <a:rPr lang="en-GB" sz="900"/>
                        <a:t>Analyzing the impact a specific campaign  or groups of campaigns against the goal for the campaign and</a:t>
                      </a:r>
                      <a:r>
                        <a:rPr lang="en-GB" sz="900"/>
                        <a:t> utilize that information to improve the results of future campaigns</a:t>
                      </a:r>
                      <a:endParaRPr sz="900"/>
                    </a:p>
                    <a:p>
                      <a:pPr indent="0" lvl="0" marL="0" marR="0" rtl="0" algn="l">
                        <a:spcBef>
                          <a:spcPts val="0"/>
                        </a:spcBef>
                        <a:spcAft>
                          <a:spcPts val="0"/>
                        </a:spcAft>
                        <a:buNone/>
                      </a:pPr>
                      <a:r>
                        <a:t/>
                      </a:r>
                      <a:endParaRPr b="1" sz="900">
                        <a:solidFill>
                          <a:schemeClr val="dk1"/>
                        </a:solidFill>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Measure how</a:t>
                      </a:r>
                      <a:r>
                        <a:rPr b="0" lang="en-GB" sz="900">
                          <a:solidFill>
                            <a:schemeClr val="dk1"/>
                          </a:solidFill>
                        </a:rPr>
                        <a:t> well each campaign is achieving its state goal – e.g., sales,  retention, upgrades, channel migration, etc. – across products, regions, demographics and other relevant segmentation criteria.</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Utilize Right-Time analytics to transform those results into  potentially enhanced messaging, targeting and offering for subsequent iterations of that same campaign.</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Monitor select KPIs beyond the stated objectives to understand any significant “unintended consequences” of the campaign.</a:t>
                      </a:r>
                      <a:endParaRPr/>
                    </a:p>
                    <a:p>
                      <a:pPr indent="-114300" lvl="0" marL="171450" marR="0" rtl="0" algn="l">
                        <a:spcBef>
                          <a:spcPts val="0"/>
                        </a:spcBef>
                        <a:spcAft>
                          <a:spcPts val="0"/>
                        </a:spcAft>
                        <a:buClr>
                          <a:schemeClr val="dk1"/>
                        </a:buClr>
                        <a:buSzPts val="900"/>
                        <a:buFont typeface="Arial"/>
                        <a:buNone/>
                      </a:pPr>
                      <a:r>
                        <a:t/>
                      </a:r>
                      <a:endParaRPr b="0" sz="900">
                        <a:solidFill>
                          <a:schemeClr val="dk1"/>
                        </a:solidFill>
                      </a:endParaRPr>
                    </a:p>
                    <a:p>
                      <a:r>
                        <a:rPr sz="900"/>
                        <a:t>Implement control groups for ALL campaigns — currently rare in Pakistan banking</a:t>
                      </a:r>
                    </a:p>
                    <a:p>
                      <a:r>
                        <a:rPr sz="900"/>
                        <a:t>Measure incremental value, not just response count — additional revenue vs control</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Campaign Targeting and Control Group Information</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Pre-campaign, current  and post-campaign data for relevant metrics (e.g., sales, retention, upgrades,  channel usage, etc.)</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Pre-campaign, current and post-campaign data on other KPIs, not a point of focus for the particular campaign</a:t>
                      </a:r>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Champion-challenger (A/B) testing</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Path Analytics for multi-touch campaigns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Profitability and Life-Time Value (LTV) analysis</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Sophisticated response measurement based on actual and inferred response metrics.</a:t>
                      </a:r>
                      <a:endParaRPr/>
                    </a:p>
                    <a:p>
                      <a:pPr indent="0" lvl="0" marL="0" marR="0" rtl="0" algn="l">
                        <a:spcBef>
                          <a:spcPts val="0"/>
                        </a:spcBef>
                        <a:spcAft>
                          <a:spcPts val="0"/>
                        </a:spcAft>
                        <a:buClr>
                          <a:schemeClr val="dk1"/>
                        </a:buClr>
                        <a:buSzPts val="900"/>
                        <a:buFont typeface="Arial"/>
                        <a:buNone/>
                      </a:pPr>
                      <a:r>
                        <a:rPr lang="en-GB" sz="900">
                          <a:solidFill>
                            <a:schemeClr val="dk1"/>
                          </a:solidFill>
                        </a:rPr>
                        <a:t>.</a:t>
                      </a:r>
                      <a:endParaRPr/>
                    </a:p>
                    <a:p>
                      <a:r>
                        <a:rPr sz="900"/>
                        <a:t>Track beyond 7-day window — Pakistan customers take 14-30 days to act on financial offers</a:t>
                      </a:r>
                    </a:p>
                    <a:p>
                      <a:r>
                        <a:rPr sz="900"/>
                        <a:t>Compare channel effectiveness: cost-per-conversion across SMS, WhatsApp, in-app, branch, agent</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performance (sales, retention, channel migration, etc.) from campaigns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A process in which campaigns can be modified in-flight based on quantitative results relative to control groups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ability to create subsequent campaigns based on relevant learnings from previous campaigns.</a:t>
                      </a:r>
                      <a:endParaRPr/>
                    </a:p>
                    <a:p>
                      <a:pPr indent="0" lvl="0" marL="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Build CMO dashboard: campaign ROI, acquisition cost by channel, response rates by segment</a:t>
                      </a:r>
                    </a:p>
                    <a:p>
                      <a:r>
                        <a:rPr sz="900"/>
                        <a:t>Data-driven budget allocation vs current gut-feel marketing spend decisions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2451" name="Google Shape;2451;p138"/>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452" name="Google Shape;2452;p138">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
        <p:nvSpPr>
          <p:cNvPr id="2453" name="Google Shape;2453;p138"/>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Effectiveness</a:t>
            </a:r>
            <a:endParaRPr/>
          </a:p>
        </p:txBody>
      </p:sp>
      <p:grpSp>
        <p:nvGrpSpPr>
          <p:cNvPr id="2454" name="Google Shape;2454;p138"/>
          <p:cNvGrpSpPr/>
          <p:nvPr/>
        </p:nvGrpSpPr>
        <p:grpSpPr>
          <a:xfrm>
            <a:off x="6659508" y="225152"/>
            <a:ext cx="2432605" cy="1508418"/>
            <a:chOff x="6030133" y="723902"/>
            <a:chExt cx="2432605" cy="1508418"/>
          </a:xfrm>
        </p:grpSpPr>
        <p:sp>
          <p:nvSpPr>
            <p:cNvPr id="2455" name="Google Shape;2455;p138"/>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456" name="Google Shape;2456;p138"/>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57" name="Google Shape;2457;p138"/>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58" name="Google Shape;2458;p138"/>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59" name="Google Shape;2459;p138"/>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60" name="Google Shape;2460;p138"/>
            <p:cNvGrpSpPr/>
            <p:nvPr/>
          </p:nvGrpSpPr>
          <p:grpSpPr>
            <a:xfrm>
              <a:off x="8107751" y="1342792"/>
              <a:ext cx="276507" cy="393460"/>
              <a:chOff x="6954288" y="1678075"/>
              <a:chExt cx="679456" cy="947737"/>
            </a:xfrm>
          </p:grpSpPr>
          <p:sp>
            <p:nvSpPr>
              <p:cNvPr id="2461" name="Google Shape;2461;p138"/>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2" name="Google Shape;2462;p138"/>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3" name="Google Shape;2463;p138"/>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4" name="Google Shape;2464;p138"/>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465" name="Google Shape;2465;p138"/>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466" name="Google Shape;2466;p138"/>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67" name="Google Shape;2467;p138"/>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68" name="Google Shape;2468;p138"/>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469" name="Google Shape;2469;p138"/>
            <p:cNvGrpSpPr/>
            <p:nvPr/>
          </p:nvGrpSpPr>
          <p:grpSpPr>
            <a:xfrm>
              <a:off x="6671216" y="765814"/>
              <a:ext cx="308250" cy="494711"/>
              <a:chOff x="2125012" y="-1063625"/>
              <a:chExt cx="1420813" cy="2235201"/>
            </a:xfrm>
          </p:grpSpPr>
          <p:sp>
            <p:nvSpPr>
              <p:cNvPr id="2470" name="Google Shape;2470;p138"/>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71" name="Google Shape;2471;p138"/>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472" name="Google Shape;2472;p138"/>
            <p:cNvGrpSpPr/>
            <p:nvPr/>
          </p:nvGrpSpPr>
          <p:grpSpPr>
            <a:xfrm>
              <a:off x="7987780" y="1794063"/>
              <a:ext cx="243489" cy="387124"/>
              <a:chOff x="6417856" y="340853"/>
              <a:chExt cx="217304" cy="589385"/>
            </a:xfrm>
          </p:grpSpPr>
          <p:sp>
            <p:nvSpPr>
              <p:cNvPr id="2473" name="Google Shape;2473;p138"/>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74" name="Google Shape;2474;p138"/>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475" name="Google Shape;2475;p138"/>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476" name="Google Shape;2476;p138"/>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477" name="Google Shape;2477;p138"/>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478" name="Google Shape;2478;p138"/>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479" name="Google Shape;2479;p138"/>
          <p:cNvGrpSpPr/>
          <p:nvPr/>
        </p:nvGrpSpPr>
        <p:grpSpPr>
          <a:xfrm>
            <a:off x="7717533" y="4360377"/>
            <a:ext cx="1058348" cy="347375"/>
            <a:chOff x="7651698" y="4287227"/>
            <a:chExt cx="1058348" cy="347375"/>
          </a:xfrm>
        </p:grpSpPr>
        <p:grpSp>
          <p:nvGrpSpPr>
            <p:cNvPr id="2480" name="Google Shape;2480;p138"/>
            <p:cNvGrpSpPr/>
            <p:nvPr/>
          </p:nvGrpSpPr>
          <p:grpSpPr>
            <a:xfrm>
              <a:off x="7714163" y="4337598"/>
              <a:ext cx="995883" cy="297004"/>
              <a:chOff x="7711013" y="3986494"/>
              <a:chExt cx="995883" cy="297004"/>
            </a:xfrm>
          </p:grpSpPr>
          <p:sp>
            <p:nvSpPr>
              <p:cNvPr id="2481" name="Google Shape;2481;p138"/>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482" name="Google Shape;2482;p138"/>
              <p:cNvGrpSpPr/>
              <p:nvPr/>
            </p:nvGrpSpPr>
            <p:grpSpPr>
              <a:xfrm>
                <a:off x="7711013" y="4002615"/>
                <a:ext cx="281520" cy="241973"/>
                <a:chOff x="5652748" y="4066000"/>
                <a:chExt cx="906498" cy="747974"/>
              </a:xfrm>
            </p:grpSpPr>
            <p:sp>
              <p:nvSpPr>
                <p:cNvPr id="2483" name="Google Shape;2483;p138"/>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484" name="Google Shape;2484;p138"/>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485" name="Google Shape;2485;p138"/>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486" name="Google Shape;2486;p138">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1" name="Shape 2491"/>
        <p:cNvGrpSpPr/>
        <p:nvPr/>
      </p:nvGrpSpPr>
      <p:grpSpPr>
        <a:xfrm>
          <a:off x="0" y="0"/>
          <a:ext cx="0" cy="0"/>
          <a:chOff x="0" y="0"/>
          <a:chExt cx="0" cy="0"/>
        </a:xfrm>
      </p:grpSpPr>
      <p:graphicFrame>
        <p:nvGraphicFramePr>
          <p:cNvPr id="2492" name="Google Shape;2492;p139"/>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Ability to project the Lifetime Value impact of campaigns based on how the customer responses affect current profitability, loyalty, etc. – and to modify targeting, messaging and offers accordingly to maximize that LTV. Move towards the development of sophisticated marketing attribution techniques to weight campaign contribution versus ATL or other BTL activity over an extended timescale.</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Ability to modify on-going and future campaigns based on the interim results of the current campaign and final results of previous campaigns – on a segment- or micro-segment-basis.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rgbClr val="FF0000"/>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Processes and skills  in place to collect and understand  results by customer segment and micro-segment. Increasing sophistication of inference based measurement accounting for customer variability in following specified calls to action.</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Commitment to and ability to execute and understand Champion/Challenger (A/B) testing</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ability to measure and report upon sales, upgrades, channel usage by the target audience based on actual response or simple inference.</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Implement control groups for ALL campaigns — currently rare in Pakistan</a:t>
                      </a:r>
                    </a:p>
                    <a:p>
                      <a:r>
                        <a:rPr sz="800"/>
                        <a:t>Measure incremental value vs control, not just response count</a:t>
                      </a:r>
                    </a:p>
                    <a:p>
                      <a:r>
                        <a:rPr sz="800"/>
                        <a:t>Track beyond 7-day window — Pakistan customers take 14-30 days to act</a:t>
                      </a:r>
                    </a:p>
                    <a:p>
                      <a:r>
                        <a:rPr sz="800"/>
                        <a:t>Channel cost-per-conversion: SMS vs WhatsApp vs in-app vs branch vs agent</a:t>
                      </a:r>
                    </a:p>
                    <a:p>
                      <a:r>
                        <a:rPr sz="800"/>
                        <a:t>CMO dashboard: campaign ROI, acquisition cost, response rates by segment</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5-10x target ROI vs current unmeasured 2-3x industry average</a:t>
                      </a:r>
                      <a:endParaRPr/>
                    </a:p>
                    <a:p>
                      <a:r>
                        <a:rPr sz="800"/>
                        <a:t>Budget reallocation from low-ROI to high-ROI channels</a:t>
                      </a:r>
                    </a:p>
                    <a:p>
                      <a:r>
                        <a:rPr sz="800"/>
                        <a:t>Answer basic questions most Pakistan banks cannot answer today</a:t>
                      </a:r>
                    </a:p>
                    <a:p>
                      <a:r>
                        <a:rPr sz="800"/>
                        <a:t>Data-driven marketing budget justification to board</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493" name="Google Shape;2493;p139"/>
          <p:cNvGrpSpPr/>
          <p:nvPr/>
        </p:nvGrpSpPr>
        <p:grpSpPr>
          <a:xfrm>
            <a:off x="469900" y="3839136"/>
            <a:ext cx="8455025" cy="732866"/>
            <a:chOff x="211138" y="3972860"/>
            <a:chExt cx="8713787" cy="642437"/>
          </a:xfrm>
        </p:grpSpPr>
        <p:sp>
          <p:nvSpPr>
            <p:cNvPr id="2494" name="Google Shape;2494;p139"/>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495" name="Google Shape;2495;p139"/>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496" name="Google Shape;2496;p139"/>
          <p:cNvGrpSpPr/>
          <p:nvPr/>
        </p:nvGrpSpPr>
        <p:grpSpPr>
          <a:xfrm>
            <a:off x="7971865" y="980278"/>
            <a:ext cx="949325" cy="2867825"/>
            <a:chOff x="7941888" y="1062037"/>
            <a:chExt cx="983037" cy="2695575"/>
          </a:xfrm>
        </p:grpSpPr>
        <p:sp>
          <p:nvSpPr>
            <p:cNvPr id="2497" name="Google Shape;2497;p139"/>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498" name="Google Shape;2498;p139"/>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499" name="Google Shape;2499;p139"/>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Effectiveness</a:t>
            </a:r>
            <a:endParaRPr/>
          </a:p>
        </p:txBody>
      </p:sp>
      <p:sp>
        <p:nvSpPr>
          <p:cNvPr id="2500" name="Google Shape;2500;p139">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5" name="Shape 2505"/>
        <p:cNvGrpSpPr/>
        <p:nvPr/>
      </p:nvGrpSpPr>
      <p:grpSpPr>
        <a:xfrm>
          <a:off x="0" y="0"/>
          <a:ext cx="0" cy="0"/>
          <a:chOff x="0" y="0"/>
          <a:chExt cx="0" cy="0"/>
        </a:xfrm>
      </p:grpSpPr>
      <p:cxnSp>
        <p:nvCxnSpPr>
          <p:cNvPr id="2506" name="Google Shape;2506;p140"/>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507" name="Google Shape;2507;p140"/>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Attribution</a:t>
            </a:r>
            <a:endParaRPr sz="1600"/>
          </a:p>
        </p:txBody>
      </p:sp>
      <p:graphicFrame>
        <p:nvGraphicFramePr>
          <p:cNvPr id="2508" name="Google Shape;2508;p140"/>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Clr>
                          <a:schemeClr val="dk1"/>
                        </a:buClr>
                        <a:buSzPts val="900"/>
                        <a:buFont typeface="Century Gothic"/>
                        <a:buNone/>
                      </a:pPr>
                      <a:r>
                        <a:rPr b="1" lang="en-GB" sz="900"/>
                        <a:t>Analyze  customer path to conversion  to determine the impact  of interactions  on conversion and  attribute the value of each interaction to sales, or some other specific conversion type</a:t>
                      </a:r>
                      <a:endParaRPr b="1" sz="900"/>
                    </a:p>
                    <a:p>
                      <a:pPr indent="-171450" lvl="0" marL="171450" marR="0" rtl="0" algn="l">
                        <a:spcBef>
                          <a:spcPts val="0"/>
                        </a:spcBef>
                        <a:spcAft>
                          <a:spcPts val="0"/>
                        </a:spcAft>
                        <a:buClr>
                          <a:schemeClr val="dk1"/>
                        </a:buClr>
                        <a:buSzPts val="900"/>
                        <a:buFont typeface="Arial"/>
                        <a:buChar char="•"/>
                      </a:pPr>
                      <a:r>
                        <a:rPr b="0" lang="en-GB" sz="900">
                          <a:solidFill>
                            <a:schemeClr val="dk1"/>
                          </a:solidFill>
                        </a:rPr>
                        <a:t>Investigate and develop alternative attribution methodologies to define an</a:t>
                      </a:r>
                      <a:r>
                        <a:rPr b="0" lang="en-GB" sz="900">
                          <a:solidFill>
                            <a:schemeClr val="dk1"/>
                          </a:solidFill>
                        </a:rPr>
                        <a:t> agreed measurement process for Marketing spend</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Integrate</a:t>
                      </a:r>
                      <a:r>
                        <a:rPr b="0" lang="en-GB" sz="900">
                          <a:solidFill>
                            <a:schemeClr val="dk1"/>
                          </a:solidFill>
                        </a:rPr>
                        <a:t> all customer interactions into a customer journey path to enable full understanding of customer behaviour</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Identify media channels and channel mix that generates highest ROI</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Optimise  an increasingly full mix of marketing activity </a:t>
                      </a:r>
                      <a:endParaRPr/>
                    </a:p>
                    <a:p>
                      <a:pPr indent="-114300" lvl="0" marL="171450" marR="0" rtl="0" algn="l">
                        <a:spcBef>
                          <a:spcPts val="0"/>
                        </a:spcBef>
                        <a:spcAft>
                          <a:spcPts val="0"/>
                        </a:spcAft>
                        <a:buClr>
                          <a:schemeClr val="dk1"/>
                        </a:buClr>
                        <a:buSzPts val="900"/>
                        <a:buFont typeface="Arial"/>
                        <a:buNone/>
                      </a:pPr>
                      <a:r>
                        <a:t/>
                      </a:r>
                      <a:endParaRPr b="0" sz="900">
                        <a:solidFill>
                          <a:schemeClr val="dk1"/>
                        </a:solidFill>
                      </a:endParaRPr>
                    </a:p>
                    <a:p>
                      <a:r>
                        <a:rPr sz="900"/>
                        <a:t>Attribution across Pakistan's mix: ATL (TV, billboards) + digital + direct (SMS, branch) + earned (referral)</a:t>
                      </a:r>
                    </a:p>
                    <a:p>
                      <a:r>
                        <a:rPr sz="900"/>
                        <a:t>Pakistan-specific: attribute remittance-driven account openings to diaspora word-of-mouth</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900"/>
                        <a:buFont typeface="Arial"/>
                        <a:buChar char="•"/>
                      </a:pPr>
                      <a:r>
                        <a:rPr lang="en-GB" sz="900">
                          <a:solidFill>
                            <a:schemeClr val="dk1"/>
                          </a:solidFill>
                        </a:rPr>
                        <a:t>Marketing spend by marketing vehicle/channel</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Communication history data for all channels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Response data from channel systems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Outcome data from sales / service processes / appointment booking systems to measure success</a:t>
                      </a:r>
                      <a:endParaRPr sz="900">
                        <a:solidFill>
                          <a:schemeClr val="dk1"/>
                        </a:solidFill>
                      </a:endParaRPr>
                    </a:p>
                    <a:p>
                      <a:pPr indent="0" lvl="0" marL="0" marR="0" rtl="0" algn="l">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Development of attribution logic using statistical techniques and rule sets  such as survival analysis or path analysis</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Methodology to create a weighted attribution of the contribution of channels involved in a particular sales or service outcome </a:t>
                      </a:r>
                      <a:endParaRPr/>
                    </a:p>
                    <a:p>
                      <a:pPr indent="-171450" lvl="0" marL="171450" marR="0" rtl="0" algn="l">
                        <a:spcBef>
                          <a:spcPts val="0"/>
                        </a:spcBef>
                        <a:spcAft>
                          <a:spcPts val="0"/>
                        </a:spcAft>
                        <a:buClr>
                          <a:schemeClr val="dk1"/>
                        </a:buClr>
                        <a:buSzPts val="900"/>
                        <a:buFont typeface="Arial"/>
                        <a:buChar char="•"/>
                      </a:pPr>
                      <a:r>
                        <a:rPr b="0" lang="en-GB" sz="900">
                          <a:solidFill>
                            <a:schemeClr val="dk1"/>
                          </a:solidFill>
                        </a:rPr>
                        <a:t>Creation of dashboards and reporting by aggregate  product / channel / media level as well as individual campaign reporting</a:t>
                      </a:r>
                      <a:endParaRPr/>
                    </a:p>
                    <a:p>
                      <a:r>
                        <a:rPr sz="900"/>
                        <a:t>Track offline-to-online: billboard &gt; Google search &gt; website &gt; app download &gt; account opening</a:t>
                      </a:r>
                    </a:p>
                    <a:p>
                      <a:r>
                        <a:rPr sz="900"/>
                        <a:t>Measure agent network effectiveness — which agents drive activations, not just openings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Increased sales from better targeted Marketing investment</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Improved Marketing efficiency</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Better utilization of marketing budget from more accurate reporting of marketing effectiveness  and contribution by channel</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More accurate reporting on campaign ROI by avoiding double counting of sales</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Improved transparency of channel contribution across the organisation</a:t>
                      </a:r>
                      <a:endParaRPr/>
                    </a:p>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Efficient use of analyst time – able to automate attribution process and create lights out reporting</a:t>
                      </a:r>
                      <a:endParaRPr/>
                    </a:p>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p>
                      <a:r>
                        <a:rPr sz="900"/>
                        <a:t>UTM tracking + unique promo codes + RAAST referral tracking per channel/campaign</a:t>
                      </a:r>
                    </a:p>
                    <a:p>
                      <a:r>
                        <a:rPr sz="900"/>
                        <a:t>Multi-touch attribution model starting with digital channels</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509" name="Google Shape;2509;p140"/>
          <p:cNvGrpSpPr/>
          <p:nvPr/>
        </p:nvGrpSpPr>
        <p:grpSpPr>
          <a:xfrm>
            <a:off x="6659508" y="225152"/>
            <a:ext cx="2432605" cy="1508418"/>
            <a:chOff x="6030133" y="723902"/>
            <a:chExt cx="2432605" cy="1508418"/>
          </a:xfrm>
        </p:grpSpPr>
        <p:sp>
          <p:nvSpPr>
            <p:cNvPr id="2510" name="Google Shape;2510;p140"/>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511" name="Google Shape;2511;p140"/>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12" name="Google Shape;2512;p140"/>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13" name="Google Shape;2513;p140"/>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14" name="Google Shape;2514;p140"/>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15" name="Google Shape;2515;p140"/>
            <p:cNvGrpSpPr/>
            <p:nvPr/>
          </p:nvGrpSpPr>
          <p:grpSpPr>
            <a:xfrm>
              <a:off x="8107751" y="1342792"/>
              <a:ext cx="276507" cy="393460"/>
              <a:chOff x="6954288" y="1678075"/>
              <a:chExt cx="679456" cy="947737"/>
            </a:xfrm>
          </p:grpSpPr>
          <p:sp>
            <p:nvSpPr>
              <p:cNvPr id="2516" name="Google Shape;2516;p140"/>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17" name="Google Shape;2517;p140"/>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18" name="Google Shape;2518;p140"/>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19" name="Google Shape;2519;p140"/>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20" name="Google Shape;2520;p140"/>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521" name="Google Shape;2521;p140"/>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2" name="Google Shape;2522;p140"/>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3" name="Google Shape;2523;p140"/>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24" name="Google Shape;2524;p140"/>
            <p:cNvGrpSpPr/>
            <p:nvPr/>
          </p:nvGrpSpPr>
          <p:grpSpPr>
            <a:xfrm>
              <a:off x="6671216" y="765814"/>
              <a:ext cx="308250" cy="494711"/>
              <a:chOff x="2125012" y="-1063625"/>
              <a:chExt cx="1420813" cy="2235201"/>
            </a:xfrm>
          </p:grpSpPr>
          <p:sp>
            <p:nvSpPr>
              <p:cNvPr id="2525" name="Google Shape;2525;p140"/>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6" name="Google Shape;2526;p140"/>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527" name="Google Shape;2527;p140"/>
            <p:cNvGrpSpPr/>
            <p:nvPr/>
          </p:nvGrpSpPr>
          <p:grpSpPr>
            <a:xfrm>
              <a:off x="7987780" y="1794063"/>
              <a:ext cx="243489" cy="387124"/>
              <a:chOff x="6417856" y="340853"/>
              <a:chExt cx="217304" cy="589385"/>
            </a:xfrm>
          </p:grpSpPr>
          <p:sp>
            <p:nvSpPr>
              <p:cNvPr id="2528" name="Google Shape;2528;p140"/>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29" name="Google Shape;2529;p140"/>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30" name="Google Shape;2530;p140"/>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531" name="Google Shape;2531;p140"/>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532" name="Google Shape;2532;p140"/>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33" name="Google Shape;2533;p140"/>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534" name="Google Shape;2534;p140">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535" name="Google Shape;2535;p140"/>
          <p:cNvGrpSpPr/>
          <p:nvPr/>
        </p:nvGrpSpPr>
        <p:grpSpPr>
          <a:xfrm>
            <a:off x="7717533" y="4360377"/>
            <a:ext cx="1058348" cy="347375"/>
            <a:chOff x="7651698" y="4287227"/>
            <a:chExt cx="1058348" cy="347375"/>
          </a:xfrm>
        </p:grpSpPr>
        <p:grpSp>
          <p:nvGrpSpPr>
            <p:cNvPr id="2536" name="Google Shape;2536;p140"/>
            <p:cNvGrpSpPr/>
            <p:nvPr/>
          </p:nvGrpSpPr>
          <p:grpSpPr>
            <a:xfrm>
              <a:off x="7714163" y="4337598"/>
              <a:ext cx="995883" cy="297004"/>
              <a:chOff x="7711013" y="3986494"/>
              <a:chExt cx="995883" cy="297004"/>
            </a:xfrm>
          </p:grpSpPr>
          <p:sp>
            <p:nvSpPr>
              <p:cNvPr id="2537" name="Google Shape;2537;p140"/>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538" name="Google Shape;2538;p140"/>
              <p:cNvGrpSpPr/>
              <p:nvPr/>
            </p:nvGrpSpPr>
            <p:grpSpPr>
              <a:xfrm>
                <a:off x="7711013" y="4002615"/>
                <a:ext cx="281520" cy="241973"/>
                <a:chOff x="5652748" y="4066000"/>
                <a:chExt cx="906498" cy="747974"/>
              </a:xfrm>
            </p:grpSpPr>
            <p:sp>
              <p:nvSpPr>
                <p:cNvPr id="2539" name="Google Shape;2539;p140"/>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40" name="Google Shape;2540;p140"/>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541" name="Google Shape;2541;p140"/>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542" name="Google Shape;2542;p140">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7" name="Shape 2547"/>
        <p:cNvGrpSpPr/>
        <p:nvPr/>
      </p:nvGrpSpPr>
      <p:grpSpPr>
        <a:xfrm>
          <a:off x="0" y="0"/>
          <a:ext cx="0" cy="0"/>
          <a:chOff x="0" y="0"/>
          <a:chExt cx="0" cy="0"/>
        </a:xfrm>
      </p:grpSpPr>
      <p:graphicFrame>
        <p:nvGraphicFramePr>
          <p:cNvPr id="2548" name="Google Shape;2548;p141"/>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Marketing attribution process fully automated and runs on a daily basis. Scope includes all activity and model considers interactions from all channels. Rich set of dashboards and interactive reporting makes data easily available to end users via self serve tools.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Marketing attribution process fully automated and runs on a weekly basis. Scope includes most activity (&gt;80%) including non sales outcomes and model considers interactions from most channels. Regular reporting issued to end users with simple dashboard summary.</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154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Marketing attribution process semi automated and runs on a monthly basis. Scope limited to sales based outcomes from highest volume channels. Static reports produced issued to users.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Primarily basic marketing measurement approaches run on a campaign by campaign basis. Campaign measurement process is automated and standard reports are produced. Experimentation started to investigate cross channel attribution methods but no systemised methodology or automated process developed.</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Basic marketing measurement typically a ‘last-click’ type approach. Traditional attribution process runs at a campaign by campaign basis within channels silos. Activity measured limited to sales outcomes. Performed on an ad-hoc basis driven by campaign activity.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Build attribution across: ATL (TV 35%, billboards 20%, print 15%), digital (15%), direct (10%), agent (5%)</a:t>
                      </a:r>
                    </a:p>
                    <a:p>
                      <a:r>
                        <a:rPr sz="800"/>
                        <a:t>UTM tracking on all digital campaigns + unique promo codes per channel</a:t>
                      </a:r>
                    </a:p>
                    <a:p>
                      <a:r>
                        <a:rPr sz="800"/>
                        <a:t>Track offline-to-online: billboard &gt; Google search &gt; website &gt; app &gt; account</a:t>
                      </a:r>
                    </a:p>
                    <a:p>
                      <a:r>
                        <a:rPr sz="800"/>
                        <a:t>Pakistan-specific: attribute diaspora openings to word-of-mouth</a:t>
                      </a:r>
                    </a:p>
                    <a:p>
                      <a:r>
                        <a:rPr sz="800"/>
                        <a:t>Measure agent network effectiveness — activations, not just account openings</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Accurate channel ROI: move from last-click to multi-touch model</a:t>
                      </a:r>
                      <a:endParaRPr/>
                    </a:p>
                    <a:p>
                      <a:r>
                        <a:rPr sz="800"/>
                        <a:t>Fair attribution across branch, digital, and agent channels</a:t>
                      </a:r>
                    </a:p>
                    <a:p>
                      <a:r>
                        <a:rPr sz="800"/>
                        <a:t>Pakistan marketing mix optimization with spend-to-conversion tracking</a:t>
                      </a:r>
                    </a:p>
                    <a:p>
                      <a:r>
                        <a:rPr sz="800"/>
                        <a:t>12+ months cross-channel data enables ML-based attribution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549" name="Google Shape;2549;p141"/>
          <p:cNvGrpSpPr/>
          <p:nvPr/>
        </p:nvGrpSpPr>
        <p:grpSpPr>
          <a:xfrm>
            <a:off x="469900" y="3839136"/>
            <a:ext cx="8455025" cy="732866"/>
            <a:chOff x="211138" y="3972860"/>
            <a:chExt cx="8713787" cy="642437"/>
          </a:xfrm>
        </p:grpSpPr>
        <p:sp>
          <p:nvSpPr>
            <p:cNvPr id="2550" name="Google Shape;2550;p141"/>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551" name="Google Shape;2551;p141"/>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552" name="Google Shape;2552;p141"/>
          <p:cNvGrpSpPr/>
          <p:nvPr/>
        </p:nvGrpSpPr>
        <p:grpSpPr>
          <a:xfrm>
            <a:off x="7971865" y="980278"/>
            <a:ext cx="949325" cy="2867825"/>
            <a:chOff x="7941888" y="1062037"/>
            <a:chExt cx="983037" cy="2695575"/>
          </a:xfrm>
        </p:grpSpPr>
        <p:sp>
          <p:nvSpPr>
            <p:cNvPr id="2553" name="Google Shape;2553;p141"/>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554" name="Google Shape;2554;p141"/>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555" name="Google Shape;2555;p141"/>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Marketing Attribution</a:t>
            </a:r>
            <a:endParaRPr>
              <a:solidFill>
                <a:schemeClr val="accent6"/>
              </a:solidFill>
            </a:endParaRPr>
          </a:p>
        </p:txBody>
      </p:sp>
      <p:sp>
        <p:nvSpPr>
          <p:cNvPr id="2556" name="Google Shape;2556;p141">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1" name="Shape 2561"/>
        <p:cNvGrpSpPr/>
        <p:nvPr/>
      </p:nvGrpSpPr>
      <p:grpSpPr>
        <a:xfrm>
          <a:off x="0" y="0"/>
          <a:ext cx="0" cy="0"/>
          <a:chOff x="0" y="0"/>
          <a:chExt cx="0" cy="0"/>
        </a:xfrm>
      </p:grpSpPr>
      <p:cxnSp>
        <p:nvCxnSpPr>
          <p:cNvPr id="2562" name="Google Shape;2562;p142"/>
          <p:cNvCxnSpPr/>
          <p:nvPr/>
        </p:nvCxnSpPr>
        <p:spPr>
          <a:xfrm>
            <a:off x="4665503" y="858364"/>
            <a:ext cx="3239" cy="3906719"/>
          </a:xfrm>
          <a:prstGeom prst="straightConnector1">
            <a:avLst/>
          </a:prstGeom>
          <a:noFill/>
          <a:ln cap="flat" cmpd="sng" w="12700">
            <a:solidFill>
              <a:schemeClr val="lt2"/>
            </a:solidFill>
            <a:prstDash val="solid"/>
            <a:round/>
            <a:headEnd len="sm" w="sm" type="none"/>
            <a:tailEnd len="sm" w="sm" type="none"/>
          </a:ln>
        </p:spPr>
      </p:cxnSp>
      <p:sp>
        <p:nvSpPr>
          <p:cNvPr id="2563" name="Google Shape;2563;p142"/>
          <p:cNvSpPr txBox="1"/>
          <p:nvPr>
            <p:ph type="title"/>
          </p:nvPr>
        </p:nvSpPr>
        <p:spPr>
          <a:xfrm>
            <a:off x="381000" y="285750"/>
            <a:ext cx="8543925" cy="381000"/>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Brand Analytics</a:t>
            </a:r>
            <a:endParaRPr sz="1600"/>
          </a:p>
        </p:txBody>
      </p:sp>
      <p:graphicFrame>
        <p:nvGraphicFramePr>
          <p:cNvPr id="2564" name="Google Shape;2564;p142"/>
          <p:cNvGraphicFramePr/>
          <p:nvPr/>
        </p:nvGraphicFramePr>
        <p:xfrm>
          <a:off x="414866" y="865187"/>
          <a:ext cx="3000000" cy="3000000"/>
        </p:xfrm>
        <a:graphic>
          <a:graphicData uri="http://schemas.openxmlformats.org/drawingml/2006/table">
            <a:tbl>
              <a:tblPr bandRow="1" firstRow="1">
                <a:noFill/>
                <a:tableStyleId>{D098BFCB-6916-41F2-A2A5-0DF0D5139B6F}</a:tableStyleId>
              </a:tblPr>
              <a:tblGrid>
                <a:gridCol w="4166250"/>
                <a:gridCol w="175800"/>
                <a:gridCol w="4166250"/>
              </a:tblGrid>
              <a:tr h="216000">
                <a:tc>
                  <a:txBody>
                    <a:bodyPr/>
                    <a:lstStyle/>
                    <a:p>
                      <a:pPr indent="0" lvl="0" marL="0" marR="0" rtl="0" algn="l">
                        <a:spcBef>
                          <a:spcPts val="0"/>
                        </a:spcBef>
                        <a:spcAft>
                          <a:spcPts val="0"/>
                        </a:spcAft>
                        <a:buNone/>
                      </a:pPr>
                      <a:r>
                        <a:rPr b="1" lang="en-GB" sz="1400">
                          <a:solidFill>
                            <a:schemeClr val="dk2"/>
                          </a:solidFill>
                        </a:rPr>
                        <a:t>Business Objectives</a:t>
                      </a:r>
                      <a:endParaRPr b="1" sz="1400">
                        <a:solidFill>
                          <a:schemeClr val="dk2"/>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rowSpan="2">
                  <a:txBody>
                    <a:bodyPr/>
                    <a:lstStyle/>
                    <a:p>
                      <a:pPr indent="0" lvl="0" marL="0" marR="0" rtl="0" algn="l">
                        <a:lnSpc>
                          <a:spcPct val="100000"/>
                        </a:lnSpc>
                        <a:spcBef>
                          <a:spcPts val="0"/>
                        </a:spcBef>
                        <a:spcAft>
                          <a:spcPts val="0"/>
                        </a:spcAft>
                        <a:buClr>
                          <a:schemeClr val="dk1"/>
                        </a:buClr>
                        <a:buSzPts val="1600"/>
                        <a:buFont typeface="Century Gothic"/>
                        <a:buNone/>
                      </a:pPr>
                      <a:r>
                        <a:t/>
                      </a:r>
                      <a:endParaRPr b="1" sz="1600">
                        <a:solidFill>
                          <a:schemeClr val="accent6"/>
                        </a:solidFill>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Quantify the impa</a:t>
                      </a:r>
                      <a:r>
                        <a:rPr b="1" lang="en-GB" sz="900">
                          <a:solidFill>
                            <a:schemeClr val="dk1"/>
                          </a:solidFill>
                        </a:rPr>
                        <a:t>ct of a company’s brand on marketing and company performance</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Optimise brand positioning for target markets and key consumer groups </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Measure brand equity to establish the value of a brand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Understand consumers awareness of brand features and associations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Establish ROI from brand investment and determine optimum levels of media spend</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Understand consumer brand perceptions and points of differentiation from competitors, including sentiment analysis</a:t>
                      </a:r>
                      <a:endParaRPr/>
                    </a:p>
                    <a:p>
                      <a:pPr indent="-171450" lvl="0" marL="171450" marR="0" rtl="0" algn="l">
                        <a:lnSpc>
                          <a:spcPct val="100000"/>
                        </a:lnSpc>
                        <a:spcBef>
                          <a:spcPts val="0"/>
                        </a:spcBef>
                        <a:spcAft>
                          <a:spcPts val="0"/>
                        </a:spcAft>
                        <a:buClr>
                          <a:schemeClr val="dk1"/>
                        </a:buClr>
                        <a:buSzPts val="900"/>
                        <a:buFont typeface="Arial"/>
                        <a:buChar char="•"/>
                      </a:pPr>
                      <a:r>
                        <a:rPr lang="en-GB" sz="900">
                          <a:solidFill>
                            <a:schemeClr val="dk1"/>
                          </a:solidFill>
                          <a:latin typeface="Century Gothic"/>
                          <a:ea typeface="Century Gothic"/>
                          <a:cs typeface="Century Gothic"/>
                          <a:sym typeface="Century Gothic"/>
                        </a:rPr>
                        <a:t>Forecast and simulate branding strategies</a:t>
                      </a:r>
                      <a:endParaRPr/>
                    </a:p>
                    <a:p>
                      <a:r>
                        <a:rPr sz="900"/>
                        <a:t>Measure brand health vs fintech challengers — SadaPay, NayaPay have stronger millennial perception</a:t>
                      </a:r>
                    </a:p>
                    <a:p>
                      <a:r>
                        <a:rPr sz="900"/>
                        <a:t>Track brand perception: trust, digital innovation, service quality, Islamic credentials, accessibility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vMerge="1"/>
                <a:tc vMerge="1"/>
              </a:tr>
              <a:tr h="216000">
                <a:tc>
                  <a:txBody>
                    <a:bodyPr/>
                    <a:lstStyle/>
                    <a:p>
                      <a:pPr indent="0" lvl="0" marL="0" marR="0" rtl="0" algn="l">
                        <a:spcBef>
                          <a:spcPts val="0"/>
                        </a:spcBef>
                        <a:spcAft>
                          <a:spcPts val="0"/>
                        </a:spcAft>
                        <a:buNone/>
                      </a:pPr>
                      <a:r>
                        <a:rPr b="1" lang="en-GB" sz="1400">
                          <a:solidFill>
                            <a:schemeClr val="dk2"/>
                          </a:solidFill>
                          <a:latin typeface="Century Gothic"/>
                          <a:ea typeface="Century Gothic"/>
                          <a:cs typeface="Century Gothic"/>
                          <a:sym typeface="Century Gothic"/>
                        </a:rPr>
                        <a:t>Data &amp; Solution</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400"/>
                        <a:buFont typeface="Century Gothic"/>
                        <a:buNone/>
                      </a:pPr>
                      <a:r>
                        <a:t/>
                      </a:r>
                      <a:endParaRPr b="1" sz="1400">
                        <a:solidFill>
                          <a:schemeClr val="dk2"/>
                        </a:solidFill>
                        <a:latin typeface="Century Gothic"/>
                        <a:ea typeface="Century Gothic"/>
                        <a:cs typeface="Century Gothic"/>
                        <a:sym typeface="Century Gothic"/>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2"/>
                        </a:buClr>
                        <a:buSzPts val="1400"/>
                        <a:buFont typeface="Century Gothic"/>
                        <a:buNone/>
                      </a:pPr>
                      <a:r>
                        <a:rPr b="1" lang="en-GB" sz="1400">
                          <a:solidFill>
                            <a:schemeClr val="dk2"/>
                          </a:solidFill>
                          <a:latin typeface="Century Gothic"/>
                          <a:ea typeface="Century Gothic"/>
                          <a:cs typeface="Century Gothic"/>
                          <a:sym typeface="Century Gothic"/>
                        </a:rPr>
                        <a:t>Outcome</a:t>
                      </a:r>
                      <a:endParaRPr/>
                    </a:p>
                  </a:txBody>
                  <a:tcPr marT="0" marB="0" marR="46800" marL="468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636575">
                <a:tc>
                  <a:txBody>
                    <a:bodyPr/>
                    <a:lstStyle/>
                    <a:p>
                      <a:pPr indent="0" lvl="0" marL="0" marR="0" rtl="0" algn="l">
                        <a:spcBef>
                          <a:spcPts val="0"/>
                        </a:spcBef>
                        <a:spcAft>
                          <a:spcPts val="0"/>
                        </a:spcAft>
                        <a:buNone/>
                      </a:pPr>
                      <a:r>
                        <a:rPr b="1" lang="en-GB" sz="900">
                          <a:solidFill>
                            <a:schemeClr val="dk1"/>
                          </a:solidFill>
                        </a:rPr>
                        <a:t>Data</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Aggregated macro level time series data such as quantitative &amp; qualitative brand related primary and secondary research</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Brand and advertising tracker data – indicating metrics such as spontaneous awareness and consideration</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Response data from application &amp; sales </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Advertising &amp; marketing activity</a:t>
                      </a:r>
                      <a:endParaRPr/>
                    </a:p>
                    <a:p>
                      <a:pPr indent="-179388" lvl="0" marL="179388" marR="0" rtl="0" algn="l">
                        <a:spcBef>
                          <a:spcPts val="0"/>
                        </a:spcBef>
                        <a:spcAft>
                          <a:spcPts val="0"/>
                        </a:spcAft>
                        <a:buClr>
                          <a:schemeClr val="dk1"/>
                        </a:buClr>
                        <a:buSzPts val="800"/>
                        <a:buFont typeface="Arial"/>
                        <a:buChar char="•"/>
                      </a:pPr>
                      <a:r>
                        <a:rPr lang="en-GB" sz="800">
                          <a:solidFill>
                            <a:schemeClr val="dk1"/>
                          </a:solidFill>
                        </a:rPr>
                        <a:t>Social Media data</a:t>
                      </a:r>
                      <a:endParaRPr/>
                    </a:p>
                    <a:p>
                      <a:pPr indent="0" lvl="0" marL="0" marR="0" rtl="0" algn="l">
                        <a:lnSpc>
                          <a:spcPct val="100000"/>
                        </a:lnSpc>
                        <a:spcBef>
                          <a:spcPts val="0"/>
                        </a:spcBef>
                        <a:spcAft>
                          <a:spcPts val="0"/>
                        </a:spcAft>
                        <a:buClr>
                          <a:schemeClr val="dk1"/>
                        </a:buClr>
                        <a:buSzPts val="900"/>
                        <a:buFont typeface="Arial"/>
                        <a:buNone/>
                      </a:pPr>
                      <a:r>
                        <a:rPr b="1" lang="en-GB" sz="900">
                          <a:solidFill>
                            <a:schemeClr val="dk1"/>
                          </a:solidFill>
                        </a:rPr>
                        <a:t>Analytics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Econometric modelling utilising various regression and Bayesian analytical techniques</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Marketing attribution modelling to understand impact of advertising and brand building marketing activity</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Conjoint analysis to identify impact of brand on consumer preference</a:t>
                      </a:r>
                      <a:endParaRPr/>
                    </a:p>
                    <a:p>
                      <a:pPr indent="-171450" lvl="0" marL="171450" marR="0" rtl="0" algn="l">
                        <a:lnSpc>
                          <a:spcPct val="100000"/>
                        </a:lnSpc>
                        <a:spcBef>
                          <a:spcPts val="0"/>
                        </a:spcBef>
                        <a:spcAft>
                          <a:spcPts val="0"/>
                        </a:spcAft>
                        <a:buClr>
                          <a:schemeClr val="dk1"/>
                        </a:buClr>
                        <a:buSzPts val="800"/>
                        <a:buFont typeface="Arial"/>
                        <a:buChar char="•"/>
                      </a:pPr>
                      <a:r>
                        <a:rPr lang="en-GB" sz="800">
                          <a:solidFill>
                            <a:schemeClr val="dk1"/>
                          </a:solidFill>
                        </a:rPr>
                        <a:t>Sentiment analysis</a:t>
                      </a:r>
                      <a:endParaRPr/>
                    </a:p>
                    <a:p>
                      <a:r>
                        <a:rPr sz="900"/>
                        <a:t>Monitor social media brand mentions: Twitter/X, Facebook, Instagram, TikTok (growing bank presence)</a:t>
                      </a:r>
                    </a:p>
                    <a:p>
                      <a:r>
                        <a:rPr sz="900"/>
                        <a:t>Measure brand impact of CSR activities — education, disaster relief, financial literacy</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14300" lvl="0" marL="171450" marR="0" rtl="0" algn="l">
                        <a:lnSpc>
                          <a:spcPct val="100000"/>
                        </a:lnSpc>
                        <a:spcBef>
                          <a:spcPts val="0"/>
                        </a:spcBef>
                        <a:spcAft>
                          <a:spcPts val="0"/>
                        </a:spcAft>
                        <a:buClr>
                          <a:schemeClr val="dk1"/>
                        </a:buClr>
                        <a:buSzPts val="900"/>
                        <a:buFont typeface="Arial"/>
                        <a:buNone/>
                      </a:pPr>
                      <a:r>
                        <a:t/>
                      </a:r>
                      <a:endParaRPr sz="900">
                        <a:solidFill>
                          <a:schemeClr val="dk1"/>
                        </a:solidFill>
                        <a:latin typeface="Century Gothic"/>
                        <a:ea typeface="Century Gothic"/>
                        <a:cs typeface="Century Gothic"/>
                        <a:sym typeface="Century Gothic"/>
                      </a:endParaRP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171450" lvl="0" marL="171450" marR="0" rtl="0" algn="l">
                        <a:lnSpc>
                          <a:spcPct val="100000"/>
                        </a:lnSpc>
                        <a:spcBef>
                          <a:spcPts val="0"/>
                        </a:spcBef>
                        <a:spcAft>
                          <a:spcPts val="0"/>
                        </a:spcAft>
                        <a:buClr>
                          <a:schemeClr val="dk1"/>
                        </a:buClr>
                        <a:buSzPts val="900"/>
                        <a:buFont typeface="Arial"/>
                        <a:buChar char="•"/>
                      </a:pPr>
                      <a:r>
                        <a:rPr b="0" lang="en-GB" sz="900">
                          <a:solidFill>
                            <a:schemeClr val="dk1"/>
                          </a:solidFill>
                          <a:latin typeface="Century Gothic"/>
                          <a:ea typeface="Century Gothic"/>
                          <a:cs typeface="Century Gothic"/>
                          <a:sym typeface="Century Gothic"/>
                        </a:rPr>
                        <a:t>Ability to leverage brand for competitive advantage</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Ability to charge price premiums as a result of higher brand esteem</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Higher consumer brand trust (durability) leading to increased customer retention and loyalty</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Increased market share from higher levels of brand consideration</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Higher ROI from marketing spend as a result of optimising the media mix</a:t>
                      </a:r>
                      <a:endParaRPr/>
                    </a:p>
                    <a:p>
                      <a:pPr indent="-171450" lvl="1" marL="628650" marR="0" rtl="0" algn="l">
                        <a:lnSpc>
                          <a:spcPct val="100000"/>
                        </a:lnSpc>
                        <a:spcBef>
                          <a:spcPts val="0"/>
                        </a:spcBef>
                        <a:spcAft>
                          <a:spcPts val="0"/>
                        </a:spcAft>
                        <a:buClr>
                          <a:schemeClr val="dk1"/>
                        </a:buClr>
                        <a:buSzPts val="900"/>
                        <a:buFont typeface="Arial"/>
                        <a:buChar char="•"/>
                      </a:pPr>
                      <a:r>
                        <a:rPr b="0" lang="en-GB" sz="900" u="none" cap="none" strike="noStrike">
                          <a:solidFill>
                            <a:schemeClr val="dk1"/>
                          </a:solidFill>
                          <a:latin typeface="Century Gothic"/>
                          <a:ea typeface="Century Gothic"/>
                          <a:cs typeface="Century Gothic"/>
                          <a:sym typeface="Century Gothic"/>
                        </a:rPr>
                        <a:t>Improved brand consistency to maintain the strength and favourability of the brand</a:t>
                      </a:r>
                      <a:endParaRPr b="0" sz="900" u="none" cap="none" strike="noStrike">
                        <a:solidFill>
                          <a:schemeClr val="dk1"/>
                        </a:solidFill>
                        <a:latin typeface="Century Gothic"/>
                        <a:ea typeface="Century Gothic"/>
                        <a:cs typeface="Century Gothic"/>
                        <a:sym typeface="Century Gothic"/>
                      </a:endParaRPr>
                    </a:p>
                    <a:p>
                      <a:r>
                        <a:rPr sz="900"/>
                        <a:t>Track employer brand strength — important for salary account acquisition</a:t>
                      </a:r>
                    </a:p>
                    <a:p>
                      <a:r>
                        <a:rPr sz="900"/>
                        <a:t>Close NPS gap: Pakistan bank avg 20-30 vs fintech 55-70</a:t>
                      </a:r>
                    </a:p>
                  </a:txBody>
                  <a:tcPr marT="45725" marB="45725" marR="46800" marL="468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pSp>
        <p:nvGrpSpPr>
          <p:cNvPr id="2565" name="Google Shape;2565;p142"/>
          <p:cNvGrpSpPr/>
          <p:nvPr/>
        </p:nvGrpSpPr>
        <p:grpSpPr>
          <a:xfrm>
            <a:off x="6659508" y="225152"/>
            <a:ext cx="2432605" cy="1508418"/>
            <a:chOff x="6030133" y="723902"/>
            <a:chExt cx="2432605" cy="1508418"/>
          </a:xfrm>
        </p:grpSpPr>
        <p:sp>
          <p:nvSpPr>
            <p:cNvPr id="2566" name="Google Shape;2566;p142"/>
            <p:cNvSpPr/>
            <p:nvPr/>
          </p:nvSpPr>
          <p:spPr>
            <a:xfrm>
              <a:off x="6030133" y="723902"/>
              <a:ext cx="2432605" cy="1508418"/>
            </a:xfrm>
            <a:prstGeom prst="rect">
              <a:avLst/>
            </a:prstGeom>
            <a:solidFill>
              <a:srgbClr val="FFFFFF"/>
            </a:solidFill>
            <a:ln cap="flat" cmpd="sng" w="22225">
              <a:solidFill>
                <a:srgbClr val="FFFFFF"/>
              </a:solidFill>
              <a:prstDash val="dot"/>
              <a:miter lim="800000"/>
              <a:headEnd len="sm" w="sm" type="none"/>
              <a:tailEnd len="sm" w="sm" type="none"/>
            </a:ln>
          </p:spPr>
          <p:txBody>
            <a:bodyPr anchorCtr="0" anchor="t" bIns="36000" lIns="36000" spcFirstLastPara="1" rIns="36000" wrap="square" tIns="36000">
              <a:noAutofit/>
            </a:bodyPr>
            <a:lstStyle/>
            <a:p>
              <a:pPr indent="0" lvl="0" marL="0" marR="0" rtl="0" algn="ctr">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200" u="none" cap="none" strike="noStrike">
                <a:solidFill>
                  <a:srgbClr val="3C3C3B"/>
                </a:solidFill>
                <a:latin typeface="Century Gothic"/>
                <a:ea typeface="Century Gothic"/>
                <a:cs typeface="Century Gothic"/>
                <a:sym typeface="Century Gothic"/>
              </a:endParaRPr>
            </a:p>
            <a:p>
              <a:pPr indent="0" lvl="0" marL="0" marR="0" rtl="0" algn="l">
                <a:lnSpc>
                  <a:spcPct val="95000"/>
                </a:lnSpc>
                <a:spcBef>
                  <a:spcPts val="0"/>
                </a:spcBef>
                <a:spcAft>
                  <a:spcPts val="0"/>
                </a:spcAft>
                <a:buClr>
                  <a:srgbClr val="FFFFFF"/>
                </a:buClr>
                <a:buSzPts val="1200"/>
                <a:buFont typeface="Century Gothic"/>
                <a:buNone/>
              </a:pPr>
              <a:br>
                <a:rPr b="1" i="0" lang="en-GB" sz="1200" u="none" cap="none" strike="noStrike">
                  <a:solidFill>
                    <a:srgbClr val="3C3C3B"/>
                  </a:solidFill>
                  <a:latin typeface="Century Gothic"/>
                  <a:ea typeface="Century Gothic"/>
                  <a:cs typeface="Century Gothic"/>
                  <a:sym typeface="Century Gothic"/>
                </a:rPr>
              </a:br>
              <a:endParaRPr b="1" i="0" sz="1000" u="none" cap="none" strike="noStrike">
                <a:solidFill>
                  <a:srgbClr val="3C3C3B"/>
                </a:solidFill>
                <a:latin typeface="Century Gothic"/>
                <a:ea typeface="Century Gothic"/>
                <a:cs typeface="Century Gothic"/>
                <a:sym typeface="Century Gothic"/>
              </a:endParaRPr>
            </a:p>
          </p:txBody>
        </p:sp>
        <p:sp>
          <p:nvSpPr>
            <p:cNvPr id="2567" name="Google Shape;2567;p142"/>
            <p:cNvSpPr/>
            <p:nvPr/>
          </p:nvSpPr>
          <p:spPr>
            <a:xfrm>
              <a:off x="7463912" y="1338497"/>
              <a:ext cx="403066" cy="402050"/>
            </a:xfrm>
            <a:custGeom>
              <a:rect b="b" l="l" r="r" t="t"/>
              <a:pathLst>
                <a:path extrusionOk="0" h="380" w="367">
                  <a:moveTo>
                    <a:pt x="291" y="79"/>
                  </a:moveTo>
                  <a:cubicBezTo>
                    <a:pt x="291" y="83"/>
                    <a:pt x="288" y="86"/>
                    <a:pt x="284" y="86"/>
                  </a:cubicBezTo>
                  <a:cubicBezTo>
                    <a:pt x="67" y="86"/>
                    <a:pt x="67" y="86"/>
                    <a:pt x="67" y="86"/>
                  </a:cubicBezTo>
                  <a:cubicBezTo>
                    <a:pt x="64" y="86"/>
                    <a:pt x="61" y="83"/>
                    <a:pt x="61" y="79"/>
                  </a:cubicBezTo>
                  <a:cubicBezTo>
                    <a:pt x="61" y="75"/>
                    <a:pt x="64" y="72"/>
                    <a:pt x="67" y="72"/>
                  </a:cubicBezTo>
                  <a:cubicBezTo>
                    <a:pt x="284" y="72"/>
                    <a:pt x="284" y="72"/>
                    <a:pt x="284" y="72"/>
                  </a:cubicBezTo>
                  <a:cubicBezTo>
                    <a:pt x="288" y="72"/>
                    <a:pt x="291" y="75"/>
                    <a:pt x="291" y="79"/>
                  </a:cubicBezTo>
                  <a:close/>
                  <a:moveTo>
                    <a:pt x="284" y="122"/>
                  </a:moveTo>
                  <a:cubicBezTo>
                    <a:pt x="67" y="122"/>
                    <a:pt x="67" y="122"/>
                    <a:pt x="67" y="122"/>
                  </a:cubicBezTo>
                  <a:cubicBezTo>
                    <a:pt x="64" y="122"/>
                    <a:pt x="61" y="125"/>
                    <a:pt x="61" y="129"/>
                  </a:cubicBezTo>
                  <a:cubicBezTo>
                    <a:pt x="61" y="133"/>
                    <a:pt x="64" y="136"/>
                    <a:pt x="67" y="136"/>
                  </a:cubicBezTo>
                  <a:cubicBezTo>
                    <a:pt x="284" y="136"/>
                    <a:pt x="284" y="136"/>
                    <a:pt x="284" y="136"/>
                  </a:cubicBezTo>
                  <a:cubicBezTo>
                    <a:pt x="288" y="136"/>
                    <a:pt x="291" y="133"/>
                    <a:pt x="291" y="129"/>
                  </a:cubicBezTo>
                  <a:cubicBezTo>
                    <a:pt x="291" y="125"/>
                    <a:pt x="288" y="122"/>
                    <a:pt x="284" y="122"/>
                  </a:cubicBezTo>
                  <a:close/>
                  <a:moveTo>
                    <a:pt x="193" y="172"/>
                  </a:moveTo>
                  <a:cubicBezTo>
                    <a:pt x="67" y="172"/>
                    <a:pt x="67" y="172"/>
                    <a:pt x="67" y="172"/>
                  </a:cubicBezTo>
                  <a:cubicBezTo>
                    <a:pt x="64" y="172"/>
                    <a:pt x="61" y="176"/>
                    <a:pt x="61" y="179"/>
                  </a:cubicBezTo>
                  <a:cubicBezTo>
                    <a:pt x="61" y="183"/>
                    <a:pt x="64" y="186"/>
                    <a:pt x="67" y="186"/>
                  </a:cubicBezTo>
                  <a:cubicBezTo>
                    <a:pt x="193" y="186"/>
                    <a:pt x="193" y="186"/>
                    <a:pt x="193" y="186"/>
                  </a:cubicBezTo>
                  <a:cubicBezTo>
                    <a:pt x="197" y="186"/>
                    <a:pt x="200" y="183"/>
                    <a:pt x="200" y="179"/>
                  </a:cubicBezTo>
                  <a:cubicBezTo>
                    <a:pt x="200" y="176"/>
                    <a:pt x="197" y="172"/>
                    <a:pt x="193" y="172"/>
                  </a:cubicBezTo>
                  <a:close/>
                  <a:moveTo>
                    <a:pt x="258" y="364"/>
                  </a:moveTo>
                  <a:cubicBezTo>
                    <a:pt x="257" y="361"/>
                    <a:pt x="252" y="358"/>
                    <a:pt x="246" y="351"/>
                  </a:cubicBezTo>
                  <a:cubicBezTo>
                    <a:pt x="239" y="343"/>
                    <a:pt x="237" y="327"/>
                    <a:pt x="237" y="316"/>
                  </a:cubicBezTo>
                  <a:cubicBezTo>
                    <a:pt x="130" y="316"/>
                    <a:pt x="130" y="316"/>
                    <a:pt x="130" y="316"/>
                  </a:cubicBezTo>
                  <a:cubicBezTo>
                    <a:pt x="130" y="327"/>
                    <a:pt x="128" y="343"/>
                    <a:pt x="121" y="351"/>
                  </a:cubicBezTo>
                  <a:cubicBezTo>
                    <a:pt x="117" y="356"/>
                    <a:pt x="113" y="359"/>
                    <a:pt x="111" y="362"/>
                  </a:cubicBezTo>
                  <a:cubicBezTo>
                    <a:pt x="109" y="364"/>
                    <a:pt x="107" y="366"/>
                    <a:pt x="107" y="370"/>
                  </a:cubicBezTo>
                  <a:cubicBezTo>
                    <a:pt x="107" y="376"/>
                    <a:pt x="112" y="380"/>
                    <a:pt x="118" y="380"/>
                  </a:cubicBezTo>
                  <a:cubicBezTo>
                    <a:pt x="248" y="380"/>
                    <a:pt x="248" y="380"/>
                    <a:pt x="248" y="380"/>
                  </a:cubicBezTo>
                  <a:cubicBezTo>
                    <a:pt x="254" y="380"/>
                    <a:pt x="259" y="376"/>
                    <a:pt x="259" y="370"/>
                  </a:cubicBezTo>
                  <a:cubicBezTo>
                    <a:pt x="259" y="368"/>
                    <a:pt x="258" y="366"/>
                    <a:pt x="258" y="364"/>
                  </a:cubicBezTo>
                  <a:close/>
                  <a:moveTo>
                    <a:pt x="367" y="12"/>
                  </a:moveTo>
                  <a:cubicBezTo>
                    <a:pt x="367" y="289"/>
                    <a:pt x="367" y="289"/>
                    <a:pt x="367" y="289"/>
                  </a:cubicBezTo>
                  <a:cubicBezTo>
                    <a:pt x="367" y="295"/>
                    <a:pt x="361" y="300"/>
                    <a:pt x="355" y="300"/>
                  </a:cubicBezTo>
                  <a:cubicBezTo>
                    <a:pt x="12" y="300"/>
                    <a:pt x="12" y="300"/>
                    <a:pt x="12" y="300"/>
                  </a:cubicBezTo>
                  <a:cubicBezTo>
                    <a:pt x="5" y="300"/>
                    <a:pt x="0" y="295"/>
                    <a:pt x="0" y="289"/>
                  </a:cubicBezTo>
                  <a:cubicBezTo>
                    <a:pt x="0" y="12"/>
                    <a:pt x="0" y="12"/>
                    <a:pt x="0" y="12"/>
                  </a:cubicBezTo>
                  <a:cubicBezTo>
                    <a:pt x="0" y="5"/>
                    <a:pt x="5" y="0"/>
                    <a:pt x="12" y="0"/>
                  </a:cubicBezTo>
                  <a:cubicBezTo>
                    <a:pt x="355" y="0"/>
                    <a:pt x="355" y="0"/>
                    <a:pt x="355" y="0"/>
                  </a:cubicBezTo>
                  <a:cubicBezTo>
                    <a:pt x="361" y="0"/>
                    <a:pt x="367" y="5"/>
                    <a:pt x="367" y="12"/>
                  </a:cubicBezTo>
                  <a:close/>
                  <a:moveTo>
                    <a:pt x="341" y="40"/>
                  </a:moveTo>
                  <a:cubicBezTo>
                    <a:pt x="341" y="36"/>
                    <a:pt x="337" y="32"/>
                    <a:pt x="332" y="32"/>
                  </a:cubicBezTo>
                  <a:cubicBezTo>
                    <a:pt x="35" y="32"/>
                    <a:pt x="35" y="32"/>
                    <a:pt x="35" y="32"/>
                  </a:cubicBezTo>
                  <a:cubicBezTo>
                    <a:pt x="30" y="32"/>
                    <a:pt x="26" y="36"/>
                    <a:pt x="26" y="40"/>
                  </a:cubicBezTo>
                  <a:cubicBezTo>
                    <a:pt x="26" y="244"/>
                    <a:pt x="26" y="244"/>
                    <a:pt x="26" y="244"/>
                  </a:cubicBezTo>
                  <a:cubicBezTo>
                    <a:pt x="26" y="248"/>
                    <a:pt x="30" y="252"/>
                    <a:pt x="35" y="252"/>
                  </a:cubicBezTo>
                  <a:cubicBezTo>
                    <a:pt x="288" y="252"/>
                    <a:pt x="288" y="252"/>
                    <a:pt x="288" y="252"/>
                  </a:cubicBezTo>
                  <a:cubicBezTo>
                    <a:pt x="317" y="251"/>
                    <a:pt x="314" y="216"/>
                    <a:pt x="283" y="210"/>
                  </a:cubicBezTo>
                  <a:cubicBezTo>
                    <a:pt x="270" y="207"/>
                    <a:pt x="274" y="195"/>
                    <a:pt x="279" y="190"/>
                  </a:cubicBezTo>
                  <a:cubicBezTo>
                    <a:pt x="327" y="135"/>
                    <a:pt x="339" y="76"/>
                    <a:pt x="341" y="46"/>
                  </a:cubicBezTo>
                  <a:lnTo>
                    <a:pt x="341" y="4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68" name="Google Shape;2568;p142"/>
            <p:cNvSpPr/>
            <p:nvPr/>
          </p:nvSpPr>
          <p:spPr>
            <a:xfrm>
              <a:off x="6146072" y="814421"/>
              <a:ext cx="404437" cy="397496"/>
            </a:xfrm>
            <a:custGeom>
              <a:rect b="b" l="l" r="r" t="t"/>
              <a:pathLst>
                <a:path extrusionOk="0" h="397" w="393">
                  <a:moveTo>
                    <a:pt x="393" y="173"/>
                  </a:moveTo>
                  <a:cubicBezTo>
                    <a:pt x="393" y="278"/>
                    <a:pt x="282" y="309"/>
                    <a:pt x="256" y="309"/>
                  </a:cubicBezTo>
                  <a:cubicBezTo>
                    <a:pt x="228" y="309"/>
                    <a:pt x="219" y="298"/>
                    <a:pt x="219" y="283"/>
                  </a:cubicBezTo>
                  <a:cubicBezTo>
                    <a:pt x="218" y="283"/>
                    <a:pt x="218" y="283"/>
                    <a:pt x="218" y="283"/>
                  </a:cubicBezTo>
                  <a:cubicBezTo>
                    <a:pt x="204" y="300"/>
                    <a:pt x="183" y="309"/>
                    <a:pt x="162" y="309"/>
                  </a:cubicBezTo>
                  <a:cubicBezTo>
                    <a:pt x="116" y="309"/>
                    <a:pt x="83" y="262"/>
                    <a:pt x="83" y="216"/>
                  </a:cubicBezTo>
                  <a:cubicBezTo>
                    <a:pt x="83" y="155"/>
                    <a:pt x="123" y="96"/>
                    <a:pt x="187" y="96"/>
                  </a:cubicBezTo>
                  <a:cubicBezTo>
                    <a:pt x="213" y="96"/>
                    <a:pt x="235" y="105"/>
                    <a:pt x="249" y="128"/>
                  </a:cubicBezTo>
                  <a:cubicBezTo>
                    <a:pt x="250" y="128"/>
                    <a:pt x="250" y="128"/>
                    <a:pt x="250" y="128"/>
                  </a:cubicBezTo>
                  <a:cubicBezTo>
                    <a:pt x="250" y="121"/>
                    <a:pt x="250" y="121"/>
                    <a:pt x="250" y="121"/>
                  </a:cubicBezTo>
                  <a:cubicBezTo>
                    <a:pt x="250" y="105"/>
                    <a:pt x="259" y="96"/>
                    <a:pt x="280" y="96"/>
                  </a:cubicBezTo>
                  <a:cubicBezTo>
                    <a:pt x="293" y="96"/>
                    <a:pt x="305" y="101"/>
                    <a:pt x="305" y="111"/>
                  </a:cubicBezTo>
                  <a:cubicBezTo>
                    <a:pt x="305" y="118"/>
                    <a:pt x="304" y="122"/>
                    <a:pt x="303" y="128"/>
                  </a:cubicBezTo>
                  <a:cubicBezTo>
                    <a:pt x="281" y="226"/>
                    <a:pt x="281" y="226"/>
                    <a:pt x="281" y="226"/>
                  </a:cubicBezTo>
                  <a:cubicBezTo>
                    <a:pt x="280" y="230"/>
                    <a:pt x="279" y="238"/>
                    <a:pt x="279" y="244"/>
                  </a:cubicBezTo>
                  <a:cubicBezTo>
                    <a:pt x="279" y="250"/>
                    <a:pt x="283" y="255"/>
                    <a:pt x="291" y="255"/>
                  </a:cubicBezTo>
                  <a:cubicBezTo>
                    <a:pt x="307" y="255"/>
                    <a:pt x="345" y="231"/>
                    <a:pt x="345" y="173"/>
                  </a:cubicBezTo>
                  <a:cubicBezTo>
                    <a:pt x="345" y="96"/>
                    <a:pt x="274" y="49"/>
                    <a:pt x="196" y="49"/>
                  </a:cubicBezTo>
                  <a:cubicBezTo>
                    <a:pt x="114" y="49"/>
                    <a:pt x="48" y="116"/>
                    <a:pt x="48" y="198"/>
                  </a:cubicBezTo>
                  <a:cubicBezTo>
                    <a:pt x="48" y="282"/>
                    <a:pt x="114" y="348"/>
                    <a:pt x="196" y="348"/>
                  </a:cubicBezTo>
                  <a:cubicBezTo>
                    <a:pt x="235" y="348"/>
                    <a:pt x="273" y="341"/>
                    <a:pt x="307" y="323"/>
                  </a:cubicBezTo>
                  <a:cubicBezTo>
                    <a:pt x="319" y="317"/>
                    <a:pt x="333" y="300"/>
                    <a:pt x="343" y="300"/>
                  </a:cubicBezTo>
                  <a:cubicBezTo>
                    <a:pt x="352" y="300"/>
                    <a:pt x="363" y="303"/>
                    <a:pt x="363" y="320"/>
                  </a:cubicBezTo>
                  <a:cubicBezTo>
                    <a:pt x="363" y="330"/>
                    <a:pt x="358" y="338"/>
                    <a:pt x="348" y="349"/>
                  </a:cubicBezTo>
                  <a:cubicBezTo>
                    <a:pt x="307" y="387"/>
                    <a:pt x="251" y="397"/>
                    <a:pt x="196" y="397"/>
                  </a:cubicBezTo>
                  <a:cubicBezTo>
                    <a:pt x="88" y="397"/>
                    <a:pt x="0" y="308"/>
                    <a:pt x="0" y="198"/>
                  </a:cubicBezTo>
                  <a:cubicBezTo>
                    <a:pt x="0" y="89"/>
                    <a:pt x="88" y="0"/>
                    <a:pt x="196" y="0"/>
                  </a:cubicBezTo>
                  <a:cubicBezTo>
                    <a:pt x="296" y="0"/>
                    <a:pt x="393" y="73"/>
                    <a:pt x="393" y="173"/>
                  </a:cubicBezTo>
                  <a:close/>
                  <a:moveTo>
                    <a:pt x="228" y="196"/>
                  </a:moveTo>
                  <a:cubicBezTo>
                    <a:pt x="228" y="172"/>
                    <a:pt x="213" y="151"/>
                    <a:pt x="187" y="151"/>
                  </a:cubicBezTo>
                  <a:cubicBezTo>
                    <a:pt x="159" y="151"/>
                    <a:pt x="137" y="181"/>
                    <a:pt x="137" y="208"/>
                  </a:cubicBezTo>
                  <a:cubicBezTo>
                    <a:pt x="137" y="231"/>
                    <a:pt x="149" y="254"/>
                    <a:pt x="174" y="254"/>
                  </a:cubicBezTo>
                  <a:cubicBezTo>
                    <a:pt x="206" y="254"/>
                    <a:pt x="228" y="227"/>
                    <a:pt x="228" y="196"/>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69" name="Google Shape;2569;p142"/>
            <p:cNvSpPr/>
            <p:nvPr/>
          </p:nvSpPr>
          <p:spPr>
            <a:xfrm>
              <a:off x="6860773" y="1311083"/>
              <a:ext cx="373274" cy="456878"/>
            </a:xfrm>
            <a:custGeom>
              <a:rect b="b" l="l" r="r" t="t"/>
              <a:pathLst>
                <a:path extrusionOk="0" h="484" w="385">
                  <a:moveTo>
                    <a:pt x="385" y="351"/>
                  </a:moveTo>
                  <a:cubicBezTo>
                    <a:pt x="385" y="295"/>
                    <a:pt x="385" y="295"/>
                    <a:pt x="385" y="295"/>
                  </a:cubicBezTo>
                  <a:cubicBezTo>
                    <a:pt x="385" y="270"/>
                    <a:pt x="371" y="248"/>
                    <a:pt x="352" y="239"/>
                  </a:cubicBezTo>
                  <a:cubicBezTo>
                    <a:pt x="365" y="223"/>
                    <a:pt x="373" y="201"/>
                    <a:pt x="373" y="177"/>
                  </a:cubicBezTo>
                  <a:cubicBezTo>
                    <a:pt x="373" y="92"/>
                    <a:pt x="373" y="92"/>
                    <a:pt x="373" y="92"/>
                  </a:cubicBezTo>
                  <a:cubicBezTo>
                    <a:pt x="373" y="41"/>
                    <a:pt x="336" y="0"/>
                    <a:pt x="291" y="0"/>
                  </a:cubicBezTo>
                  <a:cubicBezTo>
                    <a:pt x="82" y="0"/>
                    <a:pt x="82" y="0"/>
                    <a:pt x="82" y="0"/>
                  </a:cubicBezTo>
                  <a:cubicBezTo>
                    <a:pt x="37" y="0"/>
                    <a:pt x="0" y="41"/>
                    <a:pt x="0" y="92"/>
                  </a:cubicBezTo>
                  <a:cubicBezTo>
                    <a:pt x="0" y="177"/>
                    <a:pt x="0" y="177"/>
                    <a:pt x="0" y="177"/>
                  </a:cubicBezTo>
                  <a:cubicBezTo>
                    <a:pt x="0" y="216"/>
                    <a:pt x="21" y="249"/>
                    <a:pt x="51" y="262"/>
                  </a:cubicBezTo>
                  <a:cubicBezTo>
                    <a:pt x="24" y="341"/>
                    <a:pt x="13" y="381"/>
                    <a:pt x="13" y="381"/>
                  </a:cubicBezTo>
                  <a:cubicBezTo>
                    <a:pt x="141" y="307"/>
                    <a:pt x="141" y="307"/>
                    <a:pt x="141" y="307"/>
                  </a:cubicBezTo>
                  <a:cubicBezTo>
                    <a:pt x="141" y="351"/>
                    <a:pt x="141" y="351"/>
                    <a:pt x="141" y="351"/>
                  </a:cubicBezTo>
                  <a:cubicBezTo>
                    <a:pt x="141" y="384"/>
                    <a:pt x="165" y="411"/>
                    <a:pt x="194" y="411"/>
                  </a:cubicBezTo>
                  <a:cubicBezTo>
                    <a:pt x="250" y="411"/>
                    <a:pt x="250" y="411"/>
                    <a:pt x="250" y="411"/>
                  </a:cubicBezTo>
                  <a:cubicBezTo>
                    <a:pt x="377" y="484"/>
                    <a:pt x="377" y="484"/>
                    <a:pt x="377" y="484"/>
                  </a:cubicBezTo>
                  <a:cubicBezTo>
                    <a:pt x="377" y="484"/>
                    <a:pt x="370" y="458"/>
                    <a:pt x="352" y="407"/>
                  </a:cubicBezTo>
                  <a:cubicBezTo>
                    <a:pt x="371" y="398"/>
                    <a:pt x="385" y="376"/>
                    <a:pt x="385" y="351"/>
                  </a:cubicBezTo>
                  <a:close/>
                  <a:moveTo>
                    <a:pt x="202" y="322"/>
                  </a:moveTo>
                  <a:cubicBezTo>
                    <a:pt x="202" y="310"/>
                    <a:pt x="202" y="310"/>
                    <a:pt x="202" y="310"/>
                  </a:cubicBezTo>
                  <a:cubicBezTo>
                    <a:pt x="171" y="309"/>
                    <a:pt x="146" y="284"/>
                    <a:pt x="146" y="253"/>
                  </a:cubicBezTo>
                  <a:cubicBezTo>
                    <a:pt x="159" y="253"/>
                    <a:pt x="159" y="253"/>
                    <a:pt x="159" y="253"/>
                  </a:cubicBezTo>
                  <a:cubicBezTo>
                    <a:pt x="159" y="277"/>
                    <a:pt x="178" y="296"/>
                    <a:pt x="202" y="296"/>
                  </a:cubicBezTo>
                  <a:cubicBezTo>
                    <a:pt x="202" y="284"/>
                    <a:pt x="202" y="284"/>
                    <a:pt x="202" y="284"/>
                  </a:cubicBezTo>
                  <a:cubicBezTo>
                    <a:pt x="225" y="303"/>
                    <a:pt x="225" y="303"/>
                    <a:pt x="225" y="303"/>
                  </a:cubicBezTo>
                  <a:lnTo>
                    <a:pt x="202" y="322"/>
                  </a:lnTo>
                  <a:close/>
                  <a:moveTo>
                    <a:pt x="214" y="54"/>
                  </a:moveTo>
                  <a:cubicBezTo>
                    <a:pt x="214" y="66"/>
                    <a:pt x="214" y="66"/>
                    <a:pt x="214" y="66"/>
                  </a:cubicBezTo>
                  <a:cubicBezTo>
                    <a:pt x="245" y="67"/>
                    <a:pt x="270" y="92"/>
                    <a:pt x="270" y="123"/>
                  </a:cubicBezTo>
                  <a:cubicBezTo>
                    <a:pt x="257" y="123"/>
                    <a:pt x="257" y="123"/>
                    <a:pt x="257" y="123"/>
                  </a:cubicBezTo>
                  <a:cubicBezTo>
                    <a:pt x="257" y="99"/>
                    <a:pt x="238" y="80"/>
                    <a:pt x="214" y="80"/>
                  </a:cubicBezTo>
                  <a:cubicBezTo>
                    <a:pt x="214" y="92"/>
                    <a:pt x="214" y="92"/>
                    <a:pt x="214" y="92"/>
                  </a:cubicBezTo>
                  <a:cubicBezTo>
                    <a:pt x="191" y="73"/>
                    <a:pt x="191" y="73"/>
                    <a:pt x="191" y="73"/>
                  </a:cubicBezTo>
                  <a:lnTo>
                    <a:pt x="214" y="54"/>
                  </a:lnTo>
                  <a:close/>
                  <a:moveTo>
                    <a:pt x="330" y="158"/>
                  </a:moveTo>
                  <a:cubicBezTo>
                    <a:pt x="165" y="158"/>
                    <a:pt x="165" y="158"/>
                    <a:pt x="165" y="158"/>
                  </a:cubicBezTo>
                  <a:cubicBezTo>
                    <a:pt x="165" y="143"/>
                    <a:pt x="165" y="143"/>
                    <a:pt x="165" y="143"/>
                  </a:cubicBezTo>
                  <a:cubicBezTo>
                    <a:pt x="330" y="143"/>
                    <a:pt x="330" y="143"/>
                    <a:pt x="330" y="143"/>
                  </a:cubicBezTo>
                  <a:lnTo>
                    <a:pt x="330" y="158"/>
                  </a:lnTo>
                  <a:close/>
                  <a:moveTo>
                    <a:pt x="330" y="183"/>
                  </a:moveTo>
                  <a:cubicBezTo>
                    <a:pt x="63" y="183"/>
                    <a:pt x="63" y="183"/>
                    <a:pt x="63" y="183"/>
                  </a:cubicBezTo>
                  <a:cubicBezTo>
                    <a:pt x="63" y="168"/>
                    <a:pt x="63" y="168"/>
                    <a:pt x="63" y="168"/>
                  </a:cubicBezTo>
                  <a:cubicBezTo>
                    <a:pt x="330" y="168"/>
                    <a:pt x="330" y="168"/>
                    <a:pt x="330" y="168"/>
                  </a:cubicBezTo>
                  <a:lnTo>
                    <a:pt x="330" y="183"/>
                  </a:lnTo>
                  <a:close/>
                  <a:moveTo>
                    <a:pt x="330" y="208"/>
                  </a:moveTo>
                  <a:cubicBezTo>
                    <a:pt x="63" y="208"/>
                    <a:pt x="63" y="208"/>
                    <a:pt x="63" y="208"/>
                  </a:cubicBezTo>
                  <a:cubicBezTo>
                    <a:pt x="63" y="193"/>
                    <a:pt x="63" y="193"/>
                    <a:pt x="63" y="193"/>
                  </a:cubicBezTo>
                  <a:cubicBezTo>
                    <a:pt x="330" y="193"/>
                    <a:pt x="330" y="193"/>
                    <a:pt x="330" y="193"/>
                  </a:cubicBezTo>
                  <a:lnTo>
                    <a:pt x="330" y="208"/>
                  </a:lnTo>
                  <a:close/>
                  <a:moveTo>
                    <a:pt x="235" y="232"/>
                  </a:moveTo>
                  <a:cubicBezTo>
                    <a:pt x="63" y="232"/>
                    <a:pt x="63" y="232"/>
                    <a:pt x="63" y="232"/>
                  </a:cubicBezTo>
                  <a:cubicBezTo>
                    <a:pt x="63" y="218"/>
                    <a:pt x="63" y="218"/>
                    <a:pt x="63" y="218"/>
                  </a:cubicBezTo>
                  <a:cubicBezTo>
                    <a:pt x="235" y="218"/>
                    <a:pt x="235" y="218"/>
                    <a:pt x="235" y="218"/>
                  </a:cubicBezTo>
                  <a:lnTo>
                    <a:pt x="235" y="232"/>
                  </a:lnTo>
                  <a:close/>
                  <a:moveTo>
                    <a:pt x="340" y="350"/>
                  </a:moveTo>
                  <a:cubicBezTo>
                    <a:pt x="317" y="376"/>
                    <a:pt x="276" y="376"/>
                    <a:pt x="254" y="350"/>
                  </a:cubicBezTo>
                  <a:cubicBezTo>
                    <a:pt x="254" y="337"/>
                    <a:pt x="255" y="327"/>
                    <a:pt x="261" y="318"/>
                  </a:cubicBezTo>
                  <a:cubicBezTo>
                    <a:pt x="269" y="308"/>
                    <a:pt x="277" y="312"/>
                    <a:pt x="284" y="306"/>
                  </a:cubicBezTo>
                  <a:cubicBezTo>
                    <a:pt x="286" y="309"/>
                    <a:pt x="289" y="311"/>
                    <a:pt x="292" y="312"/>
                  </a:cubicBezTo>
                  <a:cubicBezTo>
                    <a:pt x="294" y="313"/>
                    <a:pt x="299" y="313"/>
                    <a:pt x="302" y="312"/>
                  </a:cubicBezTo>
                  <a:cubicBezTo>
                    <a:pt x="305" y="311"/>
                    <a:pt x="307" y="309"/>
                    <a:pt x="309" y="306"/>
                  </a:cubicBezTo>
                  <a:cubicBezTo>
                    <a:pt x="316" y="311"/>
                    <a:pt x="324" y="308"/>
                    <a:pt x="332" y="318"/>
                  </a:cubicBezTo>
                  <a:cubicBezTo>
                    <a:pt x="339" y="327"/>
                    <a:pt x="340" y="337"/>
                    <a:pt x="340" y="350"/>
                  </a:cubicBezTo>
                  <a:close/>
                  <a:moveTo>
                    <a:pt x="280" y="276"/>
                  </a:moveTo>
                  <a:cubicBezTo>
                    <a:pt x="279" y="275"/>
                    <a:pt x="278" y="274"/>
                    <a:pt x="278" y="273"/>
                  </a:cubicBezTo>
                  <a:cubicBezTo>
                    <a:pt x="279" y="273"/>
                    <a:pt x="279" y="273"/>
                    <a:pt x="279" y="272"/>
                  </a:cubicBezTo>
                  <a:cubicBezTo>
                    <a:pt x="279" y="271"/>
                    <a:pt x="279" y="269"/>
                    <a:pt x="279" y="269"/>
                  </a:cubicBezTo>
                  <a:cubicBezTo>
                    <a:pt x="279" y="269"/>
                    <a:pt x="277" y="266"/>
                    <a:pt x="279" y="266"/>
                  </a:cubicBezTo>
                  <a:cubicBezTo>
                    <a:pt x="280" y="265"/>
                    <a:pt x="282" y="266"/>
                    <a:pt x="282" y="264"/>
                  </a:cubicBezTo>
                  <a:cubicBezTo>
                    <a:pt x="282" y="262"/>
                    <a:pt x="280" y="259"/>
                    <a:pt x="280" y="259"/>
                  </a:cubicBezTo>
                  <a:cubicBezTo>
                    <a:pt x="280" y="259"/>
                    <a:pt x="285" y="261"/>
                    <a:pt x="286" y="261"/>
                  </a:cubicBezTo>
                  <a:cubicBezTo>
                    <a:pt x="288" y="261"/>
                    <a:pt x="291" y="260"/>
                    <a:pt x="290" y="255"/>
                  </a:cubicBezTo>
                  <a:cubicBezTo>
                    <a:pt x="289" y="253"/>
                    <a:pt x="291" y="256"/>
                    <a:pt x="292" y="256"/>
                  </a:cubicBezTo>
                  <a:cubicBezTo>
                    <a:pt x="293" y="256"/>
                    <a:pt x="295" y="259"/>
                    <a:pt x="295" y="259"/>
                  </a:cubicBezTo>
                  <a:cubicBezTo>
                    <a:pt x="295" y="259"/>
                    <a:pt x="301" y="251"/>
                    <a:pt x="301" y="252"/>
                  </a:cubicBezTo>
                  <a:cubicBezTo>
                    <a:pt x="301" y="253"/>
                    <a:pt x="299" y="258"/>
                    <a:pt x="300" y="258"/>
                  </a:cubicBezTo>
                  <a:cubicBezTo>
                    <a:pt x="300" y="258"/>
                    <a:pt x="304" y="255"/>
                    <a:pt x="304" y="255"/>
                  </a:cubicBezTo>
                  <a:cubicBezTo>
                    <a:pt x="305" y="256"/>
                    <a:pt x="304" y="259"/>
                    <a:pt x="305" y="260"/>
                  </a:cubicBezTo>
                  <a:cubicBezTo>
                    <a:pt x="305" y="261"/>
                    <a:pt x="309" y="255"/>
                    <a:pt x="309" y="257"/>
                  </a:cubicBezTo>
                  <a:cubicBezTo>
                    <a:pt x="308" y="260"/>
                    <a:pt x="313" y="261"/>
                    <a:pt x="314" y="263"/>
                  </a:cubicBezTo>
                  <a:cubicBezTo>
                    <a:pt x="314" y="265"/>
                    <a:pt x="315" y="267"/>
                    <a:pt x="314" y="269"/>
                  </a:cubicBezTo>
                  <a:cubicBezTo>
                    <a:pt x="314" y="271"/>
                    <a:pt x="314" y="270"/>
                    <a:pt x="314" y="272"/>
                  </a:cubicBezTo>
                  <a:cubicBezTo>
                    <a:pt x="314" y="275"/>
                    <a:pt x="315" y="274"/>
                    <a:pt x="314" y="276"/>
                  </a:cubicBezTo>
                  <a:cubicBezTo>
                    <a:pt x="314" y="278"/>
                    <a:pt x="314" y="277"/>
                    <a:pt x="314" y="279"/>
                  </a:cubicBezTo>
                  <a:cubicBezTo>
                    <a:pt x="314" y="281"/>
                    <a:pt x="314" y="281"/>
                    <a:pt x="314" y="281"/>
                  </a:cubicBezTo>
                  <a:cubicBezTo>
                    <a:pt x="314" y="283"/>
                    <a:pt x="314" y="284"/>
                    <a:pt x="313" y="284"/>
                  </a:cubicBezTo>
                  <a:cubicBezTo>
                    <a:pt x="313" y="284"/>
                    <a:pt x="313" y="284"/>
                    <a:pt x="313" y="284"/>
                  </a:cubicBezTo>
                  <a:cubicBezTo>
                    <a:pt x="313" y="284"/>
                    <a:pt x="314" y="285"/>
                    <a:pt x="314" y="285"/>
                  </a:cubicBezTo>
                  <a:cubicBezTo>
                    <a:pt x="314" y="287"/>
                    <a:pt x="314" y="290"/>
                    <a:pt x="313" y="293"/>
                  </a:cubicBezTo>
                  <a:cubicBezTo>
                    <a:pt x="313" y="294"/>
                    <a:pt x="312" y="294"/>
                    <a:pt x="312" y="294"/>
                  </a:cubicBezTo>
                  <a:cubicBezTo>
                    <a:pt x="311" y="298"/>
                    <a:pt x="309" y="301"/>
                    <a:pt x="307" y="304"/>
                  </a:cubicBezTo>
                  <a:cubicBezTo>
                    <a:pt x="305" y="306"/>
                    <a:pt x="303" y="308"/>
                    <a:pt x="300" y="309"/>
                  </a:cubicBezTo>
                  <a:cubicBezTo>
                    <a:pt x="299" y="310"/>
                    <a:pt x="295" y="310"/>
                    <a:pt x="293" y="309"/>
                  </a:cubicBezTo>
                  <a:cubicBezTo>
                    <a:pt x="291" y="308"/>
                    <a:pt x="288" y="306"/>
                    <a:pt x="286" y="304"/>
                  </a:cubicBezTo>
                  <a:cubicBezTo>
                    <a:pt x="284" y="301"/>
                    <a:pt x="283" y="298"/>
                    <a:pt x="282" y="294"/>
                  </a:cubicBezTo>
                  <a:cubicBezTo>
                    <a:pt x="281" y="294"/>
                    <a:pt x="280" y="294"/>
                    <a:pt x="280" y="293"/>
                  </a:cubicBezTo>
                  <a:cubicBezTo>
                    <a:pt x="279" y="290"/>
                    <a:pt x="279" y="287"/>
                    <a:pt x="279" y="285"/>
                  </a:cubicBezTo>
                  <a:cubicBezTo>
                    <a:pt x="279" y="285"/>
                    <a:pt x="280" y="284"/>
                    <a:pt x="280" y="284"/>
                  </a:cubicBezTo>
                  <a:cubicBezTo>
                    <a:pt x="280" y="282"/>
                    <a:pt x="280" y="277"/>
                    <a:pt x="280" y="276"/>
                  </a:cubicBezTo>
                  <a:close/>
                  <a:moveTo>
                    <a:pt x="148" y="129"/>
                  </a:moveTo>
                  <a:cubicBezTo>
                    <a:pt x="125" y="155"/>
                    <a:pt x="84" y="155"/>
                    <a:pt x="62" y="129"/>
                  </a:cubicBezTo>
                  <a:cubicBezTo>
                    <a:pt x="62" y="116"/>
                    <a:pt x="63" y="105"/>
                    <a:pt x="69" y="97"/>
                  </a:cubicBezTo>
                  <a:cubicBezTo>
                    <a:pt x="77" y="87"/>
                    <a:pt x="85" y="90"/>
                    <a:pt x="92" y="85"/>
                  </a:cubicBezTo>
                  <a:cubicBezTo>
                    <a:pt x="94" y="87"/>
                    <a:pt x="97" y="90"/>
                    <a:pt x="100" y="91"/>
                  </a:cubicBezTo>
                  <a:cubicBezTo>
                    <a:pt x="102" y="92"/>
                    <a:pt x="107" y="92"/>
                    <a:pt x="110" y="91"/>
                  </a:cubicBezTo>
                  <a:cubicBezTo>
                    <a:pt x="113" y="90"/>
                    <a:pt x="115" y="87"/>
                    <a:pt x="117" y="85"/>
                  </a:cubicBezTo>
                  <a:cubicBezTo>
                    <a:pt x="124" y="90"/>
                    <a:pt x="132" y="87"/>
                    <a:pt x="140" y="97"/>
                  </a:cubicBezTo>
                  <a:cubicBezTo>
                    <a:pt x="147" y="105"/>
                    <a:pt x="148" y="116"/>
                    <a:pt x="148" y="129"/>
                  </a:cubicBezTo>
                  <a:close/>
                  <a:moveTo>
                    <a:pt x="88" y="55"/>
                  </a:moveTo>
                  <a:cubicBezTo>
                    <a:pt x="87" y="54"/>
                    <a:pt x="86" y="53"/>
                    <a:pt x="86" y="52"/>
                  </a:cubicBezTo>
                  <a:cubicBezTo>
                    <a:pt x="87" y="52"/>
                    <a:pt x="87" y="52"/>
                    <a:pt x="87" y="51"/>
                  </a:cubicBezTo>
                  <a:cubicBezTo>
                    <a:pt x="87" y="49"/>
                    <a:pt x="87" y="48"/>
                    <a:pt x="87" y="48"/>
                  </a:cubicBezTo>
                  <a:cubicBezTo>
                    <a:pt x="87" y="48"/>
                    <a:pt x="85" y="45"/>
                    <a:pt x="87" y="44"/>
                  </a:cubicBezTo>
                  <a:cubicBezTo>
                    <a:pt x="88" y="44"/>
                    <a:pt x="90" y="45"/>
                    <a:pt x="90" y="43"/>
                  </a:cubicBezTo>
                  <a:cubicBezTo>
                    <a:pt x="90" y="41"/>
                    <a:pt x="88" y="38"/>
                    <a:pt x="88" y="38"/>
                  </a:cubicBezTo>
                  <a:cubicBezTo>
                    <a:pt x="88" y="38"/>
                    <a:pt x="93" y="39"/>
                    <a:pt x="94" y="39"/>
                  </a:cubicBezTo>
                  <a:cubicBezTo>
                    <a:pt x="96" y="39"/>
                    <a:pt x="99" y="39"/>
                    <a:pt x="98" y="34"/>
                  </a:cubicBezTo>
                  <a:cubicBezTo>
                    <a:pt x="97" y="32"/>
                    <a:pt x="99" y="34"/>
                    <a:pt x="100" y="35"/>
                  </a:cubicBezTo>
                  <a:cubicBezTo>
                    <a:pt x="101" y="35"/>
                    <a:pt x="103" y="38"/>
                    <a:pt x="103" y="38"/>
                  </a:cubicBezTo>
                  <a:cubicBezTo>
                    <a:pt x="103" y="38"/>
                    <a:pt x="109" y="30"/>
                    <a:pt x="109" y="31"/>
                  </a:cubicBezTo>
                  <a:cubicBezTo>
                    <a:pt x="109" y="32"/>
                    <a:pt x="107" y="36"/>
                    <a:pt x="108" y="37"/>
                  </a:cubicBezTo>
                  <a:cubicBezTo>
                    <a:pt x="108" y="37"/>
                    <a:pt x="112" y="33"/>
                    <a:pt x="112" y="34"/>
                  </a:cubicBezTo>
                  <a:cubicBezTo>
                    <a:pt x="113" y="35"/>
                    <a:pt x="112" y="38"/>
                    <a:pt x="113" y="39"/>
                  </a:cubicBezTo>
                  <a:cubicBezTo>
                    <a:pt x="113" y="40"/>
                    <a:pt x="117" y="34"/>
                    <a:pt x="117" y="36"/>
                  </a:cubicBezTo>
                  <a:cubicBezTo>
                    <a:pt x="116" y="38"/>
                    <a:pt x="121" y="40"/>
                    <a:pt x="122" y="42"/>
                  </a:cubicBezTo>
                  <a:cubicBezTo>
                    <a:pt x="122" y="44"/>
                    <a:pt x="123" y="46"/>
                    <a:pt x="122" y="48"/>
                  </a:cubicBezTo>
                  <a:cubicBezTo>
                    <a:pt x="122" y="49"/>
                    <a:pt x="122" y="48"/>
                    <a:pt x="122" y="51"/>
                  </a:cubicBezTo>
                  <a:cubicBezTo>
                    <a:pt x="122" y="53"/>
                    <a:pt x="123" y="52"/>
                    <a:pt x="122" y="54"/>
                  </a:cubicBezTo>
                  <a:cubicBezTo>
                    <a:pt x="122" y="57"/>
                    <a:pt x="122" y="56"/>
                    <a:pt x="122" y="58"/>
                  </a:cubicBezTo>
                  <a:cubicBezTo>
                    <a:pt x="122" y="59"/>
                    <a:pt x="122" y="60"/>
                    <a:pt x="122" y="60"/>
                  </a:cubicBezTo>
                  <a:cubicBezTo>
                    <a:pt x="122" y="61"/>
                    <a:pt x="122" y="62"/>
                    <a:pt x="121" y="63"/>
                  </a:cubicBezTo>
                  <a:cubicBezTo>
                    <a:pt x="121" y="63"/>
                    <a:pt x="121" y="63"/>
                    <a:pt x="121" y="63"/>
                  </a:cubicBezTo>
                  <a:cubicBezTo>
                    <a:pt x="121" y="63"/>
                    <a:pt x="122" y="64"/>
                    <a:pt x="122" y="64"/>
                  </a:cubicBezTo>
                  <a:cubicBezTo>
                    <a:pt x="122" y="66"/>
                    <a:pt x="122" y="69"/>
                    <a:pt x="121" y="72"/>
                  </a:cubicBezTo>
                  <a:cubicBezTo>
                    <a:pt x="121" y="72"/>
                    <a:pt x="120" y="73"/>
                    <a:pt x="120" y="73"/>
                  </a:cubicBezTo>
                  <a:cubicBezTo>
                    <a:pt x="119" y="76"/>
                    <a:pt x="117" y="79"/>
                    <a:pt x="115" y="82"/>
                  </a:cubicBezTo>
                  <a:cubicBezTo>
                    <a:pt x="113" y="85"/>
                    <a:pt x="111" y="87"/>
                    <a:pt x="108" y="88"/>
                  </a:cubicBezTo>
                  <a:cubicBezTo>
                    <a:pt x="107" y="89"/>
                    <a:pt x="103" y="89"/>
                    <a:pt x="101" y="88"/>
                  </a:cubicBezTo>
                  <a:cubicBezTo>
                    <a:pt x="99" y="87"/>
                    <a:pt x="96" y="85"/>
                    <a:pt x="94" y="82"/>
                  </a:cubicBezTo>
                  <a:cubicBezTo>
                    <a:pt x="92" y="79"/>
                    <a:pt x="91" y="76"/>
                    <a:pt x="90" y="73"/>
                  </a:cubicBezTo>
                  <a:cubicBezTo>
                    <a:pt x="89" y="73"/>
                    <a:pt x="88" y="72"/>
                    <a:pt x="88" y="72"/>
                  </a:cubicBezTo>
                  <a:cubicBezTo>
                    <a:pt x="87" y="69"/>
                    <a:pt x="87" y="66"/>
                    <a:pt x="87" y="64"/>
                  </a:cubicBezTo>
                  <a:cubicBezTo>
                    <a:pt x="87" y="64"/>
                    <a:pt x="88" y="63"/>
                    <a:pt x="88" y="63"/>
                  </a:cubicBezTo>
                  <a:cubicBezTo>
                    <a:pt x="88" y="61"/>
                    <a:pt x="88" y="56"/>
                    <a:pt x="88" y="55"/>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70" name="Google Shape;2570;p142"/>
            <p:cNvSpPr/>
            <p:nvPr/>
          </p:nvSpPr>
          <p:spPr>
            <a:xfrm>
              <a:off x="6284720" y="1354391"/>
              <a:ext cx="391954" cy="370263"/>
            </a:xfrm>
            <a:custGeom>
              <a:rect b="b" l="l" r="r" t="t"/>
              <a:pathLst>
                <a:path extrusionOk="0" h="445" w="480">
                  <a:moveTo>
                    <a:pt x="470" y="85"/>
                  </a:moveTo>
                  <a:cubicBezTo>
                    <a:pt x="464" y="90"/>
                    <a:pt x="455" y="92"/>
                    <a:pt x="447" y="93"/>
                  </a:cubicBezTo>
                  <a:cubicBezTo>
                    <a:pt x="431" y="95"/>
                    <a:pt x="429" y="85"/>
                    <a:pt x="424" y="74"/>
                  </a:cubicBezTo>
                  <a:cubicBezTo>
                    <a:pt x="402" y="30"/>
                    <a:pt x="358" y="0"/>
                    <a:pt x="306" y="0"/>
                  </a:cubicBezTo>
                  <a:cubicBezTo>
                    <a:pt x="236" y="0"/>
                    <a:pt x="179" y="54"/>
                    <a:pt x="176" y="123"/>
                  </a:cubicBezTo>
                  <a:cubicBezTo>
                    <a:pt x="176" y="123"/>
                    <a:pt x="176" y="123"/>
                    <a:pt x="176" y="123"/>
                  </a:cubicBezTo>
                  <a:cubicBezTo>
                    <a:pt x="176" y="123"/>
                    <a:pt x="176" y="123"/>
                    <a:pt x="176" y="123"/>
                  </a:cubicBezTo>
                  <a:cubicBezTo>
                    <a:pt x="175" y="126"/>
                    <a:pt x="175" y="124"/>
                    <a:pt x="175" y="127"/>
                  </a:cubicBezTo>
                  <a:cubicBezTo>
                    <a:pt x="175" y="142"/>
                    <a:pt x="164" y="148"/>
                    <a:pt x="154" y="148"/>
                  </a:cubicBezTo>
                  <a:cubicBezTo>
                    <a:pt x="131" y="148"/>
                    <a:pt x="99" y="145"/>
                    <a:pt x="64" y="129"/>
                  </a:cubicBezTo>
                  <a:cubicBezTo>
                    <a:pt x="0" y="100"/>
                    <a:pt x="88" y="221"/>
                    <a:pt x="103" y="238"/>
                  </a:cubicBezTo>
                  <a:cubicBezTo>
                    <a:pt x="110" y="246"/>
                    <a:pt x="127" y="263"/>
                    <a:pt x="135" y="272"/>
                  </a:cubicBezTo>
                  <a:cubicBezTo>
                    <a:pt x="144" y="282"/>
                    <a:pt x="144" y="290"/>
                    <a:pt x="139" y="297"/>
                  </a:cubicBezTo>
                  <a:cubicBezTo>
                    <a:pt x="122" y="324"/>
                    <a:pt x="95" y="336"/>
                    <a:pt x="54" y="337"/>
                  </a:cubicBezTo>
                  <a:cubicBezTo>
                    <a:pt x="26" y="338"/>
                    <a:pt x="34" y="344"/>
                    <a:pt x="50" y="353"/>
                  </a:cubicBezTo>
                  <a:cubicBezTo>
                    <a:pt x="120" y="391"/>
                    <a:pt x="283" y="445"/>
                    <a:pt x="417" y="199"/>
                  </a:cubicBezTo>
                  <a:cubicBezTo>
                    <a:pt x="423" y="188"/>
                    <a:pt x="427" y="176"/>
                    <a:pt x="432" y="165"/>
                  </a:cubicBezTo>
                  <a:cubicBezTo>
                    <a:pt x="436" y="154"/>
                    <a:pt x="436" y="148"/>
                    <a:pt x="447" y="140"/>
                  </a:cubicBezTo>
                  <a:cubicBezTo>
                    <a:pt x="475" y="116"/>
                    <a:pt x="480" y="77"/>
                    <a:pt x="470" y="85"/>
                  </a:cubicBezTo>
                  <a:close/>
                  <a:moveTo>
                    <a:pt x="336" y="119"/>
                  </a:moveTo>
                  <a:cubicBezTo>
                    <a:pt x="323" y="119"/>
                    <a:pt x="313" y="109"/>
                    <a:pt x="313" y="96"/>
                  </a:cubicBezTo>
                  <a:cubicBezTo>
                    <a:pt x="313" y="84"/>
                    <a:pt x="323" y="74"/>
                    <a:pt x="336" y="74"/>
                  </a:cubicBezTo>
                  <a:cubicBezTo>
                    <a:pt x="348" y="74"/>
                    <a:pt x="358" y="84"/>
                    <a:pt x="358" y="96"/>
                  </a:cubicBezTo>
                  <a:cubicBezTo>
                    <a:pt x="358" y="109"/>
                    <a:pt x="348" y="119"/>
                    <a:pt x="336" y="119"/>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71" name="Google Shape;2571;p142"/>
            <p:cNvGrpSpPr/>
            <p:nvPr/>
          </p:nvGrpSpPr>
          <p:grpSpPr>
            <a:xfrm>
              <a:off x="8107751" y="1342792"/>
              <a:ext cx="276507" cy="393460"/>
              <a:chOff x="6954288" y="1678075"/>
              <a:chExt cx="679456" cy="947737"/>
            </a:xfrm>
          </p:grpSpPr>
          <p:sp>
            <p:nvSpPr>
              <p:cNvPr id="2572" name="Google Shape;2572;p142"/>
              <p:cNvSpPr/>
              <p:nvPr/>
            </p:nvSpPr>
            <p:spPr>
              <a:xfrm>
                <a:off x="7411491" y="1981287"/>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3" name="Google Shape;2573;p142"/>
              <p:cNvSpPr/>
              <p:nvPr/>
            </p:nvSpPr>
            <p:spPr>
              <a:xfrm>
                <a:off x="7411491" y="2027325"/>
                <a:ext cx="177800" cy="90487"/>
              </a:xfrm>
              <a:custGeom>
                <a:rect b="b" l="l" r="r" t="t"/>
                <a:pathLst>
                  <a:path extrusionOk="0" h="57" w="112">
                    <a:moveTo>
                      <a:pt x="112" y="0"/>
                    </a:moveTo>
                    <a:lnTo>
                      <a:pt x="0" y="0"/>
                    </a:lnTo>
                    <a:lnTo>
                      <a:pt x="0" y="57"/>
                    </a:lnTo>
                    <a:lnTo>
                      <a:pt x="112" y="57"/>
                    </a:lnTo>
                    <a:lnTo>
                      <a:pt x="112" y="0"/>
                    </a:lnTo>
                    <a:close/>
                    <a:moveTo>
                      <a:pt x="104" y="44"/>
                    </a:moveTo>
                    <a:lnTo>
                      <a:pt x="8" y="44"/>
                    </a:lnTo>
                    <a:lnTo>
                      <a:pt x="8" y="28"/>
                    </a:lnTo>
                    <a:lnTo>
                      <a:pt x="104" y="28"/>
                    </a:lnTo>
                    <a:lnTo>
                      <a:pt x="104" y="44"/>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4" name="Google Shape;2574;p142"/>
              <p:cNvSpPr/>
              <p:nvPr/>
            </p:nvSpPr>
            <p:spPr>
              <a:xfrm>
                <a:off x="7411491" y="2143213"/>
                <a:ext cx="177800" cy="30162"/>
              </a:xfrm>
              <a:prstGeom prst="rect">
                <a:avLst/>
              </a:pr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5" name="Google Shape;2575;p142"/>
              <p:cNvSpPr/>
              <p:nvPr/>
            </p:nvSpPr>
            <p:spPr>
              <a:xfrm>
                <a:off x="7325769" y="1743162"/>
                <a:ext cx="307976" cy="882650"/>
              </a:xfrm>
              <a:custGeom>
                <a:rect b="b" l="l" r="r" t="t"/>
                <a:pathLst>
                  <a:path extrusionOk="0" h="840" w="294">
                    <a:moveTo>
                      <a:pt x="227" y="0"/>
                    </a:moveTo>
                    <a:cubicBezTo>
                      <a:pt x="39" y="0"/>
                      <a:pt x="39" y="0"/>
                      <a:pt x="39" y="0"/>
                    </a:cubicBezTo>
                    <a:cubicBezTo>
                      <a:pt x="39" y="1"/>
                      <a:pt x="39" y="3"/>
                      <a:pt x="39" y="4"/>
                    </a:cubicBezTo>
                    <a:cubicBezTo>
                      <a:pt x="39" y="773"/>
                      <a:pt x="39" y="773"/>
                      <a:pt x="39" y="773"/>
                    </a:cubicBezTo>
                    <a:cubicBezTo>
                      <a:pt x="39" y="801"/>
                      <a:pt x="24" y="826"/>
                      <a:pt x="0" y="840"/>
                    </a:cubicBezTo>
                    <a:cubicBezTo>
                      <a:pt x="227" y="840"/>
                      <a:pt x="227" y="840"/>
                      <a:pt x="227" y="840"/>
                    </a:cubicBezTo>
                    <a:cubicBezTo>
                      <a:pt x="264" y="840"/>
                      <a:pt x="294" y="810"/>
                      <a:pt x="294" y="773"/>
                    </a:cubicBezTo>
                    <a:cubicBezTo>
                      <a:pt x="294" y="67"/>
                      <a:pt x="294" y="67"/>
                      <a:pt x="294" y="67"/>
                    </a:cubicBezTo>
                    <a:cubicBezTo>
                      <a:pt x="294" y="30"/>
                      <a:pt x="264" y="0"/>
                      <a:pt x="227" y="0"/>
                    </a:cubicBezTo>
                    <a:close/>
                    <a:moveTo>
                      <a:pt x="269" y="462"/>
                    </a:moveTo>
                    <a:cubicBezTo>
                      <a:pt x="60" y="462"/>
                      <a:pt x="60" y="462"/>
                      <a:pt x="60" y="462"/>
                    </a:cubicBezTo>
                    <a:cubicBezTo>
                      <a:pt x="60" y="201"/>
                      <a:pt x="60" y="201"/>
                      <a:pt x="60" y="201"/>
                    </a:cubicBezTo>
                    <a:cubicBezTo>
                      <a:pt x="269" y="201"/>
                      <a:pt x="269" y="201"/>
                      <a:pt x="269" y="201"/>
                    </a:cubicBezTo>
                    <a:lnTo>
                      <a:pt x="269" y="462"/>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sp>
            <p:nvSpPr>
              <p:cNvPr id="2576" name="Google Shape;2576;p142"/>
              <p:cNvSpPr/>
              <p:nvPr/>
            </p:nvSpPr>
            <p:spPr>
              <a:xfrm>
                <a:off x="6954288" y="1678075"/>
                <a:ext cx="398463" cy="947737"/>
              </a:xfrm>
              <a:custGeom>
                <a:rect b="b" l="l" r="r" t="t"/>
                <a:pathLst>
                  <a:path extrusionOk="0" h="902" w="380">
                    <a:moveTo>
                      <a:pt x="314" y="0"/>
                    </a:moveTo>
                    <a:cubicBezTo>
                      <a:pt x="67" y="0"/>
                      <a:pt x="67" y="0"/>
                      <a:pt x="67" y="0"/>
                    </a:cubicBezTo>
                    <a:cubicBezTo>
                      <a:pt x="30" y="0"/>
                      <a:pt x="0" y="29"/>
                      <a:pt x="0" y="66"/>
                    </a:cubicBezTo>
                    <a:cubicBezTo>
                      <a:pt x="0" y="835"/>
                      <a:pt x="0" y="835"/>
                      <a:pt x="0" y="835"/>
                    </a:cubicBezTo>
                    <a:cubicBezTo>
                      <a:pt x="0" y="872"/>
                      <a:pt x="30" y="902"/>
                      <a:pt x="67" y="902"/>
                    </a:cubicBezTo>
                    <a:cubicBezTo>
                      <a:pt x="314" y="902"/>
                      <a:pt x="314" y="902"/>
                      <a:pt x="314" y="902"/>
                    </a:cubicBezTo>
                    <a:cubicBezTo>
                      <a:pt x="350" y="902"/>
                      <a:pt x="380" y="872"/>
                      <a:pt x="380" y="835"/>
                    </a:cubicBezTo>
                    <a:cubicBezTo>
                      <a:pt x="380" y="66"/>
                      <a:pt x="380" y="66"/>
                      <a:pt x="380" y="66"/>
                    </a:cubicBezTo>
                    <a:cubicBezTo>
                      <a:pt x="380" y="29"/>
                      <a:pt x="350" y="0"/>
                      <a:pt x="314" y="0"/>
                    </a:cubicBezTo>
                    <a:close/>
                    <a:moveTo>
                      <a:pt x="322" y="500"/>
                    </a:moveTo>
                    <a:cubicBezTo>
                      <a:pt x="62" y="500"/>
                      <a:pt x="62" y="500"/>
                      <a:pt x="62" y="500"/>
                    </a:cubicBezTo>
                    <a:cubicBezTo>
                      <a:pt x="62" y="457"/>
                      <a:pt x="62" y="457"/>
                      <a:pt x="62" y="457"/>
                    </a:cubicBezTo>
                    <a:cubicBezTo>
                      <a:pt x="322" y="457"/>
                      <a:pt x="322" y="457"/>
                      <a:pt x="322" y="457"/>
                    </a:cubicBezTo>
                    <a:lnTo>
                      <a:pt x="322" y="500"/>
                    </a:lnTo>
                    <a:close/>
                    <a:moveTo>
                      <a:pt x="125" y="357"/>
                    </a:moveTo>
                    <a:cubicBezTo>
                      <a:pt x="125" y="387"/>
                      <a:pt x="125" y="387"/>
                      <a:pt x="125" y="387"/>
                    </a:cubicBezTo>
                    <a:cubicBezTo>
                      <a:pt x="94" y="387"/>
                      <a:pt x="94" y="387"/>
                      <a:pt x="94" y="387"/>
                    </a:cubicBezTo>
                    <a:cubicBezTo>
                      <a:pt x="94" y="357"/>
                      <a:pt x="94" y="357"/>
                      <a:pt x="94" y="357"/>
                    </a:cubicBezTo>
                    <a:lnTo>
                      <a:pt x="125" y="357"/>
                    </a:lnTo>
                    <a:close/>
                    <a:moveTo>
                      <a:pt x="94" y="342"/>
                    </a:moveTo>
                    <a:cubicBezTo>
                      <a:pt x="94" y="312"/>
                      <a:pt x="94" y="312"/>
                      <a:pt x="94" y="312"/>
                    </a:cubicBezTo>
                    <a:cubicBezTo>
                      <a:pt x="125" y="312"/>
                      <a:pt x="125" y="312"/>
                      <a:pt x="125" y="312"/>
                    </a:cubicBezTo>
                    <a:cubicBezTo>
                      <a:pt x="125" y="342"/>
                      <a:pt x="125" y="342"/>
                      <a:pt x="125" y="342"/>
                    </a:cubicBezTo>
                    <a:lnTo>
                      <a:pt x="94" y="342"/>
                    </a:lnTo>
                    <a:close/>
                    <a:moveTo>
                      <a:pt x="125" y="401"/>
                    </a:moveTo>
                    <a:cubicBezTo>
                      <a:pt x="125" y="432"/>
                      <a:pt x="125" y="432"/>
                      <a:pt x="125" y="432"/>
                    </a:cubicBezTo>
                    <a:cubicBezTo>
                      <a:pt x="94" y="432"/>
                      <a:pt x="94" y="432"/>
                      <a:pt x="94" y="432"/>
                    </a:cubicBezTo>
                    <a:cubicBezTo>
                      <a:pt x="94" y="401"/>
                      <a:pt x="94" y="401"/>
                      <a:pt x="94" y="401"/>
                    </a:cubicBezTo>
                    <a:lnTo>
                      <a:pt x="125" y="401"/>
                    </a:lnTo>
                    <a:close/>
                    <a:moveTo>
                      <a:pt x="166" y="357"/>
                    </a:moveTo>
                    <a:cubicBezTo>
                      <a:pt x="166" y="387"/>
                      <a:pt x="166" y="387"/>
                      <a:pt x="166" y="387"/>
                    </a:cubicBezTo>
                    <a:cubicBezTo>
                      <a:pt x="136" y="387"/>
                      <a:pt x="136" y="387"/>
                      <a:pt x="136" y="387"/>
                    </a:cubicBezTo>
                    <a:cubicBezTo>
                      <a:pt x="136" y="357"/>
                      <a:pt x="136" y="357"/>
                      <a:pt x="136" y="357"/>
                    </a:cubicBezTo>
                    <a:lnTo>
                      <a:pt x="166" y="357"/>
                    </a:lnTo>
                    <a:close/>
                    <a:moveTo>
                      <a:pt x="136" y="342"/>
                    </a:moveTo>
                    <a:cubicBezTo>
                      <a:pt x="136" y="312"/>
                      <a:pt x="136" y="312"/>
                      <a:pt x="136" y="312"/>
                    </a:cubicBezTo>
                    <a:cubicBezTo>
                      <a:pt x="166" y="312"/>
                      <a:pt x="166" y="312"/>
                      <a:pt x="166" y="312"/>
                    </a:cubicBezTo>
                    <a:cubicBezTo>
                      <a:pt x="166" y="342"/>
                      <a:pt x="166" y="342"/>
                      <a:pt x="166" y="342"/>
                    </a:cubicBezTo>
                    <a:lnTo>
                      <a:pt x="136" y="342"/>
                    </a:lnTo>
                    <a:close/>
                    <a:moveTo>
                      <a:pt x="166" y="401"/>
                    </a:moveTo>
                    <a:cubicBezTo>
                      <a:pt x="166" y="432"/>
                      <a:pt x="166" y="432"/>
                      <a:pt x="166" y="432"/>
                    </a:cubicBezTo>
                    <a:cubicBezTo>
                      <a:pt x="136" y="432"/>
                      <a:pt x="136" y="432"/>
                      <a:pt x="136" y="432"/>
                    </a:cubicBezTo>
                    <a:cubicBezTo>
                      <a:pt x="136" y="401"/>
                      <a:pt x="136" y="401"/>
                      <a:pt x="136" y="401"/>
                    </a:cubicBezTo>
                    <a:lnTo>
                      <a:pt x="166" y="401"/>
                    </a:lnTo>
                    <a:close/>
                    <a:moveTo>
                      <a:pt x="208" y="357"/>
                    </a:moveTo>
                    <a:cubicBezTo>
                      <a:pt x="208" y="387"/>
                      <a:pt x="208" y="387"/>
                      <a:pt x="208" y="387"/>
                    </a:cubicBezTo>
                    <a:cubicBezTo>
                      <a:pt x="177" y="387"/>
                      <a:pt x="177" y="387"/>
                      <a:pt x="177" y="387"/>
                    </a:cubicBezTo>
                    <a:cubicBezTo>
                      <a:pt x="177" y="357"/>
                      <a:pt x="177" y="357"/>
                      <a:pt x="177" y="357"/>
                    </a:cubicBezTo>
                    <a:lnTo>
                      <a:pt x="208" y="357"/>
                    </a:lnTo>
                    <a:close/>
                    <a:moveTo>
                      <a:pt x="177" y="342"/>
                    </a:moveTo>
                    <a:cubicBezTo>
                      <a:pt x="177" y="312"/>
                      <a:pt x="177" y="312"/>
                      <a:pt x="177" y="312"/>
                    </a:cubicBezTo>
                    <a:cubicBezTo>
                      <a:pt x="208" y="312"/>
                      <a:pt x="208" y="312"/>
                      <a:pt x="208" y="312"/>
                    </a:cubicBezTo>
                    <a:cubicBezTo>
                      <a:pt x="208" y="342"/>
                      <a:pt x="208" y="342"/>
                      <a:pt x="208" y="342"/>
                    </a:cubicBezTo>
                    <a:lnTo>
                      <a:pt x="177" y="342"/>
                    </a:lnTo>
                    <a:close/>
                    <a:moveTo>
                      <a:pt x="208" y="401"/>
                    </a:moveTo>
                    <a:cubicBezTo>
                      <a:pt x="208" y="432"/>
                      <a:pt x="208" y="432"/>
                      <a:pt x="208" y="432"/>
                    </a:cubicBezTo>
                    <a:cubicBezTo>
                      <a:pt x="177" y="432"/>
                      <a:pt x="177" y="432"/>
                      <a:pt x="177" y="432"/>
                    </a:cubicBezTo>
                    <a:cubicBezTo>
                      <a:pt x="177" y="401"/>
                      <a:pt x="177" y="401"/>
                      <a:pt x="177" y="401"/>
                    </a:cubicBezTo>
                    <a:lnTo>
                      <a:pt x="208" y="401"/>
                    </a:lnTo>
                    <a:close/>
                    <a:moveTo>
                      <a:pt x="290" y="357"/>
                    </a:moveTo>
                    <a:cubicBezTo>
                      <a:pt x="290" y="387"/>
                      <a:pt x="290" y="387"/>
                      <a:pt x="290" y="387"/>
                    </a:cubicBezTo>
                    <a:cubicBezTo>
                      <a:pt x="260" y="387"/>
                      <a:pt x="260" y="387"/>
                      <a:pt x="260" y="387"/>
                    </a:cubicBezTo>
                    <a:cubicBezTo>
                      <a:pt x="260" y="357"/>
                      <a:pt x="260" y="357"/>
                      <a:pt x="260" y="357"/>
                    </a:cubicBezTo>
                    <a:lnTo>
                      <a:pt x="290" y="357"/>
                    </a:lnTo>
                    <a:close/>
                    <a:moveTo>
                      <a:pt x="260" y="342"/>
                    </a:moveTo>
                    <a:cubicBezTo>
                      <a:pt x="260" y="312"/>
                      <a:pt x="260" y="312"/>
                      <a:pt x="260" y="312"/>
                    </a:cubicBezTo>
                    <a:cubicBezTo>
                      <a:pt x="290" y="312"/>
                      <a:pt x="290" y="312"/>
                      <a:pt x="290" y="312"/>
                    </a:cubicBezTo>
                    <a:cubicBezTo>
                      <a:pt x="290" y="342"/>
                      <a:pt x="290" y="342"/>
                      <a:pt x="290" y="342"/>
                    </a:cubicBezTo>
                    <a:lnTo>
                      <a:pt x="260" y="342"/>
                    </a:lnTo>
                    <a:close/>
                    <a:moveTo>
                      <a:pt x="290" y="401"/>
                    </a:moveTo>
                    <a:cubicBezTo>
                      <a:pt x="290" y="432"/>
                      <a:pt x="290" y="432"/>
                      <a:pt x="290" y="432"/>
                    </a:cubicBezTo>
                    <a:cubicBezTo>
                      <a:pt x="260" y="432"/>
                      <a:pt x="260" y="432"/>
                      <a:pt x="260" y="432"/>
                    </a:cubicBezTo>
                    <a:cubicBezTo>
                      <a:pt x="260" y="401"/>
                      <a:pt x="260" y="401"/>
                      <a:pt x="260" y="401"/>
                    </a:cubicBezTo>
                    <a:lnTo>
                      <a:pt x="290" y="401"/>
                    </a:lnTo>
                    <a:close/>
                    <a:moveTo>
                      <a:pt x="330" y="245"/>
                    </a:moveTo>
                    <a:cubicBezTo>
                      <a:pt x="330" y="265"/>
                      <a:pt x="315" y="280"/>
                      <a:pt x="295" y="280"/>
                    </a:cubicBezTo>
                    <a:cubicBezTo>
                      <a:pt x="90" y="280"/>
                      <a:pt x="90" y="280"/>
                      <a:pt x="90" y="280"/>
                    </a:cubicBezTo>
                    <a:cubicBezTo>
                      <a:pt x="70" y="280"/>
                      <a:pt x="54" y="265"/>
                      <a:pt x="54" y="245"/>
                    </a:cubicBezTo>
                    <a:cubicBezTo>
                      <a:pt x="54" y="86"/>
                      <a:pt x="54" y="86"/>
                      <a:pt x="54" y="86"/>
                    </a:cubicBezTo>
                    <a:cubicBezTo>
                      <a:pt x="54" y="66"/>
                      <a:pt x="70" y="51"/>
                      <a:pt x="90" y="51"/>
                    </a:cubicBezTo>
                    <a:cubicBezTo>
                      <a:pt x="295" y="51"/>
                      <a:pt x="295" y="51"/>
                      <a:pt x="295" y="51"/>
                    </a:cubicBezTo>
                    <a:cubicBezTo>
                      <a:pt x="315" y="51"/>
                      <a:pt x="330" y="66"/>
                      <a:pt x="330" y="86"/>
                    </a:cubicBezTo>
                    <a:lnTo>
                      <a:pt x="330" y="24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baseline="-25000" i="0" sz="1800" u="none" cap="none" strike="noStrike">
                  <a:solidFill>
                    <a:srgbClr val="3C3C3B"/>
                  </a:solidFill>
                  <a:latin typeface="Century Gothic"/>
                  <a:ea typeface="Century Gothic"/>
                  <a:cs typeface="Century Gothic"/>
                  <a:sym typeface="Century Gothic"/>
                </a:endParaRPr>
              </a:p>
            </p:txBody>
          </p:sp>
        </p:grpSp>
        <p:sp>
          <p:nvSpPr>
            <p:cNvPr id="2577" name="Google Shape;2577;p142"/>
            <p:cNvSpPr/>
            <p:nvPr/>
          </p:nvSpPr>
          <p:spPr>
            <a:xfrm>
              <a:off x="8119088" y="777760"/>
              <a:ext cx="253833" cy="470819"/>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78" name="Google Shape;2578;p142"/>
            <p:cNvSpPr/>
            <p:nvPr/>
          </p:nvSpPr>
          <p:spPr>
            <a:xfrm>
              <a:off x="7514882" y="813490"/>
              <a:ext cx="464903" cy="399358"/>
            </a:xfrm>
            <a:custGeom>
              <a:rect b="b" l="l" r="r" t="t"/>
              <a:pathLst>
                <a:path extrusionOk="0" h="651" w="766">
                  <a:moveTo>
                    <a:pt x="747" y="599"/>
                  </a:moveTo>
                  <a:cubicBezTo>
                    <a:pt x="747" y="547"/>
                    <a:pt x="747" y="547"/>
                    <a:pt x="747" y="547"/>
                  </a:cubicBezTo>
                  <a:cubicBezTo>
                    <a:pt x="727" y="547"/>
                    <a:pt x="727" y="547"/>
                    <a:pt x="727" y="547"/>
                  </a:cubicBezTo>
                  <a:cubicBezTo>
                    <a:pt x="727" y="496"/>
                    <a:pt x="727" y="496"/>
                    <a:pt x="727" y="496"/>
                  </a:cubicBezTo>
                  <a:cubicBezTo>
                    <a:pt x="692" y="496"/>
                    <a:pt x="692" y="496"/>
                    <a:pt x="692" y="496"/>
                  </a:cubicBezTo>
                  <a:cubicBezTo>
                    <a:pt x="692" y="219"/>
                    <a:pt x="692" y="219"/>
                    <a:pt x="692" y="219"/>
                  </a:cubicBezTo>
                  <a:cubicBezTo>
                    <a:pt x="723" y="219"/>
                    <a:pt x="723" y="219"/>
                    <a:pt x="723" y="219"/>
                  </a:cubicBezTo>
                  <a:cubicBezTo>
                    <a:pt x="744" y="219"/>
                    <a:pt x="761" y="202"/>
                    <a:pt x="761" y="182"/>
                  </a:cubicBezTo>
                  <a:cubicBezTo>
                    <a:pt x="761" y="155"/>
                    <a:pt x="761" y="155"/>
                    <a:pt x="761" y="155"/>
                  </a:cubicBezTo>
                  <a:cubicBezTo>
                    <a:pt x="761" y="135"/>
                    <a:pt x="744" y="112"/>
                    <a:pt x="725" y="106"/>
                  </a:cubicBezTo>
                  <a:cubicBezTo>
                    <a:pt x="413" y="6"/>
                    <a:pt x="413" y="6"/>
                    <a:pt x="413" y="6"/>
                  </a:cubicBezTo>
                  <a:cubicBezTo>
                    <a:pt x="393" y="0"/>
                    <a:pt x="361" y="0"/>
                    <a:pt x="341" y="6"/>
                  </a:cubicBezTo>
                  <a:cubicBezTo>
                    <a:pt x="41" y="106"/>
                    <a:pt x="41" y="106"/>
                    <a:pt x="41" y="106"/>
                  </a:cubicBezTo>
                  <a:cubicBezTo>
                    <a:pt x="22" y="112"/>
                    <a:pt x="6" y="135"/>
                    <a:pt x="6" y="155"/>
                  </a:cubicBezTo>
                  <a:cubicBezTo>
                    <a:pt x="6" y="182"/>
                    <a:pt x="6" y="182"/>
                    <a:pt x="6" y="182"/>
                  </a:cubicBezTo>
                  <a:cubicBezTo>
                    <a:pt x="6" y="202"/>
                    <a:pt x="23" y="219"/>
                    <a:pt x="43" y="219"/>
                  </a:cubicBezTo>
                  <a:cubicBezTo>
                    <a:pt x="74" y="219"/>
                    <a:pt x="74" y="219"/>
                    <a:pt x="74" y="219"/>
                  </a:cubicBezTo>
                  <a:cubicBezTo>
                    <a:pt x="74" y="496"/>
                    <a:pt x="74" y="496"/>
                    <a:pt x="74" y="496"/>
                  </a:cubicBezTo>
                  <a:cubicBezTo>
                    <a:pt x="39" y="496"/>
                    <a:pt x="39" y="496"/>
                    <a:pt x="39" y="496"/>
                  </a:cubicBezTo>
                  <a:cubicBezTo>
                    <a:pt x="39" y="547"/>
                    <a:pt x="39" y="547"/>
                    <a:pt x="39" y="547"/>
                  </a:cubicBezTo>
                  <a:cubicBezTo>
                    <a:pt x="20" y="547"/>
                    <a:pt x="20" y="547"/>
                    <a:pt x="20" y="547"/>
                  </a:cubicBezTo>
                  <a:cubicBezTo>
                    <a:pt x="20" y="599"/>
                    <a:pt x="20" y="599"/>
                    <a:pt x="20" y="599"/>
                  </a:cubicBezTo>
                  <a:cubicBezTo>
                    <a:pt x="0" y="599"/>
                    <a:pt x="0" y="599"/>
                    <a:pt x="0" y="599"/>
                  </a:cubicBezTo>
                  <a:cubicBezTo>
                    <a:pt x="0" y="651"/>
                    <a:pt x="0" y="651"/>
                    <a:pt x="0" y="651"/>
                  </a:cubicBezTo>
                  <a:cubicBezTo>
                    <a:pt x="766" y="651"/>
                    <a:pt x="766" y="651"/>
                    <a:pt x="766" y="651"/>
                  </a:cubicBezTo>
                  <a:cubicBezTo>
                    <a:pt x="766" y="599"/>
                    <a:pt x="766" y="599"/>
                    <a:pt x="766" y="599"/>
                  </a:cubicBezTo>
                  <a:lnTo>
                    <a:pt x="747" y="599"/>
                  </a:lnTo>
                  <a:close/>
                  <a:moveTo>
                    <a:pt x="417" y="496"/>
                  </a:moveTo>
                  <a:cubicBezTo>
                    <a:pt x="417" y="219"/>
                    <a:pt x="417" y="219"/>
                    <a:pt x="417" y="219"/>
                  </a:cubicBezTo>
                  <a:cubicBezTo>
                    <a:pt x="486" y="219"/>
                    <a:pt x="486" y="219"/>
                    <a:pt x="486" y="219"/>
                  </a:cubicBezTo>
                  <a:cubicBezTo>
                    <a:pt x="486" y="496"/>
                    <a:pt x="486" y="496"/>
                    <a:pt x="486" y="496"/>
                  </a:cubicBezTo>
                  <a:lnTo>
                    <a:pt x="417" y="496"/>
                  </a:lnTo>
                  <a:close/>
                  <a:moveTo>
                    <a:pt x="624" y="496"/>
                  </a:moveTo>
                  <a:cubicBezTo>
                    <a:pt x="555" y="496"/>
                    <a:pt x="555" y="496"/>
                    <a:pt x="555" y="496"/>
                  </a:cubicBezTo>
                  <a:cubicBezTo>
                    <a:pt x="555" y="219"/>
                    <a:pt x="555" y="219"/>
                    <a:pt x="555" y="219"/>
                  </a:cubicBezTo>
                  <a:cubicBezTo>
                    <a:pt x="624" y="219"/>
                    <a:pt x="624" y="219"/>
                    <a:pt x="624" y="219"/>
                  </a:cubicBezTo>
                  <a:lnTo>
                    <a:pt x="624" y="496"/>
                  </a:lnTo>
                  <a:close/>
                  <a:moveTo>
                    <a:pt x="349" y="219"/>
                  </a:moveTo>
                  <a:cubicBezTo>
                    <a:pt x="349" y="496"/>
                    <a:pt x="349" y="496"/>
                    <a:pt x="349" y="496"/>
                  </a:cubicBezTo>
                  <a:cubicBezTo>
                    <a:pt x="280" y="496"/>
                    <a:pt x="280" y="496"/>
                    <a:pt x="280" y="496"/>
                  </a:cubicBezTo>
                  <a:cubicBezTo>
                    <a:pt x="280" y="219"/>
                    <a:pt x="280" y="219"/>
                    <a:pt x="280" y="219"/>
                  </a:cubicBezTo>
                  <a:lnTo>
                    <a:pt x="349" y="219"/>
                  </a:lnTo>
                  <a:close/>
                  <a:moveTo>
                    <a:pt x="142" y="219"/>
                  </a:moveTo>
                  <a:cubicBezTo>
                    <a:pt x="211" y="219"/>
                    <a:pt x="211" y="219"/>
                    <a:pt x="211" y="219"/>
                  </a:cubicBezTo>
                  <a:cubicBezTo>
                    <a:pt x="211" y="496"/>
                    <a:pt x="211" y="496"/>
                    <a:pt x="211" y="496"/>
                  </a:cubicBezTo>
                  <a:cubicBezTo>
                    <a:pt x="142" y="496"/>
                    <a:pt x="142" y="496"/>
                    <a:pt x="142" y="496"/>
                  </a:cubicBezTo>
                  <a:lnTo>
                    <a:pt x="142" y="219"/>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79" name="Google Shape;2579;p142"/>
            <p:cNvSpPr/>
            <p:nvPr/>
          </p:nvSpPr>
          <p:spPr>
            <a:xfrm>
              <a:off x="7096753" y="798774"/>
              <a:ext cx="338051" cy="428791"/>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nvGrpSpPr>
            <p:cNvPr id="2580" name="Google Shape;2580;p142"/>
            <p:cNvGrpSpPr/>
            <p:nvPr/>
          </p:nvGrpSpPr>
          <p:grpSpPr>
            <a:xfrm>
              <a:off x="6671216" y="765814"/>
              <a:ext cx="308250" cy="494711"/>
              <a:chOff x="2125012" y="-1063625"/>
              <a:chExt cx="1420813" cy="2235201"/>
            </a:xfrm>
          </p:grpSpPr>
          <p:sp>
            <p:nvSpPr>
              <p:cNvPr id="2581" name="Google Shape;2581;p142"/>
              <p:cNvSpPr/>
              <p:nvPr/>
            </p:nvSpPr>
            <p:spPr>
              <a:xfrm>
                <a:off x="2125012" y="-1008062"/>
                <a:ext cx="1420813" cy="2179638"/>
              </a:xfrm>
              <a:custGeom>
                <a:rect b="b" l="l" r="r" t="t"/>
                <a:pathLst>
                  <a:path extrusionOk="0" h="581" w="379">
                    <a:moveTo>
                      <a:pt x="379" y="463"/>
                    </a:moveTo>
                    <a:cubicBezTo>
                      <a:pt x="378" y="407"/>
                      <a:pt x="373" y="362"/>
                      <a:pt x="344" y="326"/>
                    </a:cubicBezTo>
                    <a:cubicBezTo>
                      <a:pt x="333" y="311"/>
                      <a:pt x="321" y="303"/>
                      <a:pt x="309" y="297"/>
                    </a:cubicBezTo>
                    <a:cubicBezTo>
                      <a:pt x="286" y="287"/>
                      <a:pt x="263" y="287"/>
                      <a:pt x="244" y="272"/>
                    </a:cubicBezTo>
                    <a:cubicBezTo>
                      <a:pt x="235" y="284"/>
                      <a:pt x="225" y="295"/>
                      <a:pt x="211" y="300"/>
                    </a:cubicBezTo>
                    <a:cubicBezTo>
                      <a:pt x="200" y="304"/>
                      <a:pt x="179" y="304"/>
                      <a:pt x="168" y="300"/>
                    </a:cubicBezTo>
                    <a:cubicBezTo>
                      <a:pt x="154" y="295"/>
                      <a:pt x="144" y="284"/>
                      <a:pt x="135" y="273"/>
                    </a:cubicBezTo>
                    <a:cubicBezTo>
                      <a:pt x="117" y="286"/>
                      <a:pt x="99" y="287"/>
                      <a:pt x="80" y="294"/>
                    </a:cubicBezTo>
                    <a:cubicBezTo>
                      <a:pt x="65" y="298"/>
                      <a:pt x="49" y="306"/>
                      <a:pt x="34" y="326"/>
                    </a:cubicBezTo>
                    <a:cubicBezTo>
                      <a:pt x="5" y="363"/>
                      <a:pt x="0" y="409"/>
                      <a:pt x="0" y="467"/>
                    </a:cubicBezTo>
                    <a:cubicBezTo>
                      <a:pt x="0" y="467"/>
                      <a:pt x="0" y="467"/>
                      <a:pt x="0" y="468"/>
                    </a:cubicBezTo>
                    <a:cubicBezTo>
                      <a:pt x="99" y="581"/>
                      <a:pt x="280" y="581"/>
                      <a:pt x="379" y="468"/>
                    </a:cubicBezTo>
                    <a:cubicBezTo>
                      <a:pt x="379" y="466"/>
                      <a:pt x="379" y="464"/>
                      <a:pt x="379" y="463"/>
                    </a:cubicBezTo>
                    <a:close/>
                    <a:moveTo>
                      <a:pt x="273" y="115"/>
                    </a:moveTo>
                    <a:cubicBezTo>
                      <a:pt x="275" y="105"/>
                      <a:pt x="270" y="111"/>
                      <a:pt x="271" y="99"/>
                    </a:cubicBezTo>
                    <a:cubicBezTo>
                      <a:pt x="273" y="87"/>
                      <a:pt x="272" y="92"/>
                      <a:pt x="273" y="83"/>
                    </a:cubicBezTo>
                    <a:cubicBezTo>
                      <a:pt x="274" y="74"/>
                      <a:pt x="271" y="67"/>
                      <a:pt x="269" y="57"/>
                    </a:cubicBezTo>
                    <a:cubicBezTo>
                      <a:pt x="267" y="48"/>
                      <a:pt x="244" y="39"/>
                      <a:pt x="246" y="29"/>
                    </a:cubicBezTo>
                    <a:cubicBezTo>
                      <a:pt x="247" y="17"/>
                      <a:pt x="230" y="47"/>
                      <a:pt x="227" y="41"/>
                    </a:cubicBezTo>
                    <a:cubicBezTo>
                      <a:pt x="223" y="36"/>
                      <a:pt x="227" y="21"/>
                      <a:pt x="226" y="18"/>
                    </a:cubicBezTo>
                    <a:cubicBezTo>
                      <a:pt x="225" y="15"/>
                      <a:pt x="207" y="33"/>
                      <a:pt x="204" y="32"/>
                    </a:cubicBezTo>
                    <a:cubicBezTo>
                      <a:pt x="200" y="30"/>
                      <a:pt x="212" y="10"/>
                      <a:pt x="210" y="5"/>
                    </a:cubicBezTo>
                    <a:cubicBezTo>
                      <a:pt x="209" y="0"/>
                      <a:pt x="182" y="36"/>
                      <a:pt x="182" y="36"/>
                    </a:cubicBezTo>
                    <a:cubicBezTo>
                      <a:pt x="182" y="36"/>
                      <a:pt x="170" y="24"/>
                      <a:pt x="166" y="23"/>
                    </a:cubicBezTo>
                    <a:cubicBezTo>
                      <a:pt x="163" y="21"/>
                      <a:pt x="153" y="9"/>
                      <a:pt x="155" y="18"/>
                    </a:cubicBezTo>
                    <a:cubicBezTo>
                      <a:pt x="163" y="43"/>
                      <a:pt x="148" y="44"/>
                      <a:pt x="141" y="44"/>
                    </a:cubicBezTo>
                    <a:cubicBezTo>
                      <a:pt x="134" y="44"/>
                      <a:pt x="108" y="37"/>
                      <a:pt x="108" y="37"/>
                    </a:cubicBezTo>
                    <a:cubicBezTo>
                      <a:pt x="108" y="37"/>
                      <a:pt x="120" y="51"/>
                      <a:pt x="120" y="60"/>
                    </a:cubicBezTo>
                    <a:cubicBezTo>
                      <a:pt x="120" y="70"/>
                      <a:pt x="112" y="66"/>
                      <a:pt x="105" y="68"/>
                    </a:cubicBezTo>
                    <a:cubicBezTo>
                      <a:pt x="98" y="70"/>
                      <a:pt x="108" y="84"/>
                      <a:pt x="108" y="84"/>
                    </a:cubicBezTo>
                    <a:cubicBezTo>
                      <a:pt x="108" y="84"/>
                      <a:pt x="108" y="91"/>
                      <a:pt x="108" y="97"/>
                    </a:cubicBezTo>
                    <a:cubicBezTo>
                      <a:pt x="108" y="104"/>
                      <a:pt x="104" y="102"/>
                      <a:pt x="102" y="104"/>
                    </a:cubicBezTo>
                    <a:cubicBezTo>
                      <a:pt x="100" y="107"/>
                      <a:pt x="107" y="114"/>
                      <a:pt x="108" y="119"/>
                    </a:cubicBezTo>
                    <a:cubicBezTo>
                      <a:pt x="110" y="122"/>
                      <a:pt x="110" y="146"/>
                      <a:pt x="111" y="155"/>
                    </a:cubicBezTo>
                    <a:cubicBezTo>
                      <a:pt x="109" y="156"/>
                      <a:pt x="106" y="159"/>
                      <a:pt x="106" y="160"/>
                    </a:cubicBezTo>
                    <a:cubicBezTo>
                      <a:pt x="107" y="170"/>
                      <a:pt x="108" y="183"/>
                      <a:pt x="111" y="198"/>
                    </a:cubicBezTo>
                    <a:cubicBezTo>
                      <a:pt x="112" y="201"/>
                      <a:pt x="115" y="203"/>
                      <a:pt x="118" y="204"/>
                    </a:cubicBezTo>
                    <a:cubicBezTo>
                      <a:pt x="124" y="219"/>
                      <a:pt x="131" y="233"/>
                      <a:pt x="141" y="247"/>
                    </a:cubicBezTo>
                    <a:cubicBezTo>
                      <a:pt x="151" y="260"/>
                      <a:pt x="160" y="270"/>
                      <a:pt x="172" y="274"/>
                    </a:cubicBezTo>
                    <a:cubicBezTo>
                      <a:pt x="186" y="279"/>
                      <a:pt x="192" y="280"/>
                      <a:pt x="207" y="274"/>
                    </a:cubicBezTo>
                    <a:cubicBezTo>
                      <a:pt x="219" y="270"/>
                      <a:pt x="228" y="260"/>
                      <a:pt x="238" y="247"/>
                    </a:cubicBezTo>
                    <a:cubicBezTo>
                      <a:pt x="248" y="233"/>
                      <a:pt x="255" y="219"/>
                      <a:pt x="261" y="204"/>
                    </a:cubicBezTo>
                    <a:cubicBezTo>
                      <a:pt x="264" y="203"/>
                      <a:pt x="266" y="201"/>
                      <a:pt x="267" y="198"/>
                    </a:cubicBezTo>
                    <a:cubicBezTo>
                      <a:pt x="271" y="183"/>
                      <a:pt x="272" y="170"/>
                      <a:pt x="272" y="160"/>
                    </a:cubicBezTo>
                    <a:cubicBezTo>
                      <a:pt x="272" y="158"/>
                      <a:pt x="268" y="155"/>
                      <a:pt x="267" y="154"/>
                    </a:cubicBezTo>
                    <a:cubicBezTo>
                      <a:pt x="267" y="154"/>
                      <a:pt x="267" y="154"/>
                      <a:pt x="267" y="154"/>
                    </a:cubicBezTo>
                    <a:cubicBezTo>
                      <a:pt x="269" y="152"/>
                      <a:pt x="271" y="148"/>
                      <a:pt x="269" y="142"/>
                    </a:cubicBezTo>
                    <a:cubicBezTo>
                      <a:pt x="269" y="142"/>
                      <a:pt x="269" y="138"/>
                      <a:pt x="271" y="130"/>
                    </a:cubicBezTo>
                    <a:cubicBezTo>
                      <a:pt x="272" y="122"/>
                      <a:pt x="271" y="126"/>
                      <a:pt x="273" y="115"/>
                    </a:cubicBezTo>
                    <a:close/>
                    <a:moveTo>
                      <a:pt x="260" y="148"/>
                    </a:moveTo>
                    <a:cubicBezTo>
                      <a:pt x="255" y="161"/>
                      <a:pt x="259" y="174"/>
                      <a:pt x="256" y="184"/>
                    </a:cubicBezTo>
                    <a:cubicBezTo>
                      <a:pt x="253" y="191"/>
                      <a:pt x="250" y="204"/>
                      <a:pt x="244" y="214"/>
                    </a:cubicBezTo>
                    <a:cubicBezTo>
                      <a:pt x="206" y="284"/>
                      <a:pt x="172" y="276"/>
                      <a:pt x="139" y="222"/>
                    </a:cubicBezTo>
                    <a:cubicBezTo>
                      <a:pt x="131" y="209"/>
                      <a:pt x="124" y="188"/>
                      <a:pt x="124" y="179"/>
                    </a:cubicBezTo>
                    <a:cubicBezTo>
                      <a:pt x="124" y="170"/>
                      <a:pt x="120" y="154"/>
                      <a:pt x="120" y="154"/>
                    </a:cubicBezTo>
                    <a:cubicBezTo>
                      <a:pt x="130" y="120"/>
                      <a:pt x="130" y="120"/>
                      <a:pt x="130" y="120"/>
                    </a:cubicBezTo>
                    <a:cubicBezTo>
                      <a:pt x="162" y="140"/>
                      <a:pt x="162" y="140"/>
                      <a:pt x="162" y="140"/>
                    </a:cubicBezTo>
                    <a:cubicBezTo>
                      <a:pt x="150" y="122"/>
                      <a:pt x="150" y="122"/>
                      <a:pt x="150" y="122"/>
                    </a:cubicBezTo>
                    <a:cubicBezTo>
                      <a:pt x="150" y="122"/>
                      <a:pt x="168" y="138"/>
                      <a:pt x="185" y="143"/>
                    </a:cubicBezTo>
                    <a:cubicBezTo>
                      <a:pt x="263" y="162"/>
                      <a:pt x="246" y="123"/>
                      <a:pt x="249" y="129"/>
                    </a:cubicBezTo>
                    <a:cubicBezTo>
                      <a:pt x="252" y="135"/>
                      <a:pt x="263" y="140"/>
                      <a:pt x="260" y="148"/>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82" name="Google Shape;2582;p142"/>
              <p:cNvSpPr/>
              <p:nvPr/>
            </p:nvSpPr>
            <p:spPr>
              <a:xfrm>
                <a:off x="2273300" y="-1063625"/>
                <a:ext cx="1023938" cy="1016000"/>
              </a:xfrm>
              <a:custGeom>
                <a:rect b="b" l="l" r="r" t="t"/>
                <a:pathLst>
                  <a:path extrusionOk="0" h="271" w="273">
                    <a:moveTo>
                      <a:pt x="259" y="100"/>
                    </a:moveTo>
                    <a:cubicBezTo>
                      <a:pt x="243" y="43"/>
                      <a:pt x="194" y="0"/>
                      <a:pt x="136" y="0"/>
                    </a:cubicBezTo>
                    <a:cubicBezTo>
                      <a:pt x="78" y="0"/>
                      <a:pt x="28" y="43"/>
                      <a:pt x="12" y="101"/>
                    </a:cubicBezTo>
                    <a:cubicBezTo>
                      <a:pt x="5" y="104"/>
                      <a:pt x="0" y="111"/>
                      <a:pt x="0" y="119"/>
                    </a:cubicBezTo>
                    <a:cubicBezTo>
                      <a:pt x="0" y="172"/>
                      <a:pt x="0" y="172"/>
                      <a:pt x="0" y="172"/>
                    </a:cubicBezTo>
                    <a:cubicBezTo>
                      <a:pt x="0" y="183"/>
                      <a:pt x="9" y="192"/>
                      <a:pt x="20" y="192"/>
                    </a:cubicBezTo>
                    <a:cubicBezTo>
                      <a:pt x="23" y="192"/>
                      <a:pt x="25" y="192"/>
                      <a:pt x="28" y="191"/>
                    </a:cubicBezTo>
                    <a:cubicBezTo>
                      <a:pt x="44" y="215"/>
                      <a:pt x="73" y="247"/>
                      <a:pt x="118" y="255"/>
                    </a:cubicBezTo>
                    <a:cubicBezTo>
                      <a:pt x="120" y="264"/>
                      <a:pt x="128" y="271"/>
                      <a:pt x="137" y="271"/>
                    </a:cubicBezTo>
                    <a:cubicBezTo>
                      <a:pt x="148" y="271"/>
                      <a:pt x="157" y="262"/>
                      <a:pt x="157" y="251"/>
                    </a:cubicBezTo>
                    <a:cubicBezTo>
                      <a:pt x="157" y="240"/>
                      <a:pt x="148" y="231"/>
                      <a:pt x="137" y="231"/>
                    </a:cubicBezTo>
                    <a:cubicBezTo>
                      <a:pt x="129" y="231"/>
                      <a:pt x="122" y="236"/>
                      <a:pt x="119" y="243"/>
                    </a:cubicBezTo>
                    <a:cubicBezTo>
                      <a:pt x="78" y="235"/>
                      <a:pt x="51" y="206"/>
                      <a:pt x="37" y="183"/>
                    </a:cubicBezTo>
                    <a:cubicBezTo>
                      <a:pt x="39" y="180"/>
                      <a:pt x="40" y="176"/>
                      <a:pt x="40" y="172"/>
                    </a:cubicBezTo>
                    <a:cubicBezTo>
                      <a:pt x="40" y="119"/>
                      <a:pt x="40" y="119"/>
                      <a:pt x="40" y="119"/>
                    </a:cubicBezTo>
                    <a:cubicBezTo>
                      <a:pt x="40" y="111"/>
                      <a:pt x="35" y="105"/>
                      <a:pt x="29" y="101"/>
                    </a:cubicBezTo>
                    <a:cubicBezTo>
                      <a:pt x="44" y="52"/>
                      <a:pt x="86" y="16"/>
                      <a:pt x="136" y="16"/>
                    </a:cubicBezTo>
                    <a:cubicBezTo>
                      <a:pt x="185" y="16"/>
                      <a:pt x="228" y="52"/>
                      <a:pt x="243" y="102"/>
                    </a:cubicBezTo>
                    <a:cubicBezTo>
                      <a:pt x="237" y="106"/>
                      <a:pt x="233" y="112"/>
                      <a:pt x="233" y="119"/>
                    </a:cubicBezTo>
                    <a:cubicBezTo>
                      <a:pt x="233" y="172"/>
                      <a:pt x="233" y="172"/>
                      <a:pt x="233" y="172"/>
                    </a:cubicBezTo>
                    <a:cubicBezTo>
                      <a:pt x="233" y="183"/>
                      <a:pt x="242" y="192"/>
                      <a:pt x="253" y="192"/>
                    </a:cubicBezTo>
                    <a:cubicBezTo>
                      <a:pt x="264" y="192"/>
                      <a:pt x="273" y="183"/>
                      <a:pt x="273" y="172"/>
                    </a:cubicBezTo>
                    <a:cubicBezTo>
                      <a:pt x="273" y="119"/>
                      <a:pt x="273" y="119"/>
                      <a:pt x="273" y="119"/>
                    </a:cubicBezTo>
                    <a:cubicBezTo>
                      <a:pt x="273" y="110"/>
                      <a:pt x="267" y="103"/>
                      <a:pt x="259" y="100"/>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grpSp>
          <p:nvGrpSpPr>
            <p:cNvPr id="2583" name="Google Shape;2583;p142"/>
            <p:cNvGrpSpPr/>
            <p:nvPr/>
          </p:nvGrpSpPr>
          <p:grpSpPr>
            <a:xfrm>
              <a:off x="7987780" y="1794063"/>
              <a:ext cx="243489" cy="387124"/>
              <a:chOff x="6417856" y="340853"/>
              <a:chExt cx="217304" cy="589385"/>
            </a:xfrm>
          </p:grpSpPr>
          <p:sp>
            <p:nvSpPr>
              <p:cNvPr id="2584" name="Google Shape;2584;p142"/>
              <p:cNvSpPr/>
              <p:nvPr/>
            </p:nvSpPr>
            <p:spPr>
              <a:xfrm>
                <a:off x="6417856" y="479067"/>
                <a:ext cx="217304" cy="316580"/>
              </a:xfrm>
              <a:custGeom>
                <a:rect b="b" l="l" r="r" t="t"/>
                <a:pathLst>
                  <a:path extrusionOk="0" h="567" w="312">
                    <a:moveTo>
                      <a:pt x="312" y="527"/>
                    </a:moveTo>
                    <a:cubicBezTo>
                      <a:pt x="312" y="549"/>
                      <a:pt x="295" y="567"/>
                      <a:pt x="272" y="567"/>
                    </a:cubicBezTo>
                    <a:cubicBezTo>
                      <a:pt x="40" y="567"/>
                      <a:pt x="40" y="567"/>
                      <a:pt x="40" y="567"/>
                    </a:cubicBezTo>
                    <a:cubicBezTo>
                      <a:pt x="18" y="567"/>
                      <a:pt x="0" y="549"/>
                      <a:pt x="0" y="527"/>
                    </a:cubicBezTo>
                    <a:cubicBezTo>
                      <a:pt x="0" y="40"/>
                      <a:pt x="0" y="40"/>
                      <a:pt x="0" y="40"/>
                    </a:cubicBezTo>
                    <a:cubicBezTo>
                      <a:pt x="0" y="18"/>
                      <a:pt x="18" y="0"/>
                      <a:pt x="40" y="0"/>
                    </a:cubicBezTo>
                    <a:cubicBezTo>
                      <a:pt x="272" y="0"/>
                      <a:pt x="272" y="0"/>
                      <a:pt x="272" y="0"/>
                    </a:cubicBezTo>
                    <a:cubicBezTo>
                      <a:pt x="295" y="0"/>
                      <a:pt x="312" y="18"/>
                      <a:pt x="312" y="40"/>
                    </a:cubicBezTo>
                    <a:lnTo>
                      <a:pt x="312" y="527"/>
                    </a:lnTo>
                    <a:close/>
                    <a:moveTo>
                      <a:pt x="285" y="84"/>
                    </a:moveTo>
                    <a:cubicBezTo>
                      <a:pt x="285" y="62"/>
                      <a:pt x="267" y="44"/>
                      <a:pt x="245" y="44"/>
                    </a:cubicBezTo>
                    <a:cubicBezTo>
                      <a:pt x="67" y="44"/>
                      <a:pt x="67" y="44"/>
                      <a:pt x="67" y="44"/>
                    </a:cubicBezTo>
                    <a:cubicBezTo>
                      <a:pt x="45" y="44"/>
                      <a:pt x="27" y="62"/>
                      <a:pt x="27" y="84"/>
                    </a:cubicBezTo>
                    <a:cubicBezTo>
                      <a:pt x="27" y="438"/>
                      <a:pt x="27" y="438"/>
                      <a:pt x="27" y="438"/>
                    </a:cubicBezTo>
                    <a:cubicBezTo>
                      <a:pt x="27" y="460"/>
                      <a:pt x="45" y="478"/>
                      <a:pt x="67" y="478"/>
                    </a:cubicBezTo>
                    <a:cubicBezTo>
                      <a:pt x="245" y="478"/>
                      <a:pt x="245" y="478"/>
                      <a:pt x="245" y="478"/>
                    </a:cubicBezTo>
                    <a:cubicBezTo>
                      <a:pt x="267" y="478"/>
                      <a:pt x="285" y="460"/>
                      <a:pt x="285" y="438"/>
                    </a:cubicBezTo>
                    <a:lnTo>
                      <a:pt x="285" y="84"/>
                    </a:lnTo>
                    <a:close/>
                    <a:moveTo>
                      <a:pt x="156" y="551"/>
                    </a:moveTo>
                    <a:cubicBezTo>
                      <a:pt x="173" y="551"/>
                      <a:pt x="187" y="537"/>
                      <a:pt x="187" y="520"/>
                    </a:cubicBezTo>
                    <a:cubicBezTo>
                      <a:pt x="187" y="503"/>
                      <a:pt x="173" y="490"/>
                      <a:pt x="156" y="490"/>
                    </a:cubicBezTo>
                    <a:cubicBezTo>
                      <a:pt x="139" y="490"/>
                      <a:pt x="126" y="503"/>
                      <a:pt x="126" y="520"/>
                    </a:cubicBezTo>
                    <a:cubicBezTo>
                      <a:pt x="126" y="537"/>
                      <a:pt x="139" y="551"/>
                      <a:pt x="156" y="551"/>
                    </a:cubicBez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85" name="Google Shape;2585;p142"/>
              <p:cNvSpPr/>
              <p:nvPr/>
            </p:nvSpPr>
            <p:spPr>
              <a:xfrm>
                <a:off x="6441409" y="340853"/>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86" name="Google Shape;2586;p142"/>
              <p:cNvSpPr/>
              <p:nvPr/>
            </p:nvSpPr>
            <p:spPr>
              <a:xfrm flipH="1" rot="10800000">
                <a:off x="6439434" y="805547"/>
                <a:ext cx="170000" cy="124691"/>
              </a:xfrm>
              <a:prstGeom prst="trapezoid">
                <a:avLst>
                  <a:gd fmla="val 25000" name="adj"/>
                </a:avLst>
              </a:prstGeom>
              <a:solidFill>
                <a:srgbClr val="0088A8">
                  <a:alpha val="69803"/>
                </a:srgbClr>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grpSp>
        <p:sp>
          <p:nvSpPr>
            <p:cNvPr id="2587" name="Google Shape;2587;p142"/>
            <p:cNvSpPr/>
            <p:nvPr/>
          </p:nvSpPr>
          <p:spPr>
            <a:xfrm>
              <a:off x="7345150" y="1794063"/>
              <a:ext cx="394927" cy="387124"/>
            </a:xfrm>
            <a:custGeom>
              <a:rect b="b" l="l" r="r" t="t"/>
              <a:pathLst>
                <a:path extrusionOk="0" h="567" w="567">
                  <a:moveTo>
                    <a:pt x="536" y="0"/>
                  </a:moveTo>
                  <a:cubicBezTo>
                    <a:pt x="32" y="0"/>
                    <a:pt x="32" y="0"/>
                    <a:pt x="32" y="0"/>
                  </a:cubicBezTo>
                  <a:cubicBezTo>
                    <a:pt x="15" y="0"/>
                    <a:pt x="0" y="14"/>
                    <a:pt x="0" y="31"/>
                  </a:cubicBezTo>
                  <a:cubicBezTo>
                    <a:pt x="0" y="409"/>
                    <a:pt x="0" y="409"/>
                    <a:pt x="0" y="409"/>
                  </a:cubicBezTo>
                  <a:cubicBezTo>
                    <a:pt x="0" y="427"/>
                    <a:pt x="15" y="441"/>
                    <a:pt x="32" y="441"/>
                  </a:cubicBezTo>
                  <a:cubicBezTo>
                    <a:pt x="536" y="441"/>
                    <a:pt x="536" y="441"/>
                    <a:pt x="536" y="441"/>
                  </a:cubicBezTo>
                  <a:cubicBezTo>
                    <a:pt x="553" y="441"/>
                    <a:pt x="567" y="427"/>
                    <a:pt x="567" y="409"/>
                  </a:cubicBezTo>
                  <a:cubicBezTo>
                    <a:pt x="567" y="31"/>
                    <a:pt x="567" y="31"/>
                    <a:pt x="567" y="31"/>
                  </a:cubicBezTo>
                  <a:cubicBezTo>
                    <a:pt x="567" y="14"/>
                    <a:pt x="553" y="0"/>
                    <a:pt x="536" y="0"/>
                  </a:cubicBezTo>
                  <a:close/>
                  <a:moveTo>
                    <a:pt x="514" y="362"/>
                  </a:moveTo>
                  <a:cubicBezTo>
                    <a:pt x="48" y="362"/>
                    <a:pt x="48" y="362"/>
                    <a:pt x="48" y="362"/>
                  </a:cubicBezTo>
                  <a:cubicBezTo>
                    <a:pt x="48" y="47"/>
                    <a:pt x="48" y="47"/>
                    <a:pt x="48" y="47"/>
                  </a:cubicBezTo>
                  <a:cubicBezTo>
                    <a:pt x="514" y="47"/>
                    <a:pt x="514" y="47"/>
                    <a:pt x="514" y="47"/>
                  </a:cubicBezTo>
                  <a:lnTo>
                    <a:pt x="514" y="362"/>
                  </a:lnTo>
                  <a:close/>
                  <a:moveTo>
                    <a:pt x="410" y="535"/>
                  </a:moveTo>
                  <a:cubicBezTo>
                    <a:pt x="410" y="553"/>
                    <a:pt x="399" y="567"/>
                    <a:pt x="385" y="567"/>
                  </a:cubicBezTo>
                  <a:cubicBezTo>
                    <a:pt x="183" y="567"/>
                    <a:pt x="183" y="567"/>
                    <a:pt x="183" y="567"/>
                  </a:cubicBezTo>
                  <a:cubicBezTo>
                    <a:pt x="169" y="567"/>
                    <a:pt x="158" y="553"/>
                    <a:pt x="158" y="535"/>
                  </a:cubicBezTo>
                  <a:cubicBezTo>
                    <a:pt x="158" y="518"/>
                    <a:pt x="169" y="504"/>
                    <a:pt x="183" y="504"/>
                  </a:cubicBezTo>
                  <a:cubicBezTo>
                    <a:pt x="205" y="504"/>
                    <a:pt x="205" y="504"/>
                    <a:pt x="205" y="504"/>
                  </a:cubicBezTo>
                  <a:cubicBezTo>
                    <a:pt x="205" y="472"/>
                    <a:pt x="205" y="472"/>
                    <a:pt x="205" y="472"/>
                  </a:cubicBezTo>
                  <a:cubicBezTo>
                    <a:pt x="363" y="472"/>
                    <a:pt x="363" y="472"/>
                    <a:pt x="363" y="472"/>
                  </a:cubicBezTo>
                  <a:cubicBezTo>
                    <a:pt x="363" y="504"/>
                    <a:pt x="363" y="504"/>
                    <a:pt x="363" y="504"/>
                  </a:cubicBezTo>
                  <a:cubicBezTo>
                    <a:pt x="385" y="504"/>
                    <a:pt x="385" y="504"/>
                    <a:pt x="385" y="504"/>
                  </a:cubicBezTo>
                  <a:cubicBezTo>
                    <a:pt x="399" y="504"/>
                    <a:pt x="410" y="518"/>
                    <a:pt x="410" y="535"/>
                  </a:cubicBezTo>
                  <a:close/>
                </a:path>
              </a:pathLst>
            </a:custGeom>
            <a:solidFill>
              <a:srgbClr val="0088A8">
                <a:alpha val="69803"/>
              </a:srgbClr>
            </a:solidFill>
            <a:ln>
              <a:noFill/>
            </a:ln>
          </p:spPr>
          <p:txBody>
            <a:bodyPr anchorCtr="0" anchor="ctr" bIns="45700" lIns="0" spcFirstLastPara="1" rIns="0" wrap="square" tIns="45700">
              <a:noAutofit/>
            </a:bodyPr>
            <a:lstStyle/>
            <a:p>
              <a:pPr indent="0" lvl="0" marL="0" marR="0" rtl="0" algn="ctr">
                <a:lnSpc>
                  <a:spcPct val="100000"/>
                </a:lnSpc>
                <a:spcBef>
                  <a:spcPts val="0"/>
                </a:spcBef>
                <a:spcAft>
                  <a:spcPts val="0"/>
                </a:spcAft>
                <a:buClr>
                  <a:srgbClr val="3C3C3B"/>
                </a:buClr>
                <a:buSzPts val="900"/>
                <a:buFont typeface="Century Gothic"/>
                <a:buNone/>
              </a:pPr>
              <a:r>
                <a:rPr b="1" i="0" lang="en-GB" sz="900" u="none" cap="none" strike="noStrike">
                  <a:solidFill>
                    <a:srgbClr val="3C3C3B"/>
                  </a:solidFill>
                  <a:latin typeface="Century Gothic"/>
                  <a:ea typeface="Century Gothic"/>
                  <a:cs typeface="Century Gothic"/>
                  <a:sym typeface="Century Gothic"/>
                </a:rPr>
                <a:t/>
              </a:r>
              <a:endParaRPr b="1" i="0" sz="1100" u="none" cap="none" strike="noStrike">
                <a:solidFill>
                  <a:srgbClr val="3C3C3B"/>
                </a:solidFill>
                <a:latin typeface="Century Gothic"/>
                <a:ea typeface="Century Gothic"/>
                <a:cs typeface="Century Gothic"/>
                <a:sym typeface="Century Gothic"/>
              </a:endParaRPr>
            </a:p>
          </p:txBody>
        </p:sp>
        <p:sp>
          <p:nvSpPr>
            <p:cNvPr id="2588" name="Google Shape;2588;p142"/>
            <p:cNvSpPr/>
            <p:nvPr/>
          </p:nvSpPr>
          <p:spPr>
            <a:xfrm>
              <a:off x="6662249" y="1811017"/>
              <a:ext cx="388179" cy="353217"/>
            </a:xfrm>
            <a:custGeom>
              <a:rect b="b" l="l" r="r" t="t"/>
              <a:pathLst>
                <a:path extrusionOk="0" h="654" w="806">
                  <a:moveTo>
                    <a:pt x="722" y="0"/>
                  </a:moveTo>
                  <a:cubicBezTo>
                    <a:pt x="83" y="0"/>
                    <a:pt x="83" y="0"/>
                    <a:pt x="83" y="0"/>
                  </a:cubicBezTo>
                  <a:cubicBezTo>
                    <a:pt x="37" y="0"/>
                    <a:pt x="0" y="38"/>
                    <a:pt x="0" y="84"/>
                  </a:cubicBezTo>
                  <a:cubicBezTo>
                    <a:pt x="0" y="465"/>
                    <a:pt x="0" y="465"/>
                    <a:pt x="0" y="465"/>
                  </a:cubicBezTo>
                  <a:cubicBezTo>
                    <a:pt x="0" y="511"/>
                    <a:pt x="37" y="548"/>
                    <a:pt x="83" y="548"/>
                  </a:cubicBezTo>
                  <a:cubicBezTo>
                    <a:pt x="722" y="548"/>
                    <a:pt x="722" y="548"/>
                    <a:pt x="722" y="548"/>
                  </a:cubicBezTo>
                  <a:cubicBezTo>
                    <a:pt x="768" y="548"/>
                    <a:pt x="806" y="511"/>
                    <a:pt x="806" y="465"/>
                  </a:cubicBezTo>
                  <a:cubicBezTo>
                    <a:pt x="806" y="84"/>
                    <a:pt x="806" y="84"/>
                    <a:pt x="806" y="84"/>
                  </a:cubicBezTo>
                  <a:cubicBezTo>
                    <a:pt x="806" y="38"/>
                    <a:pt x="768" y="0"/>
                    <a:pt x="722" y="0"/>
                  </a:cubicBezTo>
                  <a:close/>
                  <a:moveTo>
                    <a:pt x="758" y="469"/>
                  </a:moveTo>
                  <a:cubicBezTo>
                    <a:pt x="758" y="491"/>
                    <a:pt x="741" y="508"/>
                    <a:pt x="720" y="508"/>
                  </a:cubicBezTo>
                  <a:cubicBezTo>
                    <a:pt x="86" y="508"/>
                    <a:pt x="86" y="508"/>
                    <a:pt x="86" y="508"/>
                  </a:cubicBezTo>
                  <a:cubicBezTo>
                    <a:pt x="65" y="508"/>
                    <a:pt x="48" y="491"/>
                    <a:pt x="48" y="469"/>
                  </a:cubicBezTo>
                  <a:cubicBezTo>
                    <a:pt x="48" y="79"/>
                    <a:pt x="48" y="79"/>
                    <a:pt x="48" y="79"/>
                  </a:cubicBezTo>
                  <a:cubicBezTo>
                    <a:pt x="48" y="58"/>
                    <a:pt x="65" y="41"/>
                    <a:pt x="86" y="41"/>
                  </a:cubicBezTo>
                  <a:cubicBezTo>
                    <a:pt x="720" y="41"/>
                    <a:pt x="720" y="41"/>
                    <a:pt x="720" y="41"/>
                  </a:cubicBezTo>
                  <a:cubicBezTo>
                    <a:pt x="741" y="41"/>
                    <a:pt x="758" y="58"/>
                    <a:pt x="758" y="79"/>
                  </a:cubicBezTo>
                  <a:lnTo>
                    <a:pt x="758" y="469"/>
                  </a:lnTo>
                  <a:close/>
                  <a:moveTo>
                    <a:pt x="806" y="570"/>
                  </a:moveTo>
                  <a:cubicBezTo>
                    <a:pt x="806" y="616"/>
                    <a:pt x="769" y="654"/>
                    <a:pt x="723" y="654"/>
                  </a:cubicBezTo>
                  <a:cubicBezTo>
                    <a:pt x="84" y="654"/>
                    <a:pt x="84" y="654"/>
                    <a:pt x="84" y="654"/>
                  </a:cubicBezTo>
                  <a:cubicBezTo>
                    <a:pt x="38" y="654"/>
                    <a:pt x="0" y="616"/>
                    <a:pt x="0" y="570"/>
                  </a:cubicBezTo>
                  <a:lnTo>
                    <a:pt x="806" y="570"/>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sp>
          <p:nvSpPr>
            <p:cNvPr id="2589" name="Google Shape;2589;p142"/>
            <p:cNvSpPr/>
            <p:nvPr/>
          </p:nvSpPr>
          <p:spPr>
            <a:xfrm>
              <a:off x="6131031" y="1824437"/>
              <a:ext cx="325334" cy="326376"/>
            </a:xfrm>
            <a:custGeom>
              <a:rect b="b" l="l" r="r" t="t"/>
              <a:pathLst>
                <a:path extrusionOk="0" h="319" w="319">
                  <a:moveTo>
                    <a:pt x="319" y="239"/>
                  </a:moveTo>
                  <a:cubicBezTo>
                    <a:pt x="319" y="283"/>
                    <a:pt x="283" y="319"/>
                    <a:pt x="239" y="319"/>
                  </a:cubicBezTo>
                  <a:cubicBezTo>
                    <a:pt x="80" y="319"/>
                    <a:pt x="80" y="319"/>
                    <a:pt x="80" y="319"/>
                  </a:cubicBezTo>
                  <a:cubicBezTo>
                    <a:pt x="36" y="319"/>
                    <a:pt x="0" y="283"/>
                    <a:pt x="0" y="239"/>
                  </a:cubicBezTo>
                  <a:cubicBezTo>
                    <a:pt x="0" y="79"/>
                    <a:pt x="0" y="79"/>
                    <a:pt x="0" y="79"/>
                  </a:cubicBezTo>
                  <a:cubicBezTo>
                    <a:pt x="0" y="35"/>
                    <a:pt x="36" y="0"/>
                    <a:pt x="80" y="0"/>
                  </a:cubicBezTo>
                  <a:cubicBezTo>
                    <a:pt x="239" y="0"/>
                    <a:pt x="239" y="0"/>
                    <a:pt x="239" y="0"/>
                  </a:cubicBezTo>
                  <a:cubicBezTo>
                    <a:pt x="283" y="0"/>
                    <a:pt x="319" y="35"/>
                    <a:pt x="319" y="79"/>
                  </a:cubicBezTo>
                  <a:lnTo>
                    <a:pt x="319" y="239"/>
                  </a:lnTo>
                  <a:close/>
                  <a:moveTo>
                    <a:pt x="131" y="255"/>
                  </a:moveTo>
                  <a:cubicBezTo>
                    <a:pt x="131" y="271"/>
                    <a:pt x="140" y="280"/>
                    <a:pt x="154" y="280"/>
                  </a:cubicBezTo>
                  <a:cubicBezTo>
                    <a:pt x="167" y="280"/>
                    <a:pt x="176" y="271"/>
                    <a:pt x="176" y="255"/>
                  </a:cubicBezTo>
                  <a:cubicBezTo>
                    <a:pt x="177" y="157"/>
                    <a:pt x="177" y="157"/>
                    <a:pt x="177" y="157"/>
                  </a:cubicBezTo>
                  <a:cubicBezTo>
                    <a:pt x="191" y="157"/>
                    <a:pt x="191" y="157"/>
                    <a:pt x="191" y="157"/>
                  </a:cubicBezTo>
                  <a:cubicBezTo>
                    <a:pt x="204" y="157"/>
                    <a:pt x="214" y="151"/>
                    <a:pt x="214" y="137"/>
                  </a:cubicBezTo>
                  <a:cubicBezTo>
                    <a:pt x="214" y="123"/>
                    <a:pt x="204" y="117"/>
                    <a:pt x="191" y="117"/>
                  </a:cubicBezTo>
                  <a:cubicBezTo>
                    <a:pt x="177" y="117"/>
                    <a:pt x="177" y="117"/>
                    <a:pt x="177" y="117"/>
                  </a:cubicBezTo>
                  <a:cubicBezTo>
                    <a:pt x="177" y="99"/>
                    <a:pt x="177" y="99"/>
                    <a:pt x="177" y="99"/>
                  </a:cubicBezTo>
                  <a:cubicBezTo>
                    <a:pt x="177" y="82"/>
                    <a:pt x="184" y="82"/>
                    <a:pt x="192" y="82"/>
                  </a:cubicBezTo>
                  <a:cubicBezTo>
                    <a:pt x="204" y="82"/>
                    <a:pt x="210" y="76"/>
                    <a:pt x="210" y="63"/>
                  </a:cubicBezTo>
                  <a:cubicBezTo>
                    <a:pt x="210" y="47"/>
                    <a:pt x="195" y="42"/>
                    <a:pt x="179" y="42"/>
                  </a:cubicBezTo>
                  <a:cubicBezTo>
                    <a:pt x="152" y="42"/>
                    <a:pt x="132" y="61"/>
                    <a:pt x="132" y="94"/>
                  </a:cubicBezTo>
                  <a:cubicBezTo>
                    <a:pt x="132" y="117"/>
                    <a:pt x="132" y="117"/>
                    <a:pt x="132" y="117"/>
                  </a:cubicBezTo>
                  <a:cubicBezTo>
                    <a:pt x="122" y="117"/>
                    <a:pt x="122" y="117"/>
                    <a:pt x="122" y="117"/>
                  </a:cubicBezTo>
                  <a:cubicBezTo>
                    <a:pt x="111" y="117"/>
                    <a:pt x="103" y="126"/>
                    <a:pt x="103" y="137"/>
                  </a:cubicBezTo>
                  <a:cubicBezTo>
                    <a:pt x="103" y="149"/>
                    <a:pt x="110" y="157"/>
                    <a:pt x="122" y="157"/>
                  </a:cubicBezTo>
                  <a:cubicBezTo>
                    <a:pt x="132" y="157"/>
                    <a:pt x="132" y="157"/>
                    <a:pt x="132" y="157"/>
                  </a:cubicBezTo>
                  <a:lnTo>
                    <a:pt x="131" y="255"/>
                  </a:lnTo>
                  <a:close/>
                </a:path>
              </a:pathLst>
            </a:custGeom>
            <a:solidFill>
              <a:srgbClr val="0088A8">
                <a:alpha val="6980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entury Gothic"/>
                <a:buNone/>
              </a:pPr>
              <a:r>
                <a:t/>
              </a:r>
              <a:endParaRPr b="0" i="0" sz="1800" u="none" cap="none" strike="noStrike">
                <a:solidFill>
                  <a:srgbClr val="3C3C3B"/>
                </a:solidFill>
                <a:latin typeface="Century Gothic"/>
                <a:ea typeface="Century Gothic"/>
                <a:cs typeface="Century Gothic"/>
                <a:sym typeface="Century Gothic"/>
              </a:endParaRPr>
            </a:p>
          </p:txBody>
        </p:sp>
      </p:grpSp>
      <p:sp>
        <p:nvSpPr>
          <p:cNvPr id="2590" name="Google Shape;2590;p142">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grpSp>
        <p:nvGrpSpPr>
          <p:cNvPr id="2591" name="Google Shape;2591;p142"/>
          <p:cNvGrpSpPr/>
          <p:nvPr/>
        </p:nvGrpSpPr>
        <p:grpSpPr>
          <a:xfrm>
            <a:off x="7717533" y="4360377"/>
            <a:ext cx="1058348" cy="347375"/>
            <a:chOff x="7651698" y="4287227"/>
            <a:chExt cx="1058348" cy="347375"/>
          </a:xfrm>
        </p:grpSpPr>
        <p:grpSp>
          <p:nvGrpSpPr>
            <p:cNvPr id="2592" name="Google Shape;2592;p142"/>
            <p:cNvGrpSpPr/>
            <p:nvPr/>
          </p:nvGrpSpPr>
          <p:grpSpPr>
            <a:xfrm>
              <a:off x="7714163" y="4337598"/>
              <a:ext cx="995883" cy="297004"/>
              <a:chOff x="7711013" y="3986494"/>
              <a:chExt cx="995883" cy="297004"/>
            </a:xfrm>
          </p:grpSpPr>
          <p:sp>
            <p:nvSpPr>
              <p:cNvPr id="2593" name="Google Shape;2593;p142"/>
              <p:cNvSpPr txBox="1"/>
              <p:nvPr/>
            </p:nvSpPr>
            <p:spPr>
              <a:xfrm>
                <a:off x="7967591" y="3986494"/>
                <a:ext cx="739305" cy="297004"/>
              </a:xfrm>
              <a:prstGeom prst="rect">
                <a:avLst/>
              </a:prstGeom>
              <a:noFill/>
              <a:ln>
                <a:noFill/>
              </a:ln>
            </p:spPr>
            <p:txBody>
              <a:bodyPr anchorCtr="0" anchor="t" bIns="45700" lIns="91425" spcFirstLastPara="1" rIns="91425" wrap="square" tIns="45700">
                <a:noAutofit/>
              </a:bodyPr>
              <a:lstStyle/>
              <a:p>
                <a:pPr indent="0" lvl="0" marL="0" marR="0" rtl="0" algn="l">
                  <a:lnSpc>
                    <a:spcPct val="95000"/>
                  </a:lnSpc>
                  <a:spcBef>
                    <a:spcPts val="0"/>
                  </a:spcBef>
                  <a:spcAft>
                    <a:spcPts val="0"/>
                  </a:spcAft>
                  <a:buNone/>
                </a:pPr>
                <a:r>
                  <a:rPr lang="en-GB" sz="700">
                    <a:solidFill>
                      <a:srgbClr val="3C3C3B"/>
                    </a:solidFill>
                    <a:latin typeface="Century Gothic"/>
                    <a:ea typeface="Century Gothic"/>
                    <a:cs typeface="Century Gothic"/>
                    <a:sym typeface="Century Gothic"/>
                  </a:rPr>
                  <a:t>Use Cases &amp;</a:t>
                </a:r>
                <a:br>
                  <a:rPr lang="en-GB" sz="700">
                    <a:solidFill>
                      <a:srgbClr val="3C3C3B"/>
                    </a:solidFill>
                    <a:latin typeface="Century Gothic"/>
                    <a:ea typeface="Century Gothic"/>
                    <a:cs typeface="Century Gothic"/>
                    <a:sym typeface="Century Gothic"/>
                  </a:rPr>
                </a:br>
                <a:r>
                  <a:rPr lang="en-GB" sz="700">
                    <a:solidFill>
                      <a:srgbClr val="3C3C3B"/>
                    </a:solidFill>
                    <a:latin typeface="Century Gothic"/>
                    <a:ea typeface="Century Gothic"/>
                    <a:cs typeface="Century Gothic"/>
                    <a:sym typeface="Century Gothic"/>
                  </a:rPr>
                  <a:t>Case Studies</a:t>
                </a:r>
                <a:endParaRPr sz="700">
                  <a:solidFill>
                    <a:srgbClr val="3C3C3B"/>
                  </a:solidFill>
                  <a:latin typeface="Century Gothic"/>
                  <a:ea typeface="Century Gothic"/>
                  <a:cs typeface="Century Gothic"/>
                  <a:sym typeface="Century Gothic"/>
                </a:endParaRPr>
              </a:p>
            </p:txBody>
          </p:sp>
          <p:grpSp>
            <p:nvGrpSpPr>
              <p:cNvPr id="2594" name="Google Shape;2594;p142"/>
              <p:cNvGrpSpPr/>
              <p:nvPr/>
            </p:nvGrpSpPr>
            <p:grpSpPr>
              <a:xfrm>
                <a:off x="7711013" y="4002615"/>
                <a:ext cx="281520" cy="241973"/>
                <a:chOff x="5652748" y="4066000"/>
                <a:chExt cx="906498" cy="747974"/>
              </a:xfrm>
            </p:grpSpPr>
            <p:sp>
              <p:nvSpPr>
                <p:cNvPr id="2595" name="Google Shape;2595;p142"/>
                <p:cNvSpPr/>
                <p:nvPr/>
              </p:nvSpPr>
              <p:spPr>
                <a:xfrm>
                  <a:off x="6024179" y="4066000"/>
                  <a:ext cx="535067" cy="685800"/>
                </a:xfrm>
                <a:custGeom>
                  <a:rect b="b" l="l" r="r" t="t"/>
                  <a:pathLst>
                    <a:path extrusionOk="0" h="445" w="347">
                      <a:moveTo>
                        <a:pt x="235" y="136"/>
                      </a:moveTo>
                      <a:cubicBezTo>
                        <a:pt x="347" y="136"/>
                        <a:pt x="347" y="136"/>
                        <a:pt x="347" y="136"/>
                      </a:cubicBezTo>
                      <a:cubicBezTo>
                        <a:pt x="347" y="421"/>
                        <a:pt x="347" y="421"/>
                        <a:pt x="347" y="421"/>
                      </a:cubicBezTo>
                      <a:cubicBezTo>
                        <a:pt x="347" y="434"/>
                        <a:pt x="336" y="445"/>
                        <a:pt x="322" y="445"/>
                      </a:cubicBezTo>
                      <a:cubicBezTo>
                        <a:pt x="25" y="445"/>
                        <a:pt x="25" y="445"/>
                        <a:pt x="25" y="445"/>
                      </a:cubicBezTo>
                      <a:cubicBezTo>
                        <a:pt x="11" y="445"/>
                        <a:pt x="0" y="434"/>
                        <a:pt x="0" y="421"/>
                      </a:cubicBezTo>
                      <a:cubicBezTo>
                        <a:pt x="0" y="25"/>
                        <a:pt x="0" y="25"/>
                        <a:pt x="0" y="25"/>
                      </a:cubicBezTo>
                      <a:cubicBezTo>
                        <a:pt x="0" y="11"/>
                        <a:pt x="11" y="0"/>
                        <a:pt x="25" y="0"/>
                      </a:cubicBezTo>
                      <a:cubicBezTo>
                        <a:pt x="211" y="0"/>
                        <a:pt x="211" y="0"/>
                        <a:pt x="211" y="0"/>
                      </a:cubicBezTo>
                      <a:cubicBezTo>
                        <a:pt x="211" y="111"/>
                        <a:pt x="211" y="111"/>
                        <a:pt x="211" y="111"/>
                      </a:cubicBezTo>
                      <a:cubicBezTo>
                        <a:pt x="211" y="125"/>
                        <a:pt x="222" y="136"/>
                        <a:pt x="235" y="136"/>
                      </a:cubicBezTo>
                      <a:close/>
                      <a:moveTo>
                        <a:pt x="260" y="111"/>
                      </a:moveTo>
                      <a:cubicBezTo>
                        <a:pt x="347" y="111"/>
                        <a:pt x="347" y="111"/>
                        <a:pt x="347" y="111"/>
                      </a:cubicBezTo>
                      <a:cubicBezTo>
                        <a:pt x="235" y="0"/>
                        <a:pt x="235" y="0"/>
                        <a:pt x="235" y="0"/>
                      </a:cubicBezTo>
                      <a:cubicBezTo>
                        <a:pt x="235" y="86"/>
                        <a:pt x="235" y="86"/>
                        <a:pt x="235" y="86"/>
                      </a:cubicBezTo>
                      <a:cubicBezTo>
                        <a:pt x="235" y="100"/>
                        <a:pt x="246" y="111"/>
                        <a:pt x="260" y="111"/>
                      </a:cubicBezTo>
                      <a:close/>
                      <a:moveTo>
                        <a:pt x="293" y="219"/>
                      </a:moveTo>
                      <a:cubicBezTo>
                        <a:pt x="54" y="219"/>
                        <a:pt x="54" y="219"/>
                        <a:pt x="54" y="219"/>
                      </a:cubicBezTo>
                      <a:cubicBezTo>
                        <a:pt x="54" y="246"/>
                        <a:pt x="54" y="246"/>
                        <a:pt x="54" y="246"/>
                      </a:cubicBezTo>
                      <a:cubicBezTo>
                        <a:pt x="293" y="246"/>
                        <a:pt x="293" y="246"/>
                        <a:pt x="293" y="246"/>
                      </a:cubicBezTo>
                      <a:lnTo>
                        <a:pt x="293" y="219"/>
                      </a:lnTo>
                      <a:close/>
                      <a:moveTo>
                        <a:pt x="293" y="278"/>
                      </a:moveTo>
                      <a:cubicBezTo>
                        <a:pt x="54" y="278"/>
                        <a:pt x="54" y="278"/>
                        <a:pt x="54" y="278"/>
                      </a:cubicBezTo>
                      <a:cubicBezTo>
                        <a:pt x="54" y="306"/>
                        <a:pt x="54" y="306"/>
                        <a:pt x="54" y="306"/>
                      </a:cubicBezTo>
                      <a:cubicBezTo>
                        <a:pt x="293" y="306"/>
                        <a:pt x="293" y="306"/>
                        <a:pt x="293" y="306"/>
                      </a:cubicBezTo>
                      <a:lnTo>
                        <a:pt x="293" y="278"/>
                      </a:lnTo>
                      <a:close/>
                      <a:moveTo>
                        <a:pt x="293" y="338"/>
                      </a:moveTo>
                      <a:cubicBezTo>
                        <a:pt x="54" y="338"/>
                        <a:pt x="54" y="338"/>
                        <a:pt x="54" y="338"/>
                      </a:cubicBezTo>
                      <a:cubicBezTo>
                        <a:pt x="54" y="365"/>
                        <a:pt x="54" y="365"/>
                        <a:pt x="54" y="365"/>
                      </a:cubicBezTo>
                      <a:cubicBezTo>
                        <a:pt x="293" y="365"/>
                        <a:pt x="293" y="365"/>
                        <a:pt x="293" y="365"/>
                      </a:cubicBezTo>
                      <a:lnTo>
                        <a:pt x="293" y="338"/>
                      </a:lnTo>
                      <a:close/>
                    </a:path>
                  </a:pathLst>
                </a:custGeom>
                <a:solidFill>
                  <a:srgbClr val="5F6062"/>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596" name="Google Shape;2596;p142"/>
                <p:cNvSpPr/>
                <p:nvPr/>
              </p:nvSpPr>
              <p:spPr>
                <a:xfrm>
                  <a:off x="5842000" y="4222750"/>
                  <a:ext cx="412750" cy="412750"/>
                </a:xfrm>
                <a:prstGeom prst="ellipse">
                  <a:avLst/>
                </a:prstGeom>
                <a:solidFill>
                  <a:schemeClr val="accent1"/>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sp>
              <p:nvSpPr>
                <p:cNvPr id="2597" name="Google Shape;2597;p142"/>
                <p:cNvSpPr/>
                <p:nvPr/>
              </p:nvSpPr>
              <p:spPr>
                <a:xfrm>
                  <a:off x="5652748" y="4166436"/>
                  <a:ext cx="618134" cy="647538"/>
                </a:xfrm>
                <a:custGeom>
                  <a:rect b="b" l="l" r="r" t="t"/>
                  <a:pathLst>
                    <a:path extrusionOk="0" h="401" w="383">
                      <a:moveTo>
                        <a:pt x="380" y="144"/>
                      </a:moveTo>
                      <a:cubicBezTo>
                        <a:pt x="377" y="63"/>
                        <a:pt x="309" y="0"/>
                        <a:pt x="229" y="3"/>
                      </a:cubicBezTo>
                      <a:cubicBezTo>
                        <a:pt x="148" y="6"/>
                        <a:pt x="85" y="74"/>
                        <a:pt x="88" y="155"/>
                      </a:cubicBezTo>
                      <a:cubicBezTo>
                        <a:pt x="89" y="182"/>
                        <a:pt x="98" y="208"/>
                        <a:pt x="112" y="230"/>
                      </a:cubicBezTo>
                      <a:cubicBezTo>
                        <a:pt x="112" y="230"/>
                        <a:pt x="112" y="230"/>
                        <a:pt x="112" y="230"/>
                      </a:cubicBezTo>
                      <a:cubicBezTo>
                        <a:pt x="107" y="235"/>
                        <a:pt x="107" y="235"/>
                        <a:pt x="107" y="235"/>
                      </a:cubicBezTo>
                      <a:cubicBezTo>
                        <a:pt x="63" y="285"/>
                        <a:pt x="63" y="285"/>
                        <a:pt x="63" y="285"/>
                      </a:cubicBezTo>
                      <a:cubicBezTo>
                        <a:pt x="20" y="332"/>
                        <a:pt x="20" y="332"/>
                        <a:pt x="20" y="332"/>
                      </a:cubicBezTo>
                      <a:cubicBezTo>
                        <a:pt x="15" y="338"/>
                        <a:pt x="15" y="338"/>
                        <a:pt x="15" y="338"/>
                      </a:cubicBezTo>
                      <a:cubicBezTo>
                        <a:pt x="0" y="354"/>
                        <a:pt x="0" y="374"/>
                        <a:pt x="15" y="387"/>
                      </a:cubicBezTo>
                      <a:cubicBezTo>
                        <a:pt x="29" y="401"/>
                        <a:pt x="49" y="398"/>
                        <a:pt x="64" y="382"/>
                      </a:cubicBezTo>
                      <a:cubicBezTo>
                        <a:pt x="69" y="377"/>
                        <a:pt x="69" y="377"/>
                        <a:pt x="69" y="377"/>
                      </a:cubicBezTo>
                      <a:cubicBezTo>
                        <a:pt x="156" y="279"/>
                        <a:pt x="156" y="279"/>
                        <a:pt x="156" y="279"/>
                      </a:cubicBezTo>
                      <a:cubicBezTo>
                        <a:pt x="160" y="275"/>
                        <a:pt x="160" y="275"/>
                        <a:pt x="160" y="275"/>
                      </a:cubicBezTo>
                      <a:cubicBezTo>
                        <a:pt x="183" y="289"/>
                        <a:pt x="211" y="296"/>
                        <a:pt x="240" y="295"/>
                      </a:cubicBezTo>
                      <a:cubicBezTo>
                        <a:pt x="320" y="292"/>
                        <a:pt x="383" y="224"/>
                        <a:pt x="380" y="144"/>
                      </a:cubicBezTo>
                      <a:close/>
                      <a:moveTo>
                        <a:pt x="238" y="243"/>
                      </a:moveTo>
                      <a:cubicBezTo>
                        <a:pt x="186" y="245"/>
                        <a:pt x="142" y="205"/>
                        <a:pt x="140" y="153"/>
                      </a:cubicBezTo>
                      <a:cubicBezTo>
                        <a:pt x="139" y="101"/>
                        <a:pt x="179" y="57"/>
                        <a:pt x="231" y="56"/>
                      </a:cubicBezTo>
                      <a:cubicBezTo>
                        <a:pt x="282" y="54"/>
                        <a:pt x="326" y="94"/>
                        <a:pt x="328" y="146"/>
                      </a:cubicBezTo>
                      <a:cubicBezTo>
                        <a:pt x="330" y="198"/>
                        <a:pt x="289" y="241"/>
                        <a:pt x="238" y="243"/>
                      </a:cubicBezTo>
                      <a:close/>
                    </a:path>
                  </a:pathLst>
                </a:custGeom>
                <a:solidFill>
                  <a:schemeClr val="accent6"/>
                </a:solidFill>
                <a:ln cap="flat" cmpd="sng" w="952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grpSp>
        </p:grpSp>
        <p:sp>
          <p:nvSpPr>
            <p:cNvPr id="2598" name="Google Shape;2598;p142">
              <a:hlinkClick action="ppaction://hlinksldjump" r:id="rId4"/>
            </p:cNvPr>
            <p:cNvSpPr/>
            <p:nvPr/>
          </p:nvSpPr>
          <p:spPr>
            <a:xfrm>
              <a:off x="7651698" y="4287227"/>
              <a:ext cx="1023242" cy="338668"/>
            </a:xfrm>
            <a:prstGeom prst="rect">
              <a:avLst/>
            </a:prstGeom>
            <a:solidFill>
              <a:schemeClr val="accent1">
                <a:alpha val="0"/>
              </a:schemeClr>
            </a:solidFill>
            <a:ln>
              <a:noFill/>
            </a:ln>
          </p:spPr>
          <p:txBody>
            <a:bodyPr anchorCtr="0" anchor="t" bIns="91425" lIns="91425" spcFirstLastPara="1" rIns="91425" wrap="square" tIns="91425">
              <a:noAutofit/>
            </a:bodyPr>
            <a:lstStyle/>
            <a:p>
              <a:pPr indent="0" lvl="0" marL="0" marR="0" rtl="0" algn="ctr">
                <a:spcBef>
                  <a:spcPts val="0"/>
                </a:spcBef>
                <a:spcAft>
                  <a:spcPts val="0"/>
                </a:spcAft>
                <a:buNone/>
              </a:pPr>
              <a:r>
                <a:t/>
              </a:r>
              <a:endParaRPr sz="1800">
                <a:solidFill>
                  <a:srgbClr val="FFFFFF"/>
                </a:solidFill>
                <a:latin typeface="Century Gothic"/>
                <a:ea typeface="Century Gothic"/>
                <a:cs typeface="Century Gothic"/>
                <a:sym typeface="Century Gothic"/>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3" name="Shape 2603"/>
        <p:cNvGrpSpPr/>
        <p:nvPr/>
      </p:nvGrpSpPr>
      <p:grpSpPr>
        <a:xfrm>
          <a:off x="0" y="0"/>
          <a:ext cx="0" cy="0"/>
          <a:chOff x="0" y="0"/>
          <a:chExt cx="0" cy="0"/>
        </a:xfrm>
      </p:grpSpPr>
      <p:graphicFrame>
        <p:nvGraphicFramePr>
          <p:cNvPr id="2604" name="Google Shape;2604;p143"/>
          <p:cNvGraphicFramePr/>
          <p:nvPr/>
        </p:nvGraphicFramePr>
        <p:xfrm>
          <a:off x="469899" y="789217"/>
          <a:ext cx="3000000" cy="3000000"/>
        </p:xfrm>
        <a:graphic>
          <a:graphicData uri="http://schemas.openxmlformats.org/drawingml/2006/table">
            <a:tbl>
              <a:tblPr bandRow="1" firstRow="1">
                <a:noFill/>
                <a:tableStyleId>{D098BFCB-6916-41F2-A2A5-0DF0D5139B6F}</a:tableStyleId>
              </a:tblPr>
              <a:tblGrid>
                <a:gridCol w="130325"/>
                <a:gridCol w="556275"/>
                <a:gridCol w="367500"/>
                <a:gridCol w="3170075"/>
                <a:gridCol w="3276050"/>
                <a:gridCol w="477150"/>
                <a:gridCol w="477150"/>
              </a:tblGrid>
              <a:tr h="180850">
                <a:tc gridSpan="3">
                  <a:txBody>
                    <a:bodyPr/>
                    <a:lstStyle/>
                    <a:p>
                      <a:pPr indent="0" lvl="0" marL="0" marR="0" rtl="0" algn="ctr">
                        <a:spcBef>
                          <a:spcPts val="0"/>
                        </a:spcBef>
                        <a:spcAft>
                          <a:spcPts val="0"/>
                        </a:spcAft>
                        <a:buNone/>
                      </a:pPr>
                      <a:r>
                        <a:rPr b="1" lang="en-GB" sz="1200">
                          <a:solidFill>
                            <a:schemeClr val="dk2"/>
                          </a:solidFill>
                        </a:rPr>
                        <a:t>Level</a:t>
                      </a:r>
                      <a:endParaRPr b="1" sz="12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gridSpan="2">
                  <a:txBody>
                    <a:bodyPr/>
                    <a:lstStyle/>
                    <a:p>
                      <a:pPr indent="0" lvl="0" marL="0" marR="0" rtl="0" algn="ctr">
                        <a:lnSpc>
                          <a:spcPct val="100000"/>
                        </a:lnSpc>
                        <a:spcBef>
                          <a:spcPts val="0"/>
                        </a:spcBef>
                        <a:spcAft>
                          <a:spcPts val="0"/>
                        </a:spcAft>
                        <a:buClr>
                          <a:schemeClr val="dk2"/>
                        </a:buClr>
                        <a:buSzPts val="1200"/>
                        <a:buFont typeface="Century Gothic"/>
                        <a:buNone/>
                      </a:pPr>
                      <a:r>
                        <a:rPr b="1" lang="en-GB" sz="1200">
                          <a:solidFill>
                            <a:schemeClr val="dk2"/>
                          </a:solidFill>
                        </a:rPr>
                        <a:t>Maturity Statement</a:t>
                      </a:r>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b="1" lang="en-GB" sz="800">
                          <a:solidFill>
                            <a:schemeClr val="dk2"/>
                          </a:solidFill>
                        </a:rPr>
                        <a:t>Current</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rPr b="1" lang="en-GB" sz="800">
                          <a:solidFill>
                            <a:schemeClr val="dk2"/>
                          </a:solidFill>
                        </a:rPr>
                        <a:t>Desired</a:t>
                      </a:r>
                      <a:endParaRPr b="1" sz="800">
                        <a:solidFill>
                          <a:schemeClr val="dk2"/>
                        </a:solidFill>
                      </a:endParaRPr>
                    </a:p>
                  </a:txBody>
                  <a:tcPr marT="0" marB="0" marR="0" marL="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06C1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Leading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Comprehensive range of brand effectiveness metrics – integrating internal and external measures to report on effectiveness of brand building activities – with ability to isolate the impact of specific activities. Analytics used to drive a large number of activities such as calendar planning, product development and media buying. Sophisticated forecasting and simulation models enables optimisation of the media mix and marketing budget. Measures of Brand Equity calculated, tracked and reported, </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CF7513"/>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Innovating</a:t>
                      </a:r>
                      <a:endParaRPr/>
                    </a:p>
                    <a:p>
                      <a:pPr indent="0" lvl="0" marL="0" marR="0" rtl="0" algn="ctr">
                        <a:spcBef>
                          <a:spcPts val="0"/>
                        </a:spcBef>
                        <a:spcAft>
                          <a:spcPts val="0"/>
                        </a:spcAft>
                        <a:buNone/>
                      </a:pPr>
                      <a:r>
                        <a:t/>
                      </a:r>
                      <a:endParaRPr b="1" sz="1000">
                        <a:solidFill>
                          <a:schemeClr val="dk2"/>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Large range of brand effectiveness metrics – integrating internal and external measures to report on effectiveness of brand building activities – with ability to isolate the impact of specific activities. Analytics used to drive a growing number of activities such as calendar planning, product development, pricing and media buying.</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C891C"/>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Practicing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Growing range of brand effectiveness metrics – integrating internal and external measures to report on effectiveness of brand building activities – with ability to isolate the impact of specific advertising and direct marketing activities</a:t>
                      </a:r>
                      <a:endParaRPr/>
                    </a:p>
                    <a:p>
                      <a:pPr indent="0" lvl="0" marL="0" marR="0" rtl="0" algn="l">
                        <a:lnSpc>
                          <a:spcPct val="100000"/>
                        </a:lnSpc>
                        <a:spcBef>
                          <a:spcPts val="0"/>
                        </a:spcBef>
                        <a:spcAft>
                          <a:spcPts val="0"/>
                        </a:spcAft>
                        <a:buClr>
                          <a:schemeClr val="dk1"/>
                        </a:buClr>
                        <a:buSzPts val="800"/>
                        <a:buFont typeface="Century Gothic"/>
                        <a:buNone/>
                      </a:pPr>
                      <a:r>
                        <a:t/>
                      </a:r>
                      <a:endParaRPr b="0" sz="800">
                        <a:solidFill>
                          <a:schemeClr val="dk1"/>
                        </a:solidFill>
                        <a:latin typeface="Century Gothic"/>
                        <a:ea typeface="Century Gothic"/>
                        <a:cs typeface="Century Gothic"/>
                        <a:sym typeface="Century Gothic"/>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Century Gothic"/>
                        <a:buNone/>
                      </a:pPr>
                      <a:r>
                        <a:t/>
                      </a:r>
                      <a:endParaRPr sz="1400">
                        <a:solidFill>
                          <a:schemeClr val="dk1"/>
                        </a:solidFill>
                        <a:latin typeface="Noto Sans Symbols"/>
                        <a:ea typeface="Noto Sans Symbols"/>
                        <a:cs typeface="Noto Sans Symbols"/>
                        <a:sym typeface="Noto Sans Symbols"/>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53500">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EE9B40"/>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Developing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Growing range of brand effectiveness metrics – integrating internal and external measures to report on aggregate effectiveness of brand building activities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lnSpc>
                          <a:spcPct val="100000"/>
                        </a:lnSpc>
                        <a:spcBef>
                          <a:spcPts val="0"/>
                        </a:spcBef>
                        <a:spcAft>
                          <a:spcPts val="0"/>
                        </a:spcAft>
                        <a:buClr>
                          <a:schemeClr val="dk1"/>
                        </a:buClr>
                        <a:buSzPts val="1400"/>
                        <a:buFont typeface="Noto Sans Symbols"/>
                        <a:buNone/>
                      </a:pPr>
                      <a:r>
                        <a:rPr lang="en-GB" sz="1400">
                          <a:solidFill>
                            <a:schemeClr val="dk1"/>
                          </a:solidFill>
                          <a:latin typeface="Noto Sans Symbols"/>
                          <a:ea typeface="Noto Sans Symbols"/>
                          <a:cs typeface="Noto Sans Symbols"/>
                          <a:sym typeface="Noto Sans Symbols"/>
                        </a:rPr>
                        <a:t>✔</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503725">
                <a:tc>
                  <a:txBody>
                    <a:bodyPr/>
                    <a:lstStyle/>
                    <a:p>
                      <a:pPr indent="0" lvl="0" marL="0" marR="0" rtl="0" algn="ctr">
                        <a:spcBef>
                          <a:spcPts val="0"/>
                        </a:spcBef>
                        <a:spcAft>
                          <a:spcPts val="0"/>
                        </a:spcAft>
                        <a:buNone/>
                      </a:pPr>
                      <a:r>
                        <a:t/>
                      </a:r>
                      <a:endParaRPr b="1" sz="1000">
                        <a:solidFill>
                          <a:schemeClr val="lt1"/>
                        </a:solidFill>
                        <a:latin typeface="Century Gothic"/>
                        <a:ea typeface="Century Gothic"/>
                        <a:cs typeface="Century Gothic"/>
                        <a:sym typeface="Century Gothic"/>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solidFill>
                      <a:srgbClr val="F1AE65"/>
                    </a:solidFill>
                  </a:tcPr>
                </a:tc>
                <a:tc gridSpan="2">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Emerging</a:t>
                      </a:r>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gridSpan="2">
                  <a:txBody>
                    <a:bodyPr/>
                    <a:lstStyle/>
                    <a:p>
                      <a:pPr indent="0" lvl="0" marL="0" marR="0" rtl="0" algn="l">
                        <a:lnSpc>
                          <a:spcPct val="100000"/>
                        </a:lnSpc>
                        <a:spcBef>
                          <a:spcPts val="0"/>
                        </a:spcBef>
                        <a:spcAft>
                          <a:spcPts val="0"/>
                        </a:spcAft>
                        <a:buClr>
                          <a:schemeClr val="dk1"/>
                        </a:buClr>
                        <a:buSzPts val="800"/>
                        <a:buFont typeface="Century Gothic"/>
                        <a:buNone/>
                      </a:pPr>
                      <a:r>
                        <a:rPr b="0" lang="en-GB" sz="800">
                          <a:solidFill>
                            <a:schemeClr val="dk1"/>
                          </a:solidFill>
                          <a:latin typeface="Century Gothic"/>
                          <a:ea typeface="Century Gothic"/>
                          <a:cs typeface="Century Gothic"/>
                          <a:sym typeface="Century Gothic"/>
                        </a:rPr>
                        <a:t>Simple reporting of brand metrics – largely conducted by 3</a:t>
                      </a:r>
                      <a:r>
                        <a:rPr b="0" baseline="30000" lang="en-GB" sz="800">
                          <a:solidFill>
                            <a:schemeClr val="dk1"/>
                          </a:solidFill>
                          <a:latin typeface="Century Gothic"/>
                          <a:ea typeface="Century Gothic"/>
                          <a:cs typeface="Century Gothic"/>
                          <a:sym typeface="Century Gothic"/>
                        </a:rPr>
                        <a:t>rd</a:t>
                      </a:r>
                      <a:r>
                        <a:rPr b="0" lang="en-GB" sz="800">
                          <a:solidFill>
                            <a:schemeClr val="dk1"/>
                          </a:solidFill>
                          <a:latin typeface="Century Gothic"/>
                          <a:ea typeface="Century Gothic"/>
                          <a:cs typeface="Century Gothic"/>
                          <a:sym typeface="Century Gothic"/>
                        </a:rPr>
                        <a:t> party agencies. Little analysis to link specific activity with business outcomes.</a:t>
                      </a:r>
                      <a:endParaRP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t/>
                      </a:r>
                      <a:endParaRPr sz="14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400">
                        <a:solidFill>
                          <a:schemeClr val="dk1"/>
                        </a:solidFill>
                        <a:latin typeface="Noto Sans Symbols"/>
                        <a:ea typeface="Noto Sans Symbols"/>
                        <a:cs typeface="Noto Sans Symbols"/>
                        <a:sym typeface="Noto Sans Symbols"/>
                      </a:endParaRPr>
                    </a:p>
                  </a:txBody>
                  <a:tcPr marT="45725" marB="45725" marR="91450" marL="914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r>
              <a:tr h="178750">
                <a:tc gridSpan="3">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Priority</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hMerge="1"/>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latin typeface="Century Gothic"/>
                          <a:ea typeface="Century Gothic"/>
                          <a:cs typeface="Century Gothic"/>
                          <a:sym typeface="Century Gothic"/>
                        </a:rPr>
                        <a:t>Key areas for improvement</a:t>
                      </a:r>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2"/>
                        </a:buClr>
                        <a:buSzPts val="1000"/>
                        <a:buFont typeface="Century Gothic"/>
                        <a:buNone/>
                      </a:pPr>
                      <a:r>
                        <a:rPr b="1" lang="en-GB" sz="1000">
                          <a:solidFill>
                            <a:schemeClr val="dk2"/>
                          </a:solidFill>
                        </a:rPr>
                        <a:t>Benefits from uplift</a:t>
                      </a:r>
                      <a:endParaRPr b="1" sz="1000">
                        <a:solidFill>
                          <a:schemeClr val="dk2"/>
                        </a:solidFill>
                        <a:latin typeface="Century Gothic"/>
                        <a:ea typeface="Century Gothic"/>
                        <a:cs typeface="Century Gothic"/>
                        <a:sym typeface="Century Gothic"/>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a:txBody>
                    <a:bodyPr/>
                    <a:lstStyle/>
                    <a:p>
                      <a:pPr indent="0" lvl="0" marL="0" marR="0" rtl="0" algn="ctr">
                        <a:spcBef>
                          <a:spcPts val="0"/>
                        </a:spcBef>
                        <a:spcAft>
                          <a:spcPts val="0"/>
                        </a:spcAft>
                        <a:buNone/>
                      </a:pPr>
                      <a:r>
                        <a:rPr b="1" lang="en-GB" sz="1000">
                          <a:solidFill>
                            <a:schemeClr val="dk2"/>
                          </a:solidFill>
                        </a:rPr>
                        <a:t>Timeframe</a:t>
                      </a:r>
                      <a:endParaRPr b="1" sz="1000">
                        <a:solidFill>
                          <a:schemeClr val="dk2"/>
                        </a:solidFill>
                      </a:endParaRPr>
                    </a:p>
                  </a:txBody>
                  <a:tcPr marT="0" marB="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r>
              <a:tr h="243275">
                <a:tc gridSpan="2">
                  <a:txBody>
                    <a:bodyPr/>
                    <a:lstStyle/>
                    <a:p>
                      <a:pPr indent="0" lvl="0" marL="0" marR="0" rtl="0" algn="ctr">
                        <a:spcBef>
                          <a:spcPts val="0"/>
                        </a:spcBef>
                        <a:spcAft>
                          <a:spcPts val="0"/>
                        </a:spcAft>
                        <a:buNone/>
                      </a:pPr>
                      <a:r>
                        <a:rPr b="1" lang="en-GB" sz="800">
                          <a:solidFill>
                            <a:schemeClr val="dk1"/>
                          </a:solidFill>
                        </a:rPr>
                        <a:t>High</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ctr">
                        <a:spcBef>
                          <a:spcPts val="0"/>
                        </a:spcBef>
                        <a:spcAft>
                          <a:spcPts val="0"/>
                        </a:spcAft>
                        <a:buNone/>
                      </a:pPr>
                      <a:r>
                        <a:rPr lang="en-GB" sz="1000">
                          <a:solidFill>
                            <a:schemeClr val="dk1"/>
                          </a:solidFill>
                          <a:latin typeface="Noto Sans Symbols"/>
                          <a:ea typeface="Noto Sans Symbols"/>
                          <a:cs typeface="Noto Sans Symbols"/>
                          <a:sym typeface="Noto Sans Symbols"/>
                        </a:rPr>
                        <a:t>✔</a:t>
                      </a:r>
                      <a:endParaRPr b="1" sz="10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0" lvl="0" marL="0" marR="0" rtl="0" algn="l">
                        <a:lnSpc>
                          <a:spcPct val="100000"/>
                        </a:lnSpc>
                        <a:spcBef>
                          <a:spcPts val="0"/>
                        </a:spcBef>
                        <a:spcAft>
                          <a:spcPts val="0"/>
                        </a:spcAft>
                        <a:buClr>
                          <a:schemeClr val="dk1"/>
                        </a:buClr>
                        <a:buSzPts val="800"/>
                        <a:buFont typeface="Arial"/>
                        <a:buNone/>
                      </a:pPr>
                      <a:r>
                        <a:rPr sz="800" b="0"/>
                        <a:t>Pakistan priority improvements:</a:t>
                      </a:r>
                      <a:endParaRPr/>
                    </a:p>
                    <a:p>
                      <a:r>
                        <a:rPr sz="800"/>
                        <a:t>Brand health tracking: Trust, Innovation, Service, Islamic, Digital dimensions</a:t>
                      </a:r>
                    </a:p>
                    <a:p>
                      <a:r>
                        <a:rPr sz="800"/>
                        <a:t>Benchmark vs fintechs (SadaPay, NayaPay) and Islamic banks (Meezan, BankIslami)</a:t>
                      </a:r>
                    </a:p>
                    <a:p>
                      <a:r>
                        <a:rPr sz="800"/>
                        <a:t>Social media monitoring: Twitter/X, Facebook, Instagram, TikTok (growing)</a:t>
                      </a:r>
                    </a:p>
                    <a:p>
                      <a:r>
                        <a:rPr sz="800"/>
                        <a:t>App store rating management (Google Play reviews)</a:t>
                      </a:r>
                    </a:p>
                    <a:p>
                      <a:r>
                        <a:rPr sz="800"/>
                        <a:t>Track employer brand strength for salary account acquisition</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a:txBody>
                    <a:bodyPr/>
                    <a:lstStyle/>
                    <a:p>
                      <a:pPr indent="-285750" lvl="0" marL="285750" marR="0" rtl="0" algn="l">
                        <a:spcBef>
                          <a:spcPts val="0"/>
                        </a:spcBef>
                        <a:spcAft>
                          <a:spcPts val="0"/>
                        </a:spcAft>
                        <a:buClr>
                          <a:schemeClr val="dk1"/>
                        </a:buClr>
                        <a:buSzPts val="800"/>
                        <a:buFont typeface="Arial"/>
                        <a:buChar char="•"/>
                      </a:pPr>
                      <a:r>
                        <a:rPr sz="800"/>
                        <a:t>Close NPS gap: bank avg 20-30 vs fintech 55-70</a:t>
                      </a:r>
                      <a:endParaRPr/>
                    </a:p>
                    <a:p>
                      <a:r>
                        <a:rPr sz="800"/>
                        <a:t>Real-time brand crisis detection via social monitoring</a:t>
                      </a:r>
                    </a:p>
                    <a:p>
                      <a:r>
                        <a:rPr sz="800"/>
                        <a:t>Competitive brand positioning vs Big 5, Islamic, fintech, digital banks</a:t>
                      </a:r>
                    </a:p>
                    <a:p>
                      <a:r>
                        <a:rPr sz="800"/>
                        <a:t>Talent attraction and salary account wins from employer brand</a:t>
                      </a:r>
                    </a:p>
                  </a:txBody>
                  <a:tcPr marT="36000" marB="36000" marR="36000" marL="36000">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gridSpan="2" rowSpan="3">
                  <a:txBody>
                    <a:bodyPr/>
                    <a:lstStyle/>
                    <a:p>
                      <a:pPr indent="0" lvl="0" marL="0" marR="0" rtl="0" algn="ctr">
                        <a:lnSpc>
                          <a:spcPct val="100000"/>
                        </a:lnSpc>
                        <a:spcBef>
                          <a:spcPts val="0"/>
                        </a:spcBef>
                        <a:spcAft>
                          <a:spcPts val="0"/>
                        </a:spcAft>
                        <a:buClr>
                          <a:schemeClr val="dk1"/>
                        </a:buClr>
                        <a:buSzPts val="800"/>
                        <a:buFont typeface="Century Gothic"/>
                        <a:buNone/>
                      </a:pPr>
                      <a:r>
                        <a:rPr sz="800" b="0"/>
                        <a:t>H1 2025 —</a:t>
                      </a:r>
                      <a:endParaRPr/>
                    </a:p>
                    <a:p>
                      <a:r>
                        <a:rPr sz="800"/>
                        <a:t>H2 2026</a:t>
                      </a: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rowSpan="3" hMerge="1"/>
              </a:tr>
              <a:tr h="243275">
                <a:tc gridSpan="2">
                  <a:txBody>
                    <a:bodyPr/>
                    <a:lstStyle/>
                    <a:p>
                      <a:pPr indent="0" lvl="0" marL="0" marR="0" rtl="0" algn="ctr">
                        <a:spcBef>
                          <a:spcPts val="0"/>
                        </a:spcBef>
                        <a:spcAft>
                          <a:spcPts val="0"/>
                        </a:spcAft>
                        <a:buNone/>
                      </a:pPr>
                      <a:r>
                        <a:rPr b="1" lang="en-GB" sz="800">
                          <a:solidFill>
                            <a:schemeClr val="dk1"/>
                          </a:solidFill>
                        </a:rPr>
                        <a:t>Medium</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r h="243275">
                <a:tc gridSpan="2">
                  <a:txBody>
                    <a:bodyPr/>
                    <a:lstStyle/>
                    <a:p>
                      <a:pPr indent="0" lvl="0" marL="0" marR="0" rtl="0" algn="ctr">
                        <a:spcBef>
                          <a:spcPts val="0"/>
                        </a:spcBef>
                        <a:spcAft>
                          <a:spcPts val="0"/>
                        </a:spcAft>
                        <a:buNone/>
                      </a:pPr>
                      <a:r>
                        <a:rPr b="1" lang="en-GB" sz="800">
                          <a:solidFill>
                            <a:schemeClr val="dk1"/>
                          </a:solidFill>
                        </a:rPr>
                        <a:t>Low</a:t>
                      </a:r>
                      <a:endParaRPr b="1" sz="800">
                        <a:solidFill>
                          <a:schemeClr val="dk1"/>
                        </a:solidFill>
                      </a:endParaRPr>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hMerge="1"/>
                <a:tc>
                  <a:txBody>
                    <a:bodyPr/>
                    <a:lstStyle/>
                    <a:p>
                      <a:pPr indent="0" lvl="0" marL="0" marR="0" rtl="0" algn="l">
                        <a:spcBef>
                          <a:spcPts val="0"/>
                        </a:spcBef>
                        <a:spcAft>
                          <a:spcPts val="0"/>
                        </a:spcAft>
                        <a:buNone/>
                      </a:pPr>
                      <a:r>
                        <a:t/>
                      </a:r>
                      <a:endParaRPr sz="1000"/>
                    </a:p>
                  </a:txBody>
                  <a:tcPr marT="46800" marB="46800" marR="46800" marL="4680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12700">
                      <a:solidFill>
                        <a:schemeClr val="lt2"/>
                      </a:solidFill>
                      <a:prstDash val="solid"/>
                      <a:round/>
                      <a:headEnd len="sm" w="sm" type="none"/>
                      <a:tailEnd len="sm" w="sm" type="none"/>
                    </a:lnB>
                  </a:tcPr>
                </a:tc>
                <a:tc vMerge="1"/>
                <a:tc vMerge="1"/>
                <a:tc gridSpan="2" vMerge="1"/>
                <a:tc hMerge="1" vMerge="1"/>
              </a:tr>
            </a:tbl>
          </a:graphicData>
        </a:graphic>
      </p:graphicFrame>
      <p:grpSp>
        <p:nvGrpSpPr>
          <p:cNvPr id="2605" name="Google Shape;2605;p143"/>
          <p:cNvGrpSpPr/>
          <p:nvPr/>
        </p:nvGrpSpPr>
        <p:grpSpPr>
          <a:xfrm>
            <a:off x="469900" y="3839136"/>
            <a:ext cx="8455025" cy="732866"/>
            <a:chOff x="211138" y="3972860"/>
            <a:chExt cx="8713787" cy="642437"/>
          </a:xfrm>
        </p:grpSpPr>
        <p:sp>
          <p:nvSpPr>
            <p:cNvPr id="2606" name="Google Shape;2606;p143"/>
            <p:cNvSpPr/>
            <p:nvPr/>
          </p:nvSpPr>
          <p:spPr>
            <a:xfrm>
              <a:off x="211138" y="3972860"/>
              <a:ext cx="8713787" cy="642437"/>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607" name="Google Shape;2607;p143"/>
            <p:cNvSpPr/>
            <p:nvPr/>
          </p:nvSpPr>
          <p:spPr>
            <a:xfrm>
              <a:off x="3692726" y="3982349"/>
              <a:ext cx="1753883" cy="632948"/>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grpSp>
        <p:nvGrpSpPr>
          <p:cNvPr id="2608" name="Google Shape;2608;p143"/>
          <p:cNvGrpSpPr/>
          <p:nvPr/>
        </p:nvGrpSpPr>
        <p:grpSpPr>
          <a:xfrm>
            <a:off x="7971865" y="980278"/>
            <a:ext cx="949325" cy="2867825"/>
            <a:chOff x="7941888" y="1062037"/>
            <a:chExt cx="983037" cy="2695575"/>
          </a:xfrm>
        </p:grpSpPr>
        <p:sp>
          <p:nvSpPr>
            <p:cNvPr id="2609" name="Google Shape;2609;p143"/>
            <p:cNvSpPr/>
            <p:nvPr/>
          </p:nvSpPr>
          <p:spPr>
            <a:xfrm>
              <a:off x="7941889" y="1062037"/>
              <a:ext cx="983036" cy="2695575"/>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2610" name="Google Shape;2610;p143"/>
            <p:cNvSpPr/>
            <p:nvPr/>
          </p:nvSpPr>
          <p:spPr>
            <a:xfrm>
              <a:off x="7941888" y="2052586"/>
              <a:ext cx="983037" cy="714476"/>
            </a:xfrm>
            <a:prstGeom prst="rect">
              <a:avLst/>
            </a:prstGeom>
            <a:noFill/>
            <a:ln>
              <a:noFill/>
            </a:ln>
          </p:spPr>
          <p:txBody>
            <a:bodyPr anchorCtr="0" anchor="ctr" bIns="91425" lIns="91425" spcFirstLastPara="1" rIns="91425" wrap="square" tIns="91425">
              <a:noAutofit/>
            </a:bodyPr>
            <a:lstStyle/>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a:p>
              <a:pPr indent="0" lvl="0" marL="0" marR="0" rtl="0" algn="ctr">
                <a:spcBef>
                  <a:spcPts val="0"/>
                </a:spcBef>
                <a:spcAft>
                  <a:spcPts val="0"/>
                </a:spcAft>
                <a:buNone/>
              </a:pPr>
              <a:r>
                <a:rPr lang="en-GB" sz="800">
                  <a:solidFill>
                    <a:schemeClr val="dk1"/>
                  </a:solidFill>
                  <a:latin typeface="Century Gothic"/>
                  <a:ea typeface="Century Gothic"/>
                  <a:cs typeface="Century Gothic"/>
                  <a:sym typeface="Century Gothic"/>
                </a:rPr>
                <a:t/>
              </a:r>
              <a:endParaRPr/>
            </a:p>
          </p:txBody>
        </p:sp>
      </p:grpSp>
      <p:sp>
        <p:nvSpPr>
          <p:cNvPr id="2611" name="Google Shape;2611;p143"/>
          <p:cNvSpPr txBox="1"/>
          <p:nvPr>
            <p:ph type="title"/>
          </p:nvPr>
        </p:nvSpPr>
        <p:spPr>
          <a:xfrm>
            <a:off x="381000" y="296096"/>
            <a:ext cx="8543925" cy="360308"/>
          </a:xfrm>
          <a:prstGeom prst="rect">
            <a:avLst/>
          </a:prstGeom>
          <a:noFill/>
          <a:ln>
            <a:noFill/>
          </a:ln>
        </p:spPr>
        <p:txBody>
          <a:bodyPr anchorCtr="0" anchor="ctr" bIns="0" lIns="90000" spcFirstLastPara="1" rIns="0" wrap="square" tIns="0">
            <a:noAutofit/>
          </a:bodyPr>
          <a:lstStyle/>
          <a:p>
            <a:pPr indent="0" lvl="0" marL="0" rtl="0" algn="l">
              <a:lnSpc>
                <a:spcPct val="95000"/>
              </a:lnSpc>
              <a:spcBef>
                <a:spcPts val="0"/>
              </a:spcBef>
              <a:spcAft>
                <a:spcPts val="0"/>
              </a:spcAft>
              <a:buClr>
                <a:schemeClr val="accent1"/>
              </a:buClr>
              <a:buSzPts val="2200"/>
              <a:buFont typeface="Century Gothic"/>
              <a:buNone/>
            </a:pPr>
            <a:r>
              <a:rPr lang="en-GB"/>
              <a:t>Brand Analytics</a:t>
            </a:r>
            <a:endParaRPr>
              <a:solidFill>
                <a:schemeClr val="accent6"/>
              </a:solidFill>
            </a:endParaRPr>
          </a:p>
        </p:txBody>
      </p:sp>
      <p:sp>
        <p:nvSpPr>
          <p:cNvPr id="2612" name="Google Shape;2612;p143">
            <a:hlinkClick action="ppaction://hlinksldjump" r:id="rId3"/>
          </p:cNvPr>
          <p:cNvSpPr/>
          <p:nvPr/>
        </p:nvSpPr>
        <p:spPr>
          <a:xfrm>
            <a:off x="6515100" y="-196501"/>
            <a:ext cx="2777392" cy="378533"/>
          </a:xfrm>
          <a:prstGeom prst="roundRect">
            <a:avLst>
              <a:gd fmla="val 50000" name="adj"/>
            </a:avLst>
          </a:prstGeom>
          <a:solidFill>
            <a:schemeClr val="accent4"/>
          </a:solidFill>
          <a:ln>
            <a:noFill/>
          </a:ln>
        </p:spPr>
        <p:txBody>
          <a:bodyPr anchorCtr="0" anchor="t" bIns="0" lIns="36000" spcFirstLastPara="1" rIns="180000" wrap="square" tIns="180000">
            <a:noAutofit/>
          </a:bodyPr>
          <a:lstStyle/>
          <a:p>
            <a:pPr indent="0" lvl="0" marL="0" marR="0" rtl="0" algn="ctr">
              <a:spcBef>
                <a:spcPts val="0"/>
              </a:spcBef>
              <a:spcAft>
                <a:spcPts val="0"/>
              </a:spcAft>
              <a:buNone/>
            </a:pPr>
            <a:r>
              <a:rPr lang="en-GB" sz="750">
                <a:solidFill>
                  <a:schemeClr val="lt1"/>
                </a:solidFill>
                <a:latin typeface="Century Gothic"/>
                <a:ea typeface="Century Gothic"/>
                <a:cs typeface="Century Gothic"/>
                <a:sym typeface="Century Gothic"/>
              </a:rPr>
              <a:t>   Customer Interaction Management</a:t>
            </a:r>
            <a:endParaRPr sz="750">
              <a:solidFill>
                <a:schemeClr val="lt1"/>
              </a:solidFill>
              <a:latin typeface="Century Gothic"/>
              <a:ea typeface="Century Gothic"/>
              <a:cs typeface="Century Gothic"/>
              <a:sym typeface="Century Gothic"/>
            </a:endParaRP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Interaction Management — At a Glance</a:t>
            </a:r>
          </a:p>
        </p:txBody>
      </p:sp>
      <p:sp>
        <p:nvSpPr>
          <p:cNvPr id="3" name="TextBox 2"/>
          <p:cNvSpPr txBox="1"/>
          <p:nvPr/>
        </p:nvSpPr>
        <p:spPr>
          <a:xfrm>
            <a:off x="400000" y="900000"/>
            <a:ext cx="8300000" cy="3600000"/>
          </a:xfrm>
          <a:prstGeom prst="rect">
            <a:avLst/>
          </a:prstGeom>
          <a:noFill/>
        </p:spPr>
        <p:txBody>
          <a:bodyPr wrap="square">
            <a:spAutoFit/>
          </a:bodyPr>
          <a:lstStyle/>
          <a:p>
            <a:r>
              <a:rPr sz="1400" b="1">
                <a:solidFill>
                  <a:srgbClr val="003366"/>
                </a:solidFill>
              </a:rPr>
              <a:t>Banking Business Value Framework — Customer Interaction Management</a:t>
            </a:r>
          </a:p>
          <a:p/>
          <a:p>
            <a:r>
              <a:rPr sz="900">
                <a:latin typeface="Consolas"/>
              </a:rPr>
              <a:t>                              Global          South Asia &amp; ME    Pakistan</a:t>
            </a:r>
          </a:p>
          <a:p>
            <a:r>
              <a:rPr sz="900">
                <a:latin typeface="Consolas"/>
              </a:rPr>
              <a:t>──────────────────────────────────────────────────────────────────────────</a:t>
            </a:r>
          </a:p>
          <a:p>
            <a:r>
              <a:rPr sz="900">
                <a:latin typeface="Consolas"/>
              </a:rPr>
              <a:t>Marketing automation          75%+ top banks  30-40%             &lt;15%</a:t>
            </a:r>
          </a:p>
          <a:p>
            <a:r>
              <a:rPr sz="900">
                <a:latin typeface="Consolas"/>
              </a:rPr>
              <a:t>Real-time personalization     50%+ digital    15-20%             &lt;5%</a:t>
            </a:r>
          </a:p>
          <a:p>
            <a:r>
              <a:rPr sz="900">
                <a:latin typeface="Consolas"/>
              </a:rPr>
              <a:t>Omnichannel campaign exec     65% mature      25%                &lt;10%</a:t>
            </a:r>
          </a:p>
          <a:p>
            <a:r>
              <a:rPr sz="900">
                <a:latin typeface="Consolas"/>
              </a:rPr>
              <a:t>NBA (Next Best Action)        40% top banks   10%                &lt;3%</a:t>
            </a:r>
          </a:p>
          <a:p>
            <a:r>
              <a:rPr sz="900">
                <a:latin typeface="Consolas"/>
              </a:rPr>
              <a:t>Marketing attribution         55% top banks   15%                &lt;5%</a:t>
            </a:r>
          </a:p>
          <a:p>
            <a:r>
              <a:rPr sz="900">
                <a:latin typeface="Consolas"/>
              </a:rPr>
              <a:t>Campaign ROI measurement      Standard        Emerging           Rare — most lack control groups</a:t>
            </a:r>
          </a:p>
          <a:p>
            <a:r>
              <a:rPr sz="900">
                <a:latin typeface="Consolas"/>
              </a:rPr>
              <a:t>──────────────────────────────────────────────────────────────────────────</a:t>
            </a:r>
          </a:p>
          <a:p/>
          <a:p>
            <a:r>
              <a:rPr sz="900" b="1">
                <a:solidFill>
                  <a:srgbClr val="006699"/>
                </a:solidFill>
              </a:rPr>
              <a:t>BVF Sub-capabilities: 15 | FSDM Entities: ~100+ (Campaign, Channel, Interaction, Contact) | BACR Questions: ~80 | Maturity: Developing &gt; Innovating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Pakistan — Customer Interaction Landscape</a:t>
            </a:r>
          </a:p>
        </p:txBody>
      </p:sp>
      <p:sp>
        <p:nvSpPr>
          <p:cNvPr id="3" name="TextBox 2"/>
          <p:cNvSpPr txBox="1"/>
          <p:nvPr/>
        </p:nvSpPr>
        <p:spPr>
          <a:xfrm>
            <a:off x="400000" y="900000"/>
            <a:ext cx="8300000" cy="3800000"/>
          </a:xfrm>
          <a:prstGeom prst="rect">
            <a:avLst/>
          </a:prstGeom>
          <a:noFill/>
        </p:spPr>
        <p:txBody>
          <a:bodyPr wrap="square">
            <a:spAutoFit/>
          </a:bodyPr>
          <a:lstStyle/>
          <a:p>
            <a:r>
              <a:rPr sz="1200" b="1">
                <a:solidFill>
                  <a:srgbClr val="003366"/>
                </a:solidFill>
              </a:rPr>
              <a:t>Channel Reach and Effectiveness</a:t>
            </a:r>
          </a:p>
          <a:p>
            <a:r>
              <a:rPr sz="900"/>
              <a:t>  SMS: 95%+ reach (mobile penetration), 2-5% response rate, OVERUSED</a:t>
            </a:r>
          </a:p>
          <a:p>
            <a:r>
              <a:rPr sz="900"/>
              <a:t>  Push Notification: 30% reach (app installed), 8-15% open rate, GROWING</a:t>
            </a:r>
          </a:p>
          <a:p>
            <a:r>
              <a:rPr sz="900"/>
              <a:t>  WhatsApp Business: 20% reach, 40-60% open rate, EMERGING — highest engagement</a:t>
            </a:r>
          </a:p>
          <a:p>
            <a:r>
              <a:rPr sz="900"/>
              <a:t>  Email: 15% reach (urban/corporate only), 5-10% open rate, LOW priority</a:t>
            </a:r>
          </a:p>
          <a:p>
            <a:r>
              <a:rPr sz="900"/>
              <a:t>  In-App Messages: 25% reach, 15-25% engagement, HIGHEST conversion</a:t>
            </a:r>
          </a:p>
          <a:p>
            <a:r>
              <a:rPr sz="900"/>
              <a:t>  Branch Face-to-Face: 100% for walk-ins, high conversion, HIGH cost</a:t>
            </a:r>
          </a:p>
          <a:p>
            <a:r>
              <a:rPr sz="900"/>
              <a:t>  Contact Center: Urdu/English bilingual, 1M+ calls/month (top-5), CRITICAL</a:t>
            </a:r>
          </a:p>
          <a:p>
            <a:r>
              <a:rPr sz="900"/>
              <a:t>  Agent Network: 500,000+ agents, rural reach, ESSENTIAL for inclusion</a:t>
            </a:r>
          </a:p>
          <a:p/>
          <a:p>
            <a:r>
              <a:rPr sz="1100" b="1">
                <a:solidFill>
                  <a:srgbClr val="003366"/>
                </a:solidFill>
              </a:rPr>
              <a:t>Key Challenges</a:t>
            </a:r>
          </a:p>
          <a:p>
            <a:r>
              <a:rPr sz="900"/>
              <a:t>  SMS FATIGUE: Customers receive 5-10 bank SMS daily — regulatory crackdown looming</a:t>
            </a:r>
          </a:p>
          <a:p>
            <a:r>
              <a:rPr sz="900"/>
              <a:t>  NO CDP: &lt;5% of banks have Customer Data Platform — interactions siloed by channel</a:t>
            </a:r>
          </a:p>
          <a:p>
            <a:r>
              <a:rPr sz="900"/>
              <a:t>  BATCH-ONLY: Most campaigns run on monthly batch — no real-time personalization</a:t>
            </a:r>
          </a:p>
          <a:p>
            <a:r>
              <a:rPr sz="900"/>
              <a:t>  NO ATTRIBUTION: Marketing spend not tracked to conversion — budget is gut-feel</a:t>
            </a:r>
          </a:p>
          <a:p>
            <a:r>
              <a:rPr sz="900"/>
              <a:t>  LANGUAGE: Must support Urdu, English, and increasingly Sindhi, Pashto, Punjabi</a:t>
            </a:r>
          </a:p>
          <a:p>
            <a:r>
              <a:rPr sz="900"/>
              <a:t>  COMPLIANCE: SBP requires opt-in for marketing + complaint response SLAs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Customer Interaction Management — Implementation Roadmap</a:t>
            </a:r>
          </a:p>
        </p:txBody>
      </p:sp>
      <p:sp>
        <p:nvSpPr>
          <p:cNvPr id="3" name="TextBox 2"/>
          <p:cNvSpPr txBox="1"/>
          <p:nvPr/>
        </p:nvSpPr>
        <p:spPr>
          <a:xfrm>
            <a:off x="400000" y="850000"/>
            <a:ext cx="8300000" cy="3900000"/>
          </a:xfrm>
          <a:prstGeom prst="rect">
            <a:avLst/>
          </a:prstGeom>
          <a:noFill/>
        </p:spPr>
        <p:txBody>
          <a:bodyPr wrap="square">
            <a:spAutoFit/>
          </a:bodyPr>
          <a:lstStyle/>
          <a:p>
            <a:r>
              <a:rPr sz="1100" b="1">
                <a:solidFill>
                  <a:srgbClr val="006633"/>
                </a:solidFill>
              </a:rPr>
              <a:t>Phase 1: Foundation (0-6 months) — PKR 40-70M</a:t>
            </a:r>
          </a:p>
          <a:p>
            <a:r>
              <a:rPr sz="900"/>
              <a:t>  Implement contact policy framework (prevent SMS fatigue)</a:t>
            </a:r>
          </a:p>
          <a:p>
            <a:r>
              <a:rPr sz="900"/>
              <a:t>  Build unified customer contact history across channels</a:t>
            </a:r>
          </a:p>
          <a:p>
            <a:r>
              <a:rPr sz="900"/>
              <a:t>  Launch WhatsApp Business channel for top 20% customers</a:t>
            </a:r>
          </a:p>
          <a:p>
            <a:r>
              <a:rPr sz="900"/>
              <a:t>  A/B testing framework for SMS and push notifications</a:t>
            </a:r>
          </a:p>
          <a:p>
            <a:r>
              <a:rPr sz="900"/>
              <a:t>  Quick Win: 30% reduction in SMS opt-outs</a:t>
            </a:r>
          </a:p>
          <a:p/>
          <a:p>
            <a:r>
              <a:rPr sz="1100" b="1">
                <a:solidFill>
                  <a:srgbClr val="003399"/>
                </a:solidFill>
              </a:rPr>
              <a:t>Phase 2: Intelligence (6-18 months) — PKR 100-180M</a:t>
            </a:r>
          </a:p>
          <a:p>
            <a:r>
              <a:rPr sz="900"/>
              <a:t>  Customer Data Platform (CDP) implementation</a:t>
            </a:r>
          </a:p>
          <a:p>
            <a:r>
              <a:rPr sz="900"/>
              <a:t>  Multi-step campaign automation (Ramadan, Eid, salary-day sequences)</a:t>
            </a:r>
          </a:p>
          <a:p>
            <a:r>
              <a:rPr sz="900"/>
              <a:t>  Personalization engine — segment-level then individual-level</a:t>
            </a:r>
          </a:p>
          <a:p>
            <a:r>
              <a:rPr sz="900"/>
              <a:t>  Call center optimization with customer 360 view for agents</a:t>
            </a:r>
          </a:p>
          <a:p>
            <a:r>
              <a:rPr sz="900"/>
              <a:t>  Expected: 2x campaign response rates</a:t>
            </a:r>
          </a:p>
          <a:p/>
          <a:p>
            <a:r>
              <a:rPr sz="1100" b="1">
                <a:solidFill>
                  <a:srgbClr val="990033"/>
                </a:solidFill>
              </a:rPr>
              <a:t>Phase 3: Real-Time (18-36 months) — PKR 150-280M</a:t>
            </a:r>
          </a:p>
          <a:p>
            <a:r>
              <a:rPr sz="900"/>
              <a:t>  Next Best Action engine across branch, mobile, contact center</a:t>
            </a:r>
          </a:p>
          <a:p>
            <a:r>
              <a:rPr sz="900"/>
              <a:t>  Real-time contextual decisioning (location, transaction, app behavior)</a:t>
            </a:r>
          </a:p>
          <a:p>
            <a:r>
              <a:rPr sz="900"/>
              <a:t>  Marketing attribution model (digital + branch + ATL integration)</a:t>
            </a:r>
          </a:p>
          <a:p>
            <a:r>
              <a:rPr sz="900"/>
              <a:t>  AI-powered product recommendation at every touchpoint</a:t>
            </a:r>
          </a:p>
          <a:p>
            <a:r>
              <a:rPr sz="900"/>
              <a:t>  Expected: 3x marketing ROI, products/customer from 1.8 to 3.0+</a:t>
            </a:r>
          </a:p>
          <a:p/>
          <a:p>
            <a:r>
              <a:rPr sz="1000" b="1">
                <a:solidFill>
                  <a:srgbClr val="003366"/>
                </a:solidFill>
              </a:rPr>
              <a:t>Total 3-Year Investment: PKR 290-530M (~USD 1-2M) | Annual Revenue Impact: PKR 500M-1B</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Teradata">
      <a:dk1>
        <a:srgbClr val="000000"/>
      </a:dk1>
      <a:lt1>
        <a:srgbClr val="FFFFFF"/>
      </a:lt1>
      <a:dk2>
        <a:srgbClr val="0079DB"/>
      </a:dk2>
      <a:lt2>
        <a:srgbClr val="D8D8D8"/>
      </a:lt2>
      <a:accent1>
        <a:srgbClr val="D56D23"/>
      </a:accent1>
      <a:accent2>
        <a:srgbClr val="BBBCBE"/>
      </a:accent2>
      <a:accent3>
        <a:srgbClr val="5F6062"/>
      </a:accent3>
      <a:accent4>
        <a:srgbClr val="0088A8"/>
      </a:accent4>
      <a:accent5>
        <a:srgbClr val="703092"/>
      </a:accent5>
      <a:accent6>
        <a:srgbClr val="CD391F"/>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TDC_PPT_16-9_1014-lite">
  <a:themeElements>
    <a:clrScheme name="TeradataPPT2014">
      <a:dk1>
        <a:srgbClr val="3C3C3B"/>
      </a:dk1>
      <a:lt1>
        <a:srgbClr val="FFFFFF"/>
      </a:lt1>
      <a:dk2>
        <a:srgbClr val="0079DB"/>
      </a:dk2>
      <a:lt2>
        <a:srgbClr val="D8D8D8"/>
      </a:lt2>
      <a:accent1>
        <a:srgbClr val="EC881D"/>
      </a:accent1>
      <a:accent2>
        <a:srgbClr val="0079DB"/>
      </a:accent2>
      <a:accent3>
        <a:srgbClr val="CD391F"/>
      </a:accent3>
      <a:accent4>
        <a:srgbClr val="0088A8"/>
      </a:accent4>
      <a:accent5>
        <a:srgbClr val="703092"/>
      </a:accent5>
      <a:accent6>
        <a:srgbClr val="5F6062"/>
      </a:accent6>
      <a:hlink>
        <a:srgbClr val="0079DB"/>
      </a:hlink>
      <a:folHlink>
        <a:srgbClr val="7030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