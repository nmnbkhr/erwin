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373.xml" ContentType="application/vnd.openxmlformats-officedocument.presentationml.notesSlide+xml"/>
  <Override PartName="/ppt/notesSlides/notesSlide374.xml" ContentType="application/vnd.openxmlformats-officedocument.presentationml.notesSlide+xml"/>
  <Override PartName="/ppt/notesSlides/notesSlide375.xml" ContentType="application/vnd.openxmlformats-officedocument.presentationml.notesSlide+xml"/>
  <Override PartName="/ppt/notesSlides/notesSlide376.xml" ContentType="application/vnd.openxmlformats-officedocument.presentationml.notesSlide+xml"/>
  <Override PartName="/ppt/notesSlides/notesSlide377.xml" ContentType="application/vnd.openxmlformats-officedocument.presentationml.notesSlide+xml"/>
  <Override PartName="/ppt/notesSlides/notesSlide378.xml" ContentType="application/vnd.openxmlformats-officedocument.presentationml.notesSlide+xml"/>
  <Override PartName="/ppt/notesSlides/notesSlide379.xml" ContentType="application/vnd.openxmlformats-officedocument.presentationml.notesSlide+xml"/>
  <Override PartName="/ppt/notesSlides/notesSlide380.xml" ContentType="application/vnd.openxmlformats-officedocument.presentationml.notesSlide+xml"/>
  <Override PartName="/ppt/notesSlides/notesSlide381.xml" ContentType="application/vnd.openxmlformats-officedocument.presentationml.notesSlide+xml"/>
  <Override PartName="/ppt/notesSlides/notesSlide382.xml" ContentType="application/vnd.openxmlformats-officedocument.presentationml.notesSlide+xml"/>
  <Override PartName="/ppt/notesSlides/notesSlide383.xml" ContentType="application/vnd.openxmlformats-officedocument.presentationml.notesSlide+xml"/>
  <Override PartName="/ppt/notesSlides/notesSlide384.xml" ContentType="application/vnd.openxmlformats-officedocument.presentationml.notesSlide+xml"/>
  <Override PartName="/ppt/notesSlides/notesSlide385.xml" ContentType="application/vnd.openxmlformats-officedocument.presentationml.notesSlide+xml"/>
  <Override PartName="/ppt/notesSlides/notesSlide386.xml" ContentType="application/vnd.openxmlformats-officedocument.presentationml.notesSlide+xml"/>
  <Override PartName="/ppt/notesSlides/notesSlide387.xml" ContentType="application/vnd.openxmlformats-officedocument.presentationml.notesSlide+xml"/>
  <Override PartName="/ppt/notesSlides/notesSlide388.xml" ContentType="application/vnd.openxmlformats-officedocument.presentationml.notesSlide+xml"/>
  <Override PartName="/ppt/notesSlides/notesSlide38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7" r:id="rId5"/>
  </p:sldMasterIdLst>
  <p:notesMasterIdLst>
    <p:notesMasterId r:id="rId6"/>
  </p:notesMasterIdLst>
  <p:sldIdLst>
    <p:sldId id="645" r:id="rId30"/>
    <p:sldId id="646" r:id="rId31"/>
    <p:sldId id="628" r:id="rId379"/>
    <p:sldId id="629" r:id="rId380"/>
    <p:sldId id="630" r:id="rId381"/>
    <p:sldId id="631" r:id="rId382"/>
    <p:sldId id="632" r:id="rId383"/>
    <p:sldId id="633" r:id="rId384"/>
    <p:sldId id="634" r:id="rId385"/>
    <p:sldId id="635" r:id="rId386"/>
    <p:sldId id="636" r:id="rId387"/>
    <p:sldId id="637" r:id="rId388"/>
    <p:sldId id="638" r:id="rId389"/>
    <p:sldId id="639" r:id="rId390"/>
    <p:sldId id="640" r:id="rId391"/>
    <p:sldId id="641" r:id="rId392"/>
    <p:sldId id="642" r:id="rId393"/>
    <p:sldId id="643" r:id="rId394"/>
    <p:sldId id="644" r:id="rId395"/>
    <p:sldId id="647" r:id="rId32"/>
  </p:sldIdLst>
  <p:sldSz cy="5143500" cx="9144000"/>
  <p:notesSz cx="6858000" cy="9945675"/>
  <p:embeddedFontLst>
    <p:embeddedFont>
      <p:font typeface="Noto Sans Symbols"/>
      <p:regular r:id="rId626"/>
      <p:bold r:id="rId627"/>
    </p:embeddedFont>
    <p:embeddedFont>
      <p:font typeface="Century Gothic"/>
      <p:regular r:id="rId628"/>
      <p:bold r:id="rId629"/>
      <p:italic r:id="rId630"/>
      <p:boldItalic r:id="rId6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guide id="3" pos="776">
          <p15:clr>
            <a:srgbClr val="A4A3A4"/>
          </p15:clr>
        </p15:guide>
        <p15:guide id="4" pos="1764">
          <p15:clr>
            <a:srgbClr val="A4A3A4"/>
          </p15:clr>
        </p15:guide>
        <p15:guide id="5" orient="horz" pos="2229">
          <p15:clr>
            <a:srgbClr val="A4A3A4"/>
          </p15:clr>
        </p15:guide>
        <p15:guide id="6" orient="horz" pos="3140">
          <p15:clr>
            <a:srgbClr val="A4A3A4"/>
          </p15:clr>
        </p15:guide>
        <p15:guide id="7" orient="horz" pos="311">
          <p15:clr>
            <a:srgbClr val="A4A3A4"/>
          </p15:clr>
        </p15:guide>
        <p15:guide id="8" orient="horz" pos="1593">
          <p15:clr>
            <a:srgbClr val="A4A3A4"/>
          </p15:clr>
        </p15:guide>
        <p15:guide id="9" pos="5696">
          <p15:clr>
            <a:srgbClr val="A4A3A4"/>
          </p15:clr>
        </p15:guide>
        <p15:guide id="10" pos="706">
          <p15:clr>
            <a:srgbClr val="A4A3A4"/>
          </p15:clr>
        </p15:guide>
        <p15:guide id="11" pos="2941">
          <p15:clr>
            <a:srgbClr val="A4A3A4"/>
          </p15:clr>
        </p15:guide>
        <p15:guide id="12" pos="91">
          <p15:clr>
            <a:srgbClr val="A4A3A4"/>
          </p15:clr>
        </p15:guide>
        <p15:guide id="13" orient="horz" pos="105">
          <p15:clr>
            <a:srgbClr val="000000"/>
          </p15:clr>
        </p15:guide>
        <p15:guide id="14" orient="horz" pos="1616">
          <p15:clr>
            <a:srgbClr val="000000"/>
          </p15:clr>
        </p15:guide>
        <p15:guide id="15" orient="horz" pos="567">
          <p15:clr>
            <a:srgbClr val="000000"/>
          </p15:clr>
        </p15:guide>
        <p15:guide id="16" orient="horz" pos="3034">
          <p15:clr>
            <a:srgbClr val="000000"/>
          </p15:clr>
        </p15:guide>
        <p15:guide id="17" orient="horz" pos="332">
          <p15:clr>
            <a:srgbClr val="000000"/>
          </p15:clr>
        </p15:guide>
        <p15:guide id="18" pos="239">
          <p15:clr>
            <a:srgbClr val="000000"/>
          </p15:clr>
        </p15:guide>
        <p15:guide id="19" pos="5557">
          <p15:clr>
            <a:srgbClr val="000000"/>
          </p15:clr>
        </p15:guide>
        <p15:guide id="20" pos="2914">
          <p15:clr>
            <a:srgbClr val="000000"/>
          </p15:clr>
        </p15:guide>
      </p15:sldGuideLst>
    </p:ext>
    <p:ext uri="{2D200454-40CA-4A62-9FC3-DE9A4176ACB9}">
      <p15:notesGuideLst>
        <p15:guide id="1" orient="horz" pos="2880">
          <p15:clr>
            <a:srgbClr val="A4A3A4"/>
          </p15:clr>
        </p15:guide>
        <p15:guide id="2" pos="2160">
          <p15:clr>
            <a:srgbClr val="A4A3A4"/>
          </p15:clr>
        </p15:guide>
        <p15:guide id="3" orient="horz" pos="3133">
          <p15:clr>
            <a:srgbClr val="000000"/>
          </p15:clr>
        </p15:guide>
      </p15:notes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098BFCB-6916-41F2-A2A5-0DF0D5139B6F}">
  <a:tblStyle styleId="{D098BFCB-6916-41F2-A2A5-0DF0D5139B6F}" styleName="Table_0">
    <a:wholeTbl>
      <a:tcTxStyle b="off" i="off">
        <a:font>
          <a:latin typeface="Century Gothic"/>
          <a:ea typeface="Century Gothic"/>
          <a:cs typeface="Century Gothic"/>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BEDE7"/>
          </a:solidFill>
        </a:fill>
      </a:tcStyle>
    </a:wholeTbl>
    <a:band1H>
      <a:tcTxStyle/>
      <a:tcStyle>
        <a:fill>
          <a:solidFill>
            <a:srgbClr val="F8D9CB"/>
          </a:solidFill>
        </a:fill>
      </a:tcStyle>
    </a:band1H>
    <a:band2H>
      <a:tcTxStyle/>
    </a:band2H>
    <a:band1V>
      <a:tcTxStyle/>
      <a:tcStyle>
        <a:fill>
          <a:solidFill>
            <a:srgbClr val="F8D9CB"/>
          </a:solidFill>
        </a:fill>
      </a:tcStyle>
    </a:band1V>
    <a:band2V>
      <a:tcTxStyle/>
    </a:band2V>
    <a:lastCol>
      <a:tcTxStyle b="on" i="off">
        <a:font>
          <a:latin typeface="Century Gothic"/>
          <a:ea typeface="Century Gothic"/>
          <a:cs typeface="Century Gothic"/>
        </a:font>
        <a:schemeClr val="lt1"/>
      </a:tcTxStyle>
      <a:tcStyle>
        <a:fill>
          <a:solidFill>
            <a:schemeClr val="accent1"/>
          </a:solidFill>
        </a:fill>
      </a:tcStyle>
    </a:lastCol>
    <a:firstCol>
      <a:tcTxStyle b="on" i="off">
        <a:font>
          <a:latin typeface="Century Gothic"/>
          <a:ea typeface="Century Gothic"/>
          <a:cs typeface="Century Gothic"/>
        </a:font>
        <a:schemeClr val="lt1"/>
      </a:tcTxStyle>
      <a:tcStyle>
        <a:fill>
          <a:solidFill>
            <a:schemeClr val="accent1"/>
          </a:solidFill>
        </a:fill>
      </a:tcStyle>
    </a:firstCol>
    <a:lastRow>
      <a:tcTxStyle b="on" i="off">
        <a:font>
          <a:latin typeface="Century Gothic"/>
          <a:ea typeface="Century Gothic"/>
          <a:cs typeface="Century Gothic"/>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entury Gothic"/>
          <a:ea typeface="Century Gothic"/>
          <a:cs typeface="Century Gothic"/>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 pos="776"/>
        <p:guide pos="1764"/>
        <p:guide pos="2229" orient="horz"/>
        <p:guide pos="3140" orient="horz"/>
        <p:guide pos="311" orient="horz"/>
        <p:guide pos="1593" orient="horz"/>
        <p:guide pos="5696"/>
        <p:guide pos="706"/>
        <p:guide pos="2941"/>
        <p:guide pos="91"/>
        <p:guide pos="105" orient="horz"/>
        <p:guide pos="1616" orient="horz"/>
        <p:guide pos="567" orient="horz"/>
        <p:guide pos="3034" orient="horz"/>
        <p:guide pos="332" orient="horz"/>
        <p:guide pos="239"/>
        <p:guide pos="5557"/>
        <p:guide pos="2914"/>
      </p:guideLst>
    </p:cSldViewPr>
  </p:slideViewPr>
  <p:notesViewPr>
    <p:cSldViewPr snapToGrid="0">
      <p:cViewPr varScale="1">
        <p:scale>
          <a:sx n="100" d="100"/>
          <a:sy n="100" d="100"/>
        </p:scale>
        <p:origin x="0" y="0"/>
      </p:cViewPr>
      <p:guideLst>
        <p:guide pos="2880" orient="horz"/>
        <p:guide pos="2160"/>
        <p:guide pos="3133" orient="horz"/>
      </p:guideLst>
    </p:cSldViewPr>
  </p:notes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79" Type="http://schemas.openxmlformats.org/officeDocument/2006/relationships/slide" Target="slides/slide1.xml"/><Relationship Id="rId380" Type="http://schemas.openxmlformats.org/officeDocument/2006/relationships/slide" Target="slides/slide2.xml"/><Relationship Id="rId381" Type="http://schemas.openxmlformats.org/officeDocument/2006/relationships/slide" Target="slides/slide3.xml"/><Relationship Id="rId382" Type="http://schemas.openxmlformats.org/officeDocument/2006/relationships/slide" Target="slides/slide4.xml"/><Relationship Id="rId383" Type="http://schemas.openxmlformats.org/officeDocument/2006/relationships/slide" Target="slides/slide5.xml"/><Relationship Id="rId384" Type="http://schemas.openxmlformats.org/officeDocument/2006/relationships/slide" Target="slides/slide6.xml"/><Relationship Id="rId385" Type="http://schemas.openxmlformats.org/officeDocument/2006/relationships/slide" Target="slides/slide7.xml"/><Relationship Id="rId386" Type="http://schemas.openxmlformats.org/officeDocument/2006/relationships/slide" Target="slides/slide8.xml"/><Relationship Id="rId387" Type="http://schemas.openxmlformats.org/officeDocument/2006/relationships/slide" Target="slides/slide9.xml"/><Relationship Id="rId388" Type="http://schemas.openxmlformats.org/officeDocument/2006/relationships/slide" Target="slides/slide10.xml"/><Relationship Id="rId389" Type="http://schemas.openxmlformats.org/officeDocument/2006/relationships/slide" Target="slides/slide11.xml"/><Relationship Id="rId390" Type="http://schemas.openxmlformats.org/officeDocument/2006/relationships/slide" Target="slides/slide12.xml"/><Relationship Id="rId391" Type="http://schemas.openxmlformats.org/officeDocument/2006/relationships/slide" Target="slides/slide13.xml"/><Relationship Id="rId392" Type="http://schemas.openxmlformats.org/officeDocument/2006/relationships/slide" Target="slides/slide14.xml"/><Relationship Id="rId393" Type="http://schemas.openxmlformats.org/officeDocument/2006/relationships/slide" Target="slides/slide15.xml"/><Relationship Id="rId394" Type="http://schemas.openxmlformats.org/officeDocument/2006/relationships/slide" Target="slides/slide16.xml"/><Relationship Id="rId395" Type="http://schemas.openxmlformats.org/officeDocument/2006/relationships/slide" Target="slides/slide17.xml"/><Relationship Id="rId626" Type="http://schemas.openxmlformats.org/officeDocument/2006/relationships/font" Target="fonts/NotoSansSymbols-regular.fntdata"/><Relationship Id="rId627" Type="http://schemas.openxmlformats.org/officeDocument/2006/relationships/font" Target="fonts/NotoSansSymbols-bold.fntdata"/><Relationship Id="rId628" Type="http://schemas.openxmlformats.org/officeDocument/2006/relationships/font" Target="fonts/CenturyGothic-regular.fntdata"/><Relationship Id="rId629" Type="http://schemas.openxmlformats.org/officeDocument/2006/relationships/font" Target="fonts/CenturyGothic-bold.fntdata"/><Relationship Id="rId630" Type="http://schemas.openxmlformats.org/officeDocument/2006/relationships/font" Target="fonts/CenturyGothic-italic.fntdata"/><Relationship Id="rId631" Type="http://schemas.openxmlformats.org/officeDocument/2006/relationships/font" Target="fonts/CenturyGothic-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9728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4" name="Google Shape;4;n"/>
          <p:cNvSpPr txBox="1"/>
          <p:nvPr>
            <p:ph idx="10" type="dt"/>
          </p:nvPr>
        </p:nvSpPr>
        <p:spPr>
          <a:xfrm>
            <a:off x="3884613" y="0"/>
            <a:ext cx="2971800" cy="497284"/>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5" name="Google Shape;5;n"/>
          <p:cNvSpPr/>
          <p:nvPr>
            <p:ph idx="3"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lvl1pPr indent="-304800" lvl="0" marL="457200" marR="0" rtl="0" algn="l">
              <a:lnSpc>
                <a:spcPct val="95000"/>
              </a:lnSpc>
              <a:spcBef>
                <a:spcPts val="400"/>
              </a:spcBef>
              <a:spcAft>
                <a:spcPts val="0"/>
              </a:spcAft>
              <a:buClr>
                <a:schemeClr val="dk1"/>
              </a:buClr>
              <a:buSzPts val="1200"/>
              <a:buFont typeface="Arial"/>
              <a:buChar char="•"/>
              <a:defRPr b="0" i="0" sz="1200" u="none" cap="none" strike="noStrike">
                <a:solidFill>
                  <a:schemeClr val="dk1"/>
                </a:solidFill>
                <a:latin typeface="Century Gothic"/>
                <a:ea typeface="Century Gothic"/>
                <a:cs typeface="Century Gothic"/>
                <a:sym typeface="Century Gothic"/>
              </a:defRPr>
            </a:lvl1pPr>
            <a:lvl2pPr indent="-304800" lvl="1" marL="914400" marR="0" rtl="0" algn="l">
              <a:lnSpc>
                <a:spcPct val="85000"/>
              </a:lnSpc>
              <a:spcBef>
                <a:spcPts val="100"/>
              </a:spcBef>
              <a:spcAft>
                <a:spcPts val="0"/>
              </a:spcAft>
              <a:buClr>
                <a:schemeClr val="dk1"/>
              </a:buClr>
              <a:buSzPts val="1200"/>
              <a:buFont typeface="Arial"/>
              <a:buChar char="•"/>
              <a:defRPr b="0" i="0" sz="1200" u="none" cap="none" strike="noStrike">
                <a:solidFill>
                  <a:schemeClr val="dk1"/>
                </a:solidFill>
                <a:latin typeface="Century Gothic"/>
                <a:ea typeface="Century Gothic"/>
                <a:cs typeface="Century Gothic"/>
                <a:sym typeface="Century Gothic"/>
              </a:defRPr>
            </a:lvl2pPr>
            <a:lvl3pPr indent="-304800" lvl="2" marL="1371600" marR="0" rtl="0" algn="l">
              <a:lnSpc>
                <a:spcPct val="85000"/>
              </a:lnSpc>
              <a:spcBef>
                <a:spcPts val="100"/>
              </a:spcBef>
              <a:spcAft>
                <a:spcPts val="0"/>
              </a:spcAft>
              <a:buClr>
                <a:schemeClr val="dk1"/>
              </a:buClr>
              <a:buSzPts val="1200"/>
              <a:buFont typeface="Arial"/>
              <a:buChar char="•"/>
              <a:defRPr b="0" i="0" sz="1200" u="none" cap="none" strike="noStrike">
                <a:solidFill>
                  <a:schemeClr val="dk1"/>
                </a:solidFill>
                <a:latin typeface="Century Gothic"/>
                <a:ea typeface="Century Gothic"/>
                <a:cs typeface="Century Gothic"/>
                <a:sym typeface="Century Gothic"/>
              </a:defRPr>
            </a:lvl3pPr>
            <a:lvl4pPr indent="-304800" lvl="3" marL="1828800" marR="0" rtl="0" algn="l">
              <a:lnSpc>
                <a:spcPct val="85000"/>
              </a:lnSpc>
              <a:spcBef>
                <a:spcPts val="100"/>
              </a:spcBef>
              <a:spcAft>
                <a:spcPts val="0"/>
              </a:spcAft>
              <a:buClr>
                <a:schemeClr val="dk1"/>
              </a:buClr>
              <a:buSzPts val="1200"/>
              <a:buFont typeface="Arial"/>
              <a:buChar char="•"/>
              <a:defRPr b="0" i="0" sz="1200" u="none" cap="none" strike="noStrike">
                <a:solidFill>
                  <a:schemeClr val="dk1"/>
                </a:solidFill>
                <a:latin typeface="Century Gothic"/>
                <a:ea typeface="Century Gothic"/>
                <a:cs typeface="Century Gothic"/>
                <a:sym typeface="Century Gothic"/>
              </a:defRPr>
            </a:lvl4pPr>
            <a:lvl5pPr indent="-304800" lvl="4" marL="2286000" marR="0" rtl="0" algn="l">
              <a:lnSpc>
                <a:spcPct val="85000"/>
              </a:lnSpc>
              <a:spcBef>
                <a:spcPts val="100"/>
              </a:spcBef>
              <a:spcAft>
                <a:spcPts val="0"/>
              </a:spcAft>
              <a:buClr>
                <a:schemeClr val="dk1"/>
              </a:buClr>
              <a:buSzPts val="1200"/>
              <a:buFont typeface="Arial"/>
              <a:buChar char="•"/>
              <a:defRPr b="0" i="0" sz="1200" u="none" cap="none" strike="noStrike">
                <a:solidFill>
                  <a:schemeClr val="dk1"/>
                </a:solidFill>
                <a:latin typeface="Century Gothic"/>
                <a:ea typeface="Century Gothic"/>
                <a:cs typeface="Century Gothic"/>
                <a:sym typeface="Century Gothic"/>
              </a:defRPr>
            </a:lvl5pPr>
            <a:lvl6pPr indent="-228600" lvl="5" marL="2743200" marR="0" rtl="0" algn="l">
              <a:spcBef>
                <a:spcPts val="0"/>
              </a:spcBef>
              <a:spcAft>
                <a:spcPts val="0"/>
              </a:spcAft>
              <a:buSzPts val="1400"/>
              <a:buNone/>
              <a:defRPr b="0" i="0" sz="1200" u="none" cap="none" strike="noStrike">
                <a:solidFill>
                  <a:schemeClr val="dk1"/>
                </a:solidFill>
                <a:latin typeface="Century Gothic"/>
                <a:ea typeface="Century Gothic"/>
                <a:cs typeface="Century Gothic"/>
                <a:sym typeface="Century Gothic"/>
              </a:defRPr>
            </a:lvl6pPr>
            <a:lvl7pPr indent="-228600" lvl="6" marL="3200400" marR="0" rtl="0" algn="l">
              <a:spcBef>
                <a:spcPts val="0"/>
              </a:spcBef>
              <a:spcAft>
                <a:spcPts val="0"/>
              </a:spcAft>
              <a:buSzPts val="1400"/>
              <a:buNone/>
              <a:defRPr b="0" i="0" sz="1200" u="none" cap="none" strike="noStrike">
                <a:solidFill>
                  <a:schemeClr val="dk1"/>
                </a:solidFill>
                <a:latin typeface="Century Gothic"/>
                <a:ea typeface="Century Gothic"/>
                <a:cs typeface="Century Gothic"/>
                <a:sym typeface="Century Gothic"/>
              </a:defRPr>
            </a:lvl7pPr>
            <a:lvl8pPr indent="-228600" lvl="7" marL="3657600" marR="0" rtl="0" algn="l">
              <a:spcBef>
                <a:spcPts val="0"/>
              </a:spcBef>
              <a:spcAft>
                <a:spcPts val="0"/>
              </a:spcAft>
              <a:buSzPts val="1400"/>
              <a:buNone/>
              <a:defRPr b="0" i="0" sz="1200" u="none" cap="none" strike="noStrike">
                <a:solidFill>
                  <a:schemeClr val="dk1"/>
                </a:solidFill>
                <a:latin typeface="Century Gothic"/>
                <a:ea typeface="Century Gothic"/>
                <a:cs typeface="Century Gothic"/>
                <a:sym typeface="Century Gothic"/>
              </a:defRPr>
            </a:lvl8pPr>
            <a:lvl9pPr indent="-228600" lvl="8" marL="4114800" marR="0" rtl="0" algn="l">
              <a:spcBef>
                <a:spcPts val="0"/>
              </a:spcBef>
              <a:spcAft>
                <a:spcPts val="0"/>
              </a:spcAft>
              <a:buSzPts val="1400"/>
              <a:buNone/>
              <a:defRPr b="0" i="0" sz="1200" u="none" cap="none" strike="noStrike">
                <a:solidFill>
                  <a:schemeClr val="dk1"/>
                </a:solidFill>
                <a:latin typeface="Century Gothic"/>
                <a:ea typeface="Century Gothic"/>
                <a:cs typeface="Century Gothic"/>
                <a:sym typeface="Century Gothic"/>
              </a:defRPr>
            </a:lvl9pPr>
          </a:lstStyle>
          <a:p/>
        </p:txBody>
      </p:sp>
      <p:sp>
        <p:nvSpPr>
          <p:cNvPr id="7" name="Google Shape;7;n"/>
          <p:cNvSpPr txBox="1"/>
          <p:nvPr/>
        </p:nvSpPr>
        <p:spPr>
          <a:xfrm>
            <a:off x="286468" y="9509858"/>
            <a:ext cx="109004" cy="107722"/>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GB" sz="700" u="none" cap="none" strike="noStrike">
                <a:solidFill>
                  <a:schemeClr val="lt2"/>
                </a:solidFill>
                <a:latin typeface="Century Gothic"/>
                <a:ea typeface="Century Gothic"/>
                <a:cs typeface="Century Gothic"/>
                <a:sym typeface="Century Gothic"/>
              </a:rPr>
              <a:t>‹#›</a:t>
            </a:fld>
            <a:endParaRPr b="0" i="0" sz="700" u="none" cap="none" strike="noStrike">
              <a:solidFill>
                <a:schemeClr val="lt2"/>
              </a:solidFill>
              <a:latin typeface="Century Gothic"/>
              <a:ea typeface="Century Gothic"/>
              <a:cs typeface="Century Gothic"/>
              <a:sym typeface="Century Gothic"/>
            </a:endParaRPr>
          </a:p>
        </p:txBody>
      </p:sp>
      <p:grpSp>
        <p:nvGrpSpPr>
          <p:cNvPr id="8" name="Google Shape;8;n"/>
          <p:cNvGrpSpPr/>
          <p:nvPr/>
        </p:nvGrpSpPr>
        <p:grpSpPr>
          <a:xfrm>
            <a:off x="6010878" y="9504586"/>
            <a:ext cx="531812" cy="129502"/>
            <a:chOff x="5137" y="4139"/>
            <a:chExt cx="335" cy="75"/>
          </a:xfrm>
        </p:grpSpPr>
        <p:sp>
          <p:nvSpPr>
            <p:cNvPr id="9" name="Google Shape;9;n"/>
            <p:cNvSpPr/>
            <p:nvPr/>
          </p:nvSpPr>
          <p:spPr>
            <a:xfrm>
              <a:off x="5137" y="4139"/>
              <a:ext cx="324" cy="75"/>
            </a:xfrm>
            <a:custGeom>
              <a:rect b="b" l="l" r="r" t="t"/>
              <a:pathLst>
                <a:path extrusionOk="0" h="863" w="3745">
                  <a:moveTo>
                    <a:pt x="660" y="0"/>
                  </a:moveTo>
                  <a:lnTo>
                    <a:pt x="660" y="0"/>
                  </a:lnTo>
                  <a:lnTo>
                    <a:pt x="22" y="0"/>
                  </a:lnTo>
                  <a:lnTo>
                    <a:pt x="0" y="73"/>
                  </a:lnTo>
                  <a:lnTo>
                    <a:pt x="292" y="73"/>
                  </a:lnTo>
                  <a:lnTo>
                    <a:pt x="292" y="804"/>
                  </a:lnTo>
                  <a:cubicBezTo>
                    <a:pt x="292" y="843"/>
                    <a:pt x="316" y="863"/>
                    <a:pt x="360" y="863"/>
                  </a:cubicBezTo>
                  <a:lnTo>
                    <a:pt x="399" y="863"/>
                  </a:lnTo>
                  <a:lnTo>
                    <a:pt x="399" y="73"/>
                  </a:lnTo>
                  <a:lnTo>
                    <a:pt x="637" y="73"/>
                  </a:lnTo>
                  <a:lnTo>
                    <a:pt x="660" y="0"/>
                  </a:lnTo>
                  <a:lnTo>
                    <a:pt x="660" y="0"/>
                  </a:lnTo>
                  <a:close/>
                  <a:moveTo>
                    <a:pt x="2673" y="181"/>
                  </a:moveTo>
                  <a:lnTo>
                    <a:pt x="2673" y="181"/>
                  </a:lnTo>
                  <a:cubicBezTo>
                    <a:pt x="2647" y="181"/>
                    <a:pt x="2626" y="190"/>
                    <a:pt x="2621" y="203"/>
                  </a:cubicBezTo>
                  <a:lnTo>
                    <a:pt x="2408" y="768"/>
                  </a:lnTo>
                  <a:lnTo>
                    <a:pt x="2448" y="768"/>
                  </a:lnTo>
                  <a:cubicBezTo>
                    <a:pt x="2491" y="768"/>
                    <a:pt x="2509" y="764"/>
                    <a:pt x="2522" y="729"/>
                  </a:cubicBezTo>
                  <a:lnTo>
                    <a:pt x="2570" y="596"/>
                  </a:lnTo>
                  <a:lnTo>
                    <a:pt x="2698" y="596"/>
                  </a:lnTo>
                  <a:lnTo>
                    <a:pt x="2679" y="533"/>
                  </a:lnTo>
                  <a:lnTo>
                    <a:pt x="2590" y="533"/>
                  </a:lnTo>
                  <a:lnTo>
                    <a:pt x="2669" y="310"/>
                  </a:lnTo>
                  <a:lnTo>
                    <a:pt x="2812" y="729"/>
                  </a:lnTo>
                  <a:cubicBezTo>
                    <a:pt x="2824" y="764"/>
                    <a:pt x="2845" y="768"/>
                    <a:pt x="2891" y="768"/>
                  </a:cubicBezTo>
                  <a:lnTo>
                    <a:pt x="2941" y="768"/>
                  </a:lnTo>
                  <a:lnTo>
                    <a:pt x="2725" y="203"/>
                  </a:lnTo>
                  <a:cubicBezTo>
                    <a:pt x="2720" y="190"/>
                    <a:pt x="2697" y="181"/>
                    <a:pt x="2673" y="181"/>
                  </a:cubicBezTo>
                  <a:close/>
                  <a:moveTo>
                    <a:pt x="3529" y="203"/>
                  </a:moveTo>
                  <a:lnTo>
                    <a:pt x="3529" y="203"/>
                  </a:lnTo>
                  <a:cubicBezTo>
                    <a:pt x="3524" y="190"/>
                    <a:pt x="3501" y="181"/>
                    <a:pt x="3477" y="181"/>
                  </a:cubicBezTo>
                  <a:cubicBezTo>
                    <a:pt x="3451" y="181"/>
                    <a:pt x="3430" y="190"/>
                    <a:pt x="3425" y="203"/>
                  </a:cubicBezTo>
                  <a:lnTo>
                    <a:pt x="3212" y="768"/>
                  </a:lnTo>
                  <a:lnTo>
                    <a:pt x="3252" y="768"/>
                  </a:lnTo>
                  <a:cubicBezTo>
                    <a:pt x="3294" y="768"/>
                    <a:pt x="3313" y="764"/>
                    <a:pt x="3326" y="729"/>
                  </a:cubicBezTo>
                  <a:lnTo>
                    <a:pt x="3374" y="596"/>
                  </a:lnTo>
                  <a:lnTo>
                    <a:pt x="3502" y="596"/>
                  </a:lnTo>
                  <a:lnTo>
                    <a:pt x="3483" y="533"/>
                  </a:lnTo>
                  <a:lnTo>
                    <a:pt x="3394" y="533"/>
                  </a:lnTo>
                  <a:lnTo>
                    <a:pt x="3473" y="310"/>
                  </a:lnTo>
                  <a:lnTo>
                    <a:pt x="3616" y="729"/>
                  </a:lnTo>
                  <a:cubicBezTo>
                    <a:pt x="3628" y="764"/>
                    <a:pt x="3649" y="768"/>
                    <a:pt x="3695" y="768"/>
                  </a:cubicBezTo>
                  <a:lnTo>
                    <a:pt x="3745" y="768"/>
                  </a:lnTo>
                  <a:lnTo>
                    <a:pt x="3529" y="203"/>
                  </a:lnTo>
                  <a:lnTo>
                    <a:pt x="3529" y="203"/>
                  </a:lnTo>
                  <a:close/>
                  <a:moveTo>
                    <a:pt x="1655" y="181"/>
                  </a:moveTo>
                  <a:lnTo>
                    <a:pt x="1655" y="181"/>
                  </a:lnTo>
                  <a:cubicBezTo>
                    <a:pt x="1630" y="181"/>
                    <a:pt x="1608" y="190"/>
                    <a:pt x="1603" y="203"/>
                  </a:cubicBezTo>
                  <a:lnTo>
                    <a:pt x="1399" y="746"/>
                  </a:lnTo>
                  <a:lnTo>
                    <a:pt x="1247" y="515"/>
                  </a:lnTo>
                  <a:cubicBezTo>
                    <a:pt x="1327" y="501"/>
                    <a:pt x="1374" y="459"/>
                    <a:pt x="1374" y="387"/>
                  </a:cubicBezTo>
                  <a:lnTo>
                    <a:pt x="1374" y="336"/>
                  </a:lnTo>
                  <a:cubicBezTo>
                    <a:pt x="1374" y="232"/>
                    <a:pt x="1277" y="189"/>
                    <a:pt x="1149" y="189"/>
                  </a:cubicBezTo>
                  <a:lnTo>
                    <a:pt x="969" y="189"/>
                  </a:lnTo>
                  <a:lnTo>
                    <a:pt x="969" y="704"/>
                  </a:lnTo>
                  <a:lnTo>
                    <a:pt x="737" y="704"/>
                  </a:lnTo>
                  <a:cubicBezTo>
                    <a:pt x="646" y="704"/>
                    <a:pt x="625" y="684"/>
                    <a:pt x="625" y="590"/>
                  </a:cubicBezTo>
                  <a:lnTo>
                    <a:pt x="625" y="488"/>
                  </a:lnTo>
                  <a:lnTo>
                    <a:pt x="797" y="488"/>
                  </a:lnTo>
                  <a:lnTo>
                    <a:pt x="816" y="424"/>
                  </a:lnTo>
                  <a:lnTo>
                    <a:pt x="625" y="424"/>
                  </a:lnTo>
                  <a:lnTo>
                    <a:pt x="625" y="253"/>
                  </a:lnTo>
                  <a:lnTo>
                    <a:pt x="878" y="253"/>
                  </a:lnTo>
                  <a:lnTo>
                    <a:pt x="897" y="189"/>
                  </a:lnTo>
                  <a:lnTo>
                    <a:pt x="520" y="189"/>
                  </a:lnTo>
                  <a:lnTo>
                    <a:pt x="520" y="590"/>
                  </a:lnTo>
                  <a:cubicBezTo>
                    <a:pt x="520" y="724"/>
                    <a:pt x="552" y="768"/>
                    <a:pt x="735" y="768"/>
                  </a:cubicBezTo>
                  <a:lnTo>
                    <a:pt x="1074" y="766"/>
                  </a:lnTo>
                  <a:lnTo>
                    <a:pt x="1074" y="253"/>
                  </a:lnTo>
                  <a:lnTo>
                    <a:pt x="1149" y="253"/>
                  </a:lnTo>
                  <a:cubicBezTo>
                    <a:pt x="1230" y="253"/>
                    <a:pt x="1271" y="282"/>
                    <a:pt x="1271" y="337"/>
                  </a:cubicBezTo>
                  <a:lnTo>
                    <a:pt x="1271" y="387"/>
                  </a:lnTo>
                  <a:cubicBezTo>
                    <a:pt x="1271" y="443"/>
                    <a:pt x="1220" y="461"/>
                    <a:pt x="1157" y="461"/>
                  </a:cubicBezTo>
                  <a:lnTo>
                    <a:pt x="1110" y="461"/>
                  </a:lnTo>
                  <a:lnTo>
                    <a:pt x="1269" y="733"/>
                  </a:lnTo>
                  <a:cubicBezTo>
                    <a:pt x="1287" y="765"/>
                    <a:pt x="1296" y="768"/>
                    <a:pt x="1338" y="768"/>
                  </a:cubicBezTo>
                  <a:lnTo>
                    <a:pt x="1430" y="768"/>
                  </a:lnTo>
                  <a:cubicBezTo>
                    <a:pt x="1473" y="768"/>
                    <a:pt x="1492" y="764"/>
                    <a:pt x="1505" y="729"/>
                  </a:cubicBezTo>
                  <a:lnTo>
                    <a:pt x="1552" y="596"/>
                  </a:lnTo>
                  <a:lnTo>
                    <a:pt x="1680" y="596"/>
                  </a:lnTo>
                  <a:lnTo>
                    <a:pt x="1661" y="533"/>
                  </a:lnTo>
                  <a:lnTo>
                    <a:pt x="1573" y="533"/>
                  </a:lnTo>
                  <a:lnTo>
                    <a:pt x="1652" y="310"/>
                  </a:lnTo>
                  <a:lnTo>
                    <a:pt x="1795" y="729"/>
                  </a:lnTo>
                  <a:cubicBezTo>
                    <a:pt x="1807" y="764"/>
                    <a:pt x="1827" y="768"/>
                    <a:pt x="1873" y="768"/>
                  </a:cubicBezTo>
                  <a:lnTo>
                    <a:pt x="1923" y="768"/>
                  </a:lnTo>
                  <a:lnTo>
                    <a:pt x="1707" y="203"/>
                  </a:lnTo>
                  <a:cubicBezTo>
                    <a:pt x="1702" y="190"/>
                    <a:pt x="1679" y="181"/>
                    <a:pt x="1655" y="181"/>
                  </a:cubicBezTo>
                  <a:close/>
                  <a:moveTo>
                    <a:pt x="2304" y="530"/>
                  </a:moveTo>
                  <a:lnTo>
                    <a:pt x="2304" y="530"/>
                  </a:lnTo>
                  <a:cubicBezTo>
                    <a:pt x="2304" y="647"/>
                    <a:pt x="2266" y="704"/>
                    <a:pt x="2162" y="704"/>
                  </a:cubicBezTo>
                  <a:lnTo>
                    <a:pt x="2068" y="704"/>
                  </a:lnTo>
                  <a:lnTo>
                    <a:pt x="2068" y="253"/>
                  </a:lnTo>
                  <a:lnTo>
                    <a:pt x="2159" y="253"/>
                  </a:lnTo>
                  <a:cubicBezTo>
                    <a:pt x="2266" y="253"/>
                    <a:pt x="2304" y="316"/>
                    <a:pt x="2304" y="433"/>
                  </a:cubicBezTo>
                  <a:lnTo>
                    <a:pt x="2304" y="530"/>
                  </a:lnTo>
                  <a:lnTo>
                    <a:pt x="2304" y="530"/>
                  </a:lnTo>
                  <a:close/>
                  <a:moveTo>
                    <a:pt x="2409" y="432"/>
                  </a:moveTo>
                  <a:lnTo>
                    <a:pt x="2409" y="432"/>
                  </a:lnTo>
                  <a:cubicBezTo>
                    <a:pt x="2409" y="270"/>
                    <a:pt x="2326" y="189"/>
                    <a:pt x="2159" y="189"/>
                  </a:cubicBezTo>
                  <a:lnTo>
                    <a:pt x="1963" y="189"/>
                  </a:lnTo>
                  <a:lnTo>
                    <a:pt x="1963" y="709"/>
                  </a:lnTo>
                  <a:cubicBezTo>
                    <a:pt x="1963" y="748"/>
                    <a:pt x="1984" y="768"/>
                    <a:pt x="2029" y="768"/>
                  </a:cubicBezTo>
                  <a:lnTo>
                    <a:pt x="2159" y="768"/>
                  </a:lnTo>
                  <a:lnTo>
                    <a:pt x="2180" y="767"/>
                  </a:lnTo>
                  <a:cubicBezTo>
                    <a:pt x="2337" y="761"/>
                    <a:pt x="2409" y="693"/>
                    <a:pt x="2409" y="530"/>
                  </a:cubicBezTo>
                  <a:lnTo>
                    <a:pt x="2409" y="432"/>
                  </a:lnTo>
                  <a:lnTo>
                    <a:pt x="2409" y="432"/>
                  </a:lnTo>
                  <a:close/>
                  <a:moveTo>
                    <a:pt x="3332" y="190"/>
                  </a:moveTo>
                  <a:lnTo>
                    <a:pt x="3332" y="190"/>
                  </a:lnTo>
                  <a:lnTo>
                    <a:pt x="2851" y="190"/>
                  </a:lnTo>
                  <a:lnTo>
                    <a:pt x="2831" y="254"/>
                  </a:lnTo>
                  <a:lnTo>
                    <a:pt x="3028" y="254"/>
                  </a:lnTo>
                  <a:lnTo>
                    <a:pt x="3028" y="710"/>
                  </a:lnTo>
                  <a:cubicBezTo>
                    <a:pt x="3028" y="749"/>
                    <a:pt x="3052" y="768"/>
                    <a:pt x="3096" y="768"/>
                  </a:cubicBezTo>
                  <a:lnTo>
                    <a:pt x="3135" y="768"/>
                  </a:lnTo>
                  <a:lnTo>
                    <a:pt x="3135" y="254"/>
                  </a:lnTo>
                  <a:lnTo>
                    <a:pt x="3313" y="254"/>
                  </a:lnTo>
                  <a:lnTo>
                    <a:pt x="3332" y="19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10" name="Google Shape;10;n"/>
            <p:cNvSpPr/>
            <p:nvPr/>
          </p:nvSpPr>
          <p:spPr>
            <a:xfrm>
              <a:off x="5464" y="4197"/>
              <a:ext cx="8" cy="9"/>
            </a:xfrm>
            <a:custGeom>
              <a:rect b="b" l="l" r="r" t="t"/>
              <a:pathLst>
                <a:path extrusionOk="0" h="98" w="99">
                  <a:moveTo>
                    <a:pt x="59" y="30"/>
                  </a:moveTo>
                  <a:lnTo>
                    <a:pt x="59" y="30"/>
                  </a:lnTo>
                  <a:cubicBezTo>
                    <a:pt x="57" y="29"/>
                    <a:pt x="53" y="28"/>
                    <a:pt x="47" y="28"/>
                  </a:cubicBezTo>
                  <a:lnTo>
                    <a:pt x="39" y="28"/>
                  </a:lnTo>
                  <a:lnTo>
                    <a:pt x="39" y="48"/>
                  </a:lnTo>
                  <a:lnTo>
                    <a:pt x="48" y="48"/>
                  </a:lnTo>
                  <a:cubicBezTo>
                    <a:pt x="52" y="48"/>
                    <a:pt x="55" y="47"/>
                    <a:pt x="57" y="46"/>
                  </a:cubicBezTo>
                  <a:cubicBezTo>
                    <a:pt x="61" y="45"/>
                    <a:pt x="63" y="42"/>
                    <a:pt x="63" y="38"/>
                  </a:cubicBezTo>
                  <a:cubicBezTo>
                    <a:pt x="63" y="34"/>
                    <a:pt x="61" y="31"/>
                    <a:pt x="59" y="30"/>
                  </a:cubicBezTo>
                  <a:close/>
                  <a:moveTo>
                    <a:pt x="49" y="22"/>
                  </a:moveTo>
                  <a:lnTo>
                    <a:pt x="49" y="22"/>
                  </a:lnTo>
                  <a:cubicBezTo>
                    <a:pt x="55" y="22"/>
                    <a:pt x="60" y="22"/>
                    <a:pt x="63" y="23"/>
                  </a:cubicBezTo>
                  <a:cubicBezTo>
                    <a:pt x="69" y="26"/>
                    <a:pt x="72" y="30"/>
                    <a:pt x="72" y="37"/>
                  </a:cubicBezTo>
                  <a:cubicBezTo>
                    <a:pt x="72" y="42"/>
                    <a:pt x="70" y="46"/>
                    <a:pt x="66" y="48"/>
                  </a:cubicBezTo>
                  <a:cubicBezTo>
                    <a:pt x="65" y="49"/>
                    <a:pt x="62" y="50"/>
                    <a:pt x="59" y="51"/>
                  </a:cubicBezTo>
                  <a:cubicBezTo>
                    <a:pt x="63" y="51"/>
                    <a:pt x="66" y="53"/>
                    <a:pt x="68" y="56"/>
                  </a:cubicBezTo>
                  <a:cubicBezTo>
                    <a:pt x="70" y="59"/>
                    <a:pt x="71" y="62"/>
                    <a:pt x="71" y="64"/>
                  </a:cubicBezTo>
                  <a:lnTo>
                    <a:pt x="71" y="68"/>
                  </a:lnTo>
                  <a:cubicBezTo>
                    <a:pt x="71" y="69"/>
                    <a:pt x="71" y="71"/>
                    <a:pt x="71" y="72"/>
                  </a:cubicBezTo>
                  <a:cubicBezTo>
                    <a:pt x="71" y="74"/>
                    <a:pt x="71" y="75"/>
                    <a:pt x="72" y="75"/>
                  </a:cubicBezTo>
                  <a:lnTo>
                    <a:pt x="72" y="76"/>
                  </a:lnTo>
                  <a:lnTo>
                    <a:pt x="63" y="76"/>
                  </a:lnTo>
                  <a:cubicBezTo>
                    <a:pt x="63" y="76"/>
                    <a:pt x="63" y="75"/>
                    <a:pt x="63" y="75"/>
                  </a:cubicBezTo>
                  <a:cubicBezTo>
                    <a:pt x="63" y="75"/>
                    <a:pt x="63" y="75"/>
                    <a:pt x="63" y="75"/>
                  </a:cubicBezTo>
                  <a:lnTo>
                    <a:pt x="62" y="73"/>
                  </a:lnTo>
                  <a:lnTo>
                    <a:pt x="62" y="69"/>
                  </a:lnTo>
                  <a:cubicBezTo>
                    <a:pt x="62" y="62"/>
                    <a:pt x="61" y="58"/>
                    <a:pt x="57" y="56"/>
                  </a:cubicBezTo>
                  <a:cubicBezTo>
                    <a:pt x="55" y="55"/>
                    <a:pt x="52" y="54"/>
                    <a:pt x="47" y="54"/>
                  </a:cubicBezTo>
                  <a:lnTo>
                    <a:pt x="39" y="54"/>
                  </a:lnTo>
                  <a:lnTo>
                    <a:pt x="39" y="76"/>
                  </a:lnTo>
                  <a:lnTo>
                    <a:pt x="30" y="76"/>
                  </a:lnTo>
                  <a:lnTo>
                    <a:pt x="30" y="22"/>
                  </a:lnTo>
                  <a:lnTo>
                    <a:pt x="49" y="22"/>
                  </a:lnTo>
                  <a:lnTo>
                    <a:pt x="49" y="22"/>
                  </a:lnTo>
                  <a:close/>
                  <a:moveTo>
                    <a:pt x="20" y="19"/>
                  </a:moveTo>
                  <a:lnTo>
                    <a:pt x="20" y="19"/>
                  </a:lnTo>
                  <a:cubicBezTo>
                    <a:pt x="11" y="27"/>
                    <a:pt x="7" y="37"/>
                    <a:pt x="7" y="49"/>
                  </a:cubicBezTo>
                  <a:cubicBezTo>
                    <a:pt x="7" y="61"/>
                    <a:pt x="11" y="71"/>
                    <a:pt x="20" y="79"/>
                  </a:cubicBezTo>
                  <a:cubicBezTo>
                    <a:pt x="28" y="87"/>
                    <a:pt x="38" y="92"/>
                    <a:pt x="50" y="92"/>
                  </a:cubicBezTo>
                  <a:cubicBezTo>
                    <a:pt x="61" y="92"/>
                    <a:pt x="71" y="87"/>
                    <a:pt x="80" y="79"/>
                  </a:cubicBezTo>
                  <a:cubicBezTo>
                    <a:pt x="88" y="71"/>
                    <a:pt x="92" y="61"/>
                    <a:pt x="92" y="49"/>
                  </a:cubicBezTo>
                  <a:cubicBezTo>
                    <a:pt x="92" y="37"/>
                    <a:pt x="88" y="27"/>
                    <a:pt x="80" y="19"/>
                  </a:cubicBezTo>
                  <a:cubicBezTo>
                    <a:pt x="71" y="10"/>
                    <a:pt x="61" y="6"/>
                    <a:pt x="50" y="6"/>
                  </a:cubicBezTo>
                  <a:cubicBezTo>
                    <a:pt x="38" y="6"/>
                    <a:pt x="28" y="10"/>
                    <a:pt x="20" y="19"/>
                  </a:cubicBezTo>
                  <a:close/>
                  <a:moveTo>
                    <a:pt x="85" y="84"/>
                  </a:moveTo>
                  <a:lnTo>
                    <a:pt x="85" y="84"/>
                  </a:lnTo>
                  <a:cubicBezTo>
                    <a:pt x="75" y="94"/>
                    <a:pt x="63" y="98"/>
                    <a:pt x="50" y="98"/>
                  </a:cubicBezTo>
                  <a:cubicBezTo>
                    <a:pt x="36" y="98"/>
                    <a:pt x="24" y="94"/>
                    <a:pt x="15" y="84"/>
                  </a:cubicBezTo>
                  <a:cubicBezTo>
                    <a:pt x="5" y="74"/>
                    <a:pt x="0" y="63"/>
                    <a:pt x="0" y="49"/>
                  </a:cubicBezTo>
                  <a:cubicBezTo>
                    <a:pt x="0" y="35"/>
                    <a:pt x="5" y="24"/>
                    <a:pt x="15" y="14"/>
                  </a:cubicBezTo>
                  <a:cubicBezTo>
                    <a:pt x="24" y="4"/>
                    <a:pt x="36" y="0"/>
                    <a:pt x="50" y="0"/>
                  </a:cubicBezTo>
                  <a:cubicBezTo>
                    <a:pt x="63" y="0"/>
                    <a:pt x="75" y="4"/>
                    <a:pt x="85" y="14"/>
                  </a:cubicBezTo>
                  <a:cubicBezTo>
                    <a:pt x="94" y="24"/>
                    <a:pt x="99" y="35"/>
                    <a:pt x="99" y="49"/>
                  </a:cubicBezTo>
                  <a:cubicBezTo>
                    <a:pt x="99" y="63"/>
                    <a:pt x="94" y="74"/>
                    <a:pt x="85" y="84"/>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sp>
        <p:nvSpPr>
          <p:cNvPr id="11" name="Google Shape;11;n"/>
          <p:cNvSpPr txBox="1"/>
          <p:nvPr>
            <p:ph idx="11" type="ftr"/>
          </p:nvPr>
        </p:nvSpPr>
        <p:spPr>
          <a:xfrm>
            <a:off x="457200" y="9514580"/>
            <a:ext cx="2971800" cy="107722"/>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sz="700">
                <a:solidFill>
                  <a:schemeClr val="lt2"/>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3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www.discoverfinancial.com/" TargetMode="External"/></Relationship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PRODUCT MANAGEMENT USE CASES — PORTFOLIO DASHBOARD:</a:t>
            </a:r>
            <a:br/>
            <a:r>
              <a:t>15 use cases organized by product lifecycle stage: Development, Introduction, Pricing &amp; Promotion, Performance.</a:t>
            </a:r>
            <a:br/>
            <a:r>
              <a:t>Priority matrix based on Pakistan market impact and implementation readiness.</a:t>
            </a:r>
            <a:br/>
            <a:r>
              <a:t>Critical use cases: Card Spend Stimulation, Risk Scoring Improvement, New-to-Lending Credit Models.</a:t>
            </a:r>
            <a:br/>
            <a:r>
              <a:t>Cross-reference: File 10 (Product Management capabilities), File 06 (CIM use cases), File 08-09 (Profitability).</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PAKISTAN PRODUCT USE CASE PRIORITIES:</a:t>
            </a:r>
            <a:br/>
            <a:r>
              <a:t>Top 5 use cases with highest Pakistan market impact, with specific data sources and expected outcomes.</a:t>
            </a:r>
            <a:br/>
            <a:r>
              <a:t>Key insight: Pakistan's large unbanked population (100M+) and low card POS activation (&lt;30%) represent massive untapped opportunities.</a:t>
            </a:r>
            <a:br/>
            <a:r>
              <a:t>FSDM provides the integrated data foundation required for all 15 use cases.</a:t>
            </a:r>
            <a:br/>
            <a:r>
              <a:t>SBP financial inclusion mandate creates regulatory tailwind for New-to-Lending and digital product use cases.</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IMPLEMENTATION ROADMAP:</a:t>
            </a:r>
            <a:br/>
            <a:r>
              <a:t>3-phase approach: Quick Wins (0-6 months), Product Intelligence (6-18 months), Advanced Analytics (18-36 months).</a:t>
            </a:r>
            <a:br/>
            <a:r>
              <a:t>Phase 1 focuses on 5 highest-impact use cases with existing data: card spend, risk scoring, new-to-lending, competitor analysis, omni-channel.</a:t>
            </a:r>
            <a:br/>
            <a:r>
              <a:t>Total investment: PKR 200-400M over 3 years. Expected return: PKR 10-20B annually.</a:t>
            </a:r>
            <a:br/>
            <a:r>
              <a:t>Dependencies: FSDM data integration (Phase 1), advanced analytics platform (Phase 2), graph analytics (Phase 3).</a:t>
            </a:r>
          </a:p>
        </p:txBody>
      </p:sp>
    </p:spTree>
  </p:cSld>
  <p:clrMapOvr>
    <a:masterClrMapping/>
  </p:clrMapOvr>
</p:notes>
</file>

<file path=ppt/notesSlides/notesSlide3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4" name="Shape 7084"/>
        <p:cNvGrpSpPr/>
        <p:nvPr/>
      </p:nvGrpSpPr>
      <p:grpSpPr>
        <a:xfrm>
          <a:off x="0" y="0"/>
          <a:ext cx="0" cy="0"/>
          <a:chOff x="0" y="0"/>
          <a:chExt cx="0" cy="0"/>
        </a:xfrm>
      </p:grpSpPr>
      <p:sp>
        <p:nvSpPr>
          <p:cNvPr id="7085" name="Google Shape;7085;p373:notes"/>
          <p:cNvSpPr txBox="1"/>
          <p:nvPr>
            <p:ph idx="1" type="body"/>
          </p:nvPr>
        </p:nvSpPr>
        <p:spPr>
          <a:xfrm>
            <a:off x="685800" y="4724202"/>
            <a:ext cx="5486400" cy="4475560"/>
          </a:xfrm>
          <a:prstGeom prst="rect">
            <a:avLst/>
          </a:prstGeom>
        </p:spPr>
        <p:txBody>
          <a:bodyPr anchorCtr="0" anchor="t" bIns="45700" lIns="91425" spcFirstLastPara="1" rIns="91425" wrap="square" tIns="45700">
            <a:noAutofit/>
          </a:bodyPr>
          <a:lstStyle/>
          <a:p>
            <a:pPr indent="0" lvl="0" marL="0" rtl="0" algn="l">
              <a:spcBef>
                <a:spcPts val="400"/>
              </a:spcBef>
              <a:spcAft>
                <a:spcPts val="0"/>
              </a:spcAft>
              <a:buNone/>
            </a:pPr>
            <a:r>
              <a:t>Product Management Use Cases — 15 analytical use cases for banking product lifecycle management.</a:t>
            </a:r>
            <a:br/>
            <a:r>
              <a:t>Covers: Product Development (7 use cases), Product Introduction (1), Pricing &amp; Promotion (3), Product Performance (3).</a:t>
            </a:r>
            <a:br/>
            <a:r>
              <a:t>Pakistan Focus: Card spend stimulation, risk scoring improvement, new-to-lending credit models, digital product testing.</a:t>
            </a:r>
            <a:br/>
            <a:r>
              <a:t>BVF Reference: File 10 (Product Management capability detail + maturity), File 06 (CIM use cases — related), File 08-09 (Profitability — pricing)</a:t>
            </a:r>
            <a:endParaRPr/>
          </a:p>
        </p:txBody>
      </p:sp>
      <p:sp>
        <p:nvSpPr>
          <p:cNvPr id="7086" name="Google Shape;7086;p373: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1" name="Shape 7091"/>
        <p:cNvGrpSpPr/>
        <p:nvPr/>
      </p:nvGrpSpPr>
      <p:grpSpPr>
        <a:xfrm>
          <a:off x="0" y="0"/>
          <a:ext cx="0" cy="0"/>
          <a:chOff x="0" y="0"/>
          <a:chExt cx="0" cy="0"/>
        </a:xfrm>
      </p:grpSpPr>
      <p:sp>
        <p:nvSpPr>
          <p:cNvPr id="7092" name="Google Shape;7092;p374: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entury Gothic"/>
                <a:ea typeface="Century Gothic"/>
                <a:cs typeface="Century Gothic"/>
                <a:sym typeface="Century Gothic"/>
              </a:rPr>
              <a:t>‹#›</a:t>
            </a:fld>
            <a:endParaRPr sz="1800">
              <a:solidFill>
                <a:srgbClr val="000000"/>
              </a:solidFill>
              <a:latin typeface="Century Gothic"/>
              <a:ea typeface="Century Gothic"/>
              <a:cs typeface="Century Gothic"/>
              <a:sym typeface="Century Gothic"/>
            </a:endParaRPr>
          </a:p>
        </p:txBody>
      </p:sp>
      <p:sp>
        <p:nvSpPr>
          <p:cNvPr id="7093" name="Google Shape;7093;p374: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7094" name="Google Shape;7094;p374: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t>PAKISTAN PRODUCT DEVELOPMENT PRIORITIES:</a:t>
            </a:r>
            <a:br/>
            <a:r>
              <a:t>1. DIGITAL-FIRST: Account opening via selfie + CNIC, instant nano-lending (PKR 5K-50K), QR merchant payments</a:t>
            </a:r>
            <a:br/>
            <a:r>
              <a:t>2. ISLAMIC VARIANTS: Every conventional product needs Islamic equivalent — many gaps exist</a:t>
            </a:r>
            <a:br/>
            <a:r>
              <a:t>3. FINANCIAL INCLUSION: SBP mandate for Basic Banking Account, Asaan Mobile Account, agent banking products</a:t>
            </a:r>
            <a:br/>
            <a:r>
              <a:t>4. ROSHAN DIGITAL: Extensions for overseas Pakistanis (Naya Pakistan Certificate, stock market access, home finance)</a:t>
            </a:r>
            <a:br/>
            <a:r>
              <a:t>5. SME PRODUCTS: Digital onboarding, supply chain finance, invoice discounting</a:t>
            </a:r>
            <a:br/>
            <a:r>
              <a:t>6. GREEN BANKING: SBP green taxonomy products — green loans, green deposits</a:t>
            </a:r>
            <a:br/>
            <a:br/>
            <a:r>
              <a:t>FSDM: PRDCT (Product), PRDCT_FTRE (Product Feature), PRDCT_DSGN (Product Design), MKT_ND (Market Need), CSTMR_SGMNT (Customer Segment)</a:t>
            </a:r>
            <a:br/>
            <a:r>
              <a:t>BVF Capability: Product Development &gt; Research New Product Opportunities (File 10, Slides 21-22)</a:t>
            </a:r>
            <a:endParaRPr/>
          </a:p>
        </p:txBody>
      </p:sp>
    </p:spTree>
  </p:cSld>
  <p:clrMapOvr>
    <a:masterClrMapping/>
  </p:clrMapOvr>
</p:notes>
</file>

<file path=ppt/notesSlides/notesSlide3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1" name="Shape 7111"/>
        <p:cNvGrpSpPr/>
        <p:nvPr/>
      </p:nvGrpSpPr>
      <p:grpSpPr>
        <a:xfrm>
          <a:off x="0" y="0"/>
          <a:ext cx="0" cy="0"/>
          <a:chOff x="0" y="0"/>
          <a:chExt cx="0" cy="0"/>
        </a:xfrm>
      </p:grpSpPr>
      <p:sp>
        <p:nvSpPr>
          <p:cNvPr id="7112" name="Google Shape;7112;p375: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7113" name="Google Shape;7113;p375: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7114" name="Google Shape;7114;p375: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t>PAKISTAN CONTEXT:</a:t>
            </a:r>
            <a:br/>
            <a:r>
              <a:t>RM effectiveness varies enormously in Pakistan banks:</a:t>
            </a:r>
            <a:br/>
            <a:r>
              <a:t>- Top 10% of RMs generate 3-5x products/customer vs. average</a:t>
            </a:r>
            <a:br/>
            <a:r>
              <a:t>- Graph analysis can reveal: which product sequencing works, which RM behaviors drive adoption, which branch configurations produce best results</a:t>
            </a:r>
            <a:br/>
            <a:r>
              <a:t>- Challenge: RM data (assignments, interactions) often not captured systematically in core banking systems — FSDM can integrate CRM + core banking + call center data</a:t>
            </a:r>
            <a:br/>
            <a:br/>
            <a:r>
              <a:t>FSDM: IP_RLTNP (Inter-Party Relationship), CSTMR_PRDCT (Customer-Product), RM_ALLCTN (RM Allocation), GRP_ANLYS (Graph Analysis)</a:t>
            </a:r>
            <a:endParaRPr/>
          </a:p>
        </p:txBody>
      </p:sp>
    </p:spTree>
  </p:cSld>
  <p:clrMapOvr>
    <a:masterClrMapping/>
  </p:clrMapOvr>
</p:notes>
</file>

<file path=ppt/notesSlides/notesSlide3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1" name="Shape 7131"/>
        <p:cNvGrpSpPr/>
        <p:nvPr/>
      </p:nvGrpSpPr>
      <p:grpSpPr>
        <a:xfrm>
          <a:off x="0" y="0"/>
          <a:ext cx="0" cy="0"/>
          <a:chOff x="0" y="0"/>
          <a:chExt cx="0" cy="0"/>
        </a:xfrm>
      </p:grpSpPr>
      <p:sp>
        <p:nvSpPr>
          <p:cNvPr id="7132" name="Google Shape;7132;p376: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7133" name="Google Shape;7133;p376: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7134" name="Google Shape;7134;p376: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t>PAKISTAN MERCHANT ACQUIRING:</a:t>
            </a:r>
            <a:br/>
            <a:r>
              <a:t>Pakistan POS landscape:</a:t>
            </a:r>
            <a:br/>
            <a:r>
              <a:t>- 100,000+ POS terminals (growing rapidly with SBP push for digital payments)</a:t>
            </a:r>
            <a:br/>
            <a:r>
              <a:t>- Major acquirers: HBL, MCB, UBL, Allied, Bank Alfalah</a:t>
            </a:r>
            <a:br/>
            <a:r>
              <a:t>- Visa/Mastercard interchange: 1.5-2.5% — bank earns acquiring share</a:t>
            </a:r>
            <a:br/>
            <a:r>
              <a:t>- Opportunity: Sell anonymized, aggregated spending insights to merchants (like Visa Analytics, MC SpendingPulse)</a:t>
            </a:r>
            <a:br/>
            <a:r>
              <a:t>- Example: 'Your restaurant average ticket is PKR 2,500, 30% below area average — opportunity to upsell'</a:t>
            </a:r>
            <a:br/>
            <a:br/>
            <a:r>
              <a:t>FSDM: MRCHNT (Merchant), MRCHNT_TXN (Merchant Transaction), MCC (Merchant Category Code), INTRCHNG (Interchange), POS_TRML (POS Terminal)</a:t>
            </a:r>
            <a:endParaRPr/>
          </a:p>
        </p:txBody>
      </p:sp>
    </p:spTree>
  </p:cSld>
  <p:clrMapOvr>
    <a:masterClrMapping/>
  </p:clrMapOvr>
</p:notes>
</file>

<file path=ppt/notesSlides/notesSlide3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1" name="Shape 7151"/>
        <p:cNvGrpSpPr/>
        <p:nvPr/>
      </p:nvGrpSpPr>
      <p:grpSpPr>
        <a:xfrm>
          <a:off x="0" y="0"/>
          <a:ext cx="0" cy="0"/>
          <a:chOff x="0" y="0"/>
          <a:chExt cx="0" cy="0"/>
        </a:xfrm>
      </p:grpSpPr>
      <p:sp>
        <p:nvSpPr>
          <p:cNvPr id="7152" name="Google Shape;7152;p377:notes"/>
          <p:cNvSpPr txBox="1"/>
          <p:nvPr>
            <p:ph idx="12" type="sldNum"/>
          </p:nvPr>
        </p:nvSpPr>
        <p:spPr>
          <a:xfrm>
            <a:off x="3885011" y="9446102"/>
            <a:ext cx="2971800" cy="497284"/>
          </a:xfrm>
          <a:prstGeom prst="rect">
            <a:avLst/>
          </a:prstGeom>
          <a:noFill/>
          <a:ln>
            <a:noFill/>
          </a:ln>
        </p:spPr>
        <p:txBody>
          <a:bodyPr anchorCtr="0" anchor="t" bIns="44375" lIns="88750" spcFirstLastPara="1" rIns="88750" wrap="square" tIns="44375">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7153" name="Google Shape;7153;p377: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7154" name="Google Shape;7154;p377: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t>PAKISTAN CARD SPEND:</a:t>
            </a:r>
            <a:br/>
            <a:r>
              <a:t>The card spend opportunity in Pakistan is massive:</a:t>
            </a:r>
            <a:br/>
            <a:r>
              <a:t>- 30M+ debit cards issued, but &gt;70% used ONLY for ATM cash withdrawal</a:t>
            </a:r>
            <a:br/>
            <a:r>
              <a:t>- Credit card base ~3M with ~60% active — low by global standards</a:t>
            </a:r>
            <a:br/>
            <a:r>
              <a:t>- Cash-on-delivery still dominates e-commerce (70%+)</a:t>
            </a:r>
            <a:br/>
            <a:r>
              <a:t>- SBP pushing digital payments: RAAST QR, POS incentives</a:t>
            </a:r>
            <a:br/>
            <a:br/>
            <a:r>
              <a:t>Stimulation strategies:</a:t>
            </a:r>
            <a:br/>
            <a:r>
              <a:t>1. Cashback on first POS transaction (activate dormant cards)</a:t>
            </a:r>
            <a:br/>
            <a:r>
              <a:t>2. Merchant-specific offers based on spending patterns (collaborative filtering)</a:t>
            </a:r>
            <a:br/>
            <a:r>
              <a:t>3. Salary-day spend stimulation (within 48 hours of salary credit)</a:t>
            </a:r>
            <a:br/>
            <a:r>
              <a:t>4. Category spend challenges (spend PKR 10K at restaurants → get PKR 500 cashback)</a:t>
            </a:r>
            <a:br/>
            <a:r>
              <a:t>5. EMI conversion offers (convert large purchases to installments — increases revolving revenue)</a:t>
            </a:r>
            <a:br/>
            <a:br/>
            <a:r>
              <a:t>Data requirements: Full card transaction history, merchant data, customer demographics, salary patterns.</a:t>
            </a:r>
            <a:br/>
            <a:br/>
            <a:r>
              <a:t>FSDM: CRD (Card), CRD_TXN (Card Transaction), POS_TXN (POS Transaction), ATM_TXN (ATM Transaction), MRCHNT_OFFR (Merchant Offer), INTRCHNG (Interchange)</a:t>
            </a:r>
            <a:endParaRPr/>
          </a:p>
        </p:txBody>
      </p:sp>
    </p:spTree>
  </p:cSld>
  <p:clrMapOvr>
    <a:masterClrMapping/>
  </p:clrMapOvr>
</p:notes>
</file>

<file path=ppt/notesSlides/notesSlide3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1" name="Shape 7171"/>
        <p:cNvGrpSpPr/>
        <p:nvPr/>
      </p:nvGrpSpPr>
      <p:grpSpPr>
        <a:xfrm>
          <a:off x="0" y="0"/>
          <a:ext cx="0" cy="0"/>
          <a:chOff x="0" y="0"/>
          <a:chExt cx="0" cy="0"/>
        </a:xfrm>
      </p:grpSpPr>
      <p:sp>
        <p:nvSpPr>
          <p:cNvPr id="7172" name="Google Shape;7172;p378:notes"/>
          <p:cNvSpPr txBox="1"/>
          <p:nvPr>
            <p:ph idx="12" type="sldNum"/>
          </p:nvPr>
        </p:nvSpPr>
        <p:spPr>
          <a:xfrm>
            <a:off x="3885011" y="9446102"/>
            <a:ext cx="2971800" cy="497284"/>
          </a:xfrm>
          <a:prstGeom prst="rect">
            <a:avLst/>
          </a:prstGeom>
          <a:noFill/>
          <a:ln>
            <a:noFill/>
          </a:ln>
        </p:spPr>
        <p:txBody>
          <a:bodyPr anchorCtr="0" anchor="t" bIns="44375" lIns="88750" spcFirstLastPara="1" rIns="88750" wrap="square" tIns="44375">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7173" name="Google Shape;7173;p378: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7174" name="Google Shape;7174;p378: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t>PAKISTAN MERCHANT RECOMMENDATION:</a:t>
            </a:r>
            <a:br/>
            <a:r>
              <a:t>Opportunity: Pakistan mobile app downloads growing 30%+ YoY — push notifications for merchant offers are a viable channel.</a:t>
            </a:r>
            <a:br/>
            <a:r>
              <a:t>Current state: Most banks send generic merchant offers to all card customers. No personalization.</a:t>
            </a:r>
            <a:br/>
            <a:r>
              <a:t>Target: Use collaborative filtering on card transaction data to recommend merchants each customer is likely to visit.</a:t>
            </a:r>
            <a:br/>
            <a:r>
              <a:t>Key challenge: Merchant data quality — POS terminals often mapped to generic MCCs, not specific merchant names.</a:t>
            </a:r>
            <a:br/>
            <a:br/>
            <a:r>
              <a:t>FSDM: CRD_TXN (Card Transaction), MRCHNT (Merchant), MCC (Merchant Category Code), CSTMR_PREF (Customer Preference)</a:t>
            </a:r>
            <a:endParaRPr/>
          </a:p>
        </p:txBody>
      </p:sp>
    </p:spTree>
  </p:cSld>
  <p:clrMapOvr>
    <a:masterClrMapping/>
  </p:clrMapOvr>
</p:notes>
</file>

<file path=ppt/notesSlides/notesSlide3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1" name="Shape 7191"/>
        <p:cNvGrpSpPr/>
        <p:nvPr/>
      </p:nvGrpSpPr>
      <p:grpSpPr>
        <a:xfrm>
          <a:off x="0" y="0"/>
          <a:ext cx="0" cy="0"/>
          <a:chOff x="0" y="0"/>
          <a:chExt cx="0" cy="0"/>
        </a:xfrm>
      </p:grpSpPr>
      <p:sp>
        <p:nvSpPr>
          <p:cNvPr id="7192" name="Google Shape;7192;p379:notes"/>
          <p:cNvSpPr txBox="1"/>
          <p:nvPr>
            <p:ph idx="12" type="sldNum"/>
          </p:nvPr>
        </p:nvSpPr>
        <p:spPr>
          <a:xfrm>
            <a:off x="3885011" y="9446102"/>
            <a:ext cx="2971800" cy="497284"/>
          </a:xfrm>
          <a:prstGeom prst="rect">
            <a:avLst/>
          </a:prstGeom>
          <a:noFill/>
          <a:ln>
            <a:noFill/>
          </a:ln>
        </p:spPr>
        <p:txBody>
          <a:bodyPr anchorCtr="0" anchor="t" bIns="44375" lIns="88750" spcFirstLastPara="1" rIns="88750" wrap="square" tIns="44375">
            <a:noAutofit/>
          </a:bodyPr>
          <a:lstStyle/>
          <a:p>
            <a:pPr indent="0" lvl="0" marL="0" marR="0" rtl="0" algn="l">
              <a:spcBef>
                <a:spcPts val="0"/>
              </a:spcBef>
              <a:spcAft>
                <a:spcPts val="0"/>
              </a:spcAft>
              <a:buNone/>
            </a:pPr>
            <a:fld id="{00000000-1234-1234-1234-123412341234}" type="slidenum">
              <a:rPr lang="en-GB" sz="1800">
                <a:solidFill>
                  <a:srgbClr val="000000"/>
                </a:solidFill>
                <a:latin typeface="Century Gothic"/>
                <a:ea typeface="Century Gothic"/>
                <a:cs typeface="Century Gothic"/>
                <a:sym typeface="Century Gothic"/>
              </a:rPr>
              <a:t>‹#›</a:t>
            </a:fld>
            <a:endParaRPr sz="1800">
              <a:solidFill>
                <a:srgbClr val="000000"/>
              </a:solidFill>
              <a:latin typeface="Century Gothic"/>
              <a:ea typeface="Century Gothic"/>
              <a:cs typeface="Century Gothic"/>
              <a:sym typeface="Century Gothic"/>
            </a:endParaRPr>
          </a:p>
        </p:txBody>
      </p:sp>
      <p:sp>
        <p:nvSpPr>
          <p:cNvPr id="7193" name="Google Shape;7193;p379: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7194" name="Google Shape;7194;p379: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t>PAKISTAN RISK SCORING:</a:t>
            </a:r>
            <a:br/>
            <a:r>
              <a:t>Current state: Most Pakistan banks use ECIB score + basic internal rating.</a:t>
            </a:r>
            <a:br/>
            <a:r>
              <a:t>Challenge: ECIB has limited history for 70%+ of population (new-to-bureau or thin-file).</a:t>
            </a:r>
            <a:br/>
            <a:br/>
            <a:r>
              <a:t>FSDM-enhanced variables that improve scoring:</a:t>
            </a:r>
            <a:br/>
            <a:r>
              <a:t>1. SALARY REGULARITY: Is salary credited consistently? Amount trend up/down?</a:t>
            </a:r>
            <a:br/>
            <a:r>
              <a:t>2. BALANCE BEHAVIOR: Average balance trend, minimum balance, balance volatility</a:t>
            </a:r>
            <a:br/>
            <a:r>
              <a:t>3. TRANSACTION PATTERNS: Regular bill payments (disciplined), frequent ATM withdrawals (cash-dependent)</a:t>
            </a:r>
            <a:br/>
            <a:r>
              <a:t>4. RAAST/IBFT: Outflow pattern — regular payments suggest obligations, erratic suggest instability</a:t>
            </a:r>
            <a:br/>
            <a:r>
              <a:t>5. MERCHANT SPEND: Spend categories reveal lifestyle/income level</a:t>
            </a:r>
            <a:br/>
            <a:r>
              <a:t>6. DIGITAL ENGAGEMENT: App login frequency, bill payment regularity</a:t>
            </a:r>
            <a:br/>
            <a:r>
              <a:t>7. RELATIONSHIP DEPTH: Products held, tenure, cross-sell response history</a:t>
            </a:r>
            <a:br/>
            <a:r>
              <a:t>8. OVERDRAFT BEHAVIOR: Frequency, amount, recovery speed</a:t>
            </a:r>
            <a:br/>
            <a:br/>
            <a:r>
              <a:t>These variables are available in FSDM but NOT in ECIB bureau data — unique competitive advantage for banks with integrated data warehouses.</a:t>
            </a:r>
            <a:br/>
            <a:br/>
            <a:r>
              <a:t>FSDM: RSK_SCR (Risk Score), BHVRL_SCR (Behavioral Score), ECIB_SCR (ECIB Score), PD (Probability of Default), SCRCRD (Scorecard), MDLNG (Modeling)</a:t>
            </a:r>
            <a:br/>
            <a:r>
              <a:t>BVF Reference: File 12-13 Risk Management, File 08-09 Profitability (risk-adjusted pricing)</a:t>
            </a:r>
            <a:endParaRPr/>
          </a:p>
        </p:txBody>
      </p:sp>
    </p:spTree>
  </p:cSld>
  <p:clrMapOvr>
    <a:masterClrMapping/>
  </p:clrMapOvr>
</p:notes>
</file>

<file path=ppt/notesSlides/notesSlide3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1" name="Shape 7211"/>
        <p:cNvGrpSpPr/>
        <p:nvPr/>
      </p:nvGrpSpPr>
      <p:grpSpPr>
        <a:xfrm>
          <a:off x="0" y="0"/>
          <a:ext cx="0" cy="0"/>
          <a:chOff x="0" y="0"/>
          <a:chExt cx="0" cy="0"/>
        </a:xfrm>
      </p:grpSpPr>
      <p:sp>
        <p:nvSpPr>
          <p:cNvPr id="7212" name="Google Shape;7212;p380:notes"/>
          <p:cNvSpPr txBox="1"/>
          <p:nvPr>
            <p:ph idx="12" type="sldNum"/>
          </p:nvPr>
        </p:nvSpPr>
        <p:spPr>
          <a:xfrm>
            <a:off x="3885011" y="9446102"/>
            <a:ext cx="2971800" cy="497284"/>
          </a:xfrm>
          <a:prstGeom prst="rect">
            <a:avLst/>
          </a:prstGeom>
          <a:noFill/>
          <a:ln>
            <a:noFill/>
          </a:ln>
        </p:spPr>
        <p:txBody>
          <a:bodyPr anchorCtr="0" anchor="t" bIns="44375" lIns="88750" spcFirstLastPara="1" rIns="88750" wrap="square" tIns="44375">
            <a:noAutofit/>
          </a:bodyPr>
          <a:lstStyle/>
          <a:p>
            <a:pPr indent="0" lvl="0" marL="0" marR="0" rtl="0" algn="l">
              <a:spcBef>
                <a:spcPts val="0"/>
              </a:spcBef>
              <a:spcAft>
                <a:spcPts val="0"/>
              </a:spcAft>
              <a:buNone/>
            </a:pPr>
            <a:fld id="{00000000-1234-1234-1234-123412341234}" type="slidenum">
              <a:rPr lang="en-GB" sz="1800">
                <a:solidFill>
                  <a:srgbClr val="000000"/>
                </a:solidFill>
                <a:latin typeface="Century Gothic"/>
                <a:ea typeface="Century Gothic"/>
                <a:cs typeface="Century Gothic"/>
                <a:sym typeface="Century Gothic"/>
              </a:rPr>
              <a:t>‹#›</a:t>
            </a:fld>
            <a:endParaRPr sz="1800">
              <a:solidFill>
                <a:srgbClr val="000000"/>
              </a:solidFill>
              <a:latin typeface="Century Gothic"/>
              <a:ea typeface="Century Gothic"/>
              <a:cs typeface="Century Gothic"/>
              <a:sym typeface="Century Gothic"/>
            </a:endParaRPr>
          </a:p>
        </p:txBody>
      </p:sp>
      <p:sp>
        <p:nvSpPr>
          <p:cNvPr id="7213" name="Google Shape;7213;p380: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7214" name="Google Shape;7214;p380: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t>PAKISTAN DIGITAL TESTING:</a:t>
            </a:r>
            <a:br/>
            <a:r>
              <a:t>Pakistan digital banking is in early stages — most bank apps have never been A/B tested.</a:t>
            </a:r>
            <a:br/>
            <a:r>
              <a:t>Opportunity: Low baseline conversion rates mean simple tests can yield 20-50% improvement.</a:t>
            </a:r>
            <a:br/>
            <a:r>
              <a:t>Key test areas: Account opening funnel, loan application flow, deposit rate display, card activation, bill payment UX.</a:t>
            </a:r>
            <a:br/>
            <a:r>
              <a:t>Example: One bank reduced account opening dropoff from 55% to 22% by simplifying the CNIC upload screen.</a:t>
            </a:r>
            <a:br/>
            <a:br/>
            <a:r>
              <a:t>FSDM: DGTL_EVNT (Digital Event), APP_SSSN (App Session), CNVRSN_EVNT (Conversion Event), FNNL_STEP (Funnel Step)</a:t>
            </a:r>
            <a:endParaRPr/>
          </a:p>
        </p:txBody>
      </p:sp>
    </p:spTree>
  </p:cSld>
  <p:clrMapOvr>
    <a:masterClrMapping/>
  </p:clrMapOvr>
</p:notes>
</file>

<file path=ppt/notesSlides/notesSlide3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1" name="Shape 7231"/>
        <p:cNvGrpSpPr/>
        <p:nvPr/>
      </p:nvGrpSpPr>
      <p:grpSpPr>
        <a:xfrm>
          <a:off x="0" y="0"/>
          <a:ext cx="0" cy="0"/>
          <a:chOff x="0" y="0"/>
          <a:chExt cx="0" cy="0"/>
        </a:xfrm>
      </p:grpSpPr>
      <p:sp>
        <p:nvSpPr>
          <p:cNvPr id="7232" name="Google Shape;7232;p381:notes"/>
          <p:cNvSpPr txBox="1"/>
          <p:nvPr>
            <p:ph idx="12" type="sldNum"/>
          </p:nvPr>
        </p:nvSpPr>
        <p:spPr>
          <a:xfrm>
            <a:off x="3885011" y="9446102"/>
            <a:ext cx="2971800" cy="497284"/>
          </a:xfrm>
          <a:prstGeom prst="rect">
            <a:avLst/>
          </a:prstGeom>
          <a:noFill/>
          <a:ln>
            <a:noFill/>
          </a:ln>
        </p:spPr>
        <p:txBody>
          <a:bodyPr anchorCtr="0" anchor="t" bIns="44375" lIns="88750" spcFirstLastPara="1" rIns="88750" wrap="square" tIns="44375">
            <a:noAutofit/>
          </a:bodyPr>
          <a:lstStyle/>
          <a:p>
            <a:pPr indent="0" lvl="0" marL="0" marR="0" rtl="0" algn="l">
              <a:spcBef>
                <a:spcPts val="0"/>
              </a:spcBef>
              <a:spcAft>
                <a:spcPts val="0"/>
              </a:spcAft>
              <a:buNone/>
            </a:pPr>
            <a:fld id="{00000000-1234-1234-1234-123412341234}" type="slidenum">
              <a:rPr lang="en-GB" sz="1800">
                <a:solidFill>
                  <a:srgbClr val="000000"/>
                </a:solidFill>
                <a:latin typeface="Century Gothic"/>
                <a:ea typeface="Century Gothic"/>
                <a:cs typeface="Century Gothic"/>
                <a:sym typeface="Century Gothic"/>
              </a:rPr>
              <a:t>‹#›</a:t>
            </a:fld>
            <a:endParaRPr sz="1800">
              <a:solidFill>
                <a:srgbClr val="000000"/>
              </a:solidFill>
              <a:latin typeface="Century Gothic"/>
              <a:ea typeface="Century Gothic"/>
              <a:cs typeface="Century Gothic"/>
              <a:sym typeface="Century Gothic"/>
            </a:endParaRPr>
          </a:p>
        </p:txBody>
      </p:sp>
      <p:sp>
        <p:nvSpPr>
          <p:cNvPr id="7233" name="Google Shape;7233;p381: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7234" name="Google Shape;7234;p381: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t>PAKISTAN DIGITAL TESTING (continued):</a:t>
            </a:r>
            <a:br/>
            <a:r>
              <a:t>Analytics approach: Session-level path analysis on mobile app and internet banking events.</a:t>
            </a:r>
            <a:br/>
            <a:r>
              <a:t>Key metrics: Conversion rate per funnel step, session duration, error rates, A/B test lift.</a:t>
            </a:r>
            <a:br/>
            <a:r>
              <a:t>Pakistan-specific: Test Urdu vs. English UI, test CNIC photo vs. manual entry, test biometric vs. PIN verification.</a:t>
            </a:r>
            <a:br/>
            <a:br/>
            <a:r>
              <a:t>FSDM: DGTL_EVNT (Digital Event), A_B_TEST (A/B Test), TST_VRNT (Test Variant), CNVRSN_RT (Conversion Rate)</a:t>
            </a:r>
            <a:endParaRPr/>
          </a:p>
        </p:txBody>
      </p:sp>
    </p:spTree>
  </p:cSld>
  <p:clrMapOvr>
    <a:masterClrMapping/>
  </p:clrMapOvr>
</p:notes>
</file>

<file path=ppt/notesSlides/notesSlide3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5" name="Shape 7245"/>
        <p:cNvGrpSpPr/>
        <p:nvPr/>
      </p:nvGrpSpPr>
      <p:grpSpPr>
        <a:xfrm>
          <a:off x="0" y="0"/>
          <a:ext cx="0" cy="0"/>
          <a:chOff x="0" y="0"/>
          <a:chExt cx="0" cy="0"/>
        </a:xfrm>
      </p:grpSpPr>
      <p:sp>
        <p:nvSpPr>
          <p:cNvPr id="7246" name="Google Shape;7246;p382: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7247" name="Google Shape;7247;p382: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7248" name="Google Shape;7248;p382: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t>PAKISTAN COMPETITIVE LANDSCAPE:</a:t>
            </a:r>
            <a:br/>
            <a:r>
              <a:t>Direct competitors: HBL, MCB, UBL, Allied, Bank Alfalah, Meezan (Islamic), Bank Islami</a:t>
            </a:r>
            <a:br/>
            <a:r>
              <a:t>Fintech disruptors: JazzCash (50M+ users), Easypaisa (40M+), SadaPay, NayaPay, TAG</a:t>
            </a:r>
            <a:br/>
            <a:r>
              <a:t>International: Standard Chartered, Citibank (exited retail)</a:t>
            </a:r>
            <a:br/>
            <a:br/>
            <a:r>
              <a:t>Key competitive dimensions:</a:t>
            </a:r>
            <a:br/>
            <a:r>
              <a:t>1. DEPOSIT RATES: Savings rate, FD rates by tenor — published by SBP</a:t>
            </a:r>
            <a:br/>
            <a:r>
              <a:t>2. LENDING RATES: Personal loan markup, home finance rate, credit card rate</a:t>
            </a:r>
            <a:br/>
            <a:r>
              <a:t>3. DIGITAL EXPERIENCE: App rating (Google Play), feature set, onboarding speed</a:t>
            </a:r>
            <a:br/>
            <a:r>
              <a:t>4. BRANCH NETWORK: Coverage, quality, operating hours</a:t>
            </a:r>
            <a:br/>
            <a:r>
              <a:t>5. ISLAMIC PRODUCTS: Range, Shariah compliance reputation</a:t>
            </a:r>
            <a:br/>
            <a:r>
              <a:t>6. CUSTOMER SERVICE: NPS, complaint resolution (SBP publishes complaint data)</a:t>
            </a:r>
            <a:br/>
            <a:br/>
            <a:r>
              <a:t>FSDM: CMPTTR (Competitor), CMPTTR_PRDCT (Competitor Product), MKT_SHR (Market Share), BNCHMRK (Benchmark)</a:t>
            </a:r>
            <a:endParaRPr/>
          </a:p>
        </p:txBody>
      </p:sp>
    </p:spTree>
  </p:cSld>
  <p:clrMapOvr>
    <a:masterClrMapping/>
  </p:clrMapOvr>
</p:notes>
</file>

<file path=ppt/notesSlides/notesSlide3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5" name="Shape 7265"/>
        <p:cNvGrpSpPr/>
        <p:nvPr/>
      </p:nvGrpSpPr>
      <p:grpSpPr>
        <a:xfrm>
          <a:off x="0" y="0"/>
          <a:ext cx="0" cy="0"/>
          <a:chOff x="0" y="0"/>
          <a:chExt cx="0" cy="0"/>
        </a:xfrm>
      </p:grpSpPr>
      <p:sp>
        <p:nvSpPr>
          <p:cNvPr id="7266" name="Google Shape;7266;p383:notes"/>
          <p:cNvSpPr txBox="1"/>
          <p:nvPr>
            <p:ph idx="12" type="sldNum"/>
          </p:nvPr>
        </p:nvSpPr>
        <p:spPr>
          <a:xfrm>
            <a:off x="3885011" y="9446102"/>
            <a:ext cx="2971800" cy="497284"/>
          </a:xfrm>
          <a:prstGeom prst="rect">
            <a:avLst/>
          </a:prstGeom>
          <a:noFill/>
          <a:ln>
            <a:noFill/>
          </a:ln>
        </p:spPr>
        <p:txBody>
          <a:bodyPr anchorCtr="0" anchor="t" bIns="44375" lIns="88750" spcFirstLastPara="1" rIns="88750" wrap="square" tIns="44375">
            <a:noAutofit/>
          </a:bodyPr>
          <a:lstStyle/>
          <a:p>
            <a:pPr indent="0" lvl="0" marL="0" marR="0" rtl="0" algn="l">
              <a:spcBef>
                <a:spcPts val="0"/>
              </a:spcBef>
              <a:spcAft>
                <a:spcPts val="0"/>
              </a:spcAft>
              <a:buNone/>
            </a:pPr>
            <a:fld id="{00000000-1234-1234-1234-123412341234}" type="slidenum">
              <a:rPr lang="en-GB" sz="1800">
                <a:solidFill>
                  <a:srgbClr val="000000"/>
                </a:solidFill>
                <a:latin typeface="Century Gothic"/>
                <a:ea typeface="Century Gothic"/>
                <a:cs typeface="Century Gothic"/>
                <a:sym typeface="Century Gothic"/>
              </a:rPr>
              <a:t>‹#›</a:t>
            </a:fld>
            <a:endParaRPr sz="1800">
              <a:solidFill>
                <a:srgbClr val="000000"/>
              </a:solidFill>
              <a:latin typeface="Century Gothic"/>
              <a:ea typeface="Century Gothic"/>
              <a:cs typeface="Century Gothic"/>
              <a:sym typeface="Century Gothic"/>
            </a:endParaRPr>
          </a:p>
        </p:txBody>
      </p:sp>
      <p:sp>
        <p:nvSpPr>
          <p:cNvPr id="7267" name="Google Shape;7267;p383: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7268" name="Google Shape;7268;p383: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t>PAKISTAN RISK-BASED PRICING:</a:t>
            </a:r>
            <a:br/>
            <a:r>
              <a:t>Currently: Most Pakistan banks price lending as KIBOR + flat spread by segment. A corporate customer with AA rating pays similar rate to BBB customer in same segment.</a:t>
            </a:r>
            <a:br/>
            <a:br/>
            <a:r>
              <a:t>Target: Granular risk-based pricing where:</a:t>
            </a:r>
            <a:br/>
            <a:r>
              <a:t>- Rate = Cost of Funds (FTP) + Operating Cost (ABC) + Expected Loss (PD x LGD) + Capital Charge + Target Margin</a:t>
            </a:r>
            <a:br/>
            <a:r>
              <a:t>- Each component calculated per individual customer</a:t>
            </a:r>
            <a:br/>
            <a:r>
              <a:t>- Result: Low-risk customers get competitive rates (retain against competitors), high-risk customers are priced for risk (or declined)</a:t>
            </a:r>
            <a:br/>
            <a:br/>
            <a:r>
              <a:t>Impact: 20-50bps NIM improvement, reduced adverse selection, better risk-adjusted returns.</a:t>
            </a:r>
            <a:br/>
            <a:br/>
            <a:r>
              <a:t>FSDM: RSK_PRCNG (Risk-Based Pricing), PD (PD), LGD (LGD), EAD (EAD), RSK_PREMM (Risk Premium), FTP_RT (FTP Rate)</a:t>
            </a:r>
            <a:endParaRPr/>
          </a:p>
        </p:txBody>
      </p:sp>
    </p:spTree>
  </p:cSld>
  <p:clrMapOvr>
    <a:masterClrMapping/>
  </p:clrMapOvr>
</p:notes>
</file>

<file path=ppt/notesSlides/notesSlide3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5" name="Shape 7285"/>
        <p:cNvGrpSpPr/>
        <p:nvPr/>
      </p:nvGrpSpPr>
      <p:grpSpPr>
        <a:xfrm>
          <a:off x="0" y="0"/>
          <a:ext cx="0" cy="0"/>
          <a:chOff x="0" y="0"/>
          <a:chExt cx="0" cy="0"/>
        </a:xfrm>
      </p:grpSpPr>
      <p:sp>
        <p:nvSpPr>
          <p:cNvPr id="7286" name="Google Shape;7286;p384:notes"/>
          <p:cNvSpPr txBox="1"/>
          <p:nvPr>
            <p:ph idx="12" type="sldNum"/>
          </p:nvPr>
        </p:nvSpPr>
        <p:spPr>
          <a:xfrm>
            <a:off x="3885011" y="9446102"/>
            <a:ext cx="2971800" cy="497284"/>
          </a:xfrm>
          <a:prstGeom prst="rect">
            <a:avLst/>
          </a:prstGeom>
          <a:noFill/>
          <a:ln>
            <a:noFill/>
          </a:ln>
        </p:spPr>
        <p:txBody>
          <a:bodyPr anchorCtr="0" anchor="t" bIns="44375" lIns="88750" spcFirstLastPara="1" rIns="88750" wrap="square" tIns="44375">
            <a:noAutofit/>
          </a:bodyPr>
          <a:lstStyle/>
          <a:p>
            <a:pPr indent="0" lvl="0" marL="0" marR="0" rtl="0" algn="l">
              <a:spcBef>
                <a:spcPts val="0"/>
              </a:spcBef>
              <a:spcAft>
                <a:spcPts val="0"/>
              </a:spcAft>
              <a:buNone/>
            </a:pPr>
            <a:fld id="{00000000-1234-1234-1234-123412341234}" type="slidenum">
              <a:rPr lang="en-GB" sz="1800">
                <a:solidFill>
                  <a:srgbClr val="000000"/>
                </a:solidFill>
                <a:latin typeface="Century Gothic"/>
                <a:ea typeface="Century Gothic"/>
                <a:cs typeface="Century Gothic"/>
                <a:sym typeface="Century Gothic"/>
              </a:rPr>
              <a:t>‹#›</a:t>
            </a:fld>
            <a:endParaRPr sz="1800">
              <a:solidFill>
                <a:srgbClr val="000000"/>
              </a:solidFill>
              <a:latin typeface="Century Gothic"/>
              <a:ea typeface="Century Gothic"/>
              <a:cs typeface="Century Gothic"/>
              <a:sym typeface="Century Gothic"/>
            </a:endParaRPr>
          </a:p>
        </p:txBody>
      </p:sp>
      <p:sp>
        <p:nvSpPr>
          <p:cNvPr id="7287" name="Google Shape;7287;p384: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7288" name="Google Shape;7288;p384: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t>PAKISTAN BEHAVIORAL PRICING:</a:t>
            </a:r>
            <a:br/>
            <a:r>
              <a:t>Example applications:</a:t>
            </a:r>
            <a:br/>
            <a:r>
              <a:t>1. SAVINGS RATE: Customers who maintain stable monthly balance get 50bps premium on savings rate</a:t>
            </a:r>
            <a:br/>
            <a:r>
              <a:t>2. LENDING RATE: Customers with 12+ months perfect repayment get 100bps reduction on next loan</a:t>
            </a:r>
            <a:br/>
            <a:r>
              <a:t>3. CARD FEES: Heavy digital spenders get annual fee waiver (lower cost-to-serve justifies it)</a:t>
            </a:r>
            <a:br/>
            <a:r>
              <a:t>4. ACCOUNT FEES: Customers who go fully digital (no branch visits) get zero maintenance fee</a:t>
            </a:r>
            <a:br/>
            <a:r>
              <a:t>5. FD RATES: Customers with 3+ products get loyalty premium on FD rate (retention value justifies cost)</a:t>
            </a:r>
            <a:br/>
            <a:br/>
            <a:r>
              <a:t>Behavioral variables from FSDM:</a:t>
            </a:r>
            <a:br/>
            <a:r>
              <a:t>- Balance stability index (low volatility = lower funding risk = reward)</a:t>
            </a:r>
            <a:br/>
            <a:r>
              <a:t>- Digital transaction ratio (higher digital = lower cost = reward)</a:t>
            </a:r>
            <a:br/>
            <a:r>
              <a:t>- Product breadth score (more products = lower churn risk = reward)</a:t>
            </a:r>
            <a:br/>
            <a:r>
              <a:t>- Payment discipline score (on-time payments = lower credit risk = reward)</a:t>
            </a:r>
            <a:br/>
            <a:r>
              <a:t>- Relationship tenure (longer = more predictable = reward)</a:t>
            </a:r>
            <a:br/>
            <a:br/>
            <a:r>
              <a:t>FSDM: BHVRL_SCR (Behavioral Score), BHVRL_PRCNG (Behavioral Pricing), CSTMR_BHVR (Customer Behavior), PRCNG_TR (Pricing Tier)</a:t>
            </a:r>
            <a:endParaRPr/>
          </a:p>
        </p:txBody>
      </p:sp>
    </p:spTree>
  </p:cSld>
  <p:clrMapOvr>
    <a:masterClrMapping/>
  </p:clrMapOvr>
</p:notes>
</file>

<file path=ppt/notesSlides/notesSlide3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5" name="Shape 7305"/>
        <p:cNvGrpSpPr/>
        <p:nvPr/>
      </p:nvGrpSpPr>
      <p:grpSpPr>
        <a:xfrm>
          <a:off x="0" y="0"/>
          <a:ext cx="0" cy="0"/>
          <a:chOff x="0" y="0"/>
          <a:chExt cx="0" cy="0"/>
        </a:xfrm>
      </p:grpSpPr>
      <p:sp>
        <p:nvSpPr>
          <p:cNvPr id="7306" name="Google Shape;7306;p385:notes"/>
          <p:cNvSpPr txBox="1"/>
          <p:nvPr>
            <p:ph idx="12" type="sldNum"/>
          </p:nvPr>
        </p:nvSpPr>
        <p:spPr>
          <a:xfrm>
            <a:off x="3885011" y="9446102"/>
            <a:ext cx="2971800" cy="497284"/>
          </a:xfrm>
          <a:prstGeom prst="rect">
            <a:avLst/>
          </a:prstGeom>
          <a:noFill/>
          <a:ln>
            <a:noFill/>
          </a:ln>
        </p:spPr>
        <p:txBody>
          <a:bodyPr anchorCtr="0" anchor="t" bIns="44375" lIns="88750" spcFirstLastPara="1" rIns="88750" wrap="square" tIns="44375">
            <a:noAutofit/>
          </a:bodyPr>
          <a:lstStyle/>
          <a:p>
            <a:pPr indent="0" lvl="0" marL="0" marR="0" rtl="0" algn="l">
              <a:spcBef>
                <a:spcPts val="0"/>
              </a:spcBef>
              <a:spcAft>
                <a:spcPts val="0"/>
              </a:spcAft>
              <a:buNone/>
            </a:pPr>
            <a:fld id="{00000000-1234-1234-1234-123412341234}" type="slidenum">
              <a:rPr lang="en-GB" sz="1800">
                <a:solidFill>
                  <a:srgbClr val="000000"/>
                </a:solidFill>
                <a:latin typeface="Century Gothic"/>
                <a:ea typeface="Century Gothic"/>
                <a:cs typeface="Century Gothic"/>
                <a:sym typeface="Century Gothic"/>
              </a:rPr>
              <a:t>‹#›</a:t>
            </a:fld>
            <a:endParaRPr sz="1800">
              <a:solidFill>
                <a:srgbClr val="000000"/>
              </a:solidFill>
              <a:latin typeface="Century Gothic"/>
              <a:ea typeface="Century Gothic"/>
              <a:cs typeface="Century Gothic"/>
              <a:sym typeface="Century Gothic"/>
            </a:endParaRPr>
          </a:p>
        </p:txBody>
      </p:sp>
      <p:sp>
        <p:nvSpPr>
          <p:cNvPr id="7307" name="Google Shape;7307;p385: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08" name="Google Shape;7308;p385: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t>PAKISTAN NEW-TO-LENDING:</a:t>
            </a:r>
            <a:br/>
            <a:r>
              <a:t>This is THE most impactful use case for Pakistan financial inclusion:</a:t>
            </a:r>
            <a:br/>
            <a:br/>
            <a:r>
              <a:t>THE PROBLEM:</a:t>
            </a:r>
            <a:br/>
            <a:r>
              <a:t>- 150M+ adults, only ~60M have bank accounts, only ~20M have credit bureau history</a:t>
            </a:r>
            <a:br/>
            <a:r>
              <a:t>- ECIB data is insufficient to score 80%+ of the population</a:t>
            </a:r>
            <a:br/>
            <a:r>
              <a:t>- Result: Banks lend only to salaried/documented sector (20-30% of workforce)</a:t>
            </a:r>
            <a:br/>
            <a:r>
              <a:t>- 70% informal sector is excluded from formal credit</a:t>
            </a:r>
            <a:br/>
            <a:br/>
            <a:r>
              <a:t>THE SOLUTION:</a:t>
            </a:r>
            <a:br/>
            <a:r>
              <a:t>Alternative data sources available in Pakistan:</a:t>
            </a:r>
            <a:br/>
            <a:r>
              <a:t>1. MOBILE WALLETS: JazzCash (50M+) and Easypaisa (40M+) have transaction histories — payment regularity, balance patterns, peer-to-peer behavior</a:t>
            </a:r>
            <a:br/>
            <a:r>
              <a:t>2. TELECOM: 190M+ mobile connections — top-up patterns, call behavior, data usage correlate with income stability</a:t>
            </a:r>
            <a:br/>
            <a:r>
              <a:t>3. UTILITY PAYMENTS: K-Electric, SSGC, SNGPL, WASA — regular payment = financial discipline</a:t>
            </a:r>
            <a:br/>
            <a:r>
              <a:t>4. RAAST: Growing P2P transaction data — can infer income, spending patterns</a:t>
            </a:r>
            <a:br/>
            <a:r>
              <a:t>5. NADRA: Demographic data (age, location, family size) — can inform risk segmentation</a:t>
            </a:r>
            <a:br/>
            <a:br/>
            <a:r>
              <a:t>MODEL APPROACH:</a:t>
            </a:r>
            <a:br/>
            <a:r>
              <a:t>- Train on existing customers where outcome (default/non-default) is known</a:t>
            </a:r>
            <a:br/>
            <a:r>
              <a:t>- Engineer features from alternative data</a:t>
            </a:r>
            <a:br/>
            <a:r>
              <a:t>- Validate on out-of-sample population</a:t>
            </a:r>
            <a:br/>
            <a:r>
              <a:t>- Deploy with small initial credit limits, expand based on repayment behavior</a:t>
            </a:r>
            <a:br/>
            <a:r>
              <a:t>- Champion/challenger: traditional model vs. alternative data model</a:t>
            </a:r>
            <a:br/>
            <a:br/>
            <a:r>
              <a:t>IMPACT: If even 10% of unbanked adults get access to PKR 50K credit, that's PKR 750B+ in new lending opportunity.</a:t>
            </a:r>
            <a:br/>
            <a:br/>
            <a:r>
              <a:t>FSDM: ALTNTV_DATA (Alternative Data), CRDTH_SCR (Credit Score), MOBL_WLT (Mobile Wallet), UTLTY_PMT (Utility Payment), THNFL (Thin File)</a:t>
            </a:r>
            <a:endParaRPr/>
          </a:p>
        </p:txBody>
      </p:sp>
    </p:spTree>
  </p:cSld>
  <p:clrMapOvr>
    <a:masterClrMapping/>
  </p:clrMapOvr>
</p:notes>
</file>

<file path=ppt/notesSlides/notesSlide3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5" name="Shape 7325"/>
        <p:cNvGrpSpPr/>
        <p:nvPr/>
      </p:nvGrpSpPr>
      <p:grpSpPr>
        <a:xfrm>
          <a:off x="0" y="0"/>
          <a:ext cx="0" cy="0"/>
          <a:chOff x="0" y="0"/>
          <a:chExt cx="0" cy="0"/>
        </a:xfrm>
      </p:grpSpPr>
      <p:sp>
        <p:nvSpPr>
          <p:cNvPr id="7326" name="Google Shape;7326;p386: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entury Gothic"/>
                <a:ea typeface="Century Gothic"/>
                <a:cs typeface="Century Gothic"/>
                <a:sym typeface="Century Gothic"/>
              </a:rPr>
              <a:t>‹#›</a:t>
            </a:fld>
            <a:endParaRPr sz="1800">
              <a:solidFill>
                <a:srgbClr val="000000"/>
              </a:solidFill>
              <a:latin typeface="Century Gothic"/>
              <a:ea typeface="Century Gothic"/>
              <a:cs typeface="Century Gothic"/>
              <a:sym typeface="Century Gothic"/>
            </a:endParaRPr>
          </a:p>
        </p:txBody>
      </p:sp>
      <p:sp>
        <p:nvSpPr>
          <p:cNvPr id="7327" name="Google Shape;7327;p386: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28" name="Google Shape;7328;p386: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t>PAKISTAN OMNI-CHANNEL PRODUCT SALES:</a:t>
            </a:r>
            <a:br/>
            <a:r>
              <a:t>Pakistan banking channels: 16,000+ branches, growing mobile apps, internet banking, call centers, agent banking, ATM/kiosk.</a:t>
            </a:r>
            <a:br/>
            <a:r>
              <a:t>Challenge: Product sales tracked in separate systems per channel — no unified view of which products sell where.</a:t>
            </a:r>
            <a:br/>
            <a:r>
              <a:t>Opportunity: Identify channel-specific conversion rates and optimize product placement by channel.</a:t>
            </a:r>
            <a:br/>
            <a:r>
              <a:t>Example: Savings accounts open 70% in branches, but digital-only accounts could shift 40% to mobile if funnel is optimized.</a:t>
            </a:r>
            <a:br/>
            <a:br/>
            <a:r>
              <a:t>FSDM: CHNL (Channel), PRDCT_ORGN (Product Origination), CHNL_SLS (Channel Sales), BRCH_SLS (Branch Sales)</a:t>
            </a:r>
            <a:endParaRPr/>
          </a:p>
        </p:txBody>
      </p:sp>
    </p:spTree>
  </p:cSld>
  <p:clrMapOvr>
    <a:masterClrMapping/>
  </p:clrMapOvr>
</p:notes>
</file>

<file path=ppt/notesSlides/notesSlide3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5" name="Shape 7345"/>
        <p:cNvGrpSpPr/>
        <p:nvPr/>
      </p:nvGrpSpPr>
      <p:grpSpPr>
        <a:xfrm>
          <a:off x="0" y="0"/>
          <a:ext cx="0" cy="0"/>
          <a:chOff x="0" y="0"/>
          <a:chExt cx="0" cy="0"/>
        </a:xfrm>
      </p:grpSpPr>
      <p:sp>
        <p:nvSpPr>
          <p:cNvPr id="7346" name="Google Shape;7346;p387: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entury Gothic"/>
                <a:ea typeface="Century Gothic"/>
                <a:cs typeface="Century Gothic"/>
                <a:sym typeface="Century Gothic"/>
              </a:rPr>
              <a:t>‹#›</a:t>
            </a:fld>
            <a:endParaRPr sz="1800">
              <a:solidFill>
                <a:srgbClr val="000000"/>
              </a:solidFill>
              <a:latin typeface="Century Gothic"/>
              <a:ea typeface="Century Gothic"/>
              <a:cs typeface="Century Gothic"/>
              <a:sym typeface="Century Gothic"/>
            </a:endParaRPr>
          </a:p>
        </p:txBody>
      </p:sp>
      <p:sp>
        <p:nvSpPr>
          <p:cNvPr id="7347" name="Google Shape;7347;p387: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48" name="Google Shape;7348;p387: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t>PAKISTAN OMNI-CHANNEL (continued):</a:t>
            </a:r>
            <a:br/>
            <a:r>
              <a:t>Analytics approach: Path analysis on customer product journey — which touchpoints lead to conversion?</a:t>
            </a:r>
            <a:br/>
            <a:r>
              <a:t>Key insight: Many Pakistan bank customers research online but transact in branch (ROPO effect).</a:t>
            </a:r>
            <a:br/>
            <a:r>
              <a:t>Agent banking channel growing rapidly — 500,000+ agents — but product range limited to basic transactions.</a:t>
            </a:r>
            <a:br/>
            <a:br/>
            <a:r>
              <a:t>FSDM: CHNL_JRNY (Channel Journey), TUCHPNT (Touchpoint), CNVRSN_EVNT (Conversion Event), AGNT_NTW (Agent Network)</a:t>
            </a:r>
            <a:endParaRPr/>
          </a:p>
        </p:txBody>
      </p:sp>
    </p:spTree>
  </p:cSld>
  <p:clrMapOvr>
    <a:masterClrMapping/>
  </p:clrMapOvr>
</p:notes>
</file>

<file path=ppt/notesSlides/notesSlide3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9" name="Shape 7359"/>
        <p:cNvGrpSpPr/>
        <p:nvPr/>
      </p:nvGrpSpPr>
      <p:grpSpPr>
        <a:xfrm>
          <a:off x="0" y="0"/>
          <a:ext cx="0" cy="0"/>
          <a:chOff x="0" y="0"/>
          <a:chExt cx="0" cy="0"/>
        </a:xfrm>
      </p:grpSpPr>
      <p:sp>
        <p:nvSpPr>
          <p:cNvPr id="7360" name="Google Shape;7360;p388: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entury Gothic"/>
                <a:ea typeface="Century Gothic"/>
                <a:cs typeface="Century Gothic"/>
                <a:sym typeface="Century Gothic"/>
              </a:rPr>
              <a:t>‹#›</a:t>
            </a:fld>
            <a:endParaRPr sz="1800">
              <a:solidFill>
                <a:srgbClr val="000000"/>
              </a:solidFill>
              <a:latin typeface="Century Gothic"/>
              <a:ea typeface="Century Gothic"/>
              <a:cs typeface="Century Gothic"/>
              <a:sym typeface="Century Gothic"/>
            </a:endParaRPr>
          </a:p>
        </p:txBody>
      </p:sp>
      <p:sp>
        <p:nvSpPr>
          <p:cNvPr id="7361" name="Google Shape;7361;p388: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62" name="Google Shape;7362;p388: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t>PAKISTAN WEALTH MANAGEMENT:</a:t>
            </a:r>
            <a:br/>
            <a:r>
              <a:t>National Savings Certificates: PKR 4T+ outstanding — dominant retail investment vehicle.</a:t>
            </a:r>
            <a:br/>
            <a:r>
              <a:t>Mutual fund industry: PKR 1.5T+ AUM under SECP regulation, growing.</a:t>
            </a:r>
            <a:br/>
            <a:r>
              <a:t>Bank wealth management: Early stage — most advisory is basic asset allocation.</a:t>
            </a:r>
            <a:br/>
            <a:r>
              <a:t>Opportunity: Build portfolio comparison tools that benchmark against age/risk-appropriate models.</a:t>
            </a:r>
            <a:br/>
            <a:r>
              <a:t>Challenge: Customer investment data fragmented across bank, NCCPL (stocks), AMCs (mutual funds), National Savings.</a:t>
            </a:r>
            <a:br/>
            <a:br/>
            <a:r>
              <a:t>FSDM: INVSTMNT_HLDNG (Investment Holding), PRTFL (Portfolio), BNCHMRK_PRTFL (Benchmark Portfolio), ADVSRY (Advisory)</a:t>
            </a:r>
            <a:endParaRPr/>
          </a:p>
        </p:txBody>
      </p:sp>
    </p:spTree>
  </p:cSld>
  <p:clrMapOvr>
    <a:masterClrMapping/>
  </p:clrMapOvr>
</p:notes>
</file>

<file path=ppt/notesSlides/notesSlide3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79" name="Shape 7379"/>
        <p:cNvGrpSpPr/>
        <p:nvPr/>
      </p:nvGrpSpPr>
      <p:grpSpPr>
        <a:xfrm>
          <a:off x="0" y="0"/>
          <a:ext cx="0" cy="0"/>
          <a:chOff x="0" y="0"/>
          <a:chExt cx="0" cy="0"/>
        </a:xfrm>
      </p:grpSpPr>
      <p:sp>
        <p:nvSpPr>
          <p:cNvPr id="7380" name="Google Shape;7380;p389: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81" name="Google Shape;7381;p389: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t>PAKISTAN PRODUCT ANALYTICS IMPACT:</a:t>
            </a:r>
            <a:br/>
            <a:r>
              <a:t>These targets represent the combined impact of implementing all 15 product management use cases.</a:t>
            </a:r>
            <a:br/>
            <a:r>
              <a:t>Investment of PKR 200-400M over 3 years yields estimated PKR 10-20B annual return.</a:t>
            </a:r>
            <a:br/>
            <a:r>
              <a:t>Key drivers: Card activation, digital sales, new-to-lending expansion, risk scoring improvement.</a:t>
            </a:r>
            <a:br/>
            <a:r>
              <a:t>Cross-reference: File 10 capability maturity shows current Product Management analytics maturity at Developing level.</a:t>
            </a:r>
            <a:endParaRPr/>
          </a:p>
        </p:txBody>
      </p:sp>
      <p:sp>
        <p:nvSpPr>
          <p:cNvPr id="7382" name="Google Shape;7382;p389:notes"/>
          <p:cNvSpPr txBox="1"/>
          <p:nvPr>
            <p:ph idx="11" type="ftr"/>
          </p:nvPr>
        </p:nvSpPr>
        <p:spPr>
          <a:xfrm>
            <a:off x="457200" y="9514580"/>
            <a:ext cx="2971800" cy="10772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a:t>© 2016 Teradata</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Alternate Title Slide" showMasterSp="0">
  <p:cSld name="1_Alternate Title Slide">
    <p:spTree>
      <p:nvGrpSpPr>
        <p:cNvPr id="20" name="Shape 20"/>
        <p:cNvGrpSpPr/>
        <p:nvPr/>
      </p:nvGrpSpPr>
      <p:grpSpPr>
        <a:xfrm>
          <a:off x="0" y="0"/>
          <a:ext cx="0" cy="0"/>
          <a:chOff x="0" y="0"/>
          <a:chExt cx="0" cy="0"/>
        </a:xfrm>
      </p:grpSpPr>
      <p:pic>
        <p:nvPicPr>
          <p:cNvPr id="21" name="Google Shape;21;p2"/>
          <p:cNvPicPr preferRelativeResize="0"/>
          <p:nvPr/>
        </p:nvPicPr>
        <p:blipFill rotWithShape="1">
          <a:blip r:embed="rId2">
            <a:alphaModFix/>
          </a:blip>
          <a:srcRect b="-80" l="5141" r="6732" t="25561"/>
          <a:stretch/>
        </p:blipFill>
        <p:spPr>
          <a:xfrm>
            <a:off x="0" y="-5583"/>
            <a:ext cx="9144000" cy="5154666"/>
          </a:xfrm>
          <a:prstGeom prst="rect">
            <a:avLst/>
          </a:prstGeom>
          <a:noFill/>
          <a:ln>
            <a:noFill/>
          </a:ln>
        </p:spPr>
      </p:pic>
      <p:sp>
        <p:nvSpPr>
          <p:cNvPr id="22" name="Google Shape;22;p2"/>
          <p:cNvSpPr/>
          <p:nvPr/>
        </p:nvSpPr>
        <p:spPr>
          <a:xfrm>
            <a:off x="457200" y="-9525"/>
            <a:ext cx="2438400" cy="9144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grpSp>
        <p:nvGrpSpPr>
          <p:cNvPr id="23" name="Google Shape;23;p2"/>
          <p:cNvGrpSpPr/>
          <p:nvPr/>
        </p:nvGrpSpPr>
        <p:grpSpPr>
          <a:xfrm>
            <a:off x="994118" y="305466"/>
            <a:ext cx="1362335" cy="305001"/>
            <a:chOff x="5137" y="4139"/>
            <a:chExt cx="335" cy="75"/>
          </a:xfrm>
        </p:grpSpPr>
        <p:sp>
          <p:nvSpPr>
            <p:cNvPr id="24" name="Google Shape;24;p2"/>
            <p:cNvSpPr/>
            <p:nvPr/>
          </p:nvSpPr>
          <p:spPr>
            <a:xfrm>
              <a:off x="5137" y="4139"/>
              <a:ext cx="324" cy="75"/>
            </a:xfrm>
            <a:custGeom>
              <a:rect b="b" l="l" r="r" t="t"/>
              <a:pathLst>
                <a:path extrusionOk="0" h="863" w="3745">
                  <a:moveTo>
                    <a:pt x="660" y="0"/>
                  </a:moveTo>
                  <a:lnTo>
                    <a:pt x="660" y="0"/>
                  </a:lnTo>
                  <a:lnTo>
                    <a:pt x="22" y="0"/>
                  </a:lnTo>
                  <a:lnTo>
                    <a:pt x="0" y="73"/>
                  </a:lnTo>
                  <a:lnTo>
                    <a:pt x="292" y="73"/>
                  </a:lnTo>
                  <a:lnTo>
                    <a:pt x="292" y="804"/>
                  </a:lnTo>
                  <a:cubicBezTo>
                    <a:pt x="292" y="843"/>
                    <a:pt x="316" y="863"/>
                    <a:pt x="360" y="863"/>
                  </a:cubicBezTo>
                  <a:lnTo>
                    <a:pt x="399" y="863"/>
                  </a:lnTo>
                  <a:lnTo>
                    <a:pt x="399" y="73"/>
                  </a:lnTo>
                  <a:lnTo>
                    <a:pt x="637" y="73"/>
                  </a:lnTo>
                  <a:lnTo>
                    <a:pt x="660" y="0"/>
                  </a:lnTo>
                  <a:lnTo>
                    <a:pt x="660" y="0"/>
                  </a:lnTo>
                  <a:close/>
                  <a:moveTo>
                    <a:pt x="2673" y="181"/>
                  </a:moveTo>
                  <a:lnTo>
                    <a:pt x="2673" y="181"/>
                  </a:lnTo>
                  <a:cubicBezTo>
                    <a:pt x="2647" y="181"/>
                    <a:pt x="2626" y="190"/>
                    <a:pt x="2621" y="203"/>
                  </a:cubicBezTo>
                  <a:lnTo>
                    <a:pt x="2408" y="768"/>
                  </a:lnTo>
                  <a:lnTo>
                    <a:pt x="2448" y="768"/>
                  </a:lnTo>
                  <a:cubicBezTo>
                    <a:pt x="2491" y="768"/>
                    <a:pt x="2509" y="764"/>
                    <a:pt x="2522" y="729"/>
                  </a:cubicBezTo>
                  <a:lnTo>
                    <a:pt x="2570" y="596"/>
                  </a:lnTo>
                  <a:lnTo>
                    <a:pt x="2698" y="596"/>
                  </a:lnTo>
                  <a:lnTo>
                    <a:pt x="2679" y="533"/>
                  </a:lnTo>
                  <a:lnTo>
                    <a:pt x="2590" y="533"/>
                  </a:lnTo>
                  <a:lnTo>
                    <a:pt x="2669" y="310"/>
                  </a:lnTo>
                  <a:lnTo>
                    <a:pt x="2812" y="729"/>
                  </a:lnTo>
                  <a:cubicBezTo>
                    <a:pt x="2824" y="764"/>
                    <a:pt x="2845" y="768"/>
                    <a:pt x="2891" y="768"/>
                  </a:cubicBezTo>
                  <a:lnTo>
                    <a:pt x="2941" y="768"/>
                  </a:lnTo>
                  <a:lnTo>
                    <a:pt x="2725" y="203"/>
                  </a:lnTo>
                  <a:cubicBezTo>
                    <a:pt x="2720" y="190"/>
                    <a:pt x="2697" y="181"/>
                    <a:pt x="2673" y="181"/>
                  </a:cubicBezTo>
                  <a:close/>
                  <a:moveTo>
                    <a:pt x="3529" y="203"/>
                  </a:moveTo>
                  <a:lnTo>
                    <a:pt x="3529" y="203"/>
                  </a:lnTo>
                  <a:cubicBezTo>
                    <a:pt x="3524" y="190"/>
                    <a:pt x="3501" y="181"/>
                    <a:pt x="3477" y="181"/>
                  </a:cubicBezTo>
                  <a:cubicBezTo>
                    <a:pt x="3451" y="181"/>
                    <a:pt x="3430" y="190"/>
                    <a:pt x="3425" y="203"/>
                  </a:cubicBezTo>
                  <a:lnTo>
                    <a:pt x="3212" y="768"/>
                  </a:lnTo>
                  <a:lnTo>
                    <a:pt x="3252" y="768"/>
                  </a:lnTo>
                  <a:cubicBezTo>
                    <a:pt x="3294" y="768"/>
                    <a:pt x="3313" y="764"/>
                    <a:pt x="3326" y="729"/>
                  </a:cubicBezTo>
                  <a:lnTo>
                    <a:pt x="3374" y="596"/>
                  </a:lnTo>
                  <a:lnTo>
                    <a:pt x="3502" y="596"/>
                  </a:lnTo>
                  <a:lnTo>
                    <a:pt x="3483" y="533"/>
                  </a:lnTo>
                  <a:lnTo>
                    <a:pt x="3394" y="533"/>
                  </a:lnTo>
                  <a:lnTo>
                    <a:pt x="3473" y="310"/>
                  </a:lnTo>
                  <a:lnTo>
                    <a:pt x="3616" y="729"/>
                  </a:lnTo>
                  <a:cubicBezTo>
                    <a:pt x="3628" y="764"/>
                    <a:pt x="3649" y="768"/>
                    <a:pt x="3695" y="768"/>
                  </a:cubicBezTo>
                  <a:lnTo>
                    <a:pt x="3745" y="768"/>
                  </a:lnTo>
                  <a:lnTo>
                    <a:pt x="3529" y="203"/>
                  </a:lnTo>
                  <a:lnTo>
                    <a:pt x="3529" y="203"/>
                  </a:lnTo>
                  <a:close/>
                  <a:moveTo>
                    <a:pt x="1655" y="181"/>
                  </a:moveTo>
                  <a:lnTo>
                    <a:pt x="1655" y="181"/>
                  </a:lnTo>
                  <a:cubicBezTo>
                    <a:pt x="1630" y="181"/>
                    <a:pt x="1608" y="190"/>
                    <a:pt x="1603" y="203"/>
                  </a:cubicBezTo>
                  <a:lnTo>
                    <a:pt x="1399" y="746"/>
                  </a:lnTo>
                  <a:lnTo>
                    <a:pt x="1247" y="515"/>
                  </a:lnTo>
                  <a:cubicBezTo>
                    <a:pt x="1327" y="501"/>
                    <a:pt x="1374" y="459"/>
                    <a:pt x="1374" y="387"/>
                  </a:cubicBezTo>
                  <a:lnTo>
                    <a:pt x="1374" y="336"/>
                  </a:lnTo>
                  <a:cubicBezTo>
                    <a:pt x="1374" y="232"/>
                    <a:pt x="1277" y="189"/>
                    <a:pt x="1149" y="189"/>
                  </a:cubicBezTo>
                  <a:lnTo>
                    <a:pt x="969" y="189"/>
                  </a:lnTo>
                  <a:lnTo>
                    <a:pt x="969" y="704"/>
                  </a:lnTo>
                  <a:lnTo>
                    <a:pt x="737" y="704"/>
                  </a:lnTo>
                  <a:cubicBezTo>
                    <a:pt x="646" y="704"/>
                    <a:pt x="625" y="684"/>
                    <a:pt x="625" y="590"/>
                  </a:cubicBezTo>
                  <a:lnTo>
                    <a:pt x="625" y="488"/>
                  </a:lnTo>
                  <a:lnTo>
                    <a:pt x="797" y="488"/>
                  </a:lnTo>
                  <a:lnTo>
                    <a:pt x="816" y="424"/>
                  </a:lnTo>
                  <a:lnTo>
                    <a:pt x="625" y="424"/>
                  </a:lnTo>
                  <a:lnTo>
                    <a:pt x="625" y="253"/>
                  </a:lnTo>
                  <a:lnTo>
                    <a:pt x="878" y="253"/>
                  </a:lnTo>
                  <a:lnTo>
                    <a:pt x="897" y="189"/>
                  </a:lnTo>
                  <a:lnTo>
                    <a:pt x="520" y="189"/>
                  </a:lnTo>
                  <a:lnTo>
                    <a:pt x="520" y="590"/>
                  </a:lnTo>
                  <a:cubicBezTo>
                    <a:pt x="520" y="724"/>
                    <a:pt x="552" y="768"/>
                    <a:pt x="735" y="768"/>
                  </a:cubicBezTo>
                  <a:lnTo>
                    <a:pt x="1074" y="766"/>
                  </a:lnTo>
                  <a:lnTo>
                    <a:pt x="1074" y="253"/>
                  </a:lnTo>
                  <a:lnTo>
                    <a:pt x="1149" y="253"/>
                  </a:lnTo>
                  <a:cubicBezTo>
                    <a:pt x="1230" y="253"/>
                    <a:pt x="1271" y="282"/>
                    <a:pt x="1271" y="337"/>
                  </a:cubicBezTo>
                  <a:lnTo>
                    <a:pt x="1271" y="387"/>
                  </a:lnTo>
                  <a:cubicBezTo>
                    <a:pt x="1271" y="443"/>
                    <a:pt x="1220" y="461"/>
                    <a:pt x="1157" y="461"/>
                  </a:cubicBezTo>
                  <a:lnTo>
                    <a:pt x="1110" y="461"/>
                  </a:lnTo>
                  <a:lnTo>
                    <a:pt x="1269" y="733"/>
                  </a:lnTo>
                  <a:cubicBezTo>
                    <a:pt x="1287" y="765"/>
                    <a:pt x="1296" y="768"/>
                    <a:pt x="1338" y="768"/>
                  </a:cubicBezTo>
                  <a:lnTo>
                    <a:pt x="1430" y="768"/>
                  </a:lnTo>
                  <a:cubicBezTo>
                    <a:pt x="1473" y="768"/>
                    <a:pt x="1492" y="764"/>
                    <a:pt x="1505" y="729"/>
                  </a:cubicBezTo>
                  <a:lnTo>
                    <a:pt x="1552" y="596"/>
                  </a:lnTo>
                  <a:lnTo>
                    <a:pt x="1680" y="596"/>
                  </a:lnTo>
                  <a:lnTo>
                    <a:pt x="1661" y="533"/>
                  </a:lnTo>
                  <a:lnTo>
                    <a:pt x="1573" y="533"/>
                  </a:lnTo>
                  <a:lnTo>
                    <a:pt x="1652" y="310"/>
                  </a:lnTo>
                  <a:lnTo>
                    <a:pt x="1795" y="729"/>
                  </a:lnTo>
                  <a:cubicBezTo>
                    <a:pt x="1807" y="764"/>
                    <a:pt x="1827" y="768"/>
                    <a:pt x="1873" y="768"/>
                  </a:cubicBezTo>
                  <a:lnTo>
                    <a:pt x="1923" y="768"/>
                  </a:lnTo>
                  <a:lnTo>
                    <a:pt x="1707" y="203"/>
                  </a:lnTo>
                  <a:cubicBezTo>
                    <a:pt x="1702" y="190"/>
                    <a:pt x="1679" y="181"/>
                    <a:pt x="1655" y="181"/>
                  </a:cubicBezTo>
                  <a:close/>
                  <a:moveTo>
                    <a:pt x="2304" y="530"/>
                  </a:moveTo>
                  <a:lnTo>
                    <a:pt x="2304" y="530"/>
                  </a:lnTo>
                  <a:cubicBezTo>
                    <a:pt x="2304" y="647"/>
                    <a:pt x="2266" y="704"/>
                    <a:pt x="2162" y="704"/>
                  </a:cubicBezTo>
                  <a:lnTo>
                    <a:pt x="2068" y="704"/>
                  </a:lnTo>
                  <a:lnTo>
                    <a:pt x="2068" y="253"/>
                  </a:lnTo>
                  <a:lnTo>
                    <a:pt x="2159" y="253"/>
                  </a:lnTo>
                  <a:cubicBezTo>
                    <a:pt x="2266" y="253"/>
                    <a:pt x="2304" y="316"/>
                    <a:pt x="2304" y="433"/>
                  </a:cubicBezTo>
                  <a:lnTo>
                    <a:pt x="2304" y="530"/>
                  </a:lnTo>
                  <a:lnTo>
                    <a:pt x="2304" y="530"/>
                  </a:lnTo>
                  <a:close/>
                  <a:moveTo>
                    <a:pt x="2409" y="432"/>
                  </a:moveTo>
                  <a:lnTo>
                    <a:pt x="2409" y="432"/>
                  </a:lnTo>
                  <a:cubicBezTo>
                    <a:pt x="2409" y="270"/>
                    <a:pt x="2326" y="189"/>
                    <a:pt x="2159" y="189"/>
                  </a:cubicBezTo>
                  <a:lnTo>
                    <a:pt x="1963" y="189"/>
                  </a:lnTo>
                  <a:lnTo>
                    <a:pt x="1963" y="709"/>
                  </a:lnTo>
                  <a:cubicBezTo>
                    <a:pt x="1963" y="748"/>
                    <a:pt x="1984" y="768"/>
                    <a:pt x="2029" y="768"/>
                  </a:cubicBezTo>
                  <a:lnTo>
                    <a:pt x="2159" y="768"/>
                  </a:lnTo>
                  <a:lnTo>
                    <a:pt x="2180" y="767"/>
                  </a:lnTo>
                  <a:cubicBezTo>
                    <a:pt x="2337" y="761"/>
                    <a:pt x="2409" y="693"/>
                    <a:pt x="2409" y="530"/>
                  </a:cubicBezTo>
                  <a:lnTo>
                    <a:pt x="2409" y="432"/>
                  </a:lnTo>
                  <a:lnTo>
                    <a:pt x="2409" y="432"/>
                  </a:lnTo>
                  <a:close/>
                  <a:moveTo>
                    <a:pt x="3332" y="190"/>
                  </a:moveTo>
                  <a:lnTo>
                    <a:pt x="3332" y="190"/>
                  </a:lnTo>
                  <a:lnTo>
                    <a:pt x="2851" y="190"/>
                  </a:lnTo>
                  <a:lnTo>
                    <a:pt x="2831" y="254"/>
                  </a:lnTo>
                  <a:lnTo>
                    <a:pt x="3028" y="254"/>
                  </a:lnTo>
                  <a:lnTo>
                    <a:pt x="3028" y="710"/>
                  </a:lnTo>
                  <a:cubicBezTo>
                    <a:pt x="3028" y="749"/>
                    <a:pt x="3052" y="768"/>
                    <a:pt x="3096" y="768"/>
                  </a:cubicBezTo>
                  <a:lnTo>
                    <a:pt x="3135" y="768"/>
                  </a:lnTo>
                  <a:lnTo>
                    <a:pt x="3135" y="254"/>
                  </a:lnTo>
                  <a:lnTo>
                    <a:pt x="3313" y="254"/>
                  </a:lnTo>
                  <a:lnTo>
                    <a:pt x="3332" y="19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5" name="Google Shape;25;p2"/>
            <p:cNvSpPr/>
            <p:nvPr/>
          </p:nvSpPr>
          <p:spPr>
            <a:xfrm>
              <a:off x="5464" y="4197"/>
              <a:ext cx="8" cy="9"/>
            </a:xfrm>
            <a:custGeom>
              <a:rect b="b" l="l" r="r" t="t"/>
              <a:pathLst>
                <a:path extrusionOk="0" h="98" w="99">
                  <a:moveTo>
                    <a:pt x="59" y="30"/>
                  </a:moveTo>
                  <a:lnTo>
                    <a:pt x="59" y="30"/>
                  </a:lnTo>
                  <a:cubicBezTo>
                    <a:pt x="57" y="29"/>
                    <a:pt x="53" y="28"/>
                    <a:pt x="47" y="28"/>
                  </a:cubicBezTo>
                  <a:lnTo>
                    <a:pt x="39" y="28"/>
                  </a:lnTo>
                  <a:lnTo>
                    <a:pt x="39" y="48"/>
                  </a:lnTo>
                  <a:lnTo>
                    <a:pt x="48" y="48"/>
                  </a:lnTo>
                  <a:cubicBezTo>
                    <a:pt x="52" y="48"/>
                    <a:pt x="55" y="47"/>
                    <a:pt x="57" y="46"/>
                  </a:cubicBezTo>
                  <a:cubicBezTo>
                    <a:pt x="61" y="45"/>
                    <a:pt x="63" y="42"/>
                    <a:pt x="63" y="38"/>
                  </a:cubicBezTo>
                  <a:cubicBezTo>
                    <a:pt x="63" y="34"/>
                    <a:pt x="61" y="31"/>
                    <a:pt x="59" y="30"/>
                  </a:cubicBezTo>
                  <a:close/>
                  <a:moveTo>
                    <a:pt x="49" y="22"/>
                  </a:moveTo>
                  <a:lnTo>
                    <a:pt x="49" y="22"/>
                  </a:lnTo>
                  <a:cubicBezTo>
                    <a:pt x="55" y="22"/>
                    <a:pt x="60" y="22"/>
                    <a:pt x="63" y="23"/>
                  </a:cubicBezTo>
                  <a:cubicBezTo>
                    <a:pt x="69" y="26"/>
                    <a:pt x="72" y="30"/>
                    <a:pt x="72" y="37"/>
                  </a:cubicBezTo>
                  <a:cubicBezTo>
                    <a:pt x="72" y="42"/>
                    <a:pt x="70" y="46"/>
                    <a:pt x="66" y="48"/>
                  </a:cubicBezTo>
                  <a:cubicBezTo>
                    <a:pt x="65" y="49"/>
                    <a:pt x="62" y="50"/>
                    <a:pt x="59" y="51"/>
                  </a:cubicBezTo>
                  <a:cubicBezTo>
                    <a:pt x="63" y="51"/>
                    <a:pt x="66" y="53"/>
                    <a:pt x="68" y="56"/>
                  </a:cubicBezTo>
                  <a:cubicBezTo>
                    <a:pt x="70" y="59"/>
                    <a:pt x="71" y="62"/>
                    <a:pt x="71" y="64"/>
                  </a:cubicBezTo>
                  <a:lnTo>
                    <a:pt x="71" y="68"/>
                  </a:lnTo>
                  <a:cubicBezTo>
                    <a:pt x="71" y="69"/>
                    <a:pt x="71" y="71"/>
                    <a:pt x="71" y="72"/>
                  </a:cubicBezTo>
                  <a:cubicBezTo>
                    <a:pt x="71" y="74"/>
                    <a:pt x="71" y="75"/>
                    <a:pt x="72" y="75"/>
                  </a:cubicBezTo>
                  <a:lnTo>
                    <a:pt x="72" y="76"/>
                  </a:lnTo>
                  <a:lnTo>
                    <a:pt x="63" y="76"/>
                  </a:lnTo>
                  <a:cubicBezTo>
                    <a:pt x="63" y="76"/>
                    <a:pt x="63" y="75"/>
                    <a:pt x="63" y="75"/>
                  </a:cubicBezTo>
                  <a:cubicBezTo>
                    <a:pt x="63" y="75"/>
                    <a:pt x="63" y="75"/>
                    <a:pt x="63" y="75"/>
                  </a:cubicBezTo>
                  <a:lnTo>
                    <a:pt x="62" y="73"/>
                  </a:lnTo>
                  <a:lnTo>
                    <a:pt x="62" y="69"/>
                  </a:lnTo>
                  <a:cubicBezTo>
                    <a:pt x="62" y="62"/>
                    <a:pt x="61" y="58"/>
                    <a:pt x="57" y="56"/>
                  </a:cubicBezTo>
                  <a:cubicBezTo>
                    <a:pt x="55" y="55"/>
                    <a:pt x="52" y="54"/>
                    <a:pt x="47" y="54"/>
                  </a:cubicBezTo>
                  <a:lnTo>
                    <a:pt x="39" y="54"/>
                  </a:lnTo>
                  <a:lnTo>
                    <a:pt x="39" y="76"/>
                  </a:lnTo>
                  <a:lnTo>
                    <a:pt x="30" y="76"/>
                  </a:lnTo>
                  <a:lnTo>
                    <a:pt x="30" y="22"/>
                  </a:lnTo>
                  <a:lnTo>
                    <a:pt x="49" y="22"/>
                  </a:lnTo>
                  <a:lnTo>
                    <a:pt x="49" y="22"/>
                  </a:lnTo>
                  <a:close/>
                  <a:moveTo>
                    <a:pt x="20" y="19"/>
                  </a:moveTo>
                  <a:lnTo>
                    <a:pt x="20" y="19"/>
                  </a:lnTo>
                  <a:cubicBezTo>
                    <a:pt x="11" y="27"/>
                    <a:pt x="7" y="37"/>
                    <a:pt x="7" y="49"/>
                  </a:cubicBezTo>
                  <a:cubicBezTo>
                    <a:pt x="7" y="61"/>
                    <a:pt x="11" y="71"/>
                    <a:pt x="20" y="79"/>
                  </a:cubicBezTo>
                  <a:cubicBezTo>
                    <a:pt x="28" y="87"/>
                    <a:pt x="38" y="92"/>
                    <a:pt x="50" y="92"/>
                  </a:cubicBezTo>
                  <a:cubicBezTo>
                    <a:pt x="61" y="92"/>
                    <a:pt x="71" y="87"/>
                    <a:pt x="80" y="79"/>
                  </a:cubicBezTo>
                  <a:cubicBezTo>
                    <a:pt x="88" y="71"/>
                    <a:pt x="92" y="61"/>
                    <a:pt x="92" y="49"/>
                  </a:cubicBezTo>
                  <a:cubicBezTo>
                    <a:pt x="92" y="37"/>
                    <a:pt x="88" y="27"/>
                    <a:pt x="80" y="19"/>
                  </a:cubicBezTo>
                  <a:cubicBezTo>
                    <a:pt x="71" y="10"/>
                    <a:pt x="61" y="6"/>
                    <a:pt x="50" y="6"/>
                  </a:cubicBezTo>
                  <a:cubicBezTo>
                    <a:pt x="38" y="6"/>
                    <a:pt x="28" y="10"/>
                    <a:pt x="20" y="19"/>
                  </a:cubicBezTo>
                  <a:close/>
                  <a:moveTo>
                    <a:pt x="85" y="84"/>
                  </a:moveTo>
                  <a:lnTo>
                    <a:pt x="85" y="84"/>
                  </a:lnTo>
                  <a:cubicBezTo>
                    <a:pt x="75" y="94"/>
                    <a:pt x="63" y="98"/>
                    <a:pt x="50" y="98"/>
                  </a:cubicBezTo>
                  <a:cubicBezTo>
                    <a:pt x="36" y="98"/>
                    <a:pt x="24" y="94"/>
                    <a:pt x="15" y="84"/>
                  </a:cubicBezTo>
                  <a:cubicBezTo>
                    <a:pt x="5" y="74"/>
                    <a:pt x="0" y="63"/>
                    <a:pt x="0" y="49"/>
                  </a:cubicBezTo>
                  <a:cubicBezTo>
                    <a:pt x="0" y="35"/>
                    <a:pt x="5" y="24"/>
                    <a:pt x="15" y="14"/>
                  </a:cubicBezTo>
                  <a:cubicBezTo>
                    <a:pt x="24" y="4"/>
                    <a:pt x="36" y="0"/>
                    <a:pt x="50" y="0"/>
                  </a:cubicBezTo>
                  <a:cubicBezTo>
                    <a:pt x="63" y="0"/>
                    <a:pt x="75" y="4"/>
                    <a:pt x="85" y="14"/>
                  </a:cubicBezTo>
                  <a:cubicBezTo>
                    <a:pt x="94" y="24"/>
                    <a:pt x="99" y="35"/>
                    <a:pt x="99" y="49"/>
                  </a:cubicBezTo>
                  <a:cubicBezTo>
                    <a:pt x="99" y="63"/>
                    <a:pt x="94" y="74"/>
                    <a:pt x="85" y="84"/>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sp>
        <p:nvSpPr>
          <p:cNvPr id="26" name="Google Shape;26;p2"/>
          <p:cNvSpPr txBox="1"/>
          <p:nvPr>
            <p:ph idx="1" type="body"/>
          </p:nvPr>
        </p:nvSpPr>
        <p:spPr>
          <a:xfrm>
            <a:off x="0" y="2915344"/>
            <a:ext cx="9144000" cy="1065420"/>
          </a:xfrm>
          <a:prstGeom prst="rect">
            <a:avLst/>
          </a:prstGeom>
          <a:solidFill>
            <a:schemeClr val="accent1">
              <a:alpha val="89803"/>
            </a:schemeClr>
          </a:solidFill>
          <a:ln>
            <a:noFill/>
          </a:ln>
        </p:spPr>
        <p:txBody>
          <a:bodyPr anchorCtr="1" anchor="ctr" bIns="137150" lIns="457200" spcFirstLastPara="1" rIns="457200" wrap="square" tIns="137150">
            <a:noAutofit/>
          </a:bodyPr>
          <a:lstStyle>
            <a:lvl1pPr indent="-355600" lvl="0" marL="457200" algn="ctr">
              <a:lnSpc>
                <a:spcPct val="85000"/>
              </a:lnSpc>
              <a:spcBef>
                <a:spcPts val="200"/>
              </a:spcBef>
              <a:spcAft>
                <a:spcPts val="0"/>
              </a:spcAft>
              <a:buClr>
                <a:schemeClr val="lt1"/>
              </a:buClr>
              <a:buSzPts val="2000"/>
              <a:buFont typeface="Arial"/>
              <a:buChar char="​"/>
              <a:defRPr b="0" sz="2000">
                <a:solidFill>
                  <a:schemeClr val="lt1"/>
                </a:solidFill>
              </a:defRPr>
            </a:lvl1pPr>
            <a:lvl2pPr indent="-317500" lvl="1" marL="914400" algn="ctr">
              <a:lnSpc>
                <a:spcPct val="85000"/>
              </a:lnSpc>
              <a:spcBef>
                <a:spcPts val="200"/>
              </a:spcBef>
              <a:spcAft>
                <a:spcPts val="0"/>
              </a:spcAft>
              <a:buClr>
                <a:schemeClr val="lt1"/>
              </a:buClr>
              <a:buSzPts val="1400"/>
              <a:buFont typeface="Arial"/>
              <a:buChar char="​"/>
              <a:defRPr b="0" sz="1400">
                <a:solidFill>
                  <a:schemeClr val="lt1"/>
                </a:solidFill>
              </a:defRPr>
            </a:lvl2pPr>
            <a:lvl3pPr indent="-330200" lvl="2" marL="1371600" algn="ctr">
              <a:lnSpc>
                <a:spcPct val="85000"/>
              </a:lnSpc>
              <a:spcBef>
                <a:spcPts val="600"/>
              </a:spcBef>
              <a:spcAft>
                <a:spcPts val="0"/>
              </a:spcAft>
              <a:buClr>
                <a:schemeClr val="lt1"/>
              </a:buClr>
              <a:buSzPts val="1600"/>
              <a:buFont typeface="Arial"/>
              <a:buChar char="​"/>
              <a:defRPr b="1" sz="1600">
                <a:solidFill>
                  <a:schemeClr val="lt1"/>
                </a:solidFill>
              </a:defRPr>
            </a:lvl3pPr>
            <a:lvl4pPr indent="-317500" lvl="3" marL="1828800" algn="ctr">
              <a:lnSpc>
                <a:spcPct val="85000"/>
              </a:lnSpc>
              <a:spcBef>
                <a:spcPts val="200"/>
              </a:spcBef>
              <a:spcAft>
                <a:spcPts val="0"/>
              </a:spcAft>
              <a:buClr>
                <a:schemeClr val="lt1"/>
              </a:buClr>
              <a:buSzPts val="1400"/>
              <a:buFont typeface="Arial"/>
              <a:buChar char="​"/>
              <a:defRPr b="0" sz="1400">
                <a:solidFill>
                  <a:schemeClr val="lt1"/>
                </a:solidFill>
              </a:defRPr>
            </a:lvl4pPr>
            <a:lvl5pPr indent="-317500" lvl="4" marL="2286000" algn="ctr">
              <a:lnSpc>
                <a:spcPct val="85000"/>
              </a:lnSpc>
              <a:spcBef>
                <a:spcPts val="200"/>
              </a:spcBef>
              <a:spcAft>
                <a:spcPts val="0"/>
              </a:spcAft>
              <a:buClr>
                <a:schemeClr val="lt1"/>
              </a:buClr>
              <a:buSzPts val="1400"/>
              <a:buFont typeface="Arial"/>
              <a:buChar char="​"/>
              <a:defRPr b="0" sz="1400">
                <a:solidFill>
                  <a:schemeClr val="lt1"/>
                </a:solidFill>
              </a:defRPr>
            </a:lvl5pPr>
            <a:lvl6pPr indent="-317500" lvl="5" marL="2743200" algn="ctr">
              <a:lnSpc>
                <a:spcPct val="85000"/>
              </a:lnSpc>
              <a:spcBef>
                <a:spcPts val="200"/>
              </a:spcBef>
              <a:spcAft>
                <a:spcPts val="0"/>
              </a:spcAft>
              <a:buClr>
                <a:schemeClr val="lt1"/>
              </a:buClr>
              <a:buSzPts val="1400"/>
              <a:buFont typeface="Arial"/>
              <a:buChar char="​"/>
              <a:defRPr b="0" sz="1400">
                <a:solidFill>
                  <a:schemeClr val="lt1"/>
                </a:solidFill>
              </a:defRPr>
            </a:lvl6pPr>
            <a:lvl7pPr indent="-317500" lvl="6" marL="3200400" algn="ctr">
              <a:lnSpc>
                <a:spcPct val="85000"/>
              </a:lnSpc>
              <a:spcBef>
                <a:spcPts val="200"/>
              </a:spcBef>
              <a:spcAft>
                <a:spcPts val="0"/>
              </a:spcAft>
              <a:buClr>
                <a:schemeClr val="lt1"/>
              </a:buClr>
              <a:buSzPts val="1400"/>
              <a:buFont typeface="Arial"/>
              <a:buChar char="​"/>
              <a:defRPr b="0" sz="1400">
                <a:solidFill>
                  <a:schemeClr val="lt1"/>
                </a:solidFill>
              </a:defRPr>
            </a:lvl7pPr>
            <a:lvl8pPr indent="-317500" lvl="7" marL="3657600" algn="ctr">
              <a:lnSpc>
                <a:spcPct val="85000"/>
              </a:lnSpc>
              <a:spcBef>
                <a:spcPts val="200"/>
              </a:spcBef>
              <a:spcAft>
                <a:spcPts val="0"/>
              </a:spcAft>
              <a:buClr>
                <a:schemeClr val="lt1"/>
              </a:buClr>
              <a:buSzPts val="1400"/>
              <a:buFont typeface="Arial"/>
              <a:buChar char="​"/>
              <a:defRPr b="0" sz="1400">
                <a:solidFill>
                  <a:schemeClr val="lt1"/>
                </a:solidFill>
              </a:defRPr>
            </a:lvl8pPr>
            <a:lvl9pPr indent="-317500" lvl="8" marL="4114800" algn="ctr">
              <a:lnSpc>
                <a:spcPct val="85000"/>
              </a:lnSpc>
              <a:spcBef>
                <a:spcPts val="200"/>
              </a:spcBef>
              <a:spcAft>
                <a:spcPts val="200"/>
              </a:spcAft>
              <a:buClr>
                <a:schemeClr val="lt1"/>
              </a:buClr>
              <a:buSzPts val="1400"/>
              <a:buFont typeface="Arial"/>
              <a:buChar char="​"/>
              <a:defRPr b="0" sz="1400">
                <a:solidFill>
                  <a:schemeClr val="lt1"/>
                </a:solidFill>
              </a:defRPr>
            </a:lvl9pPr>
          </a:lstStyle>
          <a:p/>
        </p:txBody>
      </p:sp>
    </p:spTree>
  </p:cSld>
  <p:clrMapOvr>
    <a:masterClrMapping/>
  </p:clrMapOvr>
  <p:transition spd="med">
    <p:fade/>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27" name="Shape 27"/>
        <p:cNvGrpSpPr/>
        <p:nvPr/>
      </p:nvGrpSpPr>
      <p:grpSpPr>
        <a:xfrm>
          <a:off x="0" y="0"/>
          <a:ext cx="0" cy="0"/>
          <a:chOff x="0" y="0"/>
          <a:chExt cx="0" cy="0"/>
        </a:xfrm>
      </p:grpSpPr>
      <p:sp>
        <p:nvSpPr>
          <p:cNvPr id="28" name="Google Shape;28;p3"/>
          <p:cNvSpPr txBox="1"/>
          <p:nvPr>
            <p:ph idx="1" type="body"/>
          </p:nvPr>
        </p:nvSpPr>
        <p:spPr>
          <a:xfrm>
            <a:off x="457200" y="1115806"/>
            <a:ext cx="8229600" cy="3507581"/>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solidFill>
                  <a:schemeClr val="dk1"/>
                </a:solidFill>
              </a:defRPr>
            </a:lvl1pPr>
            <a:lvl2pPr indent="-330200" lvl="1" marL="914400" algn="l">
              <a:lnSpc>
                <a:spcPct val="85000"/>
              </a:lnSpc>
              <a:spcBef>
                <a:spcPts val="200"/>
              </a:spcBef>
              <a:spcAft>
                <a:spcPts val="0"/>
              </a:spcAft>
              <a:buClr>
                <a:schemeClr val="dk1"/>
              </a:buClr>
              <a:buSzPts val="1600"/>
              <a:buChar char="–"/>
              <a:defRPr sz="1600">
                <a:solidFill>
                  <a:schemeClr val="dk1"/>
                </a:solidFill>
              </a:defRPr>
            </a:lvl2pPr>
            <a:lvl3pPr indent="-317500" lvl="2" marL="1371600" algn="l">
              <a:lnSpc>
                <a:spcPct val="85000"/>
              </a:lnSpc>
              <a:spcBef>
                <a:spcPts val="200"/>
              </a:spcBef>
              <a:spcAft>
                <a:spcPts val="0"/>
              </a:spcAft>
              <a:buClr>
                <a:schemeClr val="dk1"/>
              </a:buClr>
              <a:buSzPts val="1400"/>
              <a:buChar char="-"/>
              <a:defRPr sz="1400">
                <a:solidFill>
                  <a:schemeClr val="dk1"/>
                </a:solidFill>
              </a:defRPr>
            </a:lvl3pPr>
            <a:lvl4pPr indent="-342900" lvl="3" marL="1828800" algn="l">
              <a:lnSpc>
                <a:spcPct val="95000"/>
              </a:lnSpc>
              <a:spcBef>
                <a:spcPts val="600"/>
              </a:spcBef>
              <a:spcAft>
                <a:spcPts val="0"/>
              </a:spcAft>
              <a:buClr>
                <a:schemeClr val="dk1"/>
              </a:buClr>
              <a:buSzPts val="1800"/>
              <a:buChar char="​"/>
              <a:defRPr sz="1800">
                <a:solidFill>
                  <a:schemeClr val="dk1"/>
                </a:solidFill>
              </a:defRPr>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29" name="Google Shape;29;p3"/>
          <p:cNvSpPr txBox="1"/>
          <p:nvPr>
            <p:ph idx="2" type="body"/>
          </p:nvPr>
        </p:nvSpPr>
        <p:spPr>
          <a:xfrm>
            <a:off x="457200" y="703405"/>
            <a:ext cx="8229600" cy="353174"/>
          </a:xfrm>
          <a:prstGeom prst="rect">
            <a:avLst/>
          </a:prstGeom>
          <a:noFill/>
          <a:ln>
            <a:noFill/>
          </a:ln>
        </p:spPr>
        <p:txBody>
          <a:bodyPr anchorCtr="0" anchor="t" bIns="0" lIns="0" spcFirstLastPara="1" rIns="0" wrap="square" tIns="0">
            <a:noAutofit/>
          </a:bodyPr>
          <a:lstStyle>
            <a:lvl1pPr indent="-228600" lvl="0" marL="457200" algn="l">
              <a:lnSpc>
                <a:spcPct val="85000"/>
              </a:lnSpc>
              <a:spcBef>
                <a:spcPts val="0"/>
              </a:spcBef>
              <a:spcAft>
                <a:spcPts val="0"/>
              </a:spcAft>
              <a:buClr>
                <a:schemeClr val="dk1"/>
              </a:buClr>
              <a:buSzPts val="1800"/>
              <a:buFont typeface="Century Gothic"/>
              <a:buNone/>
              <a:defRPr sz="1800">
                <a:solidFill>
                  <a:schemeClr val="dk1"/>
                </a:solidFill>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30" name="Google Shape;30;p3"/>
          <p:cNvSpPr txBox="1"/>
          <p:nvPr>
            <p:ph type="title"/>
          </p:nvPr>
        </p:nvSpPr>
        <p:spPr>
          <a:xfrm>
            <a:off x="457200" y="128588"/>
            <a:ext cx="8229600" cy="526298"/>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3"/>
          <p:cNvSpPr txBox="1"/>
          <p:nvPr>
            <p:ph idx="3" type="body"/>
          </p:nvPr>
        </p:nvSpPr>
        <p:spPr>
          <a:xfrm>
            <a:off x="3297994" y="4943703"/>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Tree>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_Title and Content">
  <p:cSld name="17_Title and Content">
    <p:spTree>
      <p:nvGrpSpPr>
        <p:cNvPr id="32" name="Shape 32"/>
        <p:cNvGrpSpPr/>
        <p:nvPr/>
      </p:nvGrpSpPr>
      <p:grpSpPr>
        <a:xfrm>
          <a:off x="0" y="0"/>
          <a:ext cx="0" cy="0"/>
          <a:chOff x="0" y="0"/>
          <a:chExt cx="0" cy="0"/>
        </a:xfrm>
      </p:grpSpPr>
      <p:sp>
        <p:nvSpPr>
          <p:cNvPr id="33" name="Google Shape;33;p4"/>
          <p:cNvSpPr txBox="1"/>
          <p:nvPr>
            <p:ph idx="1" type="body"/>
          </p:nvPr>
        </p:nvSpPr>
        <p:spPr>
          <a:xfrm>
            <a:off x="457200" y="1216372"/>
            <a:ext cx="8229600" cy="3340559"/>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a:lvl1pPr>
            <a:lvl2pPr indent="-342900" lvl="1" marL="914400" algn="l">
              <a:lnSpc>
                <a:spcPct val="85000"/>
              </a:lnSpc>
              <a:spcBef>
                <a:spcPts val="200"/>
              </a:spcBef>
              <a:spcAft>
                <a:spcPts val="0"/>
              </a:spcAft>
              <a:buClr>
                <a:schemeClr val="dk1"/>
              </a:buClr>
              <a:buSzPts val="1800"/>
              <a:buChar char="–"/>
              <a:defRPr/>
            </a:lvl2pPr>
            <a:lvl3pPr indent="-342900" lvl="2" marL="1371600" algn="l">
              <a:lnSpc>
                <a:spcPct val="85000"/>
              </a:lnSpc>
              <a:spcBef>
                <a:spcPts val="200"/>
              </a:spcBef>
              <a:spcAft>
                <a:spcPts val="0"/>
              </a:spcAft>
              <a:buClr>
                <a:schemeClr val="dk1"/>
              </a:buClr>
              <a:buSzPts val="1800"/>
              <a:buChar char="-"/>
              <a:defRPr/>
            </a:lvl3pPr>
            <a:lvl4pPr indent="-342900" lvl="3" marL="1828800" algn="l">
              <a:lnSpc>
                <a:spcPct val="95000"/>
              </a:lnSpc>
              <a:spcBef>
                <a:spcPts val="600"/>
              </a:spcBef>
              <a:spcAft>
                <a:spcPts val="0"/>
              </a:spcAft>
              <a:buClr>
                <a:schemeClr val="dk1"/>
              </a:buClr>
              <a:buSzPts val="1800"/>
              <a:buChar char="​"/>
              <a:defRPr/>
            </a:lvl4pPr>
            <a:lvl5pPr indent="-342900" lvl="4" marL="2286000" algn="l">
              <a:lnSpc>
                <a:spcPct val="95000"/>
              </a:lnSpc>
              <a:spcBef>
                <a:spcPts val="600"/>
              </a:spcBef>
              <a:spcAft>
                <a:spcPts val="0"/>
              </a:spcAft>
              <a:buClr>
                <a:schemeClr val="accent1"/>
              </a:buClr>
              <a:buSzPts val="1800"/>
              <a:buChar char="​"/>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34" name="Google Shape;34;p4"/>
          <p:cNvSpPr txBox="1"/>
          <p:nvPr>
            <p:ph type="title"/>
          </p:nvPr>
        </p:nvSpPr>
        <p:spPr>
          <a:xfrm>
            <a:off x="457200" y="164592"/>
            <a:ext cx="8229600" cy="704088"/>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Subtitle Only">
  <p:cSld name="1_Title and Subtitle Only">
    <p:spTree>
      <p:nvGrpSpPr>
        <p:cNvPr id="35" name="Shape 35"/>
        <p:cNvGrpSpPr/>
        <p:nvPr/>
      </p:nvGrpSpPr>
      <p:grpSpPr>
        <a:xfrm>
          <a:off x="0" y="0"/>
          <a:ext cx="0" cy="0"/>
          <a:chOff x="0" y="0"/>
          <a:chExt cx="0" cy="0"/>
        </a:xfrm>
      </p:grpSpPr>
      <p:sp>
        <p:nvSpPr>
          <p:cNvPr id="36" name="Google Shape;36;p5"/>
          <p:cNvSpPr txBox="1"/>
          <p:nvPr>
            <p:ph idx="1" type="body"/>
          </p:nvPr>
        </p:nvSpPr>
        <p:spPr>
          <a:xfrm>
            <a:off x="3297994" y="4943703"/>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37" name="Google Shape;37;p5"/>
          <p:cNvSpPr txBox="1"/>
          <p:nvPr>
            <p:ph idx="2" type="body"/>
          </p:nvPr>
        </p:nvSpPr>
        <p:spPr>
          <a:xfrm>
            <a:off x="457200" y="703405"/>
            <a:ext cx="8229600" cy="353174"/>
          </a:xfrm>
          <a:prstGeom prst="rect">
            <a:avLst/>
          </a:prstGeom>
          <a:noFill/>
          <a:ln>
            <a:noFill/>
          </a:ln>
        </p:spPr>
        <p:txBody>
          <a:bodyPr anchorCtr="0" anchor="t" bIns="0" lIns="0" spcFirstLastPara="1" rIns="0" wrap="square" tIns="0">
            <a:noAutofit/>
          </a:bodyPr>
          <a:lstStyle>
            <a:lvl1pPr indent="-228600" lvl="0" marL="457200" algn="l">
              <a:lnSpc>
                <a:spcPct val="85000"/>
              </a:lnSpc>
              <a:spcBef>
                <a:spcPts val="0"/>
              </a:spcBef>
              <a:spcAft>
                <a:spcPts val="0"/>
              </a:spcAft>
              <a:buClr>
                <a:schemeClr val="dk1"/>
              </a:buClr>
              <a:buSzPts val="1800"/>
              <a:buFont typeface="Century Gothic"/>
              <a:buNone/>
              <a:defRPr sz="1800">
                <a:solidFill>
                  <a:schemeClr val="dk1"/>
                </a:solidFill>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38" name="Google Shape;38;p5"/>
          <p:cNvSpPr txBox="1"/>
          <p:nvPr>
            <p:ph type="title"/>
          </p:nvPr>
        </p:nvSpPr>
        <p:spPr>
          <a:xfrm>
            <a:off x="457200" y="128590"/>
            <a:ext cx="8229600" cy="526298"/>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_Title and Content">
  <p:cSld name="15_Title and Content">
    <p:spTree>
      <p:nvGrpSpPr>
        <p:cNvPr id="39" name="Shape 39"/>
        <p:cNvGrpSpPr/>
        <p:nvPr/>
      </p:nvGrpSpPr>
      <p:grpSpPr>
        <a:xfrm>
          <a:off x="0" y="0"/>
          <a:ext cx="0" cy="0"/>
          <a:chOff x="0" y="0"/>
          <a:chExt cx="0" cy="0"/>
        </a:xfrm>
      </p:grpSpPr>
      <p:sp>
        <p:nvSpPr>
          <p:cNvPr id="40" name="Google Shape;40;p6"/>
          <p:cNvSpPr txBox="1"/>
          <p:nvPr>
            <p:ph type="title"/>
          </p:nvPr>
        </p:nvSpPr>
        <p:spPr>
          <a:xfrm>
            <a:off x="457200" y="173736"/>
            <a:ext cx="8229600" cy="698572"/>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6"/>
          <p:cNvSpPr txBox="1"/>
          <p:nvPr>
            <p:ph idx="1" type="body"/>
          </p:nvPr>
        </p:nvSpPr>
        <p:spPr>
          <a:xfrm>
            <a:off x="457200" y="1216152"/>
            <a:ext cx="8229600" cy="3344033"/>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solidFill>
                  <a:schemeClr val="dk1"/>
                </a:solidFill>
              </a:defRPr>
            </a:lvl1pPr>
            <a:lvl2pPr indent="-330200" lvl="1" marL="914400" algn="l">
              <a:lnSpc>
                <a:spcPct val="85000"/>
              </a:lnSpc>
              <a:spcBef>
                <a:spcPts val="200"/>
              </a:spcBef>
              <a:spcAft>
                <a:spcPts val="0"/>
              </a:spcAft>
              <a:buClr>
                <a:schemeClr val="dk1"/>
              </a:buClr>
              <a:buSzPts val="1600"/>
              <a:buChar char="–"/>
              <a:defRPr sz="1600">
                <a:solidFill>
                  <a:schemeClr val="dk1"/>
                </a:solidFill>
              </a:defRPr>
            </a:lvl2pPr>
            <a:lvl3pPr indent="-317500" lvl="2" marL="1371600" algn="l">
              <a:lnSpc>
                <a:spcPct val="85000"/>
              </a:lnSpc>
              <a:spcBef>
                <a:spcPts val="200"/>
              </a:spcBef>
              <a:spcAft>
                <a:spcPts val="0"/>
              </a:spcAft>
              <a:buClr>
                <a:schemeClr val="dk1"/>
              </a:buClr>
              <a:buSzPts val="1400"/>
              <a:buChar char="-"/>
              <a:defRPr sz="1400">
                <a:solidFill>
                  <a:schemeClr val="dk1"/>
                </a:solidFill>
              </a:defRPr>
            </a:lvl3pPr>
            <a:lvl4pPr indent="-342900" lvl="3" marL="1828800" algn="l">
              <a:lnSpc>
                <a:spcPct val="95000"/>
              </a:lnSpc>
              <a:spcBef>
                <a:spcPts val="600"/>
              </a:spcBef>
              <a:spcAft>
                <a:spcPts val="0"/>
              </a:spcAft>
              <a:buClr>
                <a:schemeClr val="dk1"/>
              </a:buClr>
              <a:buSzPts val="1800"/>
              <a:buChar char="​"/>
              <a:defRPr sz="1800">
                <a:solidFill>
                  <a:schemeClr val="dk1"/>
                </a:solidFill>
              </a:defRPr>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42" name="Google Shape;42;p6"/>
          <p:cNvSpPr txBox="1"/>
          <p:nvPr>
            <p:ph idx="2" type="body"/>
          </p:nvPr>
        </p:nvSpPr>
        <p:spPr>
          <a:xfrm>
            <a:off x="3297994" y="4855464"/>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Tree>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Title and Content">
  <p:cSld name="16_Title and Content">
    <p:spTree>
      <p:nvGrpSpPr>
        <p:cNvPr id="43" name="Shape 43"/>
        <p:cNvGrpSpPr/>
        <p:nvPr/>
      </p:nvGrpSpPr>
      <p:grpSpPr>
        <a:xfrm>
          <a:off x="0" y="0"/>
          <a:ext cx="0" cy="0"/>
          <a:chOff x="0" y="0"/>
          <a:chExt cx="0" cy="0"/>
        </a:xfrm>
      </p:grpSpPr>
      <p:sp>
        <p:nvSpPr>
          <p:cNvPr id="44" name="Google Shape;44;p7"/>
          <p:cNvSpPr txBox="1"/>
          <p:nvPr>
            <p:ph type="title"/>
          </p:nvPr>
        </p:nvSpPr>
        <p:spPr>
          <a:xfrm>
            <a:off x="457200" y="173736"/>
            <a:ext cx="8229600" cy="698572"/>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7"/>
          <p:cNvSpPr txBox="1"/>
          <p:nvPr>
            <p:ph idx="1" type="body"/>
          </p:nvPr>
        </p:nvSpPr>
        <p:spPr>
          <a:xfrm>
            <a:off x="457200" y="1216152"/>
            <a:ext cx="8229600" cy="3344033"/>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solidFill>
                  <a:schemeClr val="dk1"/>
                </a:solidFill>
              </a:defRPr>
            </a:lvl1pPr>
            <a:lvl2pPr indent="-330200" lvl="1" marL="914400" algn="l">
              <a:lnSpc>
                <a:spcPct val="85000"/>
              </a:lnSpc>
              <a:spcBef>
                <a:spcPts val="200"/>
              </a:spcBef>
              <a:spcAft>
                <a:spcPts val="0"/>
              </a:spcAft>
              <a:buClr>
                <a:schemeClr val="dk1"/>
              </a:buClr>
              <a:buSzPts val="1600"/>
              <a:buChar char="–"/>
              <a:defRPr sz="1600">
                <a:solidFill>
                  <a:schemeClr val="dk1"/>
                </a:solidFill>
              </a:defRPr>
            </a:lvl2pPr>
            <a:lvl3pPr indent="-317500" lvl="2" marL="1371600" algn="l">
              <a:lnSpc>
                <a:spcPct val="85000"/>
              </a:lnSpc>
              <a:spcBef>
                <a:spcPts val="200"/>
              </a:spcBef>
              <a:spcAft>
                <a:spcPts val="0"/>
              </a:spcAft>
              <a:buClr>
                <a:schemeClr val="dk1"/>
              </a:buClr>
              <a:buSzPts val="1400"/>
              <a:buChar char="-"/>
              <a:defRPr sz="1400">
                <a:solidFill>
                  <a:schemeClr val="dk1"/>
                </a:solidFill>
              </a:defRPr>
            </a:lvl3pPr>
            <a:lvl4pPr indent="-342900" lvl="3" marL="1828800" algn="l">
              <a:lnSpc>
                <a:spcPct val="95000"/>
              </a:lnSpc>
              <a:spcBef>
                <a:spcPts val="600"/>
              </a:spcBef>
              <a:spcAft>
                <a:spcPts val="0"/>
              </a:spcAft>
              <a:buClr>
                <a:schemeClr val="dk1"/>
              </a:buClr>
              <a:buSzPts val="1800"/>
              <a:buChar char="​"/>
              <a:defRPr sz="1800">
                <a:solidFill>
                  <a:schemeClr val="dk1"/>
                </a:solidFill>
              </a:defRPr>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46" name="Google Shape;46;p7"/>
          <p:cNvSpPr txBox="1"/>
          <p:nvPr>
            <p:ph idx="2" type="body"/>
          </p:nvPr>
        </p:nvSpPr>
        <p:spPr>
          <a:xfrm>
            <a:off x="3297994" y="4855464"/>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Tree>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47" name="Shape 47"/>
        <p:cNvGrpSpPr/>
        <p:nvPr/>
      </p:nvGrpSpPr>
      <p:grpSpPr>
        <a:xfrm>
          <a:off x="0" y="0"/>
          <a:ext cx="0" cy="0"/>
          <a:chOff x="0" y="0"/>
          <a:chExt cx="0" cy="0"/>
        </a:xfrm>
      </p:grpSpPr>
      <p:sp>
        <p:nvSpPr>
          <p:cNvPr id="48" name="Google Shape;48;p8"/>
          <p:cNvSpPr txBox="1"/>
          <p:nvPr>
            <p:ph type="title"/>
          </p:nvPr>
        </p:nvSpPr>
        <p:spPr>
          <a:xfrm>
            <a:off x="457200" y="173736"/>
            <a:ext cx="8229600" cy="413639"/>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8"/>
          <p:cNvSpPr txBox="1"/>
          <p:nvPr>
            <p:ph idx="1" type="body"/>
          </p:nvPr>
        </p:nvSpPr>
        <p:spPr>
          <a:xfrm>
            <a:off x="457200" y="865188"/>
            <a:ext cx="8229600" cy="3694997"/>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solidFill>
                  <a:schemeClr val="dk1"/>
                </a:solidFill>
              </a:defRPr>
            </a:lvl1pPr>
            <a:lvl2pPr indent="-330200" lvl="1" marL="914400" algn="l">
              <a:lnSpc>
                <a:spcPct val="85000"/>
              </a:lnSpc>
              <a:spcBef>
                <a:spcPts val="200"/>
              </a:spcBef>
              <a:spcAft>
                <a:spcPts val="0"/>
              </a:spcAft>
              <a:buClr>
                <a:schemeClr val="dk1"/>
              </a:buClr>
              <a:buSzPts val="1600"/>
              <a:buChar char="–"/>
              <a:defRPr sz="1600">
                <a:solidFill>
                  <a:schemeClr val="dk1"/>
                </a:solidFill>
              </a:defRPr>
            </a:lvl2pPr>
            <a:lvl3pPr indent="-317500" lvl="2" marL="1371600" algn="l">
              <a:lnSpc>
                <a:spcPct val="85000"/>
              </a:lnSpc>
              <a:spcBef>
                <a:spcPts val="200"/>
              </a:spcBef>
              <a:spcAft>
                <a:spcPts val="0"/>
              </a:spcAft>
              <a:buClr>
                <a:schemeClr val="dk1"/>
              </a:buClr>
              <a:buSzPts val="1400"/>
              <a:buChar char="-"/>
              <a:defRPr sz="1400">
                <a:solidFill>
                  <a:schemeClr val="dk1"/>
                </a:solidFill>
              </a:defRPr>
            </a:lvl3pPr>
            <a:lvl4pPr indent="-342900" lvl="3" marL="1828800" algn="l">
              <a:lnSpc>
                <a:spcPct val="95000"/>
              </a:lnSpc>
              <a:spcBef>
                <a:spcPts val="600"/>
              </a:spcBef>
              <a:spcAft>
                <a:spcPts val="0"/>
              </a:spcAft>
              <a:buClr>
                <a:schemeClr val="dk1"/>
              </a:buClr>
              <a:buSzPts val="1800"/>
              <a:buChar char="​"/>
              <a:defRPr sz="1800">
                <a:solidFill>
                  <a:schemeClr val="dk1"/>
                </a:solidFill>
              </a:defRPr>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50" name="Google Shape;50;p8"/>
          <p:cNvSpPr txBox="1"/>
          <p:nvPr>
            <p:ph idx="2" type="body"/>
          </p:nvPr>
        </p:nvSpPr>
        <p:spPr>
          <a:xfrm>
            <a:off x="3297994" y="4923703"/>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Tree>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_Title and Content">
  <p:cSld name="21_Title and Content">
    <p:spTree>
      <p:nvGrpSpPr>
        <p:cNvPr id="51" name="Shape 51"/>
        <p:cNvGrpSpPr/>
        <p:nvPr/>
      </p:nvGrpSpPr>
      <p:grpSpPr>
        <a:xfrm>
          <a:off x="0" y="0"/>
          <a:ext cx="0" cy="0"/>
          <a:chOff x="0" y="0"/>
          <a:chExt cx="0" cy="0"/>
        </a:xfrm>
      </p:grpSpPr>
      <p:sp>
        <p:nvSpPr>
          <p:cNvPr id="52" name="Google Shape;52;p9"/>
          <p:cNvSpPr txBox="1"/>
          <p:nvPr>
            <p:ph type="title"/>
          </p:nvPr>
        </p:nvSpPr>
        <p:spPr>
          <a:xfrm>
            <a:off x="457200" y="173736"/>
            <a:ext cx="8229600" cy="698572"/>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9"/>
          <p:cNvSpPr txBox="1"/>
          <p:nvPr>
            <p:ph idx="1" type="body"/>
          </p:nvPr>
        </p:nvSpPr>
        <p:spPr>
          <a:xfrm>
            <a:off x="457200" y="1216152"/>
            <a:ext cx="8229600" cy="3344033"/>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solidFill>
                  <a:schemeClr val="dk1"/>
                </a:solidFill>
              </a:defRPr>
            </a:lvl1pPr>
            <a:lvl2pPr indent="-330200" lvl="1" marL="914400" algn="l">
              <a:lnSpc>
                <a:spcPct val="85000"/>
              </a:lnSpc>
              <a:spcBef>
                <a:spcPts val="200"/>
              </a:spcBef>
              <a:spcAft>
                <a:spcPts val="0"/>
              </a:spcAft>
              <a:buClr>
                <a:schemeClr val="dk1"/>
              </a:buClr>
              <a:buSzPts val="1600"/>
              <a:buChar char="–"/>
              <a:defRPr sz="1600">
                <a:solidFill>
                  <a:schemeClr val="dk1"/>
                </a:solidFill>
              </a:defRPr>
            </a:lvl2pPr>
            <a:lvl3pPr indent="-317500" lvl="2" marL="1371600" algn="l">
              <a:lnSpc>
                <a:spcPct val="85000"/>
              </a:lnSpc>
              <a:spcBef>
                <a:spcPts val="200"/>
              </a:spcBef>
              <a:spcAft>
                <a:spcPts val="0"/>
              </a:spcAft>
              <a:buClr>
                <a:schemeClr val="dk1"/>
              </a:buClr>
              <a:buSzPts val="1400"/>
              <a:buChar char="-"/>
              <a:defRPr sz="1400">
                <a:solidFill>
                  <a:schemeClr val="dk1"/>
                </a:solidFill>
              </a:defRPr>
            </a:lvl3pPr>
            <a:lvl4pPr indent="-342900" lvl="3" marL="1828800" algn="l">
              <a:lnSpc>
                <a:spcPct val="95000"/>
              </a:lnSpc>
              <a:spcBef>
                <a:spcPts val="600"/>
              </a:spcBef>
              <a:spcAft>
                <a:spcPts val="0"/>
              </a:spcAft>
              <a:buClr>
                <a:schemeClr val="dk1"/>
              </a:buClr>
              <a:buSzPts val="1800"/>
              <a:buChar char="​"/>
              <a:defRPr sz="1800">
                <a:solidFill>
                  <a:schemeClr val="dk1"/>
                </a:solidFill>
              </a:defRPr>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54" name="Google Shape;54;p9"/>
          <p:cNvSpPr txBox="1"/>
          <p:nvPr>
            <p:ph idx="2" type="body"/>
          </p:nvPr>
        </p:nvSpPr>
        <p:spPr>
          <a:xfrm>
            <a:off x="3297994" y="4855464"/>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Tree>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gue" showMasterSp="0">
  <p:cSld name="Segue">
    <p:bg>
      <p:bgPr>
        <a:solidFill>
          <a:schemeClr val="accent1"/>
        </a:solidFill>
      </p:bgPr>
    </p:bg>
    <p:spTree>
      <p:nvGrpSpPr>
        <p:cNvPr id="55" name="Shape 55"/>
        <p:cNvGrpSpPr/>
        <p:nvPr/>
      </p:nvGrpSpPr>
      <p:grpSpPr>
        <a:xfrm>
          <a:off x="0" y="0"/>
          <a:ext cx="0" cy="0"/>
          <a:chOff x="0" y="0"/>
          <a:chExt cx="0" cy="0"/>
        </a:xfrm>
      </p:grpSpPr>
      <p:sp>
        <p:nvSpPr>
          <p:cNvPr id="56" name="Google Shape;56;p10"/>
          <p:cNvSpPr txBox="1"/>
          <p:nvPr>
            <p:ph idx="1" type="body"/>
          </p:nvPr>
        </p:nvSpPr>
        <p:spPr>
          <a:xfrm>
            <a:off x="0" y="2342217"/>
            <a:ext cx="9144000" cy="459100"/>
          </a:xfrm>
          <a:prstGeom prst="rect">
            <a:avLst/>
          </a:prstGeom>
          <a:solidFill>
            <a:schemeClr val="lt1"/>
          </a:solidFill>
          <a:ln>
            <a:noFill/>
          </a:ln>
        </p:spPr>
        <p:txBody>
          <a:bodyPr anchorCtr="1" anchor="ctr" bIns="45700" lIns="457200" spcFirstLastPara="1" rIns="457200" wrap="square" tIns="45700">
            <a:noAutofit/>
          </a:bodyPr>
          <a:lstStyle>
            <a:lvl1pPr indent="-228600" lvl="0" marL="457200" algn="ctr">
              <a:lnSpc>
                <a:spcPct val="110000"/>
              </a:lnSpc>
              <a:spcBef>
                <a:spcPts val="200"/>
              </a:spcBef>
              <a:spcAft>
                <a:spcPts val="0"/>
              </a:spcAft>
              <a:buClr>
                <a:schemeClr val="accent1"/>
              </a:buClr>
              <a:buSzPts val="2200"/>
              <a:buFont typeface="Century Gothic"/>
              <a:buNone/>
              <a:defRPr sz="2200">
                <a:solidFill>
                  <a:schemeClr val="accent1"/>
                </a:solidFill>
              </a:defRPr>
            </a:lvl1pPr>
            <a:lvl2pPr indent="-342900" lvl="1" marL="914400" algn="ctr">
              <a:lnSpc>
                <a:spcPct val="100000"/>
              </a:lnSpc>
              <a:spcBef>
                <a:spcPts val="200"/>
              </a:spcBef>
              <a:spcAft>
                <a:spcPts val="0"/>
              </a:spcAft>
              <a:buClr>
                <a:schemeClr val="accent1"/>
              </a:buClr>
              <a:buSzPts val="1800"/>
              <a:buFont typeface="Arial"/>
              <a:buChar char="​"/>
              <a:defRPr sz="1800">
                <a:solidFill>
                  <a:schemeClr val="accent1"/>
                </a:solidFill>
              </a:defRPr>
            </a:lvl2pPr>
            <a:lvl3pPr indent="-317500" lvl="2" marL="1371600" algn="ctr">
              <a:lnSpc>
                <a:spcPct val="85000"/>
              </a:lnSpc>
              <a:spcBef>
                <a:spcPts val="600"/>
              </a:spcBef>
              <a:spcAft>
                <a:spcPts val="0"/>
              </a:spcAft>
              <a:buClr>
                <a:schemeClr val="accent1"/>
              </a:buClr>
              <a:buSzPts val="1400"/>
              <a:buFont typeface="Arial"/>
              <a:buChar char="​"/>
              <a:defRPr b="1" sz="1400">
                <a:solidFill>
                  <a:schemeClr val="accent1"/>
                </a:solidFill>
              </a:defRPr>
            </a:lvl3pPr>
            <a:lvl4pPr indent="-317500" lvl="3" marL="1828800" algn="ctr">
              <a:lnSpc>
                <a:spcPct val="85000"/>
              </a:lnSpc>
              <a:spcBef>
                <a:spcPts val="200"/>
              </a:spcBef>
              <a:spcAft>
                <a:spcPts val="0"/>
              </a:spcAft>
              <a:buClr>
                <a:schemeClr val="accent1"/>
              </a:buClr>
              <a:buSzPts val="1400"/>
              <a:buFont typeface="Arial"/>
              <a:buChar char="​"/>
              <a:defRPr b="0" sz="1400">
                <a:solidFill>
                  <a:schemeClr val="accent1"/>
                </a:solidFill>
              </a:defRPr>
            </a:lvl4pPr>
            <a:lvl5pPr indent="-317500" lvl="4" marL="2286000" algn="ctr">
              <a:lnSpc>
                <a:spcPct val="85000"/>
              </a:lnSpc>
              <a:spcBef>
                <a:spcPts val="200"/>
              </a:spcBef>
              <a:spcAft>
                <a:spcPts val="0"/>
              </a:spcAft>
              <a:buClr>
                <a:schemeClr val="accent1"/>
              </a:buClr>
              <a:buSzPts val="1400"/>
              <a:buFont typeface="Arial"/>
              <a:buChar char="​"/>
              <a:defRPr b="0" sz="1400">
                <a:solidFill>
                  <a:schemeClr val="accent1"/>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57" name="Google Shape;57;p10"/>
          <p:cNvSpPr txBox="1"/>
          <p:nvPr/>
        </p:nvSpPr>
        <p:spPr>
          <a:xfrm>
            <a:off x="153254" y="4837176"/>
            <a:ext cx="133221" cy="130805"/>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lang="en-GB" sz="850">
                <a:solidFill>
                  <a:srgbClr val="D8D8D8"/>
                </a:solidFill>
                <a:latin typeface="Century Gothic"/>
                <a:ea typeface="Century Gothic"/>
                <a:cs typeface="Century Gothic"/>
                <a:sym typeface="Century Gothic"/>
              </a:rPr>
              <a:t>‹#›</a:t>
            </a:fld>
            <a:endParaRPr sz="850">
              <a:solidFill>
                <a:srgbClr val="D8D8D8"/>
              </a:solidFill>
              <a:latin typeface="Century Gothic"/>
              <a:ea typeface="Century Gothic"/>
              <a:cs typeface="Century Gothic"/>
              <a:sym typeface="Century Gothic"/>
            </a:endParaRPr>
          </a:p>
        </p:txBody>
      </p:sp>
      <p:sp>
        <p:nvSpPr>
          <p:cNvPr id="58" name="Google Shape;58;p10"/>
          <p:cNvSpPr txBox="1"/>
          <p:nvPr>
            <p:ph idx="2" type="body"/>
          </p:nvPr>
        </p:nvSpPr>
        <p:spPr>
          <a:xfrm>
            <a:off x="3242535" y="4855464"/>
            <a:ext cx="2658930"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chemeClr val="lt1"/>
              </a:buClr>
              <a:buSzPts val="700"/>
              <a:buFont typeface="Century Gothic"/>
              <a:buNone/>
              <a:defRPr b="1" sz="700">
                <a:solidFill>
                  <a:schemeClr val="lt1"/>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Tree>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and Subtitle Only">
  <p:cSld name="2_Title and Subtitle Only">
    <p:spTree>
      <p:nvGrpSpPr>
        <p:cNvPr id="59" name="Shape 59"/>
        <p:cNvGrpSpPr/>
        <p:nvPr/>
      </p:nvGrpSpPr>
      <p:grpSpPr>
        <a:xfrm>
          <a:off x="0" y="0"/>
          <a:ext cx="0" cy="0"/>
          <a:chOff x="0" y="0"/>
          <a:chExt cx="0" cy="0"/>
        </a:xfrm>
      </p:grpSpPr>
      <p:sp>
        <p:nvSpPr>
          <p:cNvPr id="60" name="Google Shape;60;p11"/>
          <p:cNvSpPr txBox="1"/>
          <p:nvPr>
            <p:ph type="title"/>
          </p:nvPr>
        </p:nvSpPr>
        <p:spPr>
          <a:xfrm>
            <a:off x="457200" y="173736"/>
            <a:ext cx="8229600" cy="704088"/>
          </a:xfrm>
          <a:prstGeom prst="rect">
            <a:avLst/>
          </a:prstGeom>
          <a:noFill/>
          <a:ln>
            <a:noFill/>
          </a:ln>
        </p:spPr>
        <p:txBody>
          <a:bodyPr anchorCtr="0" anchor="t"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transition spd="med">
    <p:fade/>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tle and Subtitle Only">
  <p:cSld name="4_Title and Subtitle Only">
    <p:spTree>
      <p:nvGrpSpPr>
        <p:cNvPr id="61" name="Shape 61"/>
        <p:cNvGrpSpPr/>
        <p:nvPr/>
      </p:nvGrpSpPr>
      <p:grpSpPr>
        <a:xfrm>
          <a:off x="0" y="0"/>
          <a:ext cx="0" cy="0"/>
          <a:chOff x="0" y="0"/>
          <a:chExt cx="0" cy="0"/>
        </a:xfrm>
      </p:grpSpPr>
      <p:sp>
        <p:nvSpPr>
          <p:cNvPr id="62" name="Google Shape;62;p12"/>
          <p:cNvSpPr txBox="1"/>
          <p:nvPr>
            <p:ph type="title"/>
          </p:nvPr>
        </p:nvSpPr>
        <p:spPr>
          <a:xfrm>
            <a:off x="457200" y="173736"/>
            <a:ext cx="8229600" cy="704088"/>
          </a:xfrm>
          <a:prstGeom prst="rect">
            <a:avLst/>
          </a:prstGeom>
          <a:noFill/>
          <a:ln>
            <a:noFill/>
          </a:ln>
        </p:spPr>
        <p:txBody>
          <a:bodyPr anchorCtr="0" anchor="t"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transition spd="med">
    <p:fade/>
  </p:transition>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Image">
  <p:cSld name="Content Image">
    <p:spTree>
      <p:nvGrpSpPr>
        <p:cNvPr id="63" name="Shape 63"/>
        <p:cNvGrpSpPr/>
        <p:nvPr/>
      </p:nvGrpSpPr>
      <p:grpSpPr>
        <a:xfrm>
          <a:off x="0" y="0"/>
          <a:ext cx="0" cy="0"/>
          <a:chOff x="0" y="0"/>
          <a:chExt cx="0" cy="0"/>
        </a:xfrm>
      </p:grpSpPr>
      <p:sp>
        <p:nvSpPr>
          <p:cNvPr id="64" name="Google Shape;64;p13"/>
          <p:cNvSpPr/>
          <p:nvPr>
            <p:ph idx="2" type="pic"/>
          </p:nvPr>
        </p:nvSpPr>
        <p:spPr>
          <a:xfrm>
            <a:off x="4800600" y="1216152"/>
            <a:ext cx="3886200" cy="3069714"/>
          </a:xfrm>
          <a:prstGeom prst="rect">
            <a:avLst/>
          </a:prstGeom>
          <a:noFill/>
          <a:ln>
            <a:noFill/>
          </a:ln>
        </p:spPr>
        <p:txBody>
          <a:bodyPr anchorCtr="0" anchor="t" bIns="0" lIns="0" spcFirstLastPara="1" rIns="0" wrap="square" tIns="0">
            <a:noAutofit/>
          </a:bodyPr>
          <a:lstStyle>
            <a:lvl1pPr lvl="0"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1pPr>
            <a:lvl2pPr lvl="1" marR="0" rtl="0" algn="l">
              <a:lnSpc>
                <a:spcPct val="85000"/>
              </a:lnSpc>
              <a:spcBef>
                <a:spcPts val="200"/>
              </a:spcBef>
              <a:spcAft>
                <a:spcPts val="0"/>
              </a:spcAft>
              <a:buClr>
                <a:schemeClr val="dk1"/>
              </a:buClr>
              <a:buSzPts val="1600"/>
              <a:buFont typeface="Arial"/>
              <a:buChar char="–"/>
              <a:defRPr b="0" i="0" sz="1600" u="none" cap="none" strike="noStrike">
                <a:solidFill>
                  <a:schemeClr val="dk1"/>
                </a:solidFill>
                <a:latin typeface="Century Gothic"/>
                <a:ea typeface="Century Gothic"/>
                <a:cs typeface="Century Gothic"/>
                <a:sym typeface="Century Gothic"/>
              </a:defRPr>
            </a:lvl2pPr>
            <a:lvl3pPr lvl="2" marR="0" rtl="0" algn="l">
              <a:lnSpc>
                <a:spcPct val="85000"/>
              </a:lnSpc>
              <a:spcBef>
                <a:spcPts val="200"/>
              </a:spcBef>
              <a:spcAft>
                <a:spcPts val="0"/>
              </a:spcAft>
              <a:buClr>
                <a:schemeClr val="dk1"/>
              </a:buClr>
              <a:buSzPts val="1400"/>
              <a:buFont typeface="Arial"/>
              <a:buChar char="-"/>
              <a:defRPr b="0" i="0" sz="1400" u="none" cap="none" strike="noStrike">
                <a:solidFill>
                  <a:schemeClr val="dk1"/>
                </a:solidFill>
                <a:latin typeface="Century Gothic"/>
                <a:ea typeface="Century Gothic"/>
                <a:cs typeface="Century Gothic"/>
                <a:sym typeface="Century Gothic"/>
              </a:defRPr>
            </a:lvl3pPr>
            <a:lvl4pPr lvl="3"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4pPr>
            <a:lvl5pPr lvl="4" marR="0" rtl="0" algn="l">
              <a:lnSpc>
                <a:spcPct val="95000"/>
              </a:lnSpc>
              <a:spcBef>
                <a:spcPts val="600"/>
              </a:spcBef>
              <a:spcAft>
                <a:spcPts val="0"/>
              </a:spcAft>
              <a:buClr>
                <a:schemeClr val="accent1"/>
              </a:buClr>
              <a:buSzPts val="1800"/>
              <a:buFont typeface="Arial"/>
              <a:buChar char="​"/>
              <a:defRPr b="0" i="0" sz="1800" u="none" cap="none" strike="noStrike">
                <a:solidFill>
                  <a:schemeClr val="accent1"/>
                </a:solidFill>
                <a:latin typeface="Century Gothic"/>
                <a:ea typeface="Century Gothic"/>
                <a:cs typeface="Century Gothic"/>
                <a:sym typeface="Century Gothic"/>
              </a:defRPr>
            </a:lvl5pPr>
            <a:lvl6pPr lvl="5" marR="0" rtl="0" algn="l">
              <a:lnSpc>
                <a:spcPct val="95000"/>
              </a:lnSpc>
              <a:spcBef>
                <a:spcPts val="600"/>
              </a:spcBef>
              <a:spcAft>
                <a:spcPts val="0"/>
              </a:spcAft>
              <a:buClr>
                <a:schemeClr val="accent2"/>
              </a:buClr>
              <a:buSzPts val="1800"/>
              <a:buFont typeface="Arial"/>
              <a:buChar char="​"/>
              <a:defRPr b="0" i="0" sz="1800" u="none" cap="none" strike="noStrike">
                <a:solidFill>
                  <a:schemeClr val="accent2"/>
                </a:solidFill>
                <a:latin typeface="Century Gothic"/>
                <a:ea typeface="Century Gothic"/>
                <a:cs typeface="Century Gothic"/>
                <a:sym typeface="Century Gothic"/>
              </a:defRPr>
            </a:lvl6pPr>
            <a:lvl7pPr lvl="6" marR="0" rtl="0" algn="l">
              <a:lnSpc>
                <a:spcPct val="95000"/>
              </a:lnSpc>
              <a:spcBef>
                <a:spcPts val="1000"/>
              </a:spcBef>
              <a:spcAft>
                <a:spcPts val="0"/>
              </a:spcAft>
              <a:buClr>
                <a:schemeClr val="dk1"/>
              </a:buClr>
              <a:buSzPts val="1800"/>
              <a:buFont typeface="Arial"/>
              <a:buChar char="​"/>
              <a:defRPr b="1" i="0" sz="1800" u="none" cap="none" strike="noStrike">
                <a:solidFill>
                  <a:schemeClr val="dk1"/>
                </a:solidFill>
                <a:latin typeface="Century Gothic"/>
                <a:ea typeface="Century Gothic"/>
                <a:cs typeface="Century Gothic"/>
                <a:sym typeface="Century Gothic"/>
              </a:defRPr>
            </a:lvl7pPr>
            <a:lvl8pPr lvl="7" marR="0" rtl="0" algn="l">
              <a:lnSpc>
                <a:spcPct val="95000"/>
              </a:lnSpc>
              <a:spcBef>
                <a:spcPts val="200"/>
              </a:spcBef>
              <a:spcAft>
                <a:spcPts val="0"/>
              </a:spcAft>
              <a:buClr>
                <a:schemeClr val="dk1"/>
              </a:buClr>
              <a:buSzPts val="1800"/>
              <a:buFont typeface="Century Gothic"/>
              <a:buAutoNum type="arabicPeriod"/>
              <a:defRPr b="0" i="0" sz="1800" u="none" cap="none" strike="noStrike">
                <a:solidFill>
                  <a:schemeClr val="dk1"/>
                </a:solidFill>
                <a:latin typeface="Century Gothic"/>
                <a:ea typeface="Century Gothic"/>
                <a:cs typeface="Century Gothic"/>
                <a:sym typeface="Century Gothic"/>
              </a:defRPr>
            </a:lvl8pPr>
            <a:lvl9pPr lvl="8" marR="0" rtl="0" algn="l">
              <a:lnSpc>
                <a:spcPct val="95000"/>
              </a:lnSpc>
              <a:spcBef>
                <a:spcPts val="400"/>
              </a:spcBef>
              <a:spcAft>
                <a:spcPts val="400"/>
              </a:spcAft>
              <a:buClr>
                <a:schemeClr val="accent6"/>
              </a:buClr>
              <a:buSzPts val="900"/>
              <a:buFont typeface="Arial"/>
              <a:buChar char="​"/>
              <a:defRPr b="0" i="0" sz="900" u="none" cap="none" strike="noStrike">
                <a:solidFill>
                  <a:schemeClr val="accent6"/>
                </a:solidFill>
                <a:latin typeface="Century Gothic"/>
                <a:ea typeface="Century Gothic"/>
                <a:cs typeface="Century Gothic"/>
                <a:sym typeface="Century Gothic"/>
              </a:defRPr>
            </a:lvl9pPr>
          </a:lstStyle>
          <a:p/>
        </p:txBody>
      </p:sp>
      <p:sp>
        <p:nvSpPr>
          <p:cNvPr id="65" name="Google Shape;65;p13"/>
          <p:cNvSpPr txBox="1"/>
          <p:nvPr>
            <p:ph idx="1" type="body"/>
          </p:nvPr>
        </p:nvSpPr>
        <p:spPr>
          <a:xfrm>
            <a:off x="457200" y="1216152"/>
            <a:ext cx="3886200" cy="3350596"/>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lvl1pPr>
            <a:lvl2pPr indent="-330200" lvl="1" marL="914400" algn="l">
              <a:lnSpc>
                <a:spcPct val="85000"/>
              </a:lnSpc>
              <a:spcBef>
                <a:spcPts val="200"/>
              </a:spcBef>
              <a:spcAft>
                <a:spcPts val="0"/>
              </a:spcAft>
              <a:buClr>
                <a:schemeClr val="dk1"/>
              </a:buClr>
              <a:buSzPts val="1600"/>
              <a:buChar char="–"/>
              <a:defRPr sz="1600"/>
            </a:lvl2pPr>
            <a:lvl3pPr indent="-317500" lvl="2" marL="1371600" algn="l">
              <a:lnSpc>
                <a:spcPct val="85000"/>
              </a:lnSpc>
              <a:spcBef>
                <a:spcPts val="200"/>
              </a:spcBef>
              <a:spcAft>
                <a:spcPts val="0"/>
              </a:spcAft>
              <a:buClr>
                <a:schemeClr val="dk1"/>
              </a:buClr>
              <a:buSzPts val="1400"/>
              <a:buChar char="-"/>
              <a:defRPr sz="1400"/>
            </a:lvl3pPr>
            <a:lvl4pPr indent="-342900" lvl="3" marL="1828800" algn="l">
              <a:lnSpc>
                <a:spcPct val="95000"/>
              </a:lnSpc>
              <a:spcBef>
                <a:spcPts val="600"/>
              </a:spcBef>
              <a:spcAft>
                <a:spcPts val="0"/>
              </a:spcAft>
              <a:buClr>
                <a:schemeClr val="dk1"/>
              </a:buClr>
              <a:buSzPts val="1800"/>
              <a:buChar char="​"/>
              <a:defRPr sz="1800"/>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66" name="Google Shape;66;p13"/>
          <p:cNvSpPr txBox="1"/>
          <p:nvPr>
            <p:ph idx="3" type="body"/>
          </p:nvPr>
        </p:nvSpPr>
        <p:spPr>
          <a:xfrm>
            <a:off x="3297994" y="4855464"/>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67" name="Google Shape;67;p13"/>
          <p:cNvSpPr txBox="1"/>
          <p:nvPr>
            <p:ph type="title"/>
          </p:nvPr>
        </p:nvSpPr>
        <p:spPr>
          <a:xfrm>
            <a:off x="457200" y="173736"/>
            <a:ext cx="8229600" cy="704088"/>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transition spd="med">
    <p:fade/>
  </p:transition>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Title and Content">
  <p:cSld name="6_Title and Content">
    <p:spTree>
      <p:nvGrpSpPr>
        <p:cNvPr id="68" name="Shape 68"/>
        <p:cNvGrpSpPr/>
        <p:nvPr/>
      </p:nvGrpSpPr>
      <p:grpSpPr>
        <a:xfrm>
          <a:off x="0" y="0"/>
          <a:ext cx="0" cy="0"/>
          <a:chOff x="0" y="0"/>
          <a:chExt cx="0" cy="0"/>
        </a:xfrm>
      </p:grpSpPr>
      <p:sp>
        <p:nvSpPr>
          <p:cNvPr id="69" name="Google Shape;69;p14"/>
          <p:cNvSpPr txBox="1"/>
          <p:nvPr>
            <p:ph idx="1" type="body"/>
          </p:nvPr>
        </p:nvSpPr>
        <p:spPr>
          <a:xfrm>
            <a:off x="457200" y="1216372"/>
            <a:ext cx="8229600" cy="3340559"/>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a:lvl1pPr>
            <a:lvl2pPr indent="-342900" lvl="1" marL="914400" algn="l">
              <a:lnSpc>
                <a:spcPct val="85000"/>
              </a:lnSpc>
              <a:spcBef>
                <a:spcPts val="200"/>
              </a:spcBef>
              <a:spcAft>
                <a:spcPts val="0"/>
              </a:spcAft>
              <a:buClr>
                <a:schemeClr val="dk1"/>
              </a:buClr>
              <a:buSzPts val="1800"/>
              <a:buChar char="–"/>
              <a:defRPr/>
            </a:lvl2pPr>
            <a:lvl3pPr indent="-342900" lvl="2" marL="1371600" algn="l">
              <a:lnSpc>
                <a:spcPct val="85000"/>
              </a:lnSpc>
              <a:spcBef>
                <a:spcPts val="200"/>
              </a:spcBef>
              <a:spcAft>
                <a:spcPts val="0"/>
              </a:spcAft>
              <a:buClr>
                <a:schemeClr val="dk1"/>
              </a:buClr>
              <a:buSzPts val="1800"/>
              <a:buChar char="-"/>
              <a:defRPr/>
            </a:lvl3pPr>
            <a:lvl4pPr indent="-342900" lvl="3" marL="1828800" algn="l">
              <a:lnSpc>
                <a:spcPct val="95000"/>
              </a:lnSpc>
              <a:spcBef>
                <a:spcPts val="600"/>
              </a:spcBef>
              <a:spcAft>
                <a:spcPts val="0"/>
              </a:spcAft>
              <a:buClr>
                <a:schemeClr val="dk1"/>
              </a:buClr>
              <a:buSzPts val="1800"/>
              <a:buChar char="​"/>
              <a:defRPr/>
            </a:lvl4pPr>
            <a:lvl5pPr indent="-342900" lvl="4" marL="2286000" algn="l">
              <a:lnSpc>
                <a:spcPct val="95000"/>
              </a:lnSpc>
              <a:spcBef>
                <a:spcPts val="600"/>
              </a:spcBef>
              <a:spcAft>
                <a:spcPts val="0"/>
              </a:spcAft>
              <a:buClr>
                <a:schemeClr val="accent1"/>
              </a:buClr>
              <a:buSzPts val="1800"/>
              <a:buChar char="​"/>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70" name="Google Shape;70;p14"/>
          <p:cNvSpPr txBox="1"/>
          <p:nvPr>
            <p:ph type="title"/>
          </p:nvPr>
        </p:nvSpPr>
        <p:spPr>
          <a:xfrm>
            <a:off x="457200" y="164592"/>
            <a:ext cx="8229600" cy="704088"/>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Segue" showMasterSp="0">
  <p:cSld name="3_Segue">
    <p:bg>
      <p:bgPr>
        <a:solidFill>
          <a:schemeClr val="accent1"/>
        </a:solidFill>
      </p:bgPr>
    </p:bg>
    <p:spTree>
      <p:nvGrpSpPr>
        <p:cNvPr id="71" name="Shape 71"/>
        <p:cNvGrpSpPr/>
        <p:nvPr/>
      </p:nvGrpSpPr>
      <p:grpSpPr>
        <a:xfrm>
          <a:off x="0" y="0"/>
          <a:ext cx="0" cy="0"/>
          <a:chOff x="0" y="0"/>
          <a:chExt cx="0" cy="0"/>
        </a:xfrm>
      </p:grpSpPr>
      <p:sp>
        <p:nvSpPr>
          <p:cNvPr id="72" name="Google Shape;72;p15"/>
          <p:cNvSpPr txBox="1"/>
          <p:nvPr>
            <p:ph idx="1" type="body"/>
          </p:nvPr>
        </p:nvSpPr>
        <p:spPr>
          <a:xfrm>
            <a:off x="0" y="2342217"/>
            <a:ext cx="9144000" cy="459100"/>
          </a:xfrm>
          <a:prstGeom prst="rect">
            <a:avLst/>
          </a:prstGeom>
          <a:solidFill>
            <a:schemeClr val="lt1"/>
          </a:solidFill>
          <a:ln>
            <a:noFill/>
          </a:ln>
        </p:spPr>
        <p:txBody>
          <a:bodyPr anchorCtr="1" anchor="ctr" bIns="45700" lIns="457200" spcFirstLastPara="1" rIns="457200" wrap="square" tIns="45700">
            <a:noAutofit/>
          </a:bodyPr>
          <a:lstStyle>
            <a:lvl1pPr indent="-228600" lvl="0" marL="457200" algn="ctr">
              <a:lnSpc>
                <a:spcPct val="110000"/>
              </a:lnSpc>
              <a:spcBef>
                <a:spcPts val="200"/>
              </a:spcBef>
              <a:spcAft>
                <a:spcPts val="0"/>
              </a:spcAft>
              <a:buClr>
                <a:schemeClr val="accent1"/>
              </a:buClr>
              <a:buSzPts val="2200"/>
              <a:buFont typeface="Century Gothic"/>
              <a:buNone/>
              <a:defRPr sz="2200">
                <a:solidFill>
                  <a:schemeClr val="accent1"/>
                </a:solidFill>
              </a:defRPr>
            </a:lvl1pPr>
            <a:lvl2pPr indent="-342900" lvl="1" marL="914400" algn="ctr">
              <a:lnSpc>
                <a:spcPct val="100000"/>
              </a:lnSpc>
              <a:spcBef>
                <a:spcPts val="200"/>
              </a:spcBef>
              <a:spcAft>
                <a:spcPts val="0"/>
              </a:spcAft>
              <a:buClr>
                <a:schemeClr val="accent1"/>
              </a:buClr>
              <a:buSzPts val="1800"/>
              <a:buFont typeface="Arial"/>
              <a:buChar char="​"/>
              <a:defRPr sz="1800">
                <a:solidFill>
                  <a:schemeClr val="accent1"/>
                </a:solidFill>
              </a:defRPr>
            </a:lvl2pPr>
            <a:lvl3pPr indent="-317500" lvl="2" marL="1371600" algn="ctr">
              <a:lnSpc>
                <a:spcPct val="85000"/>
              </a:lnSpc>
              <a:spcBef>
                <a:spcPts val="600"/>
              </a:spcBef>
              <a:spcAft>
                <a:spcPts val="0"/>
              </a:spcAft>
              <a:buClr>
                <a:schemeClr val="accent1"/>
              </a:buClr>
              <a:buSzPts val="1400"/>
              <a:buFont typeface="Arial"/>
              <a:buChar char="​"/>
              <a:defRPr b="1" sz="1400">
                <a:solidFill>
                  <a:schemeClr val="accent1"/>
                </a:solidFill>
              </a:defRPr>
            </a:lvl3pPr>
            <a:lvl4pPr indent="-317500" lvl="3" marL="1828800" algn="ctr">
              <a:lnSpc>
                <a:spcPct val="85000"/>
              </a:lnSpc>
              <a:spcBef>
                <a:spcPts val="200"/>
              </a:spcBef>
              <a:spcAft>
                <a:spcPts val="0"/>
              </a:spcAft>
              <a:buClr>
                <a:schemeClr val="accent1"/>
              </a:buClr>
              <a:buSzPts val="1400"/>
              <a:buFont typeface="Arial"/>
              <a:buChar char="​"/>
              <a:defRPr b="0" sz="1400">
                <a:solidFill>
                  <a:schemeClr val="accent1"/>
                </a:solidFill>
              </a:defRPr>
            </a:lvl4pPr>
            <a:lvl5pPr indent="-317500" lvl="4" marL="2286000" algn="ctr">
              <a:lnSpc>
                <a:spcPct val="85000"/>
              </a:lnSpc>
              <a:spcBef>
                <a:spcPts val="200"/>
              </a:spcBef>
              <a:spcAft>
                <a:spcPts val="0"/>
              </a:spcAft>
              <a:buClr>
                <a:schemeClr val="accent1"/>
              </a:buClr>
              <a:buSzPts val="1400"/>
              <a:buFont typeface="Arial"/>
              <a:buChar char="​"/>
              <a:defRPr b="0" sz="1400">
                <a:solidFill>
                  <a:schemeClr val="accent1"/>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73" name="Google Shape;73;p15"/>
          <p:cNvSpPr txBox="1"/>
          <p:nvPr/>
        </p:nvSpPr>
        <p:spPr>
          <a:xfrm>
            <a:off x="153254" y="4837176"/>
            <a:ext cx="133221" cy="130805"/>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lang="en-GB" sz="850">
                <a:solidFill>
                  <a:schemeClr val="lt2"/>
                </a:solidFill>
                <a:latin typeface="Century Gothic"/>
                <a:ea typeface="Century Gothic"/>
                <a:cs typeface="Century Gothic"/>
                <a:sym typeface="Century Gothic"/>
              </a:rPr>
              <a:t>‹#›</a:t>
            </a:fld>
            <a:endParaRPr sz="850">
              <a:solidFill>
                <a:schemeClr val="lt2"/>
              </a:solidFill>
              <a:latin typeface="Century Gothic"/>
              <a:ea typeface="Century Gothic"/>
              <a:cs typeface="Century Gothic"/>
              <a:sym typeface="Century Gothic"/>
            </a:endParaRPr>
          </a:p>
        </p:txBody>
      </p:sp>
    </p:spTree>
  </p:cSld>
  <p:clrMapOvr>
    <a:masterClrMapping/>
  </p:clrMapOvr>
  <p:transition spd="med">
    <p:fade/>
  </p:transition>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Segue" showMasterSp="0">
  <p:cSld name="2_Segue">
    <p:bg>
      <p:bgPr>
        <a:solidFill>
          <a:schemeClr val="accent1"/>
        </a:solidFill>
      </p:bgPr>
    </p:bg>
    <p:spTree>
      <p:nvGrpSpPr>
        <p:cNvPr id="74" name="Shape 74"/>
        <p:cNvGrpSpPr/>
        <p:nvPr/>
      </p:nvGrpSpPr>
      <p:grpSpPr>
        <a:xfrm>
          <a:off x="0" y="0"/>
          <a:ext cx="0" cy="0"/>
          <a:chOff x="0" y="0"/>
          <a:chExt cx="0" cy="0"/>
        </a:xfrm>
      </p:grpSpPr>
      <p:sp>
        <p:nvSpPr>
          <p:cNvPr id="75" name="Google Shape;75;p16"/>
          <p:cNvSpPr txBox="1"/>
          <p:nvPr>
            <p:ph idx="1" type="body"/>
          </p:nvPr>
        </p:nvSpPr>
        <p:spPr>
          <a:xfrm>
            <a:off x="0" y="2342217"/>
            <a:ext cx="9144000" cy="459100"/>
          </a:xfrm>
          <a:prstGeom prst="rect">
            <a:avLst/>
          </a:prstGeom>
          <a:solidFill>
            <a:schemeClr val="lt1"/>
          </a:solidFill>
          <a:ln>
            <a:noFill/>
          </a:ln>
        </p:spPr>
        <p:txBody>
          <a:bodyPr anchorCtr="1" anchor="ctr" bIns="45700" lIns="457200" spcFirstLastPara="1" rIns="457200" wrap="square" tIns="45700">
            <a:noAutofit/>
          </a:bodyPr>
          <a:lstStyle>
            <a:lvl1pPr indent="-228600" lvl="0" marL="457200" algn="ctr">
              <a:lnSpc>
                <a:spcPct val="110000"/>
              </a:lnSpc>
              <a:spcBef>
                <a:spcPts val="200"/>
              </a:spcBef>
              <a:spcAft>
                <a:spcPts val="0"/>
              </a:spcAft>
              <a:buClr>
                <a:schemeClr val="accent1"/>
              </a:buClr>
              <a:buSzPts val="2200"/>
              <a:buFont typeface="Century Gothic"/>
              <a:buNone/>
              <a:defRPr sz="2200">
                <a:solidFill>
                  <a:schemeClr val="accent1"/>
                </a:solidFill>
              </a:defRPr>
            </a:lvl1pPr>
            <a:lvl2pPr indent="-342900" lvl="1" marL="914400" algn="ctr">
              <a:lnSpc>
                <a:spcPct val="100000"/>
              </a:lnSpc>
              <a:spcBef>
                <a:spcPts val="200"/>
              </a:spcBef>
              <a:spcAft>
                <a:spcPts val="0"/>
              </a:spcAft>
              <a:buClr>
                <a:schemeClr val="accent1"/>
              </a:buClr>
              <a:buSzPts val="1800"/>
              <a:buFont typeface="Arial"/>
              <a:buChar char="​"/>
              <a:defRPr sz="1800">
                <a:solidFill>
                  <a:schemeClr val="accent1"/>
                </a:solidFill>
              </a:defRPr>
            </a:lvl2pPr>
            <a:lvl3pPr indent="-317500" lvl="2" marL="1371600" algn="ctr">
              <a:lnSpc>
                <a:spcPct val="85000"/>
              </a:lnSpc>
              <a:spcBef>
                <a:spcPts val="600"/>
              </a:spcBef>
              <a:spcAft>
                <a:spcPts val="0"/>
              </a:spcAft>
              <a:buClr>
                <a:schemeClr val="accent1"/>
              </a:buClr>
              <a:buSzPts val="1400"/>
              <a:buFont typeface="Arial"/>
              <a:buChar char="​"/>
              <a:defRPr b="1" sz="1400">
                <a:solidFill>
                  <a:schemeClr val="accent1"/>
                </a:solidFill>
              </a:defRPr>
            </a:lvl3pPr>
            <a:lvl4pPr indent="-317500" lvl="3" marL="1828800" algn="ctr">
              <a:lnSpc>
                <a:spcPct val="85000"/>
              </a:lnSpc>
              <a:spcBef>
                <a:spcPts val="200"/>
              </a:spcBef>
              <a:spcAft>
                <a:spcPts val="0"/>
              </a:spcAft>
              <a:buClr>
                <a:schemeClr val="accent1"/>
              </a:buClr>
              <a:buSzPts val="1400"/>
              <a:buFont typeface="Arial"/>
              <a:buChar char="​"/>
              <a:defRPr b="0" sz="1400">
                <a:solidFill>
                  <a:schemeClr val="accent1"/>
                </a:solidFill>
              </a:defRPr>
            </a:lvl4pPr>
            <a:lvl5pPr indent="-317500" lvl="4" marL="2286000" algn="ctr">
              <a:lnSpc>
                <a:spcPct val="85000"/>
              </a:lnSpc>
              <a:spcBef>
                <a:spcPts val="200"/>
              </a:spcBef>
              <a:spcAft>
                <a:spcPts val="0"/>
              </a:spcAft>
              <a:buClr>
                <a:schemeClr val="accent1"/>
              </a:buClr>
              <a:buSzPts val="1400"/>
              <a:buFont typeface="Arial"/>
              <a:buChar char="​"/>
              <a:defRPr b="0" sz="1400">
                <a:solidFill>
                  <a:schemeClr val="accent1"/>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76" name="Google Shape;76;p16"/>
          <p:cNvSpPr txBox="1"/>
          <p:nvPr/>
        </p:nvSpPr>
        <p:spPr>
          <a:xfrm>
            <a:off x="153254" y="4837176"/>
            <a:ext cx="133221" cy="130805"/>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lang="en-GB" sz="850">
                <a:solidFill>
                  <a:schemeClr val="lt2"/>
                </a:solidFill>
                <a:latin typeface="Century Gothic"/>
                <a:ea typeface="Century Gothic"/>
                <a:cs typeface="Century Gothic"/>
                <a:sym typeface="Century Gothic"/>
              </a:rPr>
              <a:t>‹#›</a:t>
            </a:fld>
            <a:endParaRPr sz="850">
              <a:solidFill>
                <a:schemeClr val="lt2"/>
              </a:solidFill>
              <a:latin typeface="Century Gothic"/>
              <a:ea typeface="Century Gothic"/>
              <a:cs typeface="Century Gothic"/>
              <a:sym typeface="Century Gothic"/>
            </a:endParaRPr>
          </a:p>
        </p:txBody>
      </p:sp>
    </p:spTree>
  </p:cSld>
  <p:clrMapOvr>
    <a:masterClrMapping/>
  </p:clrMapOvr>
  <p:transition spd="med">
    <p:fade/>
  </p:transition>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Text, and 2 Content">
  <p:cSld name="1_Title, Text, and 2 Content">
    <p:spTree>
      <p:nvGrpSpPr>
        <p:cNvPr id="77" name="Shape 77"/>
        <p:cNvGrpSpPr/>
        <p:nvPr/>
      </p:nvGrpSpPr>
      <p:grpSpPr>
        <a:xfrm>
          <a:off x="0" y="0"/>
          <a:ext cx="0" cy="0"/>
          <a:chOff x="0" y="0"/>
          <a:chExt cx="0" cy="0"/>
        </a:xfrm>
      </p:grpSpPr>
      <p:sp>
        <p:nvSpPr>
          <p:cNvPr id="78" name="Google Shape;78;p17"/>
          <p:cNvSpPr txBox="1"/>
          <p:nvPr>
            <p:ph type="title"/>
          </p:nvPr>
        </p:nvSpPr>
        <p:spPr>
          <a:xfrm>
            <a:off x="466725" y="3747"/>
            <a:ext cx="5087938" cy="617601"/>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17"/>
          <p:cNvSpPr/>
          <p:nvPr/>
        </p:nvSpPr>
        <p:spPr>
          <a:xfrm>
            <a:off x="0" y="777875"/>
            <a:ext cx="7205662" cy="1160709"/>
          </a:xfrm>
          <a:prstGeom prst="rect">
            <a:avLst/>
          </a:prstGeom>
          <a:solidFill>
            <a:srgbClr val="005AA4"/>
          </a:solidFill>
          <a:ln>
            <a:noFill/>
          </a:ln>
          <a:effectLst>
            <a:outerShdw blurRad="50800" rotWithShape="0" algn="tl" dir="2700000" dist="38100">
              <a:srgbClr val="000000">
                <a:alpha val="40000"/>
              </a:srgbClr>
            </a:outerShdw>
          </a:effectLst>
        </p:spPr>
        <p:txBody>
          <a:bodyPr anchorCtr="0" anchor="ctr" bIns="91425" lIns="91425" spcFirstLastPara="1" rIns="91425" wrap="square" tIns="91425">
            <a:noAutofit/>
          </a:bodyPr>
          <a:lstStyle/>
          <a:p>
            <a:pPr indent="0" lvl="1" marL="406400" marR="0" rtl="0" algn="l">
              <a:spcBef>
                <a:spcPts val="0"/>
              </a:spcBef>
              <a:spcAft>
                <a:spcPts val="0"/>
              </a:spcAft>
              <a:buNone/>
            </a:pPr>
            <a:r>
              <a:t/>
            </a:r>
            <a:endParaRPr b="0" i="0" sz="1400" u="none" cap="none" strike="noStrike">
              <a:solidFill>
                <a:schemeClr val="lt1"/>
              </a:solidFill>
              <a:latin typeface="Century Gothic"/>
              <a:ea typeface="Century Gothic"/>
              <a:cs typeface="Century Gothic"/>
              <a:sym typeface="Century Gothic"/>
            </a:endParaRPr>
          </a:p>
        </p:txBody>
      </p:sp>
      <p:sp>
        <p:nvSpPr>
          <p:cNvPr id="80" name="Google Shape;80;p17"/>
          <p:cNvSpPr txBox="1"/>
          <p:nvPr>
            <p:ph idx="1" type="body"/>
          </p:nvPr>
        </p:nvSpPr>
        <p:spPr>
          <a:xfrm>
            <a:off x="449263" y="2201863"/>
            <a:ext cx="4866449" cy="2652712"/>
          </a:xfrm>
          <a:prstGeom prst="rect">
            <a:avLst/>
          </a:prstGeom>
          <a:noFill/>
          <a:ln>
            <a:noFill/>
          </a:ln>
        </p:spPr>
        <p:txBody>
          <a:bodyPr anchorCtr="0" anchor="t" bIns="0" lIns="0" spcFirstLastPara="1" rIns="0" wrap="square" tIns="0">
            <a:noAutofit/>
          </a:bodyPr>
          <a:lstStyle>
            <a:lvl1pPr indent="-228600" lvl="0" marL="457200" algn="l">
              <a:lnSpc>
                <a:spcPct val="95000"/>
              </a:lnSpc>
              <a:spcBef>
                <a:spcPts val="600"/>
              </a:spcBef>
              <a:spcAft>
                <a:spcPts val="0"/>
              </a:spcAft>
              <a:buClr>
                <a:schemeClr val="dk2"/>
              </a:buClr>
              <a:buSzPts val="1800"/>
              <a:buNone/>
              <a:defRPr sz="1800">
                <a:solidFill>
                  <a:schemeClr val="dk2"/>
                </a:solidFill>
              </a:defRPr>
            </a:lvl1pPr>
            <a:lvl2pPr indent="-317500" lvl="1" marL="914400" algn="l">
              <a:lnSpc>
                <a:spcPct val="100000"/>
              </a:lnSpc>
              <a:spcBef>
                <a:spcPts val="200"/>
              </a:spcBef>
              <a:spcAft>
                <a:spcPts val="0"/>
              </a:spcAft>
              <a:buClr>
                <a:schemeClr val="dk1"/>
              </a:buClr>
              <a:buSzPts val="1400"/>
              <a:buFont typeface="Arial"/>
              <a:buChar char="•"/>
              <a:defRPr sz="1400"/>
            </a:lvl2pPr>
            <a:lvl3pPr indent="-342900" lvl="2" marL="1371600" algn="l">
              <a:lnSpc>
                <a:spcPct val="85000"/>
              </a:lnSpc>
              <a:spcBef>
                <a:spcPts val="600"/>
              </a:spcBef>
              <a:spcAft>
                <a:spcPts val="0"/>
              </a:spcAft>
              <a:buClr>
                <a:schemeClr val="dk1"/>
              </a:buClr>
              <a:buSzPts val="1800"/>
              <a:buChar char="-"/>
              <a:defRPr/>
            </a:lvl3pPr>
            <a:lvl4pPr indent="-342900" lvl="3" marL="1828800" algn="l">
              <a:lnSpc>
                <a:spcPct val="95000"/>
              </a:lnSpc>
              <a:spcBef>
                <a:spcPts val="600"/>
              </a:spcBef>
              <a:spcAft>
                <a:spcPts val="0"/>
              </a:spcAft>
              <a:buClr>
                <a:schemeClr val="dk1"/>
              </a:buClr>
              <a:buSzPts val="1800"/>
              <a:buChar char="​"/>
              <a:defRPr/>
            </a:lvl4pPr>
            <a:lvl5pPr indent="-342900" lvl="4" marL="2286000" algn="l">
              <a:lnSpc>
                <a:spcPct val="95000"/>
              </a:lnSpc>
              <a:spcBef>
                <a:spcPts val="600"/>
              </a:spcBef>
              <a:spcAft>
                <a:spcPts val="0"/>
              </a:spcAft>
              <a:buClr>
                <a:schemeClr val="accent1"/>
              </a:buClr>
              <a:buSzPts val="1800"/>
              <a:buChar char="​"/>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81" name="Google Shape;81;p17"/>
          <p:cNvSpPr txBox="1"/>
          <p:nvPr>
            <p:ph idx="2" type="body"/>
          </p:nvPr>
        </p:nvSpPr>
        <p:spPr>
          <a:xfrm>
            <a:off x="449262" y="904312"/>
            <a:ext cx="6622097" cy="1029264"/>
          </a:xfrm>
          <a:prstGeom prst="rect">
            <a:avLst/>
          </a:prstGeom>
          <a:noFill/>
          <a:ln>
            <a:noFill/>
          </a:ln>
        </p:spPr>
        <p:txBody>
          <a:bodyPr anchorCtr="0" anchor="t" bIns="0" lIns="0" spcFirstLastPara="1" rIns="0" wrap="square" tIns="0">
            <a:noAutofit/>
          </a:bodyPr>
          <a:lstStyle>
            <a:lvl1pPr indent="-228600" lvl="0" marL="457200" algn="l">
              <a:lnSpc>
                <a:spcPct val="95000"/>
              </a:lnSpc>
              <a:spcBef>
                <a:spcPts val="600"/>
              </a:spcBef>
              <a:spcAft>
                <a:spcPts val="0"/>
              </a:spcAft>
              <a:buClr>
                <a:schemeClr val="lt1"/>
              </a:buClr>
              <a:buSzPts val="1800"/>
              <a:buNone/>
              <a:defRPr sz="1800">
                <a:solidFill>
                  <a:schemeClr val="lt1"/>
                </a:solidFill>
              </a:defRPr>
            </a:lvl1pPr>
            <a:lvl2pPr indent="-342900" lvl="1" marL="914400" algn="l">
              <a:lnSpc>
                <a:spcPct val="85000"/>
              </a:lnSpc>
              <a:spcBef>
                <a:spcPts val="200"/>
              </a:spcBef>
              <a:spcAft>
                <a:spcPts val="0"/>
              </a:spcAft>
              <a:buClr>
                <a:schemeClr val="dk1"/>
              </a:buClr>
              <a:buSzPts val="1800"/>
              <a:buChar char="–"/>
              <a:defRPr sz="1800"/>
            </a:lvl2pPr>
            <a:lvl3pPr indent="-342900" lvl="2" marL="1371600" algn="l">
              <a:lnSpc>
                <a:spcPct val="85000"/>
              </a:lnSpc>
              <a:spcBef>
                <a:spcPts val="200"/>
              </a:spcBef>
              <a:spcAft>
                <a:spcPts val="0"/>
              </a:spcAft>
              <a:buClr>
                <a:schemeClr val="dk1"/>
              </a:buClr>
              <a:buSzPts val="1800"/>
              <a:buChar char="-"/>
              <a:defRPr sz="1800"/>
            </a:lvl3pPr>
            <a:lvl4pPr indent="-342900" lvl="3" marL="1828800" algn="l">
              <a:lnSpc>
                <a:spcPct val="95000"/>
              </a:lnSpc>
              <a:spcBef>
                <a:spcPts val="600"/>
              </a:spcBef>
              <a:spcAft>
                <a:spcPts val="0"/>
              </a:spcAft>
              <a:buClr>
                <a:schemeClr val="dk1"/>
              </a:buClr>
              <a:buSzPts val="1800"/>
              <a:buChar char="​"/>
              <a:defRPr sz="1800"/>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ase Study_Option2">
  <p:cSld name="2_Case Study_Option2">
    <p:spTree>
      <p:nvGrpSpPr>
        <p:cNvPr id="82" name="Shape 82"/>
        <p:cNvGrpSpPr/>
        <p:nvPr/>
      </p:nvGrpSpPr>
      <p:grpSpPr>
        <a:xfrm>
          <a:off x="0" y="0"/>
          <a:ext cx="0" cy="0"/>
          <a:chOff x="0" y="0"/>
          <a:chExt cx="0" cy="0"/>
        </a:xfrm>
      </p:grpSpPr>
      <p:sp>
        <p:nvSpPr>
          <p:cNvPr id="83" name="Google Shape;83;p18"/>
          <p:cNvSpPr txBox="1"/>
          <p:nvPr>
            <p:ph idx="1" type="body"/>
          </p:nvPr>
        </p:nvSpPr>
        <p:spPr>
          <a:xfrm>
            <a:off x="3495437" y="128016"/>
            <a:ext cx="5648693" cy="914400"/>
          </a:xfrm>
          <a:prstGeom prst="rect">
            <a:avLst/>
          </a:prstGeom>
          <a:solidFill>
            <a:srgbClr val="0079DB"/>
          </a:solidFill>
          <a:ln>
            <a:noFill/>
          </a:ln>
        </p:spPr>
        <p:txBody>
          <a:bodyPr anchorCtr="0" anchor="b" bIns="227825" lIns="227825" spcFirstLastPara="1" rIns="455800" wrap="square" tIns="136775">
            <a:noAutofit/>
          </a:bodyPr>
          <a:lstStyle>
            <a:lvl1pPr indent="-368300" lvl="0" marL="457200" algn="l">
              <a:lnSpc>
                <a:spcPct val="85000"/>
              </a:lnSpc>
              <a:spcBef>
                <a:spcPts val="200"/>
              </a:spcBef>
              <a:spcAft>
                <a:spcPts val="0"/>
              </a:spcAft>
              <a:buClr>
                <a:schemeClr val="lt1"/>
              </a:buClr>
              <a:buSzPts val="2200"/>
              <a:buFont typeface="Arial"/>
              <a:buChar char="​"/>
              <a:defRPr sz="2200">
                <a:solidFill>
                  <a:schemeClr val="lt1"/>
                </a:solidFill>
              </a:defRPr>
            </a:lvl1pPr>
            <a:lvl2pPr indent="-342900" lvl="1" marL="914400" algn="l">
              <a:lnSpc>
                <a:spcPct val="85000"/>
              </a:lnSpc>
              <a:spcBef>
                <a:spcPts val="200"/>
              </a:spcBef>
              <a:spcAft>
                <a:spcPts val="0"/>
              </a:spcAft>
              <a:buClr>
                <a:schemeClr val="lt1"/>
              </a:buClr>
              <a:buSzPts val="1800"/>
              <a:buFont typeface="Arial"/>
              <a:buChar char="​"/>
              <a:defRPr sz="1800">
                <a:solidFill>
                  <a:schemeClr val="lt1"/>
                </a:solidFill>
              </a:defRPr>
            </a:lvl2pPr>
            <a:lvl3pPr indent="-317500" lvl="2" marL="1371600" algn="l">
              <a:lnSpc>
                <a:spcPct val="85000"/>
              </a:lnSpc>
              <a:spcBef>
                <a:spcPts val="600"/>
              </a:spcBef>
              <a:spcAft>
                <a:spcPts val="0"/>
              </a:spcAft>
              <a:buClr>
                <a:schemeClr val="lt1"/>
              </a:buClr>
              <a:buSzPts val="1400"/>
              <a:buFont typeface="Arial"/>
              <a:buChar char="​"/>
              <a:defRPr b="1" sz="1400">
                <a:solidFill>
                  <a:schemeClr val="lt1"/>
                </a:solidFill>
              </a:defRPr>
            </a:lvl3pPr>
            <a:lvl4pPr indent="-317500" lvl="3" marL="1828800" algn="l">
              <a:lnSpc>
                <a:spcPct val="85000"/>
              </a:lnSpc>
              <a:spcBef>
                <a:spcPts val="200"/>
              </a:spcBef>
              <a:spcAft>
                <a:spcPts val="0"/>
              </a:spcAft>
              <a:buClr>
                <a:schemeClr val="lt1"/>
              </a:buClr>
              <a:buSzPts val="1400"/>
              <a:buFont typeface="Arial"/>
              <a:buChar char="​"/>
              <a:defRPr b="0" sz="1400">
                <a:solidFill>
                  <a:schemeClr val="lt1"/>
                </a:solidFill>
              </a:defRPr>
            </a:lvl4pPr>
            <a:lvl5pPr indent="-317500" lvl="4" marL="2286000" algn="l">
              <a:lnSpc>
                <a:spcPct val="85000"/>
              </a:lnSpc>
              <a:spcBef>
                <a:spcPts val="200"/>
              </a:spcBef>
              <a:spcAft>
                <a:spcPts val="0"/>
              </a:spcAft>
              <a:buClr>
                <a:schemeClr val="lt1"/>
              </a:buClr>
              <a:buSzPts val="1400"/>
              <a:buFont typeface="Arial"/>
              <a:buChar char="​"/>
              <a:defRPr b="0" sz="1400">
                <a:solidFill>
                  <a:schemeClr val="lt1"/>
                </a:solidFill>
              </a:defRPr>
            </a:lvl5pPr>
            <a:lvl6pPr indent="-317500" lvl="5" marL="2743200" algn="ctr">
              <a:lnSpc>
                <a:spcPct val="85000"/>
              </a:lnSpc>
              <a:spcBef>
                <a:spcPts val="200"/>
              </a:spcBef>
              <a:spcAft>
                <a:spcPts val="0"/>
              </a:spcAft>
              <a:buClr>
                <a:schemeClr val="lt1"/>
              </a:buClr>
              <a:buSzPts val="1400"/>
              <a:buFont typeface="Arial"/>
              <a:buChar char="​"/>
              <a:defRPr b="0" sz="1400">
                <a:solidFill>
                  <a:schemeClr val="lt1"/>
                </a:solidFill>
              </a:defRPr>
            </a:lvl6pPr>
            <a:lvl7pPr indent="-317500" lvl="6" marL="3200400" algn="ctr">
              <a:lnSpc>
                <a:spcPct val="85000"/>
              </a:lnSpc>
              <a:spcBef>
                <a:spcPts val="200"/>
              </a:spcBef>
              <a:spcAft>
                <a:spcPts val="0"/>
              </a:spcAft>
              <a:buClr>
                <a:schemeClr val="lt1"/>
              </a:buClr>
              <a:buSzPts val="1400"/>
              <a:buFont typeface="Arial"/>
              <a:buChar char="​"/>
              <a:defRPr b="0" sz="1400">
                <a:solidFill>
                  <a:schemeClr val="lt1"/>
                </a:solidFill>
              </a:defRPr>
            </a:lvl7pPr>
            <a:lvl8pPr indent="-317500" lvl="7" marL="3657600" algn="ctr">
              <a:lnSpc>
                <a:spcPct val="85000"/>
              </a:lnSpc>
              <a:spcBef>
                <a:spcPts val="200"/>
              </a:spcBef>
              <a:spcAft>
                <a:spcPts val="0"/>
              </a:spcAft>
              <a:buClr>
                <a:schemeClr val="lt1"/>
              </a:buClr>
              <a:buSzPts val="1400"/>
              <a:buFont typeface="Arial"/>
              <a:buChar char="​"/>
              <a:defRPr b="0" sz="1400">
                <a:solidFill>
                  <a:schemeClr val="lt1"/>
                </a:solidFill>
              </a:defRPr>
            </a:lvl8pPr>
            <a:lvl9pPr indent="-317500" lvl="8" marL="4114800" algn="ctr">
              <a:lnSpc>
                <a:spcPct val="85000"/>
              </a:lnSpc>
              <a:spcBef>
                <a:spcPts val="200"/>
              </a:spcBef>
              <a:spcAft>
                <a:spcPts val="200"/>
              </a:spcAft>
              <a:buClr>
                <a:schemeClr val="lt1"/>
              </a:buClr>
              <a:buSzPts val="1400"/>
              <a:buFont typeface="Arial"/>
              <a:buChar char="​"/>
              <a:defRPr b="0" sz="1400">
                <a:solidFill>
                  <a:schemeClr val="lt1"/>
                </a:solidFill>
              </a:defRPr>
            </a:lvl9pPr>
          </a:lstStyle>
          <a:p/>
        </p:txBody>
      </p:sp>
      <p:sp>
        <p:nvSpPr>
          <p:cNvPr id="84" name="Google Shape;84;p18"/>
          <p:cNvSpPr/>
          <p:nvPr>
            <p:ph idx="2" type="pic"/>
          </p:nvPr>
        </p:nvSpPr>
        <p:spPr>
          <a:xfrm>
            <a:off x="0" y="0"/>
            <a:ext cx="2971800" cy="5143500"/>
          </a:xfrm>
          <a:prstGeom prst="rect">
            <a:avLst/>
          </a:prstGeom>
          <a:noFill/>
          <a:ln>
            <a:noFill/>
          </a:ln>
        </p:spPr>
        <p:txBody>
          <a:bodyPr anchorCtr="0" anchor="t" bIns="0" lIns="0" spcFirstLastPara="1" rIns="0" wrap="square" tIns="0">
            <a:noAutofit/>
          </a:bodyPr>
          <a:lstStyle>
            <a:lvl1pPr lvl="0" marR="0" rtl="0" algn="ctr">
              <a:lnSpc>
                <a:spcPct val="95000"/>
              </a:lnSpc>
              <a:spcBef>
                <a:spcPts val="600"/>
              </a:spcBef>
              <a:spcAft>
                <a:spcPts val="0"/>
              </a:spcAft>
              <a:buClr>
                <a:schemeClr val="dk1"/>
              </a:buClr>
              <a:buSzPts val="1600"/>
              <a:buFont typeface="Arial"/>
              <a:buNone/>
              <a:defRPr b="0" i="0" sz="1600" u="none" cap="none" strike="noStrike">
                <a:solidFill>
                  <a:schemeClr val="dk1"/>
                </a:solidFill>
                <a:latin typeface="Century Gothic"/>
                <a:ea typeface="Century Gothic"/>
                <a:cs typeface="Century Gothic"/>
                <a:sym typeface="Century Gothic"/>
              </a:defRPr>
            </a:lvl1pPr>
            <a:lvl2pPr lvl="1" marR="0" rtl="0" algn="l">
              <a:lnSpc>
                <a:spcPct val="85000"/>
              </a:lnSpc>
              <a:spcBef>
                <a:spcPts val="200"/>
              </a:spcBef>
              <a:spcAft>
                <a:spcPts val="0"/>
              </a:spcAft>
              <a:buClr>
                <a:schemeClr val="dk1"/>
              </a:buClr>
              <a:buSzPts val="1600"/>
              <a:buFont typeface="Arial"/>
              <a:buChar char="–"/>
              <a:defRPr b="0" i="0" sz="1600" u="none" cap="none" strike="noStrike">
                <a:solidFill>
                  <a:schemeClr val="dk1"/>
                </a:solidFill>
                <a:latin typeface="Century Gothic"/>
                <a:ea typeface="Century Gothic"/>
                <a:cs typeface="Century Gothic"/>
                <a:sym typeface="Century Gothic"/>
              </a:defRPr>
            </a:lvl2pPr>
            <a:lvl3pPr lvl="2" marR="0" rtl="0" algn="l">
              <a:lnSpc>
                <a:spcPct val="85000"/>
              </a:lnSpc>
              <a:spcBef>
                <a:spcPts val="200"/>
              </a:spcBef>
              <a:spcAft>
                <a:spcPts val="0"/>
              </a:spcAft>
              <a:buClr>
                <a:schemeClr val="dk1"/>
              </a:buClr>
              <a:buSzPts val="1400"/>
              <a:buFont typeface="Arial"/>
              <a:buChar char="-"/>
              <a:defRPr b="0" i="0" sz="1400" u="none" cap="none" strike="noStrike">
                <a:solidFill>
                  <a:schemeClr val="dk1"/>
                </a:solidFill>
                <a:latin typeface="Century Gothic"/>
                <a:ea typeface="Century Gothic"/>
                <a:cs typeface="Century Gothic"/>
                <a:sym typeface="Century Gothic"/>
              </a:defRPr>
            </a:lvl3pPr>
            <a:lvl4pPr lvl="3"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4pPr>
            <a:lvl5pPr lvl="4" marR="0" rtl="0" algn="l">
              <a:lnSpc>
                <a:spcPct val="95000"/>
              </a:lnSpc>
              <a:spcBef>
                <a:spcPts val="600"/>
              </a:spcBef>
              <a:spcAft>
                <a:spcPts val="0"/>
              </a:spcAft>
              <a:buClr>
                <a:schemeClr val="accent1"/>
              </a:buClr>
              <a:buSzPts val="1800"/>
              <a:buFont typeface="Arial"/>
              <a:buChar char="​"/>
              <a:defRPr b="0" i="0" sz="1800" u="none" cap="none" strike="noStrike">
                <a:solidFill>
                  <a:schemeClr val="accent1"/>
                </a:solidFill>
                <a:latin typeface="Century Gothic"/>
                <a:ea typeface="Century Gothic"/>
                <a:cs typeface="Century Gothic"/>
                <a:sym typeface="Century Gothic"/>
              </a:defRPr>
            </a:lvl5pPr>
            <a:lvl6pPr lvl="5" marR="0" rtl="0" algn="l">
              <a:lnSpc>
                <a:spcPct val="95000"/>
              </a:lnSpc>
              <a:spcBef>
                <a:spcPts val="600"/>
              </a:spcBef>
              <a:spcAft>
                <a:spcPts val="0"/>
              </a:spcAft>
              <a:buClr>
                <a:schemeClr val="accent2"/>
              </a:buClr>
              <a:buSzPts val="1800"/>
              <a:buFont typeface="Arial"/>
              <a:buChar char="​"/>
              <a:defRPr b="0" i="0" sz="1800" u="none" cap="none" strike="noStrike">
                <a:solidFill>
                  <a:schemeClr val="accent2"/>
                </a:solidFill>
                <a:latin typeface="Century Gothic"/>
                <a:ea typeface="Century Gothic"/>
                <a:cs typeface="Century Gothic"/>
                <a:sym typeface="Century Gothic"/>
              </a:defRPr>
            </a:lvl6pPr>
            <a:lvl7pPr lvl="6" marR="0" rtl="0" algn="l">
              <a:lnSpc>
                <a:spcPct val="95000"/>
              </a:lnSpc>
              <a:spcBef>
                <a:spcPts val="1000"/>
              </a:spcBef>
              <a:spcAft>
                <a:spcPts val="0"/>
              </a:spcAft>
              <a:buClr>
                <a:schemeClr val="dk1"/>
              </a:buClr>
              <a:buSzPts val="1800"/>
              <a:buFont typeface="Arial"/>
              <a:buChar char="​"/>
              <a:defRPr b="1" i="0" sz="1800" u="none" cap="none" strike="noStrike">
                <a:solidFill>
                  <a:schemeClr val="dk1"/>
                </a:solidFill>
                <a:latin typeface="Century Gothic"/>
                <a:ea typeface="Century Gothic"/>
                <a:cs typeface="Century Gothic"/>
                <a:sym typeface="Century Gothic"/>
              </a:defRPr>
            </a:lvl7pPr>
            <a:lvl8pPr lvl="7" marR="0" rtl="0" algn="l">
              <a:lnSpc>
                <a:spcPct val="95000"/>
              </a:lnSpc>
              <a:spcBef>
                <a:spcPts val="200"/>
              </a:spcBef>
              <a:spcAft>
                <a:spcPts val="0"/>
              </a:spcAft>
              <a:buClr>
                <a:schemeClr val="dk1"/>
              </a:buClr>
              <a:buSzPts val="1800"/>
              <a:buFont typeface="Century Gothic"/>
              <a:buAutoNum type="arabicPeriod"/>
              <a:defRPr b="0" i="0" sz="1800" u="none" cap="none" strike="noStrike">
                <a:solidFill>
                  <a:schemeClr val="dk1"/>
                </a:solidFill>
                <a:latin typeface="Century Gothic"/>
                <a:ea typeface="Century Gothic"/>
                <a:cs typeface="Century Gothic"/>
                <a:sym typeface="Century Gothic"/>
              </a:defRPr>
            </a:lvl8pPr>
            <a:lvl9pPr lvl="8" marR="0" rtl="0" algn="l">
              <a:lnSpc>
                <a:spcPct val="95000"/>
              </a:lnSpc>
              <a:spcBef>
                <a:spcPts val="400"/>
              </a:spcBef>
              <a:spcAft>
                <a:spcPts val="400"/>
              </a:spcAft>
              <a:buClr>
                <a:schemeClr val="accent6"/>
              </a:buClr>
              <a:buSzPts val="900"/>
              <a:buFont typeface="Arial"/>
              <a:buChar char="​"/>
              <a:defRPr b="0" i="0" sz="900" u="none" cap="none" strike="noStrike">
                <a:solidFill>
                  <a:schemeClr val="accent6"/>
                </a:solidFill>
                <a:latin typeface="Century Gothic"/>
                <a:ea typeface="Century Gothic"/>
                <a:cs typeface="Century Gothic"/>
                <a:sym typeface="Century Gothic"/>
              </a:defRPr>
            </a:lvl9pPr>
          </a:lstStyle>
          <a:p/>
        </p:txBody>
      </p:sp>
      <p:sp>
        <p:nvSpPr>
          <p:cNvPr id="85" name="Google Shape;85;p18"/>
          <p:cNvSpPr txBox="1"/>
          <p:nvPr>
            <p:ph idx="3" type="body"/>
          </p:nvPr>
        </p:nvSpPr>
        <p:spPr>
          <a:xfrm>
            <a:off x="3511296" y="1152143"/>
            <a:ext cx="5164694" cy="3511296"/>
          </a:xfrm>
          <a:prstGeom prst="rect">
            <a:avLst/>
          </a:prstGeom>
          <a:noFill/>
          <a:ln>
            <a:noFill/>
          </a:ln>
        </p:spPr>
        <p:txBody>
          <a:bodyPr anchorCtr="0" anchor="t" bIns="0" lIns="0" spcFirstLastPara="1" rIns="0" wrap="square" tIns="0">
            <a:noAutofit/>
          </a:bodyPr>
          <a:lstStyle>
            <a:lvl1pPr indent="-355600" lvl="0" marL="457200" algn="l">
              <a:lnSpc>
                <a:spcPct val="95000"/>
              </a:lnSpc>
              <a:spcBef>
                <a:spcPts val="400"/>
              </a:spcBef>
              <a:spcAft>
                <a:spcPts val="0"/>
              </a:spcAft>
              <a:buClr>
                <a:schemeClr val="dk1"/>
              </a:buClr>
              <a:buSzPts val="2000"/>
              <a:buChar char="•"/>
              <a:defRPr sz="2000"/>
            </a:lvl1pPr>
            <a:lvl2pPr indent="-342900" lvl="1" marL="914400" algn="l">
              <a:lnSpc>
                <a:spcPct val="85000"/>
              </a:lnSpc>
              <a:spcBef>
                <a:spcPts val="200"/>
              </a:spcBef>
              <a:spcAft>
                <a:spcPts val="0"/>
              </a:spcAft>
              <a:buClr>
                <a:schemeClr val="dk1"/>
              </a:buClr>
              <a:buSzPts val="1800"/>
              <a:buChar char="–"/>
              <a:defRPr sz="1800"/>
            </a:lvl2pPr>
            <a:lvl3pPr indent="-330200" lvl="2" marL="1371600" algn="l">
              <a:lnSpc>
                <a:spcPct val="85000"/>
              </a:lnSpc>
              <a:spcBef>
                <a:spcPts val="200"/>
              </a:spcBef>
              <a:spcAft>
                <a:spcPts val="0"/>
              </a:spcAft>
              <a:buClr>
                <a:schemeClr val="dk1"/>
              </a:buClr>
              <a:buSzPts val="1600"/>
              <a:buChar char="-"/>
              <a:defRPr sz="1600"/>
            </a:lvl3pPr>
            <a:lvl4pPr indent="-342900" lvl="3" marL="1828800" algn="l">
              <a:lnSpc>
                <a:spcPct val="95000"/>
              </a:lnSpc>
              <a:spcBef>
                <a:spcPts val="600"/>
              </a:spcBef>
              <a:spcAft>
                <a:spcPts val="0"/>
              </a:spcAft>
              <a:buClr>
                <a:schemeClr val="dk1"/>
              </a:buClr>
              <a:buSzPts val="1800"/>
              <a:buChar char="​"/>
              <a:defRPr sz="1800"/>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Tree>
  </p:cSld>
  <p:clrMapOvr>
    <a:masterClrMapping/>
  </p:clrMapOvr>
  <p:transition spd="med">
    <p:fade/>
  </p:transition>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lternate Title Slide" showMasterSp="0">
  <p:cSld name="Alternate Title Slide">
    <p:spTree>
      <p:nvGrpSpPr>
        <p:cNvPr id="86" name="Shape 86"/>
        <p:cNvGrpSpPr/>
        <p:nvPr/>
      </p:nvGrpSpPr>
      <p:grpSpPr>
        <a:xfrm>
          <a:off x="0" y="0"/>
          <a:ext cx="0" cy="0"/>
          <a:chOff x="0" y="0"/>
          <a:chExt cx="0" cy="0"/>
        </a:xfrm>
      </p:grpSpPr>
      <p:sp>
        <p:nvSpPr>
          <p:cNvPr id="87" name="Google Shape;87;p19"/>
          <p:cNvSpPr txBox="1"/>
          <p:nvPr>
            <p:ph idx="1" type="body"/>
          </p:nvPr>
        </p:nvSpPr>
        <p:spPr>
          <a:xfrm>
            <a:off x="0" y="1765763"/>
            <a:ext cx="9144000" cy="1611980"/>
          </a:xfrm>
          <a:prstGeom prst="rect">
            <a:avLst/>
          </a:prstGeom>
          <a:solidFill>
            <a:schemeClr val="accent1">
              <a:alpha val="89803"/>
            </a:schemeClr>
          </a:solidFill>
          <a:ln>
            <a:noFill/>
          </a:ln>
        </p:spPr>
        <p:txBody>
          <a:bodyPr anchorCtr="1" anchor="ctr" bIns="137150" lIns="457200" spcFirstLastPara="1" rIns="457200" wrap="square" tIns="137150">
            <a:noAutofit/>
          </a:bodyPr>
          <a:lstStyle>
            <a:lvl1pPr indent="-381000" lvl="0" marL="457200" algn="ctr">
              <a:lnSpc>
                <a:spcPct val="85000"/>
              </a:lnSpc>
              <a:spcBef>
                <a:spcPts val="200"/>
              </a:spcBef>
              <a:spcAft>
                <a:spcPts val="0"/>
              </a:spcAft>
              <a:buClr>
                <a:schemeClr val="lt1"/>
              </a:buClr>
              <a:buSzPts val="2400"/>
              <a:buFont typeface="Arial"/>
              <a:buChar char="​"/>
              <a:defRPr b="1" sz="2400">
                <a:solidFill>
                  <a:schemeClr val="lt1"/>
                </a:solidFill>
              </a:defRPr>
            </a:lvl1pPr>
            <a:lvl2pPr indent="-342900" lvl="1" marL="914400" algn="ctr">
              <a:lnSpc>
                <a:spcPct val="85000"/>
              </a:lnSpc>
              <a:spcBef>
                <a:spcPts val="200"/>
              </a:spcBef>
              <a:spcAft>
                <a:spcPts val="0"/>
              </a:spcAft>
              <a:buClr>
                <a:schemeClr val="lt1"/>
              </a:buClr>
              <a:buSzPts val="1800"/>
              <a:buFont typeface="Arial"/>
              <a:buChar char="​"/>
              <a:defRPr b="1" sz="1800">
                <a:solidFill>
                  <a:schemeClr val="lt1"/>
                </a:solidFill>
              </a:defRPr>
            </a:lvl2pPr>
            <a:lvl3pPr indent="-317500" lvl="2" marL="1371600" algn="ctr">
              <a:lnSpc>
                <a:spcPct val="85000"/>
              </a:lnSpc>
              <a:spcBef>
                <a:spcPts val="600"/>
              </a:spcBef>
              <a:spcAft>
                <a:spcPts val="0"/>
              </a:spcAft>
              <a:buClr>
                <a:schemeClr val="lt1"/>
              </a:buClr>
              <a:buSzPts val="1400"/>
              <a:buFont typeface="Arial"/>
              <a:buChar char="​"/>
              <a:defRPr b="1" sz="1400">
                <a:solidFill>
                  <a:schemeClr val="lt1"/>
                </a:solidFill>
              </a:defRPr>
            </a:lvl3pPr>
            <a:lvl4pPr indent="-317500" lvl="3" marL="1828800" algn="ctr">
              <a:lnSpc>
                <a:spcPct val="85000"/>
              </a:lnSpc>
              <a:spcBef>
                <a:spcPts val="200"/>
              </a:spcBef>
              <a:spcAft>
                <a:spcPts val="0"/>
              </a:spcAft>
              <a:buClr>
                <a:schemeClr val="lt1"/>
              </a:buClr>
              <a:buSzPts val="1400"/>
              <a:buFont typeface="Arial"/>
              <a:buChar char="​"/>
              <a:defRPr b="0" sz="1400">
                <a:solidFill>
                  <a:schemeClr val="lt1"/>
                </a:solidFill>
              </a:defRPr>
            </a:lvl4pPr>
            <a:lvl5pPr indent="-317500" lvl="4" marL="2286000" algn="ctr">
              <a:lnSpc>
                <a:spcPct val="85000"/>
              </a:lnSpc>
              <a:spcBef>
                <a:spcPts val="200"/>
              </a:spcBef>
              <a:spcAft>
                <a:spcPts val="0"/>
              </a:spcAft>
              <a:buClr>
                <a:schemeClr val="lt1"/>
              </a:buClr>
              <a:buSzPts val="1400"/>
              <a:buFont typeface="Arial"/>
              <a:buChar char="​"/>
              <a:defRPr b="0" sz="1400">
                <a:solidFill>
                  <a:schemeClr val="lt1"/>
                </a:solidFill>
              </a:defRPr>
            </a:lvl5pPr>
            <a:lvl6pPr indent="-317500" lvl="5" marL="2743200" algn="ctr">
              <a:lnSpc>
                <a:spcPct val="85000"/>
              </a:lnSpc>
              <a:spcBef>
                <a:spcPts val="200"/>
              </a:spcBef>
              <a:spcAft>
                <a:spcPts val="0"/>
              </a:spcAft>
              <a:buClr>
                <a:schemeClr val="lt1"/>
              </a:buClr>
              <a:buSzPts val="1400"/>
              <a:buFont typeface="Arial"/>
              <a:buChar char="​"/>
              <a:defRPr b="0" sz="1400">
                <a:solidFill>
                  <a:schemeClr val="lt1"/>
                </a:solidFill>
              </a:defRPr>
            </a:lvl6pPr>
            <a:lvl7pPr indent="-317500" lvl="6" marL="3200400" algn="ctr">
              <a:lnSpc>
                <a:spcPct val="85000"/>
              </a:lnSpc>
              <a:spcBef>
                <a:spcPts val="200"/>
              </a:spcBef>
              <a:spcAft>
                <a:spcPts val="0"/>
              </a:spcAft>
              <a:buClr>
                <a:schemeClr val="lt1"/>
              </a:buClr>
              <a:buSzPts val="1400"/>
              <a:buFont typeface="Arial"/>
              <a:buChar char="​"/>
              <a:defRPr b="0" sz="1400">
                <a:solidFill>
                  <a:schemeClr val="lt1"/>
                </a:solidFill>
              </a:defRPr>
            </a:lvl7pPr>
            <a:lvl8pPr indent="-317500" lvl="7" marL="3657600" algn="ctr">
              <a:lnSpc>
                <a:spcPct val="85000"/>
              </a:lnSpc>
              <a:spcBef>
                <a:spcPts val="200"/>
              </a:spcBef>
              <a:spcAft>
                <a:spcPts val="0"/>
              </a:spcAft>
              <a:buClr>
                <a:schemeClr val="lt1"/>
              </a:buClr>
              <a:buSzPts val="1400"/>
              <a:buFont typeface="Arial"/>
              <a:buChar char="​"/>
              <a:defRPr b="0" sz="1400">
                <a:solidFill>
                  <a:schemeClr val="lt1"/>
                </a:solidFill>
              </a:defRPr>
            </a:lvl8pPr>
            <a:lvl9pPr indent="-317500" lvl="8" marL="4114800" algn="ctr">
              <a:lnSpc>
                <a:spcPct val="85000"/>
              </a:lnSpc>
              <a:spcBef>
                <a:spcPts val="200"/>
              </a:spcBef>
              <a:spcAft>
                <a:spcPts val="200"/>
              </a:spcAft>
              <a:buClr>
                <a:schemeClr val="lt1"/>
              </a:buClr>
              <a:buSzPts val="1400"/>
              <a:buFont typeface="Arial"/>
              <a:buChar char="​"/>
              <a:defRPr b="0" sz="1400">
                <a:solidFill>
                  <a:schemeClr val="lt1"/>
                </a:solidFill>
              </a:defRPr>
            </a:lvl9pPr>
          </a:lstStyle>
          <a:p/>
        </p:txBody>
      </p:sp>
      <p:sp>
        <p:nvSpPr>
          <p:cNvPr id="88" name="Google Shape;88;p19"/>
          <p:cNvSpPr/>
          <p:nvPr/>
        </p:nvSpPr>
        <p:spPr>
          <a:xfrm>
            <a:off x="457200" y="0"/>
            <a:ext cx="2438400" cy="9144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nvGrpSpPr>
          <p:cNvPr id="89" name="Google Shape;89;p19"/>
          <p:cNvGrpSpPr/>
          <p:nvPr/>
        </p:nvGrpSpPr>
        <p:grpSpPr>
          <a:xfrm>
            <a:off x="994117" y="305466"/>
            <a:ext cx="1362335" cy="305001"/>
            <a:chOff x="5137" y="4139"/>
            <a:chExt cx="335" cy="75"/>
          </a:xfrm>
        </p:grpSpPr>
        <p:sp>
          <p:nvSpPr>
            <p:cNvPr id="90" name="Google Shape;90;p19"/>
            <p:cNvSpPr/>
            <p:nvPr/>
          </p:nvSpPr>
          <p:spPr>
            <a:xfrm>
              <a:off x="5137" y="4139"/>
              <a:ext cx="324" cy="75"/>
            </a:xfrm>
            <a:custGeom>
              <a:rect b="b" l="l" r="r" t="t"/>
              <a:pathLst>
                <a:path extrusionOk="0" h="863" w="3745">
                  <a:moveTo>
                    <a:pt x="660" y="0"/>
                  </a:moveTo>
                  <a:lnTo>
                    <a:pt x="660" y="0"/>
                  </a:lnTo>
                  <a:lnTo>
                    <a:pt x="22" y="0"/>
                  </a:lnTo>
                  <a:lnTo>
                    <a:pt x="0" y="73"/>
                  </a:lnTo>
                  <a:lnTo>
                    <a:pt x="292" y="73"/>
                  </a:lnTo>
                  <a:lnTo>
                    <a:pt x="292" y="804"/>
                  </a:lnTo>
                  <a:cubicBezTo>
                    <a:pt x="292" y="843"/>
                    <a:pt x="316" y="863"/>
                    <a:pt x="360" y="863"/>
                  </a:cubicBezTo>
                  <a:lnTo>
                    <a:pt x="399" y="863"/>
                  </a:lnTo>
                  <a:lnTo>
                    <a:pt x="399" y="73"/>
                  </a:lnTo>
                  <a:lnTo>
                    <a:pt x="637" y="73"/>
                  </a:lnTo>
                  <a:lnTo>
                    <a:pt x="660" y="0"/>
                  </a:lnTo>
                  <a:lnTo>
                    <a:pt x="660" y="0"/>
                  </a:lnTo>
                  <a:close/>
                  <a:moveTo>
                    <a:pt x="2673" y="181"/>
                  </a:moveTo>
                  <a:lnTo>
                    <a:pt x="2673" y="181"/>
                  </a:lnTo>
                  <a:cubicBezTo>
                    <a:pt x="2647" y="181"/>
                    <a:pt x="2626" y="190"/>
                    <a:pt x="2621" y="203"/>
                  </a:cubicBezTo>
                  <a:lnTo>
                    <a:pt x="2408" y="768"/>
                  </a:lnTo>
                  <a:lnTo>
                    <a:pt x="2448" y="768"/>
                  </a:lnTo>
                  <a:cubicBezTo>
                    <a:pt x="2491" y="768"/>
                    <a:pt x="2509" y="764"/>
                    <a:pt x="2522" y="729"/>
                  </a:cubicBezTo>
                  <a:lnTo>
                    <a:pt x="2570" y="596"/>
                  </a:lnTo>
                  <a:lnTo>
                    <a:pt x="2698" y="596"/>
                  </a:lnTo>
                  <a:lnTo>
                    <a:pt x="2679" y="533"/>
                  </a:lnTo>
                  <a:lnTo>
                    <a:pt x="2590" y="533"/>
                  </a:lnTo>
                  <a:lnTo>
                    <a:pt x="2669" y="310"/>
                  </a:lnTo>
                  <a:lnTo>
                    <a:pt x="2812" y="729"/>
                  </a:lnTo>
                  <a:cubicBezTo>
                    <a:pt x="2824" y="764"/>
                    <a:pt x="2845" y="768"/>
                    <a:pt x="2891" y="768"/>
                  </a:cubicBezTo>
                  <a:lnTo>
                    <a:pt x="2941" y="768"/>
                  </a:lnTo>
                  <a:lnTo>
                    <a:pt x="2725" y="203"/>
                  </a:lnTo>
                  <a:cubicBezTo>
                    <a:pt x="2720" y="190"/>
                    <a:pt x="2697" y="181"/>
                    <a:pt x="2673" y="181"/>
                  </a:cubicBezTo>
                  <a:close/>
                  <a:moveTo>
                    <a:pt x="3529" y="203"/>
                  </a:moveTo>
                  <a:lnTo>
                    <a:pt x="3529" y="203"/>
                  </a:lnTo>
                  <a:cubicBezTo>
                    <a:pt x="3524" y="190"/>
                    <a:pt x="3501" y="181"/>
                    <a:pt x="3477" y="181"/>
                  </a:cubicBezTo>
                  <a:cubicBezTo>
                    <a:pt x="3451" y="181"/>
                    <a:pt x="3430" y="190"/>
                    <a:pt x="3425" y="203"/>
                  </a:cubicBezTo>
                  <a:lnTo>
                    <a:pt x="3212" y="768"/>
                  </a:lnTo>
                  <a:lnTo>
                    <a:pt x="3252" y="768"/>
                  </a:lnTo>
                  <a:cubicBezTo>
                    <a:pt x="3294" y="768"/>
                    <a:pt x="3313" y="764"/>
                    <a:pt x="3326" y="729"/>
                  </a:cubicBezTo>
                  <a:lnTo>
                    <a:pt x="3374" y="596"/>
                  </a:lnTo>
                  <a:lnTo>
                    <a:pt x="3502" y="596"/>
                  </a:lnTo>
                  <a:lnTo>
                    <a:pt x="3483" y="533"/>
                  </a:lnTo>
                  <a:lnTo>
                    <a:pt x="3394" y="533"/>
                  </a:lnTo>
                  <a:lnTo>
                    <a:pt x="3473" y="310"/>
                  </a:lnTo>
                  <a:lnTo>
                    <a:pt x="3616" y="729"/>
                  </a:lnTo>
                  <a:cubicBezTo>
                    <a:pt x="3628" y="764"/>
                    <a:pt x="3649" y="768"/>
                    <a:pt x="3695" y="768"/>
                  </a:cubicBezTo>
                  <a:lnTo>
                    <a:pt x="3745" y="768"/>
                  </a:lnTo>
                  <a:lnTo>
                    <a:pt x="3529" y="203"/>
                  </a:lnTo>
                  <a:lnTo>
                    <a:pt x="3529" y="203"/>
                  </a:lnTo>
                  <a:close/>
                  <a:moveTo>
                    <a:pt x="1655" y="181"/>
                  </a:moveTo>
                  <a:lnTo>
                    <a:pt x="1655" y="181"/>
                  </a:lnTo>
                  <a:cubicBezTo>
                    <a:pt x="1630" y="181"/>
                    <a:pt x="1608" y="190"/>
                    <a:pt x="1603" y="203"/>
                  </a:cubicBezTo>
                  <a:lnTo>
                    <a:pt x="1399" y="746"/>
                  </a:lnTo>
                  <a:lnTo>
                    <a:pt x="1247" y="515"/>
                  </a:lnTo>
                  <a:cubicBezTo>
                    <a:pt x="1327" y="501"/>
                    <a:pt x="1374" y="459"/>
                    <a:pt x="1374" y="387"/>
                  </a:cubicBezTo>
                  <a:lnTo>
                    <a:pt x="1374" y="336"/>
                  </a:lnTo>
                  <a:cubicBezTo>
                    <a:pt x="1374" y="232"/>
                    <a:pt x="1277" y="189"/>
                    <a:pt x="1149" y="189"/>
                  </a:cubicBezTo>
                  <a:lnTo>
                    <a:pt x="969" y="189"/>
                  </a:lnTo>
                  <a:lnTo>
                    <a:pt x="969" y="704"/>
                  </a:lnTo>
                  <a:lnTo>
                    <a:pt x="737" y="704"/>
                  </a:lnTo>
                  <a:cubicBezTo>
                    <a:pt x="646" y="704"/>
                    <a:pt x="625" y="684"/>
                    <a:pt x="625" y="590"/>
                  </a:cubicBezTo>
                  <a:lnTo>
                    <a:pt x="625" y="488"/>
                  </a:lnTo>
                  <a:lnTo>
                    <a:pt x="797" y="488"/>
                  </a:lnTo>
                  <a:lnTo>
                    <a:pt x="816" y="424"/>
                  </a:lnTo>
                  <a:lnTo>
                    <a:pt x="625" y="424"/>
                  </a:lnTo>
                  <a:lnTo>
                    <a:pt x="625" y="253"/>
                  </a:lnTo>
                  <a:lnTo>
                    <a:pt x="878" y="253"/>
                  </a:lnTo>
                  <a:lnTo>
                    <a:pt x="897" y="189"/>
                  </a:lnTo>
                  <a:lnTo>
                    <a:pt x="520" y="189"/>
                  </a:lnTo>
                  <a:lnTo>
                    <a:pt x="520" y="590"/>
                  </a:lnTo>
                  <a:cubicBezTo>
                    <a:pt x="520" y="724"/>
                    <a:pt x="552" y="768"/>
                    <a:pt x="735" y="768"/>
                  </a:cubicBezTo>
                  <a:lnTo>
                    <a:pt x="1074" y="766"/>
                  </a:lnTo>
                  <a:lnTo>
                    <a:pt x="1074" y="253"/>
                  </a:lnTo>
                  <a:lnTo>
                    <a:pt x="1149" y="253"/>
                  </a:lnTo>
                  <a:cubicBezTo>
                    <a:pt x="1230" y="253"/>
                    <a:pt x="1271" y="282"/>
                    <a:pt x="1271" y="337"/>
                  </a:cubicBezTo>
                  <a:lnTo>
                    <a:pt x="1271" y="387"/>
                  </a:lnTo>
                  <a:cubicBezTo>
                    <a:pt x="1271" y="443"/>
                    <a:pt x="1220" y="461"/>
                    <a:pt x="1157" y="461"/>
                  </a:cubicBezTo>
                  <a:lnTo>
                    <a:pt x="1110" y="461"/>
                  </a:lnTo>
                  <a:lnTo>
                    <a:pt x="1269" y="733"/>
                  </a:lnTo>
                  <a:cubicBezTo>
                    <a:pt x="1287" y="765"/>
                    <a:pt x="1296" y="768"/>
                    <a:pt x="1338" y="768"/>
                  </a:cubicBezTo>
                  <a:lnTo>
                    <a:pt x="1430" y="768"/>
                  </a:lnTo>
                  <a:cubicBezTo>
                    <a:pt x="1473" y="768"/>
                    <a:pt x="1492" y="764"/>
                    <a:pt x="1505" y="729"/>
                  </a:cubicBezTo>
                  <a:lnTo>
                    <a:pt x="1552" y="596"/>
                  </a:lnTo>
                  <a:lnTo>
                    <a:pt x="1680" y="596"/>
                  </a:lnTo>
                  <a:lnTo>
                    <a:pt x="1661" y="533"/>
                  </a:lnTo>
                  <a:lnTo>
                    <a:pt x="1573" y="533"/>
                  </a:lnTo>
                  <a:lnTo>
                    <a:pt x="1652" y="310"/>
                  </a:lnTo>
                  <a:lnTo>
                    <a:pt x="1795" y="729"/>
                  </a:lnTo>
                  <a:cubicBezTo>
                    <a:pt x="1807" y="764"/>
                    <a:pt x="1827" y="768"/>
                    <a:pt x="1873" y="768"/>
                  </a:cubicBezTo>
                  <a:lnTo>
                    <a:pt x="1923" y="768"/>
                  </a:lnTo>
                  <a:lnTo>
                    <a:pt x="1707" y="203"/>
                  </a:lnTo>
                  <a:cubicBezTo>
                    <a:pt x="1702" y="190"/>
                    <a:pt x="1679" y="181"/>
                    <a:pt x="1655" y="181"/>
                  </a:cubicBezTo>
                  <a:close/>
                  <a:moveTo>
                    <a:pt x="2304" y="530"/>
                  </a:moveTo>
                  <a:lnTo>
                    <a:pt x="2304" y="530"/>
                  </a:lnTo>
                  <a:cubicBezTo>
                    <a:pt x="2304" y="647"/>
                    <a:pt x="2266" y="704"/>
                    <a:pt x="2162" y="704"/>
                  </a:cubicBezTo>
                  <a:lnTo>
                    <a:pt x="2068" y="704"/>
                  </a:lnTo>
                  <a:lnTo>
                    <a:pt x="2068" y="253"/>
                  </a:lnTo>
                  <a:lnTo>
                    <a:pt x="2159" y="253"/>
                  </a:lnTo>
                  <a:cubicBezTo>
                    <a:pt x="2266" y="253"/>
                    <a:pt x="2304" y="316"/>
                    <a:pt x="2304" y="433"/>
                  </a:cubicBezTo>
                  <a:lnTo>
                    <a:pt x="2304" y="530"/>
                  </a:lnTo>
                  <a:lnTo>
                    <a:pt x="2304" y="530"/>
                  </a:lnTo>
                  <a:close/>
                  <a:moveTo>
                    <a:pt x="2409" y="432"/>
                  </a:moveTo>
                  <a:lnTo>
                    <a:pt x="2409" y="432"/>
                  </a:lnTo>
                  <a:cubicBezTo>
                    <a:pt x="2409" y="270"/>
                    <a:pt x="2326" y="189"/>
                    <a:pt x="2159" y="189"/>
                  </a:cubicBezTo>
                  <a:lnTo>
                    <a:pt x="1963" y="189"/>
                  </a:lnTo>
                  <a:lnTo>
                    <a:pt x="1963" y="709"/>
                  </a:lnTo>
                  <a:cubicBezTo>
                    <a:pt x="1963" y="748"/>
                    <a:pt x="1984" y="768"/>
                    <a:pt x="2029" y="768"/>
                  </a:cubicBezTo>
                  <a:lnTo>
                    <a:pt x="2159" y="768"/>
                  </a:lnTo>
                  <a:lnTo>
                    <a:pt x="2180" y="767"/>
                  </a:lnTo>
                  <a:cubicBezTo>
                    <a:pt x="2337" y="761"/>
                    <a:pt x="2409" y="693"/>
                    <a:pt x="2409" y="530"/>
                  </a:cubicBezTo>
                  <a:lnTo>
                    <a:pt x="2409" y="432"/>
                  </a:lnTo>
                  <a:lnTo>
                    <a:pt x="2409" y="432"/>
                  </a:lnTo>
                  <a:close/>
                  <a:moveTo>
                    <a:pt x="3332" y="190"/>
                  </a:moveTo>
                  <a:lnTo>
                    <a:pt x="3332" y="190"/>
                  </a:lnTo>
                  <a:lnTo>
                    <a:pt x="2851" y="190"/>
                  </a:lnTo>
                  <a:lnTo>
                    <a:pt x="2831" y="254"/>
                  </a:lnTo>
                  <a:lnTo>
                    <a:pt x="3028" y="254"/>
                  </a:lnTo>
                  <a:lnTo>
                    <a:pt x="3028" y="710"/>
                  </a:lnTo>
                  <a:cubicBezTo>
                    <a:pt x="3028" y="749"/>
                    <a:pt x="3052" y="768"/>
                    <a:pt x="3096" y="768"/>
                  </a:cubicBezTo>
                  <a:lnTo>
                    <a:pt x="3135" y="768"/>
                  </a:lnTo>
                  <a:lnTo>
                    <a:pt x="3135" y="254"/>
                  </a:lnTo>
                  <a:lnTo>
                    <a:pt x="3313" y="254"/>
                  </a:lnTo>
                  <a:lnTo>
                    <a:pt x="3332" y="19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3C3B"/>
                </a:solidFill>
                <a:latin typeface="Century Gothic"/>
                <a:ea typeface="Century Gothic"/>
                <a:cs typeface="Century Gothic"/>
                <a:sym typeface="Century Gothic"/>
              </a:endParaRPr>
            </a:p>
          </p:txBody>
        </p:sp>
        <p:sp>
          <p:nvSpPr>
            <p:cNvPr id="91" name="Google Shape;91;p19"/>
            <p:cNvSpPr/>
            <p:nvPr/>
          </p:nvSpPr>
          <p:spPr>
            <a:xfrm>
              <a:off x="5464" y="4197"/>
              <a:ext cx="8" cy="9"/>
            </a:xfrm>
            <a:custGeom>
              <a:rect b="b" l="l" r="r" t="t"/>
              <a:pathLst>
                <a:path extrusionOk="0" h="98" w="99">
                  <a:moveTo>
                    <a:pt x="59" y="30"/>
                  </a:moveTo>
                  <a:lnTo>
                    <a:pt x="59" y="30"/>
                  </a:lnTo>
                  <a:cubicBezTo>
                    <a:pt x="57" y="29"/>
                    <a:pt x="53" y="28"/>
                    <a:pt x="47" y="28"/>
                  </a:cubicBezTo>
                  <a:lnTo>
                    <a:pt x="39" y="28"/>
                  </a:lnTo>
                  <a:lnTo>
                    <a:pt x="39" y="48"/>
                  </a:lnTo>
                  <a:lnTo>
                    <a:pt x="48" y="48"/>
                  </a:lnTo>
                  <a:cubicBezTo>
                    <a:pt x="52" y="48"/>
                    <a:pt x="55" y="47"/>
                    <a:pt x="57" y="46"/>
                  </a:cubicBezTo>
                  <a:cubicBezTo>
                    <a:pt x="61" y="45"/>
                    <a:pt x="63" y="42"/>
                    <a:pt x="63" y="38"/>
                  </a:cubicBezTo>
                  <a:cubicBezTo>
                    <a:pt x="63" y="34"/>
                    <a:pt x="61" y="31"/>
                    <a:pt x="59" y="30"/>
                  </a:cubicBezTo>
                  <a:close/>
                  <a:moveTo>
                    <a:pt x="49" y="22"/>
                  </a:moveTo>
                  <a:lnTo>
                    <a:pt x="49" y="22"/>
                  </a:lnTo>
                  <a:cubicBezTo>
                    <a:pt x="55" y="22"/>
                    <a:pt x="60" y="22"/>
                    <a:pt x="63" y="23"/>
                  </a:cubicBezTo>
                  <a:cubicBezTo>
                    <a:pt x="69" y="26"/>
                    <a:pt x="72" y="30"/>
                    <a:pt x="72" y="37"/>
                  </a:cubicBezTo>
                  <a:cubicBezTo>
                    <a:pt x="72" y="42"/>
                    <a:pt x="70" y="46"/>
                    <a:pt x="66" y="48"/>
                  </a:cubicBezTo>
                  <a:cubicBezTo>
                    <a:pt x="65" y="49"/>
                    <a:pt x="62" y="50"/>
                    <a:pt x="59" y="51"/>
                  </a:cubicBezTo>
                  <a:cubicBezTo>
                    <a:pt x="63" y="51"/>
                    <a:pt x="66" y="53"/>
                    <a:pt x="68" y="56"/>
                  </a:cubicBezTo>
                  <a:cubicBezTo>
                    <a:pt x="70" y="59"/>
                    <a:pt x="71" y="62"/>
                    <a:pt x="71" y="64"/>
                  </a:cubicBezTo>
                  <a:lnTo>
                    <a:pt x="71" y="68"/>
                  </a:lnTo>
                  <a:cubicBezTo>
                    <a:pt x="71" y="69"/>
                    <a:pt x="71" y="71"/>
                    <a:pt x="71" y="72"/>
                  </a:cubicBezTo>
                  <a:cubicBezTo>
                    <a:pt x="71" y="74"/>
                    <a:pt x="71" y="75"/>
                    <a:pt x="72" y="75"/>
                  </a:cubicBezTo>
                  <a:lnTo>
                    <a:pt x="72" y="76"/>
                  </a:lnTo>
                  <a:lnTo>
                    <a:pt x="63" y="76"/>
                  </a:lnTo>
                  <a:cubicBezTo>
                    <a:pt x="63" y="76"/>
                    <a:pt x="63" y="75"/>
                    <a:pt x="63" y="75"/>
                  </a:cubicBezTo>
                  <a:cubicBezTo>
                    <a:pt x="63" y="75"/>
                    <a:pt x="63" y="75"/>
                    <a:pt x="63" y="75"/>
                  </a:cubicBezTo>
                  <a:lnTo>
                    <a:pt x="62" y="73"/>
                  </a:lnTo>
                  <a:lnTo>
                    <a:pt x="62" y="69"/>
                  </a:lnTo>
                  <a:cubicBezTo>
                    <a:pt x="62" y="62"/>
                    <a:pt x="61" y="58"/>
                    <a:pt x="57" y="56"/>
                  </a:cubicBezTo>
                  <a:cubicBezTo>
                    <a:pt x="55" y="55"/>
                    <a:pt x="52" y="54"/>
                    <a:pt x="47" y="54"/>
                  </a:cubicBezTo>
                  <a:lnTo>
                    <a:pt x="39" y="54"/>
                  </a:lnTo>
                  <a:lnTo>
                    <a:pt x="39" y="76"/>
                  </a:lnTo>
                  <a:lnTo>
                    <a:pt x="30" y="76"/>
                  </a:lnTo>
                  <a:lnTo>
                    <a:pt x="30" y="22"/>
                  </a:lnTo>
                  <a:lnTo>
                    <a:pt x="49" y="22"/>
                  </a:lnTo>
                  <a:lnTo>
                    <a:pt x="49" y="22"/>
                  </a:lnTo>
                  <a:close/>
                  <a:moveTo>
                    <a:pt x="20" y="19"/>
                  </a:moveTo>
                  <a:lnTo>
                    <a:pt x="20" y="19"/>
                  </a:lnTo>
                  <a:cubicBezTo>
                    <a:pt x="11" y="27"/>
                    <a:pt x="7" y="37"/>
                    <a:pt x="7" y="49"/>
                  </a:cubicBezTo>
                  <a:cubicBezTo>
                    <a:pt x="7" y="61"/>
                    <a:pt x="11" y="71"/>
                    <a:pt x="20" y="79"/>
                  </a:cubicBezTo>
                  <a:cubicBezTo>
                    <a:pt x="28" y="87"/>
                    <a:pt x="38" y="92"/>
                    <a:pt x="50" y="92"/>
                  </a:cubicBezTo>
                  <a:cubicBezTo>
                    <a:pt x="61" y="92"/>
                    <a:pt x="71" y="87"/>
                    <a:pt x="80" y="79"/>
                  </a:cubicBezTo>
                  <a:cubicBezTo>
                    <a:pt x="88" y="71"/>
                    <a:pt x="92" y="61"/>
                    <a:pt x="92" y="49"/>
                  </a:cubicBezTo>
                  <a:cubicBezTo>
                    <a:pt x="92" y="37"/>
                    <a:pt x="88" y="27"/>
                    <a:pt x="80" y="19"/>
                  </a:cubicBezTo>
                  <a:cubicBezTo>
                    <a:pt x="71" y="10"/>
                    <a:pt x="61" y="6"/>
                    <a:pt x="50" y="6"/>
                  </a:cubicBezTo>
                  <a:cubicBezTo>
                    <a:pt x="38" y="6"/>
                    <a:pt x="28" y="10"/>
                    <a:pt x="20" y="19"/>
                  </a:cubicBezTo>
                  <a:close/>
                  <a:moveTo>
                    <a:pt x="85" y="84"/>
                  </a:moveTo>
                  <a:lnTo>
                    <a:pt x="85" y="84"/>
                  </a:lnTo>
                  <a:cubicBezTo>
                    <a:pt x="75" y="94"/>
                    <a:pt x="63" y="98"/>
                    <a:pt x="50" y="98"/>
                  </a:cubicBezTo>
                  <a:cubicBezTo>
                    <a:pt x="36" y="98"/>
                    <a:pt x="24" y="94"/>
                    <a:pt x="15" y="84"/>
                  </a:cubicBezTo>
                  <a:cubicBezTo>
                    <a:pt x="5" y="74"/>
                    <a:pt x="0" y="63"/>
                    <a:pt x="0" y="49"/>
                  </a:cubicBezTo>
                  <a:cubicBezTo>
                    <a:pt x="0" y="35"/>
                    <a:pt x="5" y="24"/>
                    <a:pt x="15" y="14"/>
                  </a:cubicBezTo>
                  <a:cubicBezTo>
                    <a:pt x="24" y="4"/>
                    <a:pt x="36" y="0"/>
                    <a:pt x="50" y="0"/>
                  </a:cubicBezTo>
                  <a:cubicBezTo>
                    <a:pt x="63" y="0"/>
                    <a:pt x="75" y="4"/>
                    <a:pt x="85" y="14"/>
                  </a:cubicBezTo>
                  <a:cubicBezTo>
                    <a:pt x="94" y="24"/>
                    <a:pt x="99" y="35"/>
                    <a:pt x="99" y="49"/>
                  </a:cubicBezTo>
                  <a:cubicBezTo>
                    <a:pt x="99" y="63"/>
                    <a:pt x="94" y="74"/>
                    <a:pt x="85" y="84"/>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3C3B"/>
                </a:solidFill>
                <a:latin typeface="Century Gothic"/>
                <a:ea typeface="Century Gothic"/>
                <a:cs typeface="Century Gothic"/>
                <a:sym typeface="Century Gothic"/>
              </a:endParaRPr>
            </a:p>
          </p:txBody>
        </p:sp>
      </p:grpSp>
    </p:spTree>
  </p:cSld>
  <p:clrMapOvr>
    <a:masterClrMapping/>
  </p:clrMapOvr>
  <p:transition spd="med">
    <p:fade/>
  </p:transition>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Table Contents">
  <p:cSld name="Agenda/Table Contents">
    <p:spTree>
      <p:nvGrpSpPr>
        <p:cNvPr id="92" name="Shape 92"/>
        <p:cNvGrpSpPr/>
        <p:nvPr/>
      </p:nvGrpSpPr>
      <p:grpSpPr>
        <a:xfrm>
          <a:off x="0" y="0"/>
          <a:ext cx="0" cy="0"/>
          <a:chOff x="0" y="0"/>
          <a:chExt cx="0" cy="0"/>
        </a:xfrm>
      </p:grpSpPr>
      <p:sp>
        <p:nvSpPr>
          <p:cNvPr id="93" name="Google Shape;93;p20"/>
          <p:cNvSpPr txBox="1"/>
          <p:nvPr>
            <p:ph idx="1" type="body"/>
          </p:nvPr>
        </p:nvSpPr>
        <p:spPr>
          <a:xfrm>
            <a:off x="4800600" y="1216152"/>
            <a:ext cx="3886200" cy="3349777"/>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solidFill>
                  <a:schemeClr val="dk1"/>
                </a:solidFill>
              </a:defRPr>
            </a:lvl1pPr>
            <a:lvl2pPr indent="-330200" lvl="1" marL="914400" algn="l">
              <a:lnSpc>
                <a:spcPct val="85000"/>
              </a:lnSpc>
              <a:spcBef>
                <a:spcPts val="200"/>
              </a:spcBef>
              <a:spcAft>
                <a:spcPts val="0"/>
              </a:spcAft>
              <a:buClr>
                <a:schemeClr val="dk1"/>
              </a:buClr>
              <a:buSzPts val="1600"/>
              <a:buChar char="–"/>
              <a:defRPr sz="1600">
                <a:solidFill>
                  <a:schemeClr val="dk1"/>
                </a:solidFill>
              </a:defRPr>
            </a:lvl2pPr>
            <a:lvl3pPr indent="-317500" lvl="2" marL="1371600" algn="l">
              <a:lnSpc>
                <a:spcPct val="85000"/>
              </a:lnSpc>
              <a:spcBef>
                <a:spcPts val="200"/>
              </a:spcBef>
              <a:spcAft>
                <a:spcPts val="0"/>
              </a:spcAft>
              <a:buClr>
                <a:schemeClr val="dk1"/>
              </a:buClr>
              <a:buSzPts val="1400"/>
              <a:buChar char="-"/>
              <a:defRPr sz="1400">
                <a:solidFill>
                  <a:schemeClr val="dk1"/>
                </a:solidFill>
              </a:defRPr>
            </a:lvl3pPr>
            <a:lvl4pPr indent="-342900" lvl="3" marL="1828800" algn="l">
              <a:lnSpc>
                <a:spcPct val="95000"/>
              </a:lnSpc>
              <a:spcBef>
                <a:spcPts val="600"/>
              </a:spcBef>
              <a:spcAft>
                <a:spcPts val="0"/>
              </a:spcAft>
              <a:buClr>
                <a:schemeClr val="dk1"/>
              </a:buClr>
              <a:buSzPts val="1800"/>
              <a:buChar char="​"/>
              <a:defRPr sz="1800">
                <a:solidFill>
                  <a:schemeClr val="dk1"/>
                </a:solidFill>
              </a:defRPr>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94" name="Google Shape;94;p20"/>
          <p:cNvSpPr txBox="1"/>
          <p:nvPr>
            <p:ph type="title"/>
          </p:nvPr>
        </p:nvSpPr>
        <p:spPr>
          <a:xfrm>
            <a:off x="4800600" y="263385"/>
            <a:ext cx="3886200" cy="704088"/>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5" name="Google Shape;95;p20"/>
          <p:cNvSpPr/>
          <p:nvPr/>
        </p:nvSpPr>
        <p:spPr>
          <a:xfrm>
            <a:off x="99060" y="4858087"/>
            <a:ext cx="236220" cy="177165"/>
          </a:xfrm>
          <a:prstGeom prst="rect">
            <a:avLst/>
          </a:prstGeom>
          <a:solidFill>
            <a:schemeClr val="l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96" name="Google Shape;96;p20"/>
          <p:cNvSpPr/>
          <p:nvPr>
            <p:ph idx="2" type="pic"/>
          </p:nvPr>
        </p:nvSpPr>
        <p:spPr>
          <a:xfrm>
            <a:off x="0" y="0"/>
            <a:ext cx="4343400" cy="5143500"/>
          </a:xfrm>
          <a:prstGeom prst="rect">
            <a:avLst/>
          </a:prstGeom>
          <a:noFill/>
          <a:ln>
            <a:noFill/>
          </a:ln>
        </p:spPr>
        <p:txBody>
          <a:bodyPr anchorCtr="0" anchor="t" bIns="0" lIns="0" spcFirstLastPara="1" rIns="0" wrap="square" tIns="0">
            <a:noAutofit/>
          </a:bodyPr>
          <a:lstStyle>
            <a:lvl1pPr lvl="0" marR="0" rtl="0" algn="ctr">
              <a:lnSpc>
                <a:spcPct val="95000"/>
              </a:lnSpc>
              <a:spcBef>
                <a:spcPts val="600"/>
              </a:spcBef>
              <a:spcAft>
                <a:spcPts val="0"/>
              </a:spcAft>
              <a:buClr>
                <a:schemeClr val="dk1"/>
              </a:buClr>
              <a:buSzPts val="1200"/>
              <a:buFont typeface="Arial"/>
              <a:buNone/>
              <a:defRPr b="0" i="0" sz="1200" u="none" cap="none" strike="noStrike">
                <a:solidFill>
                  <a:schemeClr val="dk1"/>
                </a:solidFill>
                <a:latin typeface="Century Gothic"/>
                <a:ea typeface="Century Gothic"/>
                <a:cs typeface="Century Gothic"/>
                <a:sym typeface="Century Gothic"/>
              </a:defRPr>
            </a:lvl1pPr>
            <a:lvl2pPr lvl="1" marR="0" rtl="0" algn="l">
              <a:lnSpc>
                <a:spcPct val="85000"/>
              </a:lnSpc>
              <a:spcBef>
                <a:spcPts val="200"/>
              </a:spcBef>
              <a:spcAft>
                <a:spcPts val="0"/>
              </a:spcAft>
              <a:buClr>
                <a:schemeClr val="dk1"/>
              </a:buClr>
              <a:buSzPts val="1600"/>
              <a:buFont typeface="Arial"/>
              <a:buChar char="–"/>
              <a:defRPr b="0" i="0" sz="1600" u="none" cap="none" strike="noStrike">
                <a:solidFill>
                  <a:schemeClr val="dk1"/>
                </a:solidFill>
                <a:latin typeface="Century Gothic"/>
                <a:ea typeface="Century Gothic"/>
                <a:cs typeface="Century Gothic"/>
                <a:sym typeface="Century Gothic"/>
              </a:defRPr>
            </a:lvl2pPr>
            <a:lvl3pPr lvl="2" marR="0" rtl="0" algn="l">
              <a:lnSpc>
                <a:spcPct val="85000"/>
              </a:lnSpc>
              <a:spcBef>
                <a:spcPts val="200"/>
              </a:spcBef>
              <a:spcAft>
                <a:spcPts val="0"/>
              </a:spcAft>
              <a:buClr>
                <a:schemeClr val="dk1"/>
              </a:buClr>
              <a:buSzPts val="1400"/>
              <a:buFont typeface="Arial"/>
              <a:buChar char="-"/>
              <a:defRPr b="0" i="0" sz="1400" u="none" cap="none" strike="noStrike">
                <a:solidFill>
                  <a:schemeClr val="dk1"/>
                </a:solidFill>
                <a:latin typeface="Century Gothic"/>
                <a:ea typeface="Century Gothic"/>
                <a:cs typeface="Century Gothic"/>
                <a:sym typeface="Century Gothic"/>
              </a:defRPr>
            </a:lvl3pPr>
            <a:lvl4pPr lvl="3"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4pPr>
            <a:lvl5pPr lvl="4" marR="0" rtl="0" algn="l">
              <a:lnSpc>
                <a:spcPct val="95000"/>
              </a:lnSpc>
              <a:spcBef>
                <a:spcPts val="600"/>
              </a:spcBef>
              <a:spcAft>
                <a:spcPts val="0"/>
              </a:spcAft>
              <a:buClr>
                <a:schemeClr val="accent1"/>
              </a:buClr>
              <a:buSzPts val="1800"/>
              <a:buFont typeface="Arial"/>
              <a:buChar char="​"/>
              <a:defRPr b="0" i="0" sz="1800" u="none" cap="none" strike="noStrike">
                <a:solidFill>
                  <a:schemeClr val="accent1"/>
                </a:solidFill>
                <a:latin typeface="Century Gothic"/>
                <a:ea typeface="Century Gothic"/>
                <a:cs typeface="Century Gothic"/>
                <a:sym typeface="Century Gothic"/>
              </a:defRPr>
            </a:lvl5pPr>
            <a:lvl6pPr lvl="5" marR="0" rtl="0" algn="l">
              <a:lnSpc>
                <a:spcPct val="95000"/>
              </a:lnSpc>
              <a:spcBef>
                <a:spcPts val="600"/>
              </a:spcBef>
              <a:spcAft>
                <a:spcPts val="0"/>
              </a:spcAft>
              <a:buClr>
                <a:schemeClr val="accent2"/>
              </a:buClr>
              <a:buSzPts val="1800"/>
              <a:buFont typeface="Arial"/>
              <a:buChar char="​"/>
              <a:defRPr b="0" i="0" sz="1800" u="none" cap="none" strike="noStrike">
                <a:solidFill>
                  <a:schemeClr val="accent2"/>
                </a:solidFill>
                <a:latin typeface="Century Gothic"/>
                <a:ea typeface="Century Gothic"/>
                <a:cs typeface="Century Gothic"/>
                <a:sym typeface="Century Gothic"/>
              </a:defRPr>
            </a:lvl6pPr>
            <a:lvl7pPr lvl="6" marR="0" rtl="0" algn="l">
              <a:lnSpc>
                <a:spcPct val="95000"/>
              </a:lnSpc>
              <a:spcBef>
                <a:spcPts val="1000"/>
              </a:spcBef>
              <a:spcAft>
                <a:spcPts val="0"/>
              </a:spcAft>
              <a:buClr>
                <a:schemeClr val="dk1"/>
              </a:buClr>
              <a:buSzPts val="1800"/>
              <a:buFont typeface="Arial"/>
              <a:buChar char="​"/>
              <a:defRPr b="1" i="0" sz="1800" u="none" cap="none" strike="noStrike">
                <a:solidFill>
                  <a:schemeClr val="dk1"/>
                </a:solidFill>
                <a:latin typeface="Century Gothic"/>
                <a:ea typeface="Century Gothic"/>
                <a:cs typeface="Century Gothic"/>
                <a:sym typeface="Century Gothic"/>
              </a:defRPr>
            </a:lvl7pPr>
            <a:lvl8pPr lvl="7" marR="0" rtl="0" algn="l">
              <a:lnSpc>
                <a:spcPct val="95000"/>
              </a:lnSpc>
              <a:spcBef>
                <a:spcPts val="200"/>
              </a:spcBef>
              <a:spcAft>
                <a:spcPts val="0"/>
              </a:spcAft>
              <a:buClr>
                <a:schemeClr val="dk1"/>
              </a:buClr>
              <a:buSzPts val="1800"/>
              <a:buFont typeface="Century Gothic"/>
              <a:buAutoNum type="arabicPeriod"/>
              <a:defRPr b="0" i="0" sz="1800" u="none" cap="none" strike="noStrike">
                <a:solidFill>
                  <a:schemeClr val="dk1"/>
                </a:solidFill>
                <a:latin typeface="Century Gothic"/>
                <a:ea typeface="Century Gothic"/>
                <a:cs typeface="Century Gothic"/>
                <a:sym typeface="Century Gothic"/>
              </a:defRPr>
            </a:lvl8pPr>
            <a:lvl9pPr lvl="8" marR="0" rtl="0" algn="l">
              <a:lnSpc>
                <a:spcPct val="95000"/>
              </a:lnSpc>
              <a:spcBef>
                <a:spcPts val="400"/>
              </a:spcBef>
              <a:spcAft>
                <a:spcPts val="400"/>
              </a:spcAft>
              <a:buClr>
                <a:schemeClr val="accent6"/>
              </a:buClr>
              <a:buSzPts val="900"/>
              <a:buFont typeface="Arial"/>
              <a:buChar char="​"/>
              <a:defRPr b="0" i="0" sz="900" u="none" cap="none" strike="noStrike">
                <a:solidFill>
                  <a:schemeClr val="accent6"/>
                </a:solidFill>
                <a:latin typeface="Century Gothic"/>
                <a:ea typeface="Century Gothic"/>
                <a:cs typeface="Century Gothic"/>
                <a:sym typeface="Century Gothic"/>
              </a:defRPr>
            </a:lvl9pPr>
          </a:lstStyle>
          <a:p/>
        </p:txBody>
      </p:sp>
    </p:spTree>
  </p:cSld>
  <p:clrMapOvr>
    <a:masterClrMapping/>
  </p:clrMapOvr>
  <p:transition spd="med">
    <p:fade/>
  </p:transition>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wo Content">
  <p:cSld name="1_Two Content">
    <p:spTree>
      <p:nvGrpSpPr>
        <p:cNvPr id="97" name="Shape 97"/>
        <p:cNvGrpSpPr/>
        <p:nvPr/>
      </p:nvGrpSpPr>
      <p:grpSpPr>
        <a:xfrm>
          <a:off x="0" y="0"/>
          <a:ext cx="0" cy="0"/>
          <a:chOff x="0" y="0"/>
          <a:chExt cx="0" cy="0"/>
        </a:xfrm>
      </p:grpSpPr>
      <p:sp>
        <p:nvSpPr>
          <p:cNvPr id="98" name="Google Shape;98;p21"/>
          <p:cNvSpPr txBox="1"/>
          <p:nvPr>
            <p:ph idx="1" type="body"/>
          </p:nvPr>
        </p:nvSpPr>
        <p:spPr>
          <a:xfrm>
            <a:off x="4800600" y="1216188"/>
            <a:ext cx="3886200" cy="3343998"/>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lvl1pPr>
            <a:lvl2pPr indent="-330200" lvl="1" marL="914400" algn="l">
              <a:lnSpc>
                <a:spcPct val="85000"/>
              </a:lnSpc>
              <a:spcBef>
                <a:spcPts val="200"/>
              </a:spcBef>
              <a:spcAft>
                <a:spcPts val="0"/>
              </a:spcAft>
              <a:buClr>
                <a:schemeClr val="dk1"/>
              </a:buClr>
              <a:buSzPts val="1600"/>
              <a:buChar char="–"/>
              <a:defRPr sz="1600"/>
            </a:lvl2pPr>
            <a:lvl3pPr indent="-317500" lvl="2" marL="1371600" algn="l">
              <a:lnSpc>
                <a:spcPct val="85000"/>
              </a:lnSpc>
              <a:spcBef>
                <a:spcPts val="200"/>
              </a:spcBef>
              <a:spcAft>
                <a:spcPts val="0"/>
              </a:spcAft>
              <a:buClr>
                <a:schemeClr val="dk1"/>
              </a:buClr>
              <a:buSzPts val="1400"/>
              <a:buChar char="-"/>
              <a:defRPr sz="1400"/>
            </a:lvl3pPr>
            <a:lvl4pPr indent="-342900" lvl="3" marL="1828800" algn="l">
              <a:lnSpc>
                <a:spcPct val="95000"/>
              </a:lnSpc>
              <a:spcBef>
                <a:spcPts val="600"/>
              </a:spcBef>
              <a:spcAft>
                <a:spcPts val="0"/>
              </a:spcAft>
              <a:buClr>
                <a:schemeClr val="dk1"/>
              </a:buClr>
              <a:buSzPts val="1800"/>
              <a:buChar char="​"/>
              <a:defRPr sz="1800"/>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99" name="Google Shape;99;p21"/>
          <p:cNvSpPr txBox="1"/>
          <p:nvPr>
            <p:ph idx="2" type="body"/>
          </p:nvPr>
        </p:nvSpPr>
        <p:spPr>
          <a:xfrm>
            <a:off x="457200" y="1216152"/>
            <a:ext cx="3886200" cy="3344436"/>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lvl1pPr>
            <a:lvl2pPr indent="-330200" lvl="1" marL="914400" algn="l">
              <a:lnSpc>
                <a:spcPct val="85000"/>
              </a:lnSpc>
              <a:spcBef>
                <a:spcPts val="200"/>
              </a:spcBef>
              <a:spcAft>
                <a:spcPts val="0"/>
              </a:spcAft>
              <a:buClr>
                <a:schemeClr val="dk1"/>
              </a:buClr>
              <a:buSzPts val="1600"/>
              <a:buChar char="–"/>
              <a:defRPr sz="1600"/>
            </a:lvl2pPr>
            <a:lvl3pPr indent="-317500" lvl="2" marL="1371600" algn="l">
              <a:lnSpc>
                <a:spcPct val="85000"/>
              </a:lnSpc>
              <a:spcBef>
                <a:spcPts val="200"/>
              </a:spcBef>
              <a:spcAft>
                <a:spcPts val="0"/>
              </a:spcAft>
              <a:buClr>
                <a:schemeClr val="dk1"/>
              </a:buClr>
              <a:buSzPts val="1400"/>
              <a:buChar char="-"/>
              <a:defRPr sz="1400"/>
            </a:lvl3pPr>
            <a:lvl4pPr indent="-342900" lvl="3" marL="1828800" algn="l">
              <a:lnSpc>
                <a:spcPct val="95000"/>
              </a:lnSpc>
              <a:spcBef>
                <a:spcPts val="600"/>
              </a:spcBef>
              <a:spcAft>
                <a:spcPts val="0"/>
              </a:spcAft>
              <a:buClr>
                <a:schemeClr val="dk1"/>
              </a:buClr>
              <a:buSzPts val="1800"/>
              <a:buChar char="​"/>
              <a:defRPr sz="1800"/>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00" name="Google Shape;100;p21"/>
          <p:cNvSpPr txBox="1"/>
          <p:nvPr>
            <p:ph idx="3" type="body"/>
          </p:nvPr>
        </p:nvSpPr>
        <p:spPr>
          <a:xfrm>
            <a:off x="3297994" y="4855464"/>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01" name="Google Shape;101;p21"/>
          <p:cNvSpPr txBox="1"/>
          <p:nvPr>
            <p:ph type="title"/>
          </p:nvPr>
        </p:nvSpPr>
        <p:spPr>
          <a:xfrm>
            <a:off x="457200" y="173735"/>
            <a:ext cx="8229600" cy="700031"/>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transition spd="med">
    <p:fade/>
  </p:transition>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ntent">
  <p:cSld name="Title and Three Content">
    <p:spTree>
      <p:nvGrpSpPr>
        <p:cNvPr id="102" name="Shape 102"/>
        <p:cNvGrpSpPr/>
        <p:nvPr/>
      </p:nvGrpSpPr>
      <p:grpSpPr>
        <a:xfrm>
          <a:off x="0" y="0"/>
          <a:ext cx="0" cy="0"/>
          <a:chOff x="0" y="0"/>
          <a:chExt cx="0" cy="0"/>
        </a:xfrm>
      </p:grpSpPr>
      <p:sp>
        <p:nvSpPr>
          <p:cNvPr id="103" name="Google Shape;103;p22"/>
          <p:cNvSpPr txBox="1"/>
          <p:nvPr>
            <p:ph idx="1" type="body"/>
          </p:nvPr>
        </p:nvSpPr>
        <p:spPr>
          <a:xfrm>
            <a:off x="457200" y="1216152"/>
            <a:ext cx="2438400" cy="3344034"/>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lvl1pPr>
            <a:lvl2pPr indent="-330200" lvl="1" marL="914400" algn="l">
              <a:lnSpc>
                <a:spcPct val="85000"/>
              </a:lnSpc>
              <a:spcBef>
                <a:spcPts val="200"/>
              </a:spcBef>
              <a:spcAft>
                <a:spcPts val="0"/>
              </a:spcAft>
              <a:buClr>
                <a:schemeClr val="dk1"/>
              </a:buClr>
              <a:buSzPts val="1600"/>
              <a:buChar char="–"/>
              <a:defRPr sz="1600"/>
            </a:lvl2pPr>
            <a:lvl3pPr indent="-317500" lvl="2" marL="1371600" algn="l">
              <a:lnSpc>
                <a:spcPct val="85000"/>
              </a:lnSpc>
              <a:spcBef>
                <a:spcPts val="200"/>
              </a:spcBef>
              <a:spcAft>
                <a:spcPts val="0"/>
              </a:spcAft>
              <a:buClr>
                <a:schemeClr val="dk1"/>
              </a:buClr>
              <a:buSzPts val="1400"/>
              <a:buChar char="-"/>
              <a:defRPr sz="1400"/>
            </a:lvl3pPr>
            <a:lvl4pPr indent="-342900" lvl="3" marL="1828800" algn="l">
              <a:lnSpc>
                <a:spcPct val="95000"/>
              </a:lnSpc>
              <a:spcBef>
                <a:spcPts val="600"/>
              </a:spcBef>
              <a:spcAft>
                <a:spcPts val="0"/>
              </a:spcAft>
              <a:buClr>
                <a:schemeClr val="dk1"/>
              </a:buClr>
              <a:buSzPts val="1800"/>
              <a:buChar char="​"/>
              <a:defRPr sz="1800"/>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04" name="Google Shape;104;p22"/>
          <p:cNvSpPr txBox="1"/>
          <p:nvPr>
            <p:ph idx="2" type="body"/>
          </p:nvPr>
        </p:nvSpPr>
        <p:spPr>
          <a:xfrm>
            <a:off x="3352800" y="1216152"/>
            <a:ext cx="2438400" cy="3344034"/>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lvl1pPr>
            <a:lvl2pPr indent="-330200" lvl="1" marL="914400" algn="l">
              <a:lnSpc>
                <a:spcPct val="85000"/>
              </a:lnSpc>
              <a:spcBef>
                <a:spcPts val="200"/>
              </a:spcBef>
              <a:spcAft>
                <a:spcPts val="0"/>
              </a:spcAft>
              <a:buClr>
                <a:schemeClr val="dk1"/>
              </a:buClr>
              <a:buSzPts val="1600"/>
              <a:buChar char="–"/>
              <a:defRPr sz="1600"/>
            </a:lvl2pPr>
            <a:lvl3pPr indent="-317500" lvl="2" marL="1371600" algn="l">
              <a:lnSpc>
                <a:spcPct val="85000"/>
              </a:lnSpc>
              <a:spcBef>
                <a:spcPts val="200"/>
              </a:spcBef>
              <a:spcAft>
                <a:spcPts val="0"/>
              </a:spcAft>
              <a:buClr>
                <a:schemeClr val="dk1"/>
              </a:buClr>
              <a:buSzPts val="1400"/>
              <a:buChar char="-"/>
              <a:defRPr sz="1400"/>
            </a:lvl3pPr>
            <a:lvl4pPr indent="-342900" lvl="3" marL="1828800" algn="l">
              <a:lnSpc>
                <a:spcPct val="95000"/>
              </a:lnSpc>
              <a:spcBef>
                <a:spcPts val="600"/>
              </a:spcBef>
              <a:spcAft>
                <a:spcPts val="0"/>
              </a:spcAft>
              <a:buClr>
                <a:schemeClr val="dk1"/>
              </a:buClr>
              <a:buSzPts val="1800"/>
              <a:buChar char="​"/>
              <a:defRPr sz="1800"/>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05" name="Google Shape;105;p22"/>
          <p:cNvSpPr txBox="1"/>
          <p:nvPr>
            <p:ph idx="3" type="body"/>
          </p:nvPr>
        </p:nvSpPr>
        <p:spPr>
          <a:xfrm>
            <a:off x="6248400" y="1216152"/>
            <a:ext cx="2438400" cy="3344034"/>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lvl1pPr>
            <a:lvl2pPr indent="-330200" lvl="1" marL="914400" algn="l">
              <a:lnSpc>
                <a:spcPct val="85000"/>
              </a:lnSpc>
              <a:spcBef>
                <a:spcPts val="200"/>
              </a:spcBef>
              <a:spcAft>
                <a:spcPts val="0"/>
              </a:spcAft>
              <a:buClr>
                <a:schemeClr val="dk1"/>
              </a:buClr>
              <a:buSzPts val="1600"/>
              <a:buChar char="–"/>
              <a:defRPr sz="1600"/>
            </a:lvl2pPr>
            <a:lvl3pPr indent="-317500" lvl="2" marL="1371600" algn="l">
              <a:lnSpc>
                <a:spcPct val="85000"/>
              </a:lnSpc>
              <a:spcBef>
                <a:spcPts val="200"/>
              </a:spcBef>
              <a:spcAft>
                <a:spcPts val="0"/>
              </a:spcAft>
              <a:buClr>
                <a:schemeClr val="dk1"/>
              </a:buClr>
              <a:buSzPts val="1400"/>
              <a:buChar char="-"/>
              <a:defRPr sz="1400"/>
            </a:lvl3pPr>
            <a:lvl4pPr indent="-342900" lvl="3" marL="1828800" algn="l">
              <a:lnSpc>
                <a:spcPct val="95000"/>
              </a:lnSpc>
              <a:spcBef>
                <a:spcPts val="600"/>
              </a:spcBef>
              <a:spcAft>
                <a:spcPts val="0"/>
              </a:spcAft>
              <a:buClr>
                <a:schemeClr val="dk1"/>
              </a:buClr>
              <a:buSzPts val="1800"/>
              <a:buChar char="​"/>
              <a:defRPr sz="1800"/>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06" name="Google Shape;106;p22"/>
          <p:cNvSpPr txBox="1"/>
          <p:nvPr>
            <p:ph idx="4" type="body"/>
          </p:nvPr>
        </p:nvSpPr>
        <p:spPr>
          <a:xfrm>
            <a:off x="3297994" y="4855464"/>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07" name="Google Shape;107;p22"/>
          <p:cNvSpPr txBox="1"/>
          <p:nvPr>
            <p:ph type="title"/>
          </p:nvPr>
        </p:nvSpPr>
        <p:spPr>
          <a:xfrm>
            <a:off x="457200" y="173736"/>
            <a:ext cx="8229600" cy="704088"/>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transition spd="med">
    <p:fade/>
  </p:transition>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Left Weighted">
  <p:cSld name="Title and Two Left Weighted">
    <p:spTree>
      <p:nvGrpSpPr>
        <p:cNvPr id="108" name="Shape 108"/>
        <p:cNvGrpSpPr/>
        <p:nvPr/>
      </p:nvGrpSpPr>
      <p:grpSpPr>
        <a:xfrm>
          <a:off x="0" y="0"/>
          <a:ext cx="0" cy="0"/>
          <a:chOff x="0" y="0"/>
          <a:chExt cx="0" cy="0"/>
        </a:xfrm>
      </p:grpSpPr>
      <p:sp>
        <p:nvSpPr>
          <p:cNvPr id="109" name="Google Shape;109;p23"/>
          <p:cNvSpPr/>
          <p:nvPr>
            <p:ph idx="2" type="pic"/>
          </p:nvPr>
        </p:nvSpPr>
        <p:spPr>
          <a:xfrm>
            <a:off x="6258796" y="1216152"/>
            <a:ext cx="2438400" cy="3068356"/>
          </a:xfrm>
          <a:prstGeom prst="rect">
            <a:avLst/>
          </a:prstGeom>
          <a:noFill/>
          <a:ln>
            <a:noFill/>
          </a:ln>
        </p:spPr>
        <p:txBody>
          <a:bodyPr anchorCtr="0" anchor="t" bIns="0" lIns="0" spcFirstLastPara="1" rIns="0" wrap="square" tIns="0">
            <a:noAutofit/>
          </a:bodyPr>
          <a:lstStyle>
            <a:lvl1pPr lvl="0"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1pPr>
            <a:lvl2pPr lvl="1" marR="0" rtl="0" algn="l">
              <a:lnSpc>
                <a:spcPct val="85000"/>
              </a:lnSpc>
              <a:spcBef>
                <a:spcPts val="200"/>
              </a:spcBef>
              <a:spcAft>
                <a:spcPts val="0"/>
              </a:spcAft>
              <a:buClr>
                <a:schemeClr val="dk1"/>
              </a:buClr>
              <a:buSzPts val="1600"/>
              <a:buFont typeface="Arial"/>
              <a:buChar char="–"/>
              <a:defRPr b="0" i="0" sz="1600" u="none" cap="none" strike="noStrike">
                <a:solidFill>
                  <a:schemeClr val="dk1"/>
                </a:solidFill>
                <a:latin typeface="Century Gothic"/>
                <a:ea typeface="Century Gothic"/>
                <a:cs typeface="Century Gothic"/>
                <a:sym typeface="Century Gothic"/>
              </a:defRPr>
            </a:lvl2pPr>
            <a:lvl3pPr lvl="2" marR="0" rtl="0" algn="l">
              <a:lnSpc>
                <a:spcPct val="85000"/>
              </a:lnSpc>
              <a:spcBef>
                <a:spcPts val="200"/>
              </a:spcBef>
              <a:spcAft>
                <a:spcPts val="0"/>
              </a:spcAft>
              <a:buClr>
                <a:schemeClr val="dk1"/>
              </a:buClr>
              <a:buSzPts val="1400"/>
              <a:buFont typeface="Arial"/>
              <a:buChar char="-"/>
              <a:defRPr b="0" i="0" sz="1400" u="none" cap="none" strike="noStrike">
                <a:solidFill>
                  <a:schemeClr val="dk1"/>
                </a:solidFill>
                <a:latin typeface="Century Gothic"/>
                <a:ea typeface="Century Gothic"/>
                <a:cs typeface="Century Gothic"/>
                <a:sym typeface="Century Gothic"/>
              </a:defRPr>
            </a:lvl3pPr>
            <a:lvl4pPr lvl="3"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4pPr>
            <a:lvl5pPr lvl="4" marR="0" rtl="0" algn="l">
              <a:lnSpc>
                <a:spcPct val="95000"/>
              </a:lnSpc>
              <a:spcBef>
                <a:spcPts val="600"/>
              </a:spcBef>
              <a:spcAft>
                <a:spcPts val="0"/>
              </a:spcAft>
              <a:buClr>
                <a:schemeClr val="accent1"/>
              </a:buClr>
              <a:buSzPts val="1800"/>
              <a:buFont typeface="Arial"/>
              <a:buChar char="​"/>
              <a:defRPr b="0" i="0" sz="1800" u="none" cap="none" strike="noStrike">
                <a:solidFill>
                  <a:schemeClr val="accent1"/>
                </a:solidFill>
                <a:latin typeface="Century Gothic"/>
                <a:ea typeface="Century Gothic"/>
                <a:cs typeface="Century Gothic"/>
                <a:sym typeface="Century Gothic"/>
              </a:defRPr>
            </a:lvl5pPr>
            <a:lvl6pPr lvl="5" marR="0" rtl="0" algn="l">
              <a:lnSpc>
                <a:spcPct val="95000"/>
              </a:lnSpc>
              <a:spcBef>
                <a:spcPts val="600"/>
              </a:spcBef>
              <a:spcAft>
                <a:spcPts val="0"/>
              </a:spcAft>
              <a:buClr>
                <a:schemeClr val="accent2"/>
              </a:buClr>
              <a:buSzPts val="1800"/>
              <a:buFont typeface="Arial"/>
              <a:buChar char="​"/>
              <a:defRPr b="0" i="0" sz="1800" u="none" cap="none" strike="noStrike">
                <a:solidFill>
                  <a:schemeClr val="accent2"/>
                </a:solidFill>
                <a:latin typeface="Century Gothic"/>
                <a:ea typeface="Century Gothic"/>
                <a:cs typeface="Century Gothic"/>
                <a:sym typeface="Century Gothic"/>
              </a:defRPr>
            </a:lvl6pPr>
            <a:lvl7pPr lvl="6" marR="0" rtl="0" algn="l">
              <a:lnSpc>
                <a:spcPct val="95000"/>
              </a:lnSpc>
              <a:spcBef>
                <a:spcPts val="1000"/>
              </a:spcBef>
              <a:spcAft>
                <a:spcPts val="0"/>
              </a:spcAft>
              <a:buClr>
                <a:schemeClr val="dk1"/>
              </a:buClr>
              <a:buSzPts val="1800"/>
              <a:buFont typeface="Arial"/>
              <a:buChar char="​"/>
              <a:defRPr b="1" i="0" sz="1800" u="none" cap="none" strike="noStrike">
                <a:solidFill>
                  <a:schemeClr val="dk1"/>
                </a:solidFill>
                <a:latin typeface="Century Gothic"/>
                <a:ea typeface="Century Gothic"/>
                <a:cs typeface="Century Gothic"/>
                <a:sym typeface="Century Gothic"/>
              </a:defRPr>
            </a:lvl7pPr>
            <a:lvl8pPr lvl="7" marR="0" rtl="0" algn="l">
              <a:lnSpc>
                <a:spcPct val="95000"/>
              </a:lnSpc>
              <a:spcBef>
                <a:spcPts val="200"/>
              </a:spcBef>
              <a:spcAft>
                <a:spcPts val="0"/>
              </a:spcAft>
              <a:buClr>
                <a:schemeClr val="dk1"/>
              </a:buClr>
              <a:buSzPts val="1800"/>
              <a:buFont typeface="Century Gothic"/>
              <a:buAutoNum type="arabicPeriod"/>
              <a:defRPr b="0" i="0" sz="1800" u="none" cap="none" strike="noStrike">
                <a:solidFill>
                  <a:schemeClr val="dk1"/>
                </a:solidFill>
                <a:latin typeface="Century Gothic"/>
                <a:ea typeface="Century Gothic"/>
                <a:cs typeface="Century Gothic"/>
                <a:sym typeface="Century Gothic"/>
              </a:defRPr>
            </a:lvl8pPr>
            <a:lvl9pPr lvl="8" marR="0" rtl="0" algn="l">
              <a:lnSpc>
                <a:spcPct val="95000"/>
              </a:lnSpc>
              <a:spcBef>
                <a:spcPts val="400"/>
              </a:spcBef>
              <a:spcAft>
                <a:spcPts val="400"/>
              </a:spcAft>
              <a:buClr>
                <a:schemeClr val="accent6"/>
              </a:buClr>
              <a:buSzPts val="900"/>
              <a:buFont typeface="Arial"/>
              <a:buChar char="​"/>
              <a:defRPr b="0" i="0" sz="900" u="none" cap="none" strike="noStrike">
                <a:solidFill>
                  <a:schemeClr val="accent6"/>
                </a:solidFill>
                <a:latin typeface="Century Gothic"/>
                <a:ea typeface="Century Gothic"/>
                <a:cs typeface="Century Gothic"/>
                <a:sym typeface="Century Gothic"/>
              </a:defRPr>
            </a:lvl9pPr>
          </a:lstStyle>
          <a:p/>
        </p:txBody>
      </p:sp>
      <p:sp>
        <p:nvSpPr>
          <p:cNvPr id="110" name="Google Shape;110;p23"/>
          <p:cNvSpPr txBox="1"/>
          <p:nvPr>
            <p:ph idx="1" type="body"/>
          </p:nvPr>
        </p:nvSpPr>
        <p:spPr>
          <a:xfrm>
            <a:off x="457200" y="1216152"/>
            <a:ext cx="5334000" cy="3344035"/>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lvl1pPr>
            <a:lvl2pPr indent="-330200" lvl="1" marL="914400" algn="l">
              <a:lnSpc>
                <a:spcPct val="85000"/>
              </a:lnSpc>
              <a:spcBef>
                <a:spcPts val="200"/>
              </a:spcBef>
              <a:spcAft>
                <a:spcPts val="0"/>
              </a:spcAft>
              <a:buClr>
                <a:schemeClr val="dk1"/>
              </a:buClr>
              <a:buSzPts val="1600"/>
              <a:buChar char="–"/>
              <a:defRPr sz="1600"/>
            </a:lvl2pPr>
            <a:lvl3pPr indent="-317500" lvl="2" marL="1371600" algn="l">
              <a:lnSpc>
                <a:spcPct val="85000"/>
              </a:lnSpc>
              <a:spcBef>
                <a:spcPts val="200"/>
              </a:spcBef>
              <a:spcAft>
                <a:spcPts val="0"/>
              </a:spcAft>
              <a:buClr>
                <a:schemeClr val="dk1"/>
              </a:buClr>
              <a:buSzPts val="1400"/>
              <a:buChar char="-"/>
              <a:defRPr sz="1400"/>
            </a:lvl3pPr>
            <a:lvl4pPr indent="-342900" lvl="3" marL="1828800" algn="l">
              <a:lnSpc>
                <a:spcPct val="95000"/>
              </a:lnSpc>
              <a:spcBef>
                <a:spcPts val="600"/>
              </a:spcBef>
              <a:spcAft>
                <a:spcPts val="0"/>
              </a:spcAft>
              <a:buClr>
                <a:schemeClr val="dk1"/>
              </a:buClr>
              <a:buSzPts val="1800"/>
              <a:buChar char="​"/>
              <a:defRPr sz="1800"/>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11" name="Google Shape;111;p23"/>
          <p:cNvSpPr txBox="1"/>
          <p:nvPr>
            <p:ph idx="3" type="body"/>
          </p:nvPr>
        </p:nvSpPr>
        <p:spPr>
          <a:xfrm>
            <a:off x="3297994" y="4855464"/>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12" name="Google Shape;112;p23"/>
          <p:cNvSpPr txBox="1"/>
          <p:nvPr>
            <p:ph type="title"/>
          </p:nvPr>
        </p:nvSpPr>
        <p:spPr>
          <a:xfrm>
            <a:off x="457200" y="173736"/>
            <a:ext cx="8229600" cy="704088"/>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transition spd="med">
    <p:fade/>
  </p:transition>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Right Weighted">
  <p:cSld name="Title and Two Right Weighted">
    <p:spTree>
      <p:nvGrpSpPr>
        <p:cNvPr id="113" name="Shape 113"/>
        <p:cNvGrpSpPr/>
        <p:nvPr/>
      </p:nvGrpSpPr>
      <p:grpSpPr>
        <a:xfrm>
          <a:off x="0" y="0"/>
          <a:ext cx="0" cy="0"/>
          <a:chOff x="0" y="0"/>
          <a:chExt cx="0" cy="0"/>
        </a:xfrm>
      </p:grpSpPr>
      <p:sp>
        <p:nvSpPr>
          <p:cNvPr id="114" name="Google Shape;114;p24"/>
          <p:cNvSpPr/>
          <p:nvPr>
            <p:ph idx="2" type="pic"/>
          </p:nvPr>
        </p:nvSpPr>
        <p:spPr>
          <a:xfrm>
            <a:off x="457200" y="1216152"/>
            <a:ext cx="2438400" cy="3070129"/>
          </a:xfrm>
          <a:prstGeom prst="rect">
            <a:avLst/>
          </a:prstGeom>
          <a:noFill/>
          <a:ln>
            <a:noFill/>
          </a:ln>
        </p:spPr>
        <p:txBody>
          <a:bodyPr anchorCtr="0" anchor="t" bIns="0" lIns="0" spcFirstLastPara="1" rIns="0" wrap="square" tIns="0">
            <a:noAutofit/>
          </a:bodyPr>
          <a:lstStyle>
            <a:lvl1pPr lvl="0"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1pPr>
            <a:lvl2pPr lvl="1" marR="0" rtl="0" algn="l">
              <a:lnSpc>
                <a:spcPct val="85000"/>
              </a:lnSpc>
              <a:spcBef>
                <a:spcPts val="200"/>
              </a:spcBef>
              <a:spcAft>
                <a:spcPts val="0"/>
              </a:spcAft>
              <a:buClr>
                <a:schemeClr val="dk1"/>
              </a:buClr>
              <a:buSzPts val="1600"/>
              <a:buFont typeface="Arial"/>
              <a:buChar char="–"/>
              <a:defRPr b="0" i="0" sz="1600" u="none" cap="none" strike="noStrike">
                <a:solidFill>
                  <a:schemeClr val="dk1"/>
                </a:solidFill>
                <a:latin typeface="Century Gothic"/>
                <a:ea typeface="Century Gothic"/>
                <a:cs typeface="Century Gothic"/>
                <a:sym typeface="Century Gothic"/>
              </a:defRPr>
            </a:lvl2pPr>
            <a:lvl3pPr lvl="2" marR="0" rtl="0" algn="l">
              <a:lnSpc>
                <a:spcPct val="85000"/>
              </a:lnSpc>
              <a:spcBef>
                <a:spcPts val="200"/>
              </a:spcBef>
              <a:spcAft>
                <a:spcPts val="0"/>
              </a:spcAft>
              <a:buClr>
                <a:schemeClr val="dk1"/>
              </a:buClr>
              <a:buSzPts val="1400"/>
              <a:buFont typeface="Arial"/>
              <a:buChar char="-"/>
              <a:defRPr b="0" i="0" sz="1400" u="none" cap="none" strike="noStrike">
                <a:solidFill>
                  <a:schemeClr val="dk1"/>
                </a:solidFill>
                <a:latin typeface="Century Gothic"/>
                <a:ea typeface="Century Gothic"/>
                <a:cs typeface="Century Gothic"/>
                <a:sym typeface="Century Gothic"/>
              </a:defRPr>
            </a:lvl3pPr>
            <a:lvl4pPr lvl="3"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4pPr>
            <a:lvl5pPr lvl="4" marR="0" rtl="0" algn="l">
              <a:lnSpc>
                <a:spcPct val="95000"/>
              </a:lnSpc>
              <a:spcBef>
                <a:spcPts val="600"/>
              </a:spcBef>
              <a:spcAft>
                <a:spcPts val="0"/>
              </a:spcAft>
              <a:buClr>
                <a:schemeClr val="accent1"/>
              </a:buClr>
              <a:buSzPts val="1800"/>
              <a:buFont typeface="Arial"/>
              <a:buChar char="​"/>
              <a:defRPr b="0" i="0" sz="1800" u="none" cap="none" strike="noStrike">
                <a:solidFill>
                  <a:schemeClr val="accent1"/>
                </a:solidFill>
                <a:latin typeface="Century Gothic"/>
                <a:ea typeface="Century Gothic"/>
                <a:cs typeface="Century Gothic"/>
                <a:sym typeface="Century Gothic"/>
              </a:defRPr>
            </a:lvl5pPr>
            <a:lvl6pPr lvl="5" marR="0" rtl="0" algn="l">
              <a:lnSpc>
                <a:spcPct val="95000"/>
              </a:lnSpc>
              <a:spcBef>
                <a:spcPts val="600"/>
              </a:spcBef>
              <a:spcAft>
                <a:spcPts val="0"/>
              </a:spcAft>
              <a:buClr>
                <a:schemeClr val="accent2"/>
              </a:buClr>
              <a:buSzPts val="1800"/>
              <a:buFont typeface="Arial"/>
              <a:buChar char="​"/>
              <a:defRPr b="0" i="0" sz="1800" u="none" cap="none" strike="noStrike">
                <a:solidFill>
                  <a:schemeClr val="accent2"/>
                </a:solidFill>
                <a:latin typeface="Century Gothic"/>
                <a:ea typeface="Century Gothic"/>
                <a:cs typeface="Century Gothic"/>
                <a:sym typeface="Century Gothic"/>
              </a:defRPr>
            </a:lvl6pPr>
            <a:lvl7pPr lvl="6" marR="0" rtl="0" algn="l">
              <a:lnSpc>
                <a:spcPct val="95000"/>
              </a:lnSpc>
              <a:spcBef>
                <a:spcPts val="1000"/>
              </a:spcBef>
              <a:spcAft>
                <a:spcPts val="0"/>
              </a:spcAft>
              <a:buClr>
                <a:schemeClr val="dk1"/>
              </a:buClr>
              <a:buSzPts val="1800"/>
              <a:buFont typeface="Arial"/>
              <a:buChar char="​"/>
              <a:defRPr b="1" i="0" sz="1800" u="none" cap="none" strike="noStrike">
                <a:solidFill>
                  <a:schemeClr val="dk1"/>
                </a:solidFill>
                <a:latin typeface="Century Gothic"/>
                <a:ea typeface="Century Gothic"/>
                <a:cs typeface="Century Gothic"/>
                <a:sym typeface="Century Gothic"/>
              </a:defRPr>
            </a:lvl7pPr>
            <a:lvl8pPr lvl="7" marR="0" rtl="0" algn="l">
              <a:lnSpc>
                <a:spcPct val="95000"/>
              </a:lnSpc>
              <a:spcBef>
                <a:spcPts val="200"/>
              </a:spcBef>
              <a:spcAft>
                <a:spcPts val="0"/>
              </a:spcAft>
              <a:buClr>
                <a:schemeClr val="dk1"/>
              </a:buClr>
              <a:buSzPts val="1800"/>
              <a:buFont typeface="Century Gothic"/>
              <a:buAutoNum type="arabicPeriod"/>
              <a:defRPr b="0" i="0" sz="1800" u="none" cap="none" strike="noStrike">
                <a:solidFill>
                  <a:schemeClr val="dk1"/>
                </a:solidFill>
                <a:latin typeface="Century Gothic"/>
                <a:ea typeface="Century Gothic"/>
                <a:cs typeface="Century Gothic"/>
                <a:sym typeface="Century Gothic"/>
              </a:defRPr>
            </a:lvl8pPr>
            <a:lvl9pPr lvl="8" marR="0" rtl="0" algn="l">
              <a:lnSpc>
                <a:spcPct val="95000"/>
              </a:lnSpc>
              <a:spcBef>
                <a:spcPts val="400"/>
              </a:spcBef>
              <a:spcAft>
                <a:spcPts val="400"/>
              </a:spcAft>
              <a:buClr>
                <a:schemeClr val="accent6"/>
              </a:buClr>
              <a:buSzPts val="900"/>
              <a:buFont typeface="Arial"/>
              <a:buChar char="​"/>
              <a:defRPr b="0" i="0" sz="900" u="none" cap="none" strike="noStrike">
                <a:solidFill>
                  <a:schemeClr val="accent6"/>
                </a:solidFill>
                <a:latin typeface="Century Gothic"/>
                <a:ea typeface="Century Gothic"/>
                <a:cs typeface="Century Gothic"/>
                <a:sym typeface="Century Gothic"/>
              </a:defRPr>
            </a:lvl9pPr>
          </a:lstStyle>
          <a:p/>
        </p:txBody>
      </p:sp>
      <p:sp>
        <p:nvSpPr>
          <p:cNvPr id="115" name="Google Shape;115;p24"/>
          <p:cNvSpPr txBox="1"/>
          <p:nvPr>
            <p:ph idx="1" type="body"/>
          </p:nvPr>
        </p:nvSpPr>
        <p:spPr>
          <a:xfrm>
            <a:off x="3352800" y="1216152"/>
            <a:ext cx="5334000" cy="3344034"/>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lvl1pPr>
            <a:lvl2pPr indent="-330200" lvl="1" marL="914400" algn="l">
              <a:lnSpc>
                <a:spcPct val="85000"/>
              </a:lnSpc>
              <a:spcBef>
                <a:spcPts val="200"/>
              </a:spcBef>
              <a:spcAft>
                <a:spcPts val="0"/>
              </a:spcAft>
              <a:buClr>
                <a:schemeClr val="dk1"/>
              </a:buClr>
              <a:buSzPts val="1600"/>
              <a:buChar char="–"/>
              <a:defRPr sz="1600"/>
            </a:lvl2pPr>
            <a:lvl3pPr indent="-317500" lvl="2" marL="1371600" algn="l">
              <a:lnSpc>
                <a:spcPct val="85000"/>
              </a:lnSpc>
              <a:spcBef>
                <a:spcPts val="200"/>
              </a:spcBef>
              <a:spcAft>
                <a:spcPts val="0"/>
              </a:spcAft>
              <a:buClr>
                <a:schemeClr val="dk1"/>
              </a:buClr>
              <a:buSzPts val="1400"/>
              <a:buChar char="-"/>
              <a:defRPr sz="1400"/>
            </a:lvl3pPr>
            <a:lvl4pPr indent="-342900" lvl="3" marL="1828800" algn="l">
              <a:lnSpc>
                <a:spcPct val="95000"/>
              </a:lnSpc>
              <a:spcBef>
                <a:spcPts val="600"/>
              </a:spcBef>
              <a:spcAft>
                <a:spcPts val="0"/>
              </a:spcAft>
              <a:buClr>
                <a:schemeClr val="dk1"/>
              </a:buClr>
              <a:buSzPts val="1800"/>
              <a:buChar char="​"/>
              <a:defRPr sz="1800"/>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16" name="Google Shape;116;p24"/>
          <p:cNvSpPr txBox="1"/>
          <p:nvPr>
            <p:ph idx="3" type="body"/>
          </p:nvPr>
        </p:nvSpPr>
        <p:spPr>
          <a:xfrm>
            <a:off x="3297994" y="4855464"/>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17" name="Google Shape;117;p24"/>
          <p:cNvSpPr txBox="1"/>
          <p:nvPr>
            <p:ph type="title"/>
          </p:nvPr>
        </p:nvSpPr>
        <p:spPr>
          <a:xfrm>
            <a:off x="457200" y="173736"/>
            <a:ext cx="8229600" cy="704088"/>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transition spd="med">
    <p:fade/>
  </p:transition>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ubtitle Only">
  <p:cSld name="Title and Subtitle Only">
    <p:spTree>
      <p:nvGrpSpPr>
        <p:cNvPr id="118" name="Shape 118"/>
        <p:cNvGrpSpPr/>
        <p:nvPr/>
      </p:nvGrpSpPr>
      <p:grpSpPr>
        <a:xfrm>
          <a:off x="0" y="0"/>
          <a:ext cx="0" cy="0"/>
          <a:chOff x="0" y="0"/>
          <a:chExt cx="0" cy="0"/>
        </a:xfrm>
      </p:grpSpPr>
      <p:sp>
        <p:nvSpPr>
          <p:cNvPr id="119" name="Google Shape;119;p25"/>
          <p:cNvSpPr txBox="1"/>
          <p:nvPr>
            <p:ph idx="1" type="body"/>
          </p:nvPr>
        </p:nvSpPr>
        <p:spPr>
          <a:xfrm>
            <a:off x="3297994" y="4855464"/>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20" name="Google Shape;120;p25"/>
          <p:cNvSpPr txBox="1"/>
          <p:nvPr>
            <p:ph type="title"/>
          </p:nvPr>
        </p:nvSpPr>
        <p:spPr>
          <a:xfrm>
            <a:off x="457200" y="173736"/>
            <a:ext cx="8229600" cy="413639"/>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transition spd="med">
    <p:fade/>
  </p:transition>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21" name="Shape 121"/>
        <p:cNvGrpSpPr/>
        <p:nvPr/>
      </p:nvGrpSpPr>
      <p:grpSpPr>
        <a:xfrm>
          <a:off x="0" y="0"/>
          <a:ext cx="0" cy="0"/>
          <a:chOff x="0" y="0"/>
          <a:chExt cx="0" cy="0"/>
        </a:xfrm>
      </p:grpSpPr>
      <p:sp>
        <p:nvSpPr>
          <p:cNvPr id="122" name="Google Shape;122;p26"/>
          <p:cNvSpPr txBox="1"/>
          <p:nvPr>
            <p:ph idx="1" type="body"/>
          </p:nvPr>
        </p:nvSpPr>
        <p:spPr>
          <a:xfrm>
            <a:off x="3297994" y="4855464"/>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Tree>
  </p:cSld>
  <p:clrMapOvr>
    <a:masterClrMapping/>
  </p:clrMapOvr>
  <p:transition spd="med">
    <p:fade/>
  </p:transition>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se Study">
  <p:cSld name="Case Study">
    <p:spTree>
      <p:nvGrpSpPr>
        <p:cNvPr id="123" name="Shape 123"/>
        <p:cNvGrpSpPr/>
        <p:nvPr/>
      </p:nvGrpSpPr>
      <p:grpSpPr>
        <a:xfrm>
          <a:off x="0" y="0"/>
          <a:ext cx="0" cy="0"/>
          <a:chOff x="0" y="0"/>
          <a:chExt cx="0" cy="0"/>
        </a:xfrm>
      </p:grpSpPr>
      <p:sp>
        <p:nvSpPr>
          <p:cNvPr id="124" name="Google Shape;124;p27"/>
          <p:cNvSpPr txBox="1"/>
          <p:nvPr>
            <p:ph idx="1" type="body"/>
          </p:nvPr>
        </p:nvSpPr>
        <p:spPr>
          <a:xfrm>
            <a:off x="3514722" y="777240"/>
            <a:ext cx="5629278" cy="914400"/>
          </a:xfrm>
          <a:prstGeom prst="rect">
            <a:avLst/>
          </a:prstGeom>
          <a:solidFill>
            <a:srgbClr val="0079DB"/>
          </a:solidFill>
          <a:ln>
            <a:noFill/>
          </a:ln>
        </p:spPr>
        <p:txBody>
          <a:bodyPr anchorCtr="0" anchor="b" bIns="228600" lIns="228600" spcFirstLastPara="1" rIns="457200" wrap="square" tIns="137150">
            <a:noAutofit/>
          </a:bodyPr>
          <a:lstStyle>
            <a:lvl1pPr indent="-368300" lvl="0" marL="457200" algn="l">
              <a:lnSpc>
                <a:spcPct val="85000"/>
              </a:lnSpc>
              <a:spcBef>
                <a:spcPts val="200"/>
              </a:spcBef>
              <a:spcAft>
                <a:spcPts val="0"/>
              </a:spcAft>
              <a:buClr>
                <a:schemeClr val="lt1"/>
              </a:buClr>
              <a:buSzPts val="2200"/>
              <a:buFont typeface="Arial"/>
              <a:buChar char="​"/>
              <a:defRPr sz="2200">
                <a:solidFill>
                  <a:schemeClr val="lt1"/>
                </a:solidFill>
              </a:defRPr>
            </a:lvl1pPr>
            <a:lvl2pPr indent="-342900" lvl="1" marL="914400" algn="l">
              <a:lnSpc>
                <a:spcPct val="85000"/>
              </a:lnSpc>
              <a:spcBef>
                <a:spcPts val="200"/>
              </a:spcBef>
              <a:spcAft>
                <a:spcPts val="0"/>
              </a:spcAft>
              <a:buClr>
                <a:schemeClr val="lt1"/>
              </a:buClr>
              <a:buSzPts val="1800"/>
              <a:buFont typeface="Arial"/>
              <a:buChar char="​"/>
              <a:defRPr sz="1800">
                <a:solidFill>
                  <a:schemeClr val="lt1"/>
                </a:solidFill>
              </a:defRPr>
            </a:lvl2pPr>
            <a:lvl3pPr indent="-317500" lvl="2" marL="1371600" algn="l">
              <a:lnSpc>
                <a:spcPct val="85000"/>
              </a:lnSpc>
              <a:spcBef>
                <a:spcPts val="600"/>
              </a:spcBef>
              <a:spcAft>
                <a:spcPts val="0"/>
              </a:spcAft>
              <a:buClr>
                <a:schemeClr val="lt1"/>
              </a:buClr>
              <a:buSzPts val="1400"/>
              <a:buFont typeface="Arial"/>
              <a:buChar char="​"/>
              <a:defRPr b="1" sz="1400">
                <a:solidFill>
                  <a:schemeClr val="lt1"/>
                </a:solidFill>
              </a:defRPr>
            </a:lvl3pPr>
            <a:lvl4pPr indent="-317500" lvl="3" marL="1828800" algn="l">
              <a:lnSpc>
                <a:spcPct val="85000"/>
              </a:lnSpc>
              <a:spcBef>
                <a:spcPts val="200"/>
              </a:spcBef>
              <a:spcAft>
                <a:spcPts val="0"/>
              </a:spcAft>
              <a:buClr>
                <a:schemeClr val="lt1"/>
              </a:buClr>
              <a:buSzPts val="1400"/>
              <a:buFont typeface="Arial"/>
              <a:buChar char="​"/>
              <a:defRPr b="0" sz="1400">
                <a:solidFill>
                  <a:schemeClr val="lt1"/>
                </a:solidFill>
              </a:defRPr>
            </a:lvl4pPr>
            <a:lvl5pPr indent="-317500" lvl="4" marL="2286000" algn="l">
              <a:lnSpc>
                <a:spcPct val="85000"/>
              </a:lnSpc>
              <a:spcBef>
                <a:spcPts val="200"/>
              </a:spcBef>
              <a:spcAft>
                <a:spcPts val="0"/>
              </a:spcAft>
              <a:buClr>
                <a:schemeClr val="lt1"/>
              </a:buClr>
              <a:buSzPts val="1400"/>
              <a:buFont typeface="Arial"/>
              <a:buChar char="​"/>
              <a:defRPr b="0" sz="1400">
                <a:solidFill>
                  <a:schemeClr val="lt1"/>
                </a:solidFill>
              </a:defRPr>
            </a:lvl5pPr>
            <a:lvl6pPr indent="-317500" lvl="5" marL="2743200" algn="ctr">
              <a:lnSpc>
                <a:spcPct val="85000"/>
              </a:lnSpc>
              <a:spcBef>
                <a:spcPts val="200"/>
              </a:spcBef>
              <a:spcAft>
                <a:spcPts val="0"/>
              </a:spcAft>
              <a:buClr>
                <a:schemeClr val="lt1"/>
              </a:buClr>
              <a:buSzPts val="1400"/>
              <a:buFont typeface="Arial"/>
              <a:buChar char="​"/>
              <a:defRPr b="0" sz="1400">
                <a:solidFill>
                  <a:schemeClr val="lt1"/>
                </a:solidFill>
              </a:defRPr>
            </a:lvl6pPr>
            <a:lvl7pPr indent="-317500" lvl="6" marL="3200400" algn="ctr">
              <a:lnSpc>
                <a:spcPct val="85000"/>
              </a:lnSpc>
              <a:spcBef>
                <a:spcPts val="200"/>
              </a:spcBef>
              <a:spcAft>
                <a:spcPts val="0"/>
              </a:spcAft>
              <a:buClr>
                <a:schemeClr val="lt1"/>
              </a:buClr>
              <a:buSzPts val="1400"/>
              <a:buFont typeface="Arial"/>
              <a:buChar char="​"/>
              <a:defRPr b="0" sz="1400">
                <a:solidFill>
                  <a:schemeClr val="lt1"/>
                </a:solidFill>
              </a:defRPr>
            </a:lvl7pPr>
            <a:lvl8pPr indent="-317500" lvl="7" marL="3657600" algn="ctr">
              <a:lnSpc>
                <a:spcPct val="85000"/>
              </a:lnSpc>
              <a:spcBef>
                <a:spcPts val="200"/>
              </a:spcBef>
              <a:spcAft>
                <a:spcPts val="0"/>
              </a:spcAft>
              <a:buClr>
                <a:schemeClr val="lt1"/>
              </a:buClr>
              <a:buSzPts val="1400"/>
              <a:buFont typeface="Arial"/>
              <a:buChar char="​"/>
              <a:defRPr b="0" sz="1400">
                <a:solidFill>
                  <a:schemeClr val="lt1"/>
                </a:solidFill>
              </a:defRPr>
            </a:lvl8pPr>
            <a:lvl9pPr indent="-317500" lvl="8" marL="4114800" algn="ctr">
              <a:lnSpc>
                <a:spcPct val="85000"/>
              </a:lnSpc>
              <a:spcBef>
                <a:spcPts val="200"/>
              </a:spcBef>
              <a:spcAft>
                <a:spcPts val="200"/>
              </a:spcAft>
              <a:buClr>
                <a:schemeClr val="lt1"/>
              </a:buClr>
              <a:buSzPts val="1400"/>
              <a:buFont typeface="Arial"/>
              <a:buChar char="​"/>
              <a:defRPr b="0" sz="1400">
                <a:solidFill>
                  <a:schemeClr val="lt1"/>
                </a:solidFill>
              </a:defRPr>
            </a:lvl9pPr>
          </a:lstStyle>
          <a:p/>
        </p:txBody>
      </p:sp>
      <p:sp>
        <p:nvSpPr>
          <p:cNvPr id="125" name="Google Shape;125;p27"/>
          <p:cNvSpPr/>
          <p:nvPr>
            <p:ph idx="2" type="pic"/>
          </p:nvPr>
        </p:nvSpPr>
        <p:spPr>
          <a:xfrm>
            <a:off x="0" y="0"/>
            <a:ext cx="2971800" cy="5143500"/>
          </a:xfrm>
          <a:prstGeom prst="rect">
            <a:avLst/>
          </a:prstGeom>
          <a:noFill/>
          <a:ln>
            <a:noFill/>
          </a:ln>
        </p:spPr>
        <p:txBody>
          <a:bodyPr anchorCtr="0" anchor="t" bIns="0" lIns="0" spcFirstLastPara="1" rIns="0" wrap="square" tIns="0">
            <a:noAutofit/>
          </a:bodyPr>
          <a:lstStyle>
            <a:lvl1pPr lvl="0" marR="0" rtl="0" algn="ctr">
              <a:lnSpc>
                <a:spcPct val="95000"/>
              </a:lnSpc>
              <a:spcBef>
                <a:spcPts val="600"/>
              </a:spcBef>
              <a:spcAft>
                <a:spcPts val="0"/>
              </a:spcAft>
              <a:buClr>
                <a:schemeClr val="dk1"/>
              </a:buClr>
              <a:buSzPts val="1600"/>
              <a:buFont typeface="Arial"/>
              <a:buNone/>
              <a:defRPr b="0" i="0" sz="1600" u="none" cap="none" strike="noStrike">
                <a:solidFill>
                  <a:schemeClr val="dk1"/>
                </a:solidFill>
                <a:latin typeface="Century Gothic"/>
                <a:ea typeface="Century Gothic"/>
                <a:cs typeface="Century Gothic"/>
                <a:sym typeface="Century Gothic"/>
              </a:defRPr>
            </a:lvl1pPr>
            <a:lvl2pPr lvl="1" marR="0" rtl="0" algn="l">
              <a:lnSpc>
                <a:spcPct val="85000"/>
              </a:lnSpc>
              <a:spcBef>
                <a:spcPts val="200"/>
              </a:spcBef>
              <a:spcAft>
                <a:spcPts val="0"/>
              </a:spcAft>
              <a:buClr>
                <a:schemeClr val="dk1"/>
              </a:buClr>
              <a:buSzPts val="1600"/>
              <a:buFont typeface="Arial"/>
              <a:buChar char="–"/>
              <a:defRPr b="0" i="0" sz="1600" u="none" cap="none" strike="noStrike">
                <a:solidFill>
                  <a:schemeClr val="dk1"/>
                </a:solidFill>
                <a:latin typeface="Century Gothic"/>
                <a:ea typeface="Century Gothic"/>
                <a:cs typeface="Century Gothic"/>
                <a:sym typeface="Century Gothic"/>
              </a:defRPr>
            </a:lvl2pPr>
            <a:lvl3pPr lvl="2" marR="0" rtl="0" algn="l">
              <a:lnSpc>
                <a:spcPct val="85000"/>
              </a:lnSpc>
              <a:spcBef>
                <a:spcPts val="200"/>
              </a:spcBef>
              <a:spcAft>
                <a:spcPts val="0"/>
              </a:spcAft>
              <a:buClr>
                <a:schemeClr val="dk1"/>
              </a:buClr>
              <a:buSzPts val="1400"/>
              <a:buFont typeface="Arial"/>
              <a:buChar char="-"/>
              <a:defRPr b="0" i="0" sz="1400" u="none" cap="none" strike="noStrike">
                <a:solidFill>
                  <a:schemeClr val="dk1"/>
                </a:solidFill>
                <a:latin typeface="Century Gothic"/>
                <a:ea typeface="Century Gothic"/>
                <a:cs typeface="Century Gothic"/>
                <a:sym typeface="Century Gothic"/>
              </a:defRPr>
            </a:lvl3pPr>
            <a:lvl4pPr lvl="3"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4pPr>
            <a:lvl5pPr lvl="4" marR="0" rtl="0" algn="l">
              <a:lnSpc>
                <a:spcPct val="95000"/>
              </a:lnSpc>
              <a:spcBef>
                <a:spcPts val="600"/>
              </a:spcBef>
              <a:spcAft>
                <a:spcPts val="0"/>
              </a:spcAft>
              <a:buClr>
                <a:schemeClr val="accent1"/>
              </a:buClr>
              <a:buSzPts val="1800"/>
              <a:buFont typeface="Arial"/>
              <a:buChar char="​"/>
              <a:defRPr b="0" i="0" sz="1800" u="none" cap="none" strike="noStrike">
                <a:solidFill>
                  <a:schemeClr val="accent1"/>
                </a:solidFill>
                <a:latin typeface="Century Gothic"/>
                <a:ea typeface="Century Gothic"/>
                <a:cs typeface="Century Gothic"/>
                <a:sym typeface="Century Gothic"/>
              </a:defRPr>
            </a:lvl5pPr>
            <a:lvl6pPr lvl="5" marR="0" rtl="0" algn="l">
              <a:lnSpc>
                <a:spcPct val="95000"/>
              </a:lnSpc>
              <a:spcBef>
                <a:spcPts val="600"/>
              </a:spcBef>
              <a:spcAft>
                <a:spcPts val="0"/>
              </a:spcAft>
              <a:buClr>
                <a:schemeClr val="accent2"/>
              </a:buClr>
              <a:buSzPts val="1800"/>
              <a:buFont typeface="Arial"/>
              <a:buChar char="​"/>
              <a:defRPr b="0" i="0" sz="1800" u="none" cap="none" strike="noStrike">
                <a:solidFill>
                  <a:schemeClr val="accent2"/>
                </a:solidFill>
                <a:latin typeface="Century Gothic"/>
                <a:ea typeface="Century Gothic"/>
                <a:cs typeface="Century Gothic"/>
                <a:sym typeface="Century Gothic"/>
              </a:defRPr>
            </a:lvl6pPr>
            <a:lvl7pPr lvl="6" marR="0" rtl="0" algn="l">
              <a:lnSpc>
                <a:spcPct val="95000"/>
              </a:lnSpc>
              <a:spcBef>
                <a:spcPts val="1000"/>
              </a:spcBef>
              <a:spcAft>
                <a:spcPts val="0"/>
              </a:spcAft>
              <a:buClr>
                <a:schemeClr val="dk1"/>
              </a:buClr>
              <a:buSzPts val="1800"/>
              <a:buFont typeface="Arial"/>
              <a:buChar char="​"/>
              <a:defRPr b="1" i="0" sz="1800" u="none" cap="none" strike="noStrike">
                <a:solidFill>
                  <a:schemeClr val="dk1"/>
                </a:solidFill>
                <a:latin typeface="Century Gothic"/>
                <a:ea typeface="Century Gothic"/>
                <a:cs typeface="Century Gothic"/>
                <a:sym typeface="Century Gothic"/>
              </a:defRPr>
            </a:lvl7pPr>
            <a:lvl8pPr lvl="7" marR="0" rtl="0" algn="l">
              <a:lnSpc>
                <a:spcPct val="95000"/>
              </a:lnSpc>
              <a:spcBef>
                <a:spcPts val="200"/>
              </a:spcBef>
              <a:spcAft>
                <a:spcPts val="0"/>
              </a:spcAft>
              <a:buClr>
                <a:schemeClr val="dk1"/>
              </a:buClr>
              <a:buSzPts val="1800"/>
              <a:buFont typeface="Century Gothic"/>
              <a:buAutoNum type="arabicPeriod"/>
              <a:defRPr b="0" i="0" sz="1800" u="none" cap="none" strike="noStrike">
                <a:solidFill>
                  <a:schemeClr val="dk1"/>
                </a:solidFill>
                <a:latin typeface="Century Gothic"/>
                <a:ea typeface="Century Gothic"/>
                <a:cs typeface="Century Gothic"/>
                <a:sym typeface="Century Gothic"/>
              </a:defRPr>
            </a:lvl8pPr>
            <a:lvl9pPr lvl="8" marR="0" rtl="0" algn="l">
              <a:lnSpc>
                <a:spcPct val="95000"/>
              </a:lnSpc>
              <a:spcBef>
                <a:spcPts val="400"/>
              </a:spcBef>
              <a:spcAft>
                <a:spcPts val="400"/>
              </a:spcAft>
              <a:buClr>
                <a:schemeClr val="accent6"/>
              </a:buClr>
              <a:buSzPts val="900"/>
              <a:buFont typeface="Arial"/>
              <a:buChar char="​"/>
              <a:defRPr b="0" i="0" sz="900" u="none" cap="none" strike="noStrike">
                <a:solidFill>
                  <a:schemeClr val="accent6"/>
                </a:solidFill>
                <a:latin typeface="Century Gothic"/>
                <a:ea typeface="Century Gothic"/>
                <a:cs typeface="Century Gothic"/>
                <a:sym typeface="Century Gothic"/>
              </a:defRPr>
            </a:lvl9pPr>
          </a:lstStyle>
          <a:p/>
        </p:txBody>
      </p:sp>
      <p:sp>
        <p:nvSpPr>
          <p:cNvPr id="126" name="Google Shape;126;p27"/>
          <p:cNvSpPr txBox="1"/>
          <p:nvPr>
            <p:ph idx="3" type="body"/>
          </p:nvPr>
        </p:nvSpPr>
        <p:spPr>
          <a:xfrm>
            <a:off x="3511296" y="1878314"/>
            <a:ext cx="5146943" cy="2783250"/>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400"/>
              </a:spcBef>
              <a:spcAft>
                <a:spcPts val="0"/>
              </a:spcAft>
              <a:buClr>
                <a:schemeClr val="dk1"/>
              </a:buClr>
              <a:buSzPts val="1800"/>
              <a:buChar char="•"/>
              <a:defRPr sz="1800"/>
            </a:lvl1pPr>
            <a:lvl2pPr indent="-330200" lvl="1" marL="914400" algn="l">
              <a:lnSpc>
                <a:spcPct val="85000"/>
              </a:lnSpc>
              <a:spcBef>
                <a:spcPts val="200"/>
              </a:spcBef>
              <a:spcAft>
                <a:spcPts val="0"/>
              </a:spcAft>
              <a:buClr>
                <a:schemeClr val="dk1"/>
              </a:buClr>
              <a:buSzPts val="1600"/>
              <a:buChar char="–"/>
              <a:defRPr sz="1600"/>
            </a:lvl2pPr>
            <a:lvl3pPr indent="-317500" lvl="2" marL="1371600" algn="l">
              <a:lnSpc>
                <a:spcPct val="85000"/>
              </a:lnSpc>
              <a:spcBef>
                <a:spcPts val="200"/>
              </a:spcBef>
              <a:spcAft>
                <a:spcPts val="0"/>
              </a:spcAft>
              <a:buClr>
                <a:schemeClr val="dk1"/>
              </a:buClr>
              <a:buSzPts val="1400"/>
              <a:buChar char="-"/>
              <a:defRPr sz="1400"/>
            </a:lvl3pPr>
            <a:lvl4pPr indent="-342900" lvl="3" marL="1828800" algn="l">
              <a:lnSpc>
                <a:spcPct val="95000"/>
              </a:lnSpc>
              <a:spcBef>
                <a:spcPts val="600"/>
              </a:spcBef>
              <a:spcAft>
                <a:spcPts val="0"/>
              </a:spcAft>
              <a:buClr>
                <a:schemeClr val="dk1"/>
              </a:buClr>
              <a:buSzPts val="1800"/>
              <a:buChar char="​"/>
              <a:defRPr sz="1800"/>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27" name="Google Shape;127;p27"/>
          <p:cNvSpPr/>
          <p:nvPr>
            <p:ph idx="4" type="pic"/>
          </p:nvPr>
        </p:nvSpPr>
        <p:spPr>
          <a:xfrm>
            <a:off x="3505200" y="73152"/>
            <a:ext cx="1371600" cy="621792"/>
          </a:xfrm>
          <a:prstGeom prst="rect">
            <a:avLst/>
          </a:prstGeom>
          <a:noFill/>
          <a:ln>
            <a:noFill/>
          </a:ln>
        </p:spPr>
        <p:txBody>
          <a:bodyPr anchorCtr="0" anchor="ctr" bIns="0" lIns="0" spcFirstLastPara="1" rIns="0" wrap="square" tIns="0">
            <a:noAutofit/>
          </a:bodyPr>
          <a:lstStyle>
            <a:lvl1pPr lvl="0" marR="0" rtl="0" algn="ctr">
              <a:lnSpc>
                <a:spcPct val="95000"/>
              </a:lnSpc>
              <a:spcBef>
                <a:spcPts val="600"/>
              </a:spcBef>
              <a:spcAft>
                <a:spcPts val="0"/>
              </a:spcAft>
              <a:buClr>
                <a:schemeClr val="dk1"/>
              </a:buClr>
              <a:buSzPts val="900"/>
              <a:buFont typeface="Arial"/>
              <a:buNone/>
              <a:defRPr b="0" i="0" sz="900" u="none" cap="none" strike="noStrike">
                <a:solidFill>
                  <a:schemeClr val="dk1"/>
                </a:solidFill>
                <a:latin typeface="Century Gothic"/>
                <a:ea typeface="Century Gothic"/>
                <a:cs typeface="Century Gothic"/>
                <a:sym typeface="Century Gothic"/>
              </a:defRPr>
            </a:lvl1pPr>
            <a:lvl2pPr lvl="1" marR="0" rtl="0" algn="l">
              <a:lnSpc>
                <a:spcPct val="85000"/>
              </a:lnSpc>
              <a:spcBef>
                <a:spcPts val="200"/>
              </a:spcBef>
              <a:spcAft>
                <a:spcPts val="0"/>
              </a:spcAft>
              <a:buClr>
                <a:schemeClr val="dk1"/>
              </a:buClr>
              <a:buSzPts val="1600"/>
              <a:buFont typeface="Arial"/>
              <a:buChar char="–"/>
              <a:defRPr b="0" i="0" sz="1600" u="none" cap="none" strike="noStrike">
                <a:solidFill>
                  <a:schemeClr val="dk1"/>
                </a:solidFill>
                <a:latin typeface="Century Gothic"/>
                <a:ea typeface="Century Gothic"/>
                <a:cs typeface="Century Gothic"/>
                <a:sym typeface="Century Gothic"/>
              </a:defRPr>
            </a:lvl2pPr>
            <a:lvl3pPr lvl="2" marR="0" rtl="0" algn="l">
              <a:lnSpc>
                <a:spcPct val="85000"/>
              </a:lnSpc>
              <a:spcBef>
                <a:spcPts val="200"/>
              </a:spcBef>
              <a:spcAft>
                <a:spcPts val="0"/>
              </a:spcAft>
              <a:buClr>
                <a:schemeClr val="dk1"/>
              </a:buClr>
              <a:buSzPts val="1400"/>
              <a:buFont typeface="Arial"/>
              <a:buChar char="-"/>
              <a:defRPr b="0" i="0" sz="1400" u="none" cap="none" strike="noStrike">
                <a:solidFill>
                  <a:schemeClr val="dk1"/>
                </a:solidFill>
                <a:latin typeface="Century Gothic"/>
                <a:ea typeface="Century Gothic"/>
                <a:cs typeface="Century Gothic"/>
                <a:sym typeface="Century Gothic"/>
              </a:defRPr>
            </a:lvl3pPr>
            <a:lvl4pPr lvl="3"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4pPr>
            <a:lvl5pPr lvl="4" marR="0" rtl="0" algn="l">
              <a:lnSpc>
                <a:spcPct val="95000"/>
              </a:lnSpc>
              <a:spcBef>
                <a:spcPts val="600"/>
              </a:spcBef>
              <a:spcAft>
                <a:spcPts val="0"/>
              </a:spcAft>
              <a:buClr>
                <a:schemeClr val="accent1"/>
              </a:buClr>
              <a:buSzPts val="1800"/>
              <a:buFont typeface="Arial"/>
              <a:buChar char="​"/>
              <a:defRPr b="0" i="0" sz="1800" u="none" cap="none" strike="noStrike">
                <a:solidFill>
                  <a:schemeClr val="accent1"/>
                </a:solidFill>
                <a:latin typeface="Century Gothic"/>
                <a:ea typeface="Century Gothic"/>
                <a:cs typeface="Century Gothic"/>
                <a:sym typeface="Century Gothic"/>
              </a:defRPr>
            </a:lvl5pPr>
            <a:lvl6pPr lvl="5" marR="0" rtl="0" algn="l">
              <a:lnSpc>
                <a:spcPct val="95000"/>
              </a:lnSpc>
              <a:spcBef>
                <a:spcPts val="600"/>
              </a:spcBef>
              <a:spcAft>
                <a:spcPts val="0"/>
              </a:spcAft>
              <a:buClr>
                <a:schemeClr val="accent2"/>
              </a:buClr>
              <a:buSzPts val="1800"/>
              <a:buFont typeface="Arial"/>
              <a:buChar char="​"/>
              <a:defRPr b="0" i="0" sz="1800" u="none" cap="none" strike="noStrike">
                <a:solidFill>
                  <a:schemeClr val="accent2"/>
                </a:solidFill>
                <a:latin typeface="Century Gothic"/>
                <a:ea typeface="Century Gothic"/>
                <a:cs typeface="Century Gothic"/>
                <a:sym typeface="Century Gothic"/>
              </a:defRPr>
            </a:lvl6pPr>
            <a:lvl7pPr lvl="6" marR="0" rtl="0" algn="l">
              <a:lnSpc>
                <a:spcPct val="95000"/>
              </a:lnSpc>
              <a:spcBef>
                <a:spcPts val="1000"/>
              </a:spcBef>
              <a:spcAft>
                <a:spcPts val="0"/>
              </a:spcAft>
              <a:buClr>
                <a:schemeClr val="dk1"/>
              </a:buClr>
              <a:buSzPts val="1800"/>
              <a:buFont typeface="Arial"/>
              <a:buChar char="​"/>
              <a:defRPr b="1" i="0" sz="1800" u="none" cap="none" strike="noStrike">
                <a:solidFill>
                  <a:schemeClr val="dk1"/>
                </a:solidFill>
                <a:latin typeface="Century Gothic"/>
                <a:ea typeface="Century Gothic"/>
                <a:cs typeface="Century Gothic"/>
                <a:sym typeface="Century Gothic"/>
              </a:defRPr>
            </a:lvl7pPr>
            <a:lvl8pPr lvl="7" marR="0" rtl="0" algn="l">
              <a:lnSpc>
                <a:spcPct val="95000"/>
              </a:lnSpc>
              <a:spcBef>
                <a:spcPts val="200"/>
              </a:spcBef>
              <a:spcAft>
                <a:spcPts val="0"/>
              </a:spcAft>
              <a:buClr>
                <a:schemeClr val="dk1"/>
              </a:buClr>
              <a:buSzPts val="1800"/>
              <a:buFont typeface="Century Gothic"/>
              <a:buAutoNum type="arabicPeriod"/>
              <a:defRPr b="0" i="0" sz="1800" u="none" cap="none" strike="noStrike">
                <a:solidFill>
                  <a:schemeClr val="dk1"/>
                </a:solidFill>
                <a:latin typeface="Century Gothic"/>
                <a:ea typeface="Century Gothic"/>
                <a:cs typeface="Century Gothic"/>
                <a:sym typeface="Century Gothic"/>
              </a:defRPr>
            </a:lvl8pPr>
            <a:lvl9pPr lvl="8" marR="0" rtl="0" algn="l">
              <a:lnSpc>
                <a:spcPct val="95000"/>
              </a:lnSpc>
              <a:spcBef>
                <a:spcPts val="400"/>
              </a:spcBef>
              <a:spcAft>
                <a:spcPts val="400"/>
              </a:spcAft>
              <a:buClr>
                <a:schemeClr val="accent6"/>
              </a:buClr>
              <a:buSzPts val="900"/>
              <a:buFont typeface="Arial"/>
              <a:buChar char="​"/>
              <a:defRPr b="0" i="0" sz="900" u="none" cap="none" strike="noStrike">
                <a:solidFill>
                  <a:schemeClr val="accent6"/>
                </a:solidFill>
                <a:latin typeface="Century Gothic"/>
                <a:ea typeface="Century Gothic"/>
                <a:cs typeface="Century Gothic"/>
                <a:sym typeface="Century Gothic"/>
              </a:defRPr>
            </a:lvl9pPr>
          </a:lstStyle>
          <a:p/>
        </p:txBody>
      </p:sp>
    </p:spTree>
  </p:cSld>
  <p:clrMapOvr>
    <a:masterClrMapping/>
  </p:clrMapOvr>
  <p:transition spd="med">
    <p:fade/>
  </p:transition>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ase Study_Option2">
  <p:cSld name="1_Case Study_Option2">
    <p:spTree>
      <p:nvGrpSpPr>
        <p:cNvPr id="128" name="Shape 128"/>
        <p:cNvGrpSpPr/>
        <p:nvPr/>
      </p:nvGrpSpPr>
      <p:grpSpPr>
        <a:xfrm>
          <a:off x="0" y="0"/>
          <a:ext cx="0" cy="0"/>
          <a:chOff x="0" y="0"/>
          <a:chExt cx="0" cy="0"/>
        </a:xfrm>
      </p:grpSpPr>
      <p:sp>
        <p:nvSpPr>
          <p:cNvPr id="129" name="Google Shape;129;p28"/>
          <p:cNvSpPr txBox="1"/>
          <p:nvPr>
            <p:ph idx="1" type="body"/>
          </p:nvPr>
        </p:nvSpPr>
        <p:spPr>
          <a:xfrm>
            <a:off x="3495307" y="128016"/>
            <a:ext cx="5648693" cy="914400"/>
          </a:xfrm>
          <a:prstGeom prst="rect">
            <a:avLst/>
          </a:prstGeom>
          <a:solidFill>
            <a:srgbClr val="0079DB"/>
          </a:solidFill>
          <a:ln>
            <a:noFill/>
          </a:ln>
        </p:spPr>
        <p:txBody>
          <a:bodyPr anchorCtr="0" anchor="b" bIns="228600" lIns="228600" spcFirstLastPara="1" rIns="457200" wrap="square" tIns="137150">
            <a:noAutofit/>
          </a:bodyPr>
          <a:lstStyle>
            <a:lvl1pPr indent="-368300" lvl="0" marL="457200" algn="l">
              <a:lnSpc>
                <a:spcPct val="85000"/>
              </a:lnSpc>
              <a:spcBef>
                <a:spcPts val="200"/>
              </a:spcBef>
              <a:spcAft>
                <a:spcPts val="0"/>
              </a:spcAft>
              <a:buClr>
                <a:schemeClr val="lt1"/>
              </a:buClr>
              <a:buSzPts val="2200"/>
              <a:buFont typeface="Arial"/>
              <a:buChar char="​"/>
              <a:defRPr sz="2200">
                <a:solidFill>
                  <a:schemeClr val="lt1"/>
                </a:solidFill>
              </a:defRPr>
            </a:lvl1pPr>
            <a:lvl2pPr indent="-342900" lvl="1" marL="914400" algn="l">
              <a:lnSpc>
                <a:spcPct val="85000"/>
              </a:lnSpc>
              <a:spcBef>
                <a:spcPts val="200"/>
              </a:spcBef>
              <a:spcAft>
                <a:spcPts val="0"/>
              </a:spcAft>
              <a:buClr>
                <a:schemeClr val="lt1"/>
              </a:buClr>
              <a:buSzPts val="1800"/>
              <a:buFont typeface="Arial"/>
              <a:buChar char="​"/>
              <a:defRPr sz="1800">
                <a:solidFill>
                  <a:schemeClr val="lt1"/>
                </a:solidFill>
              </a:defRPr>
            </a:lvl2pPr>
            <a:lvl3pPr indent="-317500" lvl="2" marL="1371600" algn="l">
              <a:lnSpc>
                <a:spcPct val="85000"/>
              </a:lnSpc>
              <a:spcBef>
                <a:spcPts val="600"/>
              </a:spcBef>
              <a:spcAft>
                <a:spcPts val="0"/>
              </a:spcAft>
              <a:buClr>
                <a:schemeClr val="lt1"/>
              </a:buClr>
              <a:buSzPts val="1400"/>
              <a:buFont typeface="Arial"/>
              <a:buChar char="​"/>
              <a:defRPr b="1" sz="1400">
                <a:solidFill>
                  <a:schemeClr val="lt1"/>
                </a:solidFill>
              </a:defRPr>
            </a:lvl3pPr>
            <a:lvl4pPr indent="-317500" lvl="3" marL="1828800" algn="l">
              <a:lnSpc>
                <a:spcPct val="85000"/>
              </a:lnSpc>
              <a:spcBef>
                <a:spcPts val="200"/>
              </a:spcBef>
              <a:spcAft>
                <a:spcPts val="0"/>
              </a:spcAft>
              <a:buClr>
                <a:schemeClr val="lt1"/>
              </a:buClr>
              <a:buSzPts val="1400"/>
              <a:buFont typeface="Arial"/>
              <a:buChar char="​"/>
              <a:defRPr b="0" sz="1400">
                <a:solidFill>
                  <a:schemeClr val="lt1"/>
                </a:solidFill>
              </a:defRPr>
            </a:lvl4pPr>
            <a:lvl5pPr indent="-317500" lvl="4" marL="2286000" algn="l">
              <a:lnSpc>
                <a:spcPct val="85000"/>
              </a:lnSpc>
              <a:spcBef>
                <a:spcPts val="200"/>
              </a:spcBef>
              <a:spcAft>
                <a:spcPts val="0"/>
              </a:spcAft>
              <a:buClr>
                <a:schemeClr val="lt1"/>
              </a:buClr>
              <a:buSzPts val="1400"/>
              <a:buFont typeface="Arial"/>
              <a:buChar char="​"/>
              <a:defRPr b="0" sz="1400">
                <a:solidFill>
                  <a:schemeClr val="lt1"/>
                </a:solidFill>
              </a:defRPr>
            </a:lvl5pPr>
            <a:lvl6pPr indent="-317500" lvl="5" marL="2743200" algn="ctr">
              <a:lnSpc>
                <a:spcPct val="85000"/>
              </a:lnSpc>
              <a:spcBef>
                <a:spcPts val="200"/>
              </a:spcBef>
              <a:spcAft>
                <a:spcPts val="0"/>
              </a:spcAft>
              <a:buClr>
                <a:schemeClr val="lt1"/>
              </a:buClr>
              <a:buSzPts val="1400"/>
              <a:buFont typeface="Arial"/>
              <a:buChar char="​"/>
              <a:defRPr b="0" sz="1400">
                <a:solidFill>
                  <a:schemeClr val="lt1"/>
                </a:solidFill>
              </a:defRPr>
            </a:lvl6pPr>
            <a:lvl7pPr indent="-317500" lvl="6" marL="3200400" algn="ctr">
              <a:lnSpc>
                <a:spcPct val="85000"/>
              </a:lnSpc>
              <a:spcBef>
                <a:spcPts val="200"/>
              </a:spcBef>
              <a:spcAft>
                <a:spcPts val="0"/>
              </a:spcAft>
              <a:buClr>
                <a:schemeClr val="lt1"/>
              </a:buClr>
              <a:buSzPts val="1400"/>
              <a:buFont typeface="Arial"/>
              <a:buChar char="​"/>
              <a:defRPr b="0" sz="1400">
                <a:solidFill>
                  <a:schemeClr val="lt1"/>
                </a:solidFill>
              </a:defRPr>
            </a:lvl7pPr>
            <a:lvl8pPr indent="-317500" lvl="7" marL="3657600" algn="ctr">
              <a:lnSpc>
                <a:spcPct val="85000"/>
              </a:lnSpc>
              <a:spcBef>
                <a:spcPts val="200"/>
              </a:spcBef>
              <a:spcAft>
                <a:spcPts val="0"/>
              </a:spcAft>
              <a:buClr>
                <a:schemeClr val="lt1"/>
              </a:buClr>
              <a:buSzPts val="1400"/>
              <a:buFont typeface="Arial"/>
              <a:buChar char="​"/>
              <a:defRPr b="0" sz="1400">
                <a:solidFill>
                  <a:schemeClr val="lt1"/>
                </a:solidFill>
              </a:defRPr>
            </a:lvl8pPr>
            <a:lvl9pPr indent="-317500" lvl="8" marL="4114800" algn="ctr">
              <a:lnSpc>
                <a:spcPct val="85000"/>
              </a:lnSpc>
              <a:spcBef>
                <a:spcPts val="200"/>
              </a:spcBef>
              <a:spcAft>
                <a:spcPts val="200"/>
              </a:spcAft>
              <a:buClr>
                <a:schemeClr val="lt1"/>
              </a:buClr>
              <a:buSzPts val="1400"/>
              <a:buFont typeface="Arial"/>
              <a:buChar char="​"/>
              <a:defRPr b="0" sz="1400">
                <a:solidFill>
                  <a:schemeClr val="lt1"/>
                </a:solidFill>
              </a:defRPr>
            </a:lvl9pPr>
          </a:lstStyle>
          <a:p/>
        </p:txBody>
      </p:sp>
      <p:sp>
        <p:nvSpPr>
          <p:cNvPr id="130" name="Google Shape;130;p28"/>
          <p:cNvSpPr/>
          <p:nvPr>
            <p:ph idx="2" type="pic"/>
          </p:nvPr>
        </p:nvSpPr>
        <p:spPr>
          <a:xfrm>
            <a:off x="0" y="0"/>
            <a:ext cx="2971800" cy="5143500"/>
          </a:xfrm>
          <a:prstGeom prst="rect">
            <a:avLst/>
          </a:prstGeom>
          <a:noFill/>
          <a:ln>
            <a:noFill/>
          </a:ln>
        </p:spPr>
        <p:txBody>
          <a:bodyPr anchorCtr="0" anchor="t" bIns="0" lIns="0" spcFirstLastPara="1" rIns="0" wrap="square" tIns="0">
            <a:noAutofit/>
          </a:bodyPr>
          <a:lstStyle>
            <a:lvl1pPr lvl="0" marR="0" rtl="0" algn="ctr">
              <a:lnSpc>
                <a:spcPct val="95000"/>
              </a:lnSpc>
              <a:spcBef>
                <a:spcPts val="600"/>
              </a:spcBef>
              <a:spcAft>
                <a:spcPts val="0"/>
              </a:spcAft>
              <a:buClr>
                <a:schemeClr val="dk1"/>
              </a:buClr>
              <a:buSzPts val="1600"/>
              <a:buFont typeface="Arial"/>
              <a:buNone/>
              <a:defRPr b="0" i="0" sz="1600" u="none" cap="none" strike="noStrike">
                <a:solidFill>
                  <a:schemeClr val="dk1"/>
                </a:solidFill>
                <a:latin typeface="Century Gothic"/>
                <a:ea typeface="Century Gothic"/>
                <a:cs typeface="Century Gothic"/>
                <a:sym typeface="Century Gothic"/>
              </a:defRPr>
            </a:lvl1pPr>
            <a:lvl2pPr lvl="1" marR="0" rtl="0" algn="l">
              <a:lnSpc>
                <a:spcPct val="85000"/>
              </a:lnSpc>
              <a:spcBef>
                <a:spcPts val="200"/>
              </a:spcBef>
              <a:spcAft>
                <a:spcPts val="0"/>
              </a:spcAft>
              <a:buClr>
                <a:schemeClr val="dk1"/>
              </a:buClr>
              <a:buSzPts val="1600"/>
              <a:buFont typeface="Arial"/>
              <a:buChar char="–"/>
              <a:defRPr b="0" i="0" sz="1600" u="none" cap="none" strike="noStrike">
                <a:solidFill>
                  <a:schemeClr val="dk1"/>
                </a:solidFill>
                <a:latin typeface="Century Gothic"/>
                <a:ea typeface="Century Gothic"/>
                <a:cs typeface="Century Gothic"/>
                <a:sym typeface="Century Gothic"/>
              </a:defRPr>
            </a:lvl2pPr>
            <a:lvl3pPr lvl="2" marR="0" rtl="0" algn="l">
              <a:lnSpc>
                <a:spcPct val="85000"/>
              </a:lnSpc>
              <a:spcBef>
                <a:spcPts val="200"/>
              </a:spcBef>
              <a:spcAft>
                <a:spcPts val="0"/>
              </a:spcAft>
              <a:buClr>
                <a:schemeClr val="dk1"/>
              </a:buClr>
              <a:buSzPts val="1400"/>
              <a:buFont typeface="Arial"/>
              <a:buChar char="-"/>
              <a:defRPr b="0" i="0" sz="1400" u="none" cap="none" strike="noStrike">
                <a:solidFill>
                  <a:schemeClr val="dk1"/>
                </a:solidFill>
                <a:latin typeface="Century Gothic"/>
                <a:ea typeface="Century Gothic"/>
                <a:cs typeface="Century Gothic"/>
                <a:sym typeface="Century Gothic"/>
              </a:defRPr>
            </a:lvl3pPr>
            <a:lvl4pPr lvl="3"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4pPr>
            <a:lvl5pPr lvl="4" marR="0" rtl="0" algn="l">
              <a:lnSpc>
                <a:spcPct val="95000"/>
              </a:lnSpc>
              <a:spcBef>
                <a:spcPts val="600"/>
              </a:spcBef>
              <a:spcAft>
                <a:spcPts val="0"/>
              </a:spcAft>
              <a:buClr>
                <a:schemeClr val="accent1"/>
              </a:buClr>
              <a:buSzPts val="1800"/>
              <a:buFont typeface="Arial"/>
              <a:buChar char="​"/>
              <a:defRPr b="0" i="0" sz="1800" u="none" cap="none" strike="noStrike">
                <a:solidFill>
                  <a:schemeClr val="accent1"/>
                </a:solidFill>
                <a:latin typeface="Century Gothic"/>
                <a:ea typeface="Century Gothic"/>
                <a:cs typeface="Century Gothic"/>
                <a:sym typeface="Century Gothic"/>
              </a:defRPr>
            </a:lvl5pPr>
            <a:lvl6pPr lvl="5" marR="0" rtl="0" algn="l">
              <a:lnSpc>
                <a:spcPct val="95000"/>
              </a:lnSpc>
              <a:spcBef>
                <a:spcPts val="600"/>
              </a:spcBef>
              <a:spcAft>
                <a:spcPts val="0"/>
              </a:spcAft>
              <a:buClr>
                <a:schemeClr val="accent2"/>
              </a:buClr>
              <a:buSzPts val="1800"/>
              <a:buFont typeface="Arial"/>
              <a:buChar char="​"/>
              <a:defRPr b="0" i="0" sz="1800" u="none" cap="none" strike="noStrike">
                <a:solidFill>
                  <a:schemeClr val="accent2"/>
                </a:solidFill>
                <a:latin typeface="Century Gothic"/>
                <a:ea typeface="Century Gothic"/>
                <a:cs typeface="Century Gothic"/>
                <a:sym typeface="Century Gothic"/>
              </a:defRPr>
            </a:lvl6pPr>
            <a:lvl7pPr lvl="6" marR="0" rtl="0" algn="l">
              <a:lnSpc>
                <a:spcPct val="95000"/>
              </a:lnSpc>
              <a:spcBef>
                <a:spcPts val="1000"/>
              </a:spcBef>
              <a:spcAft>
                <a:spcPts val="0"/>
              </a:spcAft>
              <a:buClr>
                <a:schemeClr val="dk1"/>
              </a:buClr>
              <a:buSzPts val="1800"/>
              <a:buFont typeface="Arial"/>
              <a:buChar char="​"/>
              <a:defRPr b="1" i="0" sz="1800" u="none" cap="none" strike="noStrike">
                <a:solidFill>
                  <a:schemeClr val="dk1"/>
                </a:solidFill>
                <a:latin typeface="Century Gothic"/>
                <a:ea typeface="Century Gothic"/>
                <a:cs typeface="Century Gothic"/>
                <a:sym typeface="Century Gothic"/>
              </a:defRPr>
            </a:lvl7pPr>
            <a:lvl8pPr lvl="7" marR="0" rtl="0" algn="l">
              <a:lnSpc>
                <a:spcPct val="95000"/>
              </a:lnSpc>
              <a:spcBef>
                <a:spcPts val="200"/>
              </a:spcBef>
              <a:spcAft>
                <a:spcPts val="0"/>
              </a:spcAft>
              <a:buClr>
                <a:schemeClr val="dk1"/>
              </a:buClr>
              <a:buSzPts val="1800"/>
              <a:buFont typeface="Century Gothic"/>
              <a:buAutoNum type="arabicPeriod"/>
              <a:defRPr b="0" i="0" sz="1800" u="none" cap="none" strike="noStrike">
                <a:solidFill>
                  <a:schemeClr val="dk1"/>
                </a:solidFill>
                <a:latin typeface="Century Gothic"/>
                <a:ea typeface="Century Gothic"/>
                <a:cs typeface="Century Gothic"/>
                <a:sym typeface="Century Gothic"/>
              </a:defRPr>
            </a:lvl8pPr>
            <a:lvl9pPr lvl="8" marR="0" rtl="0" algn="l">
              <a:lnSpc>
                <a:spcPct val="95000"/>
              </a:lnSpc>
              <a:spcBef>
                <a:spcPts val="400"/>
              </a:spcBef>
              <a:spcAft>
                <a:spcPts val="400"/>
              </a:spcAft>
              <a:buClr>
                <a:schemeClr val="accent6"/>
              </a:buClr>
              <a:buSzPts val="900"/>
              <a:buFont typeface="Arial"/>
              <a:buChar char="​"/>
              <a:defRPr b="0" i="0" sz="900" u="none" cap="none" strike="noStrike">
                <a:solidFill>
                  <a:schemeClr val="accent6"/>
                </a:solidFill>
                <a:latin typeface="Century Gothic"/>
                <a:ea typeface="Century Gothic"/>
                <a:cs typeface="Century Gothic"/>
                <a:sym typeface="Century Gothic"/>
              </a:defRPr>
            </a:lvl9pPr>
          </a:lstStyle>
          <a:p/>
        </p:txBody>
      </p:sp>
      <p:sp>
        <p:nvSpPr>
          <p:cNvPr id="131" name="Google Shape;131;p28"/>
          <p:cNvSpPr txBox="1"/>
          <p:nvPr>
            <p:ph idx="3" type="body"/>
          </p:nvPr>
        </p:nvSpPr>
        <p:spPr>
          <a:xfrm>
            <a:off x="3511296" y="1152143"/>
            <a:ext cx="5164694" cy="3511296"/>
          </a:xfrm>
          <a:prstGeom prst="rect">
            <a:avLst/>
          </a:prstGeom>
          <a:noFill/>
          <a:ln>
            <a:noFill/>
          </a:ln>
        </p:spPr>
        <p:txBody>
          <a:bodyPr anchorCtr="0" anchor="t" bIns="0" lIns="0" spcFirstLastPara="1" rIns="0" wrap="square" tIns="0">
            <a:noAutofit/>
          </a:bodyPr>
          <a:lstStyle>
            <a:lvl1pPr indent="-355600" lvl="0" marL="457200" algn="l">
              <a:lnSpc>
                <a:spcPct val="95000"/>
              </a:lnSpc>
              <a:spcBef>
                <a:spcPts val="400"/>
              </a:spcBef>
              <a:spcAft>
                <a:spcPts val="0"/>
              </a:spcAft>
              <a:buClr>
                <a:schemeClr val="dk1"/>
              </a:buClr>
              <a:buSzPts val="2000"/>
              <a:buChar char="•"/>
              <a:defRPr sz="2000"/>
            </a:lvl1pPr>
            <a:lvl2pPr indent="-342900" lvl="1" marL="914400" algn="l">
              <a:lnSpc>
                <a:spcPct val="85000"/>
              </a:lnSpc>
              <a:spcBef>
                <a:spcPts val="200"/>
              </a:spcBef>
              <a:spcAft>
                <a:spcPts val="0"/>
              </a:spcAft>
              <a:buClr>
                <a:schemeClr val="dk1"/>
              </a:buClr>
              <a:buSzPts val="1800"/>
              <a:buChar char="–"/>
              <a:defRPr sz="1800"/>
            </a:lvl2pPr>
            <a:lvl3pPr indent="-330200" lvl="2" marL="1371600" algn="l">
              <a:lnSpc>
                <a:spcPct val="85000"/>
              </a:lnSpc>
              <a:spcBef>
                <a:spcPts val="200"/>
              </a:spcBef>
              <a:spcAft>
                <a:spcPts val="0"/>
              </a:spcAft>
              <a:buClr>
                <a:schemeClr val="dk1"/>
              </a:buClr>
              <a:buSzPts val="1600"/>
              <a:buChar char="-"/>
              <a:defRPr sz="1600"/>
            </a:lvl3pPr>
            <a:lvl4pPr indent="-342900" lvl="3" marL="1828800" algn="l">
              <a:lnSpc>
                <a:spcPct val="95000"/>
              </a:lnSpc>
              <a:spcBef>
                <a:spcPts val="600"/>
              </a:spcBef>
              <a:spcAft>
                <a:spcPts val="0"/>
              </a:spcAft>
              <a:buClr>
                <a:schemeClr val="dk1"/>
              </a:buClr>
              <a:buSzPts val="1800"/>
              <a:buChar char="​"/>
              <a:defRPr sz="1800"/>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Tree>
  </p:cSld>
  <p:clrMapOvr>
    <a:masterClrMapping/>
  </p:clrMapOvr>
  <p:transition spd="med">
    <p:fade/>
  </p:transition>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Slide" showMasterSp="0">
  <p:cSld name="End Slide">
    <p:spTree>
      <p:nvGrpSpPr>
        <p:cNvPr id="132" name="Shape 132"/>
        <p:cNvGrpSpPr/>
        <p:nvPr/>
      </p:nvGrpSpPr>
      <p:grpSpPr>
        <a:xfrm>
          <a:off x="0" y="0"/>
          <a:ext cx="0" cy="0"/>
          <a:chOff x="0" y="0"/>
          <a:chExt cx="0" cy="0"/>
        </a:xfrm>
      </p:grpSpPr>
      <p:sp>
        <p:nvSpPr>
          <p:cNvPr id="133" name="Google Shape;133;p29"/>
          <p:cNvSpPr txBox="1"/>
          <p:nvPr/>
        </p:nvSpPr>
        <p:spPr>
          <a:xfrm>
            <a:off x="171052" y="4837176"/>
            <a:ext cx="115416" cy="107722"/>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lang="en-GB" sz="700">
                <a:solidFill>
                  <a:srgbClr val="A2A2A2"/>
                </a:solidFill>
                <a:latin typeface="Century Gothic"/>
                <a:ea typeface="Century Gothic"/>
                <a:cs typeface="Century Gothic"/>
                <a:sym typeface="Century Gothic"/>
              </a:rPr>
              <a:t>‹#›</a:t>
            </a:fld>
            <a:endParaRPr sz="700">
              <a:solidFill>
                <a:srgbClr val="A2A2A2"/>
              </a:solidFill>
              <a:latin typeface="Century Gothic"/>
              <a:ea typeface="Century Gothic"/>
              <a:cs typeface="Century Gothic"/>
              <a:sym typeface="Century Gothic"/>
            </a:endParaRPr>
          </a:p>
        </p:txBody>
      </p:sp>
      <p:sp>
        <p:nvSpPr>
          <p:cNvPr id="134" name="Google Shape;134;p29"/>
          <p:cNvSpPr txBox="1"/>
          <p:nvPr>
            <p:ph idx="1" type="body"/>
          </p:nvPr>
        </p:nvSpPr>
        <p:spPr>
          <a:xfrm>
            <a:off x="3297994" y="4855464"/>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35" name="Google Shape;135;p29"/>
          <p:cNvSpPr txBox="1"/>
          <p:nvPr/>
        </p:nvSpPr>
        <p:spPr>
          <a:xfrm>
            <a:off x="153254" y="4837176"/>
            <a:ext cx="133221" cy="130805"/>
          </a:xfrm>
          <a:prstGeom prst="rect">
            <a:avLst/>
          </a:prstGeom>
          <a:solidFill>
            <a:schemeClr val="lt1"/>
          </a:solid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lang="en-GB" sz="850">
                <a:solidFill>
                  <a:srgbClr val="6C6C6C"/>
                </a:solidFill>
                <a:latin typeface="Century Gothic"/>
                <a:ea typeface="Century Gothic"/>
                <a:cs typeface="Century Gothic"/>
                <a:sym typeface="Century Gothic"/>
              </a:rPr>
              <a:t>‹#›</a:t>
            </a:fld>
            <a:endParaRPr sz="850">
              <a:solidFill>
                <a:srgbClr val="6C6C6C"/>
              </a:solidFill>
              <a:latin typeface="Century Gothic"/>
              <a:ea typeface="Century Gothic"/>
              <a:cs typeface="Century Gothic"/>
              <a:sym typeface="Century Gothic"/>
            </a:endParaRPr>
          </a:p>
        </p:txBody>
      </p:sp>
      <p:grpSp>
        <p:nvGrpSpPr>
          <p:cNvPr id="136" name="Google Shape;136;p29"/>
          <p:cNvGrpSpPr/>
          <p:nvPr/>
        </p:nvGrpSpPr>
        <p:grpSpPr>
          <a:xfrm>
            <a:off x="2742406" y="2158207"/>
            <a:ext cx="3659188" cy="827087"/>
            <a:chOff x="1728" y="1805"/>
            <a:chExt cx="2305" cy="521"/>
          </a:xfrm>
        </p:grpSpPr>
        <p:sp>
          <p:nvSpPr>
            <p:cNvPr id="137" name="Google Shape;137;p29"/>
            <p:cNvSpPr/>
            <p:nvPr/>
          </p:nvSpPr>
          <p:spPr>
            <a:xfrm>
              <a:off x="1728" y="1805"/>
              <a:ext cx="2231" cy="521"/>
            </a:xfrm>
            <a:custGeom>
              <a:rect b="b" l="l" r="r" t="t"/>
              <a:pathLst>
                <a:path extrusionOk="0" h="863" w="3745">
                  <a:moveTo>
                    <a:pt x="660" y="0"/>
                  </a:moveTo>
                  <a:lnTo>
                    <a:pt x="660" y="0"/>
                  </a:lnTo>
                  <a:lnTo>
                    <a:pt x="22" y="0"/>
                  </a:lnTo>
                  <a:lnTo>
                    <a:pt x="0" y="73"/>
                  </a:lnTo>
                  <a:lnTo>
                    <a:pt x="292" y="73"/>
                  </a:lnTo>
                  <a:lnTo>
                    <a:pt x="292" y="804"/>
                  </a:lnTo>
                  <a:cubicBezTo>
                    <a:pt x="292" y="843"/>
                    <a:pt x="316" y="863"/>
                    <a:pt x="360" y="863"/>
                  </a:cubicBezTo>
                  <a:lnTo>
                    <a:pt x="399" y="863"/>
                  </a:lnTo>
                  <a:lnTo>
                    <a:pt x="399" y="73"/>
                  </a:lnTo>
                  <a:lnTo>
                    <a:pt x="637" y="73"/>
                  </a:lnTo>
                  <a:lnTo>
                    <a:pt x="660" y="0"/>
                  </a:lnTo>
                  <a:lnTo>
                    <a:pt x="660" y="0"/>
                  </a:lnTo>
                  <a:close/>
                  <a:moveTo>
                    <a:pt x="2673" y="181"/>
                  </a:moveTo>
                  <a:lnTo>
                    <a:pt x="2673" y="181"/>
                  </a:lnTo>
                  <a:cubicBezTo>
                    <a:pt x="2647" y="181"/>
                    <a:pt x="2626" y="190"/>
                    <a:pt x="2621" y="203"/>
                  </a:cubicBezTo>
                  <a:lnTo>
                    <a:pt x="2408" y="768"/>
                  </a:lnTo>
                  <a:lnTo>
                    <a:pt x="2448" y="768"/>
                  </a:lnTo>
                  <a:cubicBezTo>
                    <a:pt x="2491" y="768"/>
                    <a:pt x="2509" y="764"/>
                    <a:pt x="2522" y="729"/>
                  </a:cubicBezTo>
                  <a:lnTo>
                    <a:pt x="2570" y="596"/>
                  </a:lnTo>
                  <a:lnTo>
                    <a:pt x="2698" y="596"/>
                  </a:lnTo>
                  <a:lnTo>
                    <a:pt x="2679" y="533"/>
                  </a:lnTo>
                  <a:lnTo>
                    <a:pt x="2590" y="533"/>
                  </a:lnTo>
                  <a:lnTo>
                    <a:pt x="2669" y="310"/>
                  </a:lnTo>
                  <a:lnTo>
                    <a:pt x="2812" y="729"/>
                  </a:lnTo>
                  <a:cubicBezTo>
                    <a:pt x="2824" y="764"/>
                    <a:pt x="2845" y="768"/>
                    <a:pt x="2891" y="768"/>
                  </a:cubicBezTo>
                  <a:lnTo>
                    <a:pt x="2941" y="768"/>
                  </a:lnTo>
                  <a:lnTo>
                    <a:pt x="2725" y="203"/>
                  </a:lnTo>
                  <a:cubicBezTo>
                    <a:pt x="2720" y="190"/>
                    <a:pt x="2697" y="181"/>
                    <a:pt x="2673" y="181"/>
                  </a:cubicBezTo>
                  <a:close/>
                  <a:moveTo>
                    <a:pt x="3529" y="203"/>
                  </a:moveTo>
                  <a:lnTo>
                    <a:pt x="3529" y="203"/>
                  </a:lnTo>
                  <a:cubicBezTo>
                    <a:pt x="3524" y="190"/>
                    <a:pt x="3501" y="181"/>
                    <a:pt x="3477" y="181"/>
                  </a:cubicBezTo>
                  <a:cubicBezTo>
                    <a:pt x="3451" y="181"/>
                    <a:pt x="3430" y="190"/>
                    <a:pt x="3425" y="203"/>
                  </a:cubicBezTo>
                  <a:lnTo>
                    <a:pt x="3212" y="768"/>
                  </a:lnTo>
                  <a:lnTo>
                    <a:pt x="3252" y="768"/>
                  </a:lnTo>
                  <a:cubicBezTo>
                    <a:pt x="3294" y="768"/>
                    <a:pt x="3313" y="764"/>
                    <a:pt x="3326" y="729"/>
                  </a:cubicBezTo>
                  <a:lnTo>
                    <a:pt x="3374" y="596"/>
                  </a:lnTo>
                  <a:lnTo>
                    <a:pt x="3502" y="596"/>
                  </a:lnTo>
                  <a:lnTo>
                    <a:pt x="3483" y="533"/>
                  </a:lnTo>
                  <a:lnTo>
                    <a:pt x="3394" y="533"/>
                  </a:lnTo>
                  <a:lnTo>
                    <a:pt x="3473" y="310"/>
                  </a:lnTo>
                  <a:lnTo>
                    <a:pt x="3616" y="729"/>
                  </a:lnTo>
                  <a:cubicBezTo>
                    <a:pt x="3628" y="764"/>
                    <a:pt x="3649" y="768"/>
                    <a:pt x="3695" y="768"/>
                  </a:cubicBezTo>
                  <a:lnTo>
                    <a:pt x="3745" y="768"/>
                  </a:lnTo>
                  <a:lnTo>
                    <a:pt x="3529" y="203"/>
                  </a:lnTo>
                  <a:lnTo>
                    <a:pt x="3529" y="203"/>
                  </a:lnTo>
                  <a:close/>
                  <a:moveTo>
                    <a:pt x="1655" y="181"/>
                  </a:moveTo>
                  <a:lnTo>
                    <a:pt x="1655" y="181"/>
                  </a:lnTo>
                  <a:cubicBezTo>
                    <a:pt x="1630" y="181"/>
                    <a:pt x="1608" y="190"/>
                    <a:pt x="1603" y="203"/>
                  </a:cubicBezTo>
                  <a:lnTo>
                    <a:pt x="1399" y="746"/>
                  </a:lnTo>
                  <a:lnTo>
                    <a:pt x="1247" y="515"/>
                  </a:lnTo>
                  <a:cubicBezTo>
                    <a:pt x="1327" y="501"/>
                    <a:pt x="1374" y="459"/>
                    <a:pt x="1374" y="387"/>
                  </a:cubicBezTo>
                  <a:lnTo>
                    <a:pt x="1374" y="336"/>
                  </a:lnTo>
                  <a:cubicBezTo>
                    <a:pt x="1374" y="232"/>
                    <a:pt x="1277" y="189"/>
                    <a:pt x="1149" y="189"/>
                  </a:cubicBezTo>
                  <a:lnTo>
                    <a:pt x="969" y="189"/>
                  </a:lnTo>
                  <a:lnTo>
                    <a:pt x="969" y="704"/>
                  </a:lnTo>
                  <a:lnTo>
                    <a:pt x="737" y="704"/>
                  </a:lnTo>
                  <a:cubicBezTo>
                    <a:pt x="646" y="704"/>
                    <a:pt x="625" y="684"/>
                    <a:pt x="625" y="590"/>
                  </a:cubicBezTo>
                  <a:lnTo>
                    <a:pt x="625" y="488"/>
                  </a:lnTo>
                  <a:lnTo>
                    <a:pt x="797" y="488"/>
                  </a:lnTo>
                  <a:lnTo>
                    <a:pt x="816" y="424"/>
                  </a:lnTo>
                  <a:lnTo>
                    <a:pt x="625" y="424"/>
                  </a:lnTo>
                  <a:lnTo>
                    <a:pt x="625" y="253"/>
                  </a:lnTo>
                  <a:lnTo>
                    <a:pt x="878" y="253"/>
                  </a:lnTo>
                  <a:lnTo>
                    <a:pt x="897" y="189"/>
                  </a:lnTo>
                  <a:lnTo>
                    <a:pt x="520" y="189"/>
                  </a:lnTo>
                  <a:lnTo>
                    <a:pt x="520" y="590"/>
                  </a:lnTo>
                  <a:cubicBezTo>
                    <a:pt x="520" y="724"/>
                    <a:pt x="552" y="768"/>
                    <a:pt x="735" y="768"/>
                  </a:cubicBezTo>
                  <a:lnTo>
                    <a:pt x="1074" y="766"/>
                  </a:lnTo>
                  <a:lnTo>
                    <a:pt x="1074" y="253"/>
                  </a:lnTo>
                  <a:lnTo>
                    <a:pt x="1149" y="253"/>
                  </a:lnTo>
                  <a:cubicBezTo>
                    <a:pt x="1230" y="253"/>
                    <a:pt x="1271" y="282"/>
                    <a:pt x="1271" y="337"/>
                  </a:cubicBezTo>
                  <a:lnTo>
                    <a:pt x="1271" y="387"/>
                  </a:lnTo>
                  <a:cubicBezTo>
                    <a:pt x="1271" y="443"/>
                    <a:pt x="1220" y="461"/>
                    <a:pt x="1157" y="461"/>
                  </a:cubicBezTo>
                  <a:lnTo>
                    <a:pt x="1110" y="461"/>
                  </a:lnTo>
                  <a:lnTo>
                    <a:pt x="1269" y="733"/>
                  </a:lnTo>
                  <a:cubicBezTo>
                    <a:pt x="1287" y="765"/>
                    <a:pt x="1296" y="768"/>
                    <a:pt x="1338" y="768"/>
                  </a:cubicBezTo>
                  <a:lnTo>
                    <a:pt x="1430" y="768"/>
                  </a:lnTo>
                  <a:cubicBezTo>
                    <a:pt x="1473" y="768"/>
                    <a:pt x="1492" y="764"/>
                    <a:pt x="1505" y="729"/>
                  </a:cubicBezTo>
                  <a:lnTo>
                    <a:pt x="1552" y="596"/>
                  </a:lnTo>
                  <a:lnTo>
                    <a:pt x="1680" y="596"/>
                  </a:lnTo>
                  <a:lnTo>
                    <a:pt x="1661" y="533"/>
                  </a:lnTo>
                  <a:lnTo>
                    <a:pt x="1573" y="533"/>
                  </a:lnTo>
                  <a:lnTo>
                    <a:pt x="1652" y="310"/>
                  </a:lnTo>
                  <a:lnTo>
                    <a:pt x="1795" y="729"/>
                  </a:lnTo>
                  <a:cubicBezTo>
                    <a:pt x="1807" y="764"/>
                    <a:pt x="1827" y="768"/>
                    <a:pt x="1873" y="768"/>
                  </a:cubicBezTo>
                  <a:lnTo>
                    <a:pt x="1923" y="768"/>
                  </a:lnTo>
                  <a:lnTo>
                    <a:pt x="1707" y="203"/>
                  </a:lnTo>
                  <a:cubicBezTo>
                    <a:pt x="1702" y="190"/>
                    <a:pt x="1679" y="181"/>
                    <a:pt x="1655" y="181"/>
                  </a:cubicBezTo>
                  <a:close/>
                  <a:moveTo>
                    <a:pt x="2304" y="530"/>
                  </a:moveTo>
                  <a:lnTo>
                    <a:pt x="2304" y="530"/>
                  </a:lnTo>
                  <a:cubicBezTo>
                    <a:pt x="2304" y="647"/>
                    <a:pt x="2266" y="704"/>
                    <a:pt x="2162" y="704"/>
                  </a:cubicBezTo>
                  <a:lnTo>
                    <a:pt x="2068" y="704"/>
                  </a:lnTo>
                  <a:lnTo>
                    <a:pt x="2068" y="253"/>
                  </a:lnTo>
                  <a:lnTo>
                    <a:pt x="2159" y="253"/>
                  </a:lnTo>
                  <a:cubicBezTo>
                    <a:pt x="2266" y="253"/>
                    <a:pt x="2304" y="316"/>
                    <a:pt x="2304" y="433"/>
                  </a:cubicBezTo>
                  <a:lnTo>
                    <a:pt x="2304" y="530"/>
                  </a:lnTo>
                  <a:lnTo>
                    <a:pt x="2304" y="530"/>
                  </a:lnTo>
                  <a:close/>
                  <a:moveTo>
                    <a:pt x="2409" y="432"/>
                  </a:moveTo>
                  <a:lnTo>
                    <a:pt x="2409" y="432"/>
                  </a:lnTo>
                  <a:cubicBezTo>
                    <a:pt x="2409" y="270"/>
                    <a:pt x="2326" y="189"/>
                    <a:pt x="2159" y="189"/>
                  </a:cubicBezTo>
                  <a:lnTo>
                    <a:pt x="1963" y="189"/>
                  </a:lnTo>
                  <a:lnTo>
                    <a:pt x="1963" y="709"/>
                  </a:lnTo>
                  <a:cubicBezTo>
                    <a:pt x="1963" y="748"/>
                    <a:pt x="1984" y="768"/>
                    <a:pt x="2029" y="768"/>
                  </a:cubicBezTo>
                  <a:lnTo>
                    <a:pt x="2159" y="768"/>
                  </a:lnTo>
                  <a:lnTo>
                    <a:pt x="2180" y="767"/>
                  </a:lnTo>
                  <a:cubicBezTo>
                    <a:pt x="2337" y="761"/>
                    <a:pt x="2409" y="693"/>
                    <a:pt x="2409" y="530"/>
                  </a:cubicBezTo>
                  <a:lnTo>
                    <a:pt x="2409" y="432"/>
                  </a:lnTo>
                  <a:lnTo>
                    <a:pt x="2409" y="432"/>
                  </a:lnTo>
                  <a:close/>
                  <a:moveTo>
                    <a:pt x="3332" y="190"/>
                  </a:moveTo>
                  <a:lnTo>
                    <a:pt x="3332" y="190"/>
                  </a:lnTo>
                  <a:lnTo>
                    <a:pt x="2851" y="190"/>
                  </a:lnTo>
                  <a:lnTo>
                    <a:pt x="2831" y="254"/>
                  </a:lnTo>
                  <a:lnTo>
                    <a:pt x="3028" y="254"/>
                  </a:lnTo>
                  <a:lnTo>
                    <a:pt x="3028" y="710"/>
                  </a:lnTo>
                  <a:cubicBezTo>
                    <a:pt x="3028" y="749"/>
                    <a:pt x="3052" y="768"/>
                    <a:pt x="3096" y="768"/>
                  </a:cubicBezTo>
                  <a:lnTo>
                    <a:pt x="3135" y="768"/>
                  </a:lnTo>
                  <a:lnTo>
                    <a:pt x="3135" y="254"/>
                  </a:lnTo>
                  <a:lnTo>
                    <a:pt x="3313" y="254"/>
                  </a:lnTo>
                  <a:lnTo>
                    <a:pt x="3332" y="19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3C3B"/>
                </a:solidFill>
                <a:latin typeface="Century Gothic"/>
                <a:ea typeface="Century Gothic"/>
                <a:cs typeface="Century Gothic"/>
                <a:sym typeface="Century Gothic"/>
              </a:endParaRPr>
            </a:p>
          </p:txBody>
        </p:sp>
        <p:sp>
          <p:nvSpPr>
            <p:cNvPr id="138" name="Google Shape;138;p29"/>
            <p:cNvSpPr/>
            <p:nvPr/>
          </p:nvSpPr>
          <p:spPr>
            <a:xfrm>
              <a:off x="3974" y="2210"/>
              <a:ext cx="59" cy="59"/>
            </a:xfrm>
            <a:custGeom>
              <a:rect b="b" l="l" r="r" t="t"/>
              <a:pathLst>
                <a:path extrusionOk="0" h="98" w="99">
                  <a:moveTo>
                    <a:pt x="59" y="30"/>
                  </a:moveTo>
                  <a:lnTo>
                    <a:pt x="59" y="30"/>
                  </a:lnTo>
                  <a:cubicBezTo>
                    <a:pt x="57" y="29"/>
                    <a:pt x="53" y="28"/>
                    <a:pt x="47" y="28"/>
                  </a:cubicBezTo>
                  <a:lnTo>
                    <a:pt x="39" y="28"/>
                  </a:lnTo>
                  <a:lnTo>
                    <a:pt x="39" y="48"/>
                  </a:lnTo>
                  <a:lnTo>
                    <a:pt x="48" y="48"/>
                  </a:lnTo>
                  <a:cubicBezTo>
                    <a:pt x="52" y="48"/>
                    <a:pt x="55" y="47"/>
                    <a:pt x="57" y="46"/>
                  </a:cubicBezTo>
                  <a:cubicBezTo>
                    <a:pt x="61" y="45"/>
                    <a:pt x="63" y="42"/>
                    <a:pt x="63" y="38"/>
                  </a:cubicBezTo>
                  <a:cubicBezTo>
                    <a:pt x="63" y="34"/>
                    <a:pt x="61" y="31"/>
                    <a:pt x="59" y="30"/>
                  </a:cubicBezTo>
                  <a:close/>
                  <a:moveTo>
                    <a:pt x="49" y="22"/>
                  </a:moveTo>
                  <a:lnTo>
                    <a:pt x="49" y="22"/>
                  </a:lnTo>
                  <a:cubicBezTo>
                    <a:pt x="55" y="22"/>
                    <a:pt x="60" y="22"/>
                    <a:pt x="63" y="23"/>
                  </a:cubicBezTo>
                  <a:cubicBezTo>
                    <a:pt x="69" y="26"/>
                    <a:pt x="72" y="30"/>
                    <a:pt x="72" y="37"/>
                  </a:cubicBezTo>
                  <a:cubicBezTo>
                    <a:pt x="72" y="42"/>
                    <a:pt x="70" y="46"/>
                    <a:pt x="66" y="48"/>
                  </a:cubicBezTo>
                  <a:cubicBezTo>
                    <a:pt x="65" y="49"/>
                    <a:pt x="62" y="50"/>
                    <a:pt x="59" y="51"/>
                  </a:cubicBezTo>
                  <a:cubicBezTo>
                    <a:pt x="63" y="51"/>
                    <a:pt x="66" y="53"/>
                    <a:pt x="68" y="56"/>
                  </a:cubicBezTo>
                  <a:cubicBezTo>
                    <a:pt x="70" y="59"/>
                    <a:pt x="71" y="62"/>
                    <a:pt x="71" y="64"/>
                  </a:cubicBezTo>
                  <a:lnTo>
                    <a:pt x="71" y="68"/>
                  </a:lnTo>
                  <a:cubicBezTo>
                    <a:pt x="71" y="69"/>
                    <a:pt x="71" y="71"/>
                    <a:pt x="71" y="72"/>
                  </a:cubicBezTo>
                  <a:cubicBezTo>
                    <a:pt x="71" y="74"/>
                    <a:pt x="71" y="75"/>
                    <a:pt x="72" y="75"/>
                  </a:cubicBezTo>
                  <a:lnTo>
                    <a:pt x="72" y="76"/>
                  </a:lnTo>
                  <a:lnTo>
                    <a:pt x="63" y="76"/>
                  </a:lnTo>
                  <a:cubicBezTo>
                    <a:pt x="63" y="76"/>
                    <a:pt x="63" y="75"/>
                    <a:pt x="63" y="75"/>
                  </a:cubicBezTo>
                  <a:cubicBezTo>
                    <a:pt x="63" y="75"/>
                    <a:pt x="63" y="75"/>
                    <a:pt x="63" y="75"/>
                  </a:cubicBezTo>
                  <a:lnTo>
                    <a:pt x="62" y="73"/>
                  </a:lnTo>
                  <a:lnTo>
                    <a:pt x="62" y="69"/>
                  </a:lnTo>
                  <a:cubicBezTo>
                    <a:pt x="62" y="62"/>
                    <a:pt x="61" y="58"/>
                    <a:pt x="57" y="56"/>
                  </a:cubicBezTo>
                  <a:cubicBezTo>
                    <a:pt x="55" y="55"/>
                    <a:pt x="52" y="54"/>
                    <a:pt x="47" y="54"/>
                  </a:cubicBezTo>
                  <a:lnTo>
                    <a:pt x="39" y="54"/>
                  </a:lnTo>
                  <a:lnTo>
                    <a:pt x="39" y="76"/>
                  </a:lnTo>
                  <a:lnTo>
                    <a:pt x="30" y="76"/>
                  </a:lnTo>
                  <a:lnTo>
                    <a:pt x="30" y="22"/>
                  </a:lnTo>
                  <a:lnTo>
                    <a:pt x="49" y="22"/>
                  </a:lnTo>
                  <a:lnTo>
                    <a:pt x="49" y="22"/>
                  </a:lnTo>
                  <a:close/>
                  <a:moveTo>
                    <a:pt x="20" y="19"/>
                  </a:moveTo>
                  <a:lnTo>
                    <a:pt x="20" y="19"/>
                  </a:lnTo>
                  <a:cubicBezTo>
                    <a:pt x="11" y="27"/>
                    <a:pt x="7" y="37"/>
                    <a:pt x="7" y="49"/>
                  </a:cubicBezTo>
                  <a:cubicBezTo>
                    <a:pt x="7" y="61"/>
                    <a:pt x="11" y="71"/>
                    <a:pt x="20" y="79"/>
                  </a:cubicBezTo>
                  <a:cubicBezTo>
                    <a:pt x="28" y="87"/>
                    <a:pt x="38" y="92"/>
                    <a:pt x="50" y="92"/>
                  </a:cubicBezTo>
                  <a:cubicBezTo>
                    <a:pt x="61" y="92"/>
                    <a:pt x="71" y="87"/>
                    <a:pt x="80" y="79"/>
                  </a:cubicBezTo>
                  <a:cubicBezTo>
                    <a:pt x="88" y="71"/>
                    <a:pt x="92" y="61"/>
                    <a:pt x="92" y="49"/>
                  </a:cubicBezTo>
                  <a:cubicBezTo>
                    <a:pt x="92" y="37"/>
                    <a:pt x="88" y="27"/>
                    <a:pt x="80" y="19"/>
                  </a:cubicBezTo>
                  <a:cubicBezTo>
                    <a:pt x="71" y="10"/>
                    <a:pt x="61" y="6"/>
                    <a:pt x="50" y="6"/>
                  </a:cubicBezTo>
                  <a:cubicBezTo>
                    <a:pt x="38" y="6"/>
                    <a:pt x="28" y="10"/>
                    <a:pt x="20" y="19"/>
                  </a:cubicBezTo>
                  <a:close/>
                  <a:moveTo>
                    <a:pt x="85" y="84"/>
                  </a:moveTo>
                  <a:lnTo>
                    <a:pt x="85" y="84"/>
                  </a:lnTo>
                  <a:cubicBezTo>
                    <a:pt x="75" y="94"/>
                    <a:pt x="63" y="98"/>
                    <a:pt x="50" y="98"/>
                  </a:cubicBezTo>
                  <a:cubicBezTo>
                    <a:pt x="36" y="98"/>
                    <a:pt x="24" y="94"/>
                    <a:pt x="15" y="84"/>
                  </a:cubicBezTo>
                  <a:cubicBezTo>
                    <a:pt x="5" y="74"/>
                    <a:pt x="0" y="63"/>
                    <a:pt x="0" y="49"/>
                  </a:cubicBezTo>
                  <a:cubicBezTo>
                    <a:pt x="0" y="35"/>
                    <a:pt x="5" y="24"/>
                    <a:pt x="15" y="14"/>
                  </a:cubicBezTo>
                  <a:cubicBezTo>
                    <a:pt x="24" y="4"/>
                    <a:pt x="36" y="0"/>
                    <a:pt x="50" y="0"/>
                  </a:cubicBezTo>
                  <a:cubicBezTo>
                    <a:pt x="63" y="0"/>
                    <a:pt x="75" y="4"/>
                    <a:pt x="85" y="14"/>
                  </a:cubicBezTo>
                  <a:cubicBezTo>
                    <a:pt x="94" y="24"/>
                    <a:pt x="99" y="35"/>
                    <a:pt x="99" y="49"/>
                  </a:cubicBezTo>
                  <a:cubicBezTo>
                    <a:pt x="99" y="63"/>
                    <a:pt x="94" y="74"/>
                    <a:pt x="85" y="84"/>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3C3B"/>
                </a:solidFill>
                <a:latin typeface="Century Gothic"/>
                <a:ea typeface="Century Gothic"/>
                <a:cs typeface="Century Gothic"/>
                <a:sym typeface="Century Gothic"/>
              </a:endParaRPr>
            </a:p>
          </p:txBody>
        </p:sp>
      </p:grpSp>
    </p:spTree>
  </p:cSld>
  <p:clrMapOvr>
    <a:masterClrMapping/>
  </p:clrMapOvr>
  <p:transition spd="med">
    <p:fade/>
  </p:transition>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Title and Content">
  <p:cSld name="5_Title and Content">
    <p:spTree>
      <p:nvGrpSpPr>
        <p:cNvPr id="139" name="Shape 139"/>
        <p:cNvGrpSpPr/>
        <p:nvPr/>
      </p:nvGrpSpPr>
      <p:grpSpPr>
        <a:xfrm>
          <a:off x="0" y="0"/>
          <a:ext cx="0" cy="0"/>
          <a:chOff x="0" y="0"/>
          <a:chExt cx="0" cy="0"/>
        </a:xfrm>
      </p:grpSpPr>
      <p:sp>
        <p:nvSpPr>
          <p:cNvPr id="140" name="Google Shape;140;p30"/>
          <p:cNvSpPr txBox="1"/>
          <p:nvPr>
            <p:ph idx="1" type="body"/>
          </p:nvPr>
        </p:nvSpPr>
        <p:spPr>
          <a:xfrm>
            <a:off x="457200" y="1115840"/>
            <a:ext cx="8229600" cy="3507581"/>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solidFill>
                  <a:schemeClr val="dk1"/>
                </a:solidFill>
              </a:defRPr>
            </a:lvl1pPr>
            <a:lvl2pPr indent="-330200" lvl="1" marL="914400" algn="l">
              <a:lnSpc>
                <a:spcPct val="85000"/>
              </a:lnSpc>
              <a:spcBef>
                <a:spcPts val="200"/>
              </a:spcBef>
              <a:spcAft>
                <a:spcPts val="0"/>
              </a:spcAft>
              <a:buClr>
                <a:schemeClr val="dk1"/>
              </a:buClr>
              <a:buSzPts val="1600"/>
              <a:buChar char="–"/>
              <a:defRPr sz="1600">
                <a:solidFill>
                  <a:schemeClr val="dk1"/>
                </a:solidFill>
              </a:defRPr>
            </a:lvl2pPr>
            <a:lvl3pPr indent="-317500" lvl="2" marL="1371600" algn="l">
              <a:lnSpc>
                <a:spcPct val="85000"/>
              </a:lnSpc>
              <a:spcBef>
                <a:spcPts val="200"/>
              </a:spcBef>
              <a:spcAft>
                <a:spcPts val="0"/>
              </a:spcAft>
              <a:buClr>
                <a:schemeClr val="dk1"/>
              </a:buClr>
              <a:buSzPts val="1400"/>
              <a:buChar char="-"/>
              <a:defRPr sz="1400">
                <a:solidFill>
                  <a:schemeClr val="dk1"/>
                </a:solidFill>
              </a:defRPr>
            </a:lvl3pPr>
            <a:lvl4pPr indent="-342900" lvl="3" marL="1828800" algn="l">
              <a:lnSpc>
                <a:spcPct val="95000"/>
              </a:lnSpc>
              <a:spcBef>
                <a:spcPts val="600"/>
              </a:spcBef>
              <a:spcAft>
                <a:spcPts val="0"/>
              </a:spcAft>
              <a:buClr>
                <a:schemeClr val="dk1"/>
              </a:buClr>
              <a:buSzPts val="1800"/>
              <a:buChar char="​"/>
              <a:defRPr sz="1800">
                <a:solidFill>
                  <a:schemeClr val="dk1"/>
                </a:solidFill>
              </a:defRPr>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41" name="Google Shape;141;p30"/>
          <p:cNvSpPr txBox="1"/>
          <p:nvPr>
            <p:ph idx="2" type="body"/>
          </p:nvPr>
        </p:nvSpPr>
        <p:spPr>
          <a:xfrm>
            <a:off x="457200" y="703405"/>
            <a:ext cx="8229600" cy="353174"/>
          </a:xfrm>
          <a:prstGeom prst="rect">
            <a:avLst/>
          </a:prstGeom>
          <a:noFill/>
          <a:ln>
            <a:noFill/>
          </a:ln>
        </p:spPr>
        <p:txBody>
          <a:bodyPr anchorCtr="0" anchor="t" bIns="0" lIns="0" spcFirstLastPara="1" rIns="0" wrap="square" tIns="0">
            <a:noAutofit/>
          </a:bodyPr>
          <a:lstStyle>
            <a:lvl1pPr indent="-228600" lvl="0" marL="457200" algn="l">
              <a:lnSpc>
                <a:spcPct val="85000"/>
              </a:lnSpc>
              <a:spcBef>
                <a:spcPts val="0"/>
              </a:spcBef>
              <a:spcAft>
                <a:spcPts val="0"/>
              </a:spcAft>
              <a:buClr>
                <a:schemeClr val="dk1"/>
              </a:buClr>
              <a:buSzPts val="1800"/>
              <a:buFont typeface="Century Gothic"/>
              <a:buNone/>
              <a:defRPr sz="1800">
                <a:solidFill>
                  <a:schemeClr val="dk1"/>
                </a:solidFill>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42" name="Google Shape;142;p30"/>
          <p:cNvSpPr txBox="1"/>
          <p:nvPr>
            <p:ph type="title"/>
          </p:nvPr>
        </p:nvSpPr>
        <p:spPr>
          <a:xfrm>
            <a:off x="457200" y="128590"/>
            <a:ext cx="8229600" cy="526298"/>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3" name="Google Shape;143;p30"/>
          <p:cNvSpPr txBox="1"/>
          <p:nvPr>
            <p:ph idx="3" type="body"/>
          </p:nvPr>
        </p:nvSpPr>
        <p:spPr>
          <a:xfrm>
            <a:off x="3297994" y="4943703"/>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Tree>
  </p:cSld>
  <p:clrMapOvr>
    <a:masterClrMapping/>
  </p:clrMapOvr>
  <p:transition spd="med">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 name="Shape 12"/>
        <p:cNvGrpSpPr/>
        <p:nvPr/>
      </p:nvGrpSpPr>
      <p:grpSpPr>
        <a:xfrm>
          <a:off x="0" y="0"/>
          <a:ext cx="0" cy="0"/>
          <a:chOff x="0" y="0"/>
          <a:chExt cx="0" cy="0"/>
        </a:xfrm>
      </p:grpSpPr>
      <p:sp>
        <p:nvSpPr>
          <p:cNvPr id="13" name="Google Shape;13;p1"/>
          <p:cNvSpPr txBox="1"/>
          <p:nvPr>
            <p:ph idx="1" type="body"/>
          </p:nvPr>
        </p:nvSpPr>
        <p:spPr>
          <a:xfrm>
            <a:off x="457200" y="1216372"/>
            <a:ext cx="8229600" cy="3340559"/>
          </a:xfrm>
          <a:prstGeom prst="rect">
            <a:avLst/>
          </a:prstGeom>
          <a:noFill/>
          <a:ln>
            <a:noFill/>
          </a:ln>
        </p:spPr>
        <p:txBody>
          <a:bodyPr anchorCtr="0" anchor="t" bIns="0" lIns="0" spcFirstLastPara="1" rIns="0" wrap="square" tIns="0">
            <a:noAutofit/>
          </a:bodyPr>
          <a:lstStyle>
            <a:lvl1pPr indent="-342900" lvl="0" marL="457200"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1pPr>
            <a:lvl2pPr indent="-330200" lvl="1" marL="914400" marR="0" rtl="0" algn="l">
              <a:lnSpc>
                <a:spcPct val="85000"/>
              </a:lnSpc>
              <a:spcBef>
                <a:spcPts val="200"/>
              </a:spcBef>
              <a:spcAft>
                <a:spcPts val="0"/>
              </a:spcAft>
              <a:buClr>
                <a:schemeClr val="dk1"/>
              </a:buClr>
              <a:buSzPts val="1600"/>
              <a:buFont typeface="Arial"/>
              <a:buChar char="–"/>
              <a:defRPr b="0" i="0" sz="1600" u="none" cap="none" strike="noStrike">
                <a:solidFill>
                  <a:schemeClr val="dk1"/>
                </a:solidFill>
                <a:latin typeface="Century Gothic"/>
                <a:ea typeface="Century Gothic"/>
                <a:cs typeface="Century Gothic"/>
                <a:sym typeface="Century Gothic"/>
              </a:defRPr>
            </a:lvl2pPr>
            <a:lvl3pPr indent="-317500" lvl="2" marL="1371600" marR="0" rtl="0" algn="l">
              <a:lnSpc>
                <a:spcPct val="85000"/>
              </a:lnSpc>
              <a:spcBef>
                <a:spcPts val="200"/>
              </a:spcBef>
              <a:spcAft>
                <a:spcPts val="0"/>
              </a:spcAft>
              <a:buClr>
                <a:schemeClr val="dk1"/>
              </a:buClr>
              <a:buSzPts val="1400"/>
              <a:buFont typeface="Arial"/>
              <a:buChar char="-"/>
              <a:defRPr b="0" i="0" sz="1400" u="none" cap="none" strike="noStrike">
                <a:solidFill>
                  <a:schemeClr val="dk1"/>
                </a:solidFill>
                <a:latin typeface="Century Gothic"/>
                <a:ea typeface="Century Gothic"/>
                <a:cs typeface="Century Gothic"/>
                <a:sym typeface="Century Gothic"/>
              </a:defRPr>
            </a:lvl3pPr>
            <a:lvl4pPr indent="-342900" lvl="3" marL="1828800"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4pPr>
            <a:lvl5pPr indent="-342900" lvl="4" marL="2286000" marR="0" rtl="0" algn="l">
              <a:lnSpc>
                <a:spcPct val="95000"/>
              </a:lnSpc>
              <a:spcBef>
                <a:spcPts val="600"/>
              </a:spcBef>
              <a:spcAft>
                <a:spcPts val="0"/>
              </a:spcAft>
              <a:buClr>
                <a:schemeClr val="accent1"/>
              </a:buClr>
              <a:buSzPts val="1800"/>
              <a:buFont typeface="Arial"/>
              <a:buChar char="​"/>
              <a:defRPr b="0" i="0" sz="1800" u="none" cap="none" strike="noStrike">
                <a:solidFill>
                  <a:schemeClr val="accent1"/>
                </a:solidFill>
                <a:latin typeface="Century Gothic"/>
                <a:ea typeface="Century Gothic"/>
                <a:cs typeface="Century Gothic"/>
                <a:sym typeface="Century Gothic"/>
              </a:defRPr>
            </a:lvl5pPr>
            <a:lvl6pPr indent="-342900" lvl="5" marL="2743200" marR="0" rtl="0" algn="l">
              <a:lnSpc>
                <a:spcPct val="95000"/>
              </a:lnSpc>
              <a:spcBef>
                <a:spcPts val="600"/>
              </a:spcBef>
              <a:spcAft>
                <a:spcPts val="0"/>
              </a:spcAft>
              <a:buClr>
                <a:schemeClr val="accent2"/>
              </a:buClr>
              <a:buSzPts val="1800"/>
              <a:buFont typeface="Arial"/>
              <a:buChar char="​"/>
              <a:defRPr b="0" i="0" sz="1800" u="none" cap="none" strike="noStrike">
                <a:solidFill>
                  <a:schemeClr val="accent2"/>
                </a:solidFill>
                <a:latin typeface="Century Gothic"/>
                <a:ea typeface="Century Gothic"/>
                <a:cs typeface="Century Gothic"/>
                <a:sym typeface="Century Gothic"/>
              </a:defRPr>
            </a:lvl6pPr>
            <a:lvl7pPr indent="-342900" lvl="6" marL="3200400" marR="0" rtl="0" algn="l">
              <a:lnSpc>
                <a:spcPct val="95000"/>
              </a:lnSpc>
              <a:spcBef>
                <a:spcPts val="1000"/>
              </a:spcBef>
              <a:spcAft>
                <a:spcPts val="0"/>
              </a:spcAft>
              <a:buClr>
                <a:schemeClr val="dk1"/>
              </a:buClr>
              <a:buSzPts val="1800"/>
              <a:buFont typeface="Arial"/>
              <a:buChar char="​"/>
              <a:defRPr b="1" i="0" sz="1800" u="none" cap="none" strike="noStrike">
                <a:solidFill>
                  <a:schemeClr val="dk1"/>
                </a:solidFill>
                <a:latin typeface="Century Gothic"/>
                <a:ea typeface="Century Gothic"/>
                <a:cs typeface="Century Gothic"/>
                <a:sym typeface="Century Gothic"/>
              </a:defRPr>
            </a:lvl7pPr>
            <a:lvl8pPr indent="-342900" lvl="7" marL="3657600" marR="0" rtl="0" algn="l">
              <a:lnSpc>
                <a:spcPct val="95000"/>
              </a:lnSpc>
              <a:spcBef>
                <a:spcPts val="200"/>
              </a:spcBef>
              <a:spcAft>
                <a:spcPts val="0"/>
              </a:spcAft>
              <a:buClr>
                <a:schemeClr val="dk1"/>
              </a:buClr>
              <a:buSzPts val="1800"/>
              <a:buFont typeface="Century Gothic"/>
              <a:buAutoNum type="arabicPeriod"/>
              <a:defRPr b="0" i="0" sz="1800" u="none" cap="none" strike="noStrike">
                <a:solidFill>
                  <a:schemeClr val="dk1"/>
                </a:solidFill>
                <a:latin typeface="Century Gothic"/>
                <a:ea typeface="Century Gothic"/>
                <a:cs typeface="Century Gothic"/>
                <a:sym typeface="Century Gothic"/>
              </a:defRPr>
            </a:lvl8pPr>
            <a:lvl9pPr indent="-285750" lvl="8" marL="4114800" marR="0" rtl="0" algn="l">
              <a:lnSpc>
                <a:spcPct val="95000"/>
              </a:lnSpc>
              <a:spcBef>
                <a:spcPts val="400"/>
              </a:spcBef>
              <a:spcAft>
                <a:spcPts val="400"/>
              </a:spcAft>
              <a:buClr>
                <a:schemeClr val="accent6"/>
              </a:buClr>
              <a:buSzPts val="900"/>
              <a:buFont typeface="Arial"/>
              <a:buChar char="​"/>
              <a:defRPr b="0" i="0" sz="900" u="none" cap="none" strike="noStrike">
                <a:solidFill>
                  <a:schemeClr val="accent6"/>
                </a:solidFill>
                <a:latin typeface="Century Gothic"/>
                <a:ea typeface="Century Gothic"/>
                <a:cs typeface="Century Gothic"/>
                <a:sym typeface="Century Gothic"/>
              </a:defRPr>
            </a:lvl9pPr>
          </a:lstStyle>
          <a:p/>
        </p:txBody>
      </p:sp>
      <p:sp>
        <p:nvSpPr>
          <p:cNvPr id="14" name="Google Shape;14;p1"/>
          <p:cNvSpPr txBox="1"/>
          <p:nvPr/>
        </p:nvSpPr>
        <p:spPr>
          <a:xfrm>
            <a:off x="153254" y="4896022"/>
            <a:ext cx="133221" cy="130805"/>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lang="en-GB" sz="850">
                <a:solidFill>
                  <a:srgbClr val="6C6C6C"/>
                </a:solidFill>
                <a:latin typeface="Century Gothic"/>
                <a:ea typeface="Century Gothic"/>
                <a:cs typeface="Century Gothic"/>
                <a:sym typeface="Century Gothic"/>
              </a:rPr>
              <a:t>‹#›</a:t>
            </a:fld>
            <a:endParaRPr sz="850">
              <a:solidFill>
                <a:srgbClr val="6C6C6C"/>
              </a:solidFill>
              <a:latin typeface="Century Gothic"/>
              <a:ea typeface="Century Gothic"/>
              <a:cs typeface="Century Gothic"/>
              <a:sym typeface="Century Gothic"/>
            </a:endParaRPr>
          </a:p>
        </p:txBody>
      </p:sp>
      <p:sp>
        <p:nvSpPr>
          <p:cNvPr id="15" name="Google Shape;15;p1"/>
          <p:cNvSpPr txBox="1"/>
          <p:nvPr>
            <p:ph type="title"/>
          </p:nvPr>
        </p:nvSpPr>
        <p:spPr>
          <a:xfrm>
            <a:off x="457200" y="164592"/>
            <a:ext cx="8229600" cy="704088"/>
          </a:xfrm>
          <a:prstGeom prst="rect">
            <a:avLst/>
          </a:prstGeom>
          <a:noFill/>
          <a:ln>
            <a:noFill/>
          </a:ln>
        </p:spPr>
        <p:txBody>
          <a:bodyPr anchorCtr="0" anchor="b" bIns="0" lIns="0" spcFirstLastPara="1" rIns="0" wrap="square" tIns="0">
            <a:noAutofit/>
          </a:bodyPr>
          <a:lstStyle>
            <a:lvl1pPr lvl="0" marR="0" rtl="0" algn="l">
              <a:lnSpc>
                <a:spcPct val="95000"/>
              </a:lnSpc>
              <a:spcBef>
                <a:spcPts val="0"/>
              </a:spcBef>
              <a:spcAft>
                <a:spcPts val="0"/>
              </a:spcAft>
              <a:buClr>
                <a:schemeClr val="accent1"/>
              </a:buClr>
              <a:buSzPts val="2200"/>
              <a:buFont typeface="Century Gothic"/>
              <a:buNone/>
              <a:defRPr b="1" i="0" sz="2200" u="none" cap="none" strike="noStrike">
                <a:solidFill>
                  <a:schemeClr val="accent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grpSp>
        <p:nvGrpSpPr>
          <p:cNvPr id="16" name="Google Shape;16;p1"/>
          <p:cNvGrpSpPr/>
          <p:nvPr/>
        </p:nvGrpSpPr>
        <p:grpSpPr>
          <a:xfrm>
            <a:off x="7772401" y="4853350"/>
            <a:ext cx="914400" cy="204717"/>
            <a:chOff x="5137" y="4139"/>
            <a:chExt cx="335" cy="75"/>
          </a:xfrm>
        </p:grpSpPr>
        <p:sp>
          <p:nvSpPr>
            <p:cNvPr id="17" name="Google Shape;17;p1"/>
            <p:cNvSpPr/>
            <p:nvPr/>
          </p:nvSpPr>
          <p:spPr>
            <a:xfrm>
              <a:off x="5137" y="4139"/>
              <a:ext cx="324" cy="75"/>
            </a:xfrm>
            <a:custGeom>
              <a:rect b="b" l="l" r="r" t="t"/>
              <a:pathLst>
                <a:path extrusionOk="0" h="863" w="3745">
                  <a:moveTo>
                    <a:pt x="660" y="0"/>
                  </a:moveTo>
                  <a:lnTo>
                    <a:pt x="660" y="0"/>
                  </a:lnTo>
                  <a:lnTo>
                    <a:pt x="22" y="0"/>
                  </a:lnTo>
                  <a:lnTo>
                    <a:pt x="0" y="73"/>
                  </a:lnTo>
                  <a:lnTo>
                    <a:pt x="292" y="73"/>
                  </a:lnTo>
                  <a:lnTo>
                    <a:pt x="292" y="804"/>
                  </a:lnTo>
                  <a:cubicBezTo>
                    <a:pt x="292" y="843"/>
                    <a:pt x="316" y="863"/>
                    <a:pt x="360" y="863"/>
                  </a:cubicBezTo>
                  <a:lnTo>
                    <a:pt x="399" y="863"/>
                  </a:lnTo>
                  <a:lnTo>
                    <a:pt x="399" y="73"/>
                  </a:lnTo>
                  <a:lnTo>
                    <a:pt x="637" y="73"/>
                  </a:lnTo>
                  <a:lnTo>
                    <a:pt x="660" y="0"/>
                  </a:lnTo>
                  <a:lnTo>
                    <a:pt x="660" y="0"/>
                  </a:lnTo>
                  <a:close/>
                  <a:moveTo>
                    <a:pt x="2673" y="181"/>
                  </a:moveTo>
                  <a:lnTo>
                    <a:pt x="2673" y="181"/>
                  </a:lnTo>
                  <a:cubicBezTo>
                    <a:pt x="2647" y="181"/>
                    <a:pt x="2626" y="190"/>
                    <a:pt x="2621" y="203"/>
                  </a:cubicBezTo>
                  <a:lnTo>
                    <a:pt x="2408" y="768"/>
                  </a:lnTo>
                  <a:lnTo>
                    <a:pt x="2448" y="768"/>
                  </a:lnTo>
                  <a:cubicBezTo>
                    <a:pt x="2491" y="768"/>
                    <a:pt x="2509" y="764"/>
                    <a:pt x="2522" y="729"/>
                  </a:cubicBezTo>
                  <a:lnTo>
                    <a:pt x="2570" y="596"/>
                  </a:lnTo>
                  <a:lnTo>
                    <a:pt x="2698" y="596"/>
                  </a:lnTo>
                  <a:lnTo>
                    <a:pt x="2679" y="533"/>
                  </a:lnTo>
                  <a:lnTo>
                    <a:pt x="2590" y="533"/>
                  </a:lnTo>
                  <a:lnTo>
                    <a:pt x="2669" y="310"/>
                  </a:lnTo>
                  <a:lnTo>
                    <a:pt x="2812" y="729"/>
                  </a:lnTo>
                  <a:cubicBezTo>
                    <a:pt x="2824" y="764"/>
                    <a:pt x="2845" y="768"/>
                    <a:pt x="2891" y="768"/>
                  </a:cubicBezTo>
                  <a:lnTo>
                    <a:pt x="2941" y="768"/>
                  </a:lnTo>
                  <a:lnTo>
                    <a:pt x="2725" y="203"/>
                  </a:lnTo>
                  <a:cubicBezTo>
                    <a:pt x="2720" y="190"/>
                    <a:pt x="2697" y="181"/>
                    <a:pt x="2673" y="181"/>
                  </a:cubicBezTo>
                  <a:close/>
                  <a:moveTo>
                    <a:pt x="3529" y="203"/>
                  </a:moveTo>
                  <a:lnTo>
                    <a:pt x="3529" y="203"/>
                  </a:lnTo>
                  <a:cubicBezTo>
                    <a:pt x="3524" y="190"/>
                    <a:pt x="3501" y="181"/>
                    <a:pt x="3477" y="181"/>
                  </a:cubicBezTo>
                  <a:cubicBezTo>
                    <a:pt x="3451" y="181"/>
                    <a:pt x="3430" y="190"/>
                    <a:pt x="3425" y="203"/>
                  </a:cubicBezTo>
                  <a:lnTo>
                    <a:pt x="3212" y="768"/>
                  </a:lnTo>
                  <a:lnTo>
                    <a:pt x="3252" y="768"/>
                  </a:lnTo>
                  <a:cubicBezTo>
                    <a:pt x="3294" y="768"/>
                    <a:pt x="3313" y="764"/>
                    <a:pt x="3326" y="729"/>
                  </a:cubicBezTo>
                  <a:lnTo>
                    <a:pt x="3374" y="596"/>
                  </a:lnTo>
                  <a:lnTo>
                    <a:pt x="3502" y="596"/>
                  </a:lnTo>
                  <a:lnTo>
                    <a:pt x="3483" y="533"/>
                  </a:lnTo>
                  <a:lnTo>
                    <a:pt x="3394" y="533"/>
                  </a:lnTo>
                  <a:lnTo>
                    <a:pt x="3473" y="310"/>
                  </a:lnTo>
                  <a:lnTo>
                    <a:pt x="3616" y="729"/>
                  </a:lnTo>
                  <a:cubicBezTo>
                    <a:pt x="3628" y="764"/>
                    <a:pt x="3649" y="768"/>
                    <a:pt x="3695" y="768"/>
                  </a:cubicBezTo>
                  <a:lnTo>
                    <a:pt x="3745" y="768"/>
                  </a:lnTo>
                  <a:lnTo>
                    <a:pt x="3529" y="203"/>
                  </a:lnTo>
                  <a:lnTo>
                    <a:pt x="3529" y="203"/>
                  </a:lnTo>
                  <a:close/>
                  <a:moveTo>
                    <a:pt x="1655" y="181"/>
                  </a:moveTo>
                  <a:lnTo>
                    <a:pt x="1655" y="181"/>
                  </a:lnTo>
                  <a:cubicBezTo>
                    <a:pt x="1630" y="181"/>
                    <a:pt x="1608" y="190"/>
                    <a:pt x="1603" y="203"/>
                  </a:cubicBezTo>
                  <a:lnTo>
                    <a:pt x="1399" y="746"/>
                  </a:lnTo>
                  <a:lnTo>
                    <a:pt x="1247" y="515"/>
                  </a:lnTo>
                  <a:cubicBezTo>
                    <a:pt x="1327" y="501"/>
                    <a:pt x="1374" y="459"/>
                    <a:pt x="1374" y="387"/>
                  </a:cubicBezTo>
                  <a:lnTo>
                    <a:pt x="1374" y="336"/>
                  </a:lnTo>
                  <a:cubicBezTo>
                    <a:pt x="1374" y="232"/>
                    <a:pt x="1277" y="189"/>
                    <a:pt x="1149" y="189"/>
                  </a:cubicBezTo>
                  <a:lnTo>
                    <a:pt x="969" y="189"/>
                  </a:lnTo>
                  <a:lnTo>
                    <a:pt x="969" y="704"/>
                  </a:lnTo>
                  <a:lnTo>
                    <a:pt x="737" y="704"/>
                  </a:lnTo>
                  <a:cubicBezTo>
                    <a:pt x="646" y="704"/>
                    <a:pt x="625" y="684"/>
                    <a:pt x="625" y="590"/>
                  </a:cubicBezTo>
                  <a:lnTo>
                    <a:pt x="625" y="488"/>
                  </a:lnTo>
                  <a:lnTo>
                    <a:pt x="797" y="488"/>
                  </a:lnTo>
                  <a:lnTo>
                    <a:pt x="816" y="424"/>
                  </a:lnTo>
                  <a:lnTo>
                    <a:pt x="625" y="424"/>
                  </a:lnTo>
                  <a:lnTo>
                    <a:pt x="625" y="253"/>
                  </a:lnTo>
                  <a:lnTo>
                    <a:pt x="878" y="253"/>
                  </a:lnTo>
                  <a:lnTo>
                    <a:pt x="897" y="189"/>
                  </a:lnTo>
                  <a:lnTo>
                    <a:pt x="520" y="189"/>
                  </a:lnTo>
                  <a:lnTo>
                    <a:pt x="520" y="590"/>
                  </a:lnTo>
                  <a:cubicBezTo>
                    <a:pt x="520" y="724"/>
                    <a:pt x="552" y="768"/>
                    <a:pt x="735" y="768"/>
                  </a:cubicBezTo>
                  <a:lnTo>
                    <a:pt x="1074" y="766"/>
                  </a:lnTo>
                  <a:lnTo>
                    <a:pt x="1074" y="253"/>
                  </a:lnTo>
                  <a:lnTo>
                    <a:pt x="1149" y="253"/>
                  </a:lnTo>
                  <a:cubicBezTo>
                    <a:pt x="1230" y="253"/>
                    <a:pt x="1271" y="282"/>
                    <a:pt x="1271" y="337"/>
                  </a:cubicBezTo>
                  <a:lnTo>
                    <a:pt x="1271" y="387"/>
                  </a:lnTo>
                  <a:cubicBezTo>
                    <a:pt x="1271" y="443"/>
                    <a:pt x="1220" y="461"/>
                    <a:pt x="1157" y="461"/>
                  </a:cubicBezTo>
                  <a:lnTo>
                    <a:pt x="1110" y="461"/>
                  </a:lnTo>
                  <a:lnTo>
                    <a:pt x="1269" y="733"/>
                  </a:lnTo>
                  <a:cubicBezTo>
                    <a:pt x="1287" y="765"/>
                    <a:pt x="1296" y="768"/>
                    <a:pt x="1338" y="768"/>
                  </a:cubicBezTo>
                  <a:lnTo>
                    <a:pt x="1430" y="768"/>
                  </a:lnTo>
                  <a:cubicBezTo>
                    <a:pt x="1473" y="768"/>
                    <a:pt x="1492" y="764"/>
                    <a:pt x="1505" y="729"/>
                  </a:cubicBezTo>
                  <a:lnTo>
                    <a:pt x="1552" y="596"/>
                  </a:lnTo>
                  <a:lnTo>
                    <a:pt x="1680" y="596"/>
                  </a:lnTo>
                  <a:lnTo>
                    <a:pt x="1661" y="533"/>
                  </a:lnTo>
                  <a:lnTo>
                    <a:pt x="1573" y="533"/>
                  </a:lnTo>
                  <a:lnTo>
                    <a:pt x="1652" y="310"/>
                  </a:lnTo>
                  <a:lnTo>
                    <a:pt x="1795" y="729"/>
                  </a:lnTo>
                  <a:cubicBezTo>
                    <a:pt x="1807" y="764"/>
                    <a:pt x="1827" y="768"/>
                    <a:pt x="1873" y="768"/>
                  </a:cubicBezTo>
                  <a:lnTo>
                    <a:pt x="1923" y="768"/>
                  </a:lnTo>
                  <a:lnTo>
                    <a:pt x="1707" y="203"/>
                  </a:lnTo>
                  <a:cubicBezTo>
                    <a:pt x="1702" y="190"/>
                    <a:pt x="1679" y="181"/>
                    <a:pt x="1655" y="181"/>
                  </a:cubicBezTo>
                  <a:close/>
                  <a:moveTo>
                    <a:pt x="2304" y="530"/>
                  </a:moveTo>
                  <a:lnTo>
                    <a:pt x="2304" y="530"/>
                  </a:lnTo>
                  <a:cubicBezTo>
                    <a:pt x="2304" y="647"/>
                    <a:pt x="2266" y="704"/>
                    <a:pt x="2162" y="704"/>
                  </a:cubicBezTo>
                  <a:lnTo>
                    <a:pt x="2068" y="704"/>
                  </a:lnTo>
                  <a:lnTo>
                    <a:pt x="2068" y="253"/>
                  </a:lnTo>
                  <a:lnTo>
                    <a:pt x="2159" y="253"/>
                  </a:lnTo>
                  <a:cubicBezTo>
                    <a:pt x="2266" y="253"/>
                    <a:pt x="2304" y="316"/>
                    <a:pt x="2304" y="433"/>
                  </a:cubicBezTo>
                  <a:lnTo>
                    <a:pt x="2304" y="530"/>
                  </a:lnTo>
                  <a:lnTo>
                    <a:pt x="2304" y="530"/>
                  </a:lnTo>
                  <a:close/>
                  <a:moveTo>
                    <a:pt x="2409" y="432"/>
                  </a:moveTo>
                  <a:lnTo>
                    <a:pt x="2409" y="432"/>
                  </a:lnTo>
                  <a:cubicBezTo>
                    <a:pt x="2409" y="270"/>
                    <a:pt x="2326" y="189"/>
                    <a:pt x="2159" y="189"/>
                  </a:cubicBezTo>
                  <a:lnTo>
                    <a:pt x="1963" y="189"/>
                  </a:lnTo>
                  <a:lnTo>
                    <a:pt x="1963" y="709"/>
                  </a:lnTo>
                  <a:cubicBezTo>
                    <a:pt x="1963" y="748"/>
                    <a:pt x="1984" y="768"/>
                    <a:pt x="2029" y="768"/>
                  </a:cubicBezTo>
                  <a:lnTo>
                    <a:pt x="2159" y="768"/>
                  </a:lnTo>
                  <a:lnTo>
                    <a:pt x="2180" y="767"/>
                  </a:lnTo>
                  <a:cubicBezTo>
                    <a:pt x="2337" y="761"/>
                    <a:pt x="2409" y="693"/>
                    <a:pt x="2409" y="530"/>
                  </a:cubicBezTo>
                  <a:lnTo>
                    <a:pt x="2409" y="432"/>
                  </a:lnTo>
                  <a:lnTo>
                    <a:pt x="2409" y="432"/>
                  </a:lnTo>
                  <a:close/>
                  <a:moveTo>
                    <a:pt x="3332" y="190"/>
                  </a:moveTo>
                  <a:lnTo>
                    <a:pt x="3332" y="190"/>
                  </a:lnTo>
                  <a:lnTo>
                    <a:pt x="2851" y="190"/>
                  </a:lnTo>
                  <a:lnTo>
                    <a:pt x="2831" y="254"/>
                  </a:lnTo>
                  <a:lnTo>
                    <a:pt x="3028" y="254"/>
                  </a:lnTo>
                  <a:lnTo>
                    <a:pt x="3028" y="710"/>
                  </a:lnTo>
                  <a:cubicBezTo>
                    <a:pt x="3028" y="749"/>
                    <a:pt x="3052" y="768"/>
                    <a:pt x="3096" y="768"/>
                  </a:cubicBezTo>
                  <a:lnTo>
                    <a:pt x="3135" y="768"/>
                  </a:lnTo>
                  <a:lnTo>
                    <a:pt x="3135" y="254"/>
                  </a:lnTo>
                  <a:lnTo>
                    <a:pt x="3313" y="254"/>
                  </a:lnTo>
                  <a:lnTo>
                    <a:pt x="3332" y="19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3C3B"/>
                </a:solidFill>
                <a:latin typeface="Century Gothic"/>
                <a:ea typeface="Century Gothic"/>
                <a:cs typeface="Century Gothic"/>
                <a:sym typeface="Century Gothic"/>
              </a:endParaRPr>
            </a:p>
          </p:txBody>
        </p:sp>
        <p:sp>
          <p:nvSpPr>
            <p:cNvPr id="18" name="Google Shape;18;p1"/>
            <p:cNvSpPr/>
            <p:nvPr/>
          </p:nvSpPr>
          <p:spPr>
            <a:xfrm>
              <a:off x="5464" y="4197"/>
              <a:ext cx="8" cy="9"/>
            </a:xfrm>
            <a:custGeom>
              <a:rect b="b" l="l" r="r" t="t"/>
              <a:pathLst>
                <a:path extrusionOk="0" h="98" w="99">
                  <a:moveTo>
                    <a:pt x="59" y="30"/>
                  </a:moveTo>
                  <a:lnTo>
                    <a:pt x="59" y="30"/>
                  </a:lnTo>
                  <a:cubicBezTo>
                    <a:pt x="57" y="29"/>
                    <a:pt x="53" y="28"/>
                    <a:pt x="47" y="28"/>
                  </a:cubicBezTo>
                  <a:lnTo>
                    <a:pt x="39" y="28"/>
                  </a:lnTo>
                  <a:lnTo>
                    <a:pt x="39" y="48"/>
                  </a:lnTo>
                  <a:lnTo>
                    <a:pt x="48" y="48"/>
                  </a:lnTo>
                  <a:cubicBezTo>
                    <a:pt x="52" y="48"/>
                    <a:pt x="55" y="47"/>
                    <a:pt x="57" y="46"/>
                  </a:cubicBezTo>
                  <a:cubicBezTo>
                    <a:pt x="61" y="45"/>
                    <a:pt x="63" y="42"/>
                    <a:pt x="63" y="38"/>
                  </a:cubicBezTo>
                  <a:cubicBezTo>
                    <a:pt x="63" y="34"/>
                    <a:pt x="61" y="31"/>
                    <a:pt x="59" y="30"/>
                  </a:cubicBezTo>
                  <a:close/>
                  <a:moveTo>
                    <a:pt x="49" y="22"/>
                  </a:moveTo>
                  <a:lnTo>
                    <a:pt x="49" y="22"/>
                  </a:lnTo>
                  <a:cubicBezTo>
                    <a:pt x="55" y="22"/>
                    <a:pt x="60" y="22"/>
                    <a:pt x="63" y="23"/>
                  </a:cubicBezTo>
                  <a:cubicBezTo>
                    <a:pt x="69" y="26"/>
                    <a:pt x="72" y="30"/>
                    <a:pt x="72" y="37"/>
                  </a:cubicBezTo>
                  <a:cubicBezTo>
                    <a:pt x="72" y="42"/>
                    <a:pt x="70" y="46"/>
                    <a:pt x="66" y="48"/>
                  </a:cubicBezTo>
                  <a:cubicBezTo>
                    <a:pt x="65" y="49"/>
                    <a:pt x="62" y="50"/>
                    <a:pt x="59" y="51"/>
                  </a:cubicBezTo>
                  <a:cubicBezTo>
                    <a:pt x="63" y="51"/>
                    <a:pt x="66" y="53"/>
                    <a:pt x="68" y="56"/>
                  </a:cubicBezTo>
                  <a:cubicBezTo>
                    <a:pt x="70" y="59"/>
                    <a:pt x="71" y="62"/>
                    <a:pt x="71" y="64"/>
                  </a:cubicBezTo>
                  <a:lnTo>
                    <a:pt x="71" y="68"/>
                  </a:lnTo>
                  <a:cubicBezTo>
                    <a:pt x="71" y="69"/>
                    <a:pt x="71" y="71"/>
                    <a:pt x="71" y="72"/>
                  </a:cubicBezTo>
                  <a:cubicBezTo>
                    <a:pt x="71" y="74"/>
                    <a:pt x="71" y="75"/>
                    <a:pt x="72" y="75"/>
                  </a:cubicBezTo>
                  <a:lnTo>
                    <a:pt x="72" y="76"/>
                  </a:lnTo>
                  <a:lnTo>
                    <a:pt x="63" y="76"/>
                  </a:lnTo>
                  <a:cubicBezTo>
                    <a:pt x="63" y="76"/>
                    <a:pt x="63" y="75"/>
                    <a:pt x="63" y="75"/>
                  </a:cubicBezTo>
                  <a:cubicBezTo>
                    <a:pt x="63" y="75"/>
                    <a:pt x="63" y="75"/>
                    <a:pt x="63" y="75"/>
                  </a:cubicBezTo>
                  <a:lnTo>
                    <a:pt x="62" y="73"/>
                  </a:lnTo>
                  <a:lnTo>
                    <a:pt x="62" y="69"/>
                  </a:lnTo>
                  <a:cubicBezTo>
                    <a:pt x="62" y="62"/>
                    <a:pt x="61" y="58"/>
                    <a:pt x="57" y="56"/>
                  </a:cubicBezTo>
                  <a:cubicBezTo>
                    <a:pt x="55" y="55"/>
                    <a:pt x="52" y="54"/>
                    <a:pt x="47" y="54"/>
                  </a:cubicBezTo>
                  <a:lnTo>
                    <a:pt x="39" y="54"/>
                  </a:lnTo>
                  <a:lnTo>
                    <a:pt x="39" y="76"/>
                  </a:lnTo>
                  <a:lnTo>
                    <a:pt x="30" y="76"/>
                  </a:lnTo>
                  <a:lnTo>
                    <a:pt x="30" y="22"/>
                  </a:lnTo>
                  <a:lnTo>
                    <a:pt x="49" y="22"/>
                  </a:lnTo>
                  <a:lnTo>
                    <a:pt x="49" y="22"/>
                  </a:lnTo>
                  <a:close/>
                  <a:moveTo>
                    <a:pt x="20" y="19"/>
                  </a:moveTo>
                  <a:lnTo>
                    <a:pt x="20" y="19"/>
                  </a:lnTo>
                  <a:cubicBezTo>
                    <a:pt x="11" y="27"/>
                    <a:pt x="7" y="37"/>
                    <a:pt x="7" y="49"/>
                  </a:cubicBezTo>
                  <a:cubicBezTo>
                    <a:pt x="7" y="61"/>
                    <a:pt x="11" y="71"/>
                    <a:pt x="20" y="79"/>
                  </a:cubicBezTo>
                  <a:cubicBezTo>
                    <a:pt x="28" y="87"/>
                    <a:pt x="38" y="92"/>
                    <a:pt x="50" y="92"/>
                  </a:cubicBezTo>
                  <a:cubicBezTo>
                    <a:pt x="61" y="92"/>
                    <a:pt x="71" y="87"/>
                    <a:pt x="80" y="79"/>
                  </a:cubicBezTo>
                  <a:cubicBezTo>
                    <a:pt x="88" y="71"/>
                    <a:pt x="92" y="61"/>
                    <a:pt x="92" y="49"/>
                  </a:cubicBezTo>
                  <a:cubicBezTo>
                    <a:pt x="92" y="37"/>
                    <a:pt x="88" y="27"/>
                    <a:pt x="80" y="19"/>
                  </a:cubicBezTo>
                  <a:cubicBezTo>
                    <a:pt x="71" y="10"/>
                    <a:pt x="61" y="6"/>
                    <a:pt x="50" y="6"/>
                  </a:cubicBezTo>
                  <a:cubicBezTo>
                    <a:pt x="38" y="6"/>
                    <a:pt x="28" y="10"/>
                    <a:pt x="20" y="19"/>
                  </a:cubicBezTo>
                  <a:close/>
                  <a:moveTo>
                    <a:pt x="85" y="84"/>
                  </a:moveTo>
                  <a:lnTo>
                    <a:pt x="85" y="84"/>
                  </a:lnTo>
                  <a:cubicBezTo>
                    <a:pt x="75" y="94"/>
                    <a:pt x="63" y="98"/>
                    <a:pt x="50" y="98"/>
                  </a:cubicBezTo>
                  <a:cubicBezTo>
                    <a:pt x="36" y="98"/>
                    <a:pt x="24" y="94"/>
                    <a:pt x="15" y="84"/>
                  </a:cubicBezTo>
                  <a:cubicBezTo>
                    <a:pt x="5" y="74"/>
                    <a:pt x="0" y="63"/>
                    <a:pt x="0" y="49"/>
                  </a:cubicBezTo>
                  <a:cubicBezTo>
                    <a:pt x="0" y="35"/>
                    <a:pt x="5" y="24"/>
                    <a:pt x="15" y="14"/>
                  </a:cubicBezTo>
                  <a:cubicBezTo>
                    <a:pt x="24" y="4"/>
                    <a:pt x="36" y="0"/>
                    <a:pt x="50" y="0"/>
                  </a:cubicBezTo>
                  <a:cubicBezTo>
                    <a:pt x="63" y="0"/>
                    <a:pt x="75" y="4"/>
                    <a:pt x="85" y="14"/>
                  </a:cubicBezTo>
                  <a:cubicBezTo>
                    <a:pt x="94" y="24"/>
                    <a:pt x="99" y="35"/>
                    <a:pt x="99" y="49"/>
                  </a:cubicBezTo>
                  <a:cubicBezTo>
                    <a:pt x="99" y="63"/>
                    <a:pt x="94" y="74"/>
                    <a:pt x="85" y="84"/>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3C3B"/>
                </a:solidFill>
                <a:latin typeface="Century Gothic"/>
                <a:ea typeface="Century Gothic"/>
                <a:cs typeface="Century Gothic"/>
                <a:sym typeface="Century Gothic"/>
              </a:endParaRPr>
            </a:p>
          </p:txBody>
        </p:sp>
      </p:grpSp>
      <p:sp>
        <p:nvSpPr>
          <p:cNvPr id="19" name="Google Shape;19;p1"/>
          <p:cNvSpPr txBox="1"/>
          <p:nvPr/>
        </p:nvSpPr>
        <p:spPr>
          <a:xfrm>
            <a:off x="457200" y="4867275"/>
            <a:ext cx="3214489" cy="232042"/>
          </a:xfrm>
          <a:prstGeom prst="rect">
            <a:avLst/>
          </a:prstGeom>
          <a:noFill/>
          <a:ln>
            <a:noFill/>
          </a:ln>
        </p:spPr>
        <p:txBody>
          <a:bodyPr anchorCtr="0" anchor="ctr" bIns="45700" lIns="46800" spcFirstLastPara="1" rIns="91425" wrap="square" tIns="45700">
            <a:noAutofit/>
          </a:bodyPr>
          <a:lstStyle/>
          <a:p>
            <a:pPr indent="0" lvl="0" marL="0" marR="0" rtl="0" algn="l">
              <a:lnSpc>
                <a:spcPct val="100000"/>
              </a:lnSpc>
              <a:spcBef>
                <a:spcPts val="0"/>
              </a:spcBef>
              <a:spcAft>
                <a:spcPts val="0"/>
              </a:spcAft>
              <a:buClr>
                <a:schemeClr val="dk1"/>
              </a:buClr>
              <a:buSzPts val="800"/>
              <a:buFont typeface="Century Gothic"/>
              <a:buNone/>
            </a:pPr>
            <a:r>
              <a:rPr b="0" baseline="30000" lang="en-GB" sz="800">
                <a:solidFill>
                  <a:schemeClr val="dk1"/>
                </a:solidFill>
                <a:latin typeface="Century Gothic"/>
                <a:ea typeface="Century Gothic"/>
                <a:cs typeface="Century Gothic"/>
                <a:sym typeface="Century Gothic"/>
              </a:rPr>
              <a:t>© </a:t>
            </a:r>
            <a:r>
              <a:rPr b="0" lang="en-GB" sz="800">
                <a:solidFill>
                  <a:schemeClr val="dk1"/>
                </a:solidFill>
                <a:latin typeface="Century Gothic"/>
                <a:ea typeface="Century Gothic"/>
                <a:cs typeface="Century Gothic"/>
                <a:sym typeface="Century Gothic"/>
              </a:rPr>
              <a:t>2017 Teradata Confidential Information</a:t>
            </a:r>
            <a:endParaRPr/>
          </a:p>
          <a:p>
            <a:pPr indent="0" lvl="0" marL="0" marR="0" rtl="0" algn="l">
              <a:spcBef>
                <a:spcPts val="0"/>
              </a:spcBef>
              <a:spcAft>
                <a:spcPts val="0"/>
              </a:spcAft>
              <a:buNone/>
            </a:pPr>
            <a:r>
              <a:t/>
            </a:r>
            <a:endParaRPr b="0" sz="100">
              <a:solidFill>
                <a:srgbClr val="A2A2A2"/>
              </a:solidFill>
              <a:latin typeface="Century Gothic"/>
              <a:ea typeface="Century Gothic"/>
              <a:cs typeface="Century Gothic"/>
              <a:sym typeface="Century Gothic"/>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Lst>
  <p:transition spd="med">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7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7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7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7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7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7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7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8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81.xml"/><Relationship Id="rId3" Type="http://schemas.openxmlformats.org/officeDocument/2006/relationships/image" Target="../media/image7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8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8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8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8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8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87.xml"/><Relationship Id="rId3" Type="http://schemas.openxmlformats.org/officeDocument/2006/relationships/image" Target="../media/image75.png"/><Relationship Id="rId4" Type="http://schemas.openxmlformats.org/officeDocument/2006/relationships/image" Target="../media/image7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8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89.xml"/><Relationship Id="rId3" Type="http://schemas.openxmlformats.org/officeDocument/2006/relationships/image" Target="../media/image86.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7" name="Shape 7087"/>
        <p:cNvGrpSpPr/>
        <p:nvPr/>
      </p:nvGrpSpPr>
      <p:grpSpPr>
        <a:xfrm>
          <a:off x="0" y="0"/>
          <a:ext cx="0" cy="0"/>
          <a:chOff x="0" y="0"/>
          <a:chExt cx="0" cy="0"/>
        </a:xfrm>
      </p:grpSpPr>
      <p:sp>
        <p:nvSpPr>
          <p:cNvPr id="7088" name="Google Shape;7088;p403"/>
          <p:cNvSpPr txBox="1"/>
          <p:nvPr>
            <p:ph idx="1" type="body"/>
          </p:nvPr>
        </p:nvSpPr>
        <p:spPr>
          <a:xfrm>
            <a:off x="0" y="2342217"/>
            <a:ext cx="9144000" cy="459100"/>
          </a:xfrm>
          <a:prstGeom prst="rect">
            <a:avLst/>
          </a:prstGeom>
          <a:solidFill>
            <a:schemeClr val="lt1"/>
          </a:solidFill>
          <a:ln>
            <a:noFill/>
          </a:ln>
        </p:spPr>
        <p:txBody>
          <a:bodyPr anchorCtr="1" anchor="ctr" bIns="45700" lIns="457200" spcFirstLastPara="1" rIns="457200" wrap="square" tIns="45700">
            <a:noAutofit/>
          </a:bodyPr>
          <a:lstStyle/>
          <a:p>
            <a:pPr indent="0" lvl="0" marL="0" rtl="0" algn="ctr">
              <a:lnSpc>
                <a:spcPct val="110000"/>
              </a:lnSpc>
              <a:spcBef>
                <a:spcPts val="0"/>
              </a:spcBef>
              <a:spcAft>
                <a:spcPts val="0"/>
              </a:spcAft>
              <a:buClr>
                <a:schemeClr val="accent1"/>
              </a:buClr>
              <a:buSzPts val="2200"/>
              <a:buFont typeface="Century Gothic"/>
              <a:buNone/>
            </a:pPr>
            <a:r>
              <a:rPr lang="en-GB"/>
              <a:t>Product Management Use Cases</a:t>
            </a:r>
            <a:endParaRPr/>
          </a:p>
        </p:txBody>
      </p:sp>
      <p:sp>
        <p:nvSpPr>
          <p:cNvPr id="7089" name="Google Shape;7089;p403"/>
          <p:cNvSpPr txBox="1"/>
          <p:nvPr>
            <p:ph idx="2" type="body"/>
          </p:nvPr>
        </p:nvSpPr>
        <p:spPr>
          <a:xfrm>
            <a:off x="3242535" y="4855464"/>
            <a:ext cx="2658930" cy="106186"/>
          </a:xfrm>
          <a:prstGeom prst="rect">
            <a:avLst/>
          </a:prstGeom>
          <a:noFill/>
          <a:ln>
            <a:noFill/>
          </a:ln>
        </p:spPr>
        <p:txBody>
          <a:bodyPr anchorCtr="0" anchor="t" bIns="0" lIns="0" spcFirstLastPara="1" rIns="0" wrap="square" tIns="0">
            <a:noAutofit/>
          </a:bodyPr>
          <a:lstStyle/>
          <a:p>
            <a:pPr indent="0" lvl="0" marL="0" rtl="0" algn="ctr">
              <a:lnSpc>
                <a:spcPct val="85000"/>
              </a:lnSpc>
              <a:spcBef>
                <a:spcPts val="0"/>
              </a:spcBef>
              <a:spcAft>
                <a:spcPts val="0"/>
              </a:spcAft>
              <a:buClr>
                <a:schemeClr val="lt1"/>
              </a:buClr>
              <a:buSzPts val="700"/>
              <a:buFont typeface="Century Gothic"/>
              <a:buNone/>
            </a:pPr>
            <a:r>
              <a:t/>
            </a:r>
            <a:endParaRPr/>
          </a:p>
        </p:txBody>
      </p:sp>
      <p:sp>
        <p:nvSpPr>
          <p:cNvPr id="7090" name="Google Shape;7090;p403"/>
          <p:cNvSpPr txBox="1"/>
          <p:nvPr>
            <p:ph idx="11" type="ftr"/>
          </p:nvPr>
        </p:nvSpPr>
        <p:spPr>
          <a:xfrm>
            <a:off x="0" y="4857750"/>
            <a:ext cx="3240088" cy="1079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95" name="Shape 7095"/>
        <p:cNvGrpSpPr/>
        <p:nvPr/>
      </p:nvGrpSpPr>
      <p:grpSpPr>
        <a:xfrm>
          <a:off x="0" y="0"/>
          <a:ext cx="0" cy="0"/>
          <a:chOff x="0" y="0"/>
          <a:chExt cx="0" cy="0"/>
        </a:xfrm>
      </p:grpSpPr>
      <p:cxnSp>
        <p:nvCxnSpPr>
          <p:cNvPr id="7096" name="Google Shape;7096;p404"/>
          <p:cNvCxnSpPr/>
          <p:nvPr/>
        </p:nvCxnSpPr>
        <p:spPr>
          <a:xfrm>
            <a:off x="3207394"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7097" name="Google Shape;7097;p404"/>
          <p:cNvCxnSpPr/>
          <p:nvPr/>
        </p:nvCxnSpPr>
        <p:spPr>
          <a:xfrm>
            <a:off x="6057947"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7098" name="Google Shape;7098;p404"/>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7099" name="Google Shape;7099;p404"/>
          <p:cNvSpPr/>
          <p:nvPr/>
        </p:nvSpPr>
        <p:spPr>
          <a:xfrm rot="5400000">
            <a:off x="-86832" y="2518301"/>
            <a:ext cx="299641" cy="130284"/>
          </a:xfrm>
          <a:prstGeom prst="triangle">
            <a:avLst>
              <a:gd fmla="val 50000" name="adj"/>
            </a:avLst>
          </a:prstGeom>
          <a:solidFill>
            <a:srgbClr val="C00000"/>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7100" name="Google Shape;7100;p404"/>
          <p:cNvSpPr/>
          <p:nvPr/>
        </p:nvSpPr>
        <p:spPr>
          <a:xfrm>
            <a:off x="4820082"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Increased sales from Improved Product Design</a:t>
            </a:r>
            <a:endParaRPr/>
          </a:p>
          <a:p>
            <a:pPr indent="-108000" lvl="0" marL="108000"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Improved accuracy in product price adjusted for return on capital and expense</a:t>
            </a:r>
            <a:endParaRPr/>
          </a:p>
          <a:p>
            <a:pPr indent="-108000" lvl="0" marL="108000"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Increase market size and position</a:t>
            </a:r>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7101" name="Google Shape;7101;p404"/>
          <p:cNvSpPr/>
          <p:nvPr/>
        </p:nvSpPr>
        <p:spPr>
          <a:xfrm>
            <a:off x="6148806" y="1894002"/>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Define new and/or extended product offers in response to market analysis and trends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Develop product collateral and pricing guidelines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Deploy new product to select market and review for any adjustments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Shorter time to market for new product offers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Ability to anticipate the needs of the consumer, and align products to that need</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Deeper understanding of how  to best position new product</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r>
              <a:rPr sz="800"/>
              <a:t>Data-driven product pipeline: 3-5 new products/year based on analytics, not intuition. Reduced product failure rate from ~40% to &lt;20%.</a:t>
            </a:r>
          </a:p>
        </p:txBody>
      </p:sp>
      <p:sp>
        <p:nvSpPr>
          <p:cNvPr id="7102" name="Google Shape;7102;p404"/>
          <p:cNvSpPr/>
          <p:nvPr/>
        </p:nvSpPr>
        <p:spPr>
          <a:xfrm>
            <a:off x="3271845" y="1894002"/>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Segment/Cluster product usage across a variety of dimensions (geographic, demographic…)</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Predictive product/component failure (propensity or time to fail)</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Collaborative filtering to understand  component that fail together (or closely)</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800080"/>
                </a:solidFill>
              </a:rPr>
              <a:t>Enhanced: Real-time event streaming (Kafka), sessionized digital journey capture, NLP on Urdu/English call transcripts, social sentiment from Pakistani social platforms</a:t>
            </a:r>
          </a:p>
          <a:p>
            <a:r>
              <a:rPr sz="800"/>
              <a:t>Product usage clustering (identify unmet needs), propensity modeling for new product adoption, cannibalization analysis (will new product erode existing?)</a:t>
            </a:r>
          </a:p>
        </p:txBody>
      </p:sp>
      <p:sp>
        <p:nvSpPr>
          <p:cNvPr id="7103" name="Google Shape;7103;p404"/>
          <p:cNvSpPr/>
          <p:nvPr/>
        </p:nvSpPr>
        <p:spPr>
          <a:xfrm>
            <a:off x="423863" y="3259084"/>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Collection, storage and analysis of a large volumes of data</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Integrating data from disparate sources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Privacy Policies / Customer Opt-in</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r>
              <a:rPr sz="800"/>
              <a:t>SBP product approval timeline (4-8 weeks), Islamic Shariah board approval, core banking configuration across 4-5 systems</a:t>
            </a:r>
          </a:p>
        </p:txBody>
      </p:sp>
      <p:sp>
        <p:nvSpPr>
          <p:cNvPr id="7104" name="Google Shape;7104;p404"/>
          <p:cNvSpPr/>
          <p:nvPr/>
        </p:nvSpPr>
        <p:spPr>
          <a:xfrm>
            <a:off x="423863" y="1894002"/>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Product Usage data</a:t>
            </a:r>
            <a:endParaRPr/>
          </a:p>
          <a:p>
            <a:pPr indent="-108000" lvl="0" marL="108000" marR="0" rtl="0" algn="l">
              <a:lnSpc>
                <a:spcPct val="90000"/>
              </a:lnSpc>
              <a:spcBef>
                <a:spcPts val="3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Demographic data</a:t>
            </a:r>
            <a:endParaRPr/>
          </a:p>
          <a:p>
            <a:pPr indent="-108000" lvl="0" marL="108000" marR="0" rtl="0" algn="l">
              <a:lnSpc>
                <a:spcPct val="90000"/>
              </a:lnSpc>
              <a:spcBef>
                <a:spcPts val="3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Competitive information</a:t>
            </a:r>
            <a:endParaRPr/>
          </a:p>
          <a:p>
            <a:pPr indent="-108000" lvl="0" marL="108000" marR="0" rtl="0" algn="l">
              <a:lnSpc>
                <a:spcPct val="90000"/>
              </a:lnSpc>
              <a:spcBef>
                <a:spcPts val="3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Customer/Prospect data</a:t>
            </a:r>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chemeClr val="dk1"/>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chemeClr val="dk1"/>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chemeClr val="dk1"/>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chemeClr val="dk1"/>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chemeClr val="dk1"/>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chemeClr val="dk1"/>
              </a:solidFill>
              <a:latin typeface="Century Gothic"/>
              <a:ea typeface="Century Gothic"/>
              <a:cs typeface="Century Gothic"/>
              <a:sym typeface="Century Gothic"/>
            </a:endParaRPr>
          </a:p>
          <a:p>
            <a:r>
              <a:rPr sz="800"/>
              <a:t>FSDM customer/transaction data, SBP financial inclusion survey, mobile app usage patterns, RAAST adoption data, competitor product analysis, Islamic banking demand indicators</a:t>
            </a:r>
          </a:p>
        </p:txBody>
      </p:sp>
      <p:sp>
        <p:nvSpPr>
          <p:cNvPr id="7105" name="Google Shape;7105;p404"/>
          <p:cNvSpPr/>
          <p:nvPr/>
        </p:nvSpPr>
        <p:spPr>
          <a:xfrm>
            <a:off x="423863" y="807897"/>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Objective / Problem Statement</a:t>
            </a:r>
            <a:endParaRPr b="1" sz="1000">
              <a:solidFill>
                <a:schemeClr val="dk2"/>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Increase speed to market with new and innovative products aligned with a fact market need that will provide a significant risk adjusted rate of return on the investment</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r>
              <a:rPr sz="900"/>
              <a:t>Design new banking products aligned with Pakistan market needs: digital-first accounts, Islamic product variants, financial inclusion products, Roshan Digital Account extensions, green banking products.</a:t>
            </a:r>
          </a:p>
        </p:txBody>
      </p:sp>
      <p:sp>
        <p:nvSpPr>
          <p:cNvPr id="7106" name="Google Shape;7106;p404"/>
          <p:cNvSpPr/>
          <p:nvPr/>
        </p:nvSpPr>
        <p:spPr>
          <a:xfrm>
            <a:off x="6545101" y="290513"/>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chemeClr val="accent6"/>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rPr lang="en-GB" sz="900">
                <a:solidFill>
                  <a:schemeClr val="accent6"/>
                </a:solidFill>
                <a:latin typeface="Century Gothic"/>
                <a:ea typeface="Century Gothic"/>
                <a:cs typeface="Century Gothic"/>
                <a:sym typeface="Century Gothic"/>
              </a:rPr>
              <a:t>Thought Leadership</a:t>
            </a:r>
            <a:endParaRPr/>
          </a:p>
          <a:p>
            <a:pPr indent="0" lvl="0" marL="0" marR="0" rtl="0" algn="l">
              <a:spcBef>
                <a:spcPts val="0"/>
              </a:spcBef>
              <a:spcAft>
                <a:spcPts val="0"/>
              </a:spcAft>
              <a:buNone/>
            </a:pPr>
            <a:r>
              <a:t/>
            </a:r>
            <a:endParaRPr sz="900">
              <a:solidFill>
                <a:schemeClr val="accent6"/>
              </a:solidFill>
              <a:latin typeface="Century Gothic"/>
              <a:ea typeface="Century Gothic"/>
              <a:cs typeface="Century Gothic"/>
              <a:sym typeface="Century Gothic"/>
            </a:endParaRPr>
          </a:p>
          <a:p>
            <a:pPr indent="0" lvl="0" marL="0" marR="0" rtl="0" algn="l">
              <a:spcBef>
                <a:spcPts val="0"/>
              </a:spcBef>
              <a:spcAft>
                <a:spcPts val="0"/>
              </a:spcAft>
              <a:buNone/>
            </a:pPr>
            <a:r>
              <a:t/>
            </a:r>
            <a:endParaRPr sz="900">
              <a:solidFill>
                <a:schemeClr val="accent6"/>
              </a:solidFill>
              <a:latin typeface="Century Gothic"/>
              <a:ea typeface="Century Gothic"/>
              <a:cs typeface="Century Gothic"/>
              <a:sym typeface="Century Gothic"/>
            </a:endParaRPr>
          </a:p>
        </p:txBody>
      </p:sp>
      <p:sp>
        <p:nvSpPr>
          <p:cNvPr id="7107" name="Google Shape;7107;p404">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Product Development</a:t>
            </a:r>
            <a:endParaRPr sz="750">
              <a:solidFill>
                <a:schemeClr val="lt1"/>
              </a:solidFill>
              <a:latin typeface="Century Gothic"/>
              <a:ea typeface="Century Gothic"/>
              <a:cs typeface="Century Gothic"/>
              <a:sym typeface="Century Gothic"/>
            </a:endParaRPr>
          </a:p>
        </p:txBody>
      </p:sp>
      <p:sp>
        <p:nvSpPr>
          <p:cNvPr id="7108" name="Google Shape;7108;p404"/>
          <p:cNvSpPr/>
          <p:nvPr/>
        </p:nvSpPr>
        <p:spPr>
          <a:xfrm>
            <a:off x="355600"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chemeClr val="accent1"/>
                </a:solidFill>
                <a:latin typeface="Century Gothic"/>
                <a:ea typeface="Century Gothic"/>
                <a:cs typeface="Century Gothic"/>
                <a:sym typeface="Century Gothic"/>
              </a:rPr>
              <a:t>Use Case Summary</a:t>
            </a:r>
            <a:endParaRPr sz="1000">
              <a:solidFill>
                <a:schemeClr val="accent1"/>
              </a:solidFill>
              <a:latin typeface="Century Gothic"/>
              <a:ea typeface="Century Gothic"/>
              <a:cs typeface="Century Gothic"/>
              <a:sym typeface="Century Gothic"/>
            </a:endParaRPr>
          </a:p>
        </p:txBody>
      </p:sp>
      <p:sp>
        <p:nvSpPr>
          <p:cNvPr id="7109" name="Google Shape;7109;p404"/>
          <p:cNvSpPr txBox="1"/>
          <p:nvPr>
            <p:ph type="title"/>
          </p:nvPr>
        </p:nvSpPr>
        <p:spPr>
          <a:xfrm>
            <a:off x="423864"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Product Development and Packaging</a:t>
            </a:r>
            <a:endParaRPr sz="2400"/>
          </a:p>
        </p:txBody>
      </p:sp>
      <p:sp>
        <p:nvSpPr>
          <p:cNvPr id="7110" name="Google Shape;7110;p404"/>
          <p:cNvSpPr/>
          <p:nvPr/>
        </p:nvSpPr>
        <p:spPr>
          <a:xfrm>
            <a:off x="3271845" y="3259084"/>
            <a:ext cx="2715336" cy="1514923"/>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Success Criteria</a:t>
            </a:r>
            <a:endParaRPr b="1" sz="1000">
              <a:solidFill>
                <a:schemeClr val="dk2"/>
              </a:solidFill>
              <a:latin typeface="Century Gothic"/>
              <a:ea typeface="Century Gothic"/>
              <a:cs typeface="Century Gothic"/>
              <a:sym typeface="Century Gothic"/>
            </a:endParaRPr>
          </a:p>
          <a:p>
            <a:pPr indent="-108000" lvl="1" marL="565200" marR="0" rtl="0" algn="l">
              <a:spcBef>
                <a:spcPts val="300"/>
              </a:spcBef>
              <a:spcAft>
                <a:spcPts val="0"/>
              </a:spcAft>
              <a:buClr>
                <a:srgbClr val="3C3C3B"/>
              </a:buClr>
              <a:buSzPts val="800"/>
              <a:buFont typeface="Arial"/>
              <a:buChar char="•"/>
            </a:pPr>
            <a:r>
              <a:rPr b="0" i="0" lang="en-GB" sz="800" u="none" cap="none" strike="noStrike">
                <a:solidFill>
                  <a:schemeClr val="dk1"/>
                </a:solidFill>
                <a:latin typeface="Century Gothic"/>
                <a:ea typeface="Century Gothic"/>
                <a:cs typeface="Century Gothic"/>
                <a:sym typeface="Century Gothic"/>
              </a:rPr>
              <a:t>Analytic Prototype using traditional and product usage  data  to  improve design</a:t>
            </a:r>
            <a:endParaRPr/>
          </a:p>
          <a:p>
            <a:pPr indent="-108000" lvl="1" marL="565200" marR="0" rtl="0" algn="l">
              <a:spcBef>
                <a:spcPts val="300"/>
              </a:spcBef>
              <a:spcAft>
                <a:spcPts val="0"/>
              </a:spcAft>
              <a:buClr>
                <a:srgbClr val="3C3C3B"/>
              </a:buClr>
              <a:buSzPts val="800"/>
              <a:buFont typeface="Arial"/>
              <a:buChar char="•"/>
            </a:pPr>
            <a:r>
              <a:rPr b="0" i="0" lang="en-GB" sz="800" u="none" cap="none" strike="noStrike">
                <a:solidFill>
                  <a:schemeClr val="dk1"/>
                </a:solidFill>
                <a:latin typeface="Century Gothic"/>
                <a:ea typeface="Century Gothic"/>
                <a:cs typeface="Century Gothic"/>
                <a:sym typeface="Century Gothic"/>
              </a:rPr>
              <a:t>Quantify potential for increased sales </a:t>
            </a:r>
            <a:endParaRPr b="0" i="0" sz="800" u="none" cap="none" strike="noStrike">
              <a:solidFill>
                <a:schemeClr val="dk1"/>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800"/>
              <a:buFont typeface="Arial"/>
              <a:buChar char="•"/>
            </a:pPr>
            <a:r>
              <a:rPr lang="en-GB" sz="800">
                <a:solidFill>
                  <a:schemeClr val="dk1"/>
                </a:solidFill>
                <a:latin typeface="Century Gothic"/>
                <a:ea typeface="Century Gothic"/>
                <a:cs typeface="Century Gothic"/>
                <a:sym typeface="Century Gothic"/>
              </a:rPr>
              <a:t>Full Engagement Deliverables</a:t>
            </a:r>
            <a:endParaRPr/>
          </a:p>
          <a:p>
            <a:pPr indent="-108000" lvl="1" marL="565200" marR="0" rtl="0" algn="l">
              <a:spcBef>
                <a:spcPts val="300"/>
              </a:spcBef>
              <a:spcAft>
                <a:spcPts val="0"/>
              </a:spcAft>
              <a:buClr>
                <a:srgbClr val="3C3C3B"/>
              </a:buClr>
              <a:buSzPts val="800"/>
              <a:buFont typeface="Arial"/>
              <a:buChar char="•"/>
            </a:pPr>
            <a:r>
              <a:rPr b="0" i="0" lang="en-GB" sz="800" u="none" cap="none" strike="noStrike">
                <a:solidFill>
                  <a:schemeClr val="dk1"/>
                </a:solidFill>
                <a:latin typeface="Century Gothic"/>
                <a:ea typeface="Century Gothic"/>
                <a:cs typeface="Century Gothic"/>
                <a:sym typeface="Century Gothic"/>
              </a:rPr>
              <a:t>Production grade analytics, integrated into existing design processes, and use by the product design teams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0" lvl="0" marL="0" marR="0" rtl="0" algn="l">
              <a:lnSpc>
                <a:spcPct val="90000"/>
              </a:lnSpc>
              <a:spcBef>
                <a:spcPts val="300"/>
              </a:spcBef>
              <a:spcAft>
                <a:spcPts val="0"/>
              </a:spcAft>
              <a:buNone/>
            </a:pPr>
            <a:r>
              <a:t/>
            </a:r>
            <a:endParaRPr sz="900">
              <a:solidFill>
                <a:schemeClr val="dk1"/>
              </a:solidFill>
              <a:latin typeface="Century Gothic"/>
              <a:ea typeface="Century Gothic"/>
              <a:cs typeface="Century Gothic"/>
              <a:sym typeface="Century Gothic"/>
            </a:endParaRPr>
          </a:p>
          <a:p>
            <a:pPr indent="-123825" lvl="0" marL="180975" marR="0" rtl="0" algn="l">
              <a:lnSpc>
                <a:spcPct val="90000"/>
              </a:lnSpc>
              <a:spcBef>
                <a:spcPts val="45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5" name="Shape 7115"/>
        <p:cNvGrpSpPr/>
        <p:nvPr/>
      </p:nvGrpSpPr>
      <p:grpSpPr>
        <a:xfrm>
          <a:off x="0" y="0"/>
          <a:ext cx="0" cy="0"/>
          <a:chOff x="0" y="0"/>
          <a:chExt cx="0" cy="0"/>
        </a:xfrm>
      </p:grpSpPr>
      <p:cxnSp>
        <p:nvCxnSpPr>
          <p:cNvPr id="7116" name="Google Shape;7116;p405"/>
          <p:cNvCxnSpPr/>
          <p:nvPr/>
        </p:nvCxnSpPr>
        <p:spPr>
          <a:xfrm>
            <a:off x="3207394"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7117" name="Google Shape;7117;p405"/>
          <p:cNvCxnSpPr/>
          <p:nvPr/>
        </p:nvCxnSpPr>
        <p:spPr>
          <a:xfrm>
            <a:off x="6057947"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7118" name="Google Shape;7118;p405"/>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7119" name="Google Shape;7119;p405"/>
          <p:cNvSpPr/>
          <p:nvPr/>
        </p:nvSpPr>
        <p:spPr>
          <a:xfrm rot="5400000">
            <a:off x="-86832" y="2670706"/>
            <a:ext cx="299641" cy="130284"/>
          </a:xfrm>
          <a:prstGeom prst="triangle">
            <a:avLst>
              <a:gd fmla="val 50000" name="adj"/>
            </a:avLst>
          </a:prstGeom>
          <a:solidFill>
            <a:schemeClr val="accent3"/>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7120" name="Google Shape;7120;p405"/>
          <p:cNvSpPr/>
          <p:nvPr/>
        </p:nvSpPr>
        <p:spPr>
          <a:xfrm>
            <a:off x="4820082"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Evaluate the impact of business initiatives in a holistic manner</a:t>
            </a:r>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7121" name="Google Shape;7121;p405"/>
          <p:cNvSpPr/>
          <p:nvPr/>
        </p:nvSpPr>
        <p:spPr>
          <a:xfrm>
            <a:off x="6148806" y="2486559"/>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Definition of average benchmark relationships between objects: </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Typical changes within a portfolio content  after a bank wide initiative </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Typical reaction of customer to an event (external or internal)</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Optimisation of relationships between objects in regard to defined benchmarks: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Identification of positive or negative individual client advisor behavior</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r>
              <a:rPr sz="800"/>
              <a:t>Optimize RM-customer allocation for maximum cross-sell, identify successful RM behaviors for training/replication</a:t>
            </a:r>
          </a:p>
        </p:txBody>
      </p:sp>
      <p:sp>
        <p:nvSpPr>
          <p:cNvPr id="7122" name="Google Shape;7122;p405"/>
          <p:cNvSpPr/>
          <p:nvPr/>
        </p:nvSpPr>
        <p:spPr>
          <a:xfrm>
            <a:off x="3271845" y="3710295"/>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Success Criteria</a:t>
            </a:r>
            <a:endParaRPr b="1" sz="1000">
              <a:solidFill>
                <a:srgbClr val="0079DB"/>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Understand optimum customer client relationships and deviation from average relationships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Understand how initiatives cause changes in relationship behavior</a:t>
            </a:r>
            <a:endParaRPr sz="90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7123" name="Google Shape;7123;p405"/>
          <p:cNvSpPr/>
          <p:nvPr/>
        </p:nvSpPr>
        <p:spPr>
          <a:xfrm>
            <a:off x="3271845" y="2486559"/>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Dynamic Graph analysis  of all available information</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Powerful visualization of graph analysis results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800080"/>
                </a:solidFill>
              </a:rPr>
              <a:t>Enhanced: path analysis analysis on granular event sequences, Markov chain journey modeling, abandonment prediction, real-time journey intervention, cross-channel attribution</a:t>
            </a:r>
          </a:p>
          <a:p>
            <a:r>
              <a:rPr sz="800"/>
              <a:t>Graph analysis on FSDM relationship data, RM productivity benchmarking, product affinity network analysis</a:t>
            </a:r>
          </a:p>
        </p:txBody>
      </p:sp>
      <p:sp>
        <p:nvSpPr>
          <p:cNvPr id="7124" name="Google Shape;7124;p405"/>
          <p:cNvSpPr/>
          <p:nvPr/>
        </p:nvSpPr>
        <p:spPr>
          <a:xfrm>
            <a:off x="423863" y="3710295"/>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Can be difficult to identify cause and effect of specific actions</a:t>
            </a:r>
            <a:endParaRPr/>
          </a:p>
        </p:txBody>
      </p:sp>
      <p:sp>
        <p:nvSpPr>
          <p:cNvPr id="7125" name="Google Shape;7125;p405"/>
          <p:cNvSpPr/>
          <p:nvPr/>
        </p:nvSpPr>
        <p:spPr>
          <a:xfrm>
            <a:off x="423863" y="2486559"/>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“Objects” within a bank: information on customer, client advisor, product, transaction, contract, etc..</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Relationships between objects: information on which customer has signed which contracts and holds which products, etc.. </a:t>
            </a:r>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r>
              <a:rPr sz="800"/>
              <a:t>FSDM: customer-product holdings, transaction patterns, channel usage, RM assignment, branch allocation, product lifecycle events</a:t>
            </a:r>
          </a:p>
        </p:txBody>
      </p:sp>
      <p:sp>
        <p:nvSpPr>
          <p:cNvPr id="7126" name="Google Shape;7126;p405"/>
          <p:cNvSpPr/>
          <p:nvPr/>
        </p:nvSpPr>
        <p:spPr>
          <a:xfrm>
            <a:off x="423863" y="807897"/>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Objective / Problem Statement</a:t>
            </a:r>
            <a:endParaRPr b="1" sz="1000">
              <a:solidFill>
                <a:srgbClr val="0079DB"/>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There are many different “objects” within a bank: customer, products, contracts, client adviser, transactions, etc..</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They are all related to each other in some specific ways: a client advisor is responsible for a group of customer, each customer has signed different contracts with the bank and holds different products, etc..</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Being able to analyze these “objects” and their relationships with changing focus allows the dynamic comparison between objects and relationships in regard to optimization potential </a:t>
            </a:r>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47674" lvl="0" marL="108000" marR="0" rtl="0" algn="l">
              <a:spcBef>
                <a:spcPts val="300"/>
              </a:spcBef>
              <a:spcAft>
                <a:spcPts val="0"/>
              </a:spcAft>
              <a:buClr>
                <a:srgbClr val="3C3C3B"/>
              </a:buClr>
              <a:buSzPts val="950"/>
              <a:buFont typeface="Arial"/>
              <a:buNone/>
            </a:pPr>
            <a:r>
              <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r>
              <a:rPr sz="900"/>
              <a:t>Analyze relationships between banking objects — customer, product, channel, branch, RM, transaction — using graph analytics to identify optimization opportunities.</a:t>
            </a:r>
          </a:p>
          <a:p>
            <a:r>
              <a:rPr sz="900"/>
              <a:t>Pakistan banking: understand which RM behaviors drive higher product adoption. Identify why certain branches have 3x products/customer vs. others.</a:t>
            </a:r>
          </a:p>
        </p:txBody>
      </p:sp>
      <p:sp>
        <p:nvSpPr>
          <p:cNvPr id="7127" name="Google Shape;7127;p405"/>
          <p:cNvSpPr/>
          <p:nvPr/>
        </p:nvSpPr>
        <p:spPr>
          <a:xfrm>
            <a:off x="6545101" y="290513"/>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rgbClr val="5F6062"/>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a:p>
            <a:r>
              <a:rPr sz="900"/>
              <a:t>Banking Industry Best Practice</a:t>
            </a:r>
          </a:p>
        </p:txBody>
      </p:sp>
      <p:sp>
        <p:nvSpPr>
          <p:cNvPr id="7128" name="Google Shape;7128;p405"/>
          <p:cNvSpPr/>
          <p:nvPr/>
        </p:nvSpPr>
        <p:spPr>
          <a:xfrm>
            <a:off x="355600"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rgbClr val="EC881D"/>
                </a:solidFill>
                <a:latin typeface="Century Gothic"/>
                <a:ea typeface="Century Gothic"/>
                <a:cs typeface="Century Gothic"/>
                <a:sym typeface="Century Gothic"/>
              </a:rPr>
              <a:t>Use Case Summary</a:t>
            </a:r>
            <a:endParaRPr/>
          </a:p>
        </p:txBody>
      </p:sp>
      <p:sp>
        <p:nvSpPr>
          <p:cNvPr id="7129" name="Google Shape;7129;p405"/>
          <p:cNvSpPr txBox="1"/>
          <p:nvPr>
            <p:ph type="title"/>
          </p:nvPr>
        </p:nvSpPr>
        <p:spPr>
          <a:xfrm>
            <a:off x="423864" y="164592"/>
            <a:ext cx="6405776"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000"/>
              <a:buFont typeface="Century Gothic"/>
              <a:buNone/>
            </a:pPr>
            <a:r>
              <a:rPr lang="en-GB" sz="2000"/>
              <a:t>Relationship Mgt. and Optimization</a:t>
            </a:r>
            <a:br>
              <a:rPr lang="en-GB" sz="2000"/>
            </a:br>
            <a:r>
              <a:rPr lang="en-GB" sz="2000"/>
              <a:t>(Product Usage) </a:t>
            </a:r>
            <a:endParaRPr sz="2000"/>
          </a:p>
        </p:txBody>
      </p:sp>
      <p:sp>
        <p:nvSpPr>
          <p:cNvPr id="7130" name="Google Shape;7130;p405">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Product Development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35" name="Shape 7135"/>
        <p:cNvGrpSpPr/>
        <p:nvPr/>
      </p:nvGrpSpPr>
      <p:grpSpPr>
        <a:xfrm>
          <a:off x="0" y="0"/>
          <a:ext cx="0" cy="0"/>
          <a:chOff x="0" y="0"/>
          <a:chExt cx="0" cy="0"/>
        </a:xfrm>
      </p:grpSpPr>
      <p:cxnSp>
        <p:nvCxnSpPr>
          <p:cNvPr id="7136" name="Google Shape;7136;p406"/>
          <p:cNvCxnSpPr/>
          <p:nvPr/>
        </p:nvCxnSpPr>
        <p:spPr>
          <a:xfrm>
            <a:off x="3207394"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7137" name="Google Shape;7137;p406"/>
          <p:cNvCxnSpPr/>
          <p:nvPr/>
        </p:nvCxnSpPr>
        <p:spPr>
          <a:xfrm>
            <a:off x="6057947"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7138" name="Google Shape;7138;p406"/>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7139" name="Google Shape;7139;p406"/>
          <p:cNvSpPr/>
          <p:nvPr/>
        </p:nvSpPr>
        <p:spPr>
          <a:xfrm rot="5400000">
            <a:off x="-86832" y="2518301"/>
            <a:ext cx="299641" cy="130284"/>
          </a:xfrm>
          <a:prstGeom prst="triangle">
            <a:avLst>
              <a:gd fmla="val 50000" name="adj"/>
            </a:avLst>
          </a:prstGeom>
          <a:solidFill>
            <a:srgbClr val="C00000"/>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7140" name="Google Shape;7140;p406"/>
          <p:cNvSpPr/>
          <p:nvPr/>
        </p:nvSpPr>
        <p:spPr>
          <a:xfrm>
            <a:off x="4820082"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New revenue source if value added services can be sold to merchants</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Differentiated service to existing and potential existing business customers using merchant services</a:t>
            </a:r>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7141" name="Google Shape;7141;p406"/>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Identifying new potential Cobranding/Affinity partnership.</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Increase revenue from Merchant acquiring and Issuer interchange fee income</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“Monetizing” Big Data selling services to merchants: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Customer insights.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Competition / market insights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Cross branding promotions.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Undertaking marketing campaigns on the merchants behalf</a:t>
            </a:r>
            <a:endParaRPr sz="800">
              <a:solidFill>
                <a:srgbClr val="3C3C3B"/>
              </a:solidFill>
              <a:latin typeface="Century Gothic"/>
              <a:ea typeface="Century Gothic"/>
              <a:cs typeface="Century Gothic"/>
              <a:sym typeface="Century Gothic"/>
            </a:endParaRPr>
          </a:p>
          <a:p>
            <a:r>
              <a:rPr sz="800"/>
              <a:t>New fee income from merchant analytics services, increased POS terminal deployment, merchant loyalty through value-added insights</a:t>
            </a:r>
          </a:p>
        </p:txBody>
      </p:sp>
      <p:sp>
        <p:nvSpPr>
          <p:cNvPr id="7142" name="Google Shape;7142;p406"/>
          <p:cNvSpPr/>
          <p:nvPr/>
        </p:nvSpPr>
        <p:spPr>
          <a:xfrm>
            <a:off x="3271845" y="3557890"/>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Success Criteria</a:t>
            </a:r>
            <a:endParaRPr b="1" sz="1000">
              <a:solidFill>
                <a:srgbClr val="0079DB"/>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Ability to create new merchant propositions and sell as value added services</a:t>
            </a:r>
            <a:endParaRPr sz="90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7143" name="Google Shape;7143;p406"/>
          <p:cNvSpPr/>
          <p:nvPr/>
        </p:nvSpPr>
        <p:spPr>
          <a:xfrm>
            <a:off x="3271845" y="2334154"/>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Merchant Analysis to identify the types of spend for each customers and the brand share of that spend</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Segmentation to identify the which customers would best suit each merchant offer based on shopping behavior</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800080"/>
                </a:solidFill>
              </a:rPr>
              <a:t>Enhanced: ML-based transaction categorization, merchant code enrichment, salary/income detection, lifestyle spending patterns, automated tax certificate generation</a:t>
            </a:r>
          </a:p>
        </p:txBody>
      </p:sp>
      <p:sp>
        <p:nvSpPr>
          <p:cNvPr id="7144" name="Google Shape;7144;p406"/>
          <p:cNvSpPr/>
          <p:nvPr/>
        </p:nvSpPr>
        <p:spPr>
          <a:xfrm>
            <a:off x="423863" y="3557890"/>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Requires sufficient critical mass (proportion of total payments) to provide meaningful aggregated insight – by geography and industry sector </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7145" name="Google Shape;7145;p406"/>
          <p:cNvSpPr/>
          <p:nvPr/>
        </p:nvSpPr>
        <p:spPr>
          <a:xfrm>
            <a:off x="423863" y="2334154"/>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Customer data From the data warehouse</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Card transaction data</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Merchant data such as classifications and locations</a:t>
            </a:r>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006699"/>
                </a:solidFill>
              </a:rPr>
              <a:t>FSDM Sources: Financial_Transaction, Transaction_Type, Merchant_Category_Code | Pakistan: IBFT/RAAST, salary credits, utility payments, remittances, FBR flagging</a:t>
            </a:r>
          </a:p>
          <a:p>
            <a:r>
              <a:rPr sz="800"/>
              <a:t>Card transaction data from FSDM, merchant category codes (MCC), merchant location data, 1Link POS switch data, customer demographics</a:t>
            </a:r>
          </a:p>
        </p:txBody>
      </p:sp>
      <p:sp>
        <p:nvSpPr>
          <p:cNvPr id="7146" name="Google Shape;7146;p406"/>
          <p:cNvSpPr/>
          <p:nvPr/>
        </p:nvSpPr>
        <p:spPr>
          <a:xfrm>
            <a:off x="423863" y="807897"/>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Objective / Problem Statement</a:t>
            </a:r>
            <a:endParaRPr b="1" sz="1000">
              <a:solidFill>
                <a:srgbClr val="0079DB"/>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Making data available to merchant acquirers on customer usage and profile information</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Tapping into the Transaction data, product, and competitive intelligence aspects of card data opens new revenue sources for both the providers and the merchants.</a:t>
            </a:r>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47674" lvl="0" marL="108000" marR="0" rtl="0" algn="l">
              <a:spcBef>
                <a:spcPts val="300"/>
              </a:spcBef>
              <a:spcAft>
                <a:spcPts val="0"/>
              </a:spcAft>
              <a:buClr>
                <a:srgbClr val="3C3C3B"/>
              </a:buClr>
              <a:buSzPts val="950"/>
              <a:buFont typeface="Arial"/>
              <a:buNone/>
            </a:pPr>
            <a:r>
              <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r>
              <a:rPr sz="900"/>
              <a:t>Leverage card transaction data to provide merchant acquirers (banks operating POS networks) with customer insights. Pakistan's POS network is growing rapidly — 100,000+ terminals.</a:t>
            </a:r>
          </a:p>
          <a:p>
            <a:r>
              <a:rPr sz="900"/>
              <a:t>New revenue opportunity: monetize aggregated card transaction analytics for merchant business insights (footfall patterns, average ticket size, competitive share-of-wallet)</a:t>
            </a:r>
          </a:p>
        </p:txBody>
      </p:sp>
      <p:sp>
        <p:nvSpPr>
          <p:cNvPr id="7147" name="Google Shape;7147;p406"/>
          <p:cNvSpPr/>
          <p:nvPr/>
        </p:nvSpPr>
        <p:spPr>
          <a:xfrm>
            <a:off x="6545101" y="290513"/>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rgbClr val="5F6062"/>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a:p>
            <a:r>
              <a:rPr sz="900"/>
              <a:t>Banking Industry Best Practice</a:t>
            </a:r>
          </a:p>
        </p:txBody>
      </p:sp>
      <p:sp>
        <p:nvSpPr>
          <p:cNvPr id="7148" name="Google Shape;7148;p406"/>
          <p:cNvSpPr/>
          <p:nvPr/>
        </p:nvSpPr>
        <p:spPr>
          <a:xfrm>
            <a:off x="355600"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rgbClr val="EC881D"/>
                </a:solidFill>
                <a:latin typeface="Century Gothic"/>
                <a:ea typeface="Century Gothic"/>
                <a:cs typeface="Century Gothic"/>
                <a:sym typeface="Century Gothic"/>
              </a:rPr>
              <a:t>Use Case Summary</a:t>
            </a:r>
            <a:endParaRPr/>
          </a:p>
        </p:txBody>
      </p:sp>
      <p:sp>
        <p:nvSpPr>
          <p:cNvPr id="7149" name="Google Shape;7149;p406"/>
          <p:cNvSpPr txBox="1"/>
          <p:nvPr>
            <p:ph type="title"/>
          </p:nvPr>
        </p:nvSpPr>
        <p:spPr>
          <a:xfrm>
            <a:off x="423864"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Merchant Acquiring Insights </a:t>
            </a:r>
            <a:endParaRPr sz="2400"/>
          </a:p>
        </p:txBody>
      </p:sp>
      <p:sp>
        <p:nvSpPr>
          <p:cNvPr id="7150" name="Google Shape;7150;p406">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Product Development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5" name="Shape 7155"/>
        <p:cNvGrpSpPr/>
        <p:nvPr/>
      </p:nvGrpSpPr>
      <p:grpSpPr>
        <a:xfrm>
          <a:off x="0" y="0"/>
          <a:ext cx="0" cy="0"/>
          <a:chOff x="0" y="0"/>
          <a:chExt cx="0" cy="0"/>
        </a:xfrm>
      </p:grpSpPr>
      <p:cxnSp>
        <p:nvCxnSpPr>
          <p:cNvPr id="7156" name="Google Shape;7156;p407"/>
          <p:cNvCxnSpPr/>
          <p:nvPr/>
        </p:nvCxnSpPr>
        <p:spPr>
          <a:xfrm>
            <a:off x="3207394"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7157" name="Google Shape;7157;p407"/>
          <p:cNvCxnSpPr/>
          <p:nvPr/>
        </p:nvCxnSpPr>
        <p:spPr>
          <a:xfrm>
            <a:off x="6057947"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7158" name="Google Shape;7158;p407"/>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7159" name="Google Shape;7159;p407"/>
          <p:cNvSpPr/>
          <p:nvPr/>
        </p:nvSpPr>
        <p:spPr>
          <a:xfrm rot="5400000">
            <a:off x="-86832" y="2518301"/>
            <a:ext cx="299641" cy="130284"/>
          </a:xfrm>
          <a:prstGeom prst="triangle">
            <a:avLst>
              <a:gd fmla="val 50000" name="adj"/>
            </a:avLst>
          </a:prstGeom>
          <a:solidFill>
            <a:srgbClr val="C00000"/>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7160" name="Google Shape;7160;p407"/>
          <p:cNvSpPr/>
          <p:nvPr/>
        </p:nvSpPr>
        <p:spPr>
          <a:xfrm>
            <a:off x="4820082"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Increased interchange income from increased card usage</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Increased share of card spend as more customers use as primary card</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Reduced dormancy and churn</a:t>
            </a:r>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7161" name="Google Shape;7161;p407"/>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Identified likely cardholders to drive higher usage of Credit Cards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Identification of card holders with spending potential through analysis of previous/current CC activity, as well as customer demographics and product holdings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Merchant offer and customer matching based upon activity analysis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Both Small and Large purchase prediction through specific Merchant Codes/Categories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r>
              <a:rPr sz="800"/>
              <a:t>Target: activate 30% of dormant POS cards, increase average POS spend by 25% in targeted segment. Revenue impact: PKR 2-5B additional interchange industry-wide.</a:t>
            </a:r>
          </a:p>
        </p:txBody>
      </p:sp>
      <p:sp>
        <p:nvSpPr>
          <p:cNvPr id="7162" name="Google Shape;7162;p407"/>
          <p:cNvSpPr/>
          <p:nvPr/>
        </p:nvSpPr>
        <p:spPr>
          <a:xfrm>
            <a:off x="3271845" y="3557890"/>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Success Criteria</a:t>
            </a:r>
            <a:endParaRPr b="1" sz="1000">
              <a:solidFill>
                <a:srgbClr val="0079DB"/>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Ability to identify a segment of customers who are likely to be receptive to card spend based offers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Identify suitable merchant offers relevant to their profile and segment characteristics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0" lvl="0" marL="0" marR="0" rtl="0" algn="l">
              <a:lnSpc>
                <a:spcPct val="90000"/>
              </a:lnSpc>
              <a:spcBef>
                <a:spcPts val="300"/>
              </a:spcBef>
              <a:spcAft>
                <a:spcPts val="0"/>
              </a:spcAft>
              <a:buNone/>
            </a:pPr>
            <a:r>
              <a:t/>
            </a:r>
            <a:endParaRPr sz="900">
              <a:solidFill>
                <a:srgbClr val="3C3C3B"/>
              </a:solidFill>
              <a:latin typeface="Century Gothic"/>
              <a:ea typeface="Century Gothic"/>
              <a:cs typeface="Century Gothic"/>
              <a:sym typeface="Century Gothic"/>
            </a:endParaRPr>
          </a:p>
          <a:p>
            <a:pPr indent="-123825" lvl="0" marL="180975" marR="0" rtl="0" algn="l">
              <a:lnSpc>
                <a:spcPct val="90000"/>
              </a:lnSpc>
              <a:spcBef>
                <a:spcPts val="45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7163" name="Google Shape;7163;p407"/>
          <p:cNvSpPr/>
          <p:nvPr/>
        </p:nvSpPr>
        <p:spPr>
          <a:xfrm>
            <a:off x="3271845" y="2334154"/>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Collaborative filtering analysis for spend pattern detection to drive usage among targeted customer segments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Classification model to determine which customers have a propensity to activate and spend, to drive usage among targeted customer segments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800080"/>
                </a:solidFill>
              </a:rPr>
              <a:t>Enhanced: ML-based transaction categorization, merchant code enrichment, salary/income detection, lifestyle spending patterns, automated tax certificate generation</a:t>
            </a:r>
          </a:p>
          <a:p>
            <a:r>
              <a:rPr sz="800"/>
              <a:t>Collaborative filtering (customers with similar profiles who spend more — target non-spenders), propensity to activate POS usage, merchant offer matching</a:t>
            </a:r>
          </a:p>
        </p:txBody>
      </p:sp>
      <p:sp>
        <p:nvSpPr>
          <p:cNvPr id="7164" name="Google Shape;7164;p407"/>
          <p:cNvSpPr/>
          <p:nvPr/>
        </p:nvSpPr>
        <p:spPr>
          <a:xfrm>
            <a:off x="423863" y="3557890"/>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May require extended history of card transactional data to execute use case</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7165" name="Google Shape;7165;p407"/>
          <p:cNvSpPr/>
          <p:nvPr/>
        </p:nvSpPr>
        <p:spPr>
          <a:xfrm>
            <a:off x="423863" y="2334154"/>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Customer</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Cards Account and Transaction</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Transacting Account and transactions</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Previous Merchant Offer effectiveness (for validation)</a:t>
            </a:r>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006699"/>
                </a:solidFill>
              </a:rPr>
              <a:t>FSDM Sources: Financial_Transaction, Transaction_Type, Merchant_Category_Code | Pakistan: IBFT/RAAST, salary credits, utility payments, remittances, FBR flagging</a:t>
            </a:r>
          </a:p>
          <a:p>
            <a:r>
              <a:rPr sz="800"/>
              <a:t>Card transaction data (ATM vs. POS vs. e-commerce split), customer FSDM profile, salary credit data (spending capacity indicator), merchant category preferences, previous offer response data</a:t>
            </a:r>
          </a:p>
        </p:txBody>
      </p:sp>
      <p:sp>
        <p:nvSpPr>
          <p:cNvPr id="7166" name="Google Shape;7166;p407"/>
          <p:cNvSpPr/>
          <p:nvPr/>
        </p:nvSpPr>
        <p:spPr>
          <a:xfrm>
            <a:off x="423863" y="807897"/>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Objective / Problem Statement</a:t>
            </a:r>
            <a:endParaRPr b="1" sz="1000">
              <a:solidFill>
                <a:srgbClr val="0079DB"/>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Target cardholders with higher spending potential who are not utilising banks card as their primary card</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Increase in utilisation, spend on credit/debit cards increasing interchange, interest and fee income. </a:t>
            </a:r>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47674" lvl="0" marL="108000" marR="0" rtl="0" algn="l">
              <a:spcBef>
                <a:spcPts val="300"/>
              </a:spcBef>
              <a:spcAft>
                <a:spcPts val="0"/>
              </a:spcAft>
              <a:buClr>
                <a:srgbClr val="3C3C3B"/>
              </a:buClr>
              <a:buSzPts val="950"/>
              <a:buFont typeface="Arial"/>
              <a:buNone/>
            </a:pPr>
            <a:r>
              <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r>
              <a:rPr sz="900"/>
              <a:t>Pakistan has 30M+ debit cards but &lt;30% are actively used for POS purchases (most used only for ATM cash withdrawal). Stimulate card spend to increase interchange revenue and reduce cash handling cost.</a:t>
            </a:r>
          </a:p>
          <a:p>
            <a:r>
              <a:rPr sz="900"/>
              <a:t>Identify dormant/low-usage cardholders with high spending potential. Match with relevant merchant offers.</a:t>
            </a:r>
          </a:p>
        </p:txBody>
      </p:sp>
      <p:sp>
        <p:nvSpPr>
          <p:cNvPr id="7167" name="Google Shape;7167;p407"/>
          <p:cNvSpPr/>
          <p:nvPr/>
        </p:nvSpPr>
        <p:spPr>
          <a:xfrm>
            <a:off x="6545101" y="290513"/>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rgbClr val="5F6062"/>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a:p>
            <a:r>
              <a:rPr sz="900"/>
              <a:t>Banking Industry Best Practice</a:t>
            </a:r>
          </a:p>
        </p:txBody>
      </p:sp>
      <p:sp>
        <p:nvSpPr>
          <p:cNvPr id="7168" name="Google Shape;7168;p407"/>
          <p:cNvSpPr/>
          <p:nvPr/>
        </p:nvSpPr>
        <p:spPr>
          <a:xfrm>
            <a:off x="355600"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rgbClr val="EC881D"/>
                </a:solidFill>
                <a:latin typeface="Century Gothic"/>
                <a:ea typeface="Century Gothic"/>
                <a:cs typeface="Century Gothic"/>
                <a:sym typeface="Century Gothic"/>
              </a:rPr>
              <a:t>Use Case Summary</a:t>
            </a:r>
            <a:endParaRPr/>
          </a:p>
        </p:txBody>
      </p:sp>
      <p:sp>
        <p:nvSpPr>
          <p:cNvPr id="7169" name="Google Shape;7169;p407"/>
          <p:cNvSpPr txBox="1"/>
          <p:nvPr>
            <p:ph type="title"/>
          </p:nvPr>
        </p:nvSpPr>
        <p:spPr>
          <a:xfrm>
            <a:off x="423864"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Credit/Debit Card Spend Stimulation </a:t>
            </a:r>
            <a:endParaRPr sz="2400"/>
          </a:p>
        </p:txBody>
      </p:sp>
      <p:sp>
        <p:nvSpPr>
          <p:cNvPr id="7170" name="Google Shape;7170;p407">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Product Development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5" name="Shape 7175"/>
        <p:cNvGrpSpPr/>
        <p:nvPr/>
      </p:nvGrpSpPr>
      <p:grpSpPr>
        <a:xfrm>
          <a:off x="0" y="0"/>
          <a:ext cx="0" cy="0"/>
          <a:chOff x="0" y="0"/>
          <a:chExt cx="0" cy="0"/>
        </a:xfrm>
      </p:grpSpPr>
      <p:cxnSp>
        <p:nvCxnSpPr>
          <p:cNvPr id="7176" name="Google Shape;7176;p408"/>
          <p:cNvCxnSpPr/>
          <p:nvPr/>
        </p:nvCxnSpPr>
        <p:spPr>
          <a:xfrm>
            <a:off x="3207394"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7177" name="Google Shape;7177;p408"/>
          <p:cNvCxnSpPr/>
          <p:nvPr/>
        </p:nvCxnSpPr>
        <p:spPr>
          <a:xfrm>
            <a:off x="6057947"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7178" name="Google Shape;7178;p408"/>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7179" name="Google Shape;7179;p408"/>
          <p:cNvSpPr/>
          <p:nvPr/>
        </p:nvSpPr>
        <p:spPr>
          <a:xfrm rot="5400000">
            <a:off x="-86832" y="2518301"/>
            <a:ext cx="299641" cy="130284"/>
          </a:xfrm>
          <a:prstGeom prst="triangle">
            <a:avLst>
              <a:gd fmla="val 50000" name="adj"/>
            </a:avLst>
          </a:prstGeom>
          <a:solidFill>
            <a:srgbClr val="C00000"/>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7180" name="Google Shape;7180;p408"/>
          <p:cNvSpPr/>
          <p:nvPr/>
        </p:nvSpPr>
        <p:spPr>
          <a:xfrm>
            <a:off x="4820082"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Increased card activity and spend</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Increased share of customer’s credit card spend</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Reduced card churn and dormancy</a:t>
            </a:r>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7181" name="Google Shape;7181;p408"/>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Identify linkage among merchants based on customers’ card usage pattern</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Verify the original purpose of credit card products and develop new products fitting for customer preference </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Develop Individualized Merchants Recommendation Index </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r>
              <a:rPr sz="800"/>
              <a:t>Personalized merchant recommendations via mobile app push notification, SMS, or in-app widget. Target: 10-15% increase in card transaction frequency.</a:t>
            </a:r>
          </a:p>
        </p:txBody>
      </p:sp>
      <p:sp>
        <p:nvSpPr>
          <p:cNvPr id="7182" name="Google Shape;7182;p408"/>
          <p:cNvSpPr/>
          <p:nvPr/>
        </p:nvSpPr>
        <p:spPr>
          <a:xfrm>
            <a:off x="3271845" y="3557890"/>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Success Criteria</a:t>
            </a:r>
            <a:endParaRPr b="1" sz="1000">
              <a:solidFill>
                <a:srgbClr val="0079DB"/>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Creation of new credit card propositions and offers based on patterns of merchant spend behavior (E.g. cash back)</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Create analytical framework to calculate and deploy individual merchant recommendation offers</a:t>
            </a:r>
            <a:endParaRPr sz="90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7183" name="Google Shape;7183;p408"/>
          <p:cNvSpPr/>
          <p:nvPr/>
        </p:nvSpPr>
        <p:spPr>
          <a:xfrm>
            <a:off x="3271845" y="2334154"/>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C-Filters &amp; Basket Gen to understand the linkage among merchants based on credit card usage </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Graph analysis to visualize interaction </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800080"/>
                </a:solidFill>
              </a:rPr>
              <a:t>Enhanced: Deep learning churn prediction, multi-product churn modeling, real-time churn scoring, root cause decomposition, economic value of retention</a:t>
            </a:r>
          </a:p>
        </p:txBody>
      </p:sp>
      <p:sp>
        <p:nvSpPr>
          <p:cNvPr id="7184" name="Google Shape;7184;p408"/>
          <p:cNvSpPr/>
          <p:nvPr/>
        </p:nvSpPr>
        <p:spPr>
          <a:xfrm>
            <a:off x="423863" y="3557890"/>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Collaborating with merchants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Developing new offers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Data availability</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Data preparation</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7185" name="Google Shape;7185;p408"/>
          <p:cNvSpPr/>
          <p:nvPr/>
        </p:nvSpPr>
        <p:spPr>
          <a:xfrm>
            <a:off x="423863" y="2334154"/>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Customer data </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Credit Card TX data to understand customers’ individual buying behaviors </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Credit Card merchants Data  </a:t>
            </a:r>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006699"/>
                </a:solidFill>
              </a:rPr>
              <a:t>FSDM Sources: Churn_Score, Balance_Withdrawal_Pattern, Account_Closure, Dormancy_Flag | Pakistan: CASA silent churn, FD non-renewal, card dormancy, salary account migration</a:t>
            </a:r>
          </a:p>
          <a:p>
            <a:r>
              <a:rPr sz="800"/>
              <a:t>FSDM card transaction data by MCC and merchant, customer location (branch, home address), spending pattern history, merchant location data</a:t>
            </a:r>
          </a:p>
        </p:txBody>
      </p:sp>
      <p:sp>
        <p:nvSpPr>
          <p:cNvPr id="7186" name="Google Shape;7186;p408"/>
          <p:cNvSpPr/>
          <p:nvPr/>
        </p:nvSpPr>
        <p:spPr>
          <a:xfrm>
            <a:off x="423863" y="807897"/>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Objective / Problem Statement</a:t>
            </a:r>
            <a:endParaRPr b="1" sz="1000">
              <a:solidFill>
                <a:srgbClr val="0079DB"/>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 highly competitive Credit Card markets, more personalized services based on customers’ credit card usage are required </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But, it was not easy to recommend to each individual the most appropriate merchants.  </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Also, marketers need to verify whether credit cards were properly used for original product purpose. </a:t>
            </a:r>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47674" lvl="0" marL="108000" marR="0" rtl="0" algn="l">
              <a:spcBef>
                <a:spcPts val="300"/>
              </a:spcBef>
              <a:spcAft>
                <a:spcPts val="0"/>
              </a:spcAft>
              <a:buClr>
                <a:srgbClr val="3C3C3B"/>
              </a:buClr>
              <a:buSzPts val="950"/>
              <a:buFont typeface="Arial"/>
              <a:buNone/>
            </a:pPr>
            <a:r>
              <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r>
              <a:rPr sz="900"/>
              <a:t>Recommend relevant merchants to individual cardholders based on spending patterns, location, preferences. Increase card usage frequency and average spend.</a:t>
            </a:r>
          </a:p>
        </p:txBody>
      </p:sp>
      <p:sp>
        <p:nvSpPr>
          <p:cNvPr id="7187" name="Google Shape;7187;p408"/>
          <p:cNvSpPr/>
          <p:nvPr/>
        </p:nvSpPr>
        <p:spPr>
          <a:xfrm>
            <a:off x="6545101" y="290513"/>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rgbClr val="5F6062"/>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rPr lang="en-GB" sz="900">
                <a:solidFill>
                  <a:srgbClr val="5F6062"/>
                </a:solidFill>
                <a:latin typeface="Century Gothic"/>
                <a:ea typeface="Century Gothic"/>
                <a:cs typeface="Century Gothic"/>
                <a:sym typeface="Century Gothic"/>
              </a:rPr>
              <a:t>Banking</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p:txBody>
      </p:sp>
      <p:sp>
        <p:nvSpPr>
          <p:cNvPr id="7188" name="Google Shape;7188;p408"/>
          <p:cNvSpPr/>
          <p:nvPr/>
        </p:nvSpPr>
        <p:spPr>
          <a:xfrm>
            <a:off x="355600"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rgbClr val="EC881D"/>
                </a:solidFill>
                <a:latin typeface="Century Gothic"/>
                <a:ea typeface="Century Gothic"/>
                <a:cs typeface="Century Gothic"/>
                <a:sym typeface="Century Gothic"/>
              </a:rPr>
              <a:t>Use Case Summary</a:t>
            </a:r>
            <a:endParaRPr/>
          </a:p>
        </p:txBody>
      </p:sp>
      <p:sp>
        <p:nvSpPr>
          <p:cNvPr id="7189" name="Google Shape;7189;p408"/>
          <p:cNvSpPr txBox="1"/>
          <p:nvPr>
            <p:ph type="title"/>
          </p:nvPr>
        </p:nvSpPr>
        <p:spPr>
          <a:xfrm>
            <a:off x="423864"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000"/>
              <a:buFont typeface="Century Gothic"/>
              <a:buNone/>
            </a:pPr>
            <a:r>
              <a:rPr lang="en-GB" sz="2000"/>
              <a:t>Individualized Merchants Recommendation  </a:t>
            </a:r>
            <a:endParaRPr sz="2000"/>
          </a:p>
        </p:txBody>
      </p:sp>
      <p:sp>
        <p:nvSpPr>
          <p:cNvPr id="7190" name="Google Shape;7190;p408">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Product Development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95" name="Shape 7195"/>
        <p:cNvGrpSpPr/>
        <p:nvPr/>
      </p:nvGrpSpPr>
      <p:grpSpPr>
        <a:xfrm>
          <a:off x="0" y="0"/>
          <a:ext cx="0" cy="0"/>
          <a:chOff x="0" y="0"/>
          <a:chExt cx="0" cy="0"/>
        </a:xfrm>
      </p:grpSpPr>
      <p:cxnSp>
        <p:nvCxnSpPr>
          <p:cNvPr id="7196" name="Google Shape;7196;p409"/>
          <p:cNvCxnSpPr/>
          <p:nvPr/>
        </p:nvCxnSpPr>
        <p:spPr>
          <a:xfrm>
            <a:off x="3207394"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7197" name="Google Shape;7197;p409"/>
          <p:cNvCxnSpPr/>
          <p:nvPr/>
        </p:nvCxnSpPr>
        <p:spPr>
          <a:xfrm>
            <a:off x="6057947"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7198" name="Google Shape;7198;p409"/>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7199" name="Google Shape;7199;p409"/>
          <p:cNvSpPr/>
          <p:nvPr/>
        </p:nvSpPr>
        <p:spPr>
          <a:xfrm rot="5400000">
            <a:off x="-86832" y="2518301"/>
            <a:ext cx="299641" cy="130284"/>
          </a:xfrm>
          <a:prstGeom prst="triangle">
            <a:avLst>
              <a:gd fmla="val 50000" name="adj"/>
            </a:avLst>
          </a:prstGeom>
          <a:solidFill>
            <a:srgbClr val="C00000"/>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7200" name="Google Shape;7200;p409"/>
          <p:cNvSpPr/>
          <p:nvPr/>
        </p:nvSpPr>
        <p:spPr>
          <a:xfrm>
            <a:off x="4820082"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Improved scoring model accuracy</a:t>
            </a:r>
            <a:endParaRPr/>
          </a:p>
          <a:p>
            <a:pPr indent="-108000" lvl="0" marL="108000"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Regulatory compliance</a:t>
            </a:r>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7201" name="Google Shape;7201;p409"/>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Value proposition around improving accuracy whilst identifying tangible reasons to undertake meaningful customer dialogue</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Key to successful delivery is always the prompt to have a relevant right-time conversation </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Resulting lower losses, improved retention, future value and sales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r>
              <a:rPr sz="800"/>
              <a:t>Improve Gini coefficient by 10-20%, reduce false rejection rate by 15-25%, enable lending to 'thin-file' customers previously declined</a:t>
            </a:r>
          </a:p>
        </p:txBody>
      </p:sp>
      <p:sp>
        <p:nvSpPr>
          <p:cNvPr id="7202" name="Google Shape;7202;p409"/>
          <p:cNvSpPr/>
          <p:nvPr/>
        </p:nvSpPr>
        <p:spPr>
          <a:xfrm>
            <a:off x="3271845" y="3557890"/>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Success Criteria</a:t>
            </a:r>
            <a:endParaRPr b="1" sz="1000">
              <a:solidFill>
                <a:schemeClr val="dk2"/>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Successful validation of increase in scoring model accuracy and effectiveness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Some common measures are Gini, ROC, K-S, and Accuracy Ratio</a:t>
            </a:r>
            <a:endParaRPr sz="900">
              <a:solidFill>
                <a:schemeClr val="dk1"/>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7203" name="Google Shape;7203;p409"/>
          <p:cNvSpPr/>
          <p:nvPr/>
        </p:nvSpPr>
        <p:spPr>
          <a:xfrm>
            <a:off x="3271845" y="2334154"/>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Build current risk scoring model on advanced analytics platform</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Discovery on transactional data to find new risk attributes.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Use path analysis, SAX and SNA for discovery purpose</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Recreate models and run «out of sample» test to verify improvements on scores.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800080"/>
                </a:solidFill>
              </a:rPr>
              <a:t>Enhanced: Survival analysis, gradient-boosted churn models, retention offer optimization, value-at-risk by customer, proactive intervention triggering</a:t>
            </a:r>
          </a:p>
          <a:p>
            <a:r>
              <a:rPr sz="800"/>
              <a:t>Build enhanced scorecards: traditional credit variables + behavioral variables from FSDM. Test with out-of-sample validation. Champion/challenger deployment.</a:t>
            </a:r>
          </a:p>
        </p:txBody>
      </p:sp>
      <p:sp>
        <p:nvSpPr>
          <p:cNvPr id="7204" name="Google Shape;7204;p409"/>
          <p:cNvSpPr/>
          <p:nvPr/>
        </p:nvSpPr>
        <p:spPr>
          <a:xfrm>
            <a:off x="423863" y="3557890"/>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Determining new data points to incorporate into risk models</a:t>
            </a:r>
            <a:endParaRPr/>
          </a:p>
        </p:txBody>
      </p:sp>
      <p:sp>
        <p:nvSpPr>
          <p:cNvPr id="7205" name="Google Shape;7205;p409"/>
          <p:cNvSpPr/>
          <p:nvPr/>
        </p:nvSpPr>
        <p:spPr>
          <a:xfrm>
            <a:off x="423863" y="2334154"/>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Credit Bureau data</a:t>
            </a:r>
            <a:endParaRPr/>
          </a:p>
          <a:p>
            <a:pPr indent="-108000" lvl="0" marL="108000" marR="0" rtl="0" algn="l">
              <a:lnSpc>
                <a:spcPct val="90000"/>
              </a:lnSpc>
              <a:spcBef>
                <a:spcPts val="3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All Transactional data for different products &amp; channels</a:t>
            </a:r>
            <a:endParaRPr/>
          </a:p>
          <a:p>
            <a:pPr indent="-108000" lvl="0" marL="108000" marR="0" rtl="0" algn="l">
              <a:lnSpc>
                <a:spcPct val="90000"/>
              </a:lnSpc>
              <a:spcBef>
                <a:spcPts val="3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Customer Demographics</a:t>
            </a:r>
            <a:br>
              <a:rPr lang="en-GB" sz="800">
                <a:solidFill>
                  <a:schemeClr val="dk1"/>
                </a:solidFill>
                <a:latin typeface="Century Gothic"/>
                <a:ea typeface="Century Gothic"/>
                <a:cs typeface="Century Gothic"/>
                <a:sym typeface="Century Gothic"/>
              </a:rPr>
            </a:br>
            <a:endParaRPr sz="800">
              <a:solidFill>
                <a:schemeClr val="dk1"/>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chemeClr val="dk1"/>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chemeClr val="dk1"/>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chemeClr val="dk1"/>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chemeClr val="dk1"/>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chemeClr val="dk1"/>
              </a:solidFill>
              <a:latin typeface="Century Gothic"/>
              <a:ea typeface="Century Gothic"/>
              <a:cs typeface="Century Gothic"/>
              <a:sym typeface="Century Gothic"/>
            </a:endParaRPr>
          </a:p>
          <a:p>
            <a:r>
              <a:rPr sz="800"/>
              <a:t>ECIB bureau data, FSDM: salary credit regularity, balance volatility, RAAST/IBFT outflow patterns, merchant spend categories, overdraft frequency, cheque bounce history, mobile app login frequency</a:t>
            </a:r>
          </a:p>
        </p:txBody>
      </p:sp>
      <p:sp>
        <p:nvSpPr>
          <p:cNvPr id="7206" name="Google Shape;7206;p409"/>
          <p:cNvSpPr/>
          <p:nvPr/>
        </p:nvSpPr>
        <p:spPr>
          <a:xfrm>
            <a:off x="423863" y="807897"/>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Objective / Problem Statement</a:t>
            </a:r>
            <a:endParaRPr b="1" sz="1000">
              <a:solidFill>
                <a:schemeClr val="dk2"/>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Risk management department uses various behavioral and application risk models and scorecards to predict and make improvements in risk management. Bank want to include insights from historical transactional data to have better risk scoring models.</a:t>
            </a:r>
            <a:endParaRPr/>
          </a:p>
          <a:p>
            <a:pPr indent="-108000" lvl="0" marL="108000" marR="0" rtl="0" algn="l">
              <a:spcBef>
                <a:spcPts val="3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Due to the regulations in some markets banks are not able to develop new risk scoring models so the challenge is to do discovery on transactional data to understand path to default, path to collections, connection risks to find new attributes to be added to the current model for improved risk scores.</a:t>
            </a:r>
            <a:endParaRPr/>
          </a:p>
          <a:p>
            <a:pPr indent="-50849" lvl="0" marL="108000" marR="0" rtl="0" algn="l">
              <a:spcBef>
                <a:spcPts val="300"/>
              </a:spcBef>
              <a:spcAft>
                <a:spcPts val="0"/>
              </a:spcAft>
              <a:buClr>
                <a:srgbClr val="3C3C3B"/>
              </a:buClr>
              <a:buSzPts val="900"/>
              <a:buFont typeface="Arial"/>
              <a:buNone/>
            </a:pPr>
            <a:r>
              <a:t/>
            </a:r>
            <a:endParaRPr sz="900">
              <a:solidFill>
                <a:schemeClr val="dk1"/>
              </a:solidFill>
              <a:latin typeface="Century Gothic"/>
              <a:ea typeface="Century Gothic"/>
              <a:cs typeface="Century Gothic"/>
              <a:sym typeface="Century Gothic"/>
            </a:endParaRPr>
          </a:p>
          <a:p>
            <a:pPr indent="-50849" lvl="0" marL="108000" marR="0" rtl="0" algn="l">
              <a:spcBef>
                <a:spcPts val="300"/>
              </a:spcBef>
              <a:spcAft>
                <a:spcPts val="0"/>
              </a:spcAft>
              <a:buClr>
                <a:srgbClr val="3C3C3B"/>
              </a:buClr>
              <a:buSzPts val="900"/>
              <a:buFont typeface="Arial"/>
              <a:buNone/>
            </a:pPr>
            <a:r>
              <a:t/>
            </a:r>
            <a:endParaRPr sz="900">
              <a:solidFill>
                <a:schemeClr val="dk1"/>
              </a:solidFill>
              <a:latin typeface="Century Gothic"/>
              <a:ea typeface="Century Gothic"/>
              <a:cs typeface="Century Gothic"/>
              <a:sym typeface="Century Gothic"/>
            </a:endParaRPr>
          </a:p>
          <a:p>
            <a:pPr indent="-50849" lvl="0" marL="108000" marR="0" rtl="0" algn="l">
              <a:spcBef>
                <a:spcPts val="300"/>
              </a:spcBef>
              <a:spcAft>
                <a:spcPts val="0"/>
              </a:spcAft>
              <a:buClr>
                <a:srgbClr val="3C3C3B"/>
              </a:buClr>
              <a:buSzPts val="900"/>
              <a:buFont typeface="Arial"/>
              <a:buNone/>
            </a:pPr>
            <a:r>
              <a:t/>
            </a:r>
            <a:endParaRPr sz="900">
              <a:solidFill>
                <a:schemeClr val="dk1"/>
              </a:solidFill>
              <a:latin typeface="Century Gothic"/>
              <a:ea typeface="Century Gothic"/>
              <a:cs typeface="Century Gothic"/>
              <a:sym typeface="Century Gothic"/>
            </a:endParaRPr>
          </a:p>
          <a:p>
            <a:pPr indent="-47674" lvl="0" marL="108000" marR="0" rtl="0" algn="l">
              <a:spcBef>
                <a:spcPts val="300"/>
              </a:spcBef>
              <a:spcAft>
                <a:spcPts val="0"/>
              </a:spcAft>
              <a:buClr>
                <a:srgbClr val="3C3C3B"/>
              </a:buClr>
              <a:buSzPts val="950"/>
              <a:buFont typeface="Arial"/>
              <a:buNone/>
            </a:pPr>
            <a:r>
              <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r>
              <a:rPr sz="900"/>
              <a:t>Enhance ECIB-based credit scoring with transactional behavior data from FSDM. Pakistan's ECIB has limited data for many customers (thin-file or new-to-bureau). Adding behavioral indicators from transactions dramatically improves predictive power.</a:t>
            </a:r>
          </a:p>
        </p:txBody>
      </p:sp>
      <p:sp>
        <p:nvSpPr>
          <p:cNvPr id="7207" name="Google Shape;7207;p409"/>
          <p:cNvSpPr/>
          <p:nvPr/>
        </p:nvSpPr>
        <p:spPr>
          <a:xfrm>
            <a:off x="6545101" y="290513"/>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chemeClr val="accent6"/>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t/>
            </a:r>
            <a:endParaRPr sz="900">
              <a:solidFill>
                <a:schemeClr val="accent6"/>
              </a:solidFill>
              <a:latin typeface="Century Gothic"/>
              <a:ea typeface="Century Gothic"/>
              <a:cs typeface="Century Gothic"/>
              <a:sym typeface="Century Gothic"/>
            </a:endParaRPr>
          </a:p>
          <a:p>
            <a:pPr indent="0" lvl="0" marL="0" marR="0" rtl="0" algn="l">
              <a:spcBef>
                <a:spcPts val="0"/>
              </a:spcBef>
              <a:spcAft>
                <a:spcPts val="0"/>
              </a:spcAft>
              <a:buNone/>
            </a:pPr>
            <a:r>
              <a:t/>
            </a:r>
            <a:endParaRPr sz="900">
              <a:solidFill>
                <a:schemeClr val="accent6"/>
              </a:solidFill>
              <a:latin typeface="Century Gothic"/>
              <a:ea typeface="Century Gothic"/>
              <a:cs typeface="Century Gothic"/>
              <a:sym typeface="Century Gothic"/>
            </a:endParaRPr>
          </a:p>
          <a:p>
            <a:pPr indent="0" lvl="0" marL="0" marR="0" rtl="0" algn="l">
              <a:spcBef>
                <a:spcPts val="0"/>
              </a:spcBef>
              <a:spcAft>
                <a:spcPts val="0"/>
              </a:spcAft>
              <a:buNone/>
            </a:pPr>
            <a:r>
              <a:t/>
            </a:r>
            <a:endParaRPr sz="900">
              <a:solidFill>
                <a:schemeClr val="accent6"/>
              </a:solidFill>
              <a:latin typeface="Century Gothic"/>
              <a:ea typeface="Century Gothic"/>
              <a:cs typeface="Century Gothic"/>
              <a:sym typeface="Century Gothic"/>
            </a:endParaRPr>
          </a:p>
          <a:p>
            <a:pPr indent="0" lvl="0" marL="0" marR="0" rtl="0" algn="l">
              <a:spcBef>
                <a:spcPts val="0"/>
              </a:spcBef>
              <a:spcAft>
                <a:spcPts val="0"/>
              </a:spcAft>
              <a:buNone/>
            </a:pPr>
            <a:r>
              <a:t/>
            </a:r>
            <a:endParaRPr sz="900">
              <a:solidFill>
                <a:schemeClr val="accent6"/>
              </a:solidFill>
              <a:latin typeface="Century Gothic"/>
              <a:ea typeface="Century Gothic"/>
              <a:cs typeface="Century Gothic"/>
              <a:sym typeface="Century Gothic"/>
            </a:endParaRPr>
          </a:p>
          <a:p>
            <a:r>
              <a:rPr sz="900"/>
              <a:t>Banking Industry Best Practice</a:t>
            </a:r>
          </a:p>
        </p:txBody>
      </p:sp>
      <p:sp>
        <p:nvSpPr>
          <p:cNvPr id="7208" name="Google Shape;7208;p409"/>
          <p:cNvSpPr/>
          <p:nvPr/>
        </p:nvSpPr>
        <p:spPr>
          <a:xfrm>
            <a:off x="355600"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chemeClr val="accent1"/>
                </a:solidFill>
                <a:latin typeface="Century Gothic"/>
                <a:ea typeface="Century Gothic"/>
                <a:cs typeface="Century Gothic"/>
                <a:sym typeface="Century Gothic"/>
              </a:rPr>
              <a:t>Use Case Summary</a:t>
            </a:r>
            <a:endParaRPr sz="1000">
              <a:solidFill>
                <a:schemeClr val="accent1"/>
              </a:solidFill>
              <a:latin typeface="Century Gothic"/>
              <a:ea typeface="Century Gothic"/>
              <a:cs typeface="Century Gothic"/>
              <a:sym typeface="Century Gothic"/>
            </a:endParaRPr>
          </a:p>
        </p:txBody>
      </p:sp>
      <p:sp>
        <p:nvSpPr>
          <p:cNvPr id="7209" name="Google Shape;7209;p409"/>
          <p:cNvSpPr txBox="1"/>
          <p:nvPr>
            <p:ph type="title"/>
          </p:nvPr>
        </p:nvSpPr>
        <p:spPr>
          <a:xfrm>
            <a:off x="423864"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br>
              <a:rPr lang="en-GB" sz="2400"/>
            </a:br>
            <a:r>
              <a:rPr lang="en-GB" sz="2400"/>
              <a:t>Improvement in Risk Scoring Models</a:t>
            </a:r>
            <a:endParaRPr sz="2400"/>
          </a:p>
        </p:txBody>
      </p:sp>
      <p:sp>
        <p:nvSpPr>
          <p:cNvPr id="7210" name="Google Shape;7210;p409">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Product Development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5" name="Shape 7215"/>
        <p:cNvGrpSpPr/>
        <p:nvPr/>
      </p:nvGrpSpPr>
      <p:grpSpPr>
        <a:xfrm>
          <a:off x="0" y="0"/>
          <a:ext cx="0" cy="0"/>
          <a:chOff x="0" y="0"/>
          <a:chExt cx="0" cy="0"/>
        </a:xfrm>
      </p:grpSpPr>
      <p:cxnSp>
        <p:nvCxnSpPr>
          <p:cNvPr id="7216" name="Google Shape;7216;p410"/>
          <p:cNvCxnSpPr/>
          <p:nvPr/>
        </p:nvCxnSpPr>
        <p:spPr>
          <a:xfrm>
            <a:off x="3207394"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7217" name="Google Shape;7217;p410"/>
          <p:cNvCxnSpPr/>
          <p:nvPr/>
        </p:nvCxnSpPr>
        <p:spPr>
          <a:xfrm>
            <a:off x="6057947"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7218" name="Google Shape;7218;p410"/>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7219" name="Google Shape;7219;p410"/>
          <p:cNvSpPr/>
          <p:nvPr/>
        </p:nvSpPr>
        <p:spPr>
          <a:xfrm rot="5400000">
            <a:off x="-86832" y="2518301"/>
            <a:ext cx="299641" cy="130284"/>
          </a:xfrm>
          <a:prstGeom prst="triangle">
            <a:avLst>
              <a:gd fmla="val 50000" name="adj"/>
            </a:avLst>
          </a:prstGeom>
          <a:solidFill>
            <a:srgbClr val="C00000"/>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7220" name="Google Shape;7220;p410"/>
          <p:cNvSpPr/>
          <p:nvPr/>
        </p:nvSpPr>
        <p:spPr>
          <a:xfrm>
            <a:off x="4820082"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Improved sales conversion rates by optimising website content, layout and navigation based on Customer behavior feedback</a:t>
            </a:r>
            <a:endParaRPr/>
          </a:p>
          <a:p>
            <a:pPr indent="-108000" lvl="0" marL="108000"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Improved Customer on line experience</a:t>
            </a:r>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7221" name="Google Shape;7221;p410"/>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An understanding of how different variations of website content, layout and navigation impacts Customer on line behavior and ultimately on sales conversion rates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More streamlined and effective Customer journey leading to increased sales and more repeat visits</a:t>
            </a:r>
            <a:endParaRPr sz="800">
              <a:solidFill>
                <a:srgbClr val="3C3C3B"/>
              </a:solidFill>
              <a:latin typeface="Century Gothic"/>
              <a:ea typeface="Century Gothic"/>
              <a:cs typeface="Century Gothic"/>
              <a:sym typeface="Century Gothic"/>
            </a:endParaRPr>
          </a:p>
          <a:p>
            <a:r>
              <a:rPr sz="800"/>
              <a:t>Evidence-based digital UX optimization, reduced onboarding dropoff (target: from 40-60% to &lt;20%), improved digital product cross-sell conversion</a:t>
            </a:r>
          </a:p>
        </p:txBody>
      </p:sp>
      <p:sp>
        <p:nvSpPr>
          <p:cNvPr id="7222" name="Google Shape;7222;p410"/>
          <p:cNvSpPr/>
          <p:nvPr/>
        </p:nvSpPr>
        <p:spPr>
          <a:xfrm>
            <a:off x="3271845" y="3557890"/>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Success Criteria</a:t>
            </a:r>
            <a:endParaRPr b="1" sz="1000">
              <a:solidFill>
                <a:schemeClr val="dk2"/>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Ability to rapidly test and analyze the impact of multiple versions of web page content, layout and navigation    on real” Customers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Capture of Customer journeys through tested web pages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Visualising at session level and between test and control groups ensures the most effective versions are chosen</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0" lvl="0" marL="0" marR="0" rtl="0" algn="l">
              <a:lnSpc>
                <a:spcPct val="90000"/>
              </a:lnSpc>
              <a:spcBef>
                <a:spcPts val="300"/>
              </a:spcBef>
              <a:spcAft>
                <a:spcPts val="0"/>
              </a:spcAft>
              <a:buNone/>
            </a:pPr>
            <a:r>
              <a:t/>
            </a:r>
            <a:endParaRPr sz="900">
              <a:solidFill>
                <a:schemeClr val="dk1"/>
              </a:solidFill>
              <a:latin typeface="Century Gothic"/>
              <a:ea typeface="Century Gothic"/>
              <a:cs typeface="Century Gothic"/>
              <a:sym typeface="Century Gothic"/>
            </a:endParaRPr>
          </a:p>
          <a:p>
            <a:pPr indent="-123825" lvl="0" marL="180975" marR="0" rtl="0" algn="l">
              <a:lnSpc>
                <a:spcPct val="90000"/>
              </a:lnSpc>
              <a:spcBef>
                <a:spcPts val="45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7223" name="Google Shape;7223;p410"/>
          <p:cNvSpPr/>
          <p:nvPr/>
        </p:nvSpPr>
        <p:spPr>
          <a:xfrm>
            <a:off x="3271845" y="2334154"/>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Path analysis using Path analysis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Analysis of conversion rates through each variation</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800080"/>
                </a:solidFill>
              </a:rPr>
              <a:t>Enhanced: path analysis analysis on granular event sequences, Markov chain journey modeling, abandonment prediction, real-time journey intervention, cross-channel attribution</a:t>
            </a:r>
          </a:p>
        </p:txBody>
      </p:sp>
      <p:sp>
        <p:nvSpPr>
          <p:cNvPr id="7224" name="Google Shape;7224;p410"/>
          <p:cNvSpPr/>
          <p:nvPr/>
        </p:nvSpPr>
        <p:spPr>
          <a:xfrm>
            <a:off x="423863" y="3557890"/>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The collection, storage and analysis of large volume of data</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The ability to test and fulfilll the impacts of  multiple variations of webpages to determine the optimum version</a:t>
            </a:r>
            <a:endParaRPr/>
          </a:p>
        </p:txBody>
      </p:sp>
      <p:sp>
        <p:nvSpPr>
          <p:cNvPr id="7225" name="Google Shape;7225;p410"/>
          <p:cNvSpPr/>
          <p:nvPr/>
        </p:nvSpPr>
        <p:spPr>
          <a:xfrm>
            <a:off x="423863" y="2334154"/>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Weblog data from website using tools such as Celebrus</a:t>
            </a:r>
            <a:endParaRPr/>
          </a:p>
          <a:p>
            <a:pPr indent="-108000" lvl="0" marL="108000" marR="0" rtl="0" algn="l">
              <a:lnSpc>
                <a:spcPct val="90000"/>
              </a:lnSpc>
              <a:spcBef>
                <a:spcPts val="3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Online sales transactions</a:t>
            </a:r>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chemeClr val="dk1"/>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chemeClr val="dk1"/>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chemeClr val="dk1"/>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chemeClr val="dk1"/>
              </a:solidFill>
              <a:latin typeface="Century Gothic"/>
              <a:ea typeface="Century Gothic"/>
              <a:cs typeface="Century Gothic"/>
              <a:sym typeface="Century Gothic"/>
            </a:endParaRPr>
          </a:p>
          <a:p>
            <a:r>
              <a:rPr sz="800" i="1">
                <a:solidFill>
                  <a:srgbClr val="006699"/>
                </a:solidFill>
              </a:rPr>
              <a:t>FSDM Sources: Customer_Journey, Journey_Stage, Channel_Touchpoint, Conversion_Event | Pakistan: Account opening (branch vs Asaan Digital), loan disbursement, card activation paths</a:t>
            </a:r>
          </a:p>
          <a:p>
            <a:r>
              <a:rPr sz="800"/>
              <a:t>Mobile app event data, internet banking clickstream, onboarding funnel data, digital sales conversion data</a:t>
            </a:r>
          </a:p>
        </p:txBody>
      </p:sp>
      <p:sp>
        <p:nvSpPr>
          <p:cNvPr id="7226" name="Google Shape;7226;p410"/>
          <p:cNvSpPr/>
          <p:nvPr/>
        </p:nvSpPr>
        <p:spPr>
          <a:xfrm>
            <a:off x="423863" y="807897"/>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Objective / Problem Statement</a:t>
            </a:r>
            <a:endParaRPr b="1" sz="1000">
              <a:solidFill>
                <a:schemeClr val="dk2"/>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One of the key areas that Marketers focus on is how to improve web site performance &amp; optimise sales conversion rates.</a:t>
            </a:r>
            <a:endParaRPr/>
          </a:p>
          <a:p>
            <a:pPr indent="-108000" lvl="0" marL="108000" marR="0" rtl="0" algn="l">
              <a:spcBef>
                <a:spcPts val="3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Multivariate testing is an important way of testing how different page layouts can improve conversion rates</a:t>
            </a:r>
            <a:endParaRPr/>
          </a:p>
          <a:p>
            <a:pPr indent="-50849" lvl="0" marL="108000" marR="0" rtl="0" algn="l">
              <a:spcBef>
                <a:spcPts val="300"/>
              </a:spcBef>
              <a:spcAft>
                <a:spcPts val="0"/>
              </a:spcAft>
              <a:buClr>
                <a:srgbClr val="3C3C3B"/>
              </a:buClr>
              <a:buSzPts val="900"/>
              <a:buFont typeface="Arial"/>
              <a:buNone/>
            </a:pPr>
            <a:r>
              <a:t/>
            </a:r>
            <a:endParaRPr sz="900">
              <a:solidFill>
                <a:schemeClr val="dk1"/>
              </a:solidFill>
              <a:latin typeface="Century Gothic"/>
              <a:ea typeface="Century Gothic"/>
              <a:cs typeface="Century Gothic"/>
              <a:sym typeface="Century Gothic"/>
            </a:endParaRPr>
          </a:p>
          <a:p>
            <a:pPr indent="-50849" lvl="0" marL="108000" marR="0" rtl="0" algn="l">
              <a:spcBef>
                <a:spcPts val="300"/>
              </a:spcBef>
              <a:spcAft>
                <a:spcPts val="0"/>
              </a:spcAft>
              <a:buClr>
                <a:srgbClr val="3C3C3B"/>
              </a:buClr>
              <a:buSzPts val="900"/>
              <a:buFont typeface="Arial"/>
              <a:buNone/>
            </a:pPr>
            <a:r>
              <a:t/>
            </a:r>
            <a:endParaRPr sz="900">
              <a:solidFill>
                <a:schemeClr val="dk1"/>
              </a:solidFill>
              <a:latin typeface="Century Gothic"/>
              <a:ea typeface="Century Gothic"/>
              <a:cs typeface="Century Gothic"/>
              <a:sym typeface="Century Gothic"/>
            </a:endParaRPr>
          </a:p>
          <a:p>
            <a:pPr indent="-47674" lvl="0" marL="108000" marR="0" rtl="0" algn="l">
              <a:spcBef>
                <a:spcPts val="300"/>
              </a:spcBef>
              <a:spcAft>
                <a:spcPts val="0"/>
              </a:spcAft>
              <a:buClr>
                <a:srgbClr val="3C3C3B"/>
              </a:buClr>
              <a:buSzPts val="950"/>
              <a:buFont typeface="Arial"/>
              <a:buNone/>
            </a:pPr>
            <a:r>
              <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r>
              <a:rPr sz="900"/>
              <a:t>A/B and multivariate testing for Pakistan digital banking: test mobile app product screens, lending application flow, deposit rate display, card offer placement, onboarding funnel optimization.</a:t>
            </a:r>
          </a:p>
          <a:p>
            <a:r>
              <a:rPr sz="900"/>
              <a:t>Pakistan context: digital banking is early stage — A/B testing can yield 20-50% improvement in conversion rates because baseline is unoptimized.</a:t>
            </a:r>
          </a:p>
        </p:txBody>
      </p:sp>
      <p:sp>
        <p:nvSpPr>
          <p:cNvPr id="7227" name="Google Shape;7227;p410"/>
          <p:cNvSpPr/>
          <p:nvPr/>
        </p:nvSpPr>
        <p:spPr>
          <a:xfrm>
            <a:off x="6545101" y="290513"/>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chemeClr val="accent6"/>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rPr lang="en-GB" sz="900">
                <a:solidFill>
                  <a:schemeClr val="accent6"/>
                </a:solidFill>
                <a:latin typeface="Century Gothic"/>
                <a:ea typeface="Century Gothic"/>
                <a:cs typeface="Century Gothic"/>
                <a:sym typeface="Century Gothic"/>
              </a:rPr>
              <a:t>Web Based Retailers</a:t>
            </a:r>
            <a:endParaRPr/>
          </a:p>
          <a:p>
            <a:pPr indent="0" lvl="0" marL="0" marR="0" rtl="0" algn="l">
              <a:spcBef>
                <a:spcPts val="0"/>
              </a:spcBef>
              <a:spcAft>
                <a:spcPts val="0"/>
              </a:spcAft>
              <a:buNone/>
            </a:pPr>
            <a:r>
              <a:t/>
            </a:r>
            <a:endParaRPr sz="900">
              <a:solidFill>
                <a:schemeClr val="accent6"/>
              </a:solidFill>
              <a:latin typeface="Century Gothic"/>
              <a:ea typeface="Century Gothic"/>
              <a:cs typeface="Century Gothic"/>
              <a:sym typeface="Century Gothic"/>
            </a:endParaRPr>
          </a:p>
          <a:p>
            <a:pPr indent="0" lvl="0" marL="0" marR="0" rtl="0" algn="l">
              <a:spcBef>
                <a:spcPts val="0"/>
              </a:spcBef>
              <a:spcAft>
                <a:spcPts val="0"/>
              </a:spcAft>
              <a:buNone/>
            </a:pPr>
            <a:r>
              <a:t/>
            </a:r>
            <a:endParaRPr sz="900">
              <a:solidFill>
                <a:schemeClr val="accent6"/>
              </a:solidFill>
              <a:latin typeface="Century Gothic"/>
              <a:ea typeface="Century Gothic"/>
              <a:cs typeface="Century Gothic"/>
              <a:sym typeface="Century Gothic"/>
            </a:endParaRPr>
          </a:p>
        </p:txBody>
      </p:sp>
      <p:sp>
        <p:nvSpPr>
          <p:cNvPr id="7228" name="Google Shape;7228;p410"/>
          <p:cNvSpPr/>
          <p:nvPr/>
        </p:nvSpPr>
        <p:spPr>
          <a:xfrm>
            <a:off x="355600"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chemeClr val="accent1"/>
                </a:solidFill>
                <a:latin typeface="Century Gothic"/>
                <a:ea typeface="Century Gothic"/>
                <a:cs typeface="Century Gothic"/>
                <a:sym typeface="Century Gothic"/>
              </a:rPr>
              <a:t>Use Case Summary</a:t>
            </a:r>
            <a:endParaRPr sz="1000">
              <a:solidFill>
                <a:schemeClr val="accent1"/>
              </a:solidFill>
              <a:latin typeface="Century Gothic"/>
              <a:ea typeface="Century Gothic"/>
              <a:cs typeface="Century Gothic"/>
              <a:sym typeface="Century Gothic"/>
            </a:endParaRPr>
          </a:p>
        </p:txBody>
      </p:sp>
      <p:sp>
        <p:nvSpPr>
          <p:cNvPr id="7229" name="Google Shape;7229;p410"/>
          <p:cNvSpPr txBox="1"/>
          <p:nvPr>
            <p:ph type="title"/>
          </p:nvPr>
        </p:nvSpPr>
        <p:spPr>
          <a:xfrm>
            <a:off x="423864"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Multivariate Testing</a:t>
            </a:r>
            <a:endParaRPr sz="2400"/>
          </a:p>
        </p:txBody>
      </p:sp>
      <p:sp>
        <p:nvSpPr>
          <p:cNvPr id="7230" name="Google Shape;7230;p410">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Product Development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5" name="Shape 7235"/>
        <p:cNvGrpSpPr/>
        <p:nvPr/>
      </p:nvGrpSpPr>
      <p:grpSpPr>
        <a:xfrm>
          <a:off x="0" y="0"/>
          <a:ext cx="0" cy="0"/>
          <a:chOff x="0" y="0"/>
          <a:chExt cx="0" cy="0"/>
        </a:xfrm>
      </p:grpSpPr>
      <p:cxnSp>
        <p:nvCxnSpPr>
          <p:cNvPr id="7236" name="Google Shape;7236;p411"/>
          <p:cNvCxnSpPr/>
          <p:nvPr/>
        </p:nvCxnSpPr>
        <p:spPr>
          <a:xfrm>
            <a:off x="4576599" y="810596"/>
            <a:ext cx="0" cy="3893399"/>
          </a:xfrm>
          <a:prstGeom prst="straightConnector1">
            <a:avLst/>
          </a:prstGeom>
          <a:noFill/>
          <a:ln cap="flat" cmpd="sng" w="12700">
            <a:solidFill>
              <a:schemeClr val="lt2"/>
            </a:solidFill>
            <a:prstDash val="solid"/>
            <a:round/>
            <a:headEnd len="sm" w="sm" type="none"/>
            <a:tailEnd len="sm" w="sm" type="none"/>
          </a:ln>
        </p:spPr>
      </p:cxnSp>
      <p:sp>
        <p:nvSpPr>
          <p:cNvPr id="7237" name="Google Shape;7237;p411"/>
          <p:cNvSpPr/>
          <p:nvPr/>
        </p:nvSpPr>
        <p:spPr>
          <a:xfrm rot="5400000">
            <a:off x="-86832" y="2518301"/>
            <a:ext cx="299641" cy="130284"/>
          </a:xfrm>
          <a:prstGeom prst="triangle">
            <a:avLst>
              <a:gd fmla="val 50000" name="adj"/>
            </a:avLst>
          </a:prstGeom>
          <a:solidFill>
            <a:srgbClr val="C00000"/>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7238" name="Google Shape;7238;p411"/>
          <p:cNvSpPr txBox="1"/>
          <p:nvPr>
            <p:ph type="title"/>
          </p:nvPr>
        </p:nvSpPr>
        <p:spPr>
          <a:xfrm>
            <a:off x="423864" y="164592"/>
            <a:ext cx="6121238"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Multivariate Testing</a:t>
            </a:r>
            <a:endParaRPr sz="2400"/>
          </a:p>
        </p:txBody>
      </p:sp>
      <p:sp>
        <p:nvSpPr>
          <p:cNvPr id="7239" name="Google Shape;7239;p411"/>
          <p:cNvSpPr/>
          <p:nvPr/>
        </p:nvSpPr>
        <p:spPr>
          <a:xfrm>
            <a:off x="423863" y="2377440"/>
            <a:ext cx="4048125" cy="2326554"/>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Example Analytic: Path Analysis</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5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p:txBody>
      </p:sp>
      <p:sp>
        <p:nvSpPr>
          <p:cNvPr id="7240" name="Google Shape;7240;p411"/>
          <p:cNvSpPr/>
          <p:nvPr/>
        </p:nvSpPr>
        <p:spPr>
          <a:xfrm>
            <a:off x="6545101" y="290513"/>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chemeClr val="accent6"/>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rPr lang="en-GB" sz="900">
                <a:solidFill>
                  <a:schemeClr val="accent6"/>
                </a:solidFill>
                <a:latin typeface="Century Gothic"/>
                <a:ea typeface="Century Gothic"/>
                <a:cs typeface="Century Gothic"/>
                <a:sym typeface="Century Gothic"/>
              </a:rPr>
              <a:t>Web Based Retailers</a:t>
            </a:r>
            <a:endParaRPr/>
          </a:p>
          <a:p>
            <a:pPr indent="0" lvl="0" marL="0" marR="0" rtl="0" algn="l">
              <a:spcBef>
                <a:spcPts val="0"/>
              </a:spcBef>
              <a:spcAft>
                <a:spcPts val="0"/>
              </a:spcAft>
              <a:buNone/>
            </a:pPr>
            <a:r>
              <a:t/>
            </a:r>
            <a:endParaRPr sz="900">
              <a:solidFill>
                <a:schemeClr val="accent6"/>
              </a:solidFill>
              <a:latin typeface="Century Gothic"/>
              <a:ea typeface="Century Gothic"/>
              <a:cs typeface="Century Gothic"/>
              <a:sym typeface="Century Gothic"/>
            </a:endParaRPr>
          </a:p>
          <a:p>
            <a:pPr indent="0" lvl="0" marL="0" marR="0" rtl="0" algn="l">
              <a:spcBef>
                <a:spcPts val="0"/>
              </a:spcBef>
              <a:spcAft>
                <a:spcPts val="0"/>
              </a:spcAft>
              <a:buNone/>
            </a:pPr>
            <a:r>
              <a:t/>
            </a:r>
            <a:endParaRPr sz="900">
              <a:solidFill>
                <a:schemeClr val="accent6"/>
              </a:solidFill>
              <a:latin typeface="Century Gothic"/>
              <a:ea typeface="Century Gothic"/>
              <a:cs typeface="Century Gothic"/>
              <a:sym typeface="Century Gothic"/>
            </a:endParaRPr>
          </a:p>
        </p:txBody>
      </p:sp>
      <p:sp>
        <p:nvSpPr>
          <p:cNvPr id="7241" name="Google Shape;7241;p411"/>
          <p:cNvSpPr/>
          <p:nvPr/>
        </p:nvSpPr>
        <p:spPr>
          <a:xfrm>
            <a:off x="4820082"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Expected Outcome</a:t>
            </a:r>
            <a:endParaRPr/>
          </a:p>
          <a:p>
            <a:pPr indent="-108000" lvl="0" marL="108000" marR="0" rtl="0" algn="l">
              <a:lnSpc>
                <a:spcPct val="90000"/>
              </a:lnSpc>
              <a:spcBef>
                <a:spcPts val="5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An understanding of how different variations of website content, layout and navigation impacts Customer on line behavior and ultimately on sales conversion rates</a:t>
            </a:r>
            <a:endParaRPr/>
          </a:p>
          <a:p>
            <a:pPr indent="-108000" lvl="0" marL="108000"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More streamlined and effective Customer journey leading to increased sales and more repeat visits</a:t>
            </a:r>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7242" name="Google Shape;7242;p411"/>
          <p:cNvSpPr/>
          <p:nvPr/>
        </p:nvSpPr>
        <p:spPr>
          <a:xfrm>
            <a:off x="423863" y="807897"/>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Objective / Problem Statement</a:t>
            </a:r>
            <a:endParaRPr b="1" sz="1000">
              <a:solidFill>
                <a:schemeClr val="dk2"/>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One of the key areas that Marketers focus on is how to improve web site performance &amp; optimise sales conversion rates.</a:t>
            </a:r>
            <a:endParaRPr/>
          </a:p>
          <a:p>
            <a:pPr indent="-108000" lvl="0" marL="108000" marR="0" rtl="0" algn="l">
              <a:spcBef>
                <a:spcPts val="3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Multivariate testing is an important way of testing how different page layouts can improve conversion rates</a:t>
            </a:r>
            <a:endParaRPr/>
          </a:p>
          <a:p>
            <a:pPr indent="-50849" lvl="0" marL="108000" marR="0" rtl="0" algn="l">
              <a:spcBef>
                <a:spcPts val="300"/>
              </a:spcBef>
              <a:spcAft>
                <a:spcPts val="0"/>
              </a:spcAft>
              <a:buClr>
                <a:srgbClr val="3C3C3B"/>
              </a:buClr>
              <a:buSzPts val="900"/>
              <a:buFont typeface="Arial"/>
              <a:buNone/>
            </a:pPr>
            <a:r>
              <a:t/>
            </a:r>
            <a:endParaRPr sz="900">
              <a:solidFill>
                <a:schemeClr val="dk1"/>
              </a:solidFill>
              <a:latin typeface="Century Gothic"/>
              <a:ea typeface="Century Gothic"/>
              <a:cs typeface="Century Gothic"/>
              <a:sym typeface="Century Gothic"/>
            </a:endParaRPr>
          </a:p>
          <a:p>
            <a:pPr indent="-50849" lvl="0" marL="108000" marR="0" rtl="0" algn="l">
              <a:spcBef>
                <a:spcPts val="300"/>
              </a:spcBef>
              <a:spcAft>
                <a:spcPts val="0"/>
              </a:spcAft>
              <a:buClr>
                <a:srgbClr val="3C3C3B"/>
              </a:buClr>
              <a:buSzPts val="900"/>
              <a:buFont typeface="Arial"/>
              <a:buNone/>
            </a:pPr>
            <a:r>
              <a:t/>
            </a:r>
            <a:endParaRPr sz="900">
              <a:solidFill>
                <a:schemeClr val="dk1"/>
              </a:solidFill>
              <a:latin typeface="Century Gothic"/>
              <a:ea typeface="Century Gothic"/>
              <a:cs typeface="Century Gothic"/>
              <a:sym typeface="Century Gothic"/>
            </a:endParaRPr>
          </a:p>
          <a:p>
            <a:pPr indent="-47674" lvl="0" marL="108000" marR="0" rtl="0" algn="l">
              <a:spcBef>
                <a:spcPts val="300"/>
              </a:spcBef>
              <a:spcAft>
                <a:spcPts val="0"/>
              </a:spcAft>
              <a:buClr>
                <a:srgbClr val="3C3C3B"/>
              </a:buClr>
              <a:buSzPts val="950"/>
              <a:buFont typeface="Arial"/>
              <a:buNone/>
            </a:pPr>
            <a:r>
              <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p:txBody>
      </p:sp>
      <p:pic>
        <p:nvPicPr>
          <p:cNvPr id="7243" name="Google Shape;7243;p411"/>
          <p:cNvPicPr preferRelativeResize="0"/>
          <p:nvPr/>
        </p:nvPicPr>
        <p:blipFill rotWithShape="1">
          <a:blip r:embed="rId3">
            <a:alphaModFix/>
          </a:blip>
          <a:srcRect b="25441" l="11217" r="7231" t="22947"/>
          <a:stretch/>
        </p:blipFill>
        <p:spPr>
          <a:xfrm>
            <a:off x="468288" y="2731880"/>
            <a:ext cx="3841938" cy="1479489"/>
          </a:xfrm>
          <a:prstGeom prst="rect">
            <a:avLst/>
          </a:prstGeom>
          <a:solidFill>
            <a:srgbClr val="FFFFFF"/>
          </a:solidFill>
          <a:ln>
            <a:noFill/>
          </a:ln>
        </p:spPr>
      </p:pic>
      <p:sp>
        <p:nvSpPr>
          <p:cNvPr id="7244" name="Google Shape;7244;p411">
            <a:hlinkClick action="ppaction://hlinksldjump" r:id="rId4"/>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Product Development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49" name="Shape 7249"/>
        <p:cNvGrpSpPr/>
        <p:nvPr/>
      </p:nvGrpSpPr>
      <p:grpSpPr>
        <a:xfrm>
          <a:off x="0" y="0"/>
          <a:ext cx="0" cy="0"/>
          <a:chOff x="0" y="0"/>
          <a:chExt cx="0" cy="0"/>
        </a:xfrm>
      </p:grpSpPr>
      <p:cxnSp>
        <p:nvCxnSpPr>
          <p:cNvPr id="7250" name="Google Shape;7250;p412"/>
          <p:cNvCxnSpPr/>
          <p:nvPr/>
        </p:nvCxnSpPr>
        <p:spPr>
          <a:xfrm>
            <a:off x="3207394"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7251" name="Google Shape;7251;p412"/>
          <p:cNvCxnSpPr/>
          <p:nvPr/>
        </p:nvCxnSpPr>
        <p:spPr>
          <a:xfrm>
            <a:off x="6057947"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7252" name="Google Shape;7252;p412"/>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7253" name="Google Shape;7253;p412"/>
          <p:cNvSpPr/>
          <p:nvPr/>
        </p:nvSpPr>
        <p:spPr>
          <a:xfrm rot="5400000">
            <a:off x="-86832" y="2518301"/>
            <a:ext cx="299641" cy="130284"/>
          </a:xfrm>
          <a:prstGeom prst="triangle">
            <a:avLst>
              <a:gd fmla="val 50000" name="adj"/>
            </a:avLst>
          </a:prstGeom>
          <a:solidFill>
            <a:srgbClr val="C00000"/>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7254" name="Google Shape;7254;p412"/>
          <p:cNvSpPr/>
          <p:nvPr/>
        </p:nvSpPr>
        <p:spPr>
          <a:xfrm>
            <a:off x="4820082"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Improved breadth and depth of competitor intelligence improves quality of internal decision making</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Automated collection and identification of competitor activity allows internal decisions to be made faster </a:t>
            </a:r>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7255" name="Google Shape;7255;p412"/>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Improved market acceptance and market share by becoming more competitive</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Optimized marketing budget by understanding which area to focus on and how much budget to allocate based on the competitions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r>
              <a:rPr sz="800"/>
              <a:t>Quarterly competitor intelligence report, real-time rate comparison alerts, product gap identification, fintech threat assessment</a:t>
            </a:r>
          </a:p>
        </p:txBody>
      </p:sp>
      <p:sp>
        <p:nvSpPr>
          <p:cNvPr id="7256" name="Google Shape;7256;p412"/>
          <p:cNvSpPr/>
          <p:nvPr/>
        </p:nvSpPr>
        <p:spPr>
          <a:xfrm>
            <a:off x="3271845" y="3557890"/>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Success Criteria</a:t>
            </a:r>
            <a:endParaRPr b="1" sz="1000">
              <a:solidFill>
                <a:srgbClr val="0079DB"/>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Ability to automate the collection and identification of key competitor market activity</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Ability to integrate data from different sources to create a more comprehensive view of competitor activity and trends</a:t>
            </a:r>
            <a:endParaRPr/>
          </a:p>
          <a:p>
            <a:pPr indent="0" lvl="0" marL="0" marR="0" rtl="0" algn="l">
              <a:lnSpc>
                <a:spcPct val="90000"/>
              </a:lnSpc>
              <a:spcBef>
                <a:spcPts val="300"/>
              </a:spcBef>
              <a:spcAft>
                <a:spcPts val="0"/>
              </a:spcAft>
              <a:buNone/>
            </a:pPr>
            <a:r>
              <a:t/>
            </a:r>
            <a:endParaRPr sz="900">
              <a:solidFill>
                <a:srgbClr val="3C3C3B"/>
              </a:solidFill>
              <a:latin typeface="Century Gothic"/>
              <a:ea typeface="Century Gothic"/>
              <a:cs typeface="Century Gothic"/>
              <a:sym typeface="Century Gothic"/>
            </a:endParaRPr>
          </a:p>
          <a:p>
            <a:pPr indent="-123825" lvl="0" marL="180975" marR="0" rtl="0" algn="l">
              <a:lnSpc>
                <a:spcPct val="90000"/>
              </a:lnSpc>
              <a:spcBef>
                <a:spcPts val="45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7257" name="Google Shape;7257;p412"/>
          <p:cNvSpPr/>
          <p:nvPr/>
        </p:nvSpPr>
        <p:spPr>
          <a:xfrm>
            <a:off x="3271845" y="2334154"/>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Behavior-based segmentation to segment customers </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Text mining to identify certain key words of competitors and their current marketing programs (e.g. Bank x and travel category). Text mining to identify market sentiment </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800080"/>
                </a:solidFill>
              </a:rPr>
              <a:t>Enhanced: Dynamic micro-segmentation, ML clustering (K-means, DBSCAN), RFM + behavioral hybrid, needs-based segmentation, real-time segment migration tracking</a:t>
            </a:r>
          </a:p>
          <a:p>
            <a:r>
              <a:rPr sz="800"/>
              <a:t>NLP/text analytics on competitor reviews and social media, rate comparison dashboards, feature gap analysis, market share trend tracking (SBP data)</a:t>
            </a:r>
          </a:p>
        </p:txBody>
      </p:sp>
      <p:sp>
        <p:nvSpPr>
          <p:cNvPr id="7258" name="Google Shape;7258;p412"/>
          <p:cNvSpPr/>
          <p:nvPr/>
        </p:nvSpPr>
        <p:spPr>
          <a:xfrm>
            <a:off x="423863" y="3557890"/>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Can be challenging to match different sources of 3rd party data without hard match keys. Text analytics can be utilised to perform fuzzy match on different data sources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7259" name="Google Shape;7259;p412"/>
          <p:cNvSpPr/>
          <p:nvPr/>
        </p:nvSpPr>
        <p:spPr>
          <a:xfrm>
            <a:off x="423863" y="2334154"/>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Competitors products, pricings, marketing program data from competitors websites</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Customer data to identify target segment and their behavior</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Weblog data from public website (e.g. online news) on current marketing plan of the competitors</a:t>
            </a:r>
            <a:endParaRPr/>
          </a:p>
          <a:p>
            <a:pPr indent="-108000" lvl="0" marL="108000" marR="0" rtl="0" algn="l">
              <a:lnSpc>
                <a:spcPct val="90000"/>
              </a:lnSpc>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Social media data to identify market sentiment</a:t>
            </a:r>
            <a:br>
              <a:rPr lang="en-GB" sz="800">
                <a:solidFill>
                  <a:srgbClr val="3C3C3B"/>
                </a:solidFill>
                <a:latin typeface="Century Gothic"/>
                <a:ea typeface="Century Gothic"/>
                <a:cs typeface="Century Gothic"/>
                <a:sym typeface="Century Gothic"/>
              </a:rPr>
            </a:b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r>
              <a:rPr sz="800"/>
              <a:t>Competitor websites, app store reviews (Google Play), SBP published data (rates, financials), social media (Twitter, Facebook), job postings (indicate strategic direction), annual reports</a:t>
            </a:r>
          </a:p>
        </p:txBody>
      </p:sp>
      <p:sp>
        <p:nvSpPr>
          <p:cNvPr id="7260" name="Google Shape;7260;p412"/>
          <p:cNvSpPr/>
          <p:nvPr/>
        </p:nvSpPr>
        <p:spPr>
          <a:xfrm>
            <a:off x="423863" y="807897"/>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Objective / Problem Statement</a:t>
            </a:r>
            <a:endParaRPr b="1" sz="1000">
              <a:solidFill>
                <a:srgbClr val="0079DB"/>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When creating marketing plans, limited information about competitors can be taken into account</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The inability to have integrated, up-to-date information about competitors and their marketing programs means lack of insight &amp; analysis to protect/increase market share</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The challenge is capturing competitors data including their activities which are mainly available from the web</a:t>
            </a:r>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47674" lvl="0" marL="108000" marR="0" rtl="0" algn="l">
              <a:spcBef>
                <a:spcPts val="300"/>
              </a:spcBef>
              <a:spcAft>
                <a:spcPts val="0"/>
              </a:spcAft>
              <a:buClr>
                <a:srgbClr val="3C3C3B"/>
              </a:buClr>
              <a:buSzPts val="950"/>
              <a:buFont typeface="Arial"/>
              <a:buNone/>
            </a:pPr>
            <a:r>
              <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r>
              <a:rPr sz="900"/>
              <a:t>Monitor 33+ commercial banks, 5 full Islamic banks, 11 microfinance banks, and fintechs (JazzCash, Easypaisa, SadaPay, NayaPay, TAG) — their products, pricing, features, marketing, and customer sentiment.</a:t>
            </a:r>
          </a:p>
        </p:txBody>
      </p:sp>
      <p:sp>
        <p:nvSpPr>
          <p:cNvPr id="7261" name="Google Shape;7261;p412"/>
          <p:cNvSpPr/>
          <p:nvPr/>
        </p:nvSpPr>
        <p:spPr>
          <a:xfrm>
            <a:off x="6545101" y="290513"/>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rgbClr val="5F6062"/>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a:p>
            <a:r>
              <a:rPr sz="900"/>
              <a:t>Banking Industry Best Practice</a:t>
            </a:r>
          </a:p>
        </p:txBody>
      </p:sp>
      <p:sp>
        <p:nvSpPr>
          <p:cNvPr id="7262" name="Google Shape;7262;p412"/>
          <p:cNvSpPr/>
          <p:nvPr/>
        </p:nvSpPr>
        <p:spPr>
          <a:xfrm>
            <a:off x="355600"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rgbClr val="EC881D"/>
                </a:solidFill>
                <a:latin typeface="Century Gothic"/>
                <a:ea typeface="Century Gothic"/>
                <a:cs typeface="Century Gothic"/>
                <a:sym typeface="Century Gothic"/>
              </a:rPr>
              <a:t>Use Case Summary</a:t>
            </a:r>
            <a:endParaRPr/>
          </a:p>
        </p:txBody>
      </p:sp>
      <p:sp>
        <p:nvSpPr>
          <p:cNvPr id="7263" name="Google Shape;7263;p412"/>
          <p:cNvSpPr txBox="1"/>
          <p:nvPr>
            <p:ph type="title"/>
          </p:nvPr>
        </p:nvSpPr>
        <p:spPr>
          <a:xfrm>
            <a:off x="423864"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Competitor Analysis</a:t>
            </a:r>
            <a:endParaRPr sz="2400"/>
          </a:p>
        </p:txBody>
      </p:sp>
      <p:sp>
        <p:nvSpPr>
          <p:cNvPr id="7264" name="Google Shape;7264;p412">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Product Introduction</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9" name="Shape 7269"/>
        <p:cNvGrpSpPr/>
        <p:nvPr/>
      </p:nvGrpSpPr>
      <p:grpSpPr>
        <a:xfrm>
          <a:off x="0" y="0"/>
          <a:ext cx="0" cy="0"/>
          <a:chOff x="0" y="0"/>
          <a:chExt cx="0" cy="0"/>
        </a:xfrm>
      </p:grpSpPr>
      <p:cxnSp>
        <p:nvCxnSpPr>
          <p:cNvPr id="7270" name="Google Shape;7270;p413"/>
          <p:cNvCxnSpPr/>
          <p:nvPr/>
        </p:nvCxnSpPr>
        <p:spPr>
          <a:xfrm>
            <a:off x="3207394"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7271" name="Google Shape;7271;p413"/>
          <p:cNvCxnSpPr/>
          <p:nvPr/>
        </p:nvCxnSpPr>
        <p:spPr>
          <a:xfrm>
            <a:off x="6057947"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7272" name="Google Shape;7272;p413"/>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7273" name="Google Shape;7273;p413"/>
          <p:cNvSpPr/>
          <p:nvPr/>
        </p:nvSpPr>
        <p:spPr>
          <a:xfrm rot="5400000">
            <a:off x="-86832" y="2518301"/>
            <a:ext cx="299641" cy="130284"/>
          </a:xfrm>
          <a:prstGeom prst="triangle">
            <a:avLst>
              <a:gd fmla="val 50000" name="adj"/>
            </a:avLst>
          </a:prstGeom>
          <a:solidFill>
            <a:srgbClr val="C00000"/>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7274" name="Google Shape;7274;p413"/>
          <p:cNvSpPr/>
          <p:nvPr/>
        </p:nvSpPr>
        <p:spPr>
          <a:xfrm>
            <a:off x="4820082"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Business Benefit </a:t>
            </a:r>
            <a:endParaRPr/>
          </a:p>
          <a:p>
            <a:r>
              <a:rPr sz="900"/>
              <a:t>Improved risk-adjusted returns on lending portfolio</a:t>
            </a:r>
          </a:p>
          <a:p>
            <a:r>
              <a:rPr sz="900"/>
              <a:t>Reduced adverse selection — retain low-risk customers, price appropriately for high-risk</a:t>
            </a:r>
          </a:p>
          <a:p>
            <a:r>
              <a:rPr sz="900"/>
              <a:t>20-50bps NIM improvement potential</a:t>
            </a:r>
          </a:p>
        </p:txBody>
      </p:sp>
      <p:sp>
        <p:nvSpPr>
          <p:cNvPr id="7275" name="Google Shape;7275;p413"/>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Expected Outcome</a:t>
            </a:r>
            <a:endParaRPr/>
          </a:p>
          <a:p>
            <a:r>
              <a:rPr sz="800"/>
              <a:t>Risk-adjusted lending rates that properly compensate for credit risk</a:t>
            </a:r>
          </a:p>
          <a:p>
            <a:r>
              <a:rPr sz="800"/>
              <a:t>Reduced adverse selection</a:t>
            </a:r>
          </a:p>
          <a:p>
            <a:r>
              <a:rPr sz="800"/>
              <a:t>Improved portfolio risk-return trade-off</a:t>
            </a:r>
          </a:p>
        </p:txBody>
      </p:sp>
      <p:sp>
        <p:nvSpPr>
          <p:cNvPr id="7276" name="Google Shape;7276;p413"/>
          <p:cNvSpPr/>
          <p:nvPr/>
        </p:nvSpPr>
        <p:spPr>
          <a:xfrm>
            <a:off x="3271845" y="3557890"/>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Success Criteria</a:t>
            </a:r>
            <a:endParaRPr b="1" sz="1000">
              <a:solidFill>
                <a:schemeClr val="dk2"/>
              </a:solidFill>
              <a:latin typeface="Century Gothic"/>
              <a:ea typeface="Century Gothic"/>
              <a:cs typeface="Century Gothic"/>
              <a:sym typeface="Century Gothic"/>
            </a:endParaRPr>
          </a:p>
          <a:p>
            <a:r>
              <a:rPr sz="800"/>
              <a:t>20-50bps improvement in portfolio NIM</a:t>
            </a:r>
          </a:p>
          <a:p>
            <a:r>
              <a:rPr sz="800"/>
              <a:t>Reduced adverse selection measurable through improved loss ratios</a:t>
            </a:r>
          </a:p>
          <a:p>
            <a:r>
              <a:rPr sz="800"/>
              <a:t>Competitive retention of high-quality borrowers</a:t>
            </a:r>
          </a:p>
        </p:txBody>
      </p:sp>
      <p:sp>
        <p:nvSpPr>
          <p:cNvPr id="7277" name="Google Shape;7277;p413"/>
          <p:cNvSpPr/>
          <p:nvPr/>
        </p:nvSpPr>
        <p:spPr>
          <a:xfrm>
            <a:off x="3271845" y="2334154"/>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Methodology / Analytic Technique</a:t>
            </a:r>
            <a:endParaRPr/>
          </a:p>
          <a:p>
            <a:r>
              <a:rPr sz="800"/>
              <a:t>Risk-based pricing models combining PD (from enhanced scorecard) x LGD (from collateral and recovery data) x EAD</a:t>
            </a:r>
          </a:p>
          <a:p>
            <a:r>
              <a:rPr sz="800"/>
              <a:t>Set minimum risk-adjusted price per customer</a:t>
            </a:r>
          </a:p>
          <a:p>
            <a:r>
              <a:rPr sz="800"/>
              <a:t>Overlay with competitive pricing intelligence</a:t>
            </a:r>
          </a:p>
        </p:txBody>
      </p:sp>
      <p:sp>
        <p:nvSpPr>
          <p:cNvPr id="7278" name="Google Shape;7278;p413"/>
          <p:cNvSpPr/>
          <p:nvPr/>
        </p:nvSpPr>
        <p:spPr>
          <a:xfrm>
            <a:off x="423863" y="3557890"/>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Challenges</a:t>
            </a:r>
            <a:endParaRPr/>
          </a:p>
          <a:p>
            <a:r>
              <a:rPr sz="800"/>
              <a:t>Building granular PD/LGD models requires sufficient default history</a:t>
            </a:r>
          </a:p>
          <a:p>
            <a:r>
              <a:rPr sz="800"/>
              <a:t>Core banking system limitations for individual customer pricing</a:t>
            </a:r>
          </a:p>
          <a:p>
            <a:r>
              <a:rPr sz="800"/>
              <a:t>SBP rate regulations and minimum spread requirements</a:t>
            </a:r>
          </a:p>
        </p:txBody>
      </p:sp>
      <p:sp>
        <p:nvSpPr>
          <p:cNvPr id="7279" name="Google Shape;7279;p413"/>
          <p:cNvSpPr/>
          <p:nvPr/>
        </p:nvSpPr>
        <p:spPr>
          <a:xfrm>
            <a:off x="423863" y="2334154"/>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Source Data</a:t>
            </a:r>
            <a:endParaRPr/>
          </a:p>
          <a:p>
            <a:r>
              <a:rPr sz="800"/>
              <a:t>ECIB credit scores, FSDM behavioral risk indicators</a:t>
            </a:r>
          </a:p>
          <a:p>
            <a:r>
              <a:rPr sz="800"/>
              <a:t>Collateral valuation data, sector performance data (SBP sector-wise NPL data)</a:t>
            </a:r>
          </a:p>
          <a:p>
            <a:r>
              <a:rPr sz="800"/>
              <a:t>Geographic risk data (flood zone, security zone), macroeconomic forward indicators</a:t>
            </a:r>
          </a:p>
        </p:txBody>
      </p:sp>
      <p:sp>
        <p:nvSpPr>
          <p:cNvPr id="7280" name="Google Shape;7280;p413"/>
          <p:cNvSpPr/>
          <p:nvPr/>
        </p:nvSpPr>
        <p:spPr>
          <a:xfrm>
            <a:off x="423863" y="807897"/>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Objective / Problem Statement</a:t>
            </a:r>
            <a:endParaRPr b="1" sz="1000">
              <a:solidFill>
                <a:schemeClr val="dk2"/>
              </a:solidFill>
              <a:latin typeface="Century Gothic"/>
              <a:ea typeface="Century Gothic"/>
              <a:cs typeface="Century Gothic"/>
              <a:sym typeface="Century Gothic"/>
            </a:endParaRPr>
          </a:p>
          <a:p>
            <a:r>
              <a:rPr sz="900"/>
              <a:t>Use granular risk data to price lending products more accurately than standard KIBOR + flat spread</a:t>
            </a:r>
          </a:p>
          <a:p>
            <a:r>
              <a:rPr sz="900"/>
              <a:t>Differentiate pricing by customer risk profile, collateral quality, sector risk, and geographic risk</a:t>
            </a:r>
          </a:p>
        </p:txBody>
      </p:sp>
      <p:sp>
        <p:nvSpPr>
          <p:cNvPr id="7281" name="Google Shape;7281;p413"/>
          <p:cNvSpPr/>
          <p:nvPr/>
        </p:nvSpPr>
        <p:spPr>
          <a:xfrm>
            <a:off x="6545101" y="290513"/>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chemeClr val="accent6"/>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t/>
            </a:r>
            <a:endParaRPr sz="900">
              <a:solidFill>
                <a:schemeClr val="accent6"/>
              </a:solidFill>
              <a:latin typeface="Century Gothic"/>
              <a:ea typeface="Century Gothic"/>
              <a:cs typeface="Century Gothic"/>
              <a:sym typeface="Century Gothic"/>
            </a:endParaRPr>
          </a:p>
          <a:p>
            <a:pPr indent="0" lvl="0" marL="0" marR="0" rtl="0" algn="l">
              <a:spcBef>
                <a:spcPts val="0"/>
              </a:spcBef>
              <a:spcAft>
                <a:spcPts val="0"/>
              </a:spcAft>
              <a:buNone/>
            </a:pPr>
            <a:r>
              <a:t/>
            </a:r>
            <a:endParaRPr sz="900">
              <a:solidFill>
                <a:schemeClr val="accent6"/>
              </a:solidFill>
              <a:latin typeface="Century Gothic"/>
              <a:ea typeface="Century Gothic"/>
              <a:cs typeface="Century Gothic"/>
              <a:sym typeface="Century Gothic"/>
            </a:endParaRPr>
          </a:p>
          <a:p>
            <a:r>
              <a:rPr sz="900"/>
              <a:t>Banking Industry Best Practice</a:t>
            </a:r>
          </a:p>
        </p:txBody>
      </p:sp>
      <p:sp>
        <p:nvSpPr>
          <p:cNvPr id="7282" name="Google Shape;7282;p413"/>
          <p:cNvSpPr/>
          <p:nvPr/>
        </p:nvSpPr>
        <p:spPr>
          <a:xfrm>
            <a:off x="355600"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chemeClr val="accent1"/>
                </a:solidFill>
                <a:latin typeface="Century Gothic"/>
                <a:ea typeface="Century Gothic"/>
                <a:cs typeface="Century Gothic"/>
                <a:sym typeface="Century Gothic"/>
              </a:rPr>
              <a:t>Use Case Summary</a:t>
            </a:r>
            <a:endParaRPr sz="1000">
              <a:solidFill>
                <a:schemeClr val="accent1"/>
              </a:solidFill>
              <a:latin typeface="Century Gothic"/>
              <a:ea typeface="Century Gothic"/>
              <a:cs typeface="Century Gothic"/>
              <a:sym typeface="Century Gothic"/>
            </a:endParaRPr>
          </a:p>
        </p:txBody>
      </p:sp>
      <p:sp>
        <p:nvSpPr>
          <p:cNvPr id="7283" name="Google Shape;7283;p413"/>
          <p:cNvSpPr txBox="1"/>
          <p:nvPr>
            <p:ph type="title"/>
          </p:nvPr>
        </p:nvSpPr>
        <p:spPr>
          <a:xfrm>
            <a:off x="423864"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Advanced Risk-Based Pricing Analytics</a:t>
            </a:r>
            <a:endParaRPr sz="2400"/>
          </a:p>
        </p:txBody>
      </p:sp>
      <p:sp>
        <p:nvSpPr>
          <p:cNvPr id="7284" name="Google Shape;7284;p413">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Pricing and Promotion</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9" name="Shape 7289"/>
        <p:cNvGrpSpPr/>
        <p:nvPr/>
      </p:nvGrpSpPr>
      <p:grpSpPr>
        <a:xfrm>
          <a:off x="0" y="0"/>
          <a:ext cx="0" cy="0"/>
          <a:chOff x="0" y="0"/>
          <a:chExt cx="0" cy="0"/>
        </a:xfrm>
      </p:grpSpPr>
      <p:cxnSp>
        <p:nvCxnSpPr>
          <p:cNvPr id="7290" name="Google Shape;7290;p414"/>
          <p:cNvCxnSpPr/>
          <p:nvPr/>
        </p:nvCxnSpPr>
        <p:spPr>
          <a:xfrm>
            <a:off x="3207394"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7291" name="Google Shape;7291;p414"/>
          <p:cNvCxnSpPr/>
          <p:nvPr/>
        </p:nvCxnSpPr>
        <p:spPr>
          <a:xfrm>
            <a:off x="6057947"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7292" name="Google Shape;7292;p414"/>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7293" name="Google Shape;7293;p414"/>
          <p:cNvSpPr/>
          <p:nvPr/>
        </p:nvSpPr>
        <p:spPr>
          <a:xfrm rot="5400000">
            <a:off x="-86832" y="2518301"/>
            <a:ext cx="299641" cy="130284"/>
          </a:xfrm>
          <a:prstGeom prst="triangle">
            <a:avLst>
              <a:gd fmla="val 50000" name="adj"/>
            </a:avLst>
          </a:prstGeom>
          <a:solidFill>
            <a:srgbClr val="C00000"/>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7294" name="Google Shape;7294;p414"/>
          <p:cNvSpPr/>
          <p:nvPr/>
        </p:nvSpPr>
        <p:spPr>
          <a:xfrm>
            <a:off x="4820082"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Business Benefit </a:t>
            </a:r>
            <a:endParaRPr/>
          </a:p>
          <a:p>
            <a:r>
              <a:rPr sz="900"/>
              <a:t>Better customer retention through fairness-based pricing</a:t>
            </a:r>
          </a:p>
          <a:p>
            <a:r>
              <a:rPr sz="900"/>
              <a:t>Reduced cost-to-serve by incentivizing digital behavior</a:t>
            </a:r>
          </a:p>
          <a:p>
            <a:r>
              <a:rPr sz="900"/>
              <a:t>Improved NIM through behavioral segmentation</a:t>
            </a:r>
          </a:p>
        </p:txBody>
      </p:sp>
      <p:sp>
        <p:nvSpPr>
          <p:cNvPr id="7295" name="Google Shape;7295;p414"/>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Expected Outcome</a:t>
            </a:r>
            <a:endParaRPr/>
          </a:p>
          <a:p>
            <a:r>
              <a:rPr sz="800"/>
              <a:t>Better customer retention through fairness-based pricing</a:t>
            </a:r>
          </a:p>
          <a:p>
            <a:r>
              <a:rPr sz="800"/>
              <a:t>Reduced cost-to-serve by incentivizing digital behavior</a:t>
            </a:r>
          </a:p>
          <a:p>
            <a:r>
              <a:rPr sz="800"/>
              <a:t>Improved NIM through behavioral segmentation</a:t>
            </a:r>
          </a:p>
        </p:txBody>
      </p:sp>
      <p:sp>
        <p:nvSpPr>
          <p:cNvPr id="7296" name="Google Shape;7296;p414"/>
          <p:cNvSpPr/>
          <p:nvPr/>
        </p:nvSpPr>
        <p:spPr>
          <a:xfrm>
            <a:off x="3271845" y="3557890"/>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Success Criteria</a:t>
            </a:r>
            <a:endParaRPr b="1" sz="1000">
              <a:solidFill>
                <a:schemeClr val="dk2"/>
              </a:solidFill>
              <a:latin typeface="Century Gothic"/>
              <a:ea typeface="Century Gothic"/>
              <a:cs typeface="Century Gothic"/>
              <a:sym typeface="Century Gothic"/>
            </a:endParaRPr>
          </a:p>
          <a:p>
            <a:r>
              <a:rPr sz="800"/>
              <a:t>Measurable improvement in customer retention for high-value segments</a:t>
            </a:r>
          </a:p>
          <a:p>
            <a:r>
              <a:rPr sz="800"/>
              <a:t>15-20% increase in digital transaction ratio</a:t>
            </a:r>
          </a:p>
          <a:p>
            <a:r>
              <a:rPr sz="800"/>
              <a:t>Reduced voluntary attrition in top-tier customers</a:t>
            </a:r>
          </a:p>
        </p:txBody>
      </p:sp>
      <p:sp>
        <p:nvSpPr>
          <p:cNvPr id="7297" name="Google Shape;7297;p414"/>
          <p:cNvSpPr/>
          <p:nvPr/>
        </p:nvSpPr>
        <p:spPr>
          <a:xfrm>
            <a:off x="3271845" y="2334154"/>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Methodology / Analytic Technique</a:t>
            </a:r>
            <a:endParaRPr/>
          </a:p>
          <a:p>
            <a:r>
              <a:rPr sz="800"/>
              <a:t>Behavioral scoring models that create dynamic pricing tiers</a:t>
            </a:r>
          </a:p>
          <a:p>
            <a:r>
              <a:rPr sz="800"/>
              <a:t>Updated monthly based on trailing 6-month behavior</a:t>
            </a:r>
          </a:p>
        </p:txBody>
      </p:sp>
      <p:sp>
        <p:nvSpPr>
          <p:cNvPr id="7298" name="Google Shape;7298;p414"/>
          <p:cNvSpPr/>
          <p:nvPr/>
        </p:nvSpPr>
        <p:spPr>
          <a:xfrm>
            <a:off x="423863" y="3557890"/>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Challenges</a:t>
            </a:r>
            <a:endParaRPr/>
          </a:p>
          <a:p>
            <a:r>
              <a:rPr sz="800"/>
              <a:t>SBP minimum rate constraints</a:t>
            </a:r>
          </a:p>
          <a:p>
            <a:r>
              <a:rPr sz="800"/>
              <a:t>Customer communication of dynamic pricing</a:t>
            </a:r>
          </a:p>
          <a:p>
            <a:r>
              <a:rPr sz="800"/>
              <a:t>System capability for frequent rate changes</a:t>
            </a:r>
          </a:p>
        </p:txBody>
      </p:sp>
      <p:sp>
        <p:nvSpPr>
          <p:cNvPr id="7299" name="Google Shape;7299;p414"/>
          <p:cNvSpPr/>
          <p:nvPr/>
        </p:nvSpPr>
        <p:spPr>
          <a:xfrm>
            <a:off x="423863" y="2334154"/>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Source Data</a:t>
            </a:r>
            <a:endParaRPr/>
          </a:p>
          <a:p>
            <a:r>
              <a:rPr sz="800"/>
              <a:t>FSDM behavioral data: balance stability (coefficient of variation), digital transaction ratio</a:t>
            </a:r>
          </a:p>
          <a:p>
            <a:r>
              <a:rPr sz="800"/>
              <a:t>Product breadth, payment punctuality, salary credit consistency</a:t>
            </a:r>
          </a:p>
        </p:txBody>
      </p:sp>
      <p:sp>
        <p:nvSpPr>
          <p:cNvPr id="7300" name="Google Shape;7300;p414"/>
          <p:cNvSpPr/>
          <p:nvPr/>
        </p:nvSpPr>
        <p:spPr>
          <a:xfrm>
            <a:off x="423863" y="807897"/>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Objective / Problem Statement</a:t>
            </a:r>
            <a:endParaRPr b="1" sz="1000">
              <a:solidFill>
                <a:schemeClr val="dk2"/>
              </a:solidFill>
              <a:latin typeface="Century Gothic"/>
              <a:ea typeface="Century Gothic"/>
              <a:cs typeface="Century Gothic"/>
              <a:sym typeface="Century Gothic"/>
            </a:endParaRPr>
          </a:p>
          <a:p>
            <a:r>
              <a:rPr sz="900"/>
              <a:t>Price banking products based on actual customer behavior rather than static attributes</a:t>
            </a:r>
          </a:p>
          <a:p>
            <a:r>
              <a:rPr sz="900"/>
              <a:t>Reward positive financial behavior with better pricing</a:t>
            </a:r>
          </a:p>
          <a:p>
            <a:r>
              <a:rPr sz="900"/>
              <a:t>Pakistan context: reward customers who maintain stable balances (lower deposit cost), who transact digitally (lower cost-to-serve), who use products across categories (higher lifetime value)</a:t>
            </a:r>
          </a:p>
        </p:txBody>
      </p:sp>
      <p:sp>
        <p:nvSpPr>
          <p:cNvPr id="7301" name="Google Shape;7301;p414"/>
          <p:cNvSpPr/>
          <p:nvPr/>
        </p:nvSpPr>
        <p:spPr>
          <a:xfrm>
            <a:off x="6545101" y="290513"/>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chemeClr val="accent6"/>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t/>
            </a:r>
            <a:endParaRPr sz="900">
              <a:solidFill>
                <a:schemeClr val="accent6"/>
              </a:solidFill>
              <a:latin typeface="Century Gothic"/>
              <a:ea typeface="Century Gothic"/>
              <a:cs typeface="Century Gothic"/>
              <a:sym typeface="Century Gothic"/>
            </a:endParaRPr>
          </a:p>
          <a:p>
            <a:pPr indent="0" lvl="0" marL="0" marR="0" rtl="0" algn="l">
              <a:spcBef>
                <a:spcPts val="0"/>
              </a:spcBef>
              <a:spcAft>
                <a:spcPts val="0"/>
              </a:spcAft>
              <a:buNone/>
            </a:pPr>
            <a:r>
              <a:t/>
            </a:r>
            <a:endParaRPr sz="900">
              <a:solidFill>
                <a:schemeClr val="accent6"/>
              </a:solidFill>
              <a:latin typeface="Century Gothic"/>
              <a:ea typeface="Century Gothic"/>
              <a:cs typeface="Century Gothic"/>
              <a:sym typeface="Century Gothic"/>
            </a:endParaRPr>
          </a:p>
          <a:p>
            <a:r>
              <a:rPr sz="900"/>
              <a:t>Banking Industry Best Practice</a:t>
            </a:r>
          </a:p>
        </p:txBody>
      </p:sp>
      <p:sp>
        <p:nvSpPr>
          <p:cNvPr id="7302" name="Google Shape;7302;p414"/>
          <p:cNvSpPr/>
          <p:nvPr/>
        </p:nvSpPr>
        <p:spPr>
          <a:xfrm>
            <a:off x="355600"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chemeClr val="accent1"/>
                </a:solidFill>
                <a:latin typeface="Century Gothic"/>
                <a:ea typeface="Century Gothic"/>
                <a:cs typeface="Century Gothic"/>
                <a:sym typeface="Century Gothic"/>
              </a:rPr>
              <a:t>Use Case Summary</a:t>
            </a:r>
            <a:endParaRPr sz="1000">
              <a:solidFill>
                <a:schemeClr val="accent1"/>
              </a:solidFill>
              <a:latin typeface="Century Gothic"/>
              <a:ea typeface="Century Gothic"/>
              <a:cs typeface="Century Gothic"/>
              <a:sym typeface="Century Gothic"/>
            </a:endParaRPr>
          </a:p>
        </p:txBody>
      </p:sp>
      <p:sp>
        <p:nvSpPr>
          <p:cNvPr id="7303" name="Google Shape;7303;p414"/>
          <p:cNvSpPr txBox="1"/>
          <p:nvPr>
            <p:ph type="title"/>
          </p:nvPr>
        </p:nvSpPr>
        <p:spPr>
          <a:xfrm>
            <a:off x="423864"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100"/>
              <a:buFont typeface="Century Gothic"/>
              <a:buNone/>
            </a:pPr>
            <a:r>
              <a:rPr lang="en-GB" sz="2100"/>
              <a:t>Behavioral-Based Product Pricing</a:t>
            </a:r>
            <a:endParaRPr sz="2100"/>
          </a:p>
        </p:txBody>
      </p:sp>
      <p:sp>
        <p:nvSpPr>
          <p:cNvPr id="7304" name="Google Shape;7304;p414">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Pricing and Promotion</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09" name="Shape 7309"/>
        <p:cNvGrpSpPr/>
        <p:nvPr/>
      </p:nvGrpSpPr>
      <p:grpSpPr>
        <a:xfrm>
          <a:off x="0" y="0"/>
          <a:ext cx="0" cy="0"/>
          <a:chOff x="0" y="0"/>
          <a:chExt cx="0" cy="0"/>
        </a:xfrm>
      </p:grpSpPr>
      <p:cxnSp>
        <p:nvCxnSpPr>
          <p:cNvPr id="7310" name="Google Shape;7310;p415"/>
          <p:cNvCxnSpPr/>
          <p:nvPr/>
        </p:nvCxnSpPr>
        <p:spPr>
          <a:xfrm>
            <a:off x="3207394"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7311" name="Google Shape;7311;p415"/>
          <p:cNvCxnSpPr/>
          <p:nvPr/>
        </p:nvCxnSpPr>
        <p:spPr>
          <a:xfrm>
            <a:off x="6057947"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7312" name="Google Shape;7312;p415"/>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7313" name="Google Shape;7313;p415"/>
          <p:cNvSpPr/>
          <p:nvPr/>
        </p:nvSpPr>
        <p:spPr>
          <a:xfrm rot="5400000">
            <a:off x="-86832" y="2518301"/>
            <a:ext cx="299641" cy="130284"/>
          </a:xfrm>
          <a:prstGeom prst="triangle">
            <a:avLst>
              <a:gd fmla="val 50000" name="adj"/>
            </a:avLst>
          </a:prstGeom>
          <a:solidFill>
            <a:srgbClr val="C00000"/>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7314" name="Google Shape;7314;p415"/>
          <p:cNvSpPr/>
          <p:nvPr/>
        </p:nvSpPr>
        <p:spPr>
          <a:xfrm>
            <a:off x="4820082"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Reduced credit risk and increased new business pipeline </a:t>
            </a:r>
            <a:endParaRPr/>
          </a:p>
          <a:p>
            <a:pPr indent="-108000" lvl="0" marL="108000"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Improved understanding of customers</a:t>
            </a:r>
            <a:endParaRPr/>
          </a:p>
          <a:p>
            <a:pPr indent="-108000" lvl="0" marL="108000"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Facilitates better underwriting processes</a:t>
            </a:r>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7315" name="Google Shape;7315;p415"/>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Increased acceptance and improved terms-of-business for credit applicants – bring more facilities on-book, provide more applicable limits, more relevant pricing</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Solicitation of new customers – through third-party partnerships, solicit customers previously not touched by marketing efforts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Decreased loss rates - by better identification of risk on applicants with limited information</a:t>
            </a:r>
            <a:endParaRPr sz="800">
              <a:solidFill>
                <a:srgbClr val="3C3C3B"/>
              </a:solidFill>
              <a:latin typeface="Century Gothic"/>
              <a:ea typeface="Century Gothic"/>
              <a:cs typeface="Century Gothic"/>
              <a:sym typeface="Century Gothic"/>
            </a:endParaRPr>
          </a:p>
          <a:p>
            <a:r>
              <a:rPr sz="800"/>
              <a:t>Expand addressable lending market from 30M (current bank customers) to 80M+ (include mobile wallet users). Enable nano-lending (PKR 5K-50K) via digital channel.</a:t>
            </a:r>
          </a:p>
        </p:txBody>
      </p:sp>
      <p:sp>
        <p:nvSpPr>
          <p:cNvPr id="7316" name="Google Shape;7316;p415"/>
          <p:cNvSpPr/>
          <p:nvPr/>
        </p:nvSpPr>
        <p:spPr>
          <a:xfrm>
            <a:off x="3271845" y="3973500"/>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Success Criteria</a:t>
            </a:r>
            <a:endParaRPr b="1" sz="1000">
              <a:solidFill>
                <a:schemeClr val="dk2"/>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Successful validation of new-to-lending rules and credit risk criteria </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0" lvl="0" marL="0" marR="0" rtl="0" algn="l">
              <a:lnSpc>
                <a:spcPct val="90000"/>
              </a:lnSpc>
              <a:spcBef>
                <a:spcPts val="300"/>
              </a:spcBef>
              <a:spcAft>
                <a:spcPts val="0"/>
              </a:spcAft>
              <a:buNone/>
            </a:pPr>
            <a:r>
              <a:t/>
            </a:r>
            <a:endParaRPr sz="900">
              <a:solidFill>
                <a:schemeClr val="dk1"/>
              </a:solidFill>
              <a:latin typeface="Century Gothic"/>
              <a:ea typeface="Century Gothic"/>
              <a:cs typeface="Century Gothic"/>
              <a:sym typeface="Century Gothic"/>
            </a:endParaRPr>
          </a:p>
          <a:p>
            <a:pPr indent="-123825" lvl="0" marL="180975" marR="0" rtl="0" algn="l">
              <a:lnSpc>
                <a:spcPct val="90000"/>
              </a:lnSpc>
              <a:spcBef>
                <a:spcPts val="45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7317" name="Google Shape;7317;p415"/>
          <p:cNvSpPr/>
          <p:nvPr/>
        </p:nvSpPr>
        <p:spPr>
          <a:xfrm>
            <a:off x="3237978" y="2514778"/>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Data mining and aggregation of ‘big data’ into risk modeling data set</a:t>
            </a:r>
            <a:endParaRPr/>
          </a:p>
          <a:p>
            <a:pPr indent="-108000" lvl="0" marL="108000" marR="0" rtl="0" algn="l">
              <a:spcBef>
                <a:spcPts val="1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Credit modeling – traditional linear and logistic vs. alternatives</a:t>
            </a:r>
            <a:endParaRPr/>
          </a:p>
          <a:p>
            <a:pPr indent="-108000" lvl="0" marL="108000" marR="0" rtl="0" algn="l">
              <a:spcBef>
                <a:spcPts val="1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Model deployment and Champion/Challenger testing</a:t>
            </a:r>
            <a:endParaRPr/>
          </a:p>
          <a:p>
            <a:pPr indent="-57199" lvl="0" marL="108000" marR="0" rtl="0" algn="l">
              <a:spcBef>
                <a:spcPts val="1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800080"/>
                </a:solidFill>
              </a:rPr>
              <a:t>Enhanced: Survival analysis, gradient-boosted retention models, early warning indicators, intervention optimization, retention ROI measurement</a:t>
            </a:r>
          </a:p>
          <a:p>
            <a:r>
              <a:rPr sz="800"/>
              <a:t>Alternative data credit scoring: ML models trained on default outcomes of thin-file customers who were subsequently lent to. Feature engineering from mobile wallet and utility payment regularity.</a:t>
            </a:r>
          </a:p>
        </p:txBody>
      </p:sp>
      <p:sp>
        <p:nvSpPr>
          <p:cNvPr id="7318" name="Google Shape;7318;p415"/>
          <p:cNvSpPr/>
          <p:nvPr/>
        </p:nvSpPr>
        <p:spPr>
          <a:xfrm>
            <a:off x="436298" y="3940752"/>
            <a:ext cx="287438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Data quality and completeness Integrating various data points from siloed data sources Lack of reliable third party data .Regulatory challenges with data sharing Costs of purchasing data Striking mutually beneficial partnerships with third parties. Deployment and monitoring</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7319" name="Google Shape;7319;p415"/>
          <p:cNvSpPr/>
          <p:nvPr/>
        </p:nvSpPr>
        <p:spPr>
          <a:xfrm>
            <a:off x="438150" y="2350264"/>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Source Data</a:t>
            </a:r>
            <a:endParaRPr/>
          </a:p>
          <a:p>
            <a:pPr indent="-108000" lvl="0" marL="108000" marR="0" rtl="0" algn="l">
              <a:lnSpc>
                <a:spcPct val="100000"/>
              </a:lnSpc>
              <a:spcBef>
                <a:spcPts val="4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External party’s provision of data, and/or potential solicitation partnering. -e.g. credit services through mobile phones</a:t>
            </a:r>
            <a:endParaRPr/>
          </a:p>
          <a:p>
            <a:pPr indent="-108000" lvl="0" marL="108000" marR="0" rtl="0" algn="l">
              <a:lnSpc>
                <a:spcPct val="100000"/>
              </a:lnSpc>
              <a:spcBef>
                <a:spcPts val="1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Telecommunications e.g. mobile usage, payment patterns  to predict loan repayment</a:t>
            </a:r>
            <a:endParaRPr/>
          </a:p>
          <a:p>
            <a:pPr indent="-108000" lvl="0" marL="108000" marR="0" rtl="0" algn="l">
              <a:lnSpc>
                <a:spcPct val="100000"/>
              </a:lnSpc>
              <a:spcBef>
                <a:spcPts val="1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Utilities e.g. payment patterns &amp; usage to predict loan repayment</a:t>
            </a:r>
            <a:endParaRPr/>
          </a:p>
          <a:p>
            <a:pPr indent="-108000" lvl="0" marL="108000" marR="0" rtl="0" algn="l">
              <a:lnSpc>
                <a:spcPct val="100000"/>
              </a:lnSpc>
              <a:spcBef>
                <a:spcPts val="1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Wholesale &amp; Retailers e.g. customer , POS, product </a:t>
            </a:r>
            <a:endParaRPr/>
          </a:p>
          <a:p>
            <a:pPr indent="-108000" lvl="0" marL="108000" marR="0" rtl="0" algn="l">
              <a:lnSpc>
                <a:spcPct val="100000"/>
              </a:lnSpc>
              <a:spcBef>
                <a:spcPts val="1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Internal data – e.g. Weblog data on non-lending customers</a:t>
            </a:r>
            <a:endParaRPr/>
          </a:p>
          <a:p>
            <a:pPr indent="-108000" lvl="0" marL="108000" marR="0" rtl="0" algn="l">
              <a:lnSpc>
                <a:spcPct val="100000"/>
              </a:lnSpc>
              <a:spcBef>
                <a:spcPts val="1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Traditional credit scoring data – Applicant, customer, bureau</a:t>
            </a:r>
            <a:endParaRPr/>
          </a:p>
          <a:p>
            <a:pPr indent="-57199" lvl="0" marL="108000" marR="0" rtl="0" algn="l">
              <a:lnSpc>
                <a:spcPct val="90000"/>
              </a:lnSpc>
              <a:spcBef>
                <a:spcPts val="100"/>
              </a:spcBef>
              <a:spcAft>
                <a:spcPts val="0"/>
              </a:spcAft>
              <a:buClr>
                <a:schemeClr val="dk1"/>
              </a:buClr>
              <a:buSzPts val="800"/>
              <a:buFont typeface="Arial"/>
              <a:buNone/>
            </a:pPr>
            <a:r>
              <a:t/>
            </a:r>
            <a:endParaRPr sz="800">
              <a:solidFill>
                <a:schemeClr val="dk1"/>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chemeClr val="dk1"/>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chemeClr val="dk1"/>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chemeClr val="dk1"/>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chemeClr val="dk1"/>
              </a:solidFill>
              <a:latin typeface="Century Gothic"/>
              <a:ea typeface="Century Gothic"/>
              <a:cs typeface="Century Gothic"/>
              <a:sym typeface="Century Gothic"/>
            </a:endParaRPr>
          </a:p>
          <a:p>
            <a:r>
              <a:rPr sz="800"/>
              <a:t>Mobile wallet transaction data (JazzCash/Easypaisa), utility payment history (K-Electric, SSGC, SNGPL), telecom usage/payment data (Jazz, Telenor, Zong), RAAST P2P patterns, NADRA demographic data, employer verification, social media (with consent)</a:t>
            </a:r>
          </a:p>
        </p:txBody>
      </p:sp>
      <p:sp>
        <p:nvSpPr>
          <p:cNvPr id="7320" name="Google Shape;7320;p415"/>
          <p:cNvSpPr/>
          <p:nvPr/>
        </p:nvSpPr>
        <p:spPr>
          <a:xfrm>
            <a:off x="423863" y="807897"/>
            <a:ext cx="3957637" cy="1122503"/>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Objective / Problem Statement</a:t>
            </a:r>
            <a:endParaRPr b="1" sz="1000">
              <a:solidFill>
                <a:schemeClr val="dk2"/>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Lending to individuals with no current loan relationship  and no prior lending history in bureau. Bank has little information to make sound lending decisions. </a:t>
            </a:r>
            <a:endParaRPr/>
          </a:p>
          <a:p>
            <a:pPr indent="-108000" lvl="0" marL="108000" marR="0" rtl="0" algn="l">
              <a:spcBef>
                <a:spcPts val="3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Customers are treated conservatively with default terms-of-business e.g. either decline, or accept with low limits/high pricing. </a:t>
            </a:r>
            <a:endParaRPr/>
          </a:p>
          <a:p>
            <a:pPr indent="-108000" lvl="0" marL="108000" marR="0" rtl="0" algn="l">
              <a:spcBef>
                <a:spcPts val="3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Third-party sources of ‘big-data’ for new data for credit modeling. Alternatively, mutual partnerships with third party suppliers can be made to leverage supplier platforms to solicit business e.g. Rewards cards to retail customers, credit offers to mobile phone customers </a:t>
            </a:r>
            <a:endParaRPr/>
          </a:p>
          <a:p>
            <a:r>
              <a:rPr sz="900"/>
              <a:t>Pakistan has 150M+ adults with no formal credit history. Build credit models using alternative data to enable lending to the unbanked and underbanked — SBP financial inclusion mandate.</a:t>
            </a:r>
          </a:p>
        </p:txBody>
      </p:sp>
      <p:sp>
        <p:nvSpPr>
          <p:cNvPr id="7321" name="Google Shape;7321;p415"/>
          <p:cNvSpPr/>
          <p:nvPr/>
        </p:nvSpPr>
        <p:spPr>
          <a:xfrm>
            <a:off x="6545101" y="290513"/>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chemeClr val="accent6"/>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t/>
            </a:r>
            <a:endParaRPr sz="900">
              <a:solidFill>
                <a:schemeClr val="accent6"/>
              </a:solidFill>
              <a:latin typeface="Century Gothic"/>
              <a:ea typeface="Century Gothic"/>
              <a:cs typeface="Century Gothic"/>
              <a:sym typeface="Century Gothic"/>
            </a:endParaRPr>
          </a:p>
          <a:p>
            <a:pPr indent="0" lvl="0" marL="0" marR="0" rtl="0" algn="l">
              <a:spcBef>
                <a:spcPts val="0"/>
              </a:spcBef>
              <a:spcAft>
                <a:spcPts val="0"/>
              </a:spcAft>
              <a:buNone/>
            </a:pPr>
            <a:r>
              <a:t/>
            </a:r>
            <a:endParaRPr sz="900">
              <a:solidFill>
                <a:schemeClr val="accent6"/>
              </a:solidFill>
              <a:latin typeface="Century Gothic"/>
              <a:ea typeface="Century Gothic"/>
              <a:cs typeface="Century Gothic"/>
              <a:sym typeface="Century Gothic"/>
            </a:endParaRPr>
          </a:p>
          <a:p>
            <a:r>
              <a:rPr sz="900"/>
              <a:t>Banking Industry Best Practice</a:t>
            </a:r>
          </a:p>
        </p:txBody>
      </p:sp>
      <p:sp>
        <p:nvSpPr>
          <p:cNvPr id="7322" name="Google Shape;7322;p415"/>
          <p:cNvSpPr/>
          <p:nvPr/>
        </p:nvSpPr>
        <p:spPr>
          <a:xfrm>
            <a:off x="355600"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chemeClr val="accent1"/>
                </a:solidFill>
                <a:latin typeface="Century Gothic"/>
                <a:ea typeface="Century Gothic"/>
                <a:cs typeface="Century Gothic"/>
                <a:sym typeface="Century Gothic"/>
              </a:rPr>
              <a:t>Use Case Summary</a:t>
            </a:r>
            <a:endParaRPr sz="1000">
              <a:solidFill>
                <a:schemeClr val="accent1"/>
              </a:solidFill>
              <a:latin typeface="Century Gothic"/>
              <a:ea typeface="Century Gothic"/>
              <a:cs typeface="Century Gothic"/>
              <a:sym typeface="Century Gothic"/>
            </a:endParaRPr>
          </a:p>
        </p:txBody>
      </p:sp>
      <p:sp>
        <p:nvSpPr>
          <p:cNvPr id="7323" name="Google Shape;7323;p415"/>
          <p:cNvSpPr txBox="1"/>
          <p:nvPr>
            <p:ph type="title"/>
          </p:nvPr>
        </p:nvSpPr>
        <p:spPr>
          <a:xfrm>
            <a:off x="423864" y="164592"/>
            <a:ext cx="6484936"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000"/>
              <a:buFont typeface="Century Gothic"/>
              <a:buNone/>
            </a:pPr>
            <a:br>
              <a:rPr lang="en-GB" sz="2000"/>
            </a:br>
            <a:r>
              <a:rPr lang="en-GB" sz="2000"/>
              <a:t>Credit Risk Models for ‘New-to-Lending’ Customers</a:t>
            </a:r>
            <a:endParaRPr sz="2000"/>
          </a:p>
        </p:txBody>
      </p:sp>
      <p:sp>
        <p:nvSpPr>
          <p:cNvPr id="7324" name="Google Shape;7324;p415">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Pricing and Promotion</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9" name="Shape 7329"/>
        <p:cNvGrpSpPr/>
        <p:nvPr/>
      </p:nvGrpSpPr>
      <p:grpSpPr>
        <a:xfrm>
          <a:off x="0" y="0"/>
          <a:ext cx="0" cy="0"/>
          <a:chOff x="0" y="0"/>
          <a:chExt cx="0" cy="0"/>
        </a:xfrm>
      </p:grpSpPr>
      <p:cxnSp>
        <p:nvCxnSpPr>
          <p:cNvPr id="7330" name="Google Shape;7330;p416"/>
          <p:cNvCxnSpPr/>
          <p:nvPr/>
        </p:nvCxnSpPr>
        <p:spPr>
          <a:xfrm>
            <a:off x="3207394"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7331" name="Google Shape;7331;p416"/>
          <p:cNvCxnSpPr/>
          <p:nvPr/>
        </p:nvCxnSpPr>
        <p:spPr>
          <a:xfrm>
            <a:off x="6057947"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7332" name="Google Shape;7332;p416"/>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7333" name="Google Shape;7333;p416"/>
          <p:cNvSpPr/>
          <p:nvPr/>
        </p:nvSpPr>
        <p:spPr>
          <a:xfrm rot="5400000">
            <a:off x="-86832" y="2518301"/>
            <a:ext cx="299641" cy="130284"/>
          </a:xfrm>
          <a:prstGeom prst="triangle">
            <a:avLst>
              <a:gd fmla="val 50000" name="adj"/>
            </a:avLst>
          </a:prstGeom>
          <a:solidFill>
            <a:srgbClr val="C00000"/>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7334" name="Google Shape;7334;p416"/>
          <p:cNvSpPr/>
          <p:nvPr/>
        </p:nvSpPr>
        <p:spPr>
          <a:xfrm>
            <a:off x="4820082"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Improved sales/margin $ per customer</a:t>
            </a:r>
            <a:endParaRPr/>
          </a:p>
          <a:p>
            <a:pPr indent="-108000" lvl="0" marL="108000"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Increased market basket spend</a:t>
            </a:r>
            <a:endParaRPr/>
          </a:p>
          <a:p>
            <a:pPr indent="-108000" lvl="0" marL="108000"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Higher conversion rates</a:t>
            </a:r>
            <a:endParaRPr/>
          </a:p>
          <a:p>
            <a:pPr indent="-108000" lvl="0" marL="108000"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Improved targeting of promotions and messaging</a:t>
            </a:r>
            <a:endParaRPr/>
          </a:p>
          <a:p>
            <a:pPr indent="-108000" lvl="0" marL="108000"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Deeper understanding of customer purchase behavior across all channels of business</a:t>
            </a:r>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7335" name="Google Shape;7335;p416"/>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Identify Omni-Channel purchase patterns to better understand customer behavior and spend preference</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Segment customers across all channels to define and personalize relevant target offers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Understand  the impact of digital couponing on promotional effectiveness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Full Engagement Deliverables</a:t>
            </a:r>
            <a:endParaRPr/>
          </a:p>
          <a:p>
            <a:pPr indent="-108000" lvl="1" marL="565200" marR="0" rtl="0" algn="l">
              <a:spcBef>
                <a:spcPts val="300"/>
              </a:spcBef>
              <a:spcAft>
                <a:spcPts val="0"/>
              </a:spcAft>
              <a:buClr>
                <a:srgbClr val="3C3C3B"/>
              </a:buClr>
              <a:buSzPts val="800"/>
              <a:buFont typeface="Arial"/>
              <a:buChar char="•"/>
            </a:pPr>
            <a:r>
              <a:rPr b="0" i="0" lang="en-GB" sz="800" u="none" cap="none" strike="noStrike">
                <a:solidFill>
                  <a:srgbClr val="3C3C3B"/>
                </a:solidFill>
                <a:latin typeface="Century Gothic"/>
                <a:ea typeface="Century Gothic"/>
                <a:cs typeface="Century Gothic"/>
                <a:sym typeface="Century Gothic"/>
              </a:rPr>
              <a:t>Production grade analytics, integrated into campaign delivery or advertising</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r>
              <a:rPr sz="800"/>
              <a:t>Channel-level product sales dashboard: which products sell on which channels? Where are the dropoffs? Which channels are cannibalizing (intended or not)?</a:t>
            </a:r>
          </a:p>
        </p:txBody>
      </p:sp>
      <p:sp>
        <p:nvSpPr>
          <p:cNvPr id="7336" name="Google Shape;7336;p416"/>
          <p:cNvSpPr/>
          <p:nvPr/>
        </p:nvSpPr>
        <p:spPr>
          <a:xfrm>
            <a:off x="3271845" y="3557890"/>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Success Criteria</a:t>
            </a:r>
            <a:endParaRPr b="1" sz="1000">
              <a:solidFill>
                <a:schemeClr val="dk2"/>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Document Omni-Channel purchase patterns to better understand customer behavior and  spend preference, digital coupon  influence</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Measure  impact of promotion activity and spend patterns to fine-tune sales planning and optimize results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Segment customers across all channels to define and personalize targeting approach</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0" lvl="0" marL="0" marR="0" rtl="0" algn="l">
              <a:lnSpc>
                <a:spcPct val="90000"/>
              </a:lnSpc>
              <a:spcBef>
                <a:spcPts val="300"/>
              </a:spcBef>
              <a:spcAft>
                <a:spcPts val="0"/>
              </a:spcAft>
              <a:buNone/>
            </a:pPr>
            <a:r>
              <a:t/>
            </a:r>
            <a:endParaRPr sz="900">
              <a:solidFill>
                <a:schemeClr val="dk1"/>
              </a:solidFill>
              <a:latin typeface="Century Gothic"/>
              <a:ea typeface="Century Gothic"/>
              <a:cs typeface="Century Gothic"/>
              <a:sym typeface="Century Gothic"/>
            </a:endParaRPr>
          </a:p>
          <a:p>
            <a:pPr indent="-123825" lvl="0" marL="180975" marR="0" rtl="0" algn="l">
              <a:lnSpc>
                <a:spcPct val="90000"/>
              </a:lnSpc>
              <a:spcBef>
                <a:spcPts val="45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7337" name="Google Shape;7337;p416"/>
          <p:cNvSpPr/>
          <p:nvPr/>
        </p:nvSpPr>
        <p:spPr>
          <a:xfrm>
            <a:off x="3271845" y="2334154"/>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Leveraging a discovery platform to </a:t>
            </a:r>
            <a:br>
              <a:rPr lang="en-GB" sz="800">
                <a:solidFill>
                  <a:srgbClr val="3C3C3B"/>
                </a:solidFill>
                <a:latin typeface="Century Gothic"/>
                <a:ea typeface="Century Gothic"/>
                <a:cs typeface="Century Gothic"/>
                <a:sym typeface="Century Gothic"/>
              </a:rPr>
            </a:br>
            <a:r>
              <a:rPr lang="en-GB" sz="800">
                <a:solidFill>
                  <a:srgbClr val="3C3C3B"/>
                </a:solidFill>
                <a:latin typeface="Century Gothic"/>
                <a:ea typeface="Century Gothic"/>
                <a:cs typeface="Century Gothic"/>
                <a:sym typeface="Century Gothic"/>
              </a:rPr>
              <a:t>perform “Path  and Graph Analysis” </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Key Metrics; Conversion rate -  Web, Store, Mobile, Social, Sales and Margin $</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Channel segmentation</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800080"/>
                </a:solidFill>
              </a:rPr>
              <a:t>Enhanced: Dynamic micro-segmentation, ML clustering (K-means, DBSCAN), RFM + behavioral hybrid, needs-based segmentation, real-time segment migration tracking</a:t>
            </a:r>
          </a:p>
        </p:txBody>
      </p:sp>
      <p:sp>
        <p:nvSpPr>
          <p:cNvPr id="7338" name="Google Shape;7338;p416"/>
          <p:cNvSpPr/>
          <p:nvPr/>
        </p:nvSpPr>
        <p:spPr>
          <a:xfrm>
            <a:off x="423863" y="3557890"/>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Large sets of multi structured data</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Data discovery can require specialized skills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Online browsing data hard to gather</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Proper tagging of digital attributes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7339" name="Google Shape;7339;p416"/>
          <p:cNvSpPr/>
          <p:nvPr/>
        </p:nvSpPr>
        <p:spPr>
          <a:xfrm>
            <a:off x="423863" y="2334154"/>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Transaction, detail (POS and On Line)</a:t>
            </a:r>
            <a:endParaRPr/>
          </a:p>
          <a:p>
            <a:pPr indent="-108000" lvl="0" marL="108000" marR="0" rtl="0" algn="l">
              <a:lnSpc>
                <a:spcPct val="90000"/>
              </a:lnSpc>
              <a:spcBef>
                <a:spcPts val="3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Activity data of all customer touch points – mobile, web, web-site, store, POS, Kiosk</a:t>
            </a:r>
            <a:endParaRPr/>
          </a:p>
          <a:p>
            <a:pPr indent="-108000" lvl="0" marL="108000" marR="0" rtl="0" algn="l">
              <a:lnSpc>
                <a:spcPct val="90000"/>
              </a:lnSpc>
              <a:spcBef>
                <a:spcPts val="3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Enable near real time data capture to support timely, targeted offers to customers</a:t>
            </a:r>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chemeClr val="dk1"/>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chemeClr val="dk1"/>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chemeClr val="dk1"/>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chemeClr val="dk1"/>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chemeClr val="dk1"/>
              </a:solidFill>
              <a:latin typeface="Century Gothic"/>
              <a:ea typeface="Century Gothic"/>
              <a:cs typeface="Century Gothic"/>
              <a:sym typeface="Century Gothic"/>
            </a:endParaRPr>
          </a:p>
          <a:p>
            <a:r>
              <a:rPr sz="800"/>
              <a:t>FSDM: product origination channel tag, branch sales register, mobile app funnel data, internet banking applications, call center lead data, agent network transaction data</a:t>
            </a:r>
          </a:p>
        </p:txBody>
      </p:sp>
      <p:sp>
        <p:nvSpPr>
          <p:cNvPr id="7340" name="Google Shape;7340;p416"/>
          <p:cNvSpPr/>
          <p:nvPr/>
        </p:nvSpPr>
        <p:spPr>
          <a:xfrm>
            <a:off x="423863" y="807897"/>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Objective / Problem Statement</a:t>
            </a:r>
            <a:endParaRPr b="1" sz="1000">
              <a:solidFill>
                <a:schemeClr val="dk2"/>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Understand customer purchase behavior across channels leveraging all available transaction data..In store, Web, Mobile and Social</a:t>
            </a:r>
            <a:endParaRPr/>
          </a:p>
          <a:p>
            <a:pPr indent="-108000" lvl="0" marL="108000" marR="0" rtl="0" algn="l">
              <a:spcBef>
                <a:spcPts val="3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Understand impact of digital couponing and social media promotions on in-store behavior</a:t>
            </a:r>
            <a:endParaRPr/>
          </a:p>
          <a:p>
            <a:pPr indent="-108000" lvl="0" marL="108000" marR="0" rtl="0" algn="l">
              <a:spcBef>
                <a:spcPts val="3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Develop segmentation strategies that include all channels of sales</a:t>
            </a:r>
            <a:endParaRPr/>
          </a:p>
          <a:p>
            <a:pPr indent="-47674" lvl="0" marL="108000" marR="0" rtl="0" algn="l">
              <a:spcBef>
                <a:spcPts val="300"/>
              </a:spcBef>
              <a:spcAft>
                <a:spcPts val="0"/>
              </a:spcAft>
              <a:buClr>
                <a:srgbClr val="3C3C3B"/>
              </a:buClr>
              <a:buSzPts val="950"/>
              <a:buFont typeface="Arial"/>
              <a:buNone/>
            </a:pPr>
            <a:r>
              <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r>
              <a:rPr sz="900"/>
              <a:t>Unified view of product sales across all Pakistan banking channels: branch (16,000+), mobile app, internet banking, call center, agent network (branchless), ATM/kiosk, employer partnership (salary accounts), RAAST onboarding.</a:t>
            </a:r>
          </a:p>
        </p:txBody>
      </p:sp>
      <p:sp>
        <p:nvSpPr>
          <p:cNvPr id="7341" name="Google Shape;7341;p416"/>
          <p:cNvSpPr/>
          <p:nvPr/>
        </p:nvSpPr>
        <p:spPr>
          <a:xfrm>
            <a:off x="6545101" y="290513"/>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chemeClr val="accent6"/>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rPr lang="en-GB" sz="900">
                <a:solidFill>
                  <a:schemeClr val="accent6"/>
                </a:solidFill>
                <a:latin typeface="Century Gothic"/>
                <a:ea typeface="Century Gothic"/>
                <a:cs typeface="Century Gothic"/>
                <a:sym typeface="Century Gothic"/>
              </a:rPr>
              <a:t>Thought  Leadership</a:t>
            </a:r>
            <a:endParaRPr/>
          </a:p>
          <a:p>
            <a:pPr indent="0" lvl="0" marL="0" marR="0" rtl="0" algn="l">
              <a:spcBef>
                <a:spcPts val="0"/>
              </a:spcBef>
              <a:spcAft>
                <a:spcPts val="0"/>
              </a:spcAft>
              <a:buNone/>
            </a:pPr>
            <a:r>
              <a:t/>
            </a:r>
            <a:endParaRPr sz="900">
              <a:solidFill>
                <a:schemeClr val="accent6"/>
              </a:solidFill>
              <a:latin typeface="Century Gothic"/>
              <a:ea typeface="Century Gothic"/>
              <a:cs typeface="Century Gothic"/>
              <a:sym typeface="Century Gothic"/>
            </a:endParaRPr>
          </a:p>
        </p:txBody>
      </p:sp>
      <p:sp>
        <p:nvSpPr>
          <p:cNvPr id="7342" name="Google Shape;7342;p416"/>
          <p:cNvSpPr/>
          <p:nvPr/>
        </p:nvSpPr>
        <p:spPr>
          <a:xfrm>
            <a:off x="355600"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chemeClr val="accent1"/>
                </a:solidFill>
                <a:latin typeface="Century Gothic"/>
                <a:ea typeface="Century Gothic"/>
                <a:cs typeface="Century Gothic"/>
                <a:sym typeface="Century Gothic"/>
              </a:rPr>
              <a:t>Use Case Summary</a:t>
            </a:r>
            <a:endParaRPr sz="1000">
              <a:solidFill>
                <a:schemeClr val="accent1"/>
              </a:solidFill>
              <a:latin typeface="Century Gothic"/>
              <a:ea typeface="Century Gothic"/>
              <a:cs typeface="Century Gothic"/>
              <a:sym typeface="Century Gothic"/>
            </a:endParaRPr>
          </a:p>
        </p:txBody>
      </p:sp>
      <p:sp>
        <p:nvSpPr>
          <p:cNvPr id="7343" name="Google Shape;7343;p416"/>
          <p:cNvSpPr txBox="1"/>
          <p:nvPr>
            <p:ph type="title"/>
          </p:nvPr>
        </p:nvSpPr>
        <p:spPr>
          <a:xfrm>
            <a:off x="423864"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Understanding Sales Across All Channels</a:t>
            </a:r>
            <a:endParaRPr sz="2400"/>
          </a:p>
        </p:txBody>
      </p:sp>
      <p:sp>
        <p:nvSpPr>
          <p:cNvPr id="7344" name="Google Shape;7344;p416">
            <a:hlinkClick action="ppaction://hlinksldjump" r:id="rId3"/>
          </p:cNvPr>
          <p:cNvSpPr/>
          <p:nvPr/>
        </p:nvSpPr>
        <p:spPr>
          <a:xfrm>
            <a:off x="6515100" y="-172117"/>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Product Performance</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9" name="Shape 7349"/>
        <p:cNvGrpSpPr/>
        <p:nvPr/>
      </p:nvGrpSpPr>
      <p:grpSpPr>
        <a:xfrm>
          <a:off x="0" y="0"/>
          <a:ext cx="0" cy="0"/>
          <a:chOff x="0" y="0"/>
          <a:chExt cx="0" cy="0"/>
        </a:xfrm>
      </p:grpSpPr>
      <p:sp>
        <p:nvSpPr>
          <p:cNvPr id="7350" name="Google Shape;7350;p417"/>
          <p:cNvSpPr/>
          <p:nvPr/>
        </p:nvSpPr>
        <p:spPr>
          <a:xfrm rot="5400000">
            <a:off x="-86832" y="2531949"/>
            <a:ext cx="299641" cy="130284"/>
          </a:xfrm>
          <a:prstGeom prst="triangle">
            <a:avLst>
              <a:gd fmla="val 50000" name="adj"/>
            </a:avLst>
          </a:prstGeom>
          <a:solidFill>
            <a:srgbClr val="C00000"/>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7351" name="Google Shape;7351;p417"/>
          <p:cNvSpPr txBox="1"/>
          <p:nvPr>
            <p:ph type="title"/>
          </p:nvPr>
        </p:nvSpPr>
        <p:spPr>
          <a:xfrm>
            <a:off x="423864" y="164592"/>
            <a:ext cx="6121238"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Understanding Sales Across All Channels</a:t>
            </a:r>
            <a:endParaRPr sz="2400"/>
          </a:p>
        </p:txBody>
      </p:sp>
      <p:sp>
        <p:nvSpPr>
          <p:cNvPr id="7352" name="Google Shape;7352;p417"/>
          <p:cNvSpPr/>
          <p:nvPr/>
        </p:nvSpPr>
        <p:spPr>
          <a:xfrm>
            <a:off x="4795837" y="2376546"/>
            <a:ext cx="3949200" cy="2327448"/>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Example analytic flow:</a:t>
            </a:r>
            <a:endParaRPr/>
          </a:p>
        </p:txBody>
      </p:sp>
      <p:sp>
        <p:nvSpPr>
          <p:cNvPr id="7353" name="Google Shape;7353;p417"/>
          <p:cNvSpPr/>
          <p:nvPr/>
        </p:nvSpPr>
        <p:spPr>
          <a:xfrm>
            <a:off x="423863" y="2377440"/>
            <a:ext cx="4048125" cy="2326554"/>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Example Analytic output:</a:t>
            </a:r>
            <a:endParaRPr sz="900">
              <a:solidFill>
                <a:srgbClr val="3C3C3B"/>
              </a:solidFill>
              <a:latin typeface="Century Gothic"/>
              <a:ea typeface="Century Gothic"/>
              <a:cs typeface="Century Gothic"/>
              <a:sym typeface="Century Gothic"/>
            </a:endParaRPr>
          </a:p>
        </p:txBody>
      </p:sp>
      <p:sp>
        <p:nvSpPr>
          <p:cNvPr id="7354" name="Google Shape;7354;p417"/>
          <p:cNvSpPr/>
          <p:nvPr/>
        </p:nvSpPr>
        <p:spPr>
          <a:xfrm>
            <a:off x="6545101" y="290513"/>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chemeClr val="accent6"/>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rPr lang="en-GB" sz="900">
                <a:solidFill>
                  <a:schemeClr val="accent6"/>
                </a:solidFill>
                <a:latin typeface="Century Gothic"/>
                <a:ea typeface="Century Gothic"/>
                <a:cs typeface="Century Gothic"/>
                <a:sym typeface="Century Gothic"/>
              </a:rPr>
              <a:t>Thought  Leadership</a:t>
            </a:r>
            <a:endParaRPr/>
          </a:p>
          <a:p>
            <a:pPr indent="0" lvl="0" marL="0" marR="0" rtl="0" algn="l">
              <a:spcBef>
                <a:spcPts val="0"/>
              </a:spcBef>
              <a:spcAft>
                <a:spcPts val="0"/>
              </a:spcAft>
              <a:buNone/>
            </a:pPr>
            <a:r>
              <a:t/>
            </a:r>
            <a:endParaRPr sz="900">
              <a:solidFill>
                <a:schemeClr val="accent6"/>
              </a:solidFill>
              <a:latin typeface="Century Gothic"/>
              <a:ea typeface="Century Gothic"/>
              <a:cs typeface="Century Gothic"/>
              <a:sym typeface="Century Gothic"/>
            </a:endParaRPr>
          </a:p>
        </p:txBody>
      </p:sp>
      <p:sp>
        <p:nvSpPr>
          <p:cNvPr id="7355" name="Google Shape;7355;p417"/>
          <p:cNvSpPr/>
          <p:nvPr/>
        </p:nvSpPr>
        <p:spPr>
          <a:xfrm>
            <a:off x="423863" y="807897"/>
            <a:ext cx="8321174"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Analysis Detail:</a:t>
            </a:r>
            <a:endParaRPr b="1" sz="1000">
              <a:solidFill>
                <a:schemeClr val="dk2"/>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Centralize data from all customer interactions (Transaction, detail (POS and On Line)</a:t>
            </a:r>
            <a:endParaRPr/>
          </a:p>
          <a:p>
            <a:pPr indent="-108000" lvl="0" marL="108000" marR="0" rtl="0" algn="l">
              <a:spcBef>
                <a:spcPts val="3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Leverage “Path and Graph” Analysis to understand the path to purchase and  commonality in purchase path activity</a:t>
            </a:r>
            <a:endParaRPr/>
          </a:p>
          <a:p>
            <a:pPr indent="-108000" lvl="0" marL="108000" marR="0" rtl="0" algn="l">
              <a:spcBef>
                <a:spcPts val="3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Utilize Logistic regression to determine the relative importance of each touch point to high-$ customer vs. a low-$ customer </a:t>
            </a:r>
            <a:endParaRPr/>
          </a:p>
          <a:p>
            <a:pPr indent="-108000" lvl="0" marL="108000" marR="0" rtl="0" algn="l">
              <a:spcBef>
                <a:spcPts val="3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Leverage results to determine action plans for future promotions, targeting, segmentation driving sales and margin</a:t>
            </a:r>
            <a:endParaRPr/>
          </a:p>
          <a:p>
            <a:pPr indent="-50849" lvl="0" marL="108000" marR="0" rtl="0" algn="l">
              <a:spcBef>
                <a:spcPts val="300"/>
              </a:spcBef>
              <a:spcAft>
                <a:spcPts val="0"/>
              </a:spcAft>
              <a:buClr>
                <a:srgbClr val="3C3C3B"/>
              </a:buClr>
              <a:buSzPts val="900"/>
              <a:buFont typeface="Arial"/>
              <a:buNone/>
            </a:pPr>
            <a:r>
              <a:t/>
            </a:r>
            <a:endParaRPr sz="900">
              <a:solidFill>
                <a:schemeClr val="dk1"/>
              </a:solidFill>
              <a:latin typeface="Century Gothic"/>
              <a:ea typeface="Century Gothic"/>
              <a:cs typeface="Century Gothic"/>
              <a:sym typeface="Century Gothic"/>
            </a:endParaRPr>
          </a:p>
          <a:p>
            <a:pPr indent="-47674" lvl="0" marL="108000" marR="0" rtl="0" algn="l">
              <a:spcBef>
                <a:spcPts val="300"/>
              </a:spcBef>
              <a:spcAft>
                <a:spcPts val="0"/>
              </a:spcAft>
              <a:buClr>
                <a:srgbClr val="3C3C3B"/>
              </a:buClr>
              <a:buSzPts val="950"/>
              <a:buFont typeface="Arial"/>
              <a:buNone/>
            </a:pPr>
            <a:r>
              <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p:txBody>
      </p:sp>
      <p:pic>
        <p:nvPicPr>
          <p:cNvPr descr="C:\Users\AC180010\Desktop\Picture1.png" id="7356" name="Google Shape;7356;p417"/>
          <p:cNvPicPr preferRelativeResize="0"/>
          <p:nvPr/>
        </p:nvPicPr>
        <p:blipFill rotWithShape="1">
          <a:blip r:embed="rId3">
            <a:alphaModFix/>
          </a:blip>
          <a:srcRect b="0" l="0" r="0" t="0"/>
          <a:stretch/>
        </p:blipFill>
        <p:spPr>
          <a:xfrm>
            <a:off x="436021" y="2524731"/>
            <a:ext cx="3754979" cy="2210193"/>
          </a:xfrm>
          <a:prstGeom prst="rect">
            <a:avLst/>
          </a:prstGeom>
          <a:noFill/>
          <a:ln>
            <a:noFill/>
          </a:ln>
        </p:spPr>
      </p:pic>
      <p:pic>
        <p:nvPicPr>
          <p:cNvPr id="7357" name="Google Shape;7357;p417"/>
          <p:cNvPicPr preferRelativeResize="0"/>
          <p:nvPr/>
        </p:nvPicPr>
        <p:blipFill rotWithShape="1">
          <a:blip r:embed="rId4">
            <a:alphaModFix/>
          </a:blip>
          <a:srcRect b="0" l="0" r="0" t="0"/>
          <a:stretch/>
        </p:blipFill>
        <p:spPr>
          <a:xfrm>
            <a:off x="5027670" y="2366755"/>
            <a:ext cx="3506730" cy="2324830"/>
          </a:xfrm>
          <a:prstGeom prst="rect">
            <a:avLst/>
          </a:prstGeom>
          <a:noFill/>
          <a:ln>
            <a:noFill/>
          </a:ln>
        </p:spPr>
      </p:pic>
      <p:sp>
        <p:nvSpPr>
          <p:cNvPr id="7358" name="Google Shape;7358;p417">
            <a:hlinkClick action="ppaction://hlinksldjump" r:id="rId5"/>
          </p:cNvPr>
          <p:cNvSpPr/>
          <p:nvPr/>
        </p:nvSpPr>
        <p:spPr>
          <a:xfrm>
            <a:off x="6515100" y="-172117"/>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Product Performance</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3" name="Shape 7363"/>
        <p:cNvGrpSpPr/>
        <p:nvPr/>
      </p:nvGrpSpPr>
      <p:grpSpPr>
        <a:xfrm>
          <a:off x="0" y="0"/>
          <a:ext cx="0" cy="0"/>
          <a:chOff x="0" y="0"/>
          <a:chExt cx="0" cy="0"/>
        </a:xfrm>
      </p:grpSpPr>
      <p:cxnSp>
        <p:nvCxnSpPr>
          <p:cNvPr id="7364" name="Google Shape;7364;p418"/>
          <p:cNvCxnSpPr/>
          <p:nvPr/>
        </p:nvCxnSpPr>
        <p:spPr>
          <a:xfrm>
            <a:off x="3207394"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7365" name="Google Shape;7365;p418"/>
          <p:cNvCxnSpPr/>
          <p:nvPr/>
        </p:nvCxnSpPr>
        <p:spPr>
          <a:xfrm>
            <a:off x="6057947" y="2443339"/>
            <a:ext cx="0" cy="2339140"/>
          </a:xfrm>
          <a:prstGeom prst="straightConnector1">
            <a:avLst/>
          </a:prstGeom>
          <a:noFill/>
          <a:ln cap="flat" cmpd="sng" w="12700">
            <a:solidFill>
              <a:schemeClr val="lt2"/>
            </a:solidFill>
            <a:prstDash val="solid"/>
            <a:round/>
            <a:headEnd len="sm" w="sm" type="none"/>
            <a:tailEnd len="sm" w="sm" type="none"/>
          </a:ln>
        </p:spPr>
      </p:cxnSp>
      <p:cxnSp>
        <p:nvCxnSpPr>
          <p:cNvPr id="7366" name="Google Shape;7366;p418"/>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7367" name="Google Shape;7367;p418"/>
          <p:cNvSpPr/>
          <p:nvPr/>
        </p:nvSpPr>
        <p:spPr>
          <a:xfrm rot="5400000">
            <a:off x="-86832" y="2518301"/>
            <a:ext cx="299641" cy="130284"/>
          </a:xfrm>
          <a:prstGeom prst="triangle">
            <a:avLst>
              <a:gd fmla="val 50000" name="adj"/>
            </a:avLst>
          </a:prstGeom>
          <a:solidFill>
            <a:srgbClr val="C00000"/>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7368" name="Google Shape;7368;p418"/>
          <p:cNvSpPr/>
          <p:nvPr/>
        </p:nvSpPr>
        <p:spPr>
          <a:xfrm>
            <a:off x="4820082"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Exception reporting allows Financial Managers to focus on at-risk portfolios</a:t>
            </a:r>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7369" name="Google Shape;7369;p418"/>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Identification of risky portfolios that differ significantly from benchmarks  </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Target for conversation with customer or education about risk</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Reduced losses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Increased customer satisfaction with advisory services</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r>
              <a:rPr sz="800"/>
              <a:t>Advisor-facing portfolio comparison tool, automated alerts for out-of-benchmark portfolios, product recommendation engine</a:t>
            </a:r>
          </a:p>
        </p:txBody>
      </p:sp>
      <p:sp>
        <p:nvSpPr>
          <p:cNvPr id="7370" name="Google Shape;7370;p418"/>
          <p:cNvSpPr/>
          <p:nvPr/>
        </p:nvSpPr>
        <p:spPr>
          <a:xfrm>
            <a:off x="3271845" y="3557890"/>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Success Criteria</a:t>
            </a:r>
            <a:endParaRPr b="1" sz="1000">
              <a:solidFill>
                <a:schemeClr val="dk2"/>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Demonstration of  prototype dashboard</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Quantification of estimated benefits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0" lvl="0" marL="0" marR="0" rtl="0" algn="l">
              <a:lnSpc>
                <a:spcPct val="90000"/>
              </a:lnSpc>
              <a:spcBef>
                <a:spcPts val="300"/>
              </a:spcBef>
              <a:spcAft>
                <a:spcPts val="0"/>
              </a:spcAft>
              <a:buNone/>
            </a:pPr>
            <a:r>
              <a:t/>
            </a:r>
            <a:endParaRPr sz="900">
              <a:solidFill>
                <a:schemeClr val="dk1"/>
              </a:solidFill>
              <a:latin typeface="Century Gothic"/>
              <a:ea typeface="Century Gothic"/>
              <a:cs typeface="Century Gothic"/>
              <a:sym typeface="Century Gothic"/>
            </a:endParaRPr>
          </a:p>
          <a:p>
            <a:pPr indent="-123825" lvl="0" marL="180975" marR="0" rtl="0" algn="l">
              <a:lnSpc>
                <a:spcPct val="90000"/>
              </a:lnSpc>
              <a:spcBef>
                <a:spcPts val="45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7371" name="Google Shape;7371;p418"/>
          <p:cNvSpPr/>
          <p:nvPr/>
        </p:nvSpPr>
        <p:spPr>
          <a:xfrm>
            <a:off x="3271845" y="2334154"/>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Calculated variance of key metrics for portfolios against benchmarks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Visualization of outliers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r>
              <a:rPr sz="800" i="1">
                <a:solidFill>
                  <a:srgbClr val="800080"/>
                </a:solidFill>
              </a:rPr>
              <a:t>Enhanced: Collaborative filtering, content-based recommendations, hybrid recommender systems, contextual recommendations, explainable AI for product suggestions</a:t>
            </a:r>
          </a:p>
        </p:txBody>
      </p:sp>
      <p:sp>
        <p:nvSpPr>
          <p:cNvPr id="7372" name="Google Shape;7372;p418"/>
          <p:cNvSpPr/>
          <p:nvPr/>
        </p:nvSpPr>
        <p:spPr>
          <a:xfrm>
            <a:off x="423863" y="3557890"/>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High number of portfolios to review  and manage</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Dynamic nature of portfolio values requires real time data and exception reporting</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7373" name="Google Shape;7373;p418"/>
          <p:cNvSpPr/>
          <p:nvPr/>
        </p:nvSpPr>
        <p:spPr>
          <a:xfrm>
            <a:off x="423863" y="2334154"/>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Portfolio holdings</a:t>
            </a:r>
            <a:endParaRPr/>
          </a:p>
          <a:p>
            <a:pPr indent="-108000" lvl="0" marL="108000"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Average or Benchmark Portfolio</a:t>
            </a:r>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chemeClr val="dk1"/>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chemeClr val="dk1"/>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chemeClr val="dk1"/>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chemeClr val="dk1"/>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chemeClr val="dk1"/>
              </a:solidFill>
              <a:latin typeface="Century Gothic"/>
              <a:ea typeface="Century Gothic"/>
              <a:cs typeface="Century Gothic"/>
              <a:sym typeface="Century Gothic"/>
            </a:endParaRPr>
          </a:p>
          <a:p>
            <a:r>
              <a:rPr sz="800" i="1">
                <a:solidFill>
                  <a:srgbClr val="006699"/>
                </a:solidFill>
              </a:rPr>
              <a:t>FSDM Sources: Party_Satisfaction_Score, Interaction_Feedback, Service_Request, Complaint | Pakistan: SBP complaint framework, Banking Mohtasib, bilingual NPS</a:t>
            </a:r>
          </a:p>
          <a:p>
            <a:r>
              <a:rPr sz="900"/>
              <a:t>Customer investment holdings (FSDM), age/risk profile, benchmark portfolio models, market data (PSX, mutual fund NAVs), National Savings rates</a:t>
            </a:r>
          </a:p>
        </p:txBody>
      </p:sp>
      <p:sp>
        <p:nvSpPr>
          <p:cNvPr id="7374" name="Google Shape;7374;p418"/>
          <p:cNvSpPr/>
          <p:nvPr/>
        </p:nvSpPr>
        <p:spPr>
          <a:xfrm>
            <a:off x="423863" y="807897"/>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Objective / Problem Statement</a:t>
            </a:r>
            <a:endParaRPr b="1" sz="1000">
              <a:solidFill>
                <a:schemeClr val="dk2"/>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Financial Advisors are expected to proactively manage risks for customers</a:t>
            </a:r>
            <a:endParaRPr/>
          </a:p>
          <a:p>
            <a:pPr indent="-108000" lvl="0" marL="108000" marR="0" rtl="0" algn="l">
              <a:spcBef>
                <a:spcPts val="3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 Requires analytics to look at a portfolio of financial products compared to a benchmark portfolio, in order to make recommendations on adjustments to the portfolio to align with a clients age or risk tolerance. </a:t>
            </a:r>
            <a:endParaRPr sz="900">
              <a:solidFill>
                <a:schemeClr val="dk1"/>
              </a:solidFill>
              <a:latin typeface="Century Gothic"/>
              <a:ea typeface="Century Gothic"/>
              <a:cs typeface="Century Gothic"/>
              <a:sym typeface="Century Gothic"/>
            </a:endParaRPr>
          </a:p>
          <a:p>
            <a:pPr indent="-47674" lvl="0" marL="108000" marR="0" rtl="0" algn="l">
              <a:spcBef>
                <a:spcPts val="300"/>
              </a:spcBef>
              <a:spcAft>
                <a:spcPts val="0"/>
              </a:spcAft>
              <a:buClr>
                <a:srgbClr val="3C3C3B"/>
              </a:buClr>
              <a:buSzPts val="950"/>
              <a:buFont typeface="Arial"/>
              <a:buNone/>
            </a:pPr>
            <a:r>
              <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r>
              <a:rPr sz="900"/>
              <a:t>Pakistan's wealth management is nascent — bank financial advisors manage customer investment portfolios (mutual funds, government securities, equities, insurance). Compare customer portfolio allocation to age/risk-appropriate benchmarks.</a:t>
            </a:r>
          </a:p>
          <a:p>
            <a:r>
              <a:rPr sz="900"/>
              <a:t>Pakistan context: National Savings Certificates dominate retail investment — banks need to offer competitive alternatives. SECP-regulated mutual fund industry growing (PKR 1.5T+ AUM).</a:t>
            </a:r>
          </a:p>
        </p:txBody>
      </p:sp>
      <p:sp>
        <p:nvSpPr>
          <p:cNvPr id="7375" name="Google Shape;7375;p418"/>
          <p:cNvSpPr/>
          <p:nvPr/>
        </p:nvSpPr>
        <p:spPr>
          <a:xfrm>
            <a:off x="6545101" y="290513"/>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chemeClr val="accent6"/>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rPr lang="en-GB" sz="900">
                <a:solidFill>
                  <a:schemeClr val="accent6"/>
                </a:solidFill>
                <a:latin typeface="Century Gothic"/>
                <a:ea typeface="Century Gothic"/>
                <a:cs typeface="Century Gothic"/>
                <a:sym typeface="Century Gothic"/>
              </a:rPr>
              <a:t>Banking</a:t>
            </a:r>
            <a:endParaRPr/>
          </a:p>
          <a:p>
            <a:pPr indent="0" lvl="0" marL="0" marR="0" rtl="0" algn="l">
              <a:spcBef>
                <a:spcPts val="0"/>
              </a:spcBef>
              <a:spcAft>
                <a:spcPts val="0"/>
              </a:spcAft>
              <a:buNone/>
            </a:pPr>
            <a:r>
              <a:t/>
            </a:r>
            <a:endParaRPr sz="900">
              <a:solidFill>
                <a:schemeClr val="accent6"/>
              </a:solidFill>
              <a:latin typeface="Century Gothic"/>
              <a:ea typeface="Century Gothic"/>
              <a:cs typeface="Century Gothic"/>
              <a:sym typeface="Century Gothic"/>
            </a:endParaRPr>
          </a:p>
        </p:txBody>
      </p:sp>
      <p:sp>
        <p:nvSpPr>
          <p:cNvPr id="7376" name="Google Shape;7376;p418"/>
          <p:cNvSpPr/>
          <p:nvPr/>
        </p:nvSpPr>
        <p:spPr>
          <a:xfrm>
            <a:off x="355600"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chemeClr val="accent1"/>
                </a:solidFill>
                <a:latin typeface="Century Gothic"/>
                <a:ea typeface="Century Gothic"/>
                <a:cs typeface="Century Gothic"/>
                <a:sym typeface="Century Gothic"/>
              </a:rPr>
              <a:t>Use Case Summary</a:t>
            </a:r>
            <a:endParaRPr sz="1000">
              <a:solidFill>
                <a:schemeClr val="accent1"/>
              </a:solidFill>
              <a:latin typeface="Century Gothic"/>
              <a:ea typeface="Century Gothic"/>
              <a:cs typeface="Century Gothic"/>
              <a:sym typeface="Century Gothic"/>
            </a:endParaRPr>
          </a:p>
        </p:txBody>
      </p:sp>
      <p:sp>
        <p:nvSpPr>
          <p:cNvPr id="7377" name="Google Shape;7377;p418"/>
          <p:cNvSpPr txBox="1"/>
          <p:nvPr>
            <p:ph type="title"/>
          </p:nvPr>
        </p:nvSpPr>
        <p:spPr>
          <a:xfrm>
            <a:off x="423864"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Compare Portfolio to Benchmark</a:t>
            </a:r>
            <a:endParaRPr sz="1400"/>
          </a:p>
        </p:txBody>
      </p:sp>
      <p:sp>
        <p:nvSpPr>
          <p:cNvPr id="7378" name="Google Shape;7378;p418">
            <a:hlinkClick action="ppaction://hlinksldjump" r:id="rId3"/>
          </p:cNvPr>
          <p:cNvSpPr/>
          <p:nvPr/>
        </p:nvSpPr>
        <p:spPr>
          <a:xfrm>
            <a:off x="6515100" y="-172117"/>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Product Performance</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83" name="Shape 7383"/>
        <p:cNvGrpSpPr/>
        <p:nvPr/>
      </p:nvGrpSpPr>
      <p:grpSpPr>
        <a:xfrm>
          <a:off x="0" y="0"/>
          <a:ext cx="0" cy="0"/>
          <a:chOff x="0" y="0"/>
          <a:chExt cx="0" cy="0"/>
        </a:xfrm>
      </p:grpSpPr>
      <p:sp>
        <p:nvSpPr>
          <p:cNvPr id="7384" name="Google Shape;7384;p419"/>
          <p:cNvSpPr/>
          <p:nvPr/>
        </p:nvSpPr>
        <p:spPr>
          <a:xfrm>
            <a:off x="373063" y="4616291"/>
            <a:ext cx="8161337" cy="20005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700">
                <a:solidFill>
                  <a:schemeClr val="dk1"/>
                </a:solidFill>
                <a:latin typeface="Century Gothic"/>
                <a:ea typeface="Century Gothic"/>
                <a:cs typeface="Century Gothic"/>
                <a:sym typeface="Century Gothic"/>
              </a:rPr>
              <a:t/>
            </a:r>
            <a:endParaRPr/>
          </a:p>
        </p:txBody>
      </p:sp>
      <p:sp>
        <p:nvSpPr>
          <p:cNvPr id="7385" name="Google Shape;7385;p419"/>
          <p:cNvSpPr txBox="1"/>
          <p:nvPr>
            <p:ph idx="3" type="body"/>
          </p:nvPr>
        </p:nvSpPr>
        <p:spPr>
          <a:xfrm>
            <a:off x="3511295" y="1021976"/>
            <a:ext cx="5229479" cy="3585805"/>
          </a:xfrm>
          <a:prstGeom prst="rect">
            <a:avLst/>
          </a:prstGeom>
          <a:noFill/>
          <a:ln>
            <a:noFill/>
          </a:ln>
        </p:spPr>
        <p:txBody>
          <a:bodyPr anchorCtr="0" anchor="t" bIns="0" lIns="0" spcFirstLastPara="1" rIns="0" wrap="square" tIns="0">
            <a:noAutofit/>
          </a:bodyPr>
          <a:lstStyle/>
          <a:p>
            <a:pPr indent="-88900" lvl="0" marL="0" rtl="0" algn="l">
              <a:lnSpc>
                <a:spcPct val="95000"/>
              </a:lnSpc>
              <a:spcBef>
                <a:spcPts val="0"/>
              </a:spcBef>
              <a:spcAft>
                <a:spcPts val="0"/>
              </a:spcAft>
              <a:buClr>
                <a:schemeClr val="dk2"/>
              </a:buClr>
              <a:buSzPts val="1400"/>
              <a:buFont typeface="Arial"/>
              <a:buChar char="​"/>
            </a:pPr>
            <a:r>
              <a:rPr b="1" lang="en-GB" sz="1400">
                <a:solidFill>
                  <a:schemeClr val="dk2"/>
                </a:solidFill>
              </a:rPr>
              <a:t/>
            </a:r>
            <a:r>
              <a:rPr sz="900" b="1"/>
              <a:t>PRODUCT MANAGEMENT ANALYTICS IMPACT (Pakistan Banking Targets):</a:t>
            </a:r>
            <a:endParaRPr/>
          </a:p>
          <a:p>
            <a:r>
              <a:rPr sz="900"/>
              <a:t/>
            </a:r>
          </a:p>
          <a:p>
            <a:r>
              <a:rPr sz="800">
                <a:latin typeface="Consolas"/>
              </a:rPr>
              <a:t>Products per Customer:        1.8 → 2.5        (+39% revenue per customer)</a:t>
            </a:r>
          </a:p>
          <a:p>
            <a:r>
              <a:rPr sz="800">
                <a:latin typeface="Consolas"/>
              </a:rPr>
              <a:t>Card POS Activation:          &lt;30% → 50%       (PKR 3-5B additional interchange)</a:t>
            </a:r>
          </a:p>
          <a:p>
            <a:r>
              <a:rPr sz="800">
                <a:latin typeface="Consolas"/>
              </a:rPr>
              <a:t>Digital Product Sales:        15% → 40%         (of total product originations)</a:t>
            </a:r>
          </a:p>
          <a:p>
            <a:r>
              <a:rPr sz="800">
                <a:latin typeface="Consolas"/>
              </a:rPr>
              <a:t>Product Launch Cycle:         16 weeks → 8      (with data-driven development)</a:t>
            </a:r>
          </a:p>
          <a:p>
            <a:r>
              <a:rPr sz="800">
                <a:latin typeface="Consolas"/>
              </a:rPr>
              <a:t>Cross-sell Response Rate:     &lt;5% → 10%         (through analytics targeting)</a:t>
            </a:r>
          </a:p>
          <a:p>
            <a:r>
              <a:rPr sz="800">
                <a:latin typeface="Consolas"/>
              </a:rPr>
              <a:t>New-to-Lending Coverage:      20M → 40M         (through alternative data models)</a:t>
            </a:r>
          </a:p>
          <a:p>
            <a:r>
              <a:rPr sz="800">
                <a:latin typeface="Consolas"/>
              </a:rPr>
              <a:t>Product Failure Rate:         ~40% → &lt;20%       (through business impact prediction)</a:t>
            </a:r>
          </a:p>
          <a:p>
            <a:r>
              <a:rPr sz="900"/>
              <a:t>Risk Scoring Accuracy:        +10-20% Gini      (through FSDM behavioral data)</a:t>
            </a:r>
          </a:p>
          <a:p>
            <a:r>
              <a:rPr sz="900"/>
              <a:t/>
            </a:r>
          </a:p>
          <a:p>
            <a:r>
              <a:rPr sz="900" b="1">
                <a:solidFill>
                  <a:srgbClr val="006633"/>
                </a:solidFill>
              </a:rPr>
              <a:t>INVESTMENT:  PKR 200-400M over 3 years</a:t>
            </a:r>
          </a:p>
          <a:p>
            <a:r>
              <a:rPr sz="900" b="1">
                <a:solidFill>
                  <a:srgbClr val="006633"/>
                </a:solidFill>
              </a:rPr>
              <a:t>RETURN:      PKR 10-20B annually through revenue uplift + cost reduction</a:t>
            </a:r>
          </a:p>
        </p:txBody>
      </p:sp>
      <p:sp>
        <p:nvSpPr>
          <p:cNvPr id="7386" name="Google Shape;7386;p419"/>
          <p:cNvSpPr/>
          <p:nvPr/>
        </p:nvSpPr>
        <p:spPr>
          <a:xfrm>
            <a:off x="355600" y="594284"/>
            <a:ext cx="5910169" cy="270904"/>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2400">
                <a:solidFill>
                  <a:srgbClr val="3C3C3B"/>
                </a:solidFill>
                <a:latin typeface="Century Gothic"/>
                <a:ea typeface="Century Gothic"/>
                <a:cs typeface="Century Gothic"/>
                <a:sym typeface="Century Gothic"/>
              </a:rPr>
              <a:t>Pakistan Product Analytics — Success Metrics</a:t>
            </a:r>
            <a:endParaRPr sz="1600">
              <a:solidFill>
                <a:srgbClr val="3C3C3B"/>
              </a:solidFill>
              <a:latin typeface="Century Gothic"/>
              <a:ea typeface="Century Gothic"/>
              <a:cs typeface="Century Gothic"/>
              <a:sym typeface="Century Gothic"/>
            </a:endParaRPr>
          </a:p>
        </p:txBody>
      </p:sp>
      <p:sp>
        <p:nvSpPr>
          <p:cNvPr id="7387" name="Google Shape;7387;p419"/>
          <p:cNvSpPr txBox="1"/>
          <p:nvPr>
            <p:ph idx="4294967295" type="title"/>
          </p:nvPr>
        </p:nvSpPr>
        <p:spPr>
          <a:xfrm>
            <a:off x="425396" y="85725"/>
            <a:ext cx="8229600" cy="456964"/>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
            </a:r>
            <a:endParaRPr sz="2400"/>
          </a:p>
        </p:txBody>
      </p:sp>
      <p:pic>
        <p:nvPicPr>
          <p:cNvPr id="7388" name="Google Shape;7388;p419"/>
          <p:cNvPicPr preferRelativeResize="0"/>
          <p:nvPr/>
        </p:nvPicPr>
        <p:blipFill rotWithShape="1">
          <a:blip r:embed="rId3">
            <a:alphaModFix/>
          </a:blip>
          <a:srcRect b="0" l="0" r="0" t="0"/>
          <a:stretch/>
        </p:blipFill>
        <p:spPr>
          <a:xfrm>
            <a:off x="72184" y="1490662"/>
            <a:ext cx="3238500" cy="2162175"/>
          </a:xfrm>
          <a:prstGeom prst="rect">
            <a:avLst/>
          </a:prstGeom>
          <a:noFill/>
          <a:ln>
            <a:noFill/>
          </a:ln>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Box 2"/>
          <p:cNvSpPr txBox="1"/>
          <p:nvPr/>
        </p:nvSpPr>
        <p:spPr>
          <a:xfrm>
            <a:off x="400000" y="850000"/>
            <a:ext cx="8300000" cy="4000000"/>
          </a:xfrm>
          <a:prstGeom prst="rect">
            <a:avLst/>
          </a:prstGeom>
          <a:noFill/>
        </p:spPr>
        <p:txBody>
          <a:bodyPr wrap="square">
            <a:spAutoFit/>
          </a:bodyPr>
          <a:lstStyle/>
          <a:p>
            <a:r>
              <a:rPr sz="1600" b="1">
                <a:solidFill>
                  <a:srgbClr val="003366"/>
                </a:solidFill>
              </a:rPr>
              <a:t>Product Management Use Cases — Portfolio Dashboard</a:t>
            </a:r>
          </a:p>
          <a:p/>
          <a:p>
            <a:r>
              <a:rPr sz="900" b="1">
                <a:solidFill>
                  <a:srgbClr val="003366"/>
                </a:solidFill>
              </a:rPr>
              <a:t>Product Development (7 UCs)</a:t>
            </a:r>
          </a:p>
          <a:p>
            <a:r>
              <a:rPr sz="800"/>
              <a:t>  Development &amp; Packaging, Relationship Optimization, Merchant Acquiring, Card Spend Stimulation, Merchant Recommendation, Risk Scoring Improvement, Multivariate Testing</a:t>
            </a:r>
          </a:p>
          <a:p>
            <a:r>
              <a:rPr sz="800">
                <a:solidFill>
                  <a:srgbClr val="990033"/>
                </a:solidFill>
              </a:rPr>
              <a:t>  Priority: Critical: Card Spend, Risk Scoring</a:t>
            </a:r>
          </a:p>
          <a:p>
            <a:r>
              <a:rPr sz="900" b="1">
                <a:solidFill>
                  <a:srgbClr val="003366"/>
                </a:solidFill>
              </a:rPr>
              <a:t>Product Introduction (1 UC)</a:t>
            </a:r>
          </a:p>
          <a:p>
            <a:r>
              <a:rPr sz="800"/>
              <a:t>  Competitor Analysis</a:t>
            </a:r>
          </a:p>
          <a:p>
            <a:r>
              <a:rPr sz="800">
                <a:solidFill>
                  <a:srgbClr val="990033"/>
                </a:solidFill>
              </a:rPr>
              <a:t>  Priority: High</a:t>
            </a:r>
          </a:p>
          <a:p>
            <a:r>
              <a:rPr sz="900" b="1">
                <a:solidFill>
                  <a:srgbClr val="003366"/>
                </a:solidFill>
              </a:rPr>
              <a:t>Pricing &amp; Promotion (3 UCs)</a:t>
            </a:r>
          </a:p>
          <a:p>
            <a:r>
              <a:rPr sz="800"/>
              <a:t>  Risk-Based Pricing, Behavioral Pricing, New-to-Lending Credit Models</a:t>
            </a:r>
          </a:p>
          <a:p>
            <a:r>
              <a:rPr sz="800">
                <a:solidFill>
                  <a:srgbClr val="990033"/>
                </a:solidFill>
              </a:rPr>
              <a:t>  Priority: Critical: New-to-Lending</a:t>
            </a:r>
          </a:p>
          <a:p>
            <a:r>
              <a:rPr sz="900" b="1">
                <a:solidFill>
                  <a:srgbClr val="003366"/>
                </a:solidFill>
              </a:rPr>
              <a:t>Product Performance (3 UCs)</a:t>
            </a:r>
          </a:p>
          <a:p>
            <a:r>
              <a:rPr sz="800"/>
              <a:t>  Omni-Channel Sales, Portfolio Benchmark</a:t>
            </a:r>
          </a:p>
          <a:p>
            <a:r>
              <a:rPr sz="800">
                <a:solidFill>
                  <a:srgbClr val="990033"/>
                </a:solidFill>
              </a:rPr>
              <a:t>  Priority: High: Omni-Channel</a:t>
            </a:r>
          </a:p>
          <a:p/>
          <a:p>
            <a:r>
              <a:rPr sz="1000" b="1">
                <a:solidFill>
                  <a:srgbClr val="003366"/>
                </a:solidFill>
              </a:rPr>
              <a:t>Pakistan Priority Matrix:</a:t>
            </a:r>
          </a:p>
          <a:p>
            <a:r>
              <a:rPr sz="800">
                <a:latin typeface="Consolas"/>
              </a:rPr>
              <a:t>  IMMEDIATE (0-6 mo):   Card Spend Stimulation, Risk Scoring, New-to-Lending, Competitor Analysis, Omni-Channel Sales</a:t>
            </a:r>
          </a:p>
          <a:p>
            <a:r>
              <a:rPr sz="800">
                <a:latin typeface="Consolas"/>
              </a:rPr>
              <a:t>  HIGH (6-18 mo):       Merchant Acquiring, Merchant Recommendation, Behavioral Pricing, Product Development, Multivariate Testing</a:t>
            </a:r>
          </a:p>
          <a:p>
            <a:r>
              <a:rPr sz="800">
                <a:latin typeface="Consolas"/>
              </a:rPr>
              <a:t>  STRATEGIC (18-36 mo): Relationship Optimization (Graph), Portfolio Benchmark (Wealth), Advanced Risk-Based Pricing</a:t>
            </a:r>
          </a:p>
          <a:p/>
          <a:p>
            <a:r>
              <a:rPr sz="800" b="1">
                <a:solidFill>
                  <a:srgbClr val="006699"/>
                </a:solidFill>
              </a:rPr>
              <a:t>TOTAL: 15 Use Cases (1 Discover case study removed) | BVF Reference: File 10 (Product Management Capabilities)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Box 2"/>
          <p:cNvSpPr txBox="1"/>
          <p:nvPr/>
        </p:nvSpPr>
        <p:spPr>
          <a:xfrm>
            <a:off x="400000" y="850000"/>
            <a:ext cx="8300000" cy="4000000"/>
          </a:xfrm>
          <a:prstGeom prst="rect">
            <a:avLst/>
          </a:prstGeom>
          <a:noFill/>
        </p:spPr>
        <p:txBody>
          <a:bodyPr wrap="square">
            <a:spAutoFit/>
          </a:bodyPr>
          <a:lstStyle/>
          <a:p>
            <a:r>
              <a:rPr sz="1600" b="1">
                <a:solidFill>
                  <a:srgbClr val="003366"/>
                </a:solidFill>
              </a:rPr>
              <a:t>Pakistan Banking — Product Use Case Priorities</a:t>
            </a:r>
          </a:p>
          <a:p>
            <a:r>
              <a:rPr sz="1000" b="1"/>
              <a:t>USE CASES WITH HIGHEST PAKISTAN IMPACT:</a:t>
            </a:r>
          </a:p>
          <a:p/>
          <a:p>
            <a:r>
              <a:rPr sz="900" b="1">
                <a:solidFill>
                  <a:srgbClr val="003366"/>
                </a:solidFill>
              </a:rPr>
              <a:t>1. CREDIT RISK MODELS FOR NEW-TO-LENDING</a:t>
            </a:r>
          </a:p>
          <a:p>
            <a:r>
              <a:rPr sz="700"/>
              <a:t>  Why: 70% of Pakistan population has no credit bureau history — cannot access formal lending</a:t>
            </a:r>
          </a:p>
          <a:p>
            <a:r>
              <a:rPr sz="700"/>
              <a:t>  Data: Mobile wallet patterns (JazzCash/Easypaisa), utility payment history, RAAST P2P, NADRA demographic data</a:t>
            </a:r>
          </a:p>
          <a:p>
            <a:r>
              <a:rPr sz="700"/>
              <a:t>  Impact: Expand lending to 50M+ previously unbanked — SBP financial inclusion priority</a:t>
            </a:r>
          </a:p>
          <a:p/>
          <a:p>
            <a:r>
              <a:rPr sz="900" b="1">
                <a:solidFill>
                  <a:srgbClr val="003366"/>
                </a:solidFill>
              </a:rPr>
              <a:t>2. CARD SPEND STIMULATION</a:t>
            </a:r>
          </a:p>
          <a:p>
            <a:r>
              <a:rPr sz="700"/>
              <a:t>  Why: Pakistan has 30M+ debit cards but &lt;30% are actively used for POS purchases</a:t>
            </a:r>
          </a:p>
          <a:p>
            <a:r>
              <a:rPr sz="700"/>
              <a:t>  Data: Card transaction data (POS, ATM, e-commerce), merchant category codes, 1Link switch data, customer FSDM profile</a:t>
            </a:r>
          </a:p>
          <a:p>
            <a:r>
              <a:rPr sz="700"/>
              <a:t>  Impact: Shift cash transactions to card — increase interchange revenue PKR 5-10B industry-wide</a:t>
            </a:r>
          </a:p>
          <a:p/>
          <a:p>
            <a:r>
              <a:rPr sz="900" b="1">
                <a:solidFill>
                  <a:srgbClr val="003366"/>
                </a:solidFill>
              </a:rPr>
              <a:t>3. RISK SCORING IMPROVEMENT</a:t>
            </a:r>
          </a:p>
          <a:p>
            <a:r>
              <a:rPr sz="700"/>
              <a:t>  Why: Current scoring models use limited variables. Adding transactional behavior improves Gini by 10-20%</a:t>
            </a:r>
          </a:p>
          <a:p>
            <a:r>
              <a:rPr sz="700"/>
              <a:t>  Data: ECIB bureau data + FSDM transactional patterns (salary regularity, spending behavior, balance trends, RAAST usage)</a:t>
            </a:r>
          </a:p>
          <a:p>
            <a:r>
              <a:rPr sz="700"/>
              <a:t>  Impact: Reduce false rejections, expand lending to thin-file customers</a:t>
            </a:r>
          </a:p>
          <a:p/>
          <a:p>
            <a:r>
              <a:rPr sz="900" b="1">
                <a:solidFill>
                  <a:srgbClr val="003366"/>
                </a:solidFill>
              </a:rPr>
              <a:t>4. COMPETITOR ANALYSIS</a:t>
            </a:r>
          </a:p>
          <a:p>
            <a:r>
              <a:rPr sz="700"/>
              <a:t>  Why: Intense competition from 33+ banks + 5 Islamic + JazzCash/Easypaisa/SadaPay/NayaPay</a:t>
            </a:r>
          </a:p>
          <a:p>
            <a:r>
              <a:rPr sz="700"/>
              <a:t>  Data: Competitor product features, rate sheets, app store reviews, social media sentiment</a:t>
            </a:r>
          </a:p>
          <a:p>
            <a:r>
              <a:rPr sz="700"/>
              <a:t>  Impact: Real-time competitive intelligence for product and pricing decisions</a:t>
            </a:r>
          </a:p>
          <a:p/>
          <a:p>
            <a:r>
              <a:rPr sz="900" b="1">
                <a:solidFill>
                  <a:srgbClr val="003366"/>
                </a:solidFill>
              </a:rPr>
              <a:t>5. OMNI-CHANNEL SALES</a:t>
            </a:r>
          </a:p>
          <a:p>
            <a:r>
              <a:rPr sz="700"/>
              <a:t>  Why: Product sales fragmented across branch, mobile, internet, agent, call center — no unified view</a:t>
            </a:r>
          </a:p>
          <a:p>
            <a:r>
              <a:rPr sz="700"/>
              <a:t>  Data: FSDM channel data + mobile app analytics + branch sales register + agent network</a:t>
            </a:r>
          </a:p>
          <a:p>
            <a:r>
              <a:rPr sz="700"/>
              <a:t>  Impact: Optimize product-channel mix, reduce conversion dropoffs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Box 2"/>
          <p:cNvSpPr txBox="1"/>
          <p:nvPr/>
        </p:nvSpPr>
        <p:spPr>
          <a:xfrm>
            <a:off x="400000" y="850000"/>
            <a:ext cx="8300000" cy="3900000"/>
          </a:xfrm>
          <a:prstGeom prst="rect">
            <a:avLst/>
          </a:prstGeom>
          <a:noFill/>
        </p:spPr>
        <p:txBody>
          <a:bodyPr wrap="square">
            <a:spAutoFit/>
          </a:bodyPr>
          <a:lstStyle/>
          <a:p>
            <a:r>
              <a:rPr sz="1600" b="1">
                <a:solidFill>
                  <a:srgbClr val="003366"/>
                </a:solidFill>
              </a:rPr>
              <a:t>Product Management Use Cases — Implementation Roadmap</a:t>
            </a:r>
          </a:p>
          <a:p/>
          <a:p>
            <a:r>
              <a:rPr sz="1100" b="1">
                <a:solidFill>
                  <a:srgbClr val="006633"/>
                </a:solidFill>
              </a:rPr>
              <a:t>Phase 1: Quick Wins (0-6 months) — 5 use cases — PKR 40-80M</a:t>
            </a:r>
          </a:p>
          <a:p>
            <a:r>
              <a:rPr sz="900"/>
              <a:t>  Card Spend Stimulation, Risk Scoring Improvement, Credit Models for New-to-Lending,</a:t>
            </a:r>
          </a:p>
          <a:p>
            <a:r>
              <a:rPr sz="900"/>
              <a:t>  Competitor Analysis, Omni-Channel Sales Understanding</a:t>
            </a:r>
          </a:p>
          <a:p>
            <a:r>
              <a:rPr sz="900"/>
              <a:t>  Data: FSDM + ECIB + card transaction data</a:t>
            </a:r>
          </a:p>
          <a:p>
            <a:r>
              <a:rPr sz="900"/>
              <a:t>  Quick Win: 15% increase in card activation rate, 10% expansion of lending eligibility</a:t>
            </a:r>
          </a:p>
          <a:p/>
          <a:p>
            <a:r>
              <a:rPr sz="1100" b="1">
                <a:solidFill>
                  <a:srgbClr val="003399"/>
                </a:solidFill>
              </a:rPr>
              <a:t>Phase 2: Product Intelligence (6-18 months) — 5 use cases — PKR 80-150M</a:t>
            </a:r>
          </a:p>
          <a:p>
            <a:r>
              <a:rPr sz="900"/>
              <a:t>  Merchant Acquiring Insights, Individualized Merchant Recommendation,</a:t>
            </a:r>
          </a:p>
          <a:p>
            <a:r>
              <a:rPr sz="900"/>
              <a:t>  Behavioral-Based Pricing, Product Development &amp; Packaging, Multivariate Testing</a:t>
            </a:r>
          </a:p>
          <a:p>
            <a:r>
              <a:rPr sz="900"/>
              <a:t>  Data: + merchant data + digital funnel + A/B testing framework</a:t>
            </a:r>
          </a:p>
          <a:p>
            <a:r>
              <a:rPr sz="900"/>
              <a:t>  Expected: 20% improvement in card interchange revenue, data-driven product pipeline</a:t>
            </a:r>
          </a:p>
          <a:p/>
          <a:p>
            <a:r>
              <a:rPr sz="1100" b="1">
                <a:solidFill>
                  <a:srgbClr val="990033"/>
                </a:solidFill>
              </a:rPr>
              <a:t>Phase 3: Advanced Product Analytics (18-36 months) — 5 use cases — PKR 100-200M</a:t>
            </a:r>
          </a:p>
          <a:p>
            <a:r>
              <a:rPr sz="900"/>
              <a:t>  Relationship Optimization (Graph), Portfolio Benchmark (Wealth),</a:t>
            </a:r>
          </a:p>
          <a:p>
            <a:r>
              <a:rPr sz="900"/>
              <a:t>  Advanced Risk-Based Pricing, + new use cases from product roadmap</a:t>
            </a:r>
          </a:p>
          <a:p>
            <a:r>
              <a:rPr sz="900"/>
              <a:t>  Data: + graph analytics + market data feeds</a:t>
            </a:r>
          </a:p>
          <a:p>
            <a:r>
              <a:rPr sz="900"/>
              <a:t>  Expected: Dynamic product pricing, predictive product lifecycle management</a:t>
            </a:r>
          </a:p>
          <a:p/>
          <a:p>
            <a:r>
              <a:rPr sz="1000" b="1">
                <a:solidFill>
                  <a:srgbClr val="003366"/>
                </a:solidFill>
              </a:rPr>
              <a:t>Total 3-Year Investment: PKR 220-430M | Annual Value: PKR 10-20B through revenue uplift + cost reduction</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Teradata">
      <a:dk1>
        <a:srgbClr val="000000"/>
      </a:dk1>
      <a:lt1>
        <a:srgbClr val="FFFFFF"/>
      </a:lt1>
      <a:dk2>
        <a:srgbClr val="0079DB"/>
      </a:dk2>
      <a:lt2>
        <a:srgbClr val="D8D8D8"/>
      </a:lt2>
      <a:accent1>
        <a:srgbClr val="D56D23"/>
      </a:accent1>
      <a:accent2>
        <a:srgbClr val="BBBCBE"/>
      </a:accent2>
      <a:accent3>
        <a:srgbClr val="5F6062"/>
      </a:accent3>
      <a:accent4>
        <a:srgbClr val="0088A8"/>
      </a:accent4>
      <a:accent5>
        <a:srgbClr val="703092"/>
      </a:accent5>
      <a:accent6>
        <a:srgbClr val="CD391F"/>
      </a:accent6>
      <a:hlink>
        <a:srgbClr val="0079DB"/>
      </a:hlink>
      <a:folHlink>
        <a:srgbClr val="7030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TDC_PPT_16-9_1014-lite">
  <a:themeElements>
    <a:clrScheme name="TeradataPPT2014">
      <a:dk1>
        <a:srgbClr val="3C3C3B"/>
      </a:dk1>
      <a:lt1>
        <a:srgbClr val="FFFFFF"/>
      </a:lt1>
      <a:dk2>
        <a:srgbClr val="0079DB"/>
      </a:dk2>
      <a:lt2>
        <a:srgbClr val="D8D8D8"/>
      </a:lt2>
      <a:accent1>
        <a:srgbClr val="EC881D"/>
      </a:accent1>
      <a:accent2>
        <a:srgbClr val="0079DB"/>
      </a:accent2>
      <a:accent3>
        <a:srgbClr val="CD391F"/>
      </a:accent3>
      <a:accent4>
        <a:srgbClr val="0088A8"/>
      </a:accent4>
      <a:accent5>
        <a:srgbClr val="703092"/>
      </a:accent5>
      <a:accent6>
        <a:srgbClr val="5F6062"/>
      </a:accent6>
      <a:hlink>
        <a:srgbClr val="0079DB"/>
      </a:hlink>
      <a:folHlink>
        <a:srgbClr val="7030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