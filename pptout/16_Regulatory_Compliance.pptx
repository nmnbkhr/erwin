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830" r:id="rId581"/>
    <p:sldId id="831" r:id="rId582"/>
    <p:sldId id="832" r:id="rId583"/>
    <p:sldId id="833" r:id="rId584"/>
    <p:sldId id="834" r:id="rId585"/>
    <p:sldId id="835" r:id="rId586"/>
    <p:sldId id="836" r:id="rId587"/>
    <p:sldId id="837" r:id="rId588"/>
    <p:sldId id="838" r:id="rId589"/>
    <p:sldId id="839" r:id="rId590"/>
    <p:sldId id="840" r:id="rId591"/>
    <p:sldId id="841" r:id="rId592"/>
    <p:sldId id="842" r:id="rId593"/>
    <p:sldId id="843" r:id="rId594"/>
    <p:sldId id="844" r:id="rId595"/>
    <p:sldId id="845" r:id="rId596"/>
    <p:sldId id="846" r:id="rId597"/>
    <p:sldId id="847" r:id="rId598"/>
    <p:sldId id="848" r:id="rId599"/>
    <p:sldId id="849" r:id="rId600"/>
    <p:sldId id="850" r:id="rId601"/>
    <p:sldId id="851" r:id="rId602"/>
    <p:sldId id="852" r:id="rId603"/>
    <p:sldId id="853" r:id="rId604"/>
    <p:sldId id="854" r:id="rId605"/>
    <p:sldId id="855" r:id="rId606"/>
    <p:sldId id="856" r:id="rId607"/>
    <p:sldId id="857" r:id="rId608"/>
    <p:sldId id="858" r:id="rId609"/>
    <p:sldId id="859" r:id="rId610"/>
    <p:sldId id="860" r:id="rId611"/>
    <p:sldId id="861" r:id="rId612"/>
    <p:sldId id="862" r:id="rId613"/>
    <p:sldId id="863" r:id="rId614"/>
    <p:sldId id="864" r:id="rId615"/>
    <p:sldId id="865" r:id="rId616"/>
    <p:sldId id="866" r:id="rId617"/>
    <p:sldId id="867" r:id="rId618"/>
    <p:sldId id="868" r:id="rId619"/>
    <p:sldId id="869" r:id="rId620"/>
    <p:sldId id="870" r:id="rId621"/>
    <p:sldId id="871" r:id="rId622"/>
    <p:sldId id="872" r:id="rId623"/>
    <p:sldId id="873" r:id="rId624"/>
    <p:sldId id="874" r:id="rId625"/>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581" Type="http://schemas.openxmlformats.org/officeDocument/2006/relationships/slide" Target="slides/slide575.xml"/><Relationship Id="rId582" Type="http://schemas.openxmlformats.org/officeDocument/2006/relationships/slide" Target="slides/slide576.xml"/><Relationship Id="rId583" Type="http://schemas.openxmlformats.org/officeDocument/2006/relationships/slide" Target="slides/slide577.xml"/><Relationship Id="rId584" Type="http://schemas.openxmlformats.org/officeDocument/2006/relationships/slide" Target="slides/slide578.xml"/><Relationship Id="rId585" Type="http://schemas.openxmlformats.org/officeDocument/2006/relationships/slide" Target="slides/slide579.xml"/><Relationship Id="rId586" Type="http://schemas.openxmlformats.org/officeDocument/2006/relationships/slide" Target="slides/slide580.xml"/><Relationship Id="rId587" Type="http://schemas.openxmlformats.org/officeDocument/2006/relationships/slide" Target="slides/slide581.xml"/><Relationship Id="rId588" Type="http://schemas.openxmlformats.org/officeDocument/2006/relationships/slide" Target="slides/slide582.xml"/><Relationship Id="rId589" Type="http://schemas.openxmlformats.org/officeDocument/2006/relationships/slide" Target="slides/slide583.xml"/><Relationship Id="rId590" Type="http://schemas.openxmlformats.org/officeDocument/2006/relationships/slide" Target="slides/slide584.xml"/><Relationship Id="rId591" Type="http://schemas.openxmlformats.org/officeDocument/2006/relationships/slide" Target="slides/slide585.xml"/><Relationship Id="rId592" Type="http://schemas.openxmlformats.org/officeDocument/2006/relationships/slide" Target="slides/slide586.xml"/><Relationship Id="rId593" Type="http://schemas.openxmlformats.org/officeDocument/2006/relationships/slide" Target="slides/slide587.xml"/><Relationship Id="rId594" Type="http://schemas.openxmlformats.org/officeDocument/2006/relationships/slide" Target="slides/slide588.xml"/><Relationship Id="rId595" Type="http://schemas.openxmlformats.org/officeDocument/2006/relationships/slide" Target="slides/slide589.xml"/><Relationship Id="rId596" Type="http://schemas.openxmlformats.org/officeDocument/2006/relationships/slide" Target="slides/slide590.xml"/><Relationship Id="rId597" Type="http://schemas.openxmlformats.org/officeDocument/2006/relationships/slide" Target="slides/slide591.xml"/><Relationship Id="rId598" Type="http://schemas.openxmlformats.org/officeDocument/2006/relationships/slide" Target="slides/slide592.xml"/><Relationship Id="rId599" Type="http://schemas.openxmlformats.org/officeDocument/2006/relationships/slide" Target="slides/slide593.xml"/><Relationship Id="rId600" Type="http://schemas.openxmlformats.org/officeDocument/2006/relationships/slide" Target="slides/slide594.xml"/><Relationship Id="rId601" Type="http://schemas.openxmlformats.org/officeDocument/2006/relationships/slide" Target="slides/slide595.xml"/><Relationship Id="rId602" Type="http://schemas.openxmlformats.org/officeDocument/2006/relationships/slide" Target="slides/slide596.xml"/><Relationship Id="rId603" Type="http://schemas.openxmlformats.org/officeDocument/2006/relationships/slide" Target="slides/slide597.xml"/><Relationship Id="rId604" Type="http://schemas.openxmlformats.org/officeDocument/2006/relationships/slide" Target="slides/slide598.xml"/><Relationship Id="rId605" Type="http://schemas.openxmlformats.org/officeDocument/2006/relationships/slide" Target="slides/slide599.xml"/><Relationship Id="rId606" Type="http://schemas.openxmlformats.org/officeDocument/2006/relationships/slide" Target="slides/slide600.xml"/><Relationship Id="rId607" Type="http://schemas.openxmlformats.org/officeDocument/2006/relationships/slide" Target="slides/slide601.xml"/><Relationship Id="rId608" Type="http://schemas.openxmlformats.org/officeDocument/2006/relationships/slide" Target="slides/slide602.xml"/><Relationship Id="rId609" Type="http://schemas.openxmlformats.org/officeDocument/2006/relationships/slide" Target="slides/slide603.xml"/><Relationship Id="rId610" Type="http://schemas.openxmlformats.org/officeDocument/2006/relationships/slide" Target="slides/slide604.xml"/><Relationship Id="rId611" Type="http://schemas.openxmlformats.org/officeDocument/2006/relationships/slide" Target="slides/slide605.xml"/><Relationship Id="rId612" Type="http://schemas.openxmlformats.org/officeDocument/2006/relationships/slide" Target="slides/slide606.xml"/><Relationship Id="rId613" Type="http://schemas.openxmlformats.org/officeDocument/2006/relationships/slide" Target="slides/slide607.xml"/><Relationship Id="rId614" Type="http://schemas.openxmlformats.org/officeDocument/2006/relationships/slide" Target="slides/slide608.xml"/><Relationship Id="rId615" Type="http://schemas.openxmlformats.org/officeDocument/2006/relationships/slide" Target="slides/slide609.xml"/><Relationship Id="rId616" Type="http://schemas.openxmlformats.org/officeDocument/2006/relationships/slide" Target="slides/slide610.xml"/><Relationship Id="rId617" Type="http://schemas.openxmlformats.org/officeDocument/2006/relationships/slide" Target="slides/slide611.xml"/><Relationship Id="rId618" Type="http://schemas.openxmlformats.org/officeDocument/2006/relationships/slide" Target="slides/slide612.xml"/><Relationship Id="rId619" Type="http://schemas.openxmlformats.org/officeDocument/2006/relationships/slide" Target="slides/slide613.xml"/><Relationship Id="rId620" Type="http://schemas.openxmlformats.org/officeDocument/2006/relationships/slide" Target="slides/slide614.xml"/><Relationship Id="rId621" Type="http://schemas.openxmlformats.org/officeDocument/2006/relationships/slide" Target="slides/slide615.xml"/><Relationship Id="rId622" Type="http://schemas.openxmlformats.org/officeDocument/2006/relationships/slide" Target="slides/slide616.xml"/><Relationship Id="rId623" Type="http://schemas.openxmlformats.org/officeDocument/2006/relationships/slide" Target="slides/slide617.xml"/><Relationship Id="rId624" Type="http://schemas.openxmlformats.org/officeDocument/2006/relationships/slide" Target="slides/slide618.xml"/><Relationship Id="rId625" Type="http://schemas.openxmlformats.org/officeDocument/2006/relationships/slide" Target="slides/slide619.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6" name="Shape 10756"/>
        <p:cNvGrpSpPr/>
        <p:nvPr/>
      </p:nvGrpSpPr>
      <p:grpSpPr>
        <a:xfrm>
          <a:off x="0" y="0"/>
          <a:ext cx="0" cy="0"/>
          <a:chOff x="0" y="0"/>
          <a:chExt cx="0" cy="0"/>
        </a:xfrm>
      </p:grpSpPr>
      <p:sp>
        <p:nvSpPr>
          <p:cNvPr id="10757" name="Google Shape;10757;p57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58" name="Google Shape;10758;p5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6" name="Shape 10766"/>
        <p:cNvGrpSpPr/>
        <p:nvPr/>
      </p:nvGrpSpPr>
      <p:grpSpPr>
        <a:xfrm>
          <a:off x="0" y="0"/>
          <a:ext cx="0" cy="0"/>
          <a:chOff x="0" y="0"/>
          <a:chExt cx="0" cy="0"/>
        </a:xfrm>
      </p:grpSpPr>
      <p:sp>
        <p:nvSpPr>
          <p:cNvPr id="10767" name="Google Shape;10767;p5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68" name="Google Shape;10768;p5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4" name="Shape 10774"/>
        <p:cNvGrpSpPr/>
        <p:nvPr/>
      </p:nvGrpSpPr>
      <p:grpSpPr>
        <a:xfrm>
          <a:off x="0" y="0"/>
          <a:ext cx="0" cy="0"/>
          <a:chOff x="0" y="0"/>
          <a:chExt cx="0" cy="0"/>
        </a:xfrm>
      </p:grpSpPr>
      <p:sp>
        <p:nvSpPr>
          <p:cNvPr id="10775" name="Google Shape;10775;p58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76" name="Google Shape;10776;p5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2" name="Shape 10782"/>
        <p:cNvGrpSpPr/>
        <p:nvPr/>
      </p:nvGrpSpPr>
      <p:grpSpPr>
        <a:xfrm>
          <a:off x="0" y="0"/>
          <a:ext cx="0" cy="0"/>
          <a:chOff x="0" y="0"/>
          <a:chExt cx="0" cy="0"/>
        </a:xfrm>
      </p:grpSpPr>
      <p:sp>
        <p:nvSpPr>
          <p:cNvPr id="10783" name="Google Shape;10783;p5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4" name="Google Shape;10784;p5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6" name="Shape 10796"/>
        <p:cNvGrpSpPr/>
        <p:nvPr/>
      </p:nvGrpSpPr>
      <p:grpSpPr>
        <a:xfrm>
          <a:off x="0" y="0"/>
          <a:ext cx="0" cy="0"/>
          <a:chOff x="0" y="0"/>
          <a:chExt cx="0" cy="0"/>
        </a:xfrm>
      </p:grpSpPr>
      <p:sp>
        <p:nvSpPr>
          <p:cNvPr id="10797" name="Google Shape;10797;p58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98" name="Google Shape;10798;p5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5" name="Shape 10805"/>
        <p:cNvGrpSpPr/>
        <p:nvPr/>
      </p:nvGrpSpPr>
      <p:grpSpPr>
        <a:xfrm>
          <a:off x="0" y="0"/>
          <a:ext cx="0" cy="0"/>
          <a:chOff x="0" y="0"/>
          <a:chExt cx="0" cy="0"/>
        </a:xfrm>
      </p:grpSpPr>
      <p:sp>
        <p:nvSpPr>
          <p:cNvPr id="10806" name="Google Shape;10806;p58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807" name="Google Shape;10807;p5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808" name="Google Shape;10808;p5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7" name="Shape 10847"/>
        <p:cNvGrpSpPr/>
        <p:nvPr/>
      </p:nvGrpSpPr>
      <p:grpSpPr>
        <a:xfrm>
          <a:off x="0" y="0"/>
          <a:ext cx="0" cy="0"/>
          <a:chOff x="0" y="0"/>
          <a:chExt cx="0" cy="0"/>
        </a:xfrm>
      </p:grpSpPr>
      <p:sp>
        <p:nvSpPr>
          <p:cNvPr id="10848" name="Google Shape;10848;p58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849" name="Google Shape;10849;p5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50" name="Google Shape;10850;p5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6" name="Shape 10886"/>
        <p:cNvGrpSpPr/>
        <p:nvPr/>
      </p:nvGrpSpPr>
      <p:grpSpPr>
        <a:xfrm>
          <a:off x="0" y="0"/>
          <a:ext cx="0" cy="0"/>
          <a:chOff x="0" y="0"/>
          <a:chExt cx="0" cy="0"/>
        </a:xfrm>
      </p:grpSpPr>
      <p:sp>
        <p:nvSpPr>
          <p:cNvPr id="10887" name="Google Shape;10887;p5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88" name="Google Shape;10888;p5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89" name="Google Shape;10889;p5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7" name="Shape 10917"/>
        <p:cNvGrpSpPr/>
        <p:nvPr/>
      </p:nvGrpSpPr>
      <p:grpSpPr>
        <a:xfrm>
          <a:off x="0" y="0"/>
          <a:ext cx="0" cy="0"/>
          <a:chOff x="0" y="0"/>
          <a:chExt cx="0" cy="0"/>
        </a:xfrm>
      </p:grpSpPr>
      <p:sp>
        <p:nvSpPr>
          <p:cNvPr id="10918" name="Google Shape;10918;p5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919" name="Google Shape;10919;p5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20" name="Google Shape;10920;p5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8" name="Shape 10948"/>
        <p:cNvGrpSpPr/>
        <p:nvPr/>
      </p:nvGrpSpPr>
      <p:grpSpPr>
        <a:xfrm>
          <a:off x="0" y="0"/>
          <a:ext cx="0" cy="0"/>
          <a:chOff x="0" y="0"/>
          <a:chExt cx="0" cy="0"/>
        </a:xfrm>
      </p:grpSpPr>
      <p:sp>
        <p:nvSpPr>
          <p:cNvPr id="10949" name="Google Shape;10949;p5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950" name="Google Shape;10950;p5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51" name="Google Shape;10951;p5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1" name="Shape 10971"/>
        <p:cNvGrpSpPr/>
        <p:nvPr/>
      </p:nvGrpSpPr>
      <p:grpSpPr>
        <a:xfrm>
          <a:off x="0" y="0"/>
          <a:ext cx="0" cy="0"/>
          <a:chOff x="0" y="0"/>
          <a:chExt cx="0" cy="0"/>
        </a:xfrm>
      </p:grpSpPr>
      <p:sp>
        <p:nvSpPr>
          <p:cNvPr id="10972" name="Google Shape;10972;p5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973" name="Google Shape;10973;p5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974" name="Google Shape;10974;p5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3" name="Shape 11013"/>
        <p:cNvGrpSpPr/>
        <p:nvPr/>
      </p:nvGrpSpPr>
      <p:grpSpPr>
        <a:xfrm>
          <a:off x="0" y="0"/>
          <a:ext cx="0" cy="0"/>
          <a:chOff x="0" y="0"/>
          <a:chExt cx="0" cy="0"/>
        </a:xfrm>
      </p:grpSpPr>
      <p:sp>
        <p:nvSpPr>
          <p:cNvPr id="11014" name="Google Shape;11014;p5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15" name="Google Shape;11015;p5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16" name="Google Shape;11016;p5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4" name="Shape 11044"/>
        <p:cNvGrpSpPr/>
        <p:nvPr/>
      </p:nvGrpSpPr>
      <p:grpSpPr>
        <a:xfrm>
          <a:off x="0" y="0"/>
          <a:ext cx="0" cy="0"/>
          <a:chOff x="0" y="0"/>
          <a:chExt cx="0" cy="0"/>
        </a:xfrm>
      </p:grpSpPr>
      <p:sp>
        <p:nvSpPr>
          <p:cNvPr id="11045" name="Google Shape;11045;p5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46" name="Google Shape;11046;p59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47" name="Google Shape;11047;p5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5" name="Shape 11075"/>
        <p:cNvGrpSpPr/>
        <p:nvPr/>
      </p:nvGrpSpPr>
      <p:grpSpPr>
        <a:xfrm>
          <a:off x="0" y="0"/>
          <a:ext cx="0" cy="0"/>
          <a:chOff x="0" y="0"/>
          <a:chExt cx="0" cy="0"/>
        </a:xfrm>
      </p:grpSpPr>
      <p:sp>
        <p:nvSpPr>
          <p:cNvPr id="11076" name="Google Shape;11076;p60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77" name="Google Shape;11077;p60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78" name="Google Shape;11078;p6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6" name="Shape 11106"/>
        <p:cNvGrpSpPr/>
        <p:nvPr/>
      </p:nvGrpSpPr>
      <p:grpSpPr>
        <a:xfrm>
          <a:off x="0" y="0"/>
          <a:ext cx="0" cy="0"/>
          <a:chOff x="0" y="0"/>
          <a:chExt cx="0" cy="0"/>
        </a:xfrm>
      </p:grpSpPr>
      <p:sp>
        <p:nvSpPr>
          <p:cNvPr id="11107" name="Google Shape;11107;p6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08" name="Google Shape;11108;p60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9" name="Google Shape;11109;p6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0" name="Shape 11120"/>
        <p:cNvGrpSpPr/>
        <p:nvPr/>
      </p:nvGrpSpPr>
      <p:grpSpPr>
        <a:xfrm>
          <a:off x="0" y="0"/>
          <a:ext cx="0" cy="0"/>
          <a:chOff x="0" y="0"/>
          <a:chExt cx="0" cy="0"/>
        </a:xfrm>
      </p:grpSpPr>
      <p:sp>
        <p:nvSpPr>
          <p:cNvPr id="11121" name="Google Shape;11121;p60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1122" name="Google Shape;11122;p6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6" name="Shape 11266"/>
        <p:cNvGrpSpPr/>
        <p:nvPr/>
      </p:nvGrpSpPr>
      <p:grpSpPr>
        <a:xfrm>
          <a:off x="0" y="0"/>
          <a:ext cx="0" cy="0"/>
          <a:chOff x="0" y="0"/>
          <a:chExt cx="0" cy="0"/>
        </a:xfrm>
      </p:grpSpPr>
      <p:sp>
        <p:nvSpPr>
          <p:cNvPr id="11267" name="Google Shape;11267;p61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68" name="Google Shape;11268;p6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69" name="Google Shape;11269;p6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9.xml"/><Relationship Id="rId3" Type="http://schemas.openxmlformats.org/officeDocument/2006/relationships/image" Target="../media/image78.jpg"/><Relationship Id="rId4" Type="http://schemas.openxmlformats.org/officeDocument/2006/relationships/slide" Target="slide575.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0.xml"/><Relationship Id="rId3" Type="http://schemas.openxmlformats.org/officeDocument/2006/relationships/image" Target="../media/image78.jpg"/><Relationship Id="rId4" Type="http://schemas.openxmlformats.org/officeDocument/2006/relationships/slide" Target="slide575.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1.xml"/><Relationship Id="rId3" Type="http://schemas.openxmlformats.org/officeDocument/2006/relationships/image" Target="../media/image78.jpg"/><Relationship Id="rId4" Type="http://schemas.openxmlformats.org/officeDocument/2006/relationships/slide" Target="slide575.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82.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84.xml"/><Relationship Id="rId3" Type="http://schemas.openxmlformats.org/officeDocument/2006/relationships/image" Target="../media/image92.jpg"/><Relationship Id="rId4" Type="http://schemas.openxmlformats.org/officeDocument/2006/relationships/slide" Target="slide576.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5.xml"/><Relationship Id="rId3"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87.xml"/><Relationship Id="rId3" Type="http://schemas.openxmlformats.org/officeDocument/2006/relationships/slide" Target="slide576.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89.xml"/><Relationship Id="rId3" Type="http://schemas.openxmlformats.org/officeDocument/2006/relationships/slide" Target="slide576.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1.xml"/><Relationship Id="rId3" Type="http://schemas.openxmlformats.org/officeDocument/2006/relationships/slide" Target="slide576.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3.xml"/><Relationship Id="rId3" Type="http://schemas.openxmlformats.org/officeDocument/2006/relationships/slide" Target="slide576.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5.xml"/><Relationship Id="rId3"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7.xml"/><Relationship Id="rId3" Type="http://schemas.openxmlformats.org/officeDocument/2006/relationships/slide" Target="slide576.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9.xml"/><Relationship Id="rId3" Type="http://schemas.openxmlformats.org/officeDocument/2006/relationships/slide" Target="slide576.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01.xml"/><Relationship Id="rId3" Type="http://schemas.openxmlformats.org/officeDocument/2006/relationships/slide" Target="slide576.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03.xml"/><Relationship Id="rId3" Type="http://schemas.openxmlformats.org/officeDocument/2006/relationships/slide" Target="slide576.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04.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2.xml"/><Relationship Id="rId3" Type="http://schemas.openxmlformats.org/officeDocument/2006/relationships/image" Target="../media/image115.png"/><Relationship Id="rId4" Type="http://schemas.openxmlformats.org/officeDocument/2006/relationships/image" Target="../media/image114.png"/><Relationship Id="rId5" Type="http://schemas.openxmlformats.org/officeDocument/2006/relationships/image" Target="../media/image113.png"/></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9" name="Shape 10759"/>
        <p:cNvGrpSpPr/>
        <p:nvPr/>
      </p:nvGrpSpPr>
      <p:grpSpPr>
        <a:xfrm>
          <a:off x="0" y="0"/>
          <a:ext cx="0" cy="0"/>
          <a:chOff x="0" y="0"/>
          <a:chExt cx="0" cy="0"/>
        </a:xfrm>
      </p:grpSpPr>
      <p:pic>
        <p:nvPicPr>
          <p:cNvPr descr="DIS-1001-H.jpg" id="10760" name="Google Shape;10760;p609"/>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61" name="Google Shape;10761;p60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Legal &amp; Regulatory Compliance</a:t>
            </a:r>
            <a:endParaRPr/>
          </a:p>
        </p:txBody>
      </p:sp>
      <p:sp>
        <p:nvSpPr>
          <p:cNvPr id="10762" name="Google Shape;10762;p609"/>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10763" name="Google Shape;10763;p609"/>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costs of investigations both to the financial condition and reputation of a company are significant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agility to quickly respond to downstream impacts due to ever-changing mandates can create competitive advantage</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Where there are incentives for compliance (tax rebates, subsidies, etc.) it enables companies to maximize the financial benefit quickly</a:t>
            </a:r>
            <a:endParaRPr/>
          </a:p>
        </p:txBody>
      </p:sp>
      <p:sp>
        <p:nvSpPr>
          <p:cNvPr id="10764" name="Google Shape;10764;p609"/>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Legal and Regulatory Compliance </a:t>
            </a:r>
            <a:r>
              <a:rPr lang="en-GB" sz="1600">
                <a:solidFill>
                  <a:srgbClr val="FFFFFF"/>
                </a:solidFill>
                <a:latin typeface="Century Gothic"/>
                <a:ea typeface="Century Gothic"/>
                <a:cs typeface="Century Gothic"/>
                <a:sym typeface="Century Gothic"/>
              </a:rPr>
              <a:t>encompasses the management of mandates coming from multiple authorities (government entity or trade association) to ensure an organization stays within the proper boundaries of operations and transparency.</a:t>
            </a:r>
            <a:endParaRPr sz="1600">
              <a:solidFill>
                <a:srgbClr val="FFFFFF"/>
              </a:solidFill>
              <a:latin typeface="Century Gothic"/>
              <a:ea typeface="Century Gothic"/>
              <a:cs typeface="Century Gothic"/>
              <a:sym typeface="Century Gothic"/>
            </a:endParaRPr>
          </a:p>
        </p:txBody>
      </p:sp>
      <p:sp>
        <p:nvSpPr>
          <p:cNvPr id="10765" name="Google Shape;10765;p60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69" name="Shape 10769"/>
        <p:cNvGrpSpPr/>
        <p:nvPr/>
      </p:nvGrpSpPr>
      <p:grpSpPr>
        <a:xfrm>
          <a:off x="0" y="0"/>
          <a:ext cx="0" cy="0"/>
          <a:chOff x="0" y="0"/>
          <a:chExt cx="0" cy="0"/>
        </a:xfrm>
      </p:grpSpPr>
      <p:sp>
        <p:nvSpPr>
          <p:cNvPr id="10770" name="Google Shape;10770;p610"/>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Core Areas</a:t>
            </a:r>
            <a:endParaRPr b="1">
              <a:solidFill>
                <a:schemeClr val="accent1"/>
              </a:solidFill>
            </a:endParaRPr>
          </a:p>
          <a:p>
            <a:pPr indent="-169863" lvl="0" marL="169863" rtl="0" algn="l">
              <a:lnSpc>
                <a:spcPct val="110000"/>
              </a:lnSpc>
              <a:spcBef>
                <a:spcPts val="800"/>
              </a:spcBef>
              <a:spcAft>
                <a:spcPts val="0"/>
              </a:spcAft>
              <a:buClr>
                <a:schemeClr val="dk1"/>
              </a:buClr>
              <a:buSzPts val="1600"/>
              <a:buChar char="•"/>
            </a:pPr>
            <a:r>
              <a:rPr lang="en-GB" sz="1600"/>
              <a:t>Finance &amp; Accounting</a:t>
            </a:r>
            <a:endParaRPr/>
          </a:p>
          <a:p>
            <a:pPr indent="-169863" lvl="0" marL="169863" rtl="0" algn="l">
              <a:lnSpc>
                <a:spcPct val="110000"/>
              </a:lnSpc>
              <a:spcBef>
                <a:spcPts val="800"/>
              </a:spcBef>
              <a:spcAft>
                <a:spcPts val="0"/>
              </a:spcAft>
              <a:buClr>
                <a:schemeClr val="dk1"/>
              </a:buClr>
              <a:buSzPts val="1600"/>
              <a:buChar char="•"/>
            </a:pPr>
            <a:r>
              <a:rPr lang="en-GB" sz="1600"/>
              <a:t>Pricing</a:t>
            </a:r>
            <a:endParaRPr/>
          </a:p>
          <a:p>
            <a:pPr indent="-169863" lvl="0" marL="169863" rtl="0" algn="l">
              <a:lnSpc>
                <a:spcPct val="110000"/>
              </a:lnSpc>
              <a:spcBef>
                <a:spcPts val="800"/>
              </a:spcBef>
              <a:spcAft>
                <a:spcPts val="0"/>
              </a:spcAft>
              <a:buClr>
                <a:schemeClr val="dk1"/>
              </a:buClr>
              <a:buSzPts val="1600"/>
              <a:buChar char="•"/>
            </a:pPr>
            <a:r>
              <a:rPr lang="en-GB" sz="1600"/>
              <a:t>Labor</a:t>
            </a:r>
            <a:endParaRPr sz="1600"/>
          </a:p>
          <a:p>
            <a:pPr indent="-169863" lvl="0" marL="169863" rtl="0" algn="l">
              <a:lnSpc>
                <a:spcPct val="110000"/>
              </a:lnSpc>
              <a:spcBef>
                <a:spcPts val="800"/>
              </a:spcBef>
              <a:spcAft>
                <a:spcPts val="0"/>
              </a:spcAft>
              <a:buClr>
                <a:schemeClr val="dk1"/>
              </a:buClr>
              <a:buSzPts val="1600"/>
              <a:buChar char="•"/>
            </a:pPr>
            <a:r>
              <a:rPr lang="en-GB" sz="1600"/>
              <a:t>Trade</a:t>
            </a:r>
            <a:endParaRPr/>
          </a:p>
          <a:p>
            <a:pPr indent="-169863" lvl="0" marL="169863" rtl="0" algn="l">
              <a:lnSpc>
                <a:spcPct val="110000"/>
              </a:lnSpc>
              <a:spcBef>
                <a:spcPts val="800"/>
              </a:spcBef>
              <a:spcAft>
                <a:spcPts val="0"/>
              </a:spcAft>
              <a:buClr>
                <a:schemeClr val="dk1"/>
              </a:buClr>
              <a:buSzPts val="1600"/>
              <a:buChar char="•"/>
            </a:pPr>
            <a:r>
              <a:rPr lang="en-GB" sz="1600"/>
              <a:t>Consumer Protection</a:t>
            </a:r>
            <a:endParaRPr/>
          </a:p>
          <a:p>
            <a:pPr indent="-169863" lvl="0" marL="169863" rtl="0" algn="l">
              <a:lnSpc>
                <a:spcPct val="110000"/>
              </a:lnSpc>
              <a:spcBef>
                <a:spcPts val="800"/>
              </a:spcBef>
              <a:spcAft>
                <a:spcPts val="0"/>
              </a:spcAft>
              <a:buClr>
                <a:schemeClr val="dk1"/>
              </a:buClr>
              <a:buSzPts val="1600"/>
              <a:buChar char="•"/>
            </a:pPr>
            <a:r>
              <a:rPr lang="en-GB" sz="1600"/>
              <a:t>Environment</a:t>
            </a:r>
            <a:endParaRPr sz="1600"/>
          </a:p>
        </p:txBody>
      </p:sp>
      <p:sp>
        <p:nvSpPr>
          <p:cNvPr id="10771" name="Google Shape;10771;p610"/>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Regulatory &amp; Compliance</a:t>
            </a:r>
            <a:endParaRPr/>
          </a:p>
        </p:txBody>
      </p:sp>
      <p:pic>
        <p:nvPicPr>
          <p:cNvPr descr="DIS-1001-H.jpg" id="10772" name="Google Shape;10772;p610"/>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73" name="Google Shape;10773;p610">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7" name="Shape 10777"/>
        <p:cNvGrpSpPr/>
        <p:nvPr/>
      </p:nvGrpSpPr>
      <p:grpSpPr>
        <a:xfrm>
          <a:off x="0" y="0"/>
          <a:ext cx="0" cy="0"/>
          <a:chOff x="0" y="0"/>
          <a:chExt cx="0" cy="0"/>
        </a:xfrm>
      </p:grpSpPr>
      <p:sp>
        <p:nvSpPr>
          <p:cNvPr id="10778" name="Google Shape;10778;p61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a:t>
            </a:r>
            <a:endParaRPr/>
          </a:p>
        </p:txBody>
      </p:sp>
      <p:pic>
        <p:nvPicPr>
          <p:cNvPr descr="DIS-1001-H.jpg" id="10779" name="Google Shape;10779;p611"/>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80" name="Google Shape;10780;p611"/>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85000"/>
              </a:lnSpc>
              <a:spcBef>
                <a:spcPts val="200"/>
              </a:spcBef>
              <a:spcAft>
                <a:spcPts val="0"/>
              </a:spcAft>
              <a:buClr>
                <a:schemeClr val="dk1"/>
              </a:buClr>
              <a:buSzPts val="1400"/>
              <a:buChar char="–"/>
            </a:pPr>
            <a:r>
              <a:rPr lang="en-GB" sz="1400"/>
              <a:t>Question 1</a:t>
            </a:r>
            <a:endParaRPr/>
          </a:p>
          <a:p>
            <a:pPr indent="-228600" lvl="1" marL="457200" rtl="0" algn="l">
              <a:lnSpc>
                <a:spcPct val="85000"/>
              </a:lnSpc>
              <a:spcBef>
                <a:spcPts val="200"/>
              </a:spcBef>
              <a:spcAft>
                <a:spcPts val="0"/>
              </a:spcAft>
              <a:buClr>
                <a:schemeClr val="dk1"/>
              </a:buClr>
              <a:buSzPts val="1400"/>
              <a:buChar char="–"/>
            </a:pPr>
            <a:r>
              <a:rPr lang="en-GB" sz="1400"/>
              <a:t>Question 2</a:t>
            </a:r>
            <a:endParaRPr/>
          </a:p>
          <a:p>
            <a:pPr indent="-228600" lvl="1" marL="457200" rtl="0" algn="l">
              <a:lnSpc>
                <a:spcPct val="85000"/>
              </a:lnSpc>
              <a:spcBef>
                <a:spcPts val="200"/>
              </a:spcBef>
              <a:spcAft>
                <a:spcPts val="0"/>
              </a:spcAft>
              <a:buClr>
                <a:schemeClr val="dk1"/>
              </a:buClr>
              <a:buSzPts val="1400"/>
              <a:buChar char="–"/>
            </a:pPr>
            <a:r>
              <a:rPr lang="en-GB" sz="1400"/>
              <a:t>Question 3</a:t>
            </a:r>
            <a:endParaRPr sz="1200"/>
          </a:p>
          <a:p>
            <a:pPr indent="-152400" lvl="1" marL="457200" rtl="0" algn="l">
              <a:lnSpc>
                <a:spcPct val="85000"/>
              </a:lnSpc>
              <a:spcBef>
                <a:spcPts val="1400"/>
              </a:spcBef>
              <a:spcAft>
                <a:spcPts val="0"/>
              </a:spcAft>
              <a:buClr>
                <a:schemeClr val="dk1"/>
              </a:buClr>
              <a:buSzPts val="1200"/>
              <a:buNone/>
            </a:pPr>
            <a:r>
              <a:t/>
            </a:r>
            <a:endParaRPr sz="1200"/>
          </a:p>
          <a:p>
            <a:pPr indent="-152400" lvl="1" marL="457200" rtl="0" algn="l">
              <a:lnSpc>
                <a:spcPct val="85000"/>
              </a:lnSpc>
              <a:spcBef>
                <a:spcPts val="400"/>
              </a:spcBef>
              <a:spcAft>
                <a:spcPts val="0"/>
              </a:spcAft>
              <a:buClr>
                <a:schemeClr val="dk1"/>
              </a:buClr>
              <a:buSzPts val="1200"/>
              <a:buNone/>
            </a:pPr>
            <a:r>
              <a:t/>
            </a:r>
            <a:endParaRPr sz="1200"/>
          </a:p>
          <a:p>
            <a:pPr indent="-80963" lvl="0" marL="169863" rtl="0" algn="l">
              <a:lnSpc>
                <a:spcPct val="95000"/>
              </a:lnSpc>
              <a:spcBef>
                <a:spcPts val="800"/>
              </a:spcBef>
              <a:spcAft>
                <a:spcPts val="0"/>
              </a:spcAft>
              <a:buClr>
                <a:schemeClr val="dk1"/>
              </a:buClr>
              <a:buSzPts val="1400"/>
              <a:buNone/>
            </a:pPr>
            <a:r>
              <a:t/>
            </a:r>
            <a:endParaRPr sz="1400"/>
          </a:p>
        </p:txBody>
      </p:sp>
      <p:sp>
        <p:nvSpPr>
          <p:cNvPr id="10781" name="Google Shape;10781;p611">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5" name="Shape 10785"/>
        <p:cNvGrpSpPr/>
        <p:nvPr/>
      </p:nvGrpSpPr>
      <p:grpSpPr>
        <a:xfrm>
          <a:off x="0" y="0"/>
          <a:ext cx="0" cy="0"/>
          <a:chOff x="0" y="0"/>
          <a:chExt cx="0" cy="0"/>
        </a:xfrm>
      </p:grpSpPr>
      <p:sp>
        <p:nvSpPr>
          <p:cNvPr id="10786" name="Google Shape;10786;p612"/>
          <p:cNvSpPr txBox="1"/>
          <p:nvPr>
            <p:ph idx="1" type="body"/>
          </p:nvPr>
        </p:nvSpPr>
        <p:spPr>
          <a:xfrm>
            <a:off x="0" y="2142803"/>
            <a:ext cx="9144000" cy="857927"/>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Legal and Regulatory Compliance</a:t>
            </a:r>
            <a:endParaRPr/>
          </a:p>
          <a:p>
            <a:pPr indent="0" lvl="0" marL="0" rtl="0" algn="ctr">
              <a:lnSpc>
                <a:spcPct val="110000"/>
              </a:lnSpc>
              <a:spcBef>
                <a:spcPts val="400"/>
              </a:spcBef>
              <a:spcAft>
                <a:spcPts val="0"/>
              </a:spcAft>
              <a:buClr>
                <a:schemeClr val="accent1"/>
              </a:buClr>
              <a:buSzPts val="2200"/>
              <a:buFont typeface="Century Gothic"/>
              <a:buNone/>
            </a:pPr>
            <a:r>
              <a:rPr lang="en-GB"/>
              <a:t>Capabilities</a:t>
            </a:r>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9" name="Shape 10799"/>
        <p:cNvGrpSpPr/>
        <p:nvPr/>
      </p:nvGrpSpPr>
      <p:grpSpPr>
        <a:xfrm>
          <a:off x="0" y="0"/>
          <a:ext cx="0" cy="0"/>
          <a:chOff x="0" y="0"/>
          <a:chExt cx="0" cy="0"/>
        </a:xfrm>
      </p:grpSpPr>
      <p:sp>
        <p:nvSpPr>
          <p:cNvPr id="10800" name="Google Shape;10800;p614"/>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01" name="Google Shape;10801;p614"/>
          <p:cNvSpPr txBox="1"/>
          <p:nvPr>
            <p:ph idx="1" type="body"/>
          </p:nvPr>
        </p:nvSpPr>
        <p:spPr>
          <a:xfrm>
            <a:off x="270933" y="604172"/>
            <a:ext cx="5226755"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400"/>
              <a:buChar char="•"/>
            </a:pPr>
            <a:r>
              <a:rPr lang="en-GB" sz="1400"/>
              <a:t>Provide both Risk and Finance with a common data and analytical infrastructure which enables both functions to meet their Regulatory and Compliance obligations, and which:</a:t>
            </a:r>
            <a:endParaRPr/>
          </a:p>
          <a:p>
            <a:pPr indent="-230187" lvl="1" marL="515938" rtl="0" algn="just">
              <a:lnSpc>
                <a:spcPct val="95000"/>
              </a:lnSpc>
              <a:spcBef>
                <a:spcPts val="600"/>
              </a:spcBef>
              <a:spcAft>
                <a:spcPts val="0"/>
              </a:spcAft>
              <a:buClr>
                <a:schemeClr val="dk1"/>
              </a:buClr>
              <a:buSzPts val="1200"/>
              <a:buChar char="–"/>
            </a:pPr>
            <a:r>
              <a:rPr lang="en-GB" sz="1200"/>
              <a:t>Contains common, integrated data with agreed definitions and well-defined quality metrics.</a:t>
            </a:r>
            <a:endParaRPr/>
          </a:p>
          <a:p>
            <a:pPr indent="-230187" lvl="1" marL="515938" rtl="0" algn="just">
              <a:lnSpc>
                <a:spcPct val="95000"/>
              </a:lnSpc>
              <a:spcBef>
                <a:spcPts val="600"/>
              </a:spcBef>
              <a:spcAft>
                <a:spcPts val="0"/>
              </a:spcAft>
              <a:buClr>
                <a:schemeClr val="dk1"/>
              </a:buClr>
              <a:buSzPts val="1200"/>
              <a:buChar char="–"/>
            </a:pPr>
            <a:r>
              <a:rPr lang="en-GB" sz="1200"/>
              <a:t>Supports both traditional structured data and multi-structured data such as web, logs and text which are increasingly needed to support compliance requirements.</a:t>
            </a:r>
            <a:endParaRPr sz="1200"/>
          </a:p>
          <a:p>
            <a:pPr indent="-230187" lvl="1" marL="515938" rtl="0" algn="just">
              <a:lnSpc>
                <a:spcPct val="95000"/>
              </a:lnSpc>
              <a:spcBef>
                <a:spcPts val="600"/>
              </a:spcBef>
              <a:spcAft>
                <a:spcPts val="0"/>
              </a:spcAft>
              <a:buClr>
                <a:schemeClr val="dk1"/>
              </a:buClr>
              <a:buSzPts val="1200"/>
              <a:buChar char="–"/>
            </a:pPr>
            <a:r>
              <a:rPr lang="en-GB" sz="1200"/>
              <a:t>Supports the high-volume and complex calculations often required for Accounting and Regulatory purposes with the highest levels of performance and scalability.</a:t>
            </a:r>
            <a:endParaRPr/>
          </a:p>
          <a:p>
            <a:pPr indent="-230187" lvl="1" marL="515938" rtl="0" algn="just">
              <a:lnSpc>
                <a:spcPct val="95000"/>
              </a:lnSpc>
              <a:spcBef>
                <a:spcPts val="600"/>
              </a:spcBef>
              <a:spcAft>
                <a:spcPts val="0"/>
              </a:spcAft>
              <a:buClr>
                <a:schemeClr val="dk1"/>
              </a:buClr>
              <a:buSzPts val="1200"/>
              <a:buChar char="–"/>
            </a:pPr>
            <a:r>
              <a:rPr lang="en-GB" sz="1200"/>
              <a:t>Delivers the levels of business-critical availability which are required.</a:t>
            </a:r>
            <a:endParaRPr/>
          </a:p>
          <a:p>
            <a:pPr indent="-230187" lvl="1" marL="515938" rtl="0" algn="just">
              <a:lnSpc>
                <a:spcPct val="95000"/>
              </a:lnSpc>
              <a:spcBef>
                <a:spcPts val="600"/>
              </a:spcBef>
              <a:spcAft>
                <a:spcPts val="0"/>
              </a:spcAft>
              <a:buClr>
                <a:schemeClr val="dk1"/>
              </a:buClr>
              <a:buSzPts val="1200"/>
              <a:buChar char="–"/>
            </a:pPr>
            <a:r>
              <a:rPr lang="en-GB" sz="1200"/>
              <a:t>Can accommodate complex mixed-workload requirements to ensure that all business SLAs are met.</a:t>
            </a:r>
            <a:endParaRPr sz="1200"/>
          </a:p>
        </p:txBody>
      </p:sp>
      <p:sp>
        <p:nvSpPr>
          <p:cNvPr id="10802" name="Google Shape;10802;p614"/>
          <p:cNvSpPr txBox="1"/>
          <p:nvPr>
            <p:ph type="title"/>
          </p:nvPr>
        </p:nvSpPr>
        <p:spPr>
          <a:xfrm>
            <a:off x="259643" y="174273"/>
            <a:ext cx="5653477"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 Compliance</a:t>
            </a:r>
            <a:br>
              <a:rPr lang="en-GB"/>
            </a:br>
            <a:endParaRPr/>
          </a:p>
        </p:txBody>
      </p:sp>
      <p:pic>
        <p:nvPicPr>
          <p:cNvPr id="10803" name="Google Shape;10803;p614"/>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10804" name="Google Shape;10804;p61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09" name="Shape 10809"/>
        <p:cNvGrpSpPr/>
        <p:nvPr/>
      </p:nvGrpSpPr>
      <p:grpSpPr>
        <a:xfrm>
          <a:off x="0" y="0"/>
          <a:ext cx="0" cy="0"/>
          <a:chOff x="0" y="0"/>
          <a:chExt cx="0" cy="0"/>
        </a:xfrm>
      </p:grpSpPr>
      <p:sp>
        <p:nvSpPr>
          <p:cNvPr id="10810" name="Google Shape;10810;p61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and Accounting</a:t>
            </a:r>
            <a:br>
              <a:rPr lang="en-GB"/>
            </a:br>
            <a:r>
              <a:rPr lang="en-GB"/>
              <a:t>What are the challenges?</a:t>
            </a:r>
            <a:endParaRPr/>
          </a:p>
        </p:txBody>
      </p:sp>
      <p:grpSp>
        <p:nvGrpSpPr>
          <p:cNvPr id="10811" name="Google Shape;10811;p615"/>
          <p:cNvGrpSpPr/>
          <p:nvPr/>
        </p:nvGrpSpPr>
        <p:grpSpPr>
          <a:xfrm>
            <a:off x="438691" y="2524118"/>
            <a:ext cx="8306242" cy="700743"/>
            <a:chOff x="456759" y="2468314"/>
            <a:chExt cx="8306242" cy="700743"/>
          </a:xfrm>
        </p:grpSpPr>
        <p:sp>
          <p:nvSpPr>
            <p:cNvPr id="10812" name="Google Shape;10812;p61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3" name="Google Shape;10813;p61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4" name="Google Shape;10814;p61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815" name="Google Shape;10815;p615"/>
          <p:cNvGrpSpPr/>
          <p:nvPr/>
        </p:nvGrpSpPr>
        <p:grpSpPr>
          <a:xfrm>
            <a:off x="438690" y="1764058"/>
            <a:ext cx="8306240" cy="720600"/>
            <a:chOff x="456758" y="1764058"/>
            <a:chExt cx="8306240" cy="720600"/>
          </a:xfrm>
        </p:grpSpPr>
        <p:sp>
          <p:nvSpPr>
            <p:cNvPr id="10816" name="Google Shape;10816;p61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7" name="Google Shape;10817;p61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8" name="Google Shape;10818;p61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819" name="Google Shape;10819;p61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820" name="Google Shape;10820;p615"/>
          <p:cNvGrpSpPr/>
          <p:nvPr/>
        </p:nvGrpSpPr>
        <p:grpSpPr>
          <a:xfrm>
            <a:off x="438691" y="4004525"/>
            <a:ext cx="8306242" cy="700825"/>
            <a:chOff x="456759" y="4004525"/>
            <a:chExt cx="8306242" cy="700825"/>
          </a:xfrm>
        </p:grpSpPr>
        <p:sp>
          <p:nvSpPr>
            <p:cNvPr id="10821" name="Google Shape;10821;p61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2" name="Google Shape;10822;p61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3" name="Google Shape;10823;p61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824" name="Google Shape;10824;p615"/>
          <p:cNvGrpSpPr/>
          <p:nvPr/>
        </p:nvGrpSpPr>
        <p:grpSpPr>
          <a:xfrm>
            <a:off x="438691" y="3264321"/>
            <a:ext cx="8306242" cy="700743"/>
            <a:chOff x="456759" y="3170400"/>
            <a:chExt cx="8306242" cy="700743"/>
          </a:xfrm>
        </p:grpSpPr>
        <p:sp>
          <p:nvSpPr>
            <p:cNvPr id="10825" name="Google Shape;10825;p61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6" name="Google Shape;10826;p61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7" name="Google Shape;10827;p61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828" name="Google Shape;10828;p61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10829" name="Google Shape;10829;p6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1" name="Shape 10851"/>
        <p:cNvGrpSpPr/>
        <p:nvPr/>
      </p:nvGrpSpPr>
      <p:grpSpPr>
        <a:xfrm>
          <a:off x="0" y="0"/>
          <a:ext cx="0" cy="0"/>
          <a:chOff x="0" y="0"/>
          <a:chExt cx="0" cy="0"/>
        </a:xfrm>
      </p:grpSpPr>
      <p:graphicFrame>
        <p:nvGraphicFramePr>
          <p:cNvPr id="10852" name="Google Shape;10852;p61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Operationalized advanced analytic functions  to troll for emerging anomalies suggestive of potential money laundering (e.g. Path and Graph functions).  Text analysis applied on communications between institutional agents (associates) and customer to detect suspicious dialogue.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Incorporation of Path and Graph analysis functions to detect emerging paths to money laundering and suspicious  associations.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Meld Foreign Account Tax Compliance Act (FATCA) compliance into AML data set, given it is a lot of the same data. Same data foundation is shared (funding model opportunity)  between AML, fraud, and Credit Risk functional units.  In addition, Customer Experience (marketing) also utilizes same data set to manage relationship.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Realization that AML, fraud, Credit Risk analysis utilized a lot of the same data and detection schemes and data should be shared. Detection and monitoring of money flows across and within retail, commercial and corporate accounts and customer base.  Incorporate all products as potential vehicle for laundering money, e.g. mortgage early payoff, small business loan payoff, etc. Suspicious activity feeds Next Best Interaction protocol to ensure appropriate customer messaging</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Capture customer identifying information upon account setup, noting governmental issued identification source, address and other mandated Know Your Customer information to secure identity.  AML analysis is separate and within isolated functional unit from Fraud and Credit Risk functions.  Although much of the same data is used for these functional applications, data is not shared, i.e. resulting in unproductive data movement , replication, risk, and cost.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0853" name="Google Shape;10853;p61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grpSp>
        <p:nvGrpSpPr>
          <p:cNvPr id="10854" name="Google Shape;10854;p617"/>
          <p:cNvGrpSpPr/>
          <p:nvPr/>
        </p:nvGrpSpPr>
        <p:grpSpPr>
          <a:xfrm>
            <a:off x="457200" y="3820877"/>
            <a:ext cx="8455025" cy="990600"/>
            <a:chOff x="211138" y="3972860"/>
            <a:chExt cx="8713787" cy="642437"/>
          </a:xfrm>
        </p:grpSpPr>
        <p:sp>
          <p:nvSpPr>
            <p:cNvPr id="10855" name="Google Shape;10855;p61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56" name="Google Shape;10856;p61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857" name="Google Shape;10857;p617"/>
          <p:cNvGrpSpPr/>
          <p:nvPr/>
        </p:nvGrpSpPr>
        <p:grpSpPr>
          <a:xfrm>
            <a:off x="7971865" y="781605"/>
            <a:ext cx="949325" cy="3191672"/>
            <a:chOff x="7941888" y="1062037"/>
            <a:chExt cx="983037" cy="2695575"/>
          </a:xfrm>
        </p:grpSpPr>
        <p:sp>
          <p:nvSpPr>
            <p:cNvPr id="10858" name="Google Shape;10858;p61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59" name="Google Shape;10859;p61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860" name="Google Shape;10860;p61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0" name="Shape 10890"/>
        <p:cNvGrpSpPr/>
        <p:nvPr/>
      </p:nvGrpSpPr>
      <p:grpSpPr>
        <a:xfrm>
          <a:off x="0" y="0"/>
          <a:ext cx="0" cy="0"/>
          <a:chOff x="0" y="0"/>
          <a:chExt cx="0" cy="0"/>
        </a:xfrm>
      </p:grpSpPr>
      <p:graphicFrame>
        <p:nvGraphicFramePr>
          <p:cNvPr id="10891" name="Google Shape;10891;p61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Consistent risk/return oriented capital management system with dynamic capital allocation, capital consumption /limit utilization is ante/post at single deal level.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allocation taking risk/return aspects into consideration is done, capital allocated on mutliple dimensions, capital consumption likely to bemeasured atsingle deal level. Internal rating based (IRB) or Advanced methodologies are used to determine capital.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Cost of capital metric is calculated and passed onto business and product lines at an aggregate level to drive economic capital decisions. Standardized methodologies still in force, but some capital testing for advanced methdology can be done.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is on standardized methodology prescribed by regulators. Business and product lines inherit enterprise-level capital allocation with some judgemental or exceptional adjustments prescribed by management.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active capital management. Business lines and products inherit enterprise-level capital allocation. Capital is on a standardized methodology prescribed by regulations.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0892" name="Google Shape;10892;p619"/>
          <p:cNvGrpSpPr/>
          <p:nvPr/>
        </p:nvGrpSpPr>
        <p:grpSpPr>
          <a:xfrm>
            <a:off x="469900" y="3819680"/>
            <a:ext cx="8455025" cy="732866"/>
            <a:chOff x="211138" y="3972860"/>
            <a:chExt cx="8713787" cy="642437"/>
          </a:xfrm>
        </p:grpSpPr>
        <p:sp>
          <p:nvSpPr>
            <p:cNvPr id="10893" name="Google Shape;10893;p61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4" name="Google Shape;10894;p61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895" name="Google Shape;10895;p619"/>
          <p:cNvGrpSpPr/>
          <p:nvPr/>
        </p:nvGrpSpPr>
        <p:grpSpPr>
          <a:xfrm>
            <a:off x="7971865" y="980278"/>
            <a:ext cx="949325" cy="2867825"/>
            <a:chOff x="7941888" y="1062037"/>
            <a:chExt cx="983037" cy="2695575"/>
          </a:xfrm>
        </p:grpSpPr>
        <p:sp>
          <p:nvSpPr>
            <p:cNvPr id="10896" name="Google Shape;10896;p61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7" name="Google Shape;10897;p61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898" name="Google Shape;10898;p61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a:solidFill>
                <a:schemeClr val="accent6"/>
              </a:solidFill>
            </a:endParaRPr>
          </a:p>
        </p:txBody>
      </p:sp>
      <p:sp>
        <p:nvSpPr>
          <p:cNvPr id="10899" name="Google Shape;10899;p6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1" name="Shape 10921"/>
        <p:cNvGrpSpPr/>
        <p:nvPr/>
      </p:nvGrpSpPr>
      <p:grpSpPr>
        <a:xfrm>
          <a:off x="0" y="0"/>
          <a:ext cx="0" cy="0"/>
          <a:chOff x="0" y="0"/>
          <a:chExt cx="0" cy="0"/>
        </a:xfrm>
      </p:grpSpPr>
      <p:graphicFrame>
        <p:nvGraphicFramePr>
          <p:cNvPr id="10922" name="Google Shape;10922;p62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0923" name="Google Shape;10923;p62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grpSp>
        <p:nvGrpSpPr>
          <p:cNvPr id="10924" name="Google Shape;10924;p621"/>
          <p:cNvGrpSpPr/>
          <p:nvPr/>
        </p:nvGrpSpPr>
        <p:grpSpPr>
          <a:xfrm>
            <a:off x="457200" y="4078841"/>
            <a:ext cx="8455025" cy="660717"/>
            <a:chOff x="211138" y="3972860"/>
            <a:chExt cx="8713787" cy="642437"/>
          </a:xfrm>
        </p:grpSpPr>
        <p:sp>
          <p:nvSpPr>
            <p:cNvPr id="10925" name="Google Shape;10925;p62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6" name="Google Shape;10926;p62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27" name="Google Shape;10927;p621"/>
          <p:cNvGrpSpPr/>
          <p:nvPr/>
        </p:nvGrpSpPr>
        <p:grpSpPr>
          <a:xfrm>
            <a:off x="7971865" y="781605"/>
            <a:ext cx="949325" cy="3191672"/>
            <a:chOff x="7941888" y="1062037"/>
            <a:chExt cx="983037" cy="2695575"/>
          </a:xfrm>
        </p:grpSpPr>
        <p:sp>
          <p:nvSpPr>
            <p:cNvPr id="10928" name="Google Shape;10928;p62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9" name="Google Shape;10929;p62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30" name="Google Shape;10930;p6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52" name="Shape 10952"/>
        <p:cNvGrpSpPr/>
        <p:nvPr/>
      </p:nvGrpSpPr>
      <p:grpSpPr>
        <a:xfrm>
          <a:off x="0" y="0"/>
          <a:ext cx="0" cy="0"/>
          <a:chOff x="0" y="0"/>
          <a:chExt cx="0" cy="0"/>
        </a:xfrm>
      </p:grpSpPr>
      <p:graphicFrame>
        <p:nvGraphicFramePr>
          <p:cNvPr id="10953" name="Google Shape;10953;p62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0954" name="Google Shape;10954;p62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grpSp>
        <p:nvGrpSpPr>
          <p:cNvPr id="10955" name="Google Shape;10955;p623"/>
          <p:cNvGrpSpPr/>
          <p:nvPr/>
        </p:nvGrpSpPr>
        <p:grpSpPr>
          <a:xfrm>
            <a:off x="457200" y="4078841"/>
            <a:ext cx="8455025" cy="660717"/>
            <a:chOff x="211138" y="3972860"/>
            <a:chExt cx="8713787" cy="642437"/>
          </a:xfrm>
        </p:grpSpPr>
        <p:sp>
          <p:nvSpPr>
            <p:cNvPr id="10956" name="Google Shape;10956;p62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57" name="Google Shape;10957;p62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58" name="Google Shape;10958;p623"/>
          <p:cNvGrpSpPr/>
          <p:nvPr/>
        </p:nvGrpSpPr>
        <p:grpSpPr>
          <a:xfrm>
            <a:off x="7971865" y="781605"/>
            <a:ext cx="949325" cy="3191672"/>
            <a:chOff x="7941888" y="1062037"/>
            <a:chExt cx="983037" cy="2695575"/>
          </a:xfrm>
        </p:grpSpPr>
        <p:sp>
          <p:nvSpPr>
            <p:cNvPr id="10959" name="Google Shape;10959;p62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60" name="Google Shape;10960;p62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61" name="Google Shape;10961;p6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5" name="Shape 10975"/>
        <p:cNvGrpSpPr/>
        <p:nvPr/>
      </p:nvGrpSpPr>
      <p:grpSpPr>
        <a:xfrm>
          <a:off x="0" y="0"/>
          <a:ext cx="0" cy="0"/>
          <a:chOff x="0" y="0"/>
          <a:chExt cx="0" cy="0"/>
        </a:xfrm>
      </p:grpSpPr>
      <p:sp>
        <p:nvSpPr>
          <p:cNvPr id="10976" name="Google Shape;10976;p62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br>
              <a:rPr lang="en-GB"/>
            </a:br>
            <a:r>
              <a:rPr lang="en-GB"/>
              <a:t>What are the challenges?</a:t>
            </a:r>
            <a:endParaRPr/>
          </a:p>
        </p:txBody>
      </p:sp>
      <p:grpSp>
        <p:nvGrpSpPr>
          <p:cNvPr id="10977" name="Google Shape;10977;p625"/>
          <p:cNvGrpSpPr/>
          <p:nvPr/>
        </p:nvGrpSpPr>
        <p:grpSpPr>
          <a:xfrm>
            <a:off x="438691" y="2524118"/>
            <a:ext cx="8306242" cy="700743"/>
            <a:chOff x="456759" y="2468314"/>
            <a:chExt cx="8306242" cy="700743"/>
          </a:xfrm>
        </p:grpSpPr>
        <p:sp>
          <p:nvSpPr>
            <p:cNvPr id="10978" name="Google Shape;10978;p62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79" name="Google Shape;10979;p62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0" name="Google Shape;10980;p62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981" name="Google Shape;10981;p625"/>
          <p:cNvGrpSpPr/>
          <p:nvPr/>
        </p:nvGrpSpPr>
        <p:grpSpPr>
          <a:xfrm>
            <a:off x="438690" y="1764058"/>
            <a:ext cx="8306240" cy="720600"/>
            <a:chOff x="456758" y="1764058"/>
            <a:chExt cx="8306240" cy="720600"/>
          </a:xfrm>
        </p:grpSpPr>
        <p:sp>
          <p:nvSpPr>
            <p:cNvPr id="10982" name="Google Shape;10982;p62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83" name="Google Shape;10983;p62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4" name="Google Shape;10984;p62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985" name="Google Shape;10985;p62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986" name="Google Shape;10986;p625"/>
          <p:cNvGrpSpPr/>
          <p:nvPr/>
        </p:nvGrpSpPr>
        <p:grpSpPr>
          <a:xfrm>
            <a:off x="438691" y="4004525"/>
            <a:ext cx="8306242" cy="700825"/>
            <a:chOff x="456759" y="4004525"/>
            <a:chExt cx="8306242" cy="700825"/>
          </a:xfrm>
        </p:grpSpPr>
        <p:sp>
          <p:nvSpPr>
            <p:cNvPr id="10987" name="Google Shape;10987;p62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88" name="Google Shape;10988;p62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9" name="Google Shape;10989;p62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990" name="Google Shape;10990;p625"/>
          <p:cNvGrpSpPr/>
          <p:nvPr/>
        </p:nvGrpSpPr>
        <p:grpSpPr>
          <a:xfrm>
            <a:off x="438691" y="3264321"/>
            <a:ext cx="8306242" cy="700743"/>
            <a:chOff x="456759" y="3170400"/>
            <a:chExt cx="8306242" cy="700743"/>
          </a:xfrm>
        </p:grpSpPr>
        <p:sp>
          <p:nvSpPr>
            <p:cNvPr id="10991" name="Google Shape;10991;p62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92" name="Google Shape;10992;p62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93" name="Google Shape;10993;p62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994" name="Google Shape;10994;p62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10995" name="Google Shape;10995;p6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7" name="Shape 11017"/>
        <p:cNvGrpSpPr/>
        <p:nvPr/>
      </p:nvGrpSpPr>
      <p:grpSpPr>
        <a:xfrm>
          <a:off x="0" y="0"/>
          <a:ext cx="0" cy="0"/>
          <a:chOff x="0" y="0"/>
          <a:chExt cx="0" cy="0"/>
        </a:xfrm>
      </p:grpSpPr>
      <p:graphicFrame>
        <p:nvGraphicFramePr>
          <p:cNvPr id="11018" name="Google Shape;11018;p62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1019" name="Google Shape;11019;p62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Truth-in-Advertising</a:t>
            </a:r>
            <a:endParaRPr b="1"/>
          </a:p>
        </p:txBody>
      </p:sp>
      <p:grpSp>
        <p:nvGrpSpPr>
          <p:cNvPr id="11020" name="Google Shape;11020;p627"/>
          <p:cNvGrpSpPr/>
          <p:nvPr/>
        </p:nvGrpSpPr>
        <p:grpSpPr>
          <a:xfrm>
            <a:off x="457200" y="4078841"/>
            <a:ext cx="8455025" cy="660717"/>
            <a:chOff x="211138" y="3972860"/>
            <a:chExt cx="8713787" cy="642437"/>
          </a:xfrm>
        </p:grpSpPr>
        <p:sp>
          <p:nvSpPr>
            <p:cNvPr id="11021" name="Google Shape;11021;p62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2" name="Google Shape;11022;p62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23" name="Google Shape;11023;p627"/>
          <p:cNvGrpSpPr/>
          <p:nvPr/>
        </p:nvGrpSpPr>
        <p:grpSpPr>
          <a:xfrm>
            <a:off x="7971865" y="781605"/>
            <a:ext cx="949325" cy="3191672"/>
            <a:chOff x="7941888" y="1062037"/>
            <a:chExt cx="983037" cy="2695575"/>
          </a:xfrm>
        </p:grpSpPr>
        <p:sp>
          <p:nvSpPr>
            <p:cNvPr id="11024" name="Google Shape;11024;p62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5" name="Google Shape;11025;p62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26" name="Google Shape;11026;p6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8" name="Shape 11048"/>
        <p:cNvGrpSpPr/>
        <p:nvPr/>
      </p:nvGrpSpPr>
      <p:grpSpPr>
        <a:xfrm>
          <a:off x="0" y="0"/>
          <a:ext cx="0" cy="0"/>
          <a:chOff x="0" y="0"/>
          <a:chExt cx="0" cy="0"/>
        </a:xfrm>
      </p:grpSpPr>
      <p:graphicFrame>
        <p:nvGraphicFramePr>
          <p:cNvPr id="11049" name="Google Shape;11049;p629"/>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1050" name="Google Shape;11050;p629"/>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Predatory Practices</a:t>
            </a:r>
            <a:endParaRPr b="1"/>
          </a:p>
        </p:txBody>
      </p:sp>
      <p:grpSp>
        <p:nvGrpSpPr>
          <p:cNvPr id="11051" name="Google Shape;11051;p629"/>
          <p:cNvGrpSpPr/>
          <p:nvPr/>
        </p:nvGrpSpPr>
        <p:grpSpPr>
          <a:xfrm>
            <a:off x="457200" y="4078841"/>
            <a:ext cx="8455025" cy="660717"/>
            <a:chOff x="211138" y="3972860"/>
            <a:chExt cx="8713787" cy="642437"/>
          </a:xfrm>
        </p:grpSpPr>
        <p:sp>
          <p:nvSpPr>
            <p:cNvPr id="11052" name="Google Shape;11052;p62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3" name="Google Shape;11053;p62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54" name="Google Shape;11054;p629"/>
          <p:cNvGrpSpPr/>
          <p:nvPr/>
        </p:nvGrpSpPr>
        <p:grpSpPr>
          <a:xfrm>
            <a:off x="7971865" y="781605"/>
            <a:ext cx="949325" cy="3191672"/>
            <a:chOff x="7941888" y="1062037"/>
            <a:chExt cx="983037" cy="2695575"/>
          </a:xfrm>
        </p:grpSpPr>
        <p:sp>
          <p:nvSpPr>
            <p:cNvPr id="11055" name="Google Shape;11055;p62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6" name="Google Shape;11056;p62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57" name="Google Shape;11057;p62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9" name="Shape 11079"/>
        <p:cNvGrpSpPr/>
        <p:nvPr/>
      </p:nvGrpSpPr>
      <p:grpSpPr>
        <a:xfrm>
          <a:off x="0" y="0"/>
          <a:ext cx="0" cy="0"/>
          <a:chOff x="0" y="0"/>
          <a:chExt cx="0" cy="0"/>
        </a:xfrm>
      </p:grpSpPr>
      <p:graphicFrame>
        <p:nvGraphicFramePr>
          <p:cNvPr id="11080" name="Google Shape;11080;p63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1081" name="Google Shape;11081;p63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Privacy Protections</a:t>
            </a:r>
            <a:endParaRPr b="1"/>
          </a:p>
        </p:txBody>
      </p:sp>
      <p:grpSp>
        <p:nvGrpSpPr>
          <p:cNvPr id="11082" name="Google Shape;11082;p631"/>
          <p:cNvGrpSpPr/>
          <p:nvPr/>
        </p:nvGrpSpPr>
        <p:grpSpPr>
          <a:xfrm>
            <a:off x="457200" y="4078841"/>
            <a:ext cx="8455025" cy="660717"/>
            <a:chOff x="211138" y="3972860"/>
            <a:chExt cx="8713787" cy="642437"/>
          </a:xfrm>
        </p:grpSpPr>
        <p:sp>
          <p:nvSpPr>
            <p:cNvPr id="11083" name="Google Shape;11083;p63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84" name="Google Shape;11084;p63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85" name="Google Shape;11085;p631"/>
          <p:cNvGrpSpPr/>
          <p:nvPr/>
        </p:nvGrpSpPr>
        <p:grpSpPr>
          <a:xfrm>
            <a:off x="7971865" y="781605"/>
            <a:ext cx="949325" cy="3191672"/>
            <a:chOff x="7941888" y="1062037"/>
            <a:chExt cx="983037" cy="2695575"/>
          </a:xfrm>
        </p:grpSpPr>
        <p:sp>
          <p:nvSpPr>
            <p:cNvPr id="11086" name="Google Shape;11086;p63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87" name="Google Shape;11087;p63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88" name="Google Shape;11088;p63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0" name="Shape 11110"/>
        <p:cNvGrpSpPr/>
        <p:nvPr/>
      </p:nvGrpSpPr>
      <p:grpSpPr>
        <a:xfrm>
          <a:off x="0" y="0"/>
          <a:ext cx="0" cy="0"/>
          <a:chOff x="0" y="0"/>
          <a:chExt cx="0" cy="0"/>
        </a:xfrm>
      </p:grpSpPr>
      <p:graphicFrame>
        <p:nvGraphicFramePr>
          <p:cNvPr id="11111" name="Google Shape;11111;p63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11112" name="Google Shape;11112;p63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Do-Not-Solicit</a:t>
            </a:r>
            <a:endParaRPr b="1"/>
          </a:p>
        </p:txBody>
      </p:sp>
      <p:grpSp>
        <p:nvGrpSpPr>
          <p:cNvPr id="11113" name="Google Shape;11113;p633"/>
          <p:cNvGrpSpPr/>
          <p:nvPr/>
        </p:nvGrpSpPr>
        <p:grpSpPr>
          <a:xfrm>
            <a:off x="457200" y="4078841"/>
            <a:ext cx="8455025" cy="660717"/>
            <a:chOff x="211138" y="3972860"/>
            <a:chExt cx="8713787" cy="642437"/>
          </a:xfrm>
        </p:grpSpPr>
        <p:sp>
          <p:nvSpPr>
            <p:cNvPr id="11114" name="Google Shape;11114;p63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115" name="Google Shape;11115;p63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116" name="Google Shape;11116;p633"/>
          <p:cNvGrpSpPr/>
          <p:nvPr/>
        </p:nvGrpSpPr>
        <p:grpSpPr>
          <a:xfrm>
            <a:off x="7971865" y="781605"/>
            <a:ext cx="949325" cy="3191672"/>
            <a:chOff x="7941888" y="1062037"/>
            <a:chExt cx="983037" cy="2695575"/>
          </a:xfrm>
        </p:grpSpPr>
        <p:sp>
          <p:nvSpPr>
            <p:cNvPr id="11117" name="Google Shape;11117;p63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118" name="Google Shape;11118;p63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119" name="Google Shape;11119;p6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3" name="Shape 11123"/>
        <p:cNvGrpSpPr/>
        <p:nvPr/>
      </p:nvGrpSpPr>
      <p:grpSpPr>
        <a:xfrm>
          <a:off x="0" y="0"/>
          <a:ext cx="0" cy="0"/>
          <a:chOff x="0" y="0"/>
          <a:chExt cx="0" cy="0"/>
        </a:xfrm>
      </p:grpSpPr>
      <p:sp>
        <p:nvSpPr>
          <p:cNvPr id="11124" name="Google Shape;11124;p634"/>
          <p:cNvSpPr txBox="1"/>
          <p:nvPr>
            <p:ph idx="1" type="body"/>
          </p:nvPr>
        </p:nvSpPr>
        <p:spPr>
          <a:xfrm>
            <a:off x="0" y="2127543"/>
            <a:ext cx="9144000" cy="88844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Legal and Regulatory Compliance</a:t>
            </a:r>
            <a:endParaRPr/>
          </a:p>
          <a:p>
            <a:pPr indent="0" lvl="0" marL="0" rtl="0" algn="ctr">
              <a:lnSpc>
                <a:spcPct val="110000"/>
              </a:lnSpc>
              <a:spcBef>
                <a:spcPts val="400"/>
              </a:spcBef>
              <a:spcAft>
                <a:spcPts val="0"/>
              </a:spcAft>
              <a:buClr>
                <a:schemeClr val="accent1"/>
              </a:buClr>
              <a:buSzPts val="2200"/>
              <a:buFont typeface="Century Gothic"/>
              <a:buNone/>
            </a:pPr>
            <a:r>
              <a:rPr lang="en-GB"/>
              <a:t>Use Cases</a:t>
            </a:r>
            <a:endParaRPr/>
          </a:p>
        </p:txBody>
      </p:sp>
      <p:sp>
        <p:nvSpPr>
          <p:cNvPr id="11125" name="Google Shape;11125;p63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0" name="Shape 11270"/>
        <p:cNvGrpSpPr/>
        <p:nvPr/>
      </p:nvGrpSpPr>
      <p:grpSpPr>
        <a:xfrm>
          <a:off x="0" y="0"/>
          <a:ext cx="0" cy="0"/>
          <a:chOff x="0" y="0"/>
          <a:chExt cx="0" cy="0"/>
        </a:xfrm>
      </p:grpSpPr>
      <p:cxnSp>
        <p:nvCxnSpPr>
          <p:cNvPr id="11271" name="Google Shape;11271;p642"/>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11272" name="Google Shape;11272;p64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73" name="Google Shape;11273;p642"/>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74" name="Google Shape;11274;p642"/>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Output: Teradata Value Analyser </a:t>
            </a:r>
            <a:endParaRPr sz="900">
              <a:solidFill>
                <a:schemeClr val="dk1"/>
              </a:solidFill>
              <a:latin typeface="Century Gothic"/>
              <a:ea typeface="Century Gothic"/>
              <a:cs typeface="Century Gothic"/>
              <a:sym typeface="Century Gothic"/>
            </a:endParaRPr>
          </a:p>
        </p:txBody>
      </p:sp>
      <p:sp>
        <p:nvSpPr>
          <p:cNvPr id="11275" name="Google Shape;11275;p642"/>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76" name="Google Shape;11276;p64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77" name="Google Shape;11277;p64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Transition from a Cash perspective to a “life of the contract” perspective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Opportunity to view and analyze data at portfolio level as well as Customer level</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78" name="Google Shape;11278;p64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79" name="Google Shape;11279;p642"/>
          <p:cNvSpPr txBox="1"/>
          <p:nvPr/>
        </p:nvSpPr>
        <p:spPr>
          <a:xfrm>
            <a:off x="465960" y="4245769"/>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pic>
        <p:nvPicPr>
          <p:cNvPr id="11280" name="Google Shape;11280;p642"/>
          <p:cNvPicPr preferRelativeResize="0"/>
          <p:nvPr/>
        </p:nvPicPr>
        <p:blipFill rotWithShape="1">
          <a:blip r:embed="rId3">
            <a:alphaModFix/>
          </a:blip>
          <a:srcRect b="0" l="0" r="0" t="0"/>
          <a:stretch/>
        </p:blipFill>
        <p:spPr>
          <a:xfrm>
            <a:off x="931644" y="2396342"/>
            <a:ext cx="3110551" cy="2315477"/>
          </a:xfrm>
          <a:prstGeom prst="rect">
            <a:avLst/>
          </a:prstGeom>
          <a:noFill/>
          <a:ln>
            <a:noFill/>
          </a:ln>
        </p:spPr>
      </p:pic>
      <p:pic>
        <p:nvPicPr>
          <p:cNvPr id="11281" name="Google Shape;11281;p642"/>
          <p:cNvPicPr preferRelativeResize="0"/>
          <p:nvPr/>
        </p:nvPicPr>
        <p:blipFill rotWithShape="1">
          <a:blip r:embed="rId4">
            <a:alphaModFix/>
          </a:blip>
          <a:srcRect b="0" l="0" r="0" t="0"/>
          <a:stretch/>
        </p:blipFill>
        <p:spPr>
          <a:xfrm>
            <a:off x="7020877" y="2652251"/>
            <a:ext cx="1854129" cy="1540786"/>
          </a:xfrm>
          <a:prstGeom prst="rect">
            <a:avLst/>
          </a:prstGeom>
          <a:noFill/>
          <a:ln>
            <a:noFill/>
          </a:ln>
        </p:spPr>
      </p:pic>
      <p:pic>
        <p:nvPicPr>
          <p:cNvPr id="11282" name="Google Shape;11282;p642"/>
          <p:cNvPicPr preferRelativeResize="0"/>
          <p:nvPr/>
        </p:nvPicPr>
        <p:blipFill rotWithShape="1">
          <a:blip r:embed="rId5">
            <a:alphaModFix/>
          </a:blip>
          <a:srcRect b="0" l="0" r="0" t="0"/>
          <a:stretch/>
        </p:blipFill>
        <p:spPr>
          <a:xfrm>
            <a:off x="6831126" y="3510245"/>
            <a:ext cx="1629014" cy="1093314"/>
          </a:xfrm>
          <a:prstGeom prst="rect">
            <a:avLst/>
          </a:prstGeom>
          <a:noFill/>
          <a:ln>
            <a:noFill/>
          </a:ln>
        </p:spPr>
      </p:pic>
      <p:sp>
        <p:nvSpPr>
          <p:cNvPr id="11283" name="Google Shape;11283;p642"/>
          <p:cNvSpPr/>
          <p:nvPr/>
        </p:nvSpPr>
        <p:spPr>
          <a:xfrm>
            <a:off x="4716463" y="2652251"/>
            <a:ext cx="2166941" cy="2139047"/>
          </a:xfrm>
          <a:prstGeom prst="rect">
            <a:avLst/>
          </a:prstGeom>
          <a:noFill/>
          <a:ln>
            <a:noFill/>
          </a:ln>
        </p:spPr>
        <p:txBody>
          <a:bodyPr anchorCtr="0" anchor="t" bIns="45700" lIns="91425" spcFirstLastPara="1" rIns="91425" wrap="square" tIns="45700">
            <a:noAutofit/>
          </a:bodyPr>
          <a:lstStyle/>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Contract level based solution utilising the in-database calculation capabilities of TVA</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A Pre-defined rule set manages IFRS15 calculations within the application. </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Leverages the power of the Teradata database and is designed specifically to perform high volume calculations on detailed data</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Highly flexible &amp; configurable solution to meet specific customer requirements</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Cost effective IFRS solution leverages the existing investment in Information Management</a:t>
            </a:r>
            <a:endParaRPr sz="700">
              <a:solidFill>
                <a:srgbClr val="3C3C3B"/>
              </a:solidFill>
              <a:latin typeface="Century Gothic"/>
              <a:ea typeface="Century Gothic"/>
              <a:cs typeface="Century Gothic"/>
              <a:sym typeface="Century Gothic"/>
            </a:endParaRPr>
          </a:p>
          <a:p>
            <a:pPr indent="0" lvl="0" marL="0" marR="0" rtl="0" algn="l">
              <a:spcBef>
                <a:spcPts val="0"/>
              </a:spcBef>
              <a:spcAft>
                <a:spcPts val="0"/>
              </a:spcAft>
              <a:buNone/>
            </a:pPr>
            <a:r>
              <a:t/>
            </a:r>
            <a:endParaRPr sz="700">
              <a:solidFill>
                <a:srgbClr val="3C3C3B"/>
              </a:solidFill>
              <a:latin typeface="Century Gothic"/>
              <a:ea typeface="Century Gothic"/>
              <a:cs typeface="Century Gothic"/>
              <a:sym typeface="Century Gothic"/>
            </a:endParaRPr>
          </a:p>
        </p:txBody>
      </p:sp>
      <p:sp>
        <p:nvSpPr>
          <p:cNvPr id="11284" name="Google Shape;11284;p642"/>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