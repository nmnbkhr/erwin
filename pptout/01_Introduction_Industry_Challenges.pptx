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2.xml" ContentType="application/vnd.openxmlformats-officedocument.presentationml.notesSlide+xml"/>
  <Override PartName="/ppt/notesSlides/notesSlide104.xml" ContentType="application/vnd.openxmlformats-officedocument.presentationml.notesSlide+xml"/>
  <Override PartName="/ppt/notesSlides/notesSlide106.xml" ContentType="application/vnd.openxmlformats-officedocument.presentationml.notesSlide+xml"/>
  <Override PartName="/ppt/notesSlides/notesSlide108.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2.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6.xml" ContentType="application/vnd.openxmlformats-officedocument.presentationml.notesSlide+xml"/>
  <Override PartName="/ppt/notesSlides/notesSlide88.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2.xml" ContentType="application/vnd.openxmlformats-officedocument.presentationml.notesSlide+xml"/>
  <Override PartName="/ppt/notesSlides/notesSlide94.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2.xml" ContentType="application/vnd.openxmlformats-officedocument.presentationml.slide+xml"/>
  <Override PartName="/ppt/slides/slide104.xml" ContentType="application/vnd.openxmlformats-officedocument.presentationml.slide+xml"/>
  <Override PartName="/ppt/slides/slide106.xml" ContentType="application/vnd.openxmlformats-officedocument.presentationml.slide+xml"/>
  <Override PartName="/ppt/slides/slide108.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2.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6.xml" ContentType="application/vnd.openxmlformats-officedocument.presentationml.slide+xml"/>
  <Override PartName="/ppt/slides/slide88.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2.xml" ContentType="application/vnd.openxmlformats-officedocument.presentationml.slide+xml"/>
  <Override PartName="/ppt/slides/slide94.xml" ContentType="application/vnd.openxmlformats-officedocument.presentationml.slide+xml"/>
  <Override PartName="/ppt/slides/slide96.xml" ContentType="application/vnd.openxmlformats-officedocument.presentationml.slide+xml"/>
  <Override PartName="/ppt/slides/slide98.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 name="Shape 144"/>
        <p:cNvGrpSpPr/>
        <p:nvPr/>
      </p:nvGrpSpPr>
      <p:grpSpPr>
        <a:xfrm>
          <a:off x="0" y="0"/>
          <a:ext cx="0" cy="0"/>
          <a:chOff x="0" y="0"/>
          <a:chExt cx="0" cy="0"/>
        </a:xfrm>
      </p:grpSpPr>
      <p:sp>
        <p:nvSpPr>
          <p:cNvPr id="145" name="Google Shape;145;p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6" name="Google Shape;146;p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 name="Shape 149"/>
        <p:cNvGrpSpPr/>
        <p:nvPr/>
      </p:nvGrpSpPr>
      <p:grpSpPr>
        <a:xfrm>
          <a:off x="0" y="0"/>
          <a:ext cx="0" cy="0"/>
          <a:chOff x="0" y="0"/>
          <a:chExt cx="0" cy="0"/>
        </a:xfrm>
      </p:grpSpPr>
      <p:sp>
        <p:nvSpPr>
          <p:cNvPr id="150" name="Google Shape;150;p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51" name="Google Shape;151;p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p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59" name="Google Shape;159;p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 name="Shape 165"/>
        <p:cNvGrpSpPr/>
        <p:nvPr/>
      </p:nvGrpSpPr>
      <p:grpSpPr>
        <a:xfrm>
          <a:off x="0" y="0"/>
          <a:ext cx="0" cy="0"/>
          <a:chOff x="0" y="0"/>
          <a:chExt cx="0" cy="0"/>
        </a:xfrm>
      </p:grpSpPr>
      <p:sp>
        <p:nvSpPr>
          <p:cNvPr id="166" name="Google Shape;166;p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67" name="Google Shape;167;p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68" name="Google Shape;168;p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 name="Shape 188"/>
        <p:cNvGrpSpPr/>
        <p:nvPr/>
      </p:nvGrpSpPr>
      <p:grpSpPr>
        <a:xfrm>
          <a:off x="0" y="0"/>
          <a:ext cx="0" cy="0"/>
          <a:chOff x="0" y="0"/>
          <a:chExt cx="0" cy="0"/>
        </a:xfrm>
      </p:grpSpPr>
      <p:sp>
        <p:nvSpPr>
          <p:cNvPr id="189" name="Google Shape;189;p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90" name="Google Shape;190;p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 name="Shape 214"/>
        <p:cNvGrpSpPr/>
        <p:nvPr/>
      </p:nvGrpSpPr>
      <p:grpSpPr>
        <a:xfrm>
          <a:off x="0" y="0"/>
          <a:ext cx="0" cy="0"/>
          <a:chOff x="0" y="0"/>
          <a:chExt cx="0" cy="0"/>
        </a:xfrm>
      </p:grpSpPr>
      <p:sp>
        <p:nvSpPr>
          <p:cNvPr id="215" name="Google Shape;215;p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216" name="Google Shape;216;p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p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238" name="Google Shape;238;p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 name="Shape 244"/>
        <p:cNvGrpSpPr/>
        <p:nvPr/>
      </p:nvGrpSpPr>
      <p:grpSpPr>
        <a:xfrm>
          <a:off x="0" y="0"/>
          <a:ext cx="0" cy="0"/>
          <a:chOff x="0" y="0"/>
          <a:chExt cx="0" cy="0"/>
        </a:xfrm>
      </p:grpSpPr>
      <p:sp>
        <p:nvSpPr>
          <p:cNvPr id="245" name="Google Shape;245;p8: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246" name="Google Shape;246;p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p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279" name="Google Shape;279;p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image" Target="../media/image5.png"/><Relationship Id="rId4" Type="http://schemas.openxmlformats.org/officeDocument/2006/relationships/image" Target="../media/image9.png"/><Relationship Id="rId5" Type="http://schemas.openxmlformats.org/officeDocument/2006/relationships/image" Target="../media/image10.png"/><Relationship Id="rId6" Type="http://schemas.openxmlformats.org/officeDocument/2006/relationships/image" Target="../media/image2.png"/><Relationship Id="rId7" Type="http://schemas.openxmlformats.org/officeDocument/2006/relationships/image" Target="../media/image20.png"/><Relationship Id="rId8" Type="http://schemas.openxmlformats.org/officeDocument/2006/relationships/image" Target="../media/image17.png"/><Relationship Id="rId9" Type="http://schemas.openxmlformats.org/officeDocument/2006/relationships/image" Target="../media/image4.png"/><Relationship Id="rId10" Type="http://schemas.openxmlformats.org/officeDocument/2006/relationships/image" Target="../media/image12.png"/><Relationship Id="rId11" Type="http://schemas.openxmlformats.org/officeDocument/2006/relationships/image" Target="../media/image11.png"/><Relationship Id="rId12" Type="http://schemas.openxmlformats.org/officeDocument/2006/relationships/image" Target="../media/image1.png"/><Relationship Id="rId13" Type="http://schemas.openxmlformats.org/officeDocument/2006/relationships/image" Target="../media/image3.png"/><Relationship Id="rId14" Type="http://schemas.openxmlformats.org/officeDocument/2006/relationships/image" Target="../media/image7.png"/><Relationship Id="rId15" Type="http://schemas.openxmlformats.org/officeDocument/2006/relationships/image" Target="../media/image14.png"/><Relationship Id="rId16" Type="http://schemas.openxmlformats.org/officeDocument/2006/relationships/image" Target="../media/image6.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 Id="rId3" Type="http://schemas.openxmlformats.org/officeDocument/2006/relationships/image" Target="../media/image1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 Id="rId3" Type="http://schemas.openxmlformats.org/officeDocument/2006/relationships/image" Target="../media/image1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 name="Shape 147"/>
        <p:cNvGrpSpPr/>
        <p:nvPr/>
      </p:nvGrpSpPr>
      <p:grpSpPr>
        <a:xfrm>
          <a:off x="0" y="0"/>
          <a:ext cx="0" cy="0"/>
          <a:chOff x="0" y="0"/>
          <a:chExt cx="0" cy="0"/>
        </a:xfrm>
      </p:grpSpPr>
      <p:sp>
        <p:nvSpPr>
          <p:cNvPr id="148" name="Google Shape;148;p31"/>
          <p:cNvSpPr txBox="1"/>
          <p:nvPr>
            <p:ph idx="1" type="body"/>
          </p:nvPr>
        </p:nvSpPr>
        <p:spPr>
          <a:xfrm>
            <a:off x="0" y="2700743"/>
            <a:ext cx="9144000" cy="1164421"/>
          </a:xfrm>
          <a:prstGeom prst="rect">
            <a:avLst/>
          </a:prstGeom>
          <a:solidFill>
            <a:schemeClr val="accent1">
              <a:alpha val="89803"/>
            </a:schemeClr>
          </a:solidFill>
          <a:ln>
            <a:noFill/>
          </a:ln>
        </p:spPr>
        <p:txBody>
          <a:bodyPr anchorCtr="1" anchor="ctr" bIns="137150" lIns="457200" spcFirstLastPara="1" rIns="457200" wrap="square" tIns="137150">
            <a:noAutofit/>
          </a:bodyPr>
          <a:lstStyle/>
          <a:p>
            <a:pPr indent="-152400" lvl="0" marL="0" rtl="0" algn="ctr">
              <a:lnSpc>
                <a:spcPct val="85000"/>
              </a:lnSpc>
              <a:spcBef>
                <a:spcPts val="0"/>
              </a:spcBef>
              <a:spcAft>
                <a:spcPts val="0"/>
              </a:spcAft>
              <a:buClr>
                <a:schemeClr val="lt1"/>
              </a:buClr>
              <a:buSzPts val="2400"/>
              <a:buFont typeface="Arial"/>
              <a:buChar char="​"/>
            </a:pPr>
            <a:r>
              <a:rPr lang="en-GB" sz="2400"/>
              <a:t>Teradata Business Value Framework</a:t>
            </a:r>
            <a:endParaRPr/>
          </a:p>
          <a:p>
            <a:pPr indent="-114300" lvl="0" marL="0" rtl="0" algn="ctr">
              <a:lnSpc>
                <a:spcPct val="85000"/>
              </a:lnSpc>
              <a:spcBef>
                <a:spcPts val="400"/>
              </a:spcBef>
              <a:spcAft>
                <a:spcPts val="0"/>
              </a:spcAft>
              <a:buClr>
                <a:schemeClr val="lt1"/>
              </a:buClr>
              <a:buSzPts val="1800"/>
              <a:buFont typeface="Arial"/>
              <a:buChar char="​"/>
            </a:pPr>
            <a:r>
              <a:rPr lang="en-GB" sz="1800"/>
              <a:t>Finance Industry</a:t>
            </a:r>
            <a:endParaRPr/>
          </a:p>
          <a:p>
            <a:pPr indent="-114300" lvl="0" marL="0" rtl="0" algn="ctr">
              <a:lnSpc>
                <a:spcPct val="85000"/>
              </a:lnSpc>
              <a:spcBef>
                <a:spcPts val="400"/>
              </a:spcBef>
              <a:spcAft>
                <a:spcPts val="0"/>
              </a:spcAft>
              <a:buClr>
                <a:schemeClr val="lt1"/>
              </a:buClr>
              <a:buSzPts val="1800"/>
              <a:buFont typeface="Arial"/>
              <a:buChar char="​"/>
            </a:pPr>
            <a:r>
              <a:rPr lang="en-GB" sz="1800"/>
              <a:t>V1.0</a:t>
            </a:r>
            <a:endParaRPr sz="18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 name="Shape 152"/>
        <p:cNvGrpSpPr/>
        <p:nvPr/>
      </p:nvGrpSpPr>
      <p:grpSpPr>
        <a:xfrm>
          <a:off x="0" y="0"/>
          <a:ext cx="0" cy="0"/>
          <a:chOff x="0" y="0"/>
          <a:chExt cx="0" cy="0"/>
        </a:xfrm>
      </p:grpSpPr>
      <p:sp>
        <p:nvSpPr>
          <p:cNvPr id="153" name="Google Shape;153;p32"/>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rgbClr val="FF0000"/>
              </a:buClr>
              <a:buSzPts val="1600"/>
              <a:buNone/>
            </a:pPr>
            <a:r>
              <a:rPr lang="en-GB" sz="1600">
                <a:solidFill>
                  <a:srgbClr val="FF0000"/>
                </a:solidFill>
              </a:rPr>
              <a:t>Slides 2-3 are for internal use. They should be deleted before the presentation is used with external audiences.</a:t>
            </a:r>
            <a:endParaRPr/>
          </a:p>
          <a:p>
            <a:pPr indent="0" lvl="0" marL="0" rtl="0" algn="l">
              <a:lnSpc>
                <a:spcPct val="95000"/>
              </a:lnSpc>
              <a:spcBef>
                <a:spcPts val="800"/>
              </a:spcBef>
              <a:spcAft>
                <a:spcPts val="0"/>
              </a:spcAft>
              <a:buClr>
                <a:schemeClr val="dk1"/>
              </a:buClr>
              <a:buSzPts val="1600"/>
              <a:buNone/>
            </a:pPr>
            <a:r>
              <a:rPr lang="en-GB" sz="1600"/>
              <a:t>Please note that some parts of this initial 1.0 Release of BVF are not yet complete, particularly:</a:t>
            </a:r>
            <a:endParaRPr/>
          </a:p>
          <a:p>
            <a:pPr indent="-169863" lvl="0" marL="169863" rtl="0" algn="l">
              <a:lnSpc>
                <a:spcPct val="95000"/>
              </a:lnSpc>
              <a:spcBef>
                <a:spcPts val="800"/>
              </a:spcBef>
              <a:spcAft>
                <a:spcPts val="0"/>
              </a:spcAft>
              <a:buClr>
                <a:schemeClr val="dk1"/>
              </a:buClr>
              <a:buSzPts val="1600"/>
              <a:buChar char="•"/>
            </a:pPr>
            <a:r>
              <a:rPr lang="en-GB" sz="1600"/>
              <a:t>Risk Management&amp; Regulation</a:t>
            </a:r>
            <a:endParaRPr/>
          </a:p>
          <a:p>
            <a:pPr indent="-169863" lvl="0" marL="169863" rtl="0" algn="l">
              <a:lnSpc>
                <a:spcPct val="95000"/>
              </a:lnSpc>
              <a:spcBef>
                <a:spcPts val="800"/>
              </a:spcBef>
              <a:spcAft>
                <a:spcPts val="0"/>
              </a:spcAft>
              <a:buClr>
                <a:schemeClr val="dk1"/>
              </a:buClr>
              <a:buSzPts val="1600"/>
              <a:buChar char="•"/>
            </a:pPr>
            <a:r>
              <a:rPr lang="en-GB" sz="1600"/>
              <a:t>Legal &amp; Regulatory Compliance</a:t>
            </a:r>
            <a:endParaRPr/>
          </a:p>
          <a:p>
            <a:pPr indent="-169863" lvl="0" marL="169863" rtl="0" algn="l">
              <a:lnSpc>
                <a:spcPct val="95000"/>
              </a:lnSpc>
              <a:spcBef>
                <a:spcPts val="800"/>
              </a:spcBef>
              <a:spcAft>
                <a:spcPts val="0"/>
              </a:spcAft>
              <a:buClr>
                <a:schemeClr val="dk1"/>
              </a:buClr>
              <a:buSzPts val="1600"/>
              <a:buChar char="•"/>
            </a:pPr>
            <a:r>
              <a:rPr lang="en-GB" sz="1600"/>
              <a:t>Security &amp; Fraud</a:t>
            </a:r>
            <a:endParaRPr/>
          </a:p>
          <a:p>
            <a:pPr indent="0" lvl="0" marL="0" rtl="0" algn="l">
              <a:lnSpc>
                <a:spcPct val="95000"/>
              </a:lnSpc>
              <a:spcBef>
                <a:spcPts val="800"/>
              </a:spcBef>
              <a:spcAft>
                <a:spcPts val="0"/>
              </a:spcAft>
              <a:buClr>
                <a:schemeClr val="dk1"/>
              </a:buClr>
              <a:buSzPts val="1600"/>
              <a:buNone/>
            </a:pPr>
            <a:r>
              <a:rPr lang="en-GB" sz="1600"/>
              <a:t>The links to any areas which are not complete are highlighted in </a:t>
            </a:r>
            <a:r>
              <a:rPr b="1" lang="en-GB" sz="1600">
                <a:solidFill>
                  <a:srgbClr val="FF0000"/>
                </a:solidFill>
              </a:rPr>
              <a:t>red</a:t>
            </a:r>
            <a:r>
              <a:rPr lang="en-GB" sz="1600"/>
              <a:t> </a:t>
            </a:r>
            <a:r>
              <a:rPr b="1" lang="en-GB" sz="1600">
                <a:solidFill>
                  <a:srgbClr val="FF0000"/>
                </a:solidFill>
              </a:rPr>
              <a:t>(missing) </a:t>
            </a:r>
            <a:r>
              <a:rPr lang="en-GB" sz="1600"/>
              <a:t>or </a:t>
            </a:r>
            <a:r>
              <a:rPr b="1" lang="en-GB" sz="1600">
                <a:solidFill>
                  <a:schemeClr val="accent1"/>
                </a:solidFill>
              </a:rPr>
              <a:t>orange</a:t>
            </a:r>
            <a:r>
              <a:rPr lang="en-GB" sz="1600"/>
              <a:t> </a:t>
            </a:r>
            <a:r>
              <a:rPr b="1" lang="en-GB" sz="1600">
                <a:solidFill>
                  <a:schemeClr val="accent1"/>
                </a:solidFill>
              </a:rPr>
              <a:t>(untidy – needs review/clean-up)</a:t>
            </a:r>
            <a:r>
              <a:rPr lang="en-GB" sz="1600"/>
              <a:t>. The remaining content for these functions will be completed as soon as possible. Please ensure that you are familiar with the parts which are not yet fully complete before using in client situations.</a:t>
            </a:r>
            <a:endParaRPr sz="1600"/>
          </a:p>
        </p:txBody>
      </p:sp>
      <p:sp>
        <p:nvSpPr>
          <p:cNvPr id="154" name="Google Shape;154;p32"/>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t/>
            </a:r>
            <a:endParaRPr/>
          </a:p>
        </p:txBody>
      </p:sp>
      <p:sp>
        <p:nvSpPr>
          <p:cNvPr id="155" name="Google Shape;155;p32"/>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Value Framework – Internal Notice and Instructions</a:t>
            </a:r>
            <a:endParaRPr/>
          </a:p>
        </p:txBody>
      </p:sp>
      <p:sp>
        <p:nvSpPr>
          <p:cNvPr id="156" name="Google Shape;156;p32"/>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Tree>
  </p:cSld>
  <p:clrMapOvr>
    <a:masterClrMapping/>
  </p:clrMapOvr>
  <p:transition spd="med">
    <p:fade/>
  </p:transition>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sp>
        <p:nvSpPr>
          <p:cNvPr id="161" name="Google Shape;161;p3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p>
            <a:pPr indent="-169863" lvl="0" marL="169863" rtl="0" algn="l">
              <a:lnSpc>
                <a:spcPct val="95000"/>
              </a:lnSpc>
              <a:spcBef>
                <a:spcPts val="0"/>
              </a:spcBef>
              <a:spcAft>
                <a:spcPts val="0"/>
              </a:spcAft>
              <a:buClr>
                <a:srgbClr val="FF0000"/>
              </a:buClr>
              <a:buSzPts val="1800"/>
              <a:buChar char="•"/>
            </a:pPr>
            <a:r>
              <a:rPr lang="en-GB">
                <a:solidFill>
                  <a:srgbClr val="FF0000"/>
                </a:solidFill>
              </a:rPr>
              <a:t>This Business Value Framework (BVF) constitutes a major investment in Intellectual Property. It should not be sent to, or left with clients, prospects or partners, either in electronic or printed format.</a:t>
            </a:r>
            <a:endParaRPr/>
          </a:p>
          <a:p>
            <a:pPr indent="-169863" lvl="0" marL="169863" rtl="0" algn="l">
              <a:lnSpc>
                <a:spcPct val="95000"/>
              </a:lnSpc>
              <a:spcBef>
                <a:spcPts val="800"/>
              </a:spcBef>
              <a:spcAft>
                <a:spcPts val="0"/>
              </a:spcAft>
              <a:buClr>
                <a:schemeClr val="dk1"/>
              </a:buClr>
              <a:buSzPts val="1800"/>
              <a:buChar char="•"/>
            </a:pPr>
            <a:r>
              <a:rPr lang="en-GB"/>
              <a:t>Please contact your Industry Business Value Framework lead if you have any questions on usage of the BVF.</a:t>
            </a:r>
            <a:endParaRPr/>
          </a:p>
        </p:txBody>
      </p:sp>
      <p:sp>
        <p:nvSpPr>
          <p:cNvPr id="162" name="Google Shape;162;p3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t/>
            </a:r>
            <a:endParaRPr/>
          </a:p>
        </p:txBody>
      </p:sp>
      <p:sp>
        <p:nvSpPr>
          <p:cNvPr id="163" name="Google Shape;163;p33"/>
          <p:cNvSpPr txBox="1"/>
          <p:nvPr>
            <p:ph type="title"/>
          </p:nvPr>
        </p:nvSpPr>
        <p:spPr>
          <a:xfrm>
            <a:off x="457200" y="274638"/>
            <a:ext cx="8229600" cy="448692"/>
          </a:xfrm>
          <a:prstGeom prst="rect">
            <a:avLst/>
          </a:prstGeom>
          <a:solidFill>
            <a:srgbClr val="FFFF00"/>
          </a:solidFill>
          <a:ln>
            <a:noFill/>
          </a:ln>
        </p:spPr>
        <p:txBody>
          <a:bodyPr anchorCtr="0" anchor="ctr" bIns="0" lIns="0" spcFirstLastPara="1" rIns="0" wrap="square" tIns="0">
            <a:noAutofit/>
          </a:bodyPr>
          <a:lstStyle/>
          <a:p>
            <a:pPr indent="0" lvl="0" marL="0" rtl="0" algn="ctr">
              <a:lnSpc>
                <a:spcPct val="95000"/>
              </a:lnSpc>
              <a:spcBef>
                <a:spcPts val="0"/>
              </a:spcBef>
              <a:spcAft>
                <a:spcPts val="0"/>
              </a:spcAft>
              <a:buClr>
                <a:srgbClr val="FF0000"/>
              </a:buClr>
              <a:buSzPts val="2200"/>
              <a:buFont typeface="Century Gothic"/>
              <a:buNone/>
            </a:pPr>
            <a:r>
              <a:rPr lang="en-GB">
                <a:solidFill>
                  <a:srgbClr val="FF0000"/>
                </a:solidFill>
              </a:rPr>
              <a:t>Intellectual Property Warning</a:t>
            </a:r>
            <a:endParaRPr>
              <a:solidFill>
                <a:srgbClr val="FF0000"/>
              </a:solidFill>
            </a:endParaRPr>
          </a:p>
        </p:txBody>
      </p:sp>
      <p:sp>
        <p:nvSpPr>
          <p:cNvPr id="164" name="Google Shape;164;p3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Tree>
  </p:cSld>
  <p:clrMapOvr>
    <a:masterClrMapping/>
  </p:clrMapOvr>
  <p:transition spd="med">
    <p:fade/>
  </p:transition>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 name="Shape 169"/>
        <p:cNvGrpSpPr/>
        <p:nvPr/>
      </p:nvGrpSpPr>
      <p:grpSpPr>
        <a:xfrm>
          <a:off x="0" y="0"/>
          <a:ext cx="0" cy="0"/>
          <a:chOff x="0" y="0"/>
          <a:chExt cx="0" cy="0"/>
        </a:xfrm>
      </p:grpSpPr>
      <p:sp>
        <p:nvSpPr>
          <p:cNvPr id="170" name="Google Shape;170;p34"/>
          <p:cNvSpPr txBox="1"/>
          <p:nvPr>
            <p:ph type="title"/>
          </p:nvPr>
        </p:nvSpPr>
        <p:spPr>
          <a:xfrm>
            <a:off x="457200" y="205688"/>
            <a:ext cx="8229600" cy="36245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Services are facing Challenges</a:t>
            </a:r>
            <a:endParaRPr/>
          </a:p>
        </p:txBody>
      </p:sp>
      <p:sp>
        <p:nvSpPr>
          <p:cNvPr id="171" name="Google Shape;171;p34"/>
          <p:cNvSpPr txBox="1"/>
          <p:nvPr>
            <p:ph idx="1" type="body"/>
          </p:nvPr>
        </p:nvSpPr>
        <p:spPr>
          <a:xfrm>
            <a:off x="457200" y="900114"/>
            <a:ext cx="5738884" cy="3656818"/>
          </a:xfrm>
          <a:prstGeom prst="rect">
            <a:avLst/>
          </a:prstGeom>
          <a:noFill/>
          <a:ln>
            <a:noFill/>
          </a:ln>
        </p:spPr>
        <p:txBody>
          <a:bodyPr anchorCtr="0" anchor="t" bIns="0" lIns="0" spcFirstLastPara="1" rIns="0" wrap="square" tIns="0">
            <a:noAutofit/>
          </a:bodyPr>
          <a:lstStyle/>
          <a:p>
            <a:pPr indent="-88900" lvl="4" marL="0" rtl="0" algn="l">
              <a:lnSpc>
                <a:spcPct val="95000"/>
              </a:lnSpc>
              <a:spcBef>
                <a:spcPts val="0"/>
              </a:spcBef>
              <a:spcAft>
                <a:spcPts val="0"/>
              </a:spcAft>
              <a:buClr>
                <a:schemeClr val="accent1"/>
              </a:buClr>
              <a:buSzPts val="1400"/>
              <a:buChar char="​"/>
            </a:pPr>
            <a:r>
              <a:rPr lang="en-GB" sz="1400"/>
              <a:t>Digitalisation</a:t>
            </a:r>
            <a:endParaRPr sz="1400"/>
          </a:p>
          <a:p>
            <a:pPr indent="-169863" lvl="0" marL="169863" rtl="0" algn="l">
              <a:lnSpc>
                <a:spcPct val="95000"/>
              </a:lnSpc>
              <a:spcBef>
                <a:spcPts val="800"/>
              </a:spcBef>
              <a:spcAft>
                <a:spcPts val="0"/>
              </a:spcAft>
              <a:buClr>
                <a:schemeClr val="dk1"/>
              </a:buClr>
              <a:buSzPts val="1400"/>
              <a:buChar char="•"/>
            </a:pPr>
            <a:r>
              <a:rPr lang="en-GB" sz="1400"/>
              <a:t>Changes in customer expectations, channel usage and buying behaviour driven by rapid digital adoption.</a:t>
            </a:r>
            <a:endParaRPr/>
          </a:p>
          <a:p>
            <a:pPr indent="-88900" lvl="4" marL="0" rtl="0" algn="l">
              <a:lnSpc>
                <a:spcPct val="95000"/>
              </a:lnSpc>
              <a:spcBef>
                <a:spcPts val="800"/>
              </a:spcBef>
              <a:spcAft>
                <a:spcPts val="0"/>
              </a:spcAft>
              <a:buClr>
                <a:schemeClr val="accent1"/>
              </a:buClr>
              <a:buSzPts val="1400"/>
              <a:buChar char="​"/>
            </a:pPr>
            <a:r>
              <a:rPr lang="en-GB" sz="1400"/>
              <a:t>Macroeconomic Environment</a:t>
            </a:r>
            <a:endParaRPr/>
          </a:p>
          <a:p>
            <a:pPr indent="-169863" lvl="0" marL="169863" rtl="0" algn="l">
              <a:lnSpc>
                <a:spcPct val="95000"/>
              </a:lnSpc>
              <a:spcBef>
                <a:spcPts val="800"/>
              </a:spcBef>
              <a:spcAft>
                <a:spcPts val="0"/>
              </a:spcAft>
              <a:buClr>
                <a:schemeClr val="dk1"/>
              </a:buClr>
              <a:buSzPts val="1400"/>
              <a:buChar char="•"/>
            </a:pPr>
            <a:r>
              <a:rPr lang="en-GB" sz="1400"/>
              <a:t>Uncertainty over the global economy; high levels of sovereign, corporate and personal debt; future of interest rates.</a:t>
            </a:r>
            <a:endParaRPr/>
          </a:p>
          <a:p>
            <a:pPr indent="-88900" lvl="4" marL="0" rtl="0" algn="l">
              <a:lnSpc>
                <a:spcPct val="95000"/>
              </a:lnSpc>
              <a:spcBef>
                <a:spcPts val="800"/>
              </a:spcBef>
              <a:spcAft>
                <a:spcPts val="0"/>
              </a:spcAft>
              <a:buClr>
                <a:schemeClr val="accent1"/>
              </a:buClr>
              <a:buSzPts val="1400"/>
              <a:buChar char="​"/>
            </a:pPr>
            <a:r>
              <a:rPr lang="en-GB" sz="1400"/>
              <a:t>Regulation and Compliance</a:t>
            </a:r>
            <a:endParaRPr/>
          </a:p>
          <a:p>
            <a:pPr indent="-169863" lvl="0" marL="169863" rtl="0" algn="l">
              <a:lnSpc>
                <a:spcPct val="95000"/>
              </a:lnSpc>
              <a:spcBef>
                <a:spcPts val="800"/>
              </a:spcBef>
              <a:spcAft>
                <a:spcPts val="0"/>
              </a:spcAft>
              <a:buClr>
                <a:schemeClr val="dk1"/>
              </a:buClr>
              <a:buSzPts val="1400"/>
              <a:buChar char="•"/>
            </a:pPr>
            <a:r>
              <a:rPr lang="en-GB" sz="1400"/>
              <a:t>Continued increases in the volume and complexity of regulation is placing a heavy cost and change burden on organisations. </a:t>
            </a:r>
            <a:endParaRPr/>
          </a:p>
          <a:p>
            <a:pPr indent="-88900" lvl="4" marL="0" rtl="0" algn="l">
              <a:lnSpc>
                <a:spcPct val="95000"/>
              </a:lnSpc>
              <a:spcBef>
                <a:spcPts val="800"/>
              </a:spcBef>
              <a:spcAft>
                <a:spcPts val="0"/>
              </a:spcAft>
              <a:buClr>
                <a:schemeClr val="accent1"/>
              </a:buClr>
              <a:buSzPts val="1400"/>
              <a:buChar char="​"/>
            </a:pPr>
            <a:r>
              <a:rPr lang="en-GB" sz="1400"/>
              <a:t>Technology Complexity and Legacy</a:t>
            </a:r>
            <a:endParaRPr/>
          </a:p>
          <a:p>
            <a:pPr indent="-169863" lvl="0" marL="169863" rtl="0" algn="l">
              <a:lnSpc>
                <a:spcPct val="95000"/>
              </a:lnSpc>
              <a:spcBef>
                <a:spcPts val="800"/>
              </a:spcBef>
              <a:spcAft>
                <a:spcPts val="0"/>
              </a:spcAft>
              <a:buClr>
                <a:schemeClr val="dk1"/>
              </a:buClr>
              <a:buSzPts val="1400"/>
              <a:buChar char="•"/>
            </a:pPr>
            <a:r>
              <a:rPr lang="en-GB" sz="1400"/>
              <a:t>Many Financial Services organisations have highly complex technology infrastructure, often containing substantial legacy platforms and applications.</a:t>
            </a:r>
            <a:endParaRPr/>
          </a:p>
        </p:txBody>
      </p:sp>
      <p:grpSp>
        <p:nvGrpSpPr>
          <p:cNvPr id="172" name="Google Shape;172;p34"/>
          <p:cNvGrpSpPr/>
          <p:nvPr/>
        </p:nvGrpSpPr>
        <p:grpSpPr>
          <a:xfrm>
            <a:off x="7241985" y="2431490"/>
            <a:ext cx="778496" cy="662222"/>
            <a:chOff x="6969330" y="3921815"/>
            <a:chExt cx="1063420" cy="904590"/>
          </a:xfrm>
        </p:grpSpPr>
        <p:sp>
          <p:nvSpPr>
            <p:cNvPr id="173" name="Google Shape;173;p34"/>
            <p:cNvSpPr/>
            <p:nvPr/>
          </p:nvSpPr>
          <p:spPr>
            <a:xfrm>
              <a:off x="6969330" y="3921815"/>
              <a:ext cx="1063420" cy="904590"/>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DC7B1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600">
                <a:solidFill>
                  <a:schemeClr val="lt1"/>
                </a:solidFill>
                <a:latin typeface="Century Gothic"/>
                <a:ea typeface="Century Gothic"/>
                <a:cs typeface="Century Gothic"/>
                <a:sym typeface="Century Gothic"/>
              </a:endParaRPr>
            </a:p>
          </p:txBody>
        </p:sp>
        <p:sp>
          <p:nvSpPr>
            <p:cNvPr id="174" name="Google Shape;174;p34"/>
            <p:cNvSpPr/>
            <p:nvPr/>
          </p:nvSpPr>
          <p:spPr>
            <a:xfrm>
              <a:off x="6970815" y="3925611"/>
              <a:ext cx="1060450" cy="3164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b="1" lang="en-GB" sz="1050">
                  <a:solidFill>
                    <a:schemeClr val="lt1"/>
                  </a:solidFill>
                  <a:latin typeface="Century Gothic"/>
                  <a:ea typeface="Century Gothic"/>
                  <a:cs typeface="Century Gothic"/>
                  <a:sym typeface="Century Gothic"/>
                </a:rPr>
                <a:t>BANK</a:t>
              </a:r>
              <a:endParaRPr b="1" sz="1050">
                <a:solidFill>
                  <a:schemeClr val="lt1"/>
                </a:solidFill>
                <a:latin typeface="Century Gothic"/>
                <a:ea typeface="Century Gothic"/>
                <a:cs typeface="Century Gothic"/>
                <a:sym typeface="Century Gothic"/>
              </a:endParaRPr>
            </a:p>
          </p:txBody>
        </p:sp>
      </p:grpSp>
      <p:grpSp>
        <p:nvGrpSpPr>
          <p:cNvPr id="175" name="Google Shape;175;p34"/>
          <p:cNvGrpSpPr/>
          <p:nvPr/>
        </p:nvGrpSpPr>
        <p:grpSpPr>
          <a:xfrm>
            <a:off x="5205188" y="396280"/>
            <a:ext cx="4816769" cy="4816770"/>
            <a:chOff x="5564851" y="3371799"/>
            <a:chExt cx="4023721" cy="4023721"/>
          </a:xfrm>
        </p:grpSpPr>
        <p:grpSp>
          <p:nvGrpSpPr>
            <p:cNvPr id="176" name="Google Shape;176;p34"/>
            <p:cNvGrpSpPr/>
            <p:nvPr/>
          </p:nvGrpSpPr>
          <p:grpSpPr>
            <a:xfrm rot="2778069">
              <a:off x="6153746" y="3960691"/>
              <a:ext cx="2845933" cy="2845936"/>
              <a:chOff x="7431681" y="4805153"/>
              <a:chExt cx="1415051" cy="1415051"/>
            </a:xfrm>
          </p:grpSpPr>
          <p:sp>
            <p:nvSpPr>
              <p:cNvPr id="177" name="Google Shape;177;p34"/>
              <p:cNvSpPr/>
              <p:nvPr/>
            </p:nvSpPr>
            <p:spPr>
              <a:xfrm rot="-2952627">
                <a:off x="7637557" y="5011029"/>
                <a:ext cx="1003300" cy="1003300"/>
              </a:xfrm>
              <a:prstGeom prst="blockArc">
                <a:avLst>
                  <a:gd fmla="val 12031555" name="adj1"/>
                  <a:gd fmla="val 19098186" name="adj2"/>
                  <a:gd fmla="val 22208" name="adj3"/>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8" name="Google Shape;178;p34"/>
              <p:cNvSpPr/>
              <p:nvPr/>
            </p:nvSpPr>
            <p:spPr>
              <a:xfrm rot="4232734">
                <a:off x="7637556" y="5007854"/>
                <a:ext cx="1003300" cy="1003300"/>
              </a:xfrm>
              <a:prstGeom prst="blockArc">
                <a:avLst>
                  <a:gd fmla="val 11879251" name="adj1"/>
                  <a:gd fmla="val 19098186" name="adj2"/>
                  <a:gd fmla="val 22208" name="adj3"/>
                </a:avLst>
              </a:pr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9" name="Google Shape;179;p34"/>
              <p:cNvSpPr/>
              <p:nvPr/>
            </p:nvSpPr>
            <p:spPr>
              <a:xfrm rot="-10333794">
                <a:off x="7634383" y="5007854"/>
                <a:ext cx="1003300" cy="1003300"/>
              </a:xfrm>
              <a:prstGeom prst="blockArc">
                <a:avLst>
                  <a:gd fmla="val 12031555" name="adj1"/>
                  <a:gd fmla="val 19379912" name="adj2"/>
                  <a:gd fmla="val 22124" name="adj3"/>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180" name="Google Shape;180;p34"/>
            <p:cNvGrpSpPr/>
            <p:nvPr/>
          </p:nvGrpSpPr>
          <p:grpSpPr>
            <a:xfrm>
              <a:off x="6488702" y="4523454"/>
              <a:ext cx="1879462" cy="1937171"/>
              <a:chOff x="6488702" y="4523454"/>
              <a:chExt cx="1879462" cy="1937171"/>
            </a:xfrm>
          </p:grpSpPr>
          <p:sp>
            <p:nvSpPr>
              <p:cNvPr id="181" name="Google Shape;181;p34"/>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2" name="Google Shape;182;p34"/>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3" name="Google Shape;183;p34"/>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sp>
        <p:nvSpPr>
          <p:cNvPr id="184" name="Google Shape;184;p34"/>
          <p:cNvSpPr/>
          <p:nvPr/>
        </p:nvSpPr>
        <p:spPr>
          <a:xfrm rot="-753004">
            <a:off x="6815422" y="1811025"/>
            <a:ext cx="1402829" cy="843174"/>
          </a:xfrm>
          <a:prstGeom prst="rect">
            <a:avLst/>
          </a:prstGeom>
        </p:spPr>
        <p:txBody>
          <a:bodyPr>
            <a:prstTxWarp prst="textPlain"/>
          </a:bodyPr>
          <a:lstStyle/>
          <a:p>
            <a:pPr lvl="0" algn="ctr"/>
            <a:r>
              <a:rPr b="1" i="0">
                <a:ln>
                  <a:noFill/>
                </a:ln>
                <a:solidFill>
                  <a:srgbClr val="FFFFFF"/>
                </a:solidFill>
                <a:latin typeface="Century Gothic"/>
              </a:rPr>
              <a:t>BUSINESS</a:t>
            </a:r>
          </a:p>
        </p:txBody>
      </p:sp>
      <p:sp>
        <p:nvSpPr>
          <p:cNvPr id="185" name="Google Shape;185;p34"/>
          <p:cNvSpPr/>
          <p:nvPr/>
        </p:nvSpPr>
        <p:spPr>
          <a:xfrm rot="-753004">
            <a:off x="6856697" y="1985611"/>
            <a:ext cx="1402829" cy="843174"/>
          </a:xfrm>
          <a:prstGeom prst="rect">
            <a:avLst/>
          </a:prstGeom>
        </p:spPr>
        <p:txBody>
          <a:bodyPr>
            <a:prstTxWarp prst="textPlain"/>
          </a:bodyPr>
          <a:lstStyle/>
          <a:p>
            <a:pPr lvl="0" algn="ctr"/>
            <a:r>
              <a:rPr b="1" i="0">
                <a:ln>
                  <a:noFill/>
                </a:ln>
                <a:solidFill>
                  <a:srgbClr val="FFFFFF"/>
                </a:solidFill>
                <a:latin typeface="Century Gothic"/>
              </a:rPr>
              <a:t>MANAGEMENT</a:t>
            </a:r>
          </a:p>
        </p:txBody>
      </p:sp>
      <p:sp>
        <p:nvSpPr>
          <p:cNvPr id="186" name="Google Shape;186;p34"/>
          <p:cNvSpPr/>
          <p:nvPr/>
        </p:nvSpPr>
        <p:spPr>
          <a:xfrm rot="-3650790">
            <a:off x="7560870" y="2566152"/>
            <a:ext cx="1156014" cy="843174"/>
          </a:xfrm>
          <a:prstGeom prst="rect">
            <a:avLst/>
          </a:prstGeom>
        </p:spPr>
        <p:txBody>
          <a:bodyPr>
            <a:prstTxWarp prst="textPlain"/>
          </a:bodyPr>
          <a:lstStyle/>
          <a:p>
            <a:pPr lvl="0" algn="ctr"/>
            <a:r>
              <a:rPr b="1" i="0">
                <a:ln>
                  <a:noFill/>
                </a:ln>
                <a:solidFill>
                  <a:srgbClr val="FFFFFF"/>
                </a:solidFill>
                <a:latin typeface="Century Gothic"/>
              </a:rPr>
              <a:t>GROWTH</a:t>
            </a:r>
          </a:p>
        </p:txBody>
      </p:sp>
      <p:sp>
        <p:nvSpPr>
          <p:cNvPr id="187" name="Google Shape;187;p34"/>
          <p:cNvSpPr/>
          <p:nvPr/>
        </p:nvSpPr>
        <p:spPr>
          <a:xfrm rot="3476208">
            <a:off x="6587706" y="2698097"/>
            <a:ext cx="1156014" cy="843174"/>
          </a:xfrm>
          <a:prstGeom prst="rect">
            <a:avLst/>
          </a:prstGeom>
        </p:spPr>
        <p:txBody>
          <a:bodyPr>
            <a:prstTxWarp prst="textPlain"/>
          </a:bodyPr>
          <a:lstStyle/>
          <a:p>
            <a:pPr lvl="0" algn="ctr"/>
            <a:r>
              <a:rPr b="1" i="0">
                <a:ln>
                  <a:noFill/>
                </a:ln>
                <a:solidFill>
                  <a:srgbClr val="FFFFFF"/>
                </a:solidFill>
                <a:latin typeface="Century Gothic"/>
              </a:rPr>
              <a:t>COSTS</a:t>
            </a: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 name="Shape 191"/>
        <p:cNvGrpSpPr/>
        <p:nvPr/>
      </p:nvGrpSpPr>
      <p:grpSpPr>
        <a:xfrm>
          <a:off x="0" y="0"/>
          <a:ext cx="0" cy="0"/>
          <a:chOff x="0" y="0"/>
          <a:chExt cx="0" cy="0"/>
        </a:xfrm>
      </p:grpSpPr>
      <p:sp>
        <p:nvSpPr>
          <p:cNvPr id="192" name="Google Shape;192;p35"/>
          <p:cNvSpPr/>
          <p:nvPr/>
        </p:nvSpPr>
        <p:spPr>
          <a:xfrm>
            <a:off x="344969" y="2973170"/>
            <a:ext cx="4185585" cy="1818978"/>
          </a:xfrm>
          <a:prstGeom prst="rect">
            <a:avLst/>
          </a:prstGeom>
          <a:noFill/>
          <a:ln cap="flat" cmpd="sng" w="9525">
            <a:solidFill>
              <a:schemeClr val="accent3"/>
            </a:solidFill>
            <a:prstDash val="solid"/>
            <a:miter lim="800000"/>
            <a:headEnd len="sm" w="sm" type="none"/>
            <a:tailEnd len="sm" w="sm" type="none"/>
          </a:ln>
        </p:spPr>
        <p:txBody>
          <a:bodyPr anchorCtr="0" anchor="t" bIns="91425" lIns="91425" spcFirstLastPara="1" rIns="91425" wrap="square" tIns="91425">
            <a:noAutofit/>
          </a:bodyPr>
          <a:lstStyle/>
          <a:p>
            <a:pPr indent="-114300" lvl="0" marL="114300" marR="0" rtl="0" algn="l">
              <a:spcBef>
                <a:spcPts val="0"/>
              </a:spcBef>
              <a:spcAft>
                <a:spcPts val="0"/>
              </a:spcAft>
              <a:buClr>
                <a:schemeClr val="dk1"/>
              </a:buClr>
              <a:buSzPts val="1400"/>
              <a:buFont typeface="Arial"/>
              <a:buChar char="•"/>
            </a:pPr>
            <a:r>
              <a:rPr b="1" lang="en-GB" sz="1400">
                <a:solidFill>
                  <a:schemeClr val="accent3"/>
                </a:solidFill>
                <a:latin typeface="Century Gothic"/>
                <a:ea typeface="Century Gothic"/>
                <a:cs typeface="Century Gothic"/>
                <a:sym typeface="Century Gothic"/>
              </a:rPr>
              <a:t>Simplify Technology</a:t>
            </a:r>
            <a:r>
              <a:rPr lang="en-GB" sz="1400">
                <a:solidFill>
                  <a:srgbClr val="2C2C2C"/>
                </a:solidFill>
                <a:latin typeface="Century Gothic"/>
                <a:ea typeface="Century Gothic"/>
                <a:cs typeface="Century Gothic"/>
                <a:sym typeface="Century Gothic"/>
              </a:rPr>
              <a:t>, rationalize               teams and support costs while                     funding new investments</a:t>
            </a:r>
            <a:endParaRPr sz="1400">
              <a:solidFill>
                <a:srgbClr val="2C2C2C"/>
              </a:solidFill>
              <a:latin typeface="Century Gothic"/>
              <a:ea typeface="Century Gothic"/>
              <a:cs typeface="Century Gothic"/>
              <a:sym typeface="Century Gothic"/>
            </a:endParaRPr>
          </a:p>
          <a:p>
            <a:pPr indent="-114300" lvl="0" marL="114300" marR="0" rtl="0" algn="l">
              <a:spcBef>
                <a:spcPts val="300"/>
              </a:spcBef>
              <a:spcAft>
                <a:spcPts val="0"/>
              </a:spcAft>
              <a:buClr>
                <a:schemeClr val="dk1"/>
              </a:buClr>
              <a:buSzPts val="1400"/>
              <a:buFont typeface="Arial"/>
              <a:buChar char="•"/>
            </a:pPr>
            <a:r>
              <a:rPr b="1" lang="en-GB" sz="1400">
                <a:solidFill>
                  <a:schemeClr val="accent3"/>
                </a:solidFill>
                <a:latin typeface="Century Gothic"/>
                <a:ea typeface="Century Gothic"/>
                <a:cs typeface="Century Gothic"/>
                <a:sym typeface="Century Gothic"/>
              </a:rPr>
              <a:t>Eliminating redundancies</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in </a:t>
            </a:r>
            <a:br>
              <a:rPr lang="en-GB" sz="1400">
                <a:solidFill>
                  <a:srgbClr val="2C2C2C"/>
                </a:solidFill>
                <a:latin typeface="Century Gothic"/>
                <a:ea typeface="Century Gothic"/>
                <a:cs typeface="Century Gothic"/>
                <a:sym typeface="Century Gothic"/>
              </a:rPr>
            </a:br>
            <a:r>
              <a:rPr lang="en-GB" sz="1400">
                <a:solidFill>
                  <a:srgbClr val="2C2C2C"/>
                </a:solidFill>
                <a:latin typeface="Century Gothic"/>
                <a:ea typeface="Century Gothic"/>
                <a:cs typeface="Century Gothic"/>
                <a:sym typeface="Century Gothic"/>
              </a:rPr>
              <a:t>back-end support and infrastructure</a:t>
            </a:r>
            <a:endParaRPr sz="1400">
              <a:solidFill>
                <a:srgbClr val="FFFFFF"/>
              </a:solidFill>
              <a:latin typeface="Century Gothic"/>
              <a:ea typeface="Century Gothic"/>
              <a:cs typeface="Century Gothic"/>
              <a:sym typeface="Century Gothic"/>
            </a:endParaRPr>
          </a:p>
          <a:p>
            <a:pPr indent="-114300" lvl="0" marL="114300" marR="0" rtl="0" algn="l">
              <a:spcBef>
                <a:spcPts val="300"/>
              </a:spcBef>
              <a:spcAft>
                <a:spcPts val="0"/>
              </a:spcAft>
              <a:buClr>
                <a:schemeClr val="dk1"/>
              </a:buClr>
              <a:buSzPts val="1400"/>
              <a:buFont typeface="Arial"/>
              <a:buChar char="•"/>
            </a:pPr>
            <a:r>
              <a:rPr b="1" lang="en-GB" sz="1400">
                <a:solidFill>
                  <a:schemeClr val="accent3"/>
                </a:solidFill>
                <a:latin typeface="Century Gothic"/>
                <a:ea typeface="Century Gothic"/>
                <a:cs typeface="Century Gothic"/>
                <a:sym typeface="Century Gothic"/>
              </a:rPr>
              <a:t>Identify efficiencies </a:t>
            </a:r>
            <a:r>
              <a:rPr lang="en-GB" sz="1400">
                <a:solidFill>
                  <a:srgbClr val="2C2C2C"/>
                </a:solidFill>
                <a:latin typeface="Century Gothic"/>
                <a:ea typeface="Century Gothic"/>
                <a:cs typeface="Century Gothic"/>
                <a:sym typeface="Century Gothic"/>
              </a:rPr>
              <a:t>in the midst of</a:t>
            </a:r>
            <a:br>
              <a:rPr lang="en-GB" sz="1400">
                <a:solidFill>
                  <a:srgbClr val="2C2C2C"/>
                </a:solidFill>
                <a:latin typeface="Century Gothic"/>
                <a:ea typeface="Century Gothic"/>
                <a:cs typeface="Century Gothic"/>
                <a:sym typeface="Century Gothic"/>
              </a:rPr>
            </a:br>
            <a:r>
              <a:rPr lang="en-GB" sz="1400">
                <a:solidFill>
                  <a:srgbClr val="2C2C2C"/>
                </a:solidFill>
                <a:latin typeface="Century Gothic"/>
                <a:ea typeface="Century Gothic"/>
                <a:cs typeface="Century Gothic"/>
                <a:sym typeface="Century Gothic"/>
              </a:rPr>
              <a:t>complex and rapidly changing organization</a:t>
            </a:r>
            <a:endParaRPr sz="1400">
              <a:solidFill>
                <a:srgbClr val="FFFFFF"/>
              </a:solidFill>
              <a:latin typeface="Century Gothic"/>
              <a:ea typeface="Century Gothic"/>
              <a:cs typeface="Century Gothic"/>
              <a:sym typeface="Century Gothic"/>
            </a:endParaRPr>
          </a:p>
        </p:txBody>
      </p:sp>
      <p:sp>
        <p:nvSpPr>
          <p:cNvPr id="193" name="Google Shape;193;p35"/>
          <p:cNvSpPr/>
          <p:nvPr/>
        </p:nvSpPr>
        <p:spPr>
          <a:xfrm>
            <a:off x="344969" y="1028597"/>
            <a:ext cx="4185585" cy="1839630"/>
          </a:xfrm>
          <a:prstGeom prst="rect">
            <a:avLst/>
          </a:prstGeom>
          <a:noFill/>
          <a:ln cap="flat" cmpd="sng" w="9525">
            <a:solidFill>
              <a:srgbClr val="005AA4"/>
            </a:solidFill>
            <a:prstDash val="solid"/>
            <a:miter lim="800000"/>
            <a:headEnd len="sm" w="sm" type="none"/>
            <a:tailEnd len="sm" w="sm" type="none"/>
          </a:ln>
        </p:spPr>
        <p:txBody>
          <a:bodyPr anchorCtr="0" anchor="t" bIns="36000" lIns="36000" spcFirstLastPara="1" rIns="36000" wrap="square" tIns="36000">
            <a:noAutofit/>
          </a:bodyPr>
          <a:lstStyle/>
          <a:p>
            <a:pPr indent="-114299" lvl="0" marL="179388" marR="0" rtl="0" algn="l">
              <a:spcBef>
                <a:spcPts val="0"/>
              </a:spcBef>
              <a:spcAft>
                <a:spcPts val="0"/>
              </a:spcAft>
              <a:buClr>
                <a:schemeClr val="dk1"/>
              </a:buClr>
              <a:buSzPts val="1400"/>
              <a:buFont typeface="Arial"/>
              <a:buChar char="•"/>
            </a:pPr>
            <a:r>
              <a:rPr b="1" lang="en-GB" sz="1400">
                <a:solidFill>
                  <a:schemeClr val="dk2"/>
                </a:solidFill>
                <a:latin typeface="Century Gothic"/>
                <a:ea typeface="Century Gothic"/>
                <a:cs typeface="Century Gothic"/>
                <a:sym typeface="Century Gothic"/>
              </a:rPr>
              <a:t>Expense</a:t>
            </a:r>
            <a:r>
              <a:rPr b="1" lang="en-GB" sz="1400">
                <a:solidFill>
                  <a:srgbClr val="2C2C2C"/>
                </a:solidFill>
                <a:latin typeface="Century Gothic"/>
                <a:ea typeface="Century Gothic"/>
                <a:cs typeface="Century Gothic"/>
                <a:sym typeface="Century Gothic"/>
              </a:rPr>
              <a:t> </a:t>
            </a:r>
            <a:r>
              <a:rPr b="1" lang="en-GB" sz="1400">
                <a:solidFill>
                  <a:schemeClr val="dk2"/>
                </a:solidFill>
                <a:latin typeface="Century Gothic"/>
                <a:ea typeface="Century Gothic"/>
                <a:cs typeface="Century Gothic"/>
                <a:sym typeface="Century Gothic"/>
              </a:rPr>
              <a:t>management</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to meet margins</a:t>
            </a:r>
            <a:endParaRPr/>
          </a:p>
          <a:p>
            <a:pPr indent="-114299" lvl="0" marL="179388"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Greater </a:t>
            </a:r>
            <a:r>
              <a:rPr b="1" lang="en-GB" sz="1400">
                <a:solidFill>
                  <a:schemeClr val="dk2"/>
                </a:solidFill>
                <a:latin typeface="Century Gothic"/>
                <a:ea typeface="Century Gothic"/>
                <a:cs typeface="Century Gothic"/>
                <a:sym typeface="Century Gothic"/>
              </a:rPr>
              <a:t>financial</a:t>
            </a:r>
            <a:r>
              <a:rPr b="1" lang="en-GB" sz="1400">
                <a:solidFill>
                  <a:srgbClr val="2C2C2C"/>
                </a:solidFill>
                <a:latin typeface="Century Gothic"/>
                <a:ea typeface="Century Gothic"/>
                <a:cs typeface="Century Gothic"/>
                <a:sym typeface="Century Gothic"/>
              </a:rPr>
              <a:t> </a:t>
            </a:r>
            <a:r>
              <a:rPr b="1" lang="en-GB" sz="1400">
                <a:solidFill>
                  <a:schemeClr val="dk2"/>
                </a:solidFill>
                <a:latin typeface="Century Gothic"/>
                <a:ea typeface="Century Gothic"/>
                <a:cs typeface="Century Gothic"/>
                <a:sym typeface="Century Gothic"/>
              </a:rPr>
              <a:t>performance</a:t>
            </a:r>
            <a:r>
              <a:rPr b="1" lang="en-GB" sz="1400">
                <a:solidFill>
                  <a:srgbClr val="2C2C2C"/>
                </a:solidFill>
                <a:latin typeface="Century Gothic"/>
                <a:ea typeface="Century Gothic"/>
                <a:cs typeface="Century Gothic"/>
                <a:sym typeface="Century Gothic"/>
              </a:rPr>
              <a:t> </a:t>
            </a:r>
            <a:r>
              <a:rPr b="1" lang="en-GB" sz="1400">
                <a:solidFill>
                  <a:schemeClr val="dk2"/>
                </a:solidFill>
                <a:latin typeface="Century Gothic"/>
                <a:ea typeface="Century Gothic"/>
                <a:cs typeface="Century Gothic"/>
                <a:sym typeface="Century Gothic"/>
              </a:rPr>
              <a:t>transparency </a:t>
            </a:r>
            <a:endParaRPr/>
          </a:p>
          <a:p>
            <a:pPr indent="-114299" lvl="0" marL="179388"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Enhanced </a:t>
            </a:r>
            <a:r>
              <a:rPr b="1" lang="en-GB" sz="1400">
                <a:solidFill>
                  <a:schemeClr val="dk2"/>
                </a:solidFill>
                <a:latin typeface="Century Gothic"/>
                <a:ea typeface="Century Gothic"/>
                <a:cs typeface="Century Gothic"/>
                <a:sym typeface="Century Gothic"/>
              </a:rPr>
              <a:t>risk and financial management</a:t>
            </a:r>
            <a:endParaRPr/>
          </a:p>
          <a:p>
            <a:pPr indent="-114299" lvl="0" marL="179388"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Respond to </a:t>
            </a:r>
            <a:r>
              <a:rPr b="1" lang="en-GB" sz="1400">
                <a:solidFill>
                  <a:schemeClr val="dk2"/>
                </a:solidFill>
                <a:latin typeface="Century Gothic"/>
                <a:ea typeface="Century Gothic"/>
                <a:cs typeface="Century Gothic"/>
                <a:sym typeface="Century Gothic"/>
              </a:rPr>
              <a:t>competitive threats </a:t>
            </a:r>
            <a:endParaRPr/>
          </a:p>
          <a:p>
            <a:pPr indent="-114299" lvl="0" marL="179388" marR="0" rtl="0" algn="l">
              <a:spcBef>
                <a:spcPts val="300"/>
              </a:spcBef>
              <a:spcAft>
                <a:spcPts val="0"/>
              </a:spcAft>
              <a:buClr>
                <a:schemeClr val="dk1"/>
              </a:buClr>
              <a:buSzPts val="1400"/>
              <a:buFont typeface="Arial"/>
              <a:buChar char="•"/>
            </a:pPr>
            <a:r>
              <a:rPr lang="en-GB" sz="1400">
                <a:solidFill>
                  <a:srgbClr val="2C2C2C"/>
                </a:solidFill>
                <a:latin typeface="Century Gothic"/>
                <a:ea typeface="Century Gothic"/>
                <a:cs typeface="Century Gothic"/>
                <a:sym typeface="Century Gothic"/>
              </a:rPr>
              <a:t>Meet </a:t>
            </a:r>
            <a:r>
              <a:rPr b="1" lang="en-GB" sz="1400">
                <a:solidFill>
                  <a:schemeClr val="dk2"/>
                </a:solidFill>
                <a:latin typeface="Century Gothic"/>
                <a:ea typeface="Century Gothic"/>
                <a:cs typeface="Century Gothic"/>
                <a:sym typeface="Century Gothic"/>
              </a:rPr>
              <a:t>Regulatory &amp; Compliance</a:t>
            </a:r>
            <a:br>
              <a:rPr b="1" lang="en-GB" sz="1400">
                <a:solidFill>
                  <a:schemeClr val="dk2"/>
                </a:solidFill>
                <a:latin typeface="Century Gothic"/>
                <a:ea typeface="Century Gothic"/>
                <a:cs typeface="Century Gothic"/>
                <a:sym typeface="Century Gothic"/>
              </a:rPr>
            </a:br>
            <a:r>
              <a:rPr lang="en-GB" sz="1400">
                <a:solidFill>
                  <a:srgbClr val="2C2C2C"/>
                </a:solidFill>
                <a:latin typeface="Century Gothic"/>
                <a:ea typeface="Century Gothic"/>
                <a:cs typeface="Century Gothic"/>
                <a:sym typeface="Century Gothic"/>
              </a:rPr>
              <a:t>demands</a:t>
            </a:r>
            <a:endParaRPr sz="1400">
              <a:solidFill>
                <a:srgbClr val="2C2C2C"/>
              </a:solidFill>
              <a:latin typeface="Century Gothic"/>
              <a:ea typeface="Century Gothic"/>
              <a:cs typeface="Century Gothic"/>
              <a:sym typeface="Century Gothic"/>
            </a:endParaRPr>
          </a:p>
          <a:p>
            <a:pPr indent="-114299" lvl="0" marL="179388" marR="0" rtl="0" algn="l">
              <a:spcBef>
                <a:spcPts val="300"/>
              </a:spcBef>
              <a:spcAft>
                <a:spcPts val="0"/>
              </a:spcAft>
              <a:buClr>
                <a:schemeClr val="dk1"/>
              </a:buClr>
              <a:buSzPts val="1400"/>
              <a:buFont typeface="Arial"/>
              <a:buChar char="•"/>
            </a:pPr>
            <a:r>
              <a:rPr b="1" lang="en-GB" sz="1400">
                <a:solidFill>
                  <a:schemeClr val="dk2"/>
                </a:solidFill>
                <a:latin typeface="Century Gothic"/>
                <a:ea typeface="Century Gothic"/>
                <a:cs typeface="Century Gothic"/>
                <a:sym typeface="Century Gothic"/>
              </a:rPr>
              <a:t>Talent</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development</a:t>
            </a:r>
            <a:endParaRPr sz="1400">
              <a:solidFill>
                <a:srgbClr val="FFFFFF"/>
              </a:solidFill>
              <a:latin typeface="Century Gothic"/>
              <a:ea typeface="Century Gothic"/>
              <a:cs typeface="Century Gothic"/>
              <a:sym typeface="Century Gothic"/>
            </a:endParaRPr>
          </a:p>
        </p:txBody>
      </p:sp>
      <p:sp>
        <p:nvSpPr>
          <p:cNvPr id="194" name="Google Shape;194;p35"/>
          <p:cNvSpPr/>
          <p:nvPr/>
        </p:nvSpPr>
        <p:spPr>
          <a:xfrm>
            <a:off x="4883190" y="1028597"/>
            <a:ext cx="3938548" cy="3763551"/>
          </a:xfrm>
          <a:prstGeom prst="rect">
            <a:avLst/>
          </a:prstGeom>
          <a:noFill/>
          <a:ln cap="flat" cmpd="sng" w="9525">
            <a:solidFill>
              <a:schemeClr val="accent4"/>
            </a:solidFill>
            <a:prstDash val="solid"/>
            <a:miter lim="800000"/>
            <a:headEnd len="sm" w="sm" type="none"/>
            <a:tailEnd len="sm" w="sm" type="none"/>
          </a:ln>
        </p:spPr>
        <p:txBody>
          <a:bodyPr anchorCtr="0" anchor="t" bIns="36000" lIns="36000" spcFirstLastPara="1" rIns="36000" wrap="square" tIns="36000">
            <a:noAutofit/>
          </a:bodyPr>
          <a:lstStyle/>
          <a:p>
            <a:pPr indent="-114300" lvl="0" marL="114300" marR="0" rtl="0" algn="l">
              <a:spcBef>
                <a:spcPts val="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Understand and orchestrate </a:t>
            </a:r>
            <a:r>
              <a:rPr b="1" lang="en-GB" sz="1400">
                <a:solidFill>
                  <a:schemeClr val="accent4"/>
                </a:solidFill>
                <a:latin typeface="Century Gothic"/>
                <a:ea typeface="Century Gothic"/>
                <a:cs typeface="Century Gothic"/>
                <a:sym typeface="Century Gothic"/>
              </a:rPr>
              <a:t>frictionless omni-channel customer journeys</a:t>
            </a:r>
            <a:endParaRPr sz="1400">
              <a:solidFill>
                <a:srgbClr val="2C2C2C"/>
              </a:solidFill>
              <a:latin typeface="Century Gothic"/>
              <a:ea typeface="Century Gothic"/>
              <a:cs typeface="Century Gothic"/>
              <a:sym typeface="Century Gothic"/>
            </a:endParaRPr>
          </a:p>
          <a:p>
            <a:pPr indent="-114300" lvl="0" marL="114300"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Improve </a:t>
            </a:r>
            <a:r>
              <a:rPr b="1" lang="en-GB" sz="1400">
                <a:solidFill>
                  <a:schemeClr val="accent4"/>
                </a:solidFill>
                <a:latin typeface="Century Gothic"/>
                <a:ea typeface="Century Gothic"/>
                <a:cs typeface="Century Gothic"/>
                <a:sym typeface="Century Gothic"/>
              </a:rPr>
              <a:t>client satisfaction</a:t>
            </a:r>
            <a:r>
              <a:rPr lang="en-GB" sz="1400">
                <a:solidFill>
                  <a:srgbClr val="2C2C2C"/>
                </a:solidFill>
                <a:latin typeface="Century Gothic"/>
                <a:ea typeface="Century Gothic"/>
                <a:cs typeface="Century Gothic"/>
                <a:sym typeface="Century Gothic"/>
              </a:rPr>
              <a:t> through focus on customer</a:t>
            </a:r>
            <a:r>
              <a:rPr b="1" lang="en-GB" sz="1400">
                <a:solidFill>
                  <a:srgbClr val="2C2C2C"/>
                </a:solidFill>
                <a:latin typeface="Century Gothic"/>
                <a:ea typeface="Century Gothic"/>
                <a:cs typeface="Century Gothic"/>
                <a:sym typeface="Century Gothic"/>
              </a:rPr>
              <a:t> </a:t>
            </a:r>
            <a:r>
              <a:rPr lang="en-GB" sz="1400">
                <a:solidFill>
                  <a:srgbClr val="2C2C2C"/>
                </a:solidFill>
                <a:latin typeface="Century Gothic"/>
                <a:ea typeface="Century Gothic"/>
                <a:cs typeface="Century Gothic"/>
                <a:sym typeface="Century Gothic"/>
              </a:rPr>
              <a:t>experience</a:t>
            </a:r>
            <a:endParaRPr sz="1400">
              <a:solidFill>
                <a:srgbClr val="2C2C2C"/>
              </a:solidFill>
              <a:latin typeface="Century Gothic"/>
              <a:ea typeface="Century Gothic"/>
              <a:cs typeface="Century Gothic"/>
              <a:sym typeface="Century Gothic"/>
            </a:endParaRPr>
          </a:p>
          <a:p>
            <a:pPr indent="-114300" lvl="0" marL="806450"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More relevant cross/up selling </a:t>
            </a:r>
            <a:r>
              <a:rPr lang="en-GB" sz="1400">
                <a:solidFill>
                  <a:srgbClr val="2C2C2C"/>
                </a:solidFill>
                <a:latin typeface="Century Gothic"/>
                <a:ea typeface="Century Gothic"/>
                <a:cs typeface="Century Gothic"/>
                <a:sym typeface="Century Gothic"/>
              </a:rPr>
              <a:t>with 	new products and capabilities</a:t>
            </a:r>
            <a:endParaRPr/>
          </a:p>
          <a:p>
            <a:pPr indent="-114300" lvl="0" marL="987425"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Improve service </a:t>
            </a:r>
            <a:r>
              <a:rPr lang="en-GB" sz="1400">
                <a:solidFill>
                  <a:srgbClr val="2C2C2C"/>
                </a:solidFill>
                <a:latin typeface="Century Gothic"/>
                <a:ea typeface="Century Gothic"/>
                <a:cs typeface="Century Gothic"/>
                <a:sym typeface="Century Gothic"/>
              </a:rPr>
              <a:t>delivery across emerging channels</a:t>
            </a:r>
            <a:endParaRPr/>
          </a:p>
          <a:p>
            <a:pPr indent="-114300" lvl="0" marL="1082675"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Agile</a:t>
            </a:r>
            <a:r>
              <a:rPr lang="en-GB" sz="1400">
                <a:solidFill>
                  <a:srgbClr val="2C2C2C"/>
                </a:solidFill>
                <a:latin typeface="Century Gothic"/>
                <a:ea typeface="Century Gothic"/>
                <a:cs typeface="Century Gothic"/>
                <a:sym typeface="Century Gothic"/>
              </a:rPr>
              <a:t> infrastructure to speed up new proposition development</a:t>
            </a:r>
            <a:endParaRPr sz="1400">
              <a:solidFill>
                <a:srgbClr val="2C2C2C"/>
              </a:solidFill>
              <a:latin typeface="Century Gothic"/>
              <a:ea typeface="Century Gothic"/>
              <a:cs typeface="Century Gothic"/>
              <a:sym typeface="Century Gothic"/>
            </a:endParaRPr>
          </a:p>
          <a:p>
            <a:pPr indent="-114300" lvl="0" marL="1082675" marR="0" rtl="0" algn="l">
              <a:spcBef>
                <a:spcPts val="300"/>
              </a:spcBef>
              <a:spcAft>
                <a:spcPts val="0"/>
              </a:spcAft>
              <a:buClr>
                <a:schemeClr val="dk1"/>
              </a:buClr>
              <a:buSzPts val="1400"/>
              <a:buFont typeface="Arial"/>
              <a:buChar char="•"/>
            </a:pPr>
            <a:r>
              <a:rPr b="1" lang="en-GB" sz="1400">
                <a:solidFill>
                  <a:schemeClr val="accent4"/>
                </a:solidFill>
                <a:latin typeface="Century Gothic"/>
                <a:ea typeface="Century Gothic"/>
                <a:cs typeface="Century Gothic"/>
                <a:sym typeface="Century Gothic"/>
              </a:rPr>
              <a:t>Support and integrate </a:t>
            </a:r>
            <a:r>
              <a:rPr lang="en-GB" sz="1400">
                <a:solidFill>
                  <a:srgbClr val="2C2C2C"/>
                </a:solidFill>
                <a:latin typeface="Century Gothic"/>
                <a:ea typeface="Century Gothic"/>
                <a:cs typeface="Century Gothic"/>
                <a:sym typeface="Century Gothic"/>
              </a:rPr>
              <a:t>across multiple new channels</a:t>
            </a:r>
            <a:endParaRPr sz="1400">
              <a:solidFill>
                <a:srgbClr val="2C2C2C"/>
              </a:solidFill>
              <a:latin typeface="Century Gothic"/>
              <a:ea typeface="Century Gothic"/>
              <a:cs typeface="Century Gothic"/>
              <a:sym typeface="Century Gothic"/>
            </a:endParaRPr>
          </a:p>
          <a:p>
            <a:pPr indent="-107950" lvl="0" marL="904875"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Measure, manage and price based on </a:t>
            </a:r>
            <a:r>
              <a:rPr b="1" lang="en-GB" sz="1400">
                <a:solidFill>
                  <a:schemeClr val="accent4"/>
                </a:solidFill>
                <a:latin typeface="Century Gothic"/>
                <a:ea typeface="Century Gothic"/>
                <a:cs typeface="Century Gothic"/>
                <a:sym typeface="Century Gothic"/>
              </a:rPr>
              <a:t>customer value, and potential</a:t>
            </a:r>
            <a:endParaRPr/>
          </a:p>
          <a:p>
            <a:pPr indent="-107950" lvl="0" marL="112713" marR="0" rtl="0" algn="l">
              <a:spcBef>
                <a:spcPts val="300"/>
              </a:spcBef>
              <a:spcAft>
                <a:spcPts val="0"/>
              </a:spcAft>
              <a:buClr>
                <a:srgbClr val="2C2C2C"/>
              </a:buClr>
              <a:buSzPts val="1400"/>
              <a:buFont typeface="Arial"/>
              <a:buChar char="•"/>
            </a:pPr>
            <a:r>
              <a:rPr lang="en-GB" sz="1400">
                <a:solidFill>
                  <a:srgbClr val="2C2C2C"/>
                </a:solidFill>
                <a:latin typeface="Century Gothic"/>
                <a:ea typeface="Century Gothic"/>
                <a:cs typeface="Century Gothic"/>
                <a:sym typeface="Century Gothic"/>
              </a:rPr>
              <a:t>Exploit </a:t>
            </a:r>
            <a:r>
              <a:rPr b="1" lang="en-GB" sz="1400">
                <a:solidFill>
                  <a:schemeClr val="accent4"/>
                </a:solidFill>
                <a:latin typeface="Century Gothic"/>
                <a:ea typeface="Century Gothic"/>
                <a:cs typeface="Century Gothic"/>
                <a:sym typeface="Century Gothic"/>
              </a:rPr>
              <a:t>simpler configurable products</a:t>
            </a:r>
            <a:endParaRPr sz="1400">
              <a:solidFill>
                <a:srgbClr val="2C2C2C"/>
              </a:solidFill>
              <a:latin typeface="Century Gothic"/>
              <a:ea typeface="Century Gothic"/>
              <a:cs typeface="Century Gothic"/>
              <a:sym typeface="Century Gothic"/>
            </a:endParaRPr>
          </a:p>
          <a:p>
            <a:pPr indent="-114300" lvl="0" marL="114300" marR="0" rtl="0" algn="ctr">
              <a:spcBef>
                <a:spcPts val="300"/>
              </a:spcBef>
              <a:spcAft>
                <a:spcPts val="0"/>
              </a:spcAft>
              <a:buNone/>
            </a:pPr>
            <a:r>
              <a:t/>
            </a:r>
            <a:endParaRPr sz="1400">
              <a:solidFill>
                <a:srgbClr val="FFFFFF"/>
              </a:solidFill>
              <a:latin typeface="Century Gothic"/>
              <a:ea typeface="Century Gothic"/>
              <a:cs typeface="Century Gothic"/>
              <a:sym typeface="Century Gothic"/>
            </a:endParaRPr>
          </a:p>
        </p:txBody>
      </p:sp>
      <p:sp>
        <p:nvSpPr>
          <p:cNvPr id="195" name="Google Shape;195;p35"/>
          <p:cNvSpPr/>
          <p:nvPr/>
        </p:nvSpPr>
        <p:spPr>
          <a:xfrm>
            <a:off x="3716049" y="2293655"/>
            <a:ext cx="1815105" cy="1815105"/>
          </a:xfrm>
          <a:prstGeom prst="ellipse">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6" name="Google Shape;196;p35"/>
          <p:cNvSpPr txBox="1"/>
          <p:nvPr>
            <p:ph type="title"/>
          </p:nvPr>
        </p:nvSpPr>
        <p:spPr>
          <a:xfrm>
            <a:off x="379413" y="164592"/>
            <a:ext cx="8307387" cy="40861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Pressures Are Mounting…</a:t>
            </a:r>
            <a:endParaRPr/>
          </a:p>
        </p:txBody>
      </p:sp>
      <p:grpSp>
        <p:nvGrpSpPr>
          <p:cNvPr id="197" name="Google Shape;197;p35"/>
          <p:cNvGrpSpPr/>
          <p:nvPr/>
        </p:nvGrpSpPr>
        <p:grpSpPr>
          <a:xfrm>
            <a:off x="4230778" y="2868226"/>
            <a:ext cx="778496" cy="662222"/>
            <a:chOff x="6969330" y="3921815"/>
            <a:chExt cx="1063420" cy="904590"/>
          </a:xfrm>
        </p:grpSpPr>
        <p:sp>
          <p:nvSpPr>
            <p:cNvPr id="198" name="Google Shape;198;p35"/>
            <p:cNvSpPr/>
            <p:nvPr/>
          </p:nvSpPr>
          <p:spPr>
            <a:xfrm>
              <a:off x="6969330" y="3921815"/>
              <a:ext cx="1063420" cy="904590"/>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DC7B1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600">
                <a:solidFill>
                  <a:schemeClr val="lt1"/>
                </a:solidFill>
                <a:latin typeface="Century Gothic"/>
                <a:ea typeface="Century Gothic"/>
                <a:cs typeface="Century Gothic"/>
                <a:sym typeface="Century Gothic"/>
              </a:endParaRPr>
            </a:p>
          </p:txBody>
        </p:sp>
        <p:sp>
          <p:nvSpPr>
            <p:cNvPr id="199" name="Google Shape;199;p35"/>
            <p:cNvSpPr/>
            <p:nvPr/>
          </p:nvSpPr>
          <p:spPr>
            <a:xfrm>
              <a:off x="6970815" y="3925611"/>
              <a:ext cx="1060450" cy="3164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b="1" lang="en-GB" sz="1050">
                  <a:solidFill>
                    <a:schemeClr val="lt1"/>
                  </a:solidFill>
                  <a:latin typeface="Century Gothic"/>
                  <a:ea typeface="Century Gothic"/>
                  <a:cs typeface="Century Gothic"/>
                  <a:sym typeface="Century Gothic"/>
                </a:rPr>
                <a:t>BANK</a:t>
              </a:r>
              <a:endParaRPr b="1" sz="1050">
                <a:solidFill>
                  <a:schemeClr val="lt1"/>
                </a:solidFill>
                <a:latin typeface="Century Gothic"/>
                <a:ea typeface="Century Gothic"/>
                <a:cs typeface="Century Gothic"/>
                <a:sym typeface="Century Gothic"/>
              </a:endParaRPr>
            </a:p>
          </p:txBody>
        </p:sp>
      </p:grpSp>
      <p:grpSp>
        <p:nvGrpSpPr>
          <p:cNvPr id="200" name="Google Shape;200;p35"/>
          <p:cNvGrpSpPr/>
          <p:nvPr/>
        </p:nvGrpSpPr>
        <p:grpSpPr>
          <a:xfrm>
            <a:off x="2193981" y="833016"/>
            <a:ext cx="4816769" cy="4816770"/>
            <a:chOff x="5564851" y="3371799"/>
            <a:chExt cx="4023721" cy="4023721"/>
          </a:xfrm>
        </p:grpSpPr>
        <p:grpSp>
          <p:nvGrpSpPr>
            <p:cNvPr id="201" name="Google Shape;201;p35"/>
            <p:cNvGrpSpPr/>
            <p:nvPr/>
          </p:nvGrpSpPr>
          <p:grpSpPr>
            <a:xfrm rot="2778069">
              <a:off x="6153746" y="3960691"/>
              <a:ext cx="2845933" cy="2845936"/>
              <a:chOff x="7431681" y="4805153"/>
              <a:chExt cx="1415051" cy="1415051"/>
            </a:xfrm>
          </p:grpSpPr>
          <p:sp>
            <p:nvSpPr>
              <p:cNvPr id="202" name="Google Shape;202;p35"/>
              <p:cNvSpPr/>
              <p:nvPr/>
            </p:nvSpPr>
            <p:spPr>
              <a:xfrm rot="-2952627">
                <a:off x="7637557" y="5011029"/>
                <a:ext cx="1003300" cy="1003300"/>
              </a:xfrm>
              <a:prstGeom prst="blockArc">
                <a:avLst>
                  <a:gd fmla="val 12031555" name="adj1"/>
                  <a:gd fmla="val 19098186" name="adj2"/>
                  <a:gd fmla="val 22208" name="adj3"/>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 name="Google Shape;203;p35"/>
              <p:cNvSpPr/>
              <p:nvPr/>
            </p:nvSpPr>
            <p:spPr>
              <a:xfrm rot="4232734">
                <a:off x="7637556" y="5007854"/>
                <a:ext cx="1003300" cy="1003300"/>
              </a:xfrm>
              <a:prstGeom prst="blockArc">
                <a:avLst>
                  <a:gd fmla="val 11879251" name="adj1"/>
                  <a:gd fmla="val 19098186" name="adj2"/>
                  <a:gd fmla="val 22208" name="adj3"/>
                </a:avLst>
              </a:pr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4" name="Google Shape;204;p35"/>
              <p:cNvSpPr/>
              <p:nvPr/>
            </p:nvSpPr>
            <p:spPr>
              <a:xfrm rot="-10333794">
                <a:off x="7634383" y="5007854"/>
                <a:ext cx="1003300" cy="1003300"/>
              </a:xfrm>
              <a:prstGeom prst="blockArc">
                <a:avLst>
                  <a:gd fmla="val 12031555" name="adj1"/>
                  <a:gd fmla="val 19379912" name="adj2"/>
                  <a:gd fmla="val 22124" name="adj3"/>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05" name="Google Shape;205;p35"/>
            <p:cNvGrpSpPr/>
            <p:nvPr/>
          </p:nvGrpSpPr>
          <p:grpSpPr>
            <a:xfrm>
              <a:off x="6488702" y="4523454"/>
              <a:ext cx="1879462" cy="1937171"/>
              <a:chOff x="6488702" y="4523454"/>
              <a:chExt cx="1879462" cy="1937171"/>
            </a:xfrm>
          </p:grpSpPr>
          <p:sp>
            <p:nvSpPr>
              <p:cNvPr id="206" name="Google Shape;206;p35"/>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7" name="Google Shape;207;p35"/>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8" name="Google Shape;208;p35"/>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sp>
        <p:nvSpPr>
          <p:cNvPr id="209" name="Google Shape;209;p35"/>
          <p:cNvSpPr/>
          <p:nvPr/>
        </p:nvSpPr>
        <p:spPr>
          <a:xfrm rot="-753004">
            <a:off x="3804215" y="2247761"/>
            <a:ext cx="1402829" cy="843174"/>
          </a:xfrm>
          <a:prstGeom prst="rect">
            <a:avLst/>
          </a:prstGeom>
        </p:spPr>
        <p:txBody>
          <a:bodyPr>
            <a:prstTxWarp prst="textPlain"/>
          </a:bodyPr>
          <a:lstStyle/>
          <a:p>
            <a:pPr lvl="0" algn="ctr"/>
            <a:r>
              <a:rPr b="1" i="0">
                <a:ln>
                  <a:noFill/>
                </a:ln>
                <a:solidFill>
                  <a:srgbClr val="FFFFFF"/>
                </a:solidFill>
                <a:latin typeface="Century Gothic"/>
              </a:rPr>
              <a:t>BUSINESS</a:t>
            </a:r>
          </a:p>
        </p:txBody>
      </p:sp>
      <p:sp>
        <p:nvSpPr>
          <p:cNvPr id="210" name="Google Shape;210;p35"/>
          <p:cNvSpPr/>
          <p:nvPr/>
        </p:nvSpPr>
        <p:spPr>
          <a:xfrm rot="-753004">
            <a:off x="3845490" y="2422347"/>
            <a:ext cx="1402829" cy="843174"/>
          </a:xfrm>
          <a:prstGeom prst="rect">
            <a:avLst/>
          </a:prstGeom>
        </p:spPr>
        <p:txBody>
          <a:bodyPr>
            <a:prstTxWarp prst="textPlain"/>
          </a:bodyPr>
          <a:lstStyle/>
          <a:p>
            <a:pPr lvl="0" algn="ctr"/>
            <a:r>
              <a:rPr b="1" i="0">
                <a:ln>
                  <a:noFill/>
                </a:ln>
                <a:solidFill>
                  <a:srgbClr val="FFFFFF"/>
                </a:solidFill>
                <a:latin typeface="Century Gothic"/>
              </a:rPr>
              <a:t>MANAGEMENT</a:t>
            </a:r>
          </a:p>
        </p:txBody>
      </p:sp>
      <p:sp>
        <p:nvSpPr>
          <p:cNvPr id="211" name="Google Shape;211;p35"/>
          <p:cNvSpPr/>
          <p:nvPr/>
        </p:nvSpPr>
        <p:spPr>
          <a:xfrm rot="-3650790">
            <a:off x="4549663" y="3002888"/>
            <a:ext cx="1156014" cy="843174"/>
          </a:xfrm>
          <a:prstGeom prst="rect">
            <a:avLst/>
          </a:prstGeom>
        </p:spPr>
        <p:txBody>
          <a:bodyPr>
            <a:prstTxWarp prst="textPlain"/>
          </a:bodyPr>
          <a:lstStyle/>
          <a:p>
            <a:pPr lvl="0" algn="ctr"/>
            <a:r>
              <a:rPr b="1" i="0">
                <a:ln>
                  <a:noFill/>
                </a:ln>
                <a:solidFill>
                  <a:srgbClr val="FFFFFF"/>
                </a:solidFill>
                <a:latin typeface="Century Gothic"/>
              </a:rPr>
              <a:t>GROWTH</a:t>
            </a:r>
          </a:p>
        </p:txBody>
      </p:sp>
      <p:sp>
        <p:nvSpPr>
          <p:cNvPr id="212" name="Google Shape;212;p35"/>
          <p:cNvSpPr/>
          <p:nvPr/>
        </p:nvSpPr>
        <p:spPr>
          <a:xfrm rot="3476208">
            <a:off x="3576499" y="3134833"/>
            <a:ext cx="1156014" cy="843174"/>
          </a:xfrm>
          <a:prstGeom prst="rect">
            <a:avLst/>
          </a:prstGeom>
        </p:spPr>
        <p:txBody>
          <a:bodyPr>
            <a:prstTxWarp prst="textPlain"/>
          </a:bodyPr>
          <a:lstStyle/>
          <a:p>
            <a:pPr lvl="0" algn="ctr"/>
            <a:r>
              <a:rPr b="1" i="0">
                <a:ln>
                  <a:noFill/>
                </a:ln>
                <a:solidFill>
                  <a:srgbClr val="FFFFFF"/>
                </a:solidFill>
                <a:latin typeface="Century Gothic"/>
              </a:rPr>
              <a:t>COSTS</a:t>
            </a:r>
          </a:p>
        </p:txBody>
      </p:sp>
      <p:sp>
        <p:nvSpPr>
          <p:cNvPr id="213" name="Google Shape;213;p35"/>
          <p:cNvSpPr txBox="1"/>
          <p:nvPr>
            <p:ph idx="1" type="body"/>
          </p:nvPr>
        </p:nvSpPr>
        <p:spPr>
          <a:xfrm>
            <a:off x="363113" y="663843"/>
            <a:ext cx="8229600" cy="381065"/>
          </a:xfrm>
          <a:prstGeom prst="rect">
            <a:avLst/>
          </a:prstGeom>
          <a:noFill/>
          <a:ln>
            <a:noFill/>
          </a:ln>
        </p:spPr>
        <p:txBody>
          <a:bodyPr anchorCtr="0" anchor="t" bIns="0" lIns="0" spcFirstLastPara="1" rIns="0" wrap="square" tIns="0">
            <a:noAutofit/>
          </a:bodyPr>
          <a:lstStyle/>
          <a:p>
            <a:pPr indent="-114300" lvl="4" marL="0" rtl="0" algn="l">
              <a:lnSpc>
                <a:spcPct val="95000"/>
              </a:lnSpc>
              <a:spcBef>
                <a:spcPts val="0"/>
              </a:spcBef>
              <a:spcAft>
                <a:spcPts val="0"/>
              </a:spcAft>
              <a:buClr>
                <a:schemeClr val="accent2"/>
              </a:buClr>
              <a:buSzPts val="1800"/>
              <a:buChar char="​"/>
            </a:pPr>
            <a:r>
              <a:rPr lang="en-GB">
                <a:solidFill>
                  <a:schemeClr val="accent2"/>
                </a:solidFill>
              </a:rPr>
              <a:t>“Deliver Growth with More Efficient Processes and Less Overhead”</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 name="Shape 217"/>
        <p:cNvGrpSpPr/>
        <p:nvPr/>
      </p:nvGrpSpPr>
      <p:grpSpPr>
        <a:xfrm>
          <a:off x="0" y="0"/>
          <a:ext cx="0" cy="0"/>
          <a:chOff x="0" y="0"/>
          <a:chExt cx="0" cy="0"/>
        </a:xfrm>
      </p:grpSpPr>
      <p:sp>
        <p:nvSpPr>
          <p:cNvPr id="218" name="Google Shape;218;p36"/>
          <p:cNvSpPr txBox="1"/>
          <p:nvPr>
            <p:ph idx="1" type="body"/>
          </p:nvPr>
        </p:nvSpPr>
        <p:spPr>
          <a:xfrm>
            <a:off x="457200" y="2876764"/>
            <a:ext cx="8229600" cy="1680167"/>
          </a:xfrm>
          <a:prstGeom prst="rect">
            <a:avLst/>
          </a:prstGeom>
          <a:noFill/>
          <a:ln>
            <a:noFill/>
          </a:ln>
        </p:spPr>
        <p:txBody>
          <a:bodyPr anchorCtr="0" anchor="t" bIns="0" lIns="0" spcFirstLastPara="1" rIns="0" wrap="square" tIns="0">
            <a:noAutofit/>
          </a:bodyPr>
          <a:lstStyle/>
          <a:p>
            <a:pPr indent="-169863" lvl="0" marL="169863" rtl="0" algn="l">
              <a:lnSpc>
                <a:spcPct val="95000"/>
              </a:lnSpc>
              <a:spcBef>
                <a:spcPts val="0"/>
              </a:spcBef>
              <a:spcAft>
                <a:spcPts val="0"/>
              </a:spcAft>
              <a:buClr>
                <a:schemeClr val="dk1"/>
              </a:buClr>
              <a:buSzPts val="1400"/>
              <a:buChar char="•"/>
            </a:pPr>
            <a:r>
              <a:rPr lang="en-GB" sz="1400"/>
              <a:t>Customers are demanding greater convenience, ease of use, and relevant engagement </a:t>
            </a:r>
            <a:endParaRPr/>
          </a:p>
          <a:p>
            <a:pPr indent="-169863" lvl="0" marL="169863" rtl="0" algn="l">
              <a:lnSpc>
                <a:spcPct val="95000"/>
              </a:lnSpc>
              <a:spcBef>
                <a:spcPts val="800"/>
              </a:spcBef>
              <a:spcAft>
                <a:spcPts val="0"/>
              </a:spcAft>
              <a:buClr>
                <a:schemeClr val="dk1"/>
              </a:buClr>
              <a:buSzPts val="1400"/>
              <a:buChar char="•"/>
            </a:pPr>
            <a:r>
              <a:rPr lang="en-GB" sz="1400"/>
              <a:t>Niche competitors and Fintechs without the complexity and legacy infrastructure of traditional banks can price competitively whilst achieving higher profits</a:t>
            </a:r>
            <a:endParaRPr/>
          </a:p>
          <a:p>
            <a:pPr indent="-169863" lvl="0" marL="169863" rtl="0" algn="l">
              <a:lnSpc>
                <a:spcPct val="95000"/>
              </a:lnSpc>
              <a:spcBef>
                <a:spcPts val="800"/>
              </a:spcBef>
              <a:spcAft>
                <a:spcPts val="0"/>
              </a:spcAft>
              <a:buClr>
                <a:schemeClr val="dk1"/>
              </a:buClr>
              <a:buSzPts val="1400"/>
              <a:buChar char="•"/>
            </a:pPr>
            <a:r>
              <a:rPr lang="en-GB" sz="1400"/>
              <a:t>Commoditized products are delivered by many more competitors with few discernible differences</a:t>
            </a:r>
            <a:endParaRPr/>
          </a:p>
          <a:p>
            <a:pPr indent="-169863" lvl="0" marL="169863" rtl="0" algn="l">
              <a:lnSpc>
                <a:spcPct val="95000"/>
              </a:lnSpc>
              <a:spcBef>
                <a:spcPts val="800"/>
              </a:spcBef>
              <a:spcAft>
                <a:spcPts val="0"/>
              </a:spcAft>
              <a:buClr>
                <a:schemeClr val="dk1"/>
              </a:buClr>
              <a:buSzPts val="1400"/>
              <a:buChar char="•"/>
            </a:pPr>
            <a:r>
              <a:rPr lang="en-GB" sz="1400"/>
              <a:t>Customers with high profitability and/or potential are being cherry-picked</a:t>
            </a:r>
            <a:endParaRPr/>
          </a:p>
          <a:p>
            <a:pPr indent="-80963" lvl="0" marL="169863" rtl="0" algn="l">
              <a:lnSpc>
                <a:spcPct val="95000"/>
              </a:lnSpc>
              <a:spcBef>
                <a:spcPts val="800"/>
              </a:spcBef>
              <a:spcAft>
                <a:spcPts val="0"/>
              </a:spcAft>
              <a:buClr>
                <a:schemeClr val="dk1"/>
              </a:buClr>
              <a:buSzPts val="1400"/>
              <a:buNone/>
            </a:pPr>
            <a:r>
              <a:t/>
            </a:r>
            <a:endParaRPr sz="1400"/>
          </a:p>
        </p:txBody>
      </p:sp>
      <p:sp>
        <p:nvSpPr>
          <p:cNvPr id="219" name="Google Shape;219;p36"/>
          <p:cNvSpPr txBox="1"/>
          <p:nvPr>
            <p:ph type="title"/>
          </p:nvPr>
        </p:nvSpPr>
        <p:spPr>
          <a:xfrm>
            <a:off x="457200" y="205688"/>
            <a:ext cx="8229600" cy="36245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…And Threats Are Advancing</a:t>
            </a:r>
            <a:endParaRPr/>
          </a:p>
        </p:txBody>
      </p:sp>
      <p:sp>
        <p:nvSpPr>
          <p:cNvPr id="220" name="Google Shape;220;p36"/>
          <p:cNvSpPr/>
          <p:nvPr/>
        </p:nvSpPr>
        <p:spPr>
          <a:xfrm>
            <a:off x="436543" y="1042881"/>
            <a:ext cx="8270914" cy="1543739"/>
          </a:xfrm>
          <a:prstGeom prst="rect">
            <a:avLst/>
          </a:prstGeom>
          <a:noFill/>
          <a:ln cap="flat" cmpd="sng" w="9525">
            <a:solidFill>
              <a:srgbClr val="898989"/>
            </a:solidFill>
            <a:prstDash val="solid"/>
            <a:round/>
            <a:headEnd len="sm" w="sm" type="none"/>
            <a:tailEnd len="sm" w="sm" type="none"/>
          </a:ln>
        </p:spPr>
        <p:txBody>
          <a:bodyPr anchorCtr="0" anchor="t" bIns="45700" lIns="91425" spcFirstLastPara="1" rIns="91425" wrap="square" tIns="45700">
            <a:noAutofit/>
          </a:bodyPr>
          <a:lstStyle/>
          <a:p>
            <a:pPr indent="0" lvl="1" marL="0" marR="0" rtl="0" algn="ctr">
              <a:spcBef>
                <a:spcPts val="0"/>
              </a:spcBef>
              <a:spcAft>
                <a:spcPts val="0"/>
              </a:spcAft>
              <a:buNone/>
            </a:pPr>
            <a:r>
              <a:t/>
            </a:r>
            <a:endParaRPr b="1" i="0" sz="1400" u="none" cap="none" strike="noStrike">
              <a:solidFill>
                <a:srgbClr val="FFFFFF"/>
              </a:solidFill>
              <a:latin typeface="Century Gothic"/>
              <a:ea typeface="Century Gothic"/>
              <a:cs typeface="Century Gothic"/>
              <a:sym typeface="Century Gothic"/>
            </a:endParaRPr>
          </a:p>
        </p:txBody>
      </p:sp>
      <p:pic>
        <p:nvPicPr>
          <p:cNvPr id="221" name="Google Shape;221;p36"/>
          <p:cNvPicPr preferRelativeResize="0"/>
          <p:nvPr/>
        </p:nvPicPr>
        <p:blipFill rotWithShape="1">
          <a:blip r:embed="rId3">
            <a:alphaModFix/>
          </a:blip>
          <a:srcRect b="0" l="0" r="0" t="0"/>
          <a:stretch/>
        </p:blipFill>
        <p:spPr>
          <a:xfrm>
            <a:off x="2177678" y="2078750"/>
            <a:ext cx="624330" cy="415463"/>
          </a:xfrm>
          <a:prstGeom prst="rect">
            <a:avLst/>
          </a:prstGeom>
          <a:noFill/>
          <a:ln>
            <a:noFill/>
          </a:ln>
        </p:spPr>
      </p:pic>
      <p:pic>
        <p:nvPicPr>
          <p:cNvPr id="222" name="Google Shape;222;p36"/>
          <p:cNvPicPr preferRelativeResize="0"/>
          <p:nvPr/>
        </p:nvPicPr>
        <p:blipFill rotWithShape="1">
          <a:blip r:embed="rId4">
            <a:alphaModFix/>
          </a:blip>
          <a:srcRect b="0" l="0" r="0" t="0"/>
          <a:stretch/>
        </p:blipFill>
        <p:spPr>
          <a:xfrm>
            <a:off x="4908903" y="1764410"/>
            <a:ext cx="628366" cy="251888"/>
          </a:xfrm>
          <a:prstGeom prst="rect">
            <a:avLst/>
          </a:prstGeom>
          <a:noFill/>
          <a:ln>
            <a:noFill/>
          </a:ln>
        </p:spPr>
      </p:pic>
      <p:pic>
        <p:nvPicPr>
          <p:cNvPr id="223" name="Google Shape;223;p36"/>
          <p:cNvPicPr preferRelativeResize="0"/>
          <p:nvPr/>
        </p:nvPicPr>
        <p:blipFill rotWithShape="1">
          <a:blip r:embed="rId5">
            <a:alphaModFix/>
          </a:blip>
          <a:srcRect b="0" l="0" r="0" t="0"/>
          <a:stretch/>
        </p:blipFill>
        <p:spPr>
          <a:xfrm>
            <a:off x="611634" y="2147652"/>
            <a:ext cx="802911" cy="294329"/>
          </a:xfrm>
          <a:prstGeom prst="rect">
            <a:avLst/>
          </a:prstGeom>
          <a:noFill/>
          <a:ln>
            <a:noFill/>
          </a:ln>
        </p:spPr>
      </p:pic>
      <p:pic>
        <p:nvPicPr>
          <p:cNvPr id="224" name="Google Shape;224;p36"/>
          <p:cNvPicPr preferRelativeResize="0"/>
          <p:nvPr/>
        </p:nvPicPr>
        <p:blipFill rotWithShape="1">
          <a:blip r:embed="rId6">
            <a:alphaModFix/>
          </a:blip>
          <a:srcRect b="0" l="0" r="0" t="0"/>
          <a:stretch/>
        </p:blipFill>
        <p:spPr>
          <a:xfrm>
            <a:off x="6989010" y="1701303"/>
            <a:ext cx="574529" cy="243110"/>
          </a:xfrm>
          <a:prstGeom prst="rect">
            <a:avLst/>
          </a:prstGeom>
          <a:noFill/>
          <a:ln>
            <a:noFill/>
          </a:ln>
        </p:spPr>
      </p:pic>
      <p:pic>
        <p:nvPicPr>
          <p:cNvPr id="225" name="Google Shape;225;p36"/>
          <p:cNvPicPr preferRelativeResize="0"/>
          <p:nvPr/>
        </p:nvPicPr>
        <p:blipFill rotWithShape="1">
          <a:blip r:embed="rId7">
            <a:alphaModFix/>
          </a:blip>
          <a:srcRect b="0" l="0" r="0" t="0"/>
          <a:stretch/>
        </p:blipFill>
        <p:spPr>
          <a:xfrm>
            <a:off x="4076401" y="1975612"/>
            <a:ext cx="371049" cy="449260"/>
          </a:xfrm>
          <a:prstGeom prst="rect">
            <a:avLst/>
          </a:prstGeom>
          <a:noFill/>
          <a:ln>
            <a:noFill/>
          </a:ln>
        </p:spPr>
      </p:pic>
      <p:pic>
        <p:nvPicPr>
          <p:cNvPr id="226" name="Google Shape;226;p36"/>
          <p:cNvPicPr preferRelativeResize="0"/>
          <p:nvPr/>
        </p:nvPicPr>
        <p:blipFill rotWithShape="1">
          <a:blip r:embed="rId8">
            <a:alphaModFix/>
          </a:blip>
          <a:srcRect b="0" l="0" r="0" t="0"/>
          <a:stretch/>
        </p:blipFill>
        <p:spPr>
          <a:xfrm>
            <a:off x="1341043" y="1776016"/>
            <a:ext cx="695325" cy="244651"/>
          </a:xfrm>
          <a:prstGeom prst="rect">
            <a:avLst/>
          </a:prstGeom>
          <a:noFill/>
          <a:ln>
            <a:noFill/>
          </a:ln>
        </p:spPr>
      </p:pic>
      <p:pic>
        <p:nvPicPr>
          <p:cNvPr id="227" name="Google Shape;227;p36"/>
          <p:cNvPicPr preferRelativeResize="0"/>
          <p:nvPr/>
        </p:nvPicPr>
        <p:blipFill rotWithShape="1">
          <a:blip r:embed="rId9">
            <a:alphaModFix/>
          </a:blip>
          <a:srcRect b="0" l="0" r="0" t="0"/>
          <a:stretch/>
        </p:blipFill>
        <p:spPr>
          <a:xfrm>
            <a:off x="6023034" y="1304469"/>
            <a:ext cx="615002" cy="296112"/>
          </a:xfrm>
          <a:prstGeom prst="rect">
            <a:avLst/>
          </a:prstGeom>
          <a:noFill/>
          <a:ln>
            <a:noFill/>
          </a:ln>
        </p:spPr>
      </p:pic>
      <p:pic>
        <p:nvPicPr>
          <p:cNvPr id="228" name="Google Shape;228;p36"/>
          <p:cNvPicPr preferRelativeResize="0"/>
          <p:nvPr/>
        </p:nvPicPr>
        <p:blipFill rotWithShape="1">
          <a:blip r:embed="rId10">
            <a:alphaModFix/>
          </a:blip>
          <a:srcRect b="0" l="0" r="0" t="0"/>
          <a:stretch/>
        </p:blipFill>
        <p:spPr>
          <a:xfrm>
            <a:off x="7808170" y="1966896"/>
            <a:ext cx="624604" cy="467850"/>
          </a:xfrm>
          <a:prstGeom prst="rect">
            <a:avLst/>
          </a:prstGeom>
          <a:noFill/>
          <a:ln>
            <a:noFill/>
          </a:ln>
        </p:spPr>
      </p:pic>
      <p:pic>
        <p:nvPicPr>
          <p:cNvPr id="229" name="Google Shape;229;p36"/>
          <p:cNvPicPr preferRelativeResize="0"/>
          <p:nvPr/>
        </p:nvPicPr>
        <p:blipFill rotWithShape="1">
          <a:blip r:embed="rId11">
            <a:alphaModFix/>
          </a:blip>
          <a:srcRect b="0" l="0" r="0" t="0"/>
          <a:stretch/>
        </p:blipFill>
        <p:spPr>
          <a:xfrm>
            <a:off x="2105237" y="1295782"/>
            <a:ext cx="737263" cy="281537"/>
          </a:xfrm>
          <a:prstGeom prst="rect">
            <a:avLst/>
          </a:prstGeom>
          <a:noFill/>
          <a:ln>
            <a:noFill/>
          </a:ln>
        </p:spPr>
      </p:pic>
      <p:pic>
        <p:nvPicPr>
          <p:cNvPr id="230" name="Google Shape;230;p36"/>
          <p:cNvPicPr preferRelativeResize="0"/>
          <p:nvPr/>
        </p:nvPicPr>
        <p:blipFill rotWithShape="1">
          <a:blip r:embed="rId12">
            <a:alphaModFix/>
          </a:blip>
          <a:srcRect b="0" l="0" r="0" t="0"/>
          <a:stretch/>
        </p:blipFill>
        <p:spPr>
          <a:xfrm>
            <a:off x="614919" y="1128807"/>
            <a:ext cx="615488" cy="615488"/>
          </a:xfrm>
          <a:prstGeom prst="rect">
            <a:avLst/>
          </a:prstGeom>
          <a:noFill/>
          <a:ln>
            <a:noFill/>
          </a:ln>
        </p:spPr>
      </p:pic>
      <p:pic>
        <p:nvPicPr>
          <p:cNvPr id="231" name="Google Shape;231;p36"/>
          <p:cNvPicPr preferRelativeResize="0"/>
          <p:nvPr/>
        </p:nvPicPr>
        <p:blipFill rotWithShape="1">
          <a:blip r:embed="rId13">
            <a:alphaModFix/>
          </a:blip>
          <a:srcRect b="0" l="0" r="0" t="0"/>
          <a:stretch/>
        </p:blipFill>
        <p:spPr>
          <a:xfrm>
            <a:off x="2966284" y="1598019"/>
            <a:ext cx="673930" cy="504797"/>
          </a:xfrm>
          <a:prstGeom prst="rect">
            <a:avLst/>
          </a:prstGeom>
          <a:noFill/>
          <a:ln>
            <a:noFill/>
          </a:ln>
        </p:spPr>
      </p:pic>
      <p:pic>
        <p:nvPicPr>
          <p:cNvPr id="232" name="Google Shape;232;p36"/>
          <p:cNvPicPr preferRelativeResize="0"/>
          <p:nvPr/>
        </p:nvPicPr>
        <p:blipFill rotWithShape="1">
          <a:blip r:embed="rId14">
            <a:alphaModFix/>
          </a:blip>
          <a:srcRect b="0" l="0" r="0" t="0"/>
          <a:stretch/>
        </p:blipFill>
        <p:spPr>
          <a:xfrm>
            <a:off x="3585655" y="1332982"/>
            <a:ext cx="1362075" cy="255060"/>
          </a:xfrm>
          <a:prstGeom prst="rect">
            <a:avLst/>
          </a:prstGeom>
          <a:noFill/>
          <a:ln>
            <a:noFill/>
          </a:ln>
        </p:spPr>
      </p:pic>
      <p:pic>
        <p:nvPicPr>
          <p:cNvPr id="233" name="Google Shape;233;p36"/>
          <p:cNvPicPr preferRelativeResize="0"/>
          <p:nvPr/>
        </p:nvPicPr>
        <p:blipFill rotWithShape="1">
          <a:blip r:embed="rId15">
            <a:alphaModFix/>
          </a:blip>
          <a:srcRect b="0" l="0" r="0" t="0"/>
          <a:stretch/>
        </p:blipFill>
        <p:spPr>
          <a:xfrm>
            <a:off x="5972292" y="1850034"/>
            <a:ext cx="705477" cy="634036"/>
          </a:xfrm>
          <a:prstGeom prst="rect">
            <a:avLst/>
          </a:prstGeom>
          <a:noFill/>
          <a:ln>
            <a:noFill/>
          </a:ln>
        </p:spPr>
      </p:pic>
      <p:pic>
        <p:nvPicPr>
          <p:cNvPr id="234" name="Google Shape;234;p36"/>
          <p:cNvPicPr preferRelativeResize="0"/>
          <p:nvPr/>
        </p:nvPicPr>
        <p:blipFill rotWithShape="1">
          <a:blip r:embed="rId16">
            <a:alphaModFix/>
          </a:blip>
          <a:srcRect b="0" l="0" r="0" t="0"/>
          <a:stretch/>
        </p:blipFill>
        <p:spPr>
          <a:xfrm>
            <a:off x="7739612" y="1173800"/>
            <a:ext cx="742169" cy="555910"/>
          </a:xfrm>
          <a:prstGeom prst="rect">
            <a:avLst/>
          </a:prstGeom>
          <a:noFill/>
          <a:ln>
            <a:noFill/>
          </a:ln>
        </p:spPr>
      </p:pic>
      <p:sp>
        <p:nvSpPr>
          <p:cNvPr id="235" name="Google Shape;235;p36"/>
          <p:cNvSpPr/>
          <p:nvPr/>
        </p:nvSpPr>
        <p:spPr>
          <a:xfrm>
            <a:off x="428625" y="787290"/>
            <a:ext cx="8286750" cy="307777"/>
          </a:xfrm>
          <a:prstGeom prst="rect">
            <a:avLst/>
          </a:prstGeom>
          <a:solidFill>
            <a:schemeClr val="dk2"/>
          </a:solidFill>
          <a:ln>
            <a:noFill/>
          </a:ln>
        </p:spPr>
        <p:txBody>
          <a:bodyPr anchorCtr="0" anchor="t" bIns="45700" lIns="91425" spcFirstLastPara="1" rIns="91425" wrap="square" tIns="45700">
            <a:noAutofit/>
          </a:bodyPr>
          <a:lstStyle/>
          <a:p>
            <a:pPr indent="0" lvl="1" marL="0" marR="0" rtl="0" algn="ctr">
              <a:spcBef>
                <a:spcPts val="0"/>
              </a:spcBef>
              <a:spcAft>
                <a:spcPts val="0"/>
              </a:spcAft>
              <a:buNone/>
            </a:pPr>
            <a:r>
              <a:rPr b="1" i="0" lang="en-GB" sz="1400" u="none" cap="none" strike="noStrike">
                <a:solidFill>
                  <a:srgbClr val="FFFFFF"/>
                </a:solidFill>
                <a:latin typeface="Century Gothic"/>
                <a:ea typeface="Century Gothic"/>
                <a:cs typeface="Century Gothic"/>
                <a:sym typeface="Century Gothic"/>
              </a:rPr>
              <a:t>NEW ENTRANTS ARE CHANGING THE BUSINESS LANDSCAPE </a:t>
            </a:r>
            <a:endParaRPr b="1" i="0" sz="1400" u="none" cap="none" strike="noStrike">
              <a:solidFill>
                <a:srgbClr val="FFFFFF"/>
              </a:solidFill>
              <a:latin typeface="Century Gothic"/>
              <a:ea typeface="Century Gothic"/>
              <a:cs typeface="Century Gothic"/>
              <a:sym typeface="Century Gothic"/>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 name="Shape 239"/>
        <p:cNvGrpSpPr/>
        <p:nvPr/>
      </p:nvGrpSpPr>
      <p:grpSpPr>
        <a:xfrm>
          <a:off x="0" y="0"/>
          <a:ext cx="0" cy="0"/>
          <a:chOff x="0" y="0"/>
          <a:chExt cx="0" cy="0"/>
        </a:xfrm>
      </p:grpSpPr>
      <p:sp>
        <p:nvSpPr>
          <p:cNvPr id="240" name="Google Shape;240;p37"/>
          <p:cNvSpPr txBox="1"/>
          <p:nvPr>
            <p:ph type="title"/>
          </p:nvPr>
        </p:nvSpPr>
        <p:spPr>
          <a:xfrm>
            <a:off x="457200" y="205688"/>
            <a:ext cx="8229600" cy="36245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Change will happen at 2 speeds – to disrupt and transform traditional business models</a:t>
            </a:r>
            <a:endParaRPr/>
          </a:p>
        </p:txBody>
      </p:sp>
      <p:sp>
        <p:nvSpPr>
          <p:cNvPr id="241" name="Google Shape;241;p37"/>
          <p:cNvSpPr txBox="1"/>
          <p:nvPr>
            <p:ph idx="1" type="body"/>
          </p:nvPr>
        </p:nvSpPr>
        <p:spPr>
          <a:xfrm>
            <a:off x="1485900" y="3723579"/>
            <a:ext cx="2914650" cy="961328"/>
          </a:xfrm>
          <a:prstGeom prst="rect">
            <a:avLst/>
          </a:prstGeom>
          <a:noFill/>
          <a:ln>
            <a:noFill/>
          </a:ln>
        </p:spPr>
        <p:txBody>
          <a:bodyPr anchorCtr="0" anchor="t" bIns="0" lIns="0" spcFirstLastPara="1" rIns="0" wrap="square" tIns="0">
            <a:noAutofit/>
          </a:bodyPr>
          <a:lstStyle/>
          <a:p>
            <a:pPr indent="0" lvl="0" marL="0" rtl="0" algn="l">
              <a:lnSpc>
                <a:spcPct val="120000"/>
              </a:lnSpc>
              <a:spcBef>
                <a:spcPts val="0"/>
              </a:spcBef>
              <a:spcAft>
                <a:spcPts val="0"/>
              </a:spcAft>
              <a:buClr>
                <a:srgbClr val="FF0000"/>
              </a:buClr>
              <a:buSzPts val="1200"/>
              <a:buNone/>
            </a:pPr>
            <a:r>
              <a:rPr lang="en-GB" sz="1200">
                <a:solidFill>
                  <a:srgbClr val="FF0000"/>
                </a:solidFill>
              </a:rPr>
              <a:t>Disruptive: The rapid adoption of new options for business growth - such as launching a new mobile payment service and establishing the accompanying ecosystem.</a:t>
            </a:r>
            <a:endParaRPr/>
          </a:p>
        </p:txBody>
      </p:sp>
      <p:pic>
        <p:nvPicPr>
          <p:cNvPr id="242" name="Google Shape;242;p37"/>
          <p:cNvPicPr preferRelativeResize="0"/>
          <p:nvPr/>
        </p:nvPicPr>
        <p:blipFill rotWithShape="1">
          <a:blip r:embed="rId3">
            <a:alphaModFix/>
          </a:blip>
          <a:srcRect b="0" l="0" r="0" t="0"/>
          <a:stretch/>
        </p:blipFill>
        <p:spPr>
          <a:xfrm>
            <a:off x="2406712" y="1103549"/>
            <a:ext cx="4291268" cy="2466634"/>
          </a:xfrm>
          <a:prstGeom prst="rect">
            <a:avLst/>
          </a:prstGeom>
          <a:noFill/>
          <a:ln>
            <a:noFill/>
          </a:ln>
        </p:spPr>
      </p:pic>
      <p:sp>
        <p:nvSpPr>
          <p:cNvPr id="243" name="Google Shape;243;p37"/>
          <p:cNvSpPr txBox="1"/>
          <p:nvPr/>
        </p:nvSpPr>
        <p:spPr>
          <a:xfrm>
            <a:off x="4775040" y="3723579"/>
            <a:ext cx="2914650" cy="961328"/>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chemeClr val="dk1"/>
              </a:buClr>
              <a:buSzPts val="1200"/>
              <a:buFont typeface="Arial"/>
              <a:buNone/>
            </a:pPr>
            <a:r>
              <a:rPr b="0" lang="en-GB" sz="1200">
                <a:solidFill>
                  <a:schemeClr val="dk1"/>
                </a:solidFill>
                <a:latin typeface="Century Gothic"/>
                <a:ea typeface="Century Gothic"/>
                <a:cs typeface="Century Gothic"/>
                <a:sym typeface="Century Gothic"/>
              </a:rPr>
              <a:t>Transformational: Change required in the core business of banking - reshaping digital customer, enterprise and operational banking strategies. </a:t>
            </a:r>
            <a:endParaRPr/>
          </a:p>
          <a:p>
            <a:pPr indent="0" lvl="0" marL="0" marR="0" rtl="0" algn="l">
              <a:lnSpc>
                <a:spcPct val="100000"/>
              </a:lnSpc>
              <a:spcBef>
                <a:spcPts val="800"/>
              </a:spcBef>
              <a:spcAft>
                <a:spcPts val="0"/>
              </a:spcAft>
              <a:buClr>
                <a:schemeClr val="dk1"/>
              </a:buClr>
              <a:buSzPts val="1200"/>
              <a:buFont typeface="Arial"/>
              <a:buNone/>
            </a:pPr>
            <a:r>
              <a:t/>
            </a:r>
            <a:endParaRPr b="0" sz="1200">
              <a:solidFill>
                <a:schemeClr val="dk1"/>
              </a:solidFill>
              <a:latin typeface="Century Gothic"/>
              <a:ea typeface="Century Gothic"/>
              <a:cs typeface="Century Gothic"/>
              <a:sym typeface="Century Gothic"/>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 name="Shape 247"/>
        <p:cNvGrpSpPr/>
        <p:nvPr/>
      </p:nvGrpSpPr>
      <p:grpSpPr>
        <a:xfrm>
          <a:off x="0" y="0"/>
          <a:ext cx="0" cy="0"/>
          <a:chOff x="0" y="0"/>
          <a:chExt cx="0" cy="0"/>
        </a:xfrm>
      </p:grpSpPr>
      <p:sp>
        <p:nvSpPr>
          <p:cNvPr id="248" name="Google Shape;248;p38"/>
          <p:cNvSpPr txBox="1"/>
          <p:nvPr>
            <p:ph idx="1" type="body"/>
          </p:nvPr>
        </p:nvSpPr>
        <p:spPr>
          <a:xfrm>
            <a:off x="1487606" y="1060284"/>
            <a:ext cx="7334132" cy="3496648"/>
          </a:xfrm>
          <a:prstGeom prst="rect">
            <a:avLst/>
          </a:prstGeom>
          <a:noFill/>
          <a:ln>
            <a:noFill/>
          </a:ln>
        </p:spPr>
        <p:txBody>
          <a:bodyPr anchorCtr="0" anchor="t" bIns="0" lIns="0" spcFirstLastPara="1" rIns="0" wrap="square" tIns="0">
            <a:noAutofit/>
          </a:bodyPr>
          <a:lstStyle/>
          <a:p>
            <a:pPr indent="-101600" lvl="4" marL="0" rtl="0" algn="l">
              <a:lnSpc>
                <a:spcPct val="95000"/>
              </a:lnSpc>
              <a:spcBef>
                <a:spcPts val="0"/>
              </a:spcBef>
              <a:spcAft>
                <a:spcPts val="0"/>
              </a:spcAft>
              <a:buClr>
                <a:schemeClr val="accent1"/>
              </a:buClr>
              <a:buSzPts val="1600"/>
              <a:buChar char="​"/>
            </a:pPr>
            <a:r>
              <a:rPr lang="en-GB" sz="1600"/>
              <a:t>Grow through:</a:t>
            </a:r>
            <a:endParaRPr/>
          </a:p>
          <a:p>
            <a:pPr indent="-173038" lvl="0" marL="173038" rtl="0" algn="l">
              <a:lnSpc>
                <a:spcPct val="95000"/>
              </a:lnSpc>
              <a:spcBef>
                <a:spcPts val="500"/>
              </a:spcBef>
              <a:spcAft>
                <a:spcPts val="0"/>
              </a:spcAft>
              <a:buClr>
                <a:schemeClr val="dk1"/>
              </a:buClr>
              <a:buSzPts val="1200"/>
              <a:buChar char="•"/>
            </a:pPr>
            <a:r>
              <a:rPr i="1" lang="en-GB" sz="1200"/>
              <a:t>Really</a:t>
            </a:r>
            <a:r>
              <a:rPr lang="en-GB" sz="1200"/>
              <a:t> knowing the customer</a:t>
            </a:r>
            <a:endParaRPr sz="1200"/>
          </a:p>
          <a:p>
            <a:pPr indent="-173038" lvl="0" marL="173038" rtl="0" algn="l">
              <a:lnSpc>
                <a:spcPct val="95000"/>
              </a:lnSpc>
              <a:spcBef>
                <a:spcPts val="500"/>
              </a:spcBef>
              <a:spcAft>
                <a:spcPts val="0"/>
              </a:spcAft>
              <a:buClr>
                <a:schemeClr val="dk1"/>
              </a:buClr>
              <a:buSzPts val="1200"/>
              <a:buChar char="•"/>
            </a:pPr>
            <a:r>
              <a:rPr lang="en-GB" sz="1200"/>
              <a:t>Identifying actual customer needs, not just product gaps.</a:t>
            </a:r>
            <a:endParaRPr/>
          </a:p>
          <a:p>
            <a:pPr indent="-173038" lvl="0" marL="173038" rtl="0" algn="l">
              <a:lnSpc>
                <a:spcPct val="95000"/>
              </a:lnSpc>
              <a:spcBef>
                <a:spcPts val="500"/>
              </a:spcBef>
              <a:spcAft>
                <a:spcPts val="0"/>
              </a:spcAft>
              <a:buClr>
                <a:schemeClr val="dk1"/>
              </a:buClr>
              <a:buSzPts val="1200"/>
              <a:buChar char="•"/>
            </a:pPr>
            <a:r>
              <a:rPr lang="en-GB" sz="1200"/>
              <a:t>Optimise and personalise offers and pricing.</a:t>
            </a:r>
            <a:endParaRPr sz="1200"/>
          </a:p>
          <a:p>
            <a:pPr indent="-173038" lvl="0" marL="173038" rtl="0" algn="l">
              <a:lnSpc>
                <a:spcPct val="95000"/>
              </a:lnSpc>
              <a:spcBef>
                <a:spcPts val="500"/>
              </a:spcBef>
              <a:spcAft>
                <a:spcPts val="0"/>
              </a:spcAft>
              <a:buClr>
                <a:schemeClr val="dk1"/>
              </a:buClr>
              <a:buSzPts val="1200"/>
              <a:buChar char="•"/>
            </a:pPr>
            <a:r>
              <a:rPr lang="en-GB" sz="1200"/>
              <a:t>Ascertain the right moment and channel to interact.</a:t>
            </a:r>
            <a:endParaRPr sz="1200"/>
          </a:p>
          <a:p>
            <a:pPr indent="-101600" lvl="4" marL="0" rtl="0" algn="l">
              <a:lnSpc>
                <a:spcPct val="95000"/>
              </a:lnSpc>
              <a:spcBef>
                <a:spcPts val="800"/>
              </a:spcBef>
              <a:spcAft>
                <a:spcPts val="0"/>
              </a:spcAft>
              <a:buClr>
                <a:schemeClr val="accent1"/>
              </a:buClr>
              <a:buSzPts val="1600"/>
              <a:buChar char="​"/>
            </a:pPr>
            <a:r>
              <a:rPr lang="en-GB" sz="1600"/>
              <a:t>Reduce Costs by:</a:t>
            </a:r>
            <a:endParaRPr/>
          </a:p>
          <a:p>
            <a:pPr indent="-173038" lvl="0" marL="173038" rtl="0" algn="l">
              <a:lnSpc>
                <a:spcPct val="95000"/>
              </a:lnSpc>
              <a:spcBef>
                <a:spcPts val="500"/>
              </a:spcBef>
              <a:spcAft>
                <a:spcPts val="0"/>
              </a:spcAft>
              <a:buClr>
                <a:schemeClr val="dk1"/>
              </a:buClr>
              <a:buSzPts val="1200"/>
              <a:buChar char="•"/>
            </a:pPr>
            <a:r>
              <a:rPr lang="en-GB" sz="1200"/>
              <a:t>Using analytics to re-engineer and automate processes - reducing complexity, time and costs.</a:t>
            </a:r>
            <a:endParaRPr/>
          </a:p>
          <a:p>
            <a:pPr indent="-173038" lvl="0" marL="173038" rtl="0" algn="l">
              <a:lnSpc>
                <a:spcPct val="95000"/>
              </a:lnSpc>
              <a:spcBef>
                <a:spcPts val="500"/>
              </a:spcBef>
              <a:spcAft>
                <a:spcPts val="0"/>
              </a:spcAft>
              <a:buClr>
                <a:schemeClr val="dk1"/>
              </a:buClr>
              <a:buSzPts val="1200"/>
              <a:buChar char="•"/>
            </a:pPr>
            <a:r>
              <a:rPr lang="en-GB" sz="1200"/>
              <a:t>Reducing Information Management complexity, data duplication and manual processes.</a:t>
            </a:r>
            <a:endParaRPr/>
          </a:p>
          <a:p>
            <a:pPr indent="-173038" lvl="0" marL="173038" rtl="0" algn="l">
              <a:lnSpc>
                <a:spcPct val="95000"/>
              </a:lnSpc>
              <a:spcBef>
                <a:spcPts val="500"/>
              </a:spcBef>
              <a:spcAft>
                <a:spcPts val="0"/>
              </a:spcAft>
              <a:buClr>
                <a:schemeClr val="dk1"/>
              </a:buClr>
              <a:buSzPts val="1200"/>
              <a:buChar char="•"/>
            </a:pPr>
            <a:r>
              <a:rPr lang="en-GB" sz="1200"/>
              <a:t>Bringing the right analytical techniques to more granular integrated data</a:t>
            </a:r>
            <a:endParaRPr/>
          </a:p>
          <a:p>
            <a:pPr indent="-101600" lvl="4" marL="0" rtl="0" algn="l">
              <a:lnSpc>
                <a:spcPct val="95000"/>
              </a:lnSpc>
              <a:spcBef>
                <a:spcPts val="800"/>
              </a:spcBef>
              <a:spcAft>
                <a:spcPts val="0"/>
              </a:spcAft>
              <a:buClr>
                <a:schemeClr val="accent1"/>
              </a:buClr>
              <a:buSzPts val="1600"/>
              <a:buChar char="​"/>
            </a:pPr>
            <a:r>
              <a:rPr lang="en-GB" sz="1600"/>
              <a:t>Improve Business Management with:</a:t>
            </a:r>
            <a:endParaRPr/>
          </a:p>
          <a:p>
            <a:pPr indent="-173038" lvl="0" marL="173038" rtl="0" algn="l">
              <a:lnSpc>
                <a:spcPct val="95000"/>
              </a:lnSpc>
              <a:spcBef>
                <a:spcPts val="500"/>
              </a:spcBef>
              <a:spcAft>
                <a:spcPts val="0"/>
              </a:spcAft>
              <a:buClr>
                <a:schemeClr val="dk1"/>
              </a:buClr>
              <a:buSzPts val="1200"/>
              <a:buChar char="•"/>
            </a:pPr>
            <a:r>
              <a:rPr lang="en-GB" sz="1200"/>
              <a:t>Detailed, accurate and timely information-driven decision making.</a:t>
            </a:r>
            <a:endParaRPr sz="1200"/>
          </a:p>
          <a:p>
            <a:pPr indent="-173038" lvl="0" marL="173038" rtl="0" algn="l">
              <a:lnSpc>
                <a:spcPct val="95000"/>
              </a:lnSpc>
              <a:spcBef>
                <a:spcPts val="500"/>
              </a:spcBef>
              <a:spcAft>
                <a:spcPts val="0"/>
              </a:spcAft>
              <a:buClr>
                <a:schemeClr val="dk1"/>
              </a:buClr>
              <a:buSzPts val="1200"/>
              <a:buChar char="•"/>
            </a:pPr>
            <a:r>
              <a:rPr lang="en-GB" sz="1200"/>
              <a:t>Effective performance management aligned to business objectives.</a:t>
            </a:r>
            <a:endParaRPr sz="1200"/>
          </a:p>
          <a:p>
            <a:pPr indent="-173038" lvl="0" marL="173038" rtl="0" algn="l">
              <a:lnSpc>
                <a:spcPct val="95000"/>
              </a:lnSpc>
              <a:spcBef>
                <a:spcPts val="500"/>
              </a:spcBef>
              <a:spcAft>
                <a:spcPts val="0"/>
              </a:spcAft>
              <a:buClr>
                <a:schemeClr val="dk1"/>
              </a:buClr>
              <a:buSzPts val="1200"/>
              <a:buChar char="•"/>
            </a:pPr>
            <a:r>
              <a:rPr lang="en-GB" sz="1200"/>
              <a:t>Full transparency between financial performance, business decisions and operational activities and drivers.</a:t>
            </a:r>
            <a:endParaRPr sz="1200"/>
          </a:p>
          <a:p>
            <a:pPr indent="-71438" lvl="0" marL="173038" rtl="0" algn="l">
              <a:lnSpc>
                <a:spcPct val="95000"/>
              </a:lnSpc>
              <a:spcBef>
                <a:spcPts val="500"/>
              </a:spcBef>
              <a:spcAft>
                <a:spcPts val="0"/>
              </a:spcAft>
              <a:buClr>
                <a:schemeClr val="dk1"/>
              </a:buClr>
              <a:buSzPts val="1600"/>
              <a:buNone/>
            </a:pPr>
            <a:r>
              <a:t/>
            </a:r>
            <a:endParaRPr sz="1600"/>
          </a:p>
          <a:p>
            <a:pPr indent="-68263" lvl="0" marL="169863" rtl="0" algn="l">
              <a:lnSpc>
                <a:spcPct val="95000"/>
              </a:lnSpc>
              <a:spcBef>
                <a:spcPts val="800"/>
              </a:spcBef>
              <a:spcAft>
                <a:spcPts val="0"/>
              </a:spcAft>
              <a:buClr>
                <a:schemeClr val="dk1"/>
              </a:buClr>
              <a:buSzPts val="1600"/>
              <a:buNone/>
            </a:pPr>
            <a:r>
              <a:t/>
            </a:r>
            <a:endParaRPr sz="1600"/>
          </a:p>
        </p:txBody>
      </p:sp>
      <p:sp>
        <p:nvSpPr>
          <p:cNvPr id="249" name="Google Shape;249;p38"/>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These Challenges Are Forcing Re-invention…</a:t>
            </a:r>
            <a:endParaRPr/>
          </a:p>
        </p:txBody>
      </p:sp>
      <p:grpSp>
        <p:nvGrpSpPr>
          <p:cNvPr id="250" name="Google Shape;250;p38"/>
          <p:cNvGrpSpPr/>
          <p:nvPr/>
        </p:nvGrpSpPr>
        <p:grpSpPr>
          <a:xfrm>
            <a:off x="-141969" y="800645"/>
            <a:ext cx="1759186" cy="1759185"/>
            <a:chOff x="5564851" y="3371799"/>
            <a:chExt cx="4023721" cy="4023721"/>
          </a:xfrm>
        </p:grpSpPr>
        <p:grpSp>
          <p:nvGrpSpPr>
            <p:cNvPr id="251" name="Google Shape;251;p38"/>
            <p:cNvGrpSpPr/>
            <p:nvPr/>
          </p:nvGrpSpPr>
          <p:grpSpPr>
            <a:xfrm rot="2778069">
              <a:off x="6153746" y="3960691"/>
              <a:ext cx="2845933" cy="2845936"/>
              <a:chOff x="7431681" y="4805153"/>
              <a:chExt cx="1415051" cy="1415051"/>
            </a:xfrm>
          </p:grpSpPr>
          <p:sp>
            <p:nvSpPr>
              <p:cNvPr id="252" name="Google Shape;252;p38"/>
              <p:cNvSpPr/>
              <p:nvPr/>
            </p:nvSpPr>
            <p:spPr>
              <a:xfrm rot="-2952627">
                <a:off x="7637557" y="5011029"/>
                <a:ext cx="1003300" cy="1003300"/>
              </a:xfrm>
              <a:prstGeom prst="blockArc">
                <a:avLst>
                  <a:gd fmla="val 12031555" name="adj1"/>
                  <a:gd fmla="val 19098186" name="adj2"/>
                  <a:gd fmla="val 22208"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3" name="Google Shape;253;p38"/>
              <p:cNvSpPr/>
              <p:nvPr/>
            </p:nvSpPr>
            <p:spPr>
              <a:xfrm rot="4232734">
                <a:off x="7637556" y="5007854"/>
                <a:ext cx="1003300" cy="1003300"/>
              </a:xfrm>
              <a:prstGeom prst="blockArc">
                <a:avLst>
                  <a:gd fmla="val 11879251" name="adj1"/>
                  <a:gd fmla="val 19098186" name="adj2"/>
                  <a:gd fmla="val 22208" name="adj3"/>
                </a:avLst>
              </a:pr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 name="Google Shape;254;p38"/>
              <p:cNvSpPr/>
              <p:nvPr/>
            </p:nvSpPr>
            <p:spPr>
              <a:xfrm rot="-10333794">
                <a:off x="7634383" y="5007854"/>
                <a:ext cx="1003300" cy="1003300"/>
              </a:xfrm>
              <a:prstGeom prst="blockArc">
                <a:avLst>
                  <a:gd fmla="val 12031555" name="adj1"/>
                  <a:gd fmla="val 19379912" name="adj2"/>
                  <a:gd fmla="val 22124"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55" name="Google Shape;255;p38"/>
            <p:cNvGrpSpPr/>
            <p:nvPr/>
          </p:nvGrpSpPr>
          <p:grpSpPr>
            <a:xfrm>
              <a:off x="6488702" y="4523454"/>
              <a:ext cx="1879462" cy="1937171"/>
              <a:chOff x="6488702" y="4523454"/>
              <a:chExt cx="1879462" cy="1937171"/>
            </a:xfrm>
          </p:grpSpPr>
          <p:sp>
            <p:nvSpPr>
              <p:cNvPr id="256" name="Google Shape;256;p38"/>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7" name="Google Shape;257;p38"/>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8" name="Google Shape;258;p38"/>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grpSp>
        <p:nvGrpSpPr>
          <p:cNvPr id="259" name="Google Shape;259;p38"/>
          <p:cNvGrpSpPr/>
          <p:nvPr/>
        </p:nvGrpSpPr>
        <p:grpSpPr>
          <a:xfrm>
            <a:off x="-141969" y="2023310"/>
            <a:ext cx="1759186" cy="1759185"/>
            <a:chOff x="5564851" y="3371799"/>
            <a:chExt cx="4023721" cy="4023721"/>
          </a:xfrm>
        </p:grpSpPr>
        <p:grpSp>
          <p:nvGrpSpPr>
            <p:cNvPr id="260" name="Google Shape;260;p38"/>
            <p:cNvGrpSpPr/>
            <p:nvPr/>
          </p:nvGrpSpPr>
          <p:grpSpPr>
            <a:xfrm rot="2778069">
              <a:off x="6153746" y="3960691"/>
              <a:ext cx="2845933" cy="2845936"/>
              <a:chOff x="7431681" y="4805153"/>
              <a:chExt cx="1415051" cy="1415051"/>
            </a:xfrm>
          </p:grpSpPr>
          <p:sp>
            <p:nvSpPr>
              <p:cNvPr id="261" name="Google Shape;261;p38"/>
              <p:cNvSpPr/>
              <p:nvPr/>
            </p:nvSpPr>
            <p:spPr>
              <a:xfrm rot="-2952627">
                <a:off x="7637557" y="5011029"/>
                <a:ext cx="1003300" cy="1003300"/>
              </a:xfrm>
              <a:prstGeom prst="blockArc">
                <a:avLst>
                  <a:gd fmla="val 12031555" name="adj1"/>
                  <a:gd fmla="val 19098186" name="adj2"/>
                  <a:gd fmla="val 22208"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 name="Google Shape;262;p38"/>
              <p:cNvSpPr/>
              <p:nvPr/>
            </p:nvSpPr>
            <p:spPr>
              <a:xfrm rot="4232734">
                <a:off x="7637556" y="5007854"/>
                <a:ext cx="1003300" cy="1003300"/>
              </a:xfrm>
              <a:prstGeom prst="blockArc">
                <a:avLst>
                  <a:gd fmla="val 11879251" name="adj1"/>
                  <a:gd fmla="val 19098186" name="adj2"/>
                  <a:gd fmla="val 22208" name="adj3"/>
                </a:avLst>
              </a:pr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3" name="Google Shape;263;p38"/>
              <p:cNvSpPr/>
              <p:nvPr/>
            </p:nvSpPr>
            <p:spPr>
              <a:xfrm rot="-10333794">
                <a:off x="7634383" y="5007854"/>
                <a:ext cx="1003300" cy="1003300"/>
              </a:xfrm>
              <a:prstGeom prst="blockArc">
                <a:avLst>
                  <a:gd fmla="val 12031555" name="adj1"/>
                  <a:gd fmla="val 19379912" name="adj2"/>
                  <a:gd fmla="val 22124" name="adj3"/>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64" name="Google Shape;264;p38"/>
            <p:cNvGrpSpPr/>
            <p:nvPr/>
          </p:nvGrpSpPr>
          <p:grpSpPr>
            <a:xfrm>
              <a:off x="6488702" y="4523454"/>
              <a:ext cx="1879462" cy="1937171"/>
              <a:chOff x="6488702" y="4523454"/>
              <a:chExt cx="1879462" cy="1937171"/>
            </a:xfrm>
          </p:grpSpPr>
          <p:sp>
            <p:nvSpPr>
              <p:cNvPr id="265" name="Google Shape;265;p38"/>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6" name="Google Shape;266;p38"/>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 name="Google Shape;267;p38"/>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grpSp>
        <p:nvGrpSpPr>
          <p:cNvPr id="268" name="Google Shape;268;p38"/>
          <p:cNvGrpSpPr/>
          <p:nvPr/>
        </p:nvGrpSpPr>
        <p:grpSpPr>
          <a:xfrm>
            <a:off x="-141969" y="3168883"/>
            <a:ext cx="1759186" cy="1759185"/>
            <a:chOff x="5564851" y="3371799"/>
            <a:chExt cx="4023721" cy="4023721"/>
          </a:xfrm>
        </p:grpSpPr>
        <p:grpSp>
          <p:nvGrpSpPr>
            <p:cNvPr id="269" name="Google Shape;269;p38"/>
            <p:cNvGrpSpPr/>
            <p:nvPr/>
          </p:nvGrpSpPr>
          <p:grpSpPr>
            <a:xfrm rot="2778069">
              <a:off x="6153746" y="3960691"/>
              <a:ext cx="2845933" cy="2845936"/>
              <a:chOff x="7431681" y="4805153"/>
              <a:chExt cx="1415051" cy="1415051"/>
            </a:xfrm>
          </p:grpSpPr>
          <p:sp>
            <p:nvSpPr>
              <p:cNvPr id="270" name="Google Shape;270;p38"/>
              <p:cNvSpPr/>
              <p:nvPr/>
            </p:nvSpPr>
            <p:spPr>
              <a:xfrm rot="-2952627">
                <a:off x="7637557" y="5011029"/>
                <a:ext cx="1003300" cy="1003300"/>
              </a:xfrm>
              <a:prstGeom prst="blockArc">
                <a:avLst>
                  <a:gd fmla="val 12031555" name="adj1"/>
                  <a:gd fmla="val 19098186" name="adj2"/>
                  <a:gd fmla="val 22208" name="adj3"/>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 name="Google Shape;271;p38"/>
              <p:cNvSpPr/>
              <p:nvPr/>
            </p:nvSpPr>
            <p:spPr>
              <a:xfrm rot="4232734">
                <a:off x="7637556" y="5007854"/>
                <a:ext cx="1003300" cy="1003300"/>
              </a:xfrm>
              <a:prstGeom prst="blockArc">
                <a:avLst>
                  <a:gd fmla="val 11879251" name="adj1"/>
                  <a:gd fmla="val 19098186" name="adj2"/>
                  <a:gd fmla="val 22208" name="adj3"/>
                </a:avLst>
              </a:pr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2" name="Google Shape;272;p38"/>
              <p:cNvSpPr/>
              <p:nvPr/>
            </p:nvSpPr>
            <p:spPr>
              <a:xfrm rot="-10333794">
                <a:off x="7634383" y="5007854"/>
                <a:ext cx="1003300" cy="1003300"/>
              </a:xfrm>
              <a:prstGeom prst="blockArc">
                <a:avLst>
                  <a:gd fmla="val 12031555" name="adj1"/>
                  <a:gd fmla="val 19379912" name="adj2"/>
                  <a:gd fmla="val 22124" name="adj3"/>
                </a:avLst>
              </a:pr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nvGrpSpPr>
            <p:cNvPr id="273" name="Google Shape;273;p38"/>
            <p:cNvGrpSpPr/>
            <p:nvPr/>
          </p:nvGrpSpPr>
          <p:grpSpPr>
            <a:xfrm>
              <a:off x="6488702" y="4523454"/>
              <a:ext cx="1879462" cy="1937171"/>
              <a:chOff x="6488702" y="4523454"/>
              <a:chExt cx="1879462" cy="1937171"/>
            </a:xfrm>
          </p:grpSpPr>
          <p:sp>
            <p:nvSpPr>
              <p:cNvPr id="274" name="Google Shape;274;p38"/>
              <p:cNvSpPr/>
              <p:nvPr/>
            </p:nvSpPr>
            <p:spPr>
              <a:xfrm rot="-5016826">
                <a:off x="7825886" y="4520657"/>
                <a:ext cx="485184" cy="548811"/>
              </a:xfrm>
              <a:custGeom>
                <a:rect b="b" l="l" r="r" t="t"/>
                <a:pathLst>
                  <a:path extrusionOk="0" h="212725" w="149225">
                    <a:moveTo>
                      <a:pt x="149225" y="212725"/>
                    </a:moveTo>
                    <a:lnTo>
                      <a:pt x="9525" y="0"/>
                    </a:lnTo>
                    <a:lnTo>
                      <a:pt x="0" y="203200"/>
                    </a:lnTo>
                    <a:lnTo>
                      <a:pt x="149225" y="212725"/>
                    </a:lnTo>
                    <a:close/>
                  </a:path>
                </a:pathLst>
              </a:cu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 name="Google Shape;275;p38"/>
              <p:cNvSpPr/>
              <p:nvPr/>
            </p:nvSpPr>
            <p:spPr>
              <a:xfrm rot="2090724">
                <a:off x="7568709" y="58224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FBFC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6" name="Google Shape;276;p38"/>
              <p:cNvSpPr/>
              <p:nvPr/>
            </p:nvSpPr>
            <p:spPr>
              <a:xfrm rot="9315360">
                <a:off x="6581285" y="4908007"/>
                <a:ext cx="485184" cy="548811"/>
              </a:xfrm>
              <a:custGeom>
                <a:rect b="b" l="l" r="r" t="t"/>
                <a:pathLst>
                  <a:path extrusionOk="0" h="212725" w="149225">
                    <a:moveTo>
                      <a:pt x="149225" y="212725"/>
                    </a:moveTo>
                    <a:lnTo>
                      <a:pt x="9525" y="0"/>
                    </a:lnTo>
                    <a:lnTo>
                      <a:pt x="0" y="203200"/>
                    </a:lnTo>
                    <a:lnTo>
                      <a:pt x="149225" y="212725"/>
                    </a:lnTo>
                    <a:close/>
                  </a:path>
                </a:pathLst>
              </a:custGeom>
              <a:solidFill>
                <a:srgbClr val="BEBEC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sp>
        <p:nvSpPr>
          <p:cNvPr id="281" name="Google Shape;281;p39"/>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Analytics will have a critical role in driving growth and shaping future banking models </a:t>
            </a:r>
            <a:endParaRPr/>
          </a:p>
        </p:txBody>
      </p:sp>
      <p:sp>
        <p:nvSpPr>
          <p:cNvPr id="282" name="Google Shape;282;p39"/>
          <p:cNvSpPr txBox="1"/>
          <p:nvPr/>
        </p:nvSpPr>
        <p:spPr>
          <a:xfrm>
            <a:off x="457199" y="1100882"/>
            <a:ext cx="2221397" cy="3262432"/>
          </a:xfrm>
          <a:prstGeom prst="rect">
            <a:avLst/>
          </a:prstGeom>
          <a:solidFill>
            <a:srgbClr val="36363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GB" sz="1400">
                <a:solidFill>
                  <a:schemeClr val="lt1"/>
                </a:solidFill>
                <a:latin typeface="Century Gothic"/>
                <a:ea typeface="Century Gothic"/>
                <a:cs typeface="Century Gothic"/>
                <a:sym typeface="Century Gothic"/>
              </a:rPr>
              <a:t>“Banks should become data driven organisations in order to deliver </a:t>
            </a:r>
            <a:r>
              <a:rPr b="1" lang="en-GB" sz="1400">
                <a:solidFill>
                  <a:schemeClr val="accent1"/>
                </a:solidFill>
                <a:latin typeface="Century Gothic"/>
                <a:ea typeface="Century Gothic"/>
                <a:cs typeface="Century Gothic"/>
                <a:sym typeface="Century Gothic"/>
              </a:rPr>
              <a:t>knowledge banking</a:t>
            </a:r>
            <a:r>
              <a:rPr lang="en-GB" sz="1400">
                <a:solidFill>
                  <a:schemeClr val="lt1"/>
                </a:solidFill>
                <a:latin typeface="Century Gothic"/>
                <a:ea typeface="Century Gothic"/>
                <a:cs typeface="Century Gothic"/>
                <a:sym typeface="Century Gothic"/>
              </a:rPr>
              <a:t>:  new and better financial products and services, based on information and better suited to every customer’s needs and expectations.” </a:t>
            </a:r>
            <a:endParaRPr sz="1400">
              <a:solidFill>
                <a:schemeClr val="lt1"/>
              </a:solidFill>
              <a:latin typeface="Century Gothic"/>
              <a:ea typeface="Century Gothic"/>
              <a:cs typeface="Century Gothic"/>
              <a:sym typeface="Century Gothic"/>
            </a:endParaRPr>
          </a:p>
          <a:p>
            <a:pPr indent="0" lvl="0" marL="0" marR="0" rtl="0" algn="l">
              <a:spcBef>
                <a:spcPts val="0"/>
              </a:spcBef>
              <a:spcAft>
                <a:spcPts val="0"/>
              </a:spcAft>
              <a:buNone/>
            </a:pPr>
            <a:r>
              <a:t/>
            </a:r>
            <a:endParaRPr sz="1400">
              <a:solidFill>
                <a:schemeClr val="lt1"/>
              </a:solidFill>
              <a:latin typeface="Century Gothic"/>
              <a:ea typeface="Century Gothic"/>
              <a:cs typeface="Century Gothic"/>
              <a:sym typeface="Century Gothic"/>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Francisco González,</a:t>
            </a:r>
            <a:endParaRPr sz="1350">
              <a:solidFill>
                <a:srgbClr val="FFFFFF"/>
              </a:solidFill>
              <a:latin typeface="Century Gothic"/>
              <a:ea typeface="Century Gothic"/>
              <a:cs typeface="Century Gothic"/>
              <a:sym typeface="Century Gothic"/>
            </a:endParaRPr>
          </a:p>
          <a:p>
            <a:pPr indent="0" lvl="0" marL="0" marR="0" rtl="0" algn="l">
              <a:spcBef>
                <a:spcPts val="0"/>
              </a:spcBef>
              <a:spcAft>
                <a:spcPts val="0"/>
              </a:spcAft>
              <a:buNone/>
            </a:pPr>
            <a:r>
              <a:rPr lang="en-GB" sz="1200">
                <a:solidFill>
                  <a:schemeClr val="lt1"/>
                </a:solidFill>
                <a:latin typeface="Century Gothic"/>
                <a:ea typeface="Century Gothic"/>
                <a:cs typeface="Century Gothic"/>
                <a:sym typeface="Century Gothic"/>
              </a:rPr>
              <a:t>BBVA Chairman &amp; CEO</a:t>
            </a:r>
            <a:endParaRPr sz="1350">
              <a:solidFill>
                <a:srgbClr val="FFFFFF"/>
              </a:solidFill>
              <a:latin typeface="Century Gothic"/>
              <a:ea typeface="Century Gothic"/>
              <a:cs typeface="Century Gothic"/>
              <a:sym typeface="Century Gothic"/>
            </a:endParaRPr>
          </a:p>
        </p:txBody>
      </p:sp>
      <p:pic>
        <p:nvPicPr>
          <p:cNvPr id="283" name="Google Shape;283;p39"/>
          <p:cNvPicPr preferRelativeResize="0"/>
          <p:nvPr/>
        </p:nvPicPr>
        <p:blipFill rotWithShape="1">
          <a:blip r:embed="rId3">
            <a:alphaModFix/>
          </a:blip>
          <a:srcRect b="0" l="0" r="0" t="0"/>
          <a:stretch/>
        </p:blipFill>
        <p:spPr>
          <a:xfrm>
            <a:off x="3292032" y="1100882"/>
            <a:ext cx="5036899" cy="3262432"/>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